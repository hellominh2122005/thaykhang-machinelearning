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55"/>
  </p:notesMasterIdLst>
  <p:handoutMasterIdLst>
    <p:handoutMasterId r:id="rId56"/>
  </p:handoutMasterIdLst>
  <p:sldIdLst>
    <p:sldId id="1585" r:id="rId2"/>
    <p:sldId id="329" r:id="rId3"/>
    <p:sldId id="330" r:id="rId4"/>
    <p:sldId id="331" r:id="rId5"/>
    <p:sldId id="332" r:id="rId6"/>
    <p:sldId id="373" r:id="rId7"/>
    <p:sldId id="333" r:id="rId8"/>
    <p:sldId id="334" r:id="rId9"/>
    <p:sldId id="375" r:id="rId10"/>
    <p:sldId id="378" r:id="rId11"/>
    <p:sldId id="337" r:id="rId12"/>
    <p:sldId id="379" r:id="rId13"/>
    <p:sldId id="338" r:id="rId14"/>
    <p:sldId id="339" r:id="rId15"/>
    <p:sldId id="380" r:id="rId16"/>
    <p:sldId id="381" r:id="rId17"/>
    <p:sldId id="344" r:id="rId18"/>
    <p:sldId id="346" r:id="rId19"/>
    <p:sldId id="359" r:id="rId20"/>
    <p:sldId id="363" r:id="rId21"/>
    <p:sldId id="361" r:id="rId22"/>
    <p:sldId id="362" r:id="rId23"/>
    <p:sldId id="366" r:id="rId24"/>
    <p:sldId id="364" r:id="rId25"/>
    <p:sldId id="367" r:id="rId26"/>
    <p:sldId id="368" r:id="rId27"/>
    <p:sldId id="369" r:id="rId28"/>
    <p:sldId id="370" r:id="rId29"/>
    <p:sldId id="371" r:id="rId30"/>
    <p:sldId id="389" r:id="rId31"/>
    <p:sldId id="382" r:id="rId32"/>
    <p:sldId id="342" r:id="rId33"/>
    <p:sldId id="343" r:id="rId34"/>
    <p:sldId id="348" r:id="rId35"/>
    <p:sldId id="357" r:id="rId36"/>
    <p:sldId id="358" r:id="rId37"/>
    <p:sldId id="383" r:id="rId38"/>
    <p:sldId id="365" r:id="rId39"/>
    <p:sldId id="350" r:id="rId40"/>
    <p:sldId id="384" r:id="rId41"/>
    <p:sldId id="385" r:id="rId42"/>
    <p:sldId id="386" r:id="rId43"/>
    <p:sldId id="360" r:id="rId44"/>
    <p:sldId id="351" r:id="rId45"/>
    <p:sldId id="352" r:id="rId46"/>
    <p:sldId id="387" r:id="rId47"/>
    <p:sldId id="388" r:id="rId48"/>
    <p:sldId id="355" r:id="rId49"/>
    <p:sldId id="356" r:id="rId50"/>
    <p:sldId id="390" r:id="rId51"/>
    <p:sldId id="391" r:id="rId52"/>
    <p:sldId id="392" r:id="rId53"/>
    <p:sldId id="1573" r:id="rId5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FF0000"/>
    <a:srgbClr val="FF3399"/>
    <a:srgbClr val="008000"/>
    <a:srgbClr val="000099"/>
    <a:srgbClr val="FF6600"/>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7366" autoAdjust="0"/>
  </p:normalViewPr>
  <p:slideViewPr>
    <p:cSldViewPr>
      <p:cViewPr varScale="1">
        <p:scale>
          <a:sx n="84" d="100"/>
          <a:sy n="84" d="100"/>
        </p:scale>
        <p:origin x="1072" y="51"/>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TIÊU ĐỀ SLIDE</a:t>
            </a:r>
            <a:endParaRPr lang="vi-VN"/>
          </a:p>
        </p:txBody>
      </p:sp>
    </p:spTree>
    <p:extLst>
      <p:ext uri="{BB962C8B-B14F-4D97-AF65-F5344CB8AC3E}">
        <p14:creationId xmlns:p14="http://schemas.microsoft.com/office/powerpoint/2010/main" val="18645496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1_Title Slide 01">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Tree>
    <p:extLst>
      <p:ext uri="{BB962C8B-B14F-4D97-AF65-F5344CB8AC3E}">
        <p14:creationId xmlns:p14="http://schemas.microsoft.com/office/powerpoint/2010/main" val="29983808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01_Title Slide 02">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4056157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01_Title Slide 03">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304800" y="3886200"/>
            <a:ext cx="11582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25474770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01_Title Slide 04">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19444793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2_Standar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CHUẨN</a:t>
            </a:r>
            <a:endParaRPr lang="vi-VN"/>
          </a:p>
        </p:txBody>
      </p:sp>
    </p:spTree>
    <p:extLst>
      <p:ext uri="{BB962C8B-B14F-4D97-AF65-F5344CB8AC3E}">
        <p14:creationId xmlns:p14="http://schemas.microsoft.com/office/powerpoint/2010/main" val="1394712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02_Standard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Standard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760171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_Standard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863100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02_Standard Slide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37499821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2_Standard Slide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3E9201-BB7C-7361-D15B-554D97FD4941}"/>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5964387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2_Standard Slide 06">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609600" y="0"/>
            <a:ext cx="109728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78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Standard Slide 07">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0" y="0"/>
            <a:ext cx="121920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53219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02_Standard Slide 08">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26075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03_Program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PROGRAM</a:t>
            </a:r>
            <a:endParaRPr lang="vi-VN"/>
          </a:p>
        </p:txBody>
      </p:sp>
    </p:spTree>
    <p:extLst>
      <p:ext uri="{BB962C8B-B14F-4D97-AF65-F5344CB8AC3E}">
        <p14:creationId xmlns:p14="http://schemas.microsoft.com/office/powerpoint/2010/main" val="37903816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03_Program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99875236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Program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27602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Program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5" name="Content Placeholder 2">
            <a:extLst>
              <a:ext uri="{FF2B5EF4-FFF2-40B4-BE49-F238E27FC236}">
                <a16:creationId xmlns:a16="http://schemas.microsoft.com/office/drawing/2014/main" id="{20BF5967-6241-0E40-D844-CD2FB96F1181}"/>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2151298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04_Slide Up Dow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PHẦN TRÊN DƯỚI</a:t>
            </a:r>
            <a:endParaRPr lang="vi-VN"/>
          </a:p>
        </p:txBody>
      </p:sp>
    </p:spTree>
    <p:extLst>
      <p:ext uri="{BB962C8B-B14F-4D97-AF65-F5344CB8AC3E}">
        <p14:creationId xmlns:p14="http://schemas.microsoft.com/office/powerpoint/2010/main" val="13543791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4 Slide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953001"/>
            <a:ext cx="10972800" cy="11724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4 Slide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51459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114801"/>
            <a:ext cx="10972800" cy="20106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69190481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4 Slide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715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2971801"/>
            <a:ext cx="10972800" cy="3153696"/>
          </a:xfrm>
        </p:spPr>
        <p:txBody>
          <a:bodyPr/>
          <a:lstStyle>
            <a:lvl1pPr>
              <a:defRPr sz="2800"/>
            </a:lvl1pPr>
            <a:lvl2pPr>
              <a:defRPr sz="2800"/>
            </a:lvl2pPr>
            <a:lvl3pPr>
              <a:defRPr sz="2000"/>
            </a:lvl3pPr>
            <a:lvl4pPr>
              <a:defRPr sz="1800"/>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Second level</a:t>
            </a:r>
          </a:p>
        </p:txBody>
      </p:sp>
    </p:spTree>
    <p:extLst>
      <p:ext uri="{BB962C8B-B14F-4D97-AF65-F5344CB8AC3E}">
        <p14:creationId xmlns:p14="http://schemas.microsoft.com/office/powerpoint/2010/main" val="25415433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5_Slide 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CỘT</a:t>
            </a:r>
            <a:endParaRPr lang="vi-VN"/>
          </a:p>
        </p:txBody>
      </p:sp>
    </p:spTree>
    <p:extLst>
      <p:ext uri="{BB962C8B-B14F-4D97-AF65-F5344CB8AC3E}">
        <p14:creationId xmlns:p14="http://schemas.microsoft.com/office/powerpoint/2010/main" val="201123876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05_Slide Two Colum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25423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5_Slide Two Colum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33671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5_Slide Two Colum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48716980-92B1-EFAB-E559-9C67E7C615BC}"/>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007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5_Slide Two Colum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6553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0"/>
            <a:ext cx="44196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72464217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5_Slide Two Colum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4286864"/>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4286864"/>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17B267FE-1A4A-FC5A-B1BF-212E21F3C20F}"/>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23991295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5_Slide Two Colum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3810000"/>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3810000"/>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87C8D0DD-B54D-81D5-B7D4-10338B1E3280}"/>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9230448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Slide Two Column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5_Slide Two Column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DA1A5BA2-D508-AFA2-E487-FE996D715498}"/>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16089533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5_Slide Two Column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3809999"/>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3809999"/>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9B108584-BFF3-2406-377A-3236D4DB99A3}"/>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0506977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05_Slide Two Column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5_Slide Two Column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11640B4C-4BB4-59DC-6FB5-BE2BEAB17DCB}"/>
              </a:ext>
            </a:extLst>
          </p:cNvPr>
          <p:cNvSpPr>
            <a:spLocks noGrp="1"/>
          </p:cNvSpPr>
          <p:nvPr>
            <p:ph idx="16" hasCustomPrompt="1"/>
          </p:nvPr>
        </p:nvSpPr>
        <p:spPr>
          <a:xfrm>
            <a:off x="609600" y="5887064"/>
            <a:ext cx="115824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10927781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5_Slide Two Column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501540FF-506E-C951-CCC4-F2846A5D1DE5}"/>
              </a:ext>
            </a:extLst>
          </p:cNvPr>
          <p:cNvSpPr>
            <a:spLocks noGrp="1"/>
          </p:cNvSpPr>
          <p:nvPr>
            <p:ph idx="16" hasCustomPrompt="1"/>
          </p:nvPr>
        </p:nvSpPr>
        <p:spPr>
          <a:xfrm>
            <a:off x="609600" y="5410200"/>
            <a:ext cx="116128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20451748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05_Slide Two Column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5_Slide Two Column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739BE0C1-77A6-4A1D-2879-D18D2A156490}"/>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3437677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5_Slide Two Column 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7836774-98E2-8399-1A89-B989AAE076F4}"/>
              </a:ext>
            </a:extLst>
          </p:cNvPr>
          <p:cNvSpPr>
            <a:spLocks noGrp="1"/>
          </p:cNvSpPr>
          <p:nvPr>
            <p:ph idx="16" hasCustomPrompt="1"/>
          </p:nvPr>
        </p:nvSpPr>
        <p:spPr>
          <a:xfrm>
            <a:off x="0" y="5410200"/>
            <a:ext cx="122224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4860053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05_Slide Two Column 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5862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05_Slide Two Column 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998632"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12438891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5_Slide Two Column 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63386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05_Slide Two Column 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15824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69637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05_Slide Two Column 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50995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05_Slide Two Column 2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32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648856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06_Slide Three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BA CỘT</a:t>
            </a:r>
            <a:endParaRPr lang="vi-VN"/>
          </a:p>
        </p:txBody>
      </p:sp>
    </p:spTree>
    <p:extLst>
      <p:ext uri="{BB962C8B-B14F-4D97-AF65-F5344CB8AC3E}">
        <p14:creationId xmlns:p14="http://schemas.microsoft.com/office/powerpoint/2010/main" val="38760989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019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07_Slide Four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CỘT</a:t>
            </a:r>
            <a:endParaRPr lang="vi-VN"/>
          </a:p>
        </p:txBody>
      </p:sp>
    </p:spTree>
    <p:extLst>
      <p:ext uri="{BB962C8B-B14F-4D97-AF65-F5344CB8AC3E}">
        <p14:creationId xmlns:p14="http://schemas.microsoft.com/office/powerpoint/2010/main" val="3094009430"/>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8_Slide Four P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PHẦN</a:t>
            </a:r>
            <a:endParaRPr lang="vi-VN"/>
          </a:p>
        </p:txBody>
      </p:sp>
    </p:spTree>
    <p:extLst>
      <p:ext uri="{BB962C8B-B14F-4D97-AF65-F5344CB8AC3E}">
        <p14:creationId xmlns:p14="http://schemas.microsoft.com/office/powerpoint/2010/main" val="205230299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167656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9_Flow Ch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LƯU ĐỒ</a:t>
            </a:r>
            <a:endParaRPr lang="vi-VN"/>
          </a:p>
        </p:txBody>
      </p:sp>
    </p:spTree>
    <p:extLst>
      <p:ext uri="{BB962C8B-B14F-4D97-AF65-F5344CB8AC3E}">
        <p14:creationId xmlns:p14="http://schemas.microsoft.com/office/powerpoint/2010/main" val="1782140233"/>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79195953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14854" y="1066801"/>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14854" y="0"/>
            <a:ext cx="6077146"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157118" y="1066800"/>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87114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11764"/>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184098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88173" y="0"/>
            <a:ext cx="5994400" cy="60960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4309164"/>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 Id="rId60" Type="http://schemas.openxmlformats.org/officeDocument/2006/relationships/image" Target="../media/image1.png"/><Relationship Id="rId61" Type="http://schemas.openxmlformats.org/officeDocument/2006/relationships/image" Target="../media/image2.png"/><Relationship Id="rId6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0">
            <a:lum/>
          </a:blip>
          <a:srcRect/>
          <a:stretch>
            <a:fillRect l="-1000" r="-1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pic>
        <p:nvPicPr>
          <p:cNvPr id="7" name="Picture 6" descr="A picture containing text&#10;&#10;Description automatically generated">
            <a:extLst>
              <a:ext uri="{FF2B5EF4-FFF2-40B4-BE49-F238E27FC236}">
                <a16:creationId xmlns:a16="http://schemas.microsoft.com/office/drawing/2014/main" id="{B82A81E1-3619-4A2C-AB88-C7D0762594CD}"/>
              </a:ext>
            </a:extLst>
          </p:cNvPr>
          <p:cNvPicPr>
            <a:picLocks noChangeAspect="1"/>
          </p:cNvPicPr>
          <p:nvPr userDrawn="1"/>
        </p:nvPicPr>
        <p:blipFill>
          <a:blip r:embed="rId61" cstate="print">
            <a:extLst>
              <a:ext uri="{28A0092B-C50C-407E-A947-70E740481C1C}">
                <a14:useLocalDpi xmlns:a14="http://schemas.microsoft.com/office/drawing/2010/main" val="0"/>
              </a:ext>
            </a:extLst>
          </a:blip>
          <a:stretch>
            <a:fillRect/>
          </a:stretch>
        </p:blipFill>
        <p:spPr>
          <a:xfrm>
            <a:off x="9906000" y="103160"/>
            <a:ext cx="1375575" cy="567426"/>
          </a:xfrm>
          <a:prstGeom prst="rect">
            <a:avLst/>
          </a:prstGeom>
        </p:spPr>
      </p:pic>
      <p:pic>
        <p:nvPicPr>
          <p:cNvPr id="8" name="Picture 7" descr="Logo&#10;&#10;Description automatically generated">
            <a:extLst>
              <a:ext uri="{FF2B5EF4-FFF2-40B4-BE49-F238E27FC236}">
                <a16:creationId xmlns:a16="http://schemas.microsoft.com/office/drawing/2014/main" id="{0B594A5E-2439-4755-BAA8-30F12FADD3C7}"/>
              </a:ext>
            </a:extLst>
          </p:cNvPr>
          <p:cNvPicPr>
            <a:picLocks noChangeAspect="1"/>
          </p:cNvPicPr>
          <p:nvPr userDrawn="1"/>
        </p:nvPicPr>
        <p:blipFill>
          <a:blip r:embed="rId62" cstate="print">
            <a:extLst>
              <a:ext uri="{28A0092B-C50C-407E-A947-70E740481C1C}">
                <a14:useLocalDpi xmlns:a14="http://schemas.microsoft.com/office/drawing/2010/main" val="0"/>
              </a:ext>
            </a:extLst>
          </a:blip>
          <a:stretch>
            <a:fillRect/>
          </a:stretch>
        </p:blipFill>
        <p:spPr>
          <a:xfrm>
            <a:off x="11284908" y="70999"/>
            <a:ext cx="843402" cy="843402"/>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649" r:id="rId3"/>
    <p:sldLayoutId id="2147483720" r:id="rId4"/>
    <p:sldLayoutId id="2147483652" r:id="rId5"/>
    <p:sldLayoutId id="2147483750" r:id="rId6"/>
    <p:sldLayoutId id="2147483718" r:id="rId7"/>
    <p:sldLayoutId id="2147483650" r:id="rId8"/>
    <p:sldLayoutId id="2147483721" r:id="rId9"/>
    <p:sldLayoutId id="2147483723" r:id="rId10"/>
    <p:sldLayoutId id="2147483716" r:id="rId11"/>
    <p:sldLayoutId id="2147483722" r:id="rId12"/>
    <p:sldLayoutId id="2147483748" r:id="rId13"/>
    <p:sldLayoutId id="2147483749" r:id="rId14"/>
    <p:sldLayoutId id="2147483717" r:id="rId15"/>
    <p:sldLayoutId id="2147483719" r:id="rId16"/>
    <p:sldLayoutId id="2147483725" r:id="rId17"/>
    <p:sldLayoutId id="2147483726" r:id="rId18"/>
    <p:sldLayoutId id="2147483727" r:id="rId19"/>
    <p:sldLayoutId id="2147483724" r:id="rId20"/>
    <p:sldLayoutId id="2147483651" r:id="rId21"/>
    <p:sldLayoutId id="2147483712" r:id="rId22"/>
    <p:sldLayoutId id="2147483713" r:id="rId23"/>
    <p:sldLayoutId id="2147483728" r:id="rId24"/>
    <p:sldLayoutId id="2147483707" r:id="rId25"/>
    <p:sldLayoutId id="2147483709" r:id="rId26"/>
    <p:sldLayoutId id="2147483730" r:id="rId27"/>
    <p:sldLayoutId id="2147483700" r:id="rId28"/>
    <p:sldLayoutId id="2147483731" r:id="rId29"/>
    <p:sldLayoutId id="2147483732" r:id="rId30"/>
    <p:sldLayoutId id="2147483689" r:id="rId31"/>
    <p:sldLayoutId id="2147483733" r:id="rId32"/>
    <p:sldLayoutId id="2147483734" r:id="rId33"/>
    <p:sldLayoutId id="2147483679" r:id="rId34"/>
    <p:sldLayoutId id="2147483735" r:id="rId35"/>
    <p:sldLayoutId id="2147483736" r:id="rId36"/>
    <p:sldLayoutId id="2147483684" r:id="rId37"/>
    <p:sldLayoutId id="2147483737" r:id="rId38"/>
    <p:sldLayoutId id="2147483738" r:id="rId39"/>
    <p:sldLayoutId id="2147483741" r:id="rId40"/>
    <p:sldLayoutId id="2147483742" r:id="rId41"/>
    <p:sldLayoutId id="2147483743" r:id="rId42"/>
    <p:sldLayoutId id="2147483744" r:id="rId43"/>
    <p:sldLayoutId id="2147483745" r:id="rId44"/>
    <p:sldLayoutId id="2147483747" r:id="rId45"/>
    <p:sldLayoutId id="2147483729" r:id="rId46"/>
    <p:sldLayoutId id="2147483686" r:id="rId47"/>
    <p:sldLayoutId id="2147483711" r:id="rId48"/>
    <p:sldLayoutId id="2147483739" r:id="rId49"/>
    <p:sldLayoutId id="2147483688" r:id="rId50"/>
    <p:sldLayoutId id="2147483740" r:id="rId51"/>
    <p:sldLayoutId id="2147483694" r:id="rId52"/>
    <p:sldLayoutId id="2147483687" r:id="rId53"/>
    <p:sldLayoutId id="2147483746" r:id="rId54"/>
    <p:sldLayoutId id="2147483701" r:id="rId55"/>
    <p:sldLayoutId id="2147483702" r:id="rId56"/>
    <p:sldLayoutId id="2147483703" r:id="rId57"/>
    <p:sldLayoutId id="2147483704" r:id="rId58"/>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superdatascience.com/pages/machine-learn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png"/><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png"/><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0.png"/><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3.png"/><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2.png"/><Relationship Id="rId3"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a:t>NAÏVE BAYES</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a:t>KS. Quan Chí Khánh An</a:t>
            </a:r>
          </a:p>
          <a:p>
            <a:pPr defTabSz="-13871574">
              <a:spcBef>
                <a:spcPts val="0"/>
              </a:spcBef>
              <a:spcAft>
                <a:spcPts val="0"/>
              </a:spcAft>
              <a:defRPr/>
            </a:pPr>
            <a:r>
              <a:rPr lang="en-US">
                <a:solidFill>
                  <a:srgbClr val="FF0000"/>
                </a:solidFill>
              </a:rPr>
              <a:t>KS. Lê Ngọc Huy</a:t>
            </a:r>
          </a:p>
          <a:p>
            <a:pPr defTabSz="-13871574">
              <a:spcBef>
                <a:spcPts val="0"/>
              </a:spcBef>
              <a:spcAft>
                <a:spcPts val="0"/>
              </a:spcAft>
              <a:defRPr/>
            </a:pPr>
            <a:r>
              <a:rPr lang="en-US"/>
              <a:t>CN. Bùi Cao Doanh</a:t>
            </a:r>
          </a:p>
          <a:p>
            <a:pPr defTabSz="-13871574">
              <a:spcBef>
                <a:spcPts val="0"/>
              </a:spcBef>
              <a:spcAft>
                <a:spcPts val="0"/>
              </a:spcAft>
              <a:defRPr/>
            </a:pPr>
            <a:r>
              <a:rPr lang="en-US">
                <a:solidFill>
                  <a:srgbClr val="FF0000"/>
                </a:solidFill>
              </a:rPr>
              <a:t>CN. Nguyễn Trọng Thuận</a:t>
            </a:r>
          </a:p>
          <a:p>
            <a:pPr defTabSz="-13871574">
              <a:spcBef>
                <a:spcPts val="0"/>
              </a:spcBef>
              <a:spcAft>
                <a:spcPts val="0"/>
              </a:spcAft>
              <a:defRPr/>
            </a:pPr>
            <a:r>
              <a:rPr lang="en-US"/>
              <a:t>KS. Phan Vĩnh Long</a:t>
            </a:r>
          </a:p>
          <a:p>
            <a:pPr defTabSz="-13871574">
              <a:spcBef>
                <a:spcPts val="0"/>
              </a:spcBef>
              <a:spcAft>
                <a:spcPts val="0"/>
              </a:spcAft>
              <a:defRPr/>
            </a:pPr>
            <a:r>
              <a:rPr lang="en-US">
                <a:solidFill>
                  <a:srgbClr val="FF0000"/>
                </a:solidFill>
              </a:rPr>
              <a:t>KS. Nguyễn Cường Phát</a:t>
            </a:r>
          </a:p>
          <a:p>
            <a:pPr defTabSz="-13871574">
              <a:spcBef>
                <a:spcPts val="0"/>
              </a:spcBef>
              <a:spcAft>
                <a:spcPts val="0"/>
              </a:spcAft>
              <a:defRPr/>
            </a:pPr>
            <a:r>
              <a:rPr lang="en-US"/>
              <a:t>ThS. Nguyễn Hoàng Ngân</a:t>
            </a:r>
          </a:p>
          <a:p>
            <a:pPr defTabSz="-13871574">
              <a:spcBef>
                <a:spcPts val="0"/>
              </a:spcBef>
              <a:spcAft>
                <a:spcPts val="0"/>
              </a:spcAft>
              <a:defRPr/>
            </a:pPr>
            <a:r>
              <a:rPr lang="en-US">
                <a:solidFill>
                  <a:srgbClr val="FF0000"/>
                </a:solidFill>
              </a:rPr>
              <a:t>KS. Hồ Thái Ngọc</a:t>
            </a:r>
          </a:p>
          <a:p>
            <a:pPr defTabSz="-13871574">
              <a:spcBef>
                <a:spcPts val="0"/>
              </a:spcBef>
              <a:spcAft>
                <a:spcPts val="0"/>
              </a:spcAft>
              <a:defRPr/>
            </a:pPr>
            <a:r>
              <a:rPr lang="en-US"/>
              <a:t>ThS. Đỗ Văn Tiến</a:t>
            </a:r>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a:t>Nguyễn Hoàng Yến Như</a:t>
            </a:r>
          </a:p>
          <a:p>
            <a:r>
              <a:rPr lang="en-US">
                <a:solidFill>
                  <a:srgbClr val="FF0000"/>
                </a:solidFill>
              </a:rPr>
              <a:t>Nguyễn Trần Phúc Nghi</a:t>
            </a:r>
          </a:p>
          <a:p>
            <a:r>
              <a:rPr lang="en-US"/>
              <a:t>Nguyễn Trần Phúc An</a:t>
            </a:r>
          </a:p>
          <a:p>
            <a:r>
              <a:rPr lang="en-US">
                <a:solidFill>
                  <a:srgbClr val="FF0000"/>
                </a:solidFill>
              </a:rPr>
              <a:t>Nguyễn Đức Anh Phúc</a:t>
            </a:r>
          </a:p>
          <a:p>
            <a:r>
              <a:rPr lang="en-US"/>
              <a:t>Trịnh Thị Thanh Trúc</a:t>
            </a:r>
          </a:p>
          <a:p>
            <a:r>
              <a:rPr lang="en-US"/>
              <a:t>KS. Cao Bá Kiệt</a:t>
            </a:r>
          </a:p>
          <a:p>
            <a:endParaRPr lang="en-US">
              <a:solidFill>
                <a:srgbClr val="FF0000"/>
              </a:solidFill>
            </a:endParaRPr>
          </a:p>
          <a:p>
            <a:endParaRPr lang="en-US"/>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26523486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29751D-41C3-4A4C-9AC9-CCB7A061F0BB}"/>
              </a:ext>
            </a:extLst>
          </p:cNvPr>
          <p:cNvSpPr>
            <a:spLocks noGrp="1"/>
          </p:cNvSpPr>
          <p:nvPr>
            <p:ph type="title"/>
          </p:nvPr>
        </p:nvSpPr>
        <p:spPr/>
        <p:txBody>
          <a:bodyPr/>
          <a:lstStyle/>
          <a:p>
            <a:r>
              <a:rPr lang="vi-VN" dirty="0"/>
              <a:t>DATASET</a:t>
            </a:r>
          </a:p>
        </p:txBody>
      </p:sp>
      <p:sp>
        <p:nvSpPr>
          <p:cNvPr id="6" name="Text Placeholder 5">
            <a:extLst>
              <a:ext uri="{FF2B5EF4-FFF2-40B4-BE49-F238E27FC236}">
                <a16:creationId xmlns:a16="http://schemas.microsoft.com/office/drawing/2014/main" id="{19BF91FE-C018-4D25-9A03-0B4B71F42B9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56274846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a:solidFill>
                  <a:srgbClr val="0066FF"/>
                </a:solidFill>
              </a:rPr>
              <a:t>Tên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Social</a:t>
            </a:r>
            <a:r>
              <a:rPr lang="vi-VN" sz="2800" dirty="0">
                <a:solidFill>
                  <a:srgbClr val="0066FF"/>
                </a:solidFill>
              </a:rPr>
              <a:t> </a:t>
            </a:r>
            <a:r>
              <a:rPr lang="vi-VN" sz="2800" dirty="0" err="1">
                <a:solidFill>
                  <a:srgbClr val="0066FF"/>
                </a:solidFill>
              </a:rPr>
              <a:t>Network</a:t>
            </a:r>
            <a:r>
              <a:rPr lang="vi-VN" sz="2800" dirty="0">
                <a:solidFill>
                  <a:srgbClr val="0066FF"/>
                </a:solidFill>
              </a:rPr>
              <a:t> </a:t>
            </a:r>
            <a:r>
              <a:rPr lang="vi-VN" sz="2800" dirty="0" err="1">
                <a:solidFill>
                  <a:srgbClr val="0066FF"/>
                </a:solidFill>
              </a:rPr>
              <a:t>Ads</a:t>
            </a:r>
            <a:r>
              <a:rPr lang="vi-VN" sz="2800" dirty="0">
                <a:solidFill>
                  <a:srgbClr val="0066FF"/>
                </a:solidFill>
              </a:rPr>
              <a:t>.</a:t>
            </a:r>
          </a:p>
          <a:p>
            <a:pPr algn="just"/>
            <a:r>
              <a:rPr lang="vi-VN" sz="2800" dirty="0" err="1">
                <a:solidFill>
                  <a:srgbClr val="FF0000"/>
                </a:solidFill>
              </a:rPr>
              <a:t>Nguồn</a:t>
            </a:r>
            <a:r>
              <a:rPr lang="vi-VN" sz="2800" dirty="0">
                <a:solidFill>
                  <a:srgbClr val="FF0000"/>
                </a:solidFill>
              </a:rPr>
              <a:t>:</a:t>
            </a:r>
            <a:r>
              <a:rPr lang="vi-VN" sz="2800" dirty="0">
                <a:solidFill>
                  <a:srgbClr val="0066FF"/>
                </a:solidFill>
              </a:rPr>
              <a:t> </a:t>
            </a:r>
            <a:r>
              <a:rPr lang="vi-VN" sz="2800" dirty="0">
                <a:solidFill>
                  <a:srgbClr val="008000"/>
                </a:solidFill>
                <a:hlinkClick r:id="rId2">
                  <a:extLst>
                    <a:ext uri="{A12FA001-AC4F-418D-AE19-62706E023703}">
                      <ahyp:hlinkClr xmlns:ahyp="http://schemas.microsoft.com/office/drawing/2018/hyperlinkcolor" val="tx"/>
                    </a:ext>
                  </a:extLst>
                </a:hlinkClick>
              </a:rPr>
              <a:t>https://www.superdatascience.com/pages/machine-learning</a:t>
            </a:r>
            <a:r>
              <a:rPr lang="vi-VN" sz="2800" dirty="0">
                <a:solidFill>
                  <a:srgbClr val="0066FF"/>
                </a:solidFill>
              </a:rPr>
              <a:t>.</a:t>
            </a:r>
          </a:p>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cho </a:t>
            </a:r>
            <a:r>
              <a:rPr lang="vi-VN" sz="2800" dirty="0" err="1">
                <a:solidFill>
                  <a:srgbClr val="0066FF"/>
                </a:solidFill>
              </a:rPr>
              <a:t>biết</a:t>
            </a:r>
            <a:r>
              <a:rPr lang="vi-VN" sz="2800" dirty="0">
                <a:solidFill>
                  <a:srgbClr val="0066FF"/>
                </a:solidFill>
              </a:rPr>
              <a:t> </a:t>
            </a:r>
            <a:r>
              <a:rPr lang="vi-VN" sz="2800" dirty="0" err="1">
                <a:solidFill>
                  <a:srgbClr val="0066FF"/>
                </a:solidFill>
              </a:rPr>
              <a:t>các</a:t>
            </a:r>
            <a:r>
              <a:rPr lang="vi-VN" sz="2800" dirty="0">
                <a:solidFill>
                  <a:srgbClr val="0066FF"/>
                </a:solidFill>
              </a:rPr>
              <a:t> thông tin </a:t>
            </a:r>
            <a:r>
              <a:rPr lang="vi-VN" sz="2800" dirty="0" err="1">
                <a:solidFill>
                  <a:srgbClr val="0066FF"/>
                </a:solidFill>
              </a:rPr>
              <a:t>của</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họ</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hay không.</a:t>
            </a:r>
          </a:p>
        </p:txBody>
      </p:sp>
    </p:spTree>
    <p:extLst>
      <p:ext uri="{BB962C8B-B14F-4D97-AF65-F5344CB8AC3E}">
        <p14:creationId xmlns:p14="http://schemas.microsoft.com/office/powerpoint/2010/main" val="357772518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E8E49B6-FFB9-48FE-A4A6-A7632629FC33}"/>
              </a:ext>
            </a:extLst>
          </p:cNvPr>
          <p:cNvSpPr>
            <a:spLocks noGrp="1"/>
          </p:cNvSpPr>
          <p:nvPr>
            <p:ph type="title"/>
          </p:nvPr>
        </p:nvSpPr>
        <p:spPr/>
        <p:txBody>
          <a:bodyPr/>
          <a:lstStyle/>
          <a:p>
            <a:r>
              <a:rPr lang="vi-VN" dirty="0" err="1"/>
              <a:t>Dataset</a:t>
            </a:r>
            <a:endParaRPr lang="vi-VN" dirty="0"/>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24A5EA7F-8FCE-416E-9B84-E4673825CC4B}"/>
                  </a:ext>
                </a:extLst>
              </p:cNvPr>
              <p:cNvSpPr>
                <a:spLocks noGrp="1"/>
              </p:cNvSpPr>
              <p:nvPr>
                <p:ph idx="1"/>
              </p:nvPr>
            </p:nvSpPr>
            <p:spPr/>
            <p:txBody>
              <a:bodyPr/>
              <a:lstStyle/>
              <a:p>
                <a:pPr algn="just"/>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chứa</a:t>
                </a:r>
                <a:r>
                  <a:rPr lang="vi-VN" sz="2800" dirty="0">
                    <a:solidFill>
                      <a:srgbClr val="0066FF"/>
                    </a:solidFill>
                  </a:rPr>
                  <a:t> 400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mỗi</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5 </a:t>
                </a:r>
                <a:r>
                  <a:rPr lang="vi-VN" sz="2800" dirty="0" err="1">
                    <a:solidFill>
                      <a:srgbClr val="0066FF"/>
                    </a:solidFill>
                  </a:rPr>
                  <a:t>thuộc</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gồm</a:t>
                </a:r>
                <a:r>
                  <a:rPr lang="vi-VN" sz="2800" dirty="0">
                    <a:solidFill>
                      <a:srgbClr val="0066FF"/>
                    </a:solidFill>
                  </a:rPr>
                  <a:t>:</a:t>
                </a:r>
              </a:p>
              <a:p>
                <a:pPr lvl="1" algn="just"/>
                <a:r>
                  <a:rPr lang="vi-VN" sz="2800" dirty="0" err="1">
                    <a:highlight>
                      <a:srgbClr val="FFFF00"/>
                    </a:highlight>
                  </a:rPr>
                  <a:t>UserID</a:t>
                </a:r>
                <a:r>
                  <a:rPr lang="vi-VN" sz="2800" dirty="0">
                    <a:solidFill>
                      <a:srgbClr val="FF0000"/>
                    </a:solidFill>
                  </a:rPr>
                  <a:t>: </a:t>
                </a:r>
                <a:r>
                  <a:rPr lang="vi-VN" sz="2800" dirty="0" err="1">
                    <a:solidFill>
                      <a:srgbClr val="FF0000"/>
                    </a:solidFill>
                  </a:rPr>
                  <a:t>Mã</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định</a:t>
                </a:r>
                <a:r>
                  <a:rPr lang="vi-VN" sz="2800" dirty="0">
                    <a:solidFill>
                      <a:srgbClr val="FF0000"/>
                    </a:solidFill>
                  </a:rPr>
                  <a:t> danh </a:t>
                </a:r>
                <a:r>
                  <a:rPr lang="vi-VN" sz="2800" dirty="0" err="1">
                    <a:solidFill>
                      <a:srgbClr val="FF0000"/>
                    </a:solidFill>
                  </a:rPr>
                  <a:t>của</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highlight>
                      <a:srgbClr val="FFFF00"/>
                    </a:highlight>
                  </a:rPr>
                  <a:t>Gender</a:t>
                </a:r>
                <a:r>
                  <a:rPr lang="vi-VN" sz="2800" dirty="0">
                    <a:solidFill>
                      <a:srgbClr val="0066FF"/>
                    </a:solidFill>
                  </a:rPr>
                  <a:t>: </a:t>
                </a:r>
                <a:r>
                  <a:rPr lang="vi-VN" sz="2800" dirty="0" err="1">
                    <a:solidFill>
                      <a:srgbClr val="0066FF"/>
                    </a:solidFill>
                  </a:rPr>
                  <a:t>Giới</a:t>
                </a:r>
                <a:r>
                  <a:rPr lang="vi-VN" sz="2800" dirty="0">
                    <a:solidFill>
                      <a:srgbClr val="0066FF"/>
                    </a:solidFill>
                  </a:rPr>
                  <a:t> </a:t>
                </a:r>
                <a:r>
                  <a:rPr lang="vi-VN" sz="2800" dirty="0" err="1">
                    <a:solidFill>
                      <a:srgbClr val="0066FF"/>
                    </a:solidFill>
                  </a:rPr>
                  <a:t>tính</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highlight>
                      <a:srgbClr val="FFFF00"/>
                    </a:highlight>
                  </a:rPr>
                  <a:t>Age</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tuổi</a:t>
                </a:r>
                <a:r>
                  <a:rPr lang="vi-VN" sz="2800" dirty="0">
                    <a:solidFill>
                      <a:srgbClr val="FF0000"/>
                    </a:solidFill>
                  </a:rPr>
                  <a:t> </a:t>
                </a:r>
                <a:r>
                  <a:rPr lang="vi-VN" sz="2800" dirty="0" err="1">
                    <a:solidFill>
                      <a:srgbClr val="FF0000"/>
                    </a:solidFill>
                  </a:rPr>
                  <a:t>người</a:t>
                </a:r>
                <a:r>
                  <a:rPr lang="vi-VN" sz="2800" dirty="0">
                    <a:solidFill>
                      <a:srgbClr val="FF0000"/>
                    </a:solidFill>
                  </a:rPr>
                  <a:t> </a:t>
                </a:r>
                <a:r>
                  <a:rPr lang="vi-VN" sz="2800" dirty="0" err="1">
                    <a:solidFill>
                      <a:srgbClr val="FF0000"/>
                    </a:solidFill>
                  </a:rPr>
                  <a:t>dùng</a:t>
                </a:r>
                <a:r>
                  <a:rPr lang="vi-VN" sz="2800" dirty="0">
                    <a:solidFill>
                      <a:srgbClr val="FF0000"/>
                    </a:solidFill>
                  </a:rPr>
                  <a:t>.</a:t>
                </a:r>
              </a:p>
              <a:p>
                <a:pPr lvl="1" algn="just"/>
                <a:r>
                  <a:rPr lang="vi-VN" sz="2800" dirty="0" err="1">
                    <a:highlight>
                      <a:srgbClr val="FFFF00"/>
                    </a:highlight>
                  </a:rPr>
                  <a:t>Estimated</a:t>
                </a:r>
                <a:r>
                  <a:rPr lang="vi-VN" sz="2800" dirty="0">
                    <a:highlight>
                      <a:srgbClr val="FFFF00"/>
                    </a:highlight>
                  </a:rPr>
                  <a:t> </a:t>
                </a:r>
                <a:r>
                  <a:rPr lang="vi-VN" sz="2800" dirty="0" err="1">
                    <a:highlight>
                      <a:srgbClr val="FFFF00"/>
                    </a:highlight>
                  </a:rPr>
                  <a:t>Salary</a:t>
                </a:r>
                <a:r>
                  <a:rPr lang="vi-VN" sz="2800" dirty="0">
                    <a:solidFill>
                      <a:srgbClr val="0066FF"/>
                    </a:solidFill>
                  </a:rPr>
                  <a:t>: </a:t>
                </a:r>
                <a:r>
                  <a:rPr lang="vi-VN" sz="2800" dirty="0" err="1">
                    <a:solidFill>
                      <a:srgbClr val="0066FF"/>
                    </a:solidFill>
                  </a:rPr>
                  <a:t>Mức</a:t>
                </a:r>
                <a:r>
                  <a:rPr lang="vi-VN" sz="2800" dirty="0">
                    <a:solidFill>
                      <a:srgbClr val="0066FF"/>
                    </a:solidFill>
                  </a:rPr>
                  <a:t> lương </a:t>
                </a:r>
                <a:r>
                  <a:rPr lang="vi-VN" sz="2800" dirty="0" err="1">
                    <a:solidFill>
                      <a:srgbClr val="0066FF"/>
                    </a:solidFill>
                  </a:rPr>
                  <a:t>ước</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dùng</a:t>
                </a:r>
                <a:r>
                  <a:rPr lang="vi-VN" sz="2800" dirty="0">
                    <a:solidFill>
                      <a:srgbClr val="0066FF"/>
                    </a:solidFill>
                  </a:rPr>
                  <a:t>.</a:t>
                </a:r>
              </a:p>
              <a:p>
                <a:pPr lvl="1" algn="just"/>
                <a:r>
                  <a:rPr lang="vi-VN" sz="2800" dirty="0" err="1">
                    <a:highlight>
                      <a:srgbClr val="FFFF00"/>
                    </a:highlight>
                  </a:rPr>
                  <a:t>Purchased</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một</a:t>
                </a:r>
                <a:r>
                  <a:rPr lang="vi-VN" sz="2800" dirty="0">
                    <a:solidFill>
                      <a:srgbClr val="FF0000"/>
                    </a:solidFill>
                  </a:rPr>
                  <a:t> trong hai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0</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số</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oMath>
                </a14:m>
                <a:r>
                  <a:rPr lang="vi-VN" sz="2800" dirty="0">
                    <a:solidFill>
                      <a:srgbClr val="FF0000"/>
                    </a:solidFill>
                  </a:rPr>
                  <a:t> cho </a:t>
                </a:r>
                <a:r>
                  <a:rPr lang="vi-VN" sz="2800" dirty="0" err="1">
                    <a:solidFill>
                      <a:srgbClr val="FF0000"/>
                    </a:solidFill>
                  </a:rPr>
                  <a:t>biết</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a:t>
                </a:r>
                <a:r>
                  <a:rPr lang="vi-VN" sz="2800" dirty="0" err="1">
                    <a:solidFill>
                      <a:srgbClr val="FF0000"/>
                    </a:solidFill>
                  </a:rPr>
                  <a:t>có</a:t>
                </a:r>
                <a:r>
                  <a:rPr lang="vi-VN" sz="2800" dirty="0">
                    <a:solidFill>
                      <a:srgbClr val="FF0000"/>
                    </a:solidFill>
                  </a:rPr>
                  <a:t> mua </a:t>
                </a:r>
                <a:r>
                  <a:rPr lang="vi-VN" sz="2800" dirty="0" err="1">
                    <a:solidFill>
                      <a:srgbClr val="FF0000"/>
                    </a:solidFill>
                  </a:rPr>
                  <a:t>hàng</a:t>
                </a:r>
                <a:r>
                  <a:rPr lang="vi-VN" sz="2800" dirty="0">
                    <a:solidFill>
                      <a:srgbClr val="FF0000"/>
                    </a:solidFill>
                  </a:rPr>
                  <a:t>.</a:t>
                </a:r>
              </a:p>
            </p:txBody>
          </p:sp>
        </mc:Choice>
        <mc:Fallback xmlns="">
          <p:sp>
            <p:nvSpPr>
              <p:cNvPr id="7" name="Content Placeholder 6">
                <a:extLst>
                  <a:ext uri="{FF2B5EF4-FFF2-40B4-BE49-F238E27FC236}">
                    <a16:creationId xmlns:a16="http://schemas.microsoft.com/office/drawing/2014/main" id="{24A5EA7F-8FCE-416E-9B84-E4673825CC4B}"/>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294338299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r>
              <a:rPr lang="vi-VN" sz="2800" dirty="0" err="1">
                <a:solidFill>
                  <a:srgbClr val="0066FF"/>
                </a:solidFill>
              </a:rPr>
              <a:t>Dưới</a:t>
            </a:r>
            <a:r>
              <a:rPr lang="vi-VN" sz="2800" dirty="0">
                <a:solidFill>
                  <a:srgbClr val="0066FF"/>
                </a:solidFill>
              </a:rPr>
              <a:t> đây </a:t>
            </a:r>
            <a:r>
              <a:rPr lang="vi-VN" sz="2800" dirty="0" err="1">
                <a:solidFill>
                  <a:srgbClr val="0066FF"/>
                </a:solidFill>
              </a:rPr>
              <a:t>là</a:t>
            </a:r>
            <a:r>
              <a:rPr lang="vi-VN" sz="2800" dirty="0">
                <a:solidFill>
                  <a:srgbClr val="0066FF"/>
                </a:solidFill>
              </a:rPr>
              <a:t> 5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ngẫu</a:t>
            </a:r>
            <a:r>
              <a:rPr lang="vi-VN" sz="2800" dirty="0">
                <a:solidFill>
                  <a:srgbClr val="0066FF"/>
                </a:solidFill>
              </a:rPr>
              <a:t> nhiên trong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37084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15624510</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2485347973"/>
                      </a:ext>
                    </a:extLst>
                  </a:tr>
                  <a:tr h="4470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15810944</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35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20,000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15668575</m:t>
                                </m:r>
                              </m:oMath>
                            </m:oMathPara>
                          </a14:m>
                          <a:endParaRPr lang="vi-VN" sz="2800" dirty="0"/>
                        </a:p>
                      </a:txBody>
                      <a:tcPr anchor="ctr">
                        <a:solidFill>
                          <a:srgbClr val="FFC000"/>
                        </a:solidFill>
                      </a:tcPr>
                    </a:tc>
                    <a:tc>
                      <a:txBody>
                        <a:bodyPr/>
                        <a:lstStyle/>
                        <a:p>
                          <a:pPr algn="l"/>
                          <a:r>
                            <a:rPr lang="vi-VN" sz="2800" dirty="0" err="1"/>
                            <a:t>Female</a:t>
                          </a:r>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26</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15603246</m:t>
                                </m:r>
                              </m:oMath>
                            </m:oMathPara>
                          </a14:m>
                          <a:endParaRPr lang="vi-VN" sz="2800" dirty="0"/>
                        </a:p>
                      </a:txBody>
                      <a:tcPr anchor="ctr"/>
                    </a:tc>
                    <a:tc>
                      <a:txBody>
                        <a:bodyPr/>
                        <a:lstStyle/>
                        <a:p>
                          <a:pPr algn="l"/>
                          <a:r>
                            <a:rPr lang="vi-VN" sz="2800" dirty="0" err="1"/>
                            <a:t>Female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57,000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15804002</m:t>
                                </m:r>
                              </m:oMath>
                            </m:oMathPara>
                          </a14:m>
                          <a:endParaRPr lang="vi-VN" sz="2800" dirty="0"/>
                        </a:p>
                      </a:txBody>
                      <a:tcPr anchor="ctr"/>
                    </a:tc>
                    <a:tc>
                      <a:txBody>
                        <a:bodyPr/>
                        <a:lstStyle/>
                        <a:p>
                          <a:pPr algn="l"/>
                          <a:r>
                            <a:rPr lang="vi-VN" sz="2800" dirty="0" err="1"/>
                            <a:t>Male</a:t>
                          </a:r>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19</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76,000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264C7AE0-BA47-456B-A146-198F1D3F3BBC}"/>
                  </a:ext>
                </a:extLst>
              </p:cNvPr>
              <p:cNvGraphicFramePr>
                <a:graphicFrameLocks/>
              </p:cNvGraphicFramePr>
              <p:nvPr>
                <p:extLst>
                  <p:ext uri="{D42A27DB-BD31-4B8C-83A1-F6EECF244321}">
                    <p14:modId xmlns:p14="http://schemas.microsoft.com/office/powerpoint/2010/main" val="2563136858"/>
                  </p:ext>
                </p:extLst>
              </p:nvPr>
            </p:nvGraphicFramePr>
            <p:xfrm>
              <a:off x="586409" y="2286000"/>
              <a:ext cx="10972800" cy="3535680"/>
            </p:xfrm>
            <a:graphic>
              <a:graphicData uri="http://schemas.openxmlformats.org/drawingml/2006/table">
                <a:tbl>
                  <a:tblPr firstRow="1" bandRow="1">
                    <a:tableStyleId>{21E4AEA4-8DFA-4A89-87EB-49C32662AFE0}</a:tableStyleId>
                  </a:tblPr>
                  <a:tblGrid>
                    <a:gridCol w="2194560">
                      <a:extLst>
                        <a:ext uri="{9D8B030D-6E8A-4147-A177-3AD203B41FA5}">
                          <a16:colId xmlns:a16="http://schemas.microsoft.com/office/drawing/2014/main" val="196782862"/>
                        </a:ext>
                      </a:extLst>
                    </a:gridCol>
                    <a:gridCol w="2194560">
                      <a:extLst>
                        <a:ext uri="{9D8B030D-6E8A-4147-A177-3AD203B41FA5}">
                          <a16:colId xmlns:a16="http://schemas.microsoft.com/office/drawing/2014/main" val="2182850202"/>
                        </a:ext>
                      </a:extLst>
                    </a:gridCol>
                    <a:gridCol w="2194560">
                      <a:extLst>
                        <a:ext uri="{9D8B030D-6E8A-4147-A177-3AD203B41FA5}">
                          <a16:colId xmlns:a16="http://schemas.microsoft.com/office/drawing/2014/main" val="3600337692"/>
                        </a:ext>
                      </a:extLst>
                    </a:gridCol>
                    <a:gridCol w="2194560">
                      <a:extLst>
                        <a:ext uri="{9D8B030D-6E8A-4147-A177-3AD203B41FA5}">
                          <a16:colId xmlns:a16="http://schemas.microsoft.com/office/drawing/2014/main" val="3658340494"/>
                        </a:ext>
                      </a:extLst>
                    </a:gridCol>
                    <a:gridCol w="2194560">
                      <a:extLst>
                        <a:ext uri="{9D8B030D-6E8A-4147-A177-3AD203B41FA5}">
                          <a16:colId xmlns:a16="http://schemas.microsoft.com/office/drawing/2014/main" val="1278605173"/>
                        </a:ext>
                      </a:extLst>
                    </a:gridCol>
                  </a:tblGrid>
                  <a:tr h="944880">
                    <a:tc>
                      <a:txBody>
                        <a:bodyPr/>
                        <a:lstStyle/>
                        <a:p>
                          <a:pPr algn="ctr"/>
                          <a:r>
                            <a:rPr lang="vi-VN" sz="2800" dirty="0" err="1"/>
                            <a:t>UserID</a:t>
                          </a:r>
                          <a:endParaRPr lang="vi-VN" sz="2800" dirty="0"/>
                        </a:p>
                      </a:txBody>
                      <a:tcPr anchor="ctr"/>
                    </a:tc>
                    <a:tc>
                      <a:txBody>
                        <a:bodyPr/>
                        <a:lstStyle/>
                        <a:p>
                          <a:pPr algn="ctr"/>
                          <a:r>
                            <a:rPr lang="vi-VN" sz="2800" dirty="0" err="1"/>
                            <a:t>Gender</a:t>
                          </a:r>
                          <a:endParaRPr lang="vi-VN" sz="2800" dirty="0"/>
                        </a:p>
                      </a:txBody>
                      <a:tcPr anchor="ctr"/>
                    </a:tc>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t>Purchased</a:t>
                          </a:r>
                          <a:endParaRPr lang="vi-VN" sz="2800" dirty="0"/>
                        </a:p>
                      </a:txBody>
                      <a:tcPr anchor="ctr"/>
                    </a:tc>
                    <a:extLst>
                      <a:ext uri="{0D108BD9-81ED-4DB2-BD59-A6C34878D82A}">
                        <a16:rowId xmlns:a16="http://schemas.microsoft.com/office/drawing/2014/main" val="2231562568"/>
                      </a:ext>
                    </a:extLst>
                  </a:tr>
                  <a:tr h="518160">
                    <a:tc>
                      <a:txBody>
                        <a:bodyPr/>
                        <a:lstStyle/>
                        <a:p>
                          <a:endParaRPr lang="en-US"/>
                        </a:p>
                      </a:txBody>
                      <a:tcPr anchor="ctr">
                        <a:blipFill>
                          <a:blip r:embed="rId2"/>
                          <a:stretch>
                            <a:fillRect l="-278" t="-194118" r="-401389" b="-4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194118" r="-200554" b="-432941"/>
                          </a:stretch>
                        </a:blipFill>
                      </a:tcPr>
                    </a:tc>
                    <a:tc>
                      <a:txBody>
                        <a:bodyPr/>
                        <a:lstStyle/>
                        <a:p>
                          <a:endParaRPr lang="en-US"/>
                        </a:p>
                      </a:txBody>
                      <a:tcPr anchor="ctr">
                        <a:blipFill>
                          <a:blip r:embed="rId2"/>
                          <a:stretch>
                            <a:fillRect l="-300556" t="-194118" r="-101111" b="-432941"/>
                          </a:stretch>
                        </a:blipFill>
                      </a:tcPr>
                    </a:tc>
                    <a:tc>
                      <a:txBody>
                        <a:bodyPr/>
                        <a:lstStyle/>
                        <a:p>
                          <a:endParaRPr lang="en-US"/>
                        </a:p>
                      </a:txBody>
                      <a:tcPr anchor="ctr">
                        <a:blipFill>
                          <a:blip r:embed="rId2"/>
                          <a:stretch>
                            <a:fillRect l="-400556" t="-194118" r="-1111" b="-432941"/>
                          </a:stretch>
                        </a:blipFill>
                      </a:tcPr>
                    </a:tc>
                    <a:extLst>
                      <a:ext uri="{0D108BD9-81ED-4DB2-BD59-A6C34878D82A}">
                        <a16:rowId xmlns:a16="http://schemas.microsoft.com/office/drawing/2014/main" val="2485347973"/>
                      </a:ext>
                    </a:extLst>
                  </a:tr>
                  <a:tr h="518160">
                    <a:tc>
                      <a:txBody>
                        <a:bodyPr/>
                        <a:lstStyle/>
                        <a:p>
                          <a:endParaRPr lang="en-US"/>
                        </a:p>
                      </a:txBody>
                      <a:tcPr anchor="ctr">
                        <a:blipFill>
                          <a:blip r:embed="rId2"/>
                          <a:stretch>
                            <a:fillRect l="-278" t="-294118" r="-401389" b="-3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294118" r="-200554" b="-332941"/>
                          </a:stretch>
                        </a:blipFill>
                      </a:tcPr>
                    </a:tc>
                    <a:tc>
                      <a:txBody>
                        <a:bodyPr/>
                        <a:lstStyle/>
                        <a:p>
                          <a:endParaRPr lang="en-US"/>
                        </a:p>
                      </a:txBody>
                      <a:tcPr anchor="ctr">
                        <a:blipFill>
                          <a:blip r:embed="rId2"/>
                          <a:stretch>
                            <a:fillRect l="-300556" t="-294118" r="-101111" b="-332941"/>
                          </a:stretch>
                        </a:blipFill>
                      </a:tcPr>
                    </a:tc>
                    <a:tc>
                      <a:txBody>
                        <a:bodyPr/>
                        <a:lstStyle/>
                        <a:p>
                          <a:endParaRPr lang="en-US"/>
                        </a:p>
                      </a:txBody>
                      <a:tcPr anchor="ctr">
                        <a:blipFill>
                          <a:blip r:embed="rId2"/>
                          <a:stretch>
                            <a:fillRect l="-400556" t="-294118" r="-1111" b="-332941"/>
                          </a:stretch>
                        </a:blipFill>
                      </a:tcPr>
                    </a:tc>
                    <a:extLst>
                      <a:ext uri="{0D108BD9-81ED-4DB2-BD59-A6C34878D82A}">
                        <a16:rowId xmlns:a16="http://schemas.microsoft.com/office/drawing/2014/main" val="2391906055"/>
                      </a:ext>
                    </a:extLst>
                  </a:tr>
                  <a:tr h="518160">
                    <a:tc>
                      <a:txBody>
                        <a:bodyPr/>
                        <a:lstStyle/>
                        <a:p>
                          <a:endParaRPr lang="en-US"/>
                        </a:p>
                      </a:txBody>
                      <a:tcPr anchor="ctr">
                        <a:blipFill>
                          <a:blip r:embed="rId2"/>
                          <a:stretch>
                            <a:fillRect l="-278" t="-394118" r="-401389" b="-232941"/>
                          </a:stretch>
                        </a:blipFill>
                      </a:tcPr>
                    </a:tc>
                    <a:tc>
                      <a:txBody>
                        <a:bodyPr/>
                        <a:lstStyle/>
                        <a:p>
                          <a:pPr algn="l"/>
                          <a:r>
                            <a:rPr lang="vi-VN" sz="2800" dirty="0" err="1"/>
                            <a:t>Female</a:t>
                          </a:r>
                          <a:endParaRPr lang="vi-VN" sz="2800" dirty="0"/>
                        </a:p>
                      </a:txBody>
                      <a:tcPr anchor="ctr">
                        <a:solidFill>
                          <a:srgbClr val="FFC000"/>
                        </a:solidFill>
                      </a:tcPr>
                    </a:tc>
                    <a:tc>
                      <a:txBody>
                        <a:bodyPr/>
                        <a:lstStyle/>
                        <a:p>
                          <a:endParaRPr lang="en-US"/>
                        </a:p>
                      </a:txBody>
                      <a:tcPr anchor="ctr">
                        <a:blipFill>
                          <a:blip r:embed="rId2"/>
                          <a:stretch>
                            <a:fillRect l="-199723" t="-394118" r="-200554" b="-232941"/>
                          </a:stretch>
                        </a:blipFill>
                      </a:tcPr>
                    </a:tc>
                    <a:tc>
                      <a:txBody>
                        <a:bodyPr/>
                        <a:lstStyle/>
                        <a:p>
                          <a:endParaRPr lang="en-US"/>
                        </a:p>
                      </a:txBody>
                      <a:tcPr anchor="ctr">
                        <a:blipFill>
                          <a:blip r:embed="rId2"/>
                          <a:stretch>
                            <a:fillRect l="-300556" t="-394118" r="-101111" b="-232941"/>
                          </a:stretch>
                        </a:blipFill>
                      </a:tcPr>
                    </a:tc>
                    <a:tc>
                      <a:txBody>
                        <a:bodyPr/>
                        <a:lstStyle/>
                        <a:p>
                          <a:endParaRPr lang="en-US"/>
                        </a:p>
                      </a:txBody>
                      <a:tcPr anchor="ctr">
                        <a:blipFill>
                          <a:blip r:embed="rId2"/>
                          <a:stretch>
                            <a:fillRect l="-400556" t="-394118" r="-1111" b="-232941"/>
                          </a:stretch>
                        </a:blipFill>
                      </a:tcPr>
                    </a:tc>
                    <a:extLst>
                      <a:ext uri="{0D108BD9-81ED-4DB2-BD59-A6C34878D82A}">
                        <a16:rowId xmlns:a16="http://schemas.microsoft.com/office/drawing/2014/main" val="68464354"/>
                      </a:ext>
                    </a:extLst>
                  </a:tr>
                  <a:tr h="518160">
                    <a:tc>
                      <a:txBody>
                        <a:bodyPr/>
                        <a:lstStyle/>
                        <a:p>
                          <a:endParaRPr lang="en-US"/>
                        </a:p>
                      </a:txBody>
                      <a:tcPr anchor="ctr">
                        <a:blipFill>
                          <a:blip r:embed="rId2"/>
                          <a:stretch>
                            <a:fillRect l="-278" t="-494118" r="-401389" b="-132941"/>
                          </a:stretch>
                        </a:blipFill>
                      </a:tcPr>
                    </a:tc>
                    <a:tc>
                      <a:txBody>
                        <a:bodyPr/>
                        <a:lstStyle/>
                        <a:p>
                          <a:pPr algn="l"/>
                          <a:r>
                            <a:rPr lang="vi-VN" sz="2800" dirty="0" err="1"/>
                            <a:t>Female</a:t>
                          </a:r>
                          <a:endParaRPr lang="vi-VN" sz="2800" dirty="0"/>
                        </a:p>
                      </a:txBody>
                      <a:tcPr anchor="ctr"/>
                    </a:tc>
                    <a:tc>
                      <a:txBody>
                        <a:bodyPr/>
                        <a:lstStyle/>
                        <a:p>
                          <a:endParaRPr lang="en-US"/>
                        </a:p>
                      </a:txBody>
                      <a:tcPr anchor="ctr">
                        <a:blipFill>
                          <a:blip r:embed="rId2"/>
                          <a:stretch>
                            <a:fillRect l="-199723" t="-494118" r="-200554" b="-132941"/>
                          </a:stretch>
                        </a:blipFill>
                      </a:tcPr>
                    </a:tc>
                    <a:tc>
                      <a:txBody>
                        <a:bodyPr/>
                        <a:lstStyle/>
                        <a:p>
                          <a:endParaRPr lang="en-US"/>
                        </a:p>
                      </a:txBody>
                      <a:tcPr anchor="ctr">
                        <a:blipFill>
                          <a:blip r:embed="rId2"/>
                          <a:stretch>
                            <a:fillRect l="-300556" t="-494118" r="-101111" b="-132941"/>
                          </a:stretch>
                        </a:blipFill>
                      </a:tcPr>
                    </a:tc>
                    <a:tc>
                      <a:txBody>
                        <a:bodyPr/>
                        <a:lstStyle/>
                        <a:p>
                          <a:endParaRPr lang="en-US"/>
                        </a:p>
                      </a:txBody>
                      <a:tcPr anchor="ctr">
                        <a:blipFill>
                          <a:blip r:embed="rId2"/>
                          <a:stretch>
                            <a:fillRect l="-400556" t="-494118" r="-1111" b="-132941"/>
                          </a:stretch>
                        </a:blipFill>
                      </a:tcPr>
                    </a:tc>
                    <a:extLst>
                      <a:ext uri="{0D108BD9-81ED-4DB2-BD59-A6C34878D82A}">
                        <a16:rowId xmlns:a16="http://schemas.microsoft.com/office/drawing/2014/main" val="4192353787"/>
                      </a:ext>
                    </a:extLst>
                  </a:tr>
                  <a:tr h="518160">
                    <a:tc>
                      <a:txBody>
                        <a:bodyPr/>
                        <a:lstStyle/>
                        <a:p>
                          <a:endParaRPr lang="en-US"/>
                        </a:p>
                      </a:txBody>
                      <a:tcPr anchor="ctr">
                        <a:blipFill>
                          <a:blip r:embed="rId2"/>
                          <a:stretch>
                            <a:fillRect l="-278" t="-594118" r="-401389" b="-32941"/>
                          </a:stretch>
                        </a:blipFill>
                      </a:tcPr>
                    </a:tc>
                    <a:tc>
                      <a:txBody>
                        <a:bodyPr/>
                        <a:lstStyle/>
                        <a:p>
                          <a:pPr algn="l"/>
                          <a:r>
                            <a:rPr lang="vi-VN" sz="2800" dirty="0" err="1"/>
                            <a:t>Male</a:t>
                          </a:r>
                          <a:endParaRPr lang="vi-VN" sz="2800" dirty="0"/>
                        </a:p>
                      </a:txBody>
                      <a:tcPr anchor="ctr"/>
                    </a:tc>
                    <a:tc>
                      <a:txBody>
                        <a:bodyPr/>
                        <a:lstStyle/>
                        <a:p>
                          <a:endParaRPr lang="en-US"/>
                        </a:p>
                      </a:txBody>
                      <a:tcPr anchor="ctr">
                        <a:blipFill>
                          <a:blip r:embed="rId2"/>
                          <a:stretch>
                            <a:fillRect l="-199723" t="-594118" r="-200554" b="-32941"/>
                          </a:stretch>
                        </a:blipFill>
                      </a:tcPr>
                    </a:tc>
                    <a:tc>
                      <a:txBody>
                        <a:bodyPr/>
                        <a:lstStyle/>
                        <a:p>
                          <a:endParaRPr lang="en-US"/>
                        </a:p>
                      </a:txBody>
                      <a:tcPr anchor="ctr">
                        <a:blipFill>
                          <a:blip r:embed="rId2"/>
                          <a:stretch>
                            <a:fillRect l="-300556" t="-594118" r="-101111" b="-32941"/>
                          </a:stretch>
                        </a:blipFill>
                      </a:tcPr>
                    </a:tc>
                    <a:tc>
                      <a:txBody>
                        <a:bodyPr/>
                        <a:lstStyle/>
                        <a:p>
                          <a:endParaRPr lang="en-US"/>
                        </a:p>
                      </a:txBody>
                      <a:tcPr anchor="ctr">
                        <a:blipFill>
                          <a:blip r:embed="rId2"/>
                          <a:stretch>
                            <a:fillRect l="-400556" t="-594118" r="-1111" b="-32941"/>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313193310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701-EC67-4BAE-885F-6D32DA238613}"/>
              </a:ext>
            </a:extLst>
          </p:cNvPr>
          <p:cNvSpPr>
            <a:spLocks noGrp="1"/>
          </p:cNvSpPr>
          <p:nvPr>
            <p:ph type="title"/>
          </p:nvPr>
        </p:nvSpPr>
        <p:spPr/>
        <p:txBody>
          <a:bodyPr/>
          <a:lstStyle/>
          <a:p>
            <a:r>
              <a:rPr lang="vi-VN" dirty="0" err="1"/>
              <a:t>Dataset</a:t>
            </a:r>
            <a:endParaRPr lang="vi-VN" dirty="0"/>
          </a:p>
        </p:txBody>
      </p:sp>
      <p:sp>
        <p:nvSpPr>
          <p:cNvPr id="3" name="Content Placeholder 2">
            <a:extLst>
              <a:ext uri="{FF2B5EF4-FFF2-40B4-BE49-F238E27FC236}">
                <a16:creationId xmlns:a16="http://schemas.microsoft.com/office/drawing/2014/main" id="{342EE472-166E-4206-903F-85F9C5F94B82}"/>
              </a:ext>
            </a:extLst>
          </p:cNvPr>
          <p:cNvSpPr>
            <a:spLocks noGrp="1"/>
          </p:cNvSpPr>
          <p:nvPr>
            <p:ph idx="1"/>
          </p:nvPr>
        </p:nvSpPr>
        <p:spPr/>
        <p:txBody>
          <a:bodyPr/>
          <a:lstStyle/>
          <a:p>
            <a:pPr algn="just"/>
            <a:r>
              <a:rPr lang="en-US" sz="2800" dirty="0" err="1">
                <a:solidFill>
                  <a:srgbClr val="0066FF"/>
                </a:solidFill>
              </a:rPr>
              <a:t>Yêu</a:t>
            </a:r>
            <a:r>
              <a:rPr lang="en-US" sz="2800" dirty="0">
                <a:solidFill>
                  <a:srgbClr val="0066FF"/>
                </a:solidFill>
              </a:rPr>
              <a:t> </a:t>
            </a:r>
            <a:r>
              <a:rPr lang="en-US" sz="2800" dirty="0" err="1">
                <a:solidFill>
                  <a:srgbClr val="0066FF"/>
                </a:solidFill>
              </a:rPr>
              <a:t>cầu</a:t>
            </a:r>
            <a:r>
              <a:rPr lang="en-US" sz="2800" dirty="0">
                <a:solidFill>
                  <a:srgbClr val="0066FF"/>
                </a:solidFill>
              </a:rPr>
              <a:t> </a:t>
            </a:r>
            <a:r>
              <a:rPr lang="en-US" sz="2800" dirty="0" err="1">
                <a:solidFill>
                  <a:srgbClr val="0066FF"/>
                </a:solidFill>
              </a:rPr>
              <a:t>với</a:t>
            </a:r>
            <a:r>
              <a:rPr lang="en-US" sz="2800" dirty="0">
                <a:solidFill>
                  <a:srgbClr val="0066FF"/>
                </a:solidFill>
              </a:rPr>
              <a:t> 2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a:t>
            </a:r>
          </a:p>
          <a:p>
            <a:pPr lvl="1" algn="just"/>
            <a:r>
              <a:rPr lang="en-US" sz="2800" dirty="0" err="1">
                <a:solidFill>
                  <a:srgbClr val="FF0000"/>
                </a:solidFill>
              </a:rPr>
              <a:t>Độ</a:t>
            </a:r>
            <a:r>
              <a:rPr lang="en-US" sz="2800" dirty="0">
                <a:solidFill>
                  <a:srgbClr val="FF0000"/>
                </a:solidFill>
              </a:rPr>
              <a:t> </a:t>
            </a:r>
            <a:r>
              <a:rPr lang="en-US" sz="2800" dirty="0" err="1">
                <a:solidFill>
                  <a:srgbClr val="FF0000"/>
                </a:solidFill>
              </a:rPr>
              <a:t>tuổi</a:t>
            </a:r>
            <a:r>
              <a:rPr lang="en-US" sz="2800" dirty="0">
                <a:solidFill>
                  <a:srgbClr val="FF0000"/>
                </a:solidFill>
              </a:rPr>
              <a:t> (Age)</a:t>
            </a:r>
          </a:p>
          <a:p>
            <a:pPr lvl="1" algn="just"/>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vi-VN" sz="2800" dirty="0" err="1">
                <a:solidFill>
                  <a:srgbClr val="0066FF"/>
                </a:solidFill>
              </a:rPr>
              <a:t>ước</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Estimated</a:t>
            </a:r>
            <a:r>
              <a:rPr lang="vi-VN" sz="2800" dirty="0">
                <a:solidFill>
                  <a:srgbClr val="0066FF"/>
                </a:solidFill>
              </a:rPr>
              <a:t> </a:t>
            </a:r>
            <a:r>
              <a:rPr lang="vi-VN" sz="2800" dirty="0" err="1">
                <a:solidFill>
                  <a:srgbClr val="0066FF"/>
                </a:solidFill>
              </a:rPr>
              <a:t>Salary</a:t>
            </a:r>
            <a:r>
              <a:rPr lang="vi-VN" sz="2800" dirty="0">
                <a:solidFill>
                  <a:srgbClr val="0066FF"/>
                </a:solidFill>
              </a:rPr>
              <a:t>)</a:t>
            </a:r>
          </a:p>
          <a:p>
            <a:pPr marL="0" indent="0" algn="just">
              <a:buNone/>
            </a:pPr>
            <a:r>
              <a:rPr lang="en-US" sz="4000" dirty="0">
                <a:solidFill>
                  <a:srgbClr val="FF0000"/>
                </a:solidFill>
              </a:rPr>
              <a:t>D</a:t>
            </a:r>
            <a:r>
              <a:rPr lang="vi-VN" sz="4000" dirty="0">
                <a:solidFill>
                  <a:srgbClr val="FF0000"/>
                </a:solidFill>
              </a:rPr>
              <a:t>ự </a:t>
            </a:r>
            <a:r>
              <a:rPr lang="vi-VN" sz="4000" dirty="0" err="1">
                <a:solidFill>
                  <a:srgbClr val="FF0000"/>
                </a:solidFill>
              </a:rPr>
              <a:t>đoán</a:t>
            </a:r>
            <a:r>
              <a:rPr lang="vi-VN" sz="4000" dirty="0">
                <a:solidFill>
                  <a:srgbClr val="FF0000"/>
                </a:solidFill>
              </a:rPr>
              <a:t> </a:t>
            </a:r>
            <a:r>
              <a:rPr lang="vi-VN" sz="4000" dirty="0" err="1">
                <a:solidFill>
                  <a:srgbClr val="FF0000"/>
                </a:solidFill>
              </a:rPr>
              <a:t>khách</a:t>
            </a:r>
            <a:r>
              <a:rPr lang="vi-VN" sz="4000" dirty="0">
                <a:solidFill>
                  <a:srgbClr val="FF0000"/>
                </a:solidFill>
              </a:rPr>
              <a:t> </a:t>
            </a:r>
            <a:r>
              <a:rPr lang="vi-VN" sz="4000" dirty="0" err="1">
                <a:solidFill>
                  <a:srgbClr val="FF0000"/>
                </a:solidFill>
              </a:rPr>
              <a:t>hàng</a:t>
            </a:r>
            <a:r>
              <a:rPr lang="vi-VN" sz="4000" dirty="0">
                <a:solidFill>
                  <a:srgbClr val="FF0000"/>
                </a:solidFill>
              </a:rPr>
              <a:t> </a:t>
            </a:r>
            <a:r>
              <a:rPr lang="vi-VN" sz="4000" dirty="0" err="1">
                <a:solidFill>
                  <a:srgbClr val="FF0000"/>
                </a:solidFill>
              </a:rPr>
              <a:t>sẽ</a:t>
            </a:r>
            <a:r>
              <a:rPr lang="vi-VN" sz="4000" dirty="0">
                <a:solidFill>
                  <a:srgbClr val="FF0000"/>
                </a:solidFill>
              </a:rPr>
              <a:t> mua </a:t>
            </a:r>
            <a:r>
              <a:rPr lang="vi-VN" sz="4000" dirty="0" err="1">
                <a:solidFill>
                  <a:srgbClr val="FF0000"/>
                </a:solidFill>
              </a:rPr>
              <a:t>hàng</a:t>
            </a:r>
            <a:r>
              <a:rPr lang="vi-VN" sz="4000" dirty="0">
                <a:solidFill>
                  <a:srgbClr val="FF0000"/>
                </a:solidFill>
              </a:rPr>
              <a:t> hay không?</a:t>
            </a:r>
            <a:endParaRPr lang="en-US" sz="4000" dirty="0">
              <a:solidFill>
                <a:srgbClr val="FF0000"/>
              </a:solidFill>
            </a:endParaRPr>
          </a:p>
        </p:txBody>
      </p:sp>
    </p:spTree>
    <p:extLst>
      <p:ext uri="{BB962C8B-B14F-4D97-AF65-F5344CB8AC3E}">
        <p14:creationId xmlns:p14="http://schemas.microsoft.com/office/powerpoint/2010/main" val="68402019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E4E648CF-DA24-4949-AFDB-25EC09D4A46E}"/>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144969979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Ở </a:t>
            </a:r>
            <a:r>
              <a:rPr lang="en-US" sz="2800" dirty="0" err="1">
                <a:solidFill>
                  <a:srgbClr val="0066FF"/>
                </a:solidFill>
              </a:rPr>
              <a:t>bài</a:t>
            </a:r>
            <a:r>
              <a:rPr lang="en-US" sz="2800" dirty="0">
                <a:solidFill>
                  <a:srgbClr val="0066FF"/>
                </a:solidFill>
              </a:rPr>
              <a:t> </a:t>
            </a:r>
            <a:r>
              <a:rPr lang="en-US" sz="2800" dirty="0" err="1">
                <a:solidFill>
                  <a:srgbClr val="0066FF"/>
                </a:solidFill>
              </a:rPr>
              <a:t>này</a:t>
            </a:r>
            <a:r>
              <a:rPr lang="en-US" sz="2800" dirty="0">
                <a:solidFill>
                  <a:srgbClr val="0066FF"/>
                </a:solidFill>
              </a:rPr>
              <a:t>, ta </a:t>
            </a:r>
            <a:r>
              <a:rPr lang="en-US" sz="2800" dirty="0" err="1">
                <a:solidFill>
                  <a:srgbClr val="0066FF"/>
                </a:solidFill>
              </a:rPr>
              <a:t>chỉ</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tâm</a:t>
            </a:r>
            <a:r>
              <a:rPr lang="en-US" sz="2800" dirty="0">
                <a:solidFill>
                  <a:srgbClr val="0066FF"/>
                </a:solidFill>
              </a:rPr>
              <a:t> </a:t>
            </a:r>
            <a:r>
              <a:rPr lang="en-US" sz="2800" dirty="0" err="1">
                <a:solidFill>
                  <a:srgbClr val="0066FF"/>
                </a:solidFill>
              </a:rPr>
              <a:t>đến</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thuộc</a:t>
            </a:r>
            <a:r>
              <a:rPr lang="en-US" sz="2800" dirty="0">
                <a:solidFill>
                  <a:srgbClr val="0066FF"/>
                </a:solidFill>
              </a:rPr>
              <a:t> </a:t>
            </a:r>
            <a:r>
              <a:rPr lang="en-US" sz="2800" dirty="0" err="1">
                <a:solidFill>
                  <a:srgbClr val="0066FF"/>
                </a:solidFill>
              </a:rPr>
              <a:t>tính</a:t>
            </a:r>
            <a:r>
              <a:rPr lang="en-US" sz="2800" dirty="0">
                <a:solidFill>
                  <a:srgbClr val="0066FF"/>
                </a:solidFill>
              </a:rPr>
              <a:t> </a:t>
            </a:r>
            <a:r>
              <a:rPr lang="en-US" sz="2800" dirty="0" err="1">
                <a:solidFill>
                  <a:srgbClr val="0066FF"/>
                </a:solidFill>
              </a:rPr>
              <a:t>tuổi</a:t>
            </a:r>
            <a:r>
              <a:rPr lang="en-US" sz="2800" dirty="0">
                <a:solidFill>
                  <a:srgbClr val="0066FF"/>
                </a:solidFill>
              </a:rPr>
              <a:t> </a:t>
            </a:r>
            <a:r>
              <a:rPr lang="en-US" sz="2800" dirty="0" err="1">
                <a:solidFill>
                  <a:srgbClr val="0066FF"/>
                </a:solidFill>
              </a:rPr>
              <a:t>và</a:t>
            </a:r>
            <a:r>
              <a:rPr lang="en-US" sz="2800" dirty="0">
                <a:solidFill>
                  <a:srgbClr val="0066FF"/>
                </a:solidFill>
              </a:rPr>
              <a:t> </a:t>
            </a:r>
            <a:r>
              <a:rPr lang="en-US" sz="2800" dirty="0" err="1">
                <a:solidFill>
                  <a:srgbClr val="0066FF"/>
                </a:solidFill>
              </a:rPr>
              <a:t>mức</a:t>
            </a:r>
            <a:r>
              <a:rPr lang="en-US" sz="2800" dirty="0">
                <a:solidFill>
                  <a:srgbClr val="0066FF"/>
                </a:solidFill>
              </a:rPr>
              <a:t> l</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vi-VN" sz="2800" dirty="0">
                <a:solidFill>
                  <a:srgbClr val="0066FF"/>
                </a:solidFill>
              </a:rPr>
              <a:t>ư</a:t>
            </a:r>
            <a:r>
              <a:rPr lang="en-US" sz="2800" dirty="0" err="1">
                <a:solidFill>
                  <a:srgbClr val="0066FF"/>
                </a:solidFill>
              </a:rPr>
              <a:t>ớc</a:t>
            </a:r>
            <a:r>
              <a:rPr lang="en-US" sz="2800" dirty="0">
                <a:solidFill>
                  <a:srgbClr val="0066FF"/>
                </a:solidFill>
              </a:rPr>
              <a:t> </a:t>
            </a:r>
            <a:r>
              <a:rPr lang="en-US" sz="2800" dirty="0" err="1">
                <a:solidFill>
                  <a:srgbClr val="0066FF"/>
                </a:solidFill>
              </a:rPr>
              <a:t>đoán</a:t>
            </a:r>
            <a:r>
              <a:rPr lang="en-US" sz="2800" dirty="0">
                <a:solidFill>
                  <a:srgbClr val="0066FF"/>
                </a:solidFill>
              </a:rPr>
              <a:t>.</a:t>
            </a:r>
          </a:p>
          <a:p>
            <a:pPr algn="just"/>
            <a:endParaRPr lang="en-US" sz="2800" dirty="0">
              <a:solidFill>
                <a:srgbClr val="0066FF"/>
              </a:solidFill>
            </a:endParaRPr>
          </a:p>
          <a:p>
            <a:pPr algn="just"/>
            <a:endParaRPr lang="en-US" sz="2800" dirty="0">
              <a:solidFill>
                <a:srgbClr val="FF0000"/>
              </a:solidFill>
            </a:endParaRPr>
          </a:p>
          <a:p>
            <a:pPr marL="457200" indent="-457200" algn="just">
              <a:buFont typeface="+mj-lt"/>
              <a:buAutoNum type="arabicPeriod"/>
            </a:pPr>
            <a:r>
              <a:rPr lang="vi-VN" dirty="0" err="1">
                <a:solidFill>
                  <a:srgbClr val="AF00DB"/>
                </a:solidFill>
                <a:latin typeface="Consolas" panose="020B0609020204030204" pitchFamily="49" charset="0"/>
              </a:rPr>
              <a:t>import pandas as pd</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solidFill>
                  <a:srgbClr val="AF00DB"/>
                </a:solidFill>
                <a:latin typeface="Consolas" panose="020B0609020204030204" pitchFamily="49" charset="0"/>
              </a:rPr>
              <a:t>import numpy as np</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lgn="just">
              <a:buFont typeface="+mj-lt"/>
              <a:buAutoNum type="arabicPeriod"/>
            </a:pPr>
            <a:r>
              <a:rPr lang="vi-VN" dirty="0" err="1">
                <a:highlight>
                  <a:srgbClr val="FFFF00"/>
                </a:highlight>
                <a:latin typeface="Consolas" panose="020B0609020204030204" pitchFamily="49" charset="0"/>
              </a:rPr>
              <a:t>dataset = pd.read_csv("Social_Network_Ads.csv")</a:t>
            </a:r>
            <a:r>
              <a:rPr lang="vi-VN" dirty="0">
                <a:highlight>
                  <a:srgbClr val="FFFF00"/>
                </a:highlight>
                <a:latin typeface="Consolas" panose="020B0609020204030204" pitchFamily="49" charset="0"/>
              </a:rPr>
              <a:t/>
            </a:r>
            <a:r>
              <a:rPr lang="vi-VN" dirty="0" err="1">
                <a:highlight>
                  <a:srgbClr val="FFFF00"/>
                </a:highlight>
                <a:latin typeface="Consolas" panose="020B0609020204030204" pitchFamily="49" charset="0"/>
              </a:rPr>
              <a:t/>
            </a:r>
            <a:r>
              <a:rPr lang="vi-VN" dirty="0">
                <a:highlight>
                  <a:srgbClr val="FFFF00"/>
                </a:highlight>
                <a:latin typeface="Consolas" panose="020B0609020204030204" pitchFamily="49" charset="0"/>
              </a:rPr>
              <a:t/>
            </a:r>
          </a:p>
          <a:p>
            <a:pPr marL="457200" indent="-457200" algn="just">
              <a:buFont typeface="+mj-lt"/>
              <a:buAutoNum type="arabicPeriod"/>
            </a:pPr>
            <a:r>
              <a:rPr lang="fi-FI" dirty="0">
                <a:solidFill>
                  <a:srgbClr val="000000"/>
                </a:solidFill>
                <a:latin typeface="Consolas" panose="020B0609020204030204" pitchFamily="49" charset="0"/>
              </a:rPr>
              <a:t>X = dataset.iloc[:, [2, 3]].values</a:t>
            </a:r>
            <a:r>
              <a:rPr lang="fi-FI" dirty="0">
                <a:solidFill>
                  <a:srgbClr val="09885A"/>
                </a:solidFill>
                <a:latin typeface="Consolas" panose="020B0609020204030204" pitchFamily="49" charset="0"/>
              </a:rPr>
              <a:t/>
            </a:r>
            <a:r>
              <a:rPr lang="fi-FI" dirty="0">
                <a:solidFill>
                  <a:srgbClr val="000000"/>
                </a:solidFill>
                <a:latin typeface="Consolas" panose="020B0609020204030204" pitchFamily="49" charset="0"/>
              </a:rPr>
              <a:t/>
            </a:r>
            <a:r>
              <a:rPr lang="fi-FI" dirty="0">
                <a:solidFill>
                  <a:srgbClr val="09885A"/>
                </a:solidFill>
                <a:latin typeface="Consolas" panose="020B0609020204030204" pitchFamily="49" charset="0"/>
              </a:rPr>
              <a:t/>
            </a:r>
            <a:r>
              <a:rPr lang="fi-FI" dirty="0">
                <a:solidFill>
                  <a:srgbClr val="000000"/>
                </a:solidFill>
                <a:latin typeface="Consolas" panose="020B0609020204030204" pitchFamily="49" charset="0"/>
              </a:rPr>
              <a:t/>
            </a:r>
          </a:p>
          <a:p>
            <a:pPr marL="457200" indent="-457200" algn="just">
              <a:buFont typeface="+mj-lt"/>
              <a:buAutoNum type="arabicPeriod"/>
            </a:pPr>
            <a:r>
              <a:rPr lang="es-ES" dirty="0">
                <a:solidFill>
                  <a:srgbClr val="000000"/>
                </a:solidFill>
                <a:latin typeface="Consolas" panose="020B0609020204030204" pitchFamily="49" charset="0"/>
              </a:rPr>
              <a:t>y = dataset.iloc[:, 4].values</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r>
              <a:rPr lang="es-ES" dirty="0">
                <a:solidFill>
                  <a:srgbClr val="09885A"/>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endParaRPr lang="es-E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1712693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vi-VN" sz="2800" dirty="0" err="1">
                <a:solidFill>
                  <a:srgbClr val="0066FF"/>
                </a:solidFill>
              </a:rPr>
              <a:t>Để</a:t>
            </a:r>
            <a:r>
              <a:rPr lang="vi-VN" sz="2800" dirty="0">
                <a:solidFill>
                  <a:srgbClr val="0066FF"/>
                </a:solidFill>
              </a:rPr>
              <a:t> </a:t>
            </a:r>
            <a:r>
              <a:rPr lang="vi-VN" sz="2800" dirty="0" err="1">
                <a:solidFill>
                  <a:srgbClr val="0066FF"/>
                </a:solidFill>
              </a:rPr>
              <a:t>thuận</a:t>
            </a:r>
            <a:r>
              <a:rPr lang="vi-VN" sz="2800" dirty="0">
                <a:solidFill>
                  <a:srgbClr val="0066FF"/>
                </a:solidFill>
              </a:rPr>
              <a:t> </a:t>
            </a:r>
            <a:r>
              <a:rPr lang="vi-VN" sz="2800" dirty="0" err="1">
                <a:solidFill>
                  <a:srgbClr val="0066FF"/>
                </a:solidFill>
              </a:rPr>
              <a:t>tiện</a:t>
            </a:r>
            <a:r>
              <a:rPr lang="vi-VN" sz="2800" dirty="0">
                <a:solidFill>
                  <a:srgbClr val="0066FF"/>
                </a:solidFill>
              </a:rPr>
              <a:t> cho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sau khi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ta </a:t>
            </a:r>
            <a:r>
              <a:rPr lang="vi-VN" sz="2800" dirty="0" err="1">
                <a:solidFill>
                  <a:srgbClr val="0066FF"/>
                </a:solidFill>
              </a:rPr>
              <a:t>chuẩn</a:t>
            </a:r>
            <a:r>
              <a:rPr lang="vi-VN" sz="2800" dirty="0">
                <a:solidFill>
                  <a:srgbClr val="0066FF"/>
                </a:solidFill>
              </a:rPr>
              <a:t>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về</a:t>
            </a:r>
            <a:r>
              <a:rPr lang="vi-VN" sz="2800" dirty="0">
                <a:solidFill>
                  <a:srgbClr val="0066FF"/>
                </a:solidFill>
              </a:rPr>
              <a:t> </a:t>
            </a:r>
            <a:r>
              <a:rPr lang="vi-VN" sz="2800" dirty="0" err="1">
                <a:solidFill>
                  <a:srgbClr val="0066FF"/>
                </a:solidFill>
              </a:rPr>
              <a:t>dạng</a:t>
            </a:r>
            <a:r>
              <a:rPr lang="vi-VN" sz="2800" dirty="0">
                <a:solidFill>
                  <a:srgbClr val="0066FF"/>
                </a:solidFill>
              </a:rPr>
              <a:t>:</a:t>
            </a:r>
          </a:p>
          <a:p>
            <a:pPr lvl="1" algn="just"/>
            <a:r>
              <a:rPr lang="vi-VN" sz="2800" dirty="0" err="1">
                <a:solidFill>
                  <a:srgbClr val="FF0000"/>
                </a:solidFill>
              </a:rPr>
              <a:t>Kỳ</a:t>
            </a:r>
            <a:r>
              <a:rPr lang="vi-VN" sz="2800" dirty="0">
                <a:solidFill>
                  <a:srgbClr val="FF0000"/>
                </a:solidFill>
              </a:rPr>
              <a:t> </a:t>
            </a:r>
            <a:r>
              <a:rPr lang="vi-VN" sz="2800" dirty="0" err="1">
                <a:solidFill>
                  <a:srgbClr val="FF0000"/>
                </a:solidFill>
              </a:rPr>
              <a:t>vọng</a:t>
            </a:r>
            <a:r>
              <a:rPr lang="vi-VN" sz="2800" dirty="0">
                <a:solidFill>
                  <a:srgbClr val="FF0000"/>
                </a:solidFill>
              </a:rPr>
              <a:t> </a:t>
            </a:r>
            <a:r>
              <a:rPr lang="vi-VN" sz="2800" dirty="0" err="1">
                <a:solidFill>
                  <a:srgbClr val="FF0000"/>
                </a:solidFill>
              </a:rPr>
              <a:t>bằng</a:t>
            </a:r>
            <a:r>
              <a:rPr lang="vi-VN" sz="2800" dirty="0">
                <a:solidFill>
                  <a:srgbClr val="FF0000"/>
                </a:solidFill>
              </a:rPr>
              <a:t> 0</a:t>
            </a:r>
          </a:p>
          <a:p>
            <a:pPr lvl="1" algn="just"/>
            <a:r>
              <a:rPr lang="vi-VN" sz="2800" dirty="0">
                <a:solidFill>
                  <a:srgbClr val="0066FF"/>
                </a:solidFill>
              </a:rPr>
              <a:t>Phương sai </a:t>
            </a:r>
            <a:r>
              <a:rPr lang="vi-VN" sz="2800" dirty="0" err="1">
                <a:solidFill>
                  <a:srgbClr val="0066FF"/>
                </a:solidFill>
              </a:rPr>
              <a:t>bằng</a:t>
            </a:r>
            <a:r>
              <a:rPr lang="vi-VN" sz="2800" dirty="0">
                <a:solidFill>
                  <a:srgbClr val="0066FF"/>
                </a:solidFill>
              </a:rPr>
              <a:t> 1</a:t>
            </a:r>
          </a:p>
          <a:p>
            <a:pPr algn="just"/>
            <a:r>
              <a:rPr lang="vi-VN" sz="2800" dirty="0" err="1">
                <a:solidFill>
                  <a:srgbClr val="FF0000"/>
                </a:solidFill>
              </a:rPr>
              <a:t>Lớp</a:t>
            </a:r>
            <a:r>
              <a:rPr lang="vi-VN" sz="2800" dirty="0">
                <a:solidFill>
                  <a:srgbClr val="FF0000"/>
                </a:solidFill>
              </a:rPr>
              <a:t> </a:t>
            </a:r>
            <a:r>
              <a:rPr lang="vi-VN" sz="2800" dirty="0" err="1">
                <a:highlight>
                  <a:srgbClr val="FFFF00"/>
                </a:highlight>
                <a:latin typeface="Consolas" panose="020B0609020204030204" pitchFamily="49" charset="0"/>
              </a:rPr>
              <a:t>StandardScaler</a:t>
            </a:r>
            <a:r>
              <a:rPr lang="vi-VN" sz="2800" dirty="0">
                <a:solidFill>
                  <a:srgbClr val="FF0000"/>
                </a:solidFill>
              </a:rPr>
              <a:t> trong </a:t>
            </a:r>
            <a:r>
              <a:rPr lang="vi-VN" sz="2800" dirty="0" err="1">
                <a:solidFill>
                  <a:srgbClr val="FF0000"/>
                </a:solidFill>
              </a:rPr>
              <a:t>module</a:t>
            </a:r>
            <a:r>
              <a:rPr lang="vi-VN" sz="2800" dirty="0">
                <a:solidFill>
                  <a:srgbClr val="FF0000"/>
                </a:solidFill>
              </a:rPr>
              <a:t> </a:t>
            </a:r>
            <a:r>
              <a:rPr lang="vi-VN" sz="2800" dirty="0" err="1">
                <a:highlight>
                  <a:srgbClr val="FFFF00"/>
                </a:highlight>
                <a:latin typeface="Consolas" panose="020B0609020204030204" pitchFamily="49" charset="0"/>
              </a:rPr>
              <a:t>sklearn.preprocessing</a:t>
            </a:r>
            <a:r>
              <a:rPr lang="vi-VN" sz="2800" dirty="0">
                <a:solidFill>
                  <a:srgbClr val="FF0000"/>
                </a:solidFill>
              </a:rPr>
              <a:t> </a:t>
            </a:r>
            <a:r>
              <a:rPr lang="vi-VN" sz="2800" dirty="0" err="1">
                <a:solidFill>
                  <a:srgbClr val="FF0000"/>
                </a:solidFill>
              </a:rPr>
              <a:t>đã</a:t>
            </a:r>
            <a:r>
              <a:rPr lang="vi-VN" sz="2800" dirty="0">
                <a:solidFill>
                  <a:srgbClr val="FF0000"/>
                </a:solidFill>
              </a:rPr>
              <a:t> </a:t>
            </a:r>
            <a:r>
              <a:rPr lang="vi-VN" sz="2800" dirty="0" err="1">
                <a:solidFill>
                  <a:srgbClr val="FF0000"/>
                </a:solidFill>
              </a:rPr>
              <a:t>được</a:t>
            </a:r>
            <a:r>
              <a:rPr lang="vi-VN" sz="2800" dirty="0">
                <a:solidFill>
                  <a:srgbClr val="FF0000"/>
                </a:solidFill>
              </a:rPr>
              <a:t> xây </a:t>
            </a:r>
            <a:r>
              <a:rPr lang="vi-VN" sz="2800" dirty="0" err="1">
                <a:solidFill>
                  <a:srgbClr val="FF0000"/>
                </a:solidFill>
              </a:rPr>
              <a:t>dựng</a:t>
            </a:r>
            <a:r>
              <a:rPr lang="vi-VN" sz="2800" dirty="0">
                <a:solidFill>
                  <a:srgbClr val="FF0000"/>
                </a:solidFill>
              </a:rPr>
              <a:t> </a:t>
            </a:r>
            <a:r>
              <a:rPr lang="vi-VN" sz="2800" dirty="0" err="1">
                <a:solidFill>
                  <a:srgbClr val="FF0000"/>
                </a:solidFill>
              </a:rPr>
              <a:t>sẵn</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chuẩn</a:t>
            </a:r>
            <a:r>
              <a:rPr lang="vi-VN" sz="2800" dirty="0">
                <a:solidFill>
                  <a:srgbClr val="FF0000"/>
                </a:solidFill>
              </a:rPr>
              <a:t> </a:t>
            </a:r>
            <a:r>
              <a:rPr lang="vi-VN" sz="2800" dirty="0" err="1">
                <a:solidFill>
                  <a:srgbClr val="FF0000"/>
                </a:solidFill>
              </a:rPr>
              <a:t>hóa</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a:t>
            </a:r>
          </a:p>
          <a:p>
            <a:pPr marL="457200" indent="-457200" algn="just">
              <a:buFont typeface="+mj-lt"/>
              <a:buAutoNum type="arabicPeriod" startAt="7"/>
            </a:pPr>
            <a:r>
              <a:rPr lang="en-US" dirty="0">
                <a:solidFill>
                  <a:srgbClr val="AF00DB"/>
                </a:solidFill>
                <a:latin typeface="Consolas" panose="020B0609020204030204" pitchFamily="49" charset="0"/>
              </a:rPr>
              <a:t>from sklearn.preprocessing import StandardScaler</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en-US" dirty="0">
              <a:solidFill>
                <a:srgbClr val="000000"/>
              </a:solidFill>
              <a:latin typeface="Consolas" panose="020B0609020204030204" pitchFamily="49" charset="0"/>
            </a:endParaRPr>
          </a:p>
          <a:p>
            <a:pPr marL="457200" indent="-457200" algn="just">
              <a:buFont typeface="+mj-lt"/>
              <a:buAutoNum type="arabicPeriod" startAt="7"/>
            </a:pPr>
            <a:r>
              <a:rPr lang="vi-VN" dirty="0">
                <a:solidFill>
                  <a:srgbClr val="000000"/>
                </a:solidFill>
                <a:latin typeface="Consolas" panose="020B0609020204030204" pitchFamily="49" charset="0"/>
              </a:rPr>
              <a:t>SC = StandardScaler()</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lgn="just">
              <a:buFont typeface="+mj-lt"/>
              <a:buAutoNum type="arabicPeriod" startAt="7"/>
            </a:pPr>
            <a:r>
              <a:rPr lang="fr-FR" dirty="0">
                <a:solidFill>
                  <a:srgbClr val="000000"/>
                </a:solidFill>
                <a:highlight>
                  <a:srgbClr val="FFFF00"/>
                </a:highlight>
                <a:latin typeface="Consolas" panose="020B0609020204030204" pitchFamily="49" charset="0"/>
              </a:rPr>
              <a:t>X = SC.fit_transform(X)</a:t>
            </a:r>
            <a:r>
              <a:rPr lang="fr-FR" dirty="0" err="1">
                <a:solidFill>
                  <a:srgbClr val="000000"/>
                </a:solidFill>
                <a:highlight>
                  <a:srgbClr val="FFFF00"/>
                </a:highlight>
                <a:latin typeface="Consolas" panose="020B0609020204030204" pitchFamily="49" charset="0"/>
              </a:rPr>
              <a:t/>
            </a:r>
            <a:r>
              <a:rPr lang="fr-FR" dirty="0">
                <a:solidFill>
                  <a:srgbClr val="000000"/>
                </a:solidFill>
                <a:highlight>
                  <a:srgbClr val="FFFF00"/>
                </a:highlight>
                <a:latin typeface="Consolas" panose="020B0609020204030204" pitchFamily="49" charset="0"/>
              </a:rPr>
              <a:t/>
            </a:r>
          </a:p>
        </p:txBody>
      </p:sp>
    </p:spTree>
    <p:extLst>
      <p:ext uri="{BB962C8B-B14F-4D97-AF65-F5344CB8AC3E}">
        <p14:creationId xmlns:p14="http://schemas.microsoft.com/office/powerpoint/2010/main" val="148223693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4B3B2F-8C78-45AD-9334-804B534314E5}"/>
              </a:ext>
            </a:extLst>
          </p:cNvPr>
          <p:cNvSpPr>
            <a:spLocks noGrp="1"/>
          </p:cNvSpPr>
          <p:nvPr>
            <p:ph type="title"/>
          </p:nvPr>
        </p:nvSpPr>
        <p:spPr/>
        <p:txBody>
          <a:bodyPr/>
          <a:lstStyle/>
          <a:p>
            <a:r>
              <a:rPr lang="en-US" dirty="0" err="1"/>
              <a:t>Tiền</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27A14EBF-6606-4138-BF0B-F8C2D0B7EF91}"/>
              </a:ext>
            </a:extLst>
          </p:cNvPr>
          <p:cNvSpPr>
            <a:spLocks noGrp="1"/>
          </p:cNvSpPr>
          <p:nvPr>
            <p:ph idx="1"/>
          </p:nvPr>
        </p:nvSpPr>
        <p:spPr/>
        <p:txBody>
          <a:bodyPr/>
          <a:lstStyle/>
          <a:p>
            <a:pPr algn="just"/>
            <a:r>
              <a:rPr lang="en-US" sz="2800" dirty="0">
                <a:solidFill>
                  <a:srgbClr val="0066FF"/>
                </a:solidFill>
              </a:rPr>
              <a:t>Chia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 </a:t>
            </a:r>
            <a:r>
              <a:rPr lang="en-US" sz="2800" dirty="0" err="1">
                <a:solidFill>
                  <a:srgbClr val="0066FF"/>
                </a:solidFill>
              </a:rPr>
              <a:t>thành</a:t>
            </a:r>
            <a:r>
              <a:rPr lang="en-US" sz="2800" dirty="0">
                <a:solidFill>
                  <a:srgbClr val="0066FF"/>
                </a:solidFill>
              </a:rPr>
              <a:t> </a:t>
            </a:r>
            <a:r>
              <a:rPr lang="en-US" sz="2800" dirty="0" err="1">
                <a:solidFill>
                  <a:srgbClr val="0066FF"/>
                </a:solidFill>
              </a:rPr>
              <a:t>hai</a:t>
            </a:r>
            <a:r>
              <a:rPr lang="en-US" sz="2800" dirty="0">
                <a:solidFill>
                  <a:srgbClr val="0066FF"/>
                </a:solidFill>
              </a:rPr>
              <a:t> </a:t>
            </a:r>
            <a:r>
              <a:rPr lang="en-US" sz="2800" dirty="0" err="1">
                <a:solidFill>
                  <a:srgbClr val="0066FF"/>
                </a:solidFill>
              </a:rPr>
              <a:t>tập</a:t>
            </a:r>
            <a:r>
              <a:rPr lang="en-US" sz="2800" dirty="0">
                <a:solidFill>
                  <a:srgbClr val="0066FF"/>
                </a:solidFill>
              </a:rPr>
              <a:t> training set </a:t>
            </a:r>
            <a:r>
              <a:rPr lang="en-US" sz="2800" dirty="0" err="1">
                <a:solidFill>
                  <a:srgbClr val="0066FF"/>
                </a:solidFill>
              </a:rPr>
              <a:t>và</a:t>
            </a:r>
            <a:r>
              <a:rPr lang="en-US" sz="2800" dirty="0">
                <a:solidFill>
                  <a:srgbClr val="0066FF"/>
                </a:solidFill>
              </a:rPr>
              <a:t> test set.</a:t>
            </a:r>
          </a:p>
          <a:p>
            <a:pPr algn="just"/>
            <a:r>
              <a:rPr lang="en-US" sz="2800" dirty="0">
                <a:solidFill>
                  <a:srgbClr val="FF0000"/>
                </a:solidFill>
              </a:rPr>
              <a:t>Ta </a:t>
            </a:r>
            <a:r>
              <a:rPr lang="en-US" sz="2800" dirty="0" err="1">
                <a:solidFill>
                  <a:srgbClr val="FF0000"/>
                </a:solidFill>
              </a:rPr>
              <a:t>dùng</a:t>
            </a:r>
            <a:r>
              <a:rPr lang="en-US" sz="2800" dirty="0">
                <a:solidFill>
                  <a:srgbClr val="FF0000"/>
                </a:solidFill>
              </a:rPr>
              <a:t> </a:t>
            </a:r>
            <a:r>
              <a:rPr lang="en-US" sz="2800" dirty="0" err="1">
                <a:solidFill>
                  <a:srgbClr val="FF0000"/>
                </a:solidFill>
              </a:rPr>
              <a:t>hàm</a:t>
            </a:r>
            <a:r>
              <a:rPr lang="en-US" sz="2800" dirty="0">
                <a:solidFill>
                  <a:srgbClr val="FF0000"/>
                </a:solidFill>
              </a:rPr>
              <a:t> </a:t>
            </a:r>
            <a:r>
              <a:rPr lang="en-US" sz="2800" dirty="0" err="1">
                <a:highlight>
                  <a:srgbClr val="FFFF00"/>
                </a:highlight>
                <a:latin typeface="Consolas" panose="020B0609020204030204" pitchFamily="49" charset="0"/>
              </a:rPr>
              <a:t>train_test_split</a:t>
            </a:r>
            <a:r>
              <a:rPr lang="en-US" sz="2800" dirty="0">
                <a:solidFill>
                  <a:srgbClr val="FF0000"/>
                </a:solidFill>
              </a:rPr>
              <a:t> đ</a:t>
            </a:r>
            <a:r>
              <a:rPr lang="vi-VN" sz="2800" dirty="0" err="1">
                <a:solidFill>
                  <a:srgbClr val="FF0000"/>
                </a:solidFill>
              </a:rPr>
              <a:t>ược</a:t>
            </a:r>
            <a:r>
              <a:rPr lang="vi-VN" sz="2800" dirty="0">
                <a:solidFill>
                  <a:srgbClr val="FF0000"/>
                </a:solidFill>
              </a:rPr>
              <a:t> cung </a:t>
            </a:r>
            <a:r>
              <a:rPr lang="vi-VN" sz="2800" dirty="0" err="1">
                <a:solidFill>
                  <a:srgbClr val="FF0000"/>
                </a:solidFill>
              </a:rPr>
              <a:t>cấp</a:t>
            </a:r>
            <a:r>
              <a:rPr lang="vi-VN" sz="2800" dirty="0">
                <a:solidFill>
                  <a:srgbClr val="FF0000"/>
                </a:solidFill>
              </a:rPr>
              <a:t> trong </a:t>
            </a:r>
            <a:r>
              <a:rPr lang="vi-VN" sz="2800" dirty="0" err="1">
                <a:solidFill>
                  <a:srgbClr val="FF0000"/>
                </a:solidFill>
              </a:rPr>
              <a:t>module</a:t>
            </a:r>
            <a:r>
              <a:rPr lang="vi-VN" sz="2800" dirty="0">
                <a:solidFill>
                  <a:srgbClr val="FF0000"/>
                </a:solidFill>
              </a:rPr>
              <a:t> </a:t>
            </a:r>
            <a:r>
              <a:rPr lang="vi-VN" sz="2800" dirty="0" err="1">
                <a:highlight>
                  <a:srgbClr val="FFFF00"/>
                </a:highlight>
                <a:latin typeface="Consolas" panose="020B0609020204030204" pitchFamily="49" charset="0"/>
              </a:rPr>
              <a:t>sklearn.model_selection</a:t>
            </a:r>
            <a:r>
              <a:rPr lang="vi-VN" sz="2800" dirty="0">
                <a:solidFill>
                  <a:srgbClr val="FF0000"/>
                </a:solidFill>
              </a:rPr>
              <a:t>.</a:t>
            </a:r>
            <a:endParaRPr lang="en-US" dirty="0">
              <a:solidFill>
                <a:srgbClr val="FF0000"/>
              </a:solidFill>
              <a:latin typeface="Consolas" panose="020B0609020204030204" pitchFamily="49" charset="0"/>
            </a:endParaRPr>
          </a:p>
          <a:p>
            <a:pPr marL="457200" indent="-457200" algn="just">
              <a:buFont typeface="+mj-lt"/>
              <a:buAutoNum type="arabicPeriod"/>
            </a:pPr>
            <a:endParaRPr lang="en-US" dirty="0">
              <a:solidFill>
                <a:srgbClr val="AF00DB"/>
              </a:solidFill>
              <a:latin typeface="Consolas" panose="020B0609020204030204" pitchFamily="49" charset="0"/>
            </a:endParaRPr>
          </a:p>
          <a:p>
            <a:pPr marL="457200" indent="-457200" algn="just">
              <a:buFont typeface="+mj-lt"/>
              <a:buAutoNum type="arabicPeriod" startAt="10"/>
            </a:pPr>
            <a:r>
              <a:rPr lang="en-US" dirty="0">
                <a:solidFill>
                  <a:srgbClr val="AF00DB"/>
                </a:solidFill>
                <a:latin typeface="Consolas" panose="020B0609020204030204" pitchFamily="49" charset="0"/>
              </a:rPr>
              <a:t>from sklearn.model_selection import train_test_split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en-US" dirty="0">
              <a:solidFill>
                <a:srgbClr val="000000"/>
              </a:solidFill>
              <a:latin typeface="Consolas" panose="020B0609020204030204" pitchFamily="49" charset="0"/>
            </a:endParaRPr>
          </a:p>
          <a:p>
            <a:pPr marL="457200" indent="-457200" algn="just">
              <a:buFont typeface="+mj-lt"/>
              <a:buAutoNum type="arabicPeriod" startAt="10"/>
            </a:pPr>
            <a:r>
              <a:rPr lang="en-US" dirty="0" err="1">
                <a:solidFill>
                  <a:srgbClr val="000000"/>
                </a:solidFill>
                <a:latin typeface="Consolas" panose="020B0609020204030204" pitchFamily="49" charset="0"/>
              </a:rPr>
              <a:t>X_train, X_test, y_train, y_test =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0" indent="0" algn="just">
              <a:buNone/>
            </a:pPr>
            <a:r>
              <a:rPr lang="en-US" dirty="0">
                <a:solidFill>
                  <a:srgbClr val="000000"/>
                </a:solidFill>
                <a:latin typeface="Consolas" panose="020B0609020204030204" pitchFamily="49" charset="0"/>
              </a:rPr>
              <a:t>     train_test_split(X, y, train_size = 0.8, random_state = 0)</a:t>
            </a:r>
            <a:r>
              <a:rPr lang="en-US" dirty="0" err="1">
                <a:solidFill>
                  <a:srgbClr val="000000"/>
                </a:solidFill>
                <a:highlight>
                  <a:srgbClr val="FFFF00"/>
                </a:highlight>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p:txBody>
      </p:sp>
    </p:spTree>
    <p:extLst>
      <p:ext uri="{BB962C8B-B14F-4D97-AF65-F5344CB8AC3E}">
        <p14:creationId xmlns:p14="http://schemas.microsoft.com/office/powerpoint/2010/main" val="34268439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5" name="Text Placeholder 4">
            <a:extLst>
              <a:ext uri="{FF2B5EF4-FFF2-40B4-BE49-F238E27FC236}">
                <a16:creationId xmlns:a16="http://schemas.microsoft.com/office/drawing/2014/main" id="{5A8DD0D7-166E-4EC1-B249-66AF94207919}"/>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4447265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F3D79ADC-34B1-4E7E-BF88-45FE6E454EE9}"/>
              </a:ext>
            </a:extLst>
          </p:cNvPr>
          <p:cNvPicPr>
            <a:picLocks noGrp="1" noChangeAspect="1"/>
          </p:cNvPicPr>
          <p:nvPr>
            <p:ph idx="1"/>
          </p:nvPr>
        </p:nvPicPr>
        <p:blipFill>
          <a:blip r:embed="rId2"/>
          <a:stretch>
            <a:fillRect/>
          </a:stretch>
        </p:blipFill>
        <p:spPr>
          <a:xfrm>
            <a:off x="3157537" y="1762919"/>
            <a:ext cx="5876925" cy="4200525"/>
          </a:xfrm>
          <a:prstGeom prst="rect">
            <a:avLst/>
          </a:prstGeom>
        </p:spPr>
      </p:pic>
    </p:spTree>
    <p:extLst>
      <p:ext uri="{BB962C8B-B14F-4D97-AF65-F5344CB8AC3E}">
        <p14:creationId xmlns:p14="http://schemas.microsoft.com/office/powerpoint/2010/main" val="7378337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8EF05E-C092-4A0A-963A-B4B827D2FE3E}"/>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2" name="Content Placeholder 1">
            <a:extLst>
              <a:ext uri="{FF2B5EF4-FFF2-40B4-BE49-F238E27FC236}">
                <a16:creationId xmlns:a16="http://schemas.microsoft.com/office/drawing/2014/main" id="{BE01BD90-68F2-4043-A681-4CE496AAF3D5}"/>
              </a:ext>
            </a:extLst>
          </p:cNvPr>
          <p:cNvSpPr>
            <a:spLocks noGrp="1"/>
          </p:cNvSpPr>
          <p:nvPr>
            <p:ph idx="1"/>
          </p:nvPr>
        </p:nvSpPr>
        <p:spPr/>
        <p:txBody>
          <a:bodyPr/>
          <a:lstStyle/>
          <a:p>
            <a:pPr algn="just"/>
            <a:r>
              <a:rPr lang="en-US" sz="2800" dirty="0" err="1">
                <a:solidFill>
                  <a:srgbClr val="0066FF"/>
                </a:solidFill>
              </a:rPr>
              <a:t>Xây</a:t>
            </a:r>
            <a:r>
              <a:rPr lang="en-US" sz="2800" dirty="0">
                <a:solidFill>
                  <a:srgbClr val="0066FF"/>
                </a:solidFill>
              </a:rPr>
              <a:t> </a:t>
            </a:r>
            <a:r>
              <a:rPr lang="en-US" sz="2800" dirty="0" err="1">
                <a:solidFill>
                  <a:srgbClr val="0066FF"/>
                </a:solidFill>
              </a:rPr>
              <a:t>dựng</a:t>
            </a:r>
            <a:r>
              <a:rPr lang="en-US" sz="2800" dirty="0">
                <a:solidFill>
                  <a:srgbClr val="0066FF"/>
                </a:solidFill>
              </a:rPr>
              <a:t> </a:t>
            </a:r>
            <a:r>
              <a:rPr lang="en-US" sz="2800" dirty="0" err="1">
                <a:solidFill>
                  <a:srgbClr val="0066FF"/>
                </a:solidFill>
              </a:rPr>
              <a:t>hàm</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dữ</a:t>
            </a:r>
            <a:r>
              <a:rPr lang="en-US" sz="2800" dirty="0">
                <a:solidFill>
                  <a:srgbClr val="0066FF"/>
                </a:solidFill>
              </a:rPr>
              <a:t> </a:t>
            </a:r>
            <a:r>
              <a:rPr lang="en-US" sz="2800" dirty="0" err="1">
                <a:solidFill>
                  <a:srgbClr val="0066FF"/>
                </a:solidFill>
              </a:rPr>
              <a:t>liệu</a:t>
            </a:r>
            <a:r>
              <a:rPr lang="en-US" sz="2800" dirty="0">
                <a:solidFill>
                  <a:srgbClr val="0066FF"/>
                </a:solidFill>
              </a:rPr>
              <a:t>.</a:t>
            </a:r>
          </a:p>
          <a:p>
            <a:pPr marL="457200" indent="-457200" algn="just">
              <a:buFont typeface="+mj-lt"/>
              <a:buAutoNum type="arabicPeriod" startAt="11"/>
            </a:pPr>
            <a:endParaRPr lang="en-US">
              <a:solidFill>
                <a:srgbClr val="AF00DB"/>
              </a:solidFill>
              <a:latin typeface="Consolas" panose="020B0609020204030204" pitchFamily="49" charset="0"/>
            </a:endParaRPr>
          </a:p>
          <a:p>
            <a:pPr marL="457200" indent="-457200" algn="just">
              <a:buFont typeface="+mj-lt"/>
              <a:buAutoNum type="arabicPeriod" startAt="11"/>
            </a:pPr>
            <a:r>
              <a:rPr lang="vi-VN">
                <a:solidFill>
                  <a:srgbClr val="AF00DB"/>
                </a:solidFill>
                <a:latin typeface="Consolas" panose="020B0609020204030204" pitchFamily="49" charset="0"/>
              </a:rPr>
              <a:t>from matplotlib.colors import ListedColormap</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AF00DB"/>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buFont typeface="+mj-lt"/>
              <a:buAutoNum type="arabicPeriod" startAt="11"/>
            </a:pPr>
            <a:r>
              <a:rPr lang="en-US" dirty="0">
                <a:solidFill>
                  <a:srgbClr val="AF00DB"/>
                </a:solidFill>
                <a:latin typeface="Consolas" panose="020B0609020204030204" pitchFamily="49" charset="0"/>
              </a:rPr>
              <a:t>import matplotlib.pyplot as plt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endParaRPr lang="vi-VN" dirty="0">
              <a:solidFill>
                <a:srgbClr val="000000"/>
              </a:solidFill>
              <a:latin typeface="Consolas" panose="020B0609020204030204" pitchFamily="49" charset="0"/>
            </a:endParaRPr>
          </a:p>
          <a:p>
            <a:pPr marL="457200" indent="-457200" algn="just">
              <a:buFont typeface="+mj-lt"/>
              <a:buAutoNum type="arabicPeriod" startAt="11"/>
            </a:pPr>
            <a:r>
              <a:rPr lang="vi-VN" dirty="0" err="1">
                <a:solidFill>
                  <a:srgbClr val="0000FF"/>
                </a:solidFill>
                <a:latin typeface="Consolas" panose="020B0609020204030204" pitchFamily="49" charset="0"/>
              </a:rPr>
              <a:t>def VisualizingDataset(X_, Y_):</a:t>
            </a:r>
            <a:r>
              <a:rPr lang="vi-VN" dirty="0">
                <a:solidFill>
                  <a:srgbClr val="000000"/>
                </a:solidFill>
                <a:latin typeface="Consolas" panose="020B0609020204030204" pitchFamily="49" charset="0"/>
              </a:rPr>
              <a:t/>
            </a:r>
            <a:r>
              <a:rPr lang="vi-VN" dirty="0" err="1">
                <a:solidFill>
                  <a:srgbClr val="795E26"/>
                </a:solidFill>
                <a:latin typeface="Consolas" panose="020B0609020204030204" pitchFamily="49" charset="0"/>
              </a:rPr>
              <a:t/>
            </a:r>
            <a:r>
              <a:rPr lang="vi-VN" dirty="0">
                <a:solidFill>
                  <a:srgbClr val="000000"/>
                </a:solidFill>
                <a:latin typeface="Consolas" panose="020B0609020204030204" pitchFamily="49" charset="0"/>
              </a:rPr>
              <a:t/>
            </a:r>
            <a:r>
              <a:rPr lang="vi-VN" dirty="0">
                <a:solidFill>
                  <a:srgbClr val="001080"/>
                </a:solidFill>
                <a:latin typeface="Consolas" panose="020B0609020204030204" pitchFamily="49" charset="0"/>
              </a:rPr>
              <a:t/>
            </a:r>
            <a:r>
              <a:rPr lang="vi-VN" dirty="0">
                <a:solidFill>
                  <a:srgbClr val="000000"/>
                </a:solidFill>
                <a:latin typeface="Consolas" panose="020B0609020204030204" pitchFamily="49" charset="0"/>
              </a:rPr>
              <a:t/>
            </a:r>
            <a:r>
              <a:rPr lang="vi-VN" dirty="0">
                <a:solidFill>
                  <a:srgbClr val="00108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lgn="just">
              <a:buFont typeface="+mj-lt"/>
              <a:buAutoNum type="arabicPeriod" startAt="11"/>
            </a:pPr>
            <a:r>
              <a:rPr lang="vi-VN" dirty="0">
                <a:solidFill>
                  <a:srgbClr val="000000"/>
                </a:solidFill>
                <a:latin typeface="Consolas" panose="020B0609020204030204" pitchFamily="49" charset="0"/>
              </a:rPr>
              <a:t>    X1 = X_[:, 0]</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lgn="just">
              <a:buFont typeface="+mj-lt"/>
              <a:buAutoNum type="arabicPeriod" startAt="11"/>
            </a:pPr>
            <a:r>
              <a:rPr lang="vi-VN" dirty="0">
                <a:solidFill>
                  <a:srgbClr val="000000"/>
                </a:solidFill>
                <a:latin typeface="Consolas" panose="020B0609020204030204" pitchFamily="49" charset="0"/>
              </a:rPr>
              <a:t>    X2 = X_[:, 1]</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lgn="just">
              <a:buFont typeface="+mj-lt"/>
              <a:buAutoNum type="arabicPeriod" startAt="11"/>
            </a:pPr>
            <a:r>
              <a:rPr lang="en-US" dirty="0">
                <a:solidFill>
                  <a:srgbClr val="000000"/>
                </a:solidFill>
                <a:latin typeface="Consolas" panose="020B0609020204030204" pitchFamily="49" charset="0"/>
              </a:rPr>
              <a:t>    for i, label in enumerate(np.unique(Y_)):</a:t>
            </a:r>
            <a:r>
              <a:rPr lang="en-US" dirty="0">
                <a:solidFill>
                  <a:srgbClr val="AF00DB"/>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00FF"/>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795E26"/>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lgn="just">
              <a:buFont typeface="+mj-lt"/>
              <a:buAutoNum type="arabicPeriod" startAt="11"/>
            </a:pPr>
            <a:r>
              <a:rPr lang="es-ES" dirty="0">
                <a:solidFill>
                  <a:srgbClr val="000000"/>
                </a:solidFill>
                <a:latin typeface="Consolas" panose="020B0609020204030204" pitchFamily="49" charset="0"/>
              </a:rPr>
              <a:t>        plt.scatter(X1[Y_ == label], X2[Y_ == label],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0000"/>
                </a:solidFill>
                <a:latin typeface="Consolas" panose="020B0609020204030204" pitchFamily="49" charset="0"/>
              </a:rPr>
              <a:t/>
            </a:r>
            <a:r>
              <a:rPr lang="es-ES" dirty="0">
                <a:solidFill>
                  <a:srgbClr val="000000"/>
                </a:solidFill>
                <a:latin typeface="Consolas" panose="020B0609020204030204" pitchFamily="49" charset="0"/>
              </a:rPr>
              <a:t/>
            </a:r>
          </a:p>
          <a:p>
            <a:pPr marL="0" indent="0" algn="just">
              <a:buNone/>
            </a:pPr>
            <a:r>
              <a:rPr lang="en-US" dirty="0">
                <a:solidFill>
                  <a:srgbClr val="000000"/>
                </a:solidFill>
                <a:latin typeface="Consolas" panose="020B0609020204030204" pitchFamily="49" charset="0"/>
              </a:rPr>
              <a:t>           	color = ListedColormap(("red", "green"))(i))</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31515"/>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A31515"/>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p:txBody>
      </p:sp>
    </p:spTree>
    <p:extLst>
      <p:ext uri="{BB962C8B-B14F-4D97-AF65-F5344CB8AC3E}">
        <p14:creationId xmlns:p14="http://schemas.microsoft.com/office/powerpoint/2010/main" val="265417045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sp>
        <p:nvSpPr>
          <p:cNvPr id="3" name="Content Placeholder 2">
            <a:extLst>
              <a:ext uri="{FF2B5EF4-FFF2-40B4-BE49-F238E27FC236}">
                <a16:creationId xmlns:a16="http://schemas.microsoft.com/office/drawing/2014/main" id="{50A2091A-AA45-4AC6-8CDE-21216FC81D96}"/>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a:pPr>
            <a:endParaRPr lang="vi-VN" dirty="0">
              <a:solidFill>
                <a:srgbClr val="000000"/>
              </a:solidFill>
              <a:latin typeface="Consolas" panose="020B0609020204030204" pitchFamily="49" charset="0"/>
            </a:endParaRPr>
          </a:p>
          <a:p>
            <a:pPr marL="457200" indent="-457200" algn="just">
              <a:buFont typeface="+mj-lt"/>
              <a:buAutoNum type="arabicPeriod" startAt="18"/>
            </a:pPr>
            <a:r>
              <a:rPr lang="vi-VN" dirty="0" err="1">
                <a:solidFill>
                  <a:srgbClr val="000000"/>
                </a:solidFill>
                <a:latin typeface="Consolas" panose="020B0609020204030204" pitchFamily="49" charset="0"/>
              </a:rPr>
              <a:t>VisualizingDataset(X, y)</a:t>
            </a:r>
            <a:r>
              <a:rPr lang="vi-VN" dirty="0">
                <a:solidFill>
                  <a:srgbClr val="000000"/>
                </a:solidFill>
                <a:latin typeface="Consolas" panose="020B0609020204030204" pitchFamily="49" charset="0"/>
              </a:rPr>
              <a:t/>
            </a:r>
          </a:p>
          <a:p>
            <a:pPr marL="457200" indent="-457200" algn="just">
              <a:buFont typeface="+mj-lt"/>
              <a:buAutoNum type="arabicPeriod" startAt="18"/>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0188945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en-US" sz="2800" dirty="0">
                <a:solidFill>
                  <a:srgbClr val="0066FF"/>
                </a:solidFill>
              </a:rPr>
              <a:t>Theo </a:t>
            </a:r>
            <a:r>
              <a:rPr lang="en-US" sz="2800" dirty="0" err="1">
                <a:solidFill>
                  <a:srgbClr val="0066FF"/>
                </a:solidFill>
              </a:rPr>
              <a:t>hình</a:t>
            </a:r>
            <a:r>
              <a:rPr lang="en-US" sz="2800" dirty="0">
                <a:solidFill>
                  <a:srgbClr val="0066FF"/>
                </a:solidFill>
              </a:rPr>
              <a:t> </a:t>
            </a:r>
            <a:r>
              <a:rPr lang="en-US" sz="2800" dirty="0" err="1">
                <a:solidFill>
                  <a:srgbClr val="0066FF"/>
                </a:solidFill>
              </a:rPr>
              <a:t>vẽ</a:t>
            </a:r>
            <a:r>
              <a:rPr lang="en-US" sz="2800" dirty="0">
                <a:solidFill>
                  <a:srgbClr val="0066FF"/>
                </a:solidFill>
              </a:rPr>
              <a:t>, ta </a:t>
            </a:r>
            <a:r>
              <a:rPr lang="en-US" sz="2800" dirty="0" err="1">
                <a:solidFill>
                  <a:srgbClr val="0066FF"/>
                </a:solidFill>
              </a:rPr>
              <a:t>thấy</a:t>
            </a:r>
            <a:r>
              <a:rPr lang="en-US" sz="2800" dirty="0">
                <a:solidFill>
                  <a:srgbClr val="0066FF"/>
                </a:solidFill>
              </a:rPr>
              <a:t> </a:t>
            </a:r>
            <a:r>
              <a:rPr lang="en-US" sz="2800" dirty="0" err="1">
                <a:solidFill>
                  <a:srgbClr val="0066FF"/>
                </a:solidFill>
              </a:rPr>
              <a:t>các</a:t>
            </a:r>
            <a:r>
              <a:rPr lang="en-US" sz="2800" dirty="0">
                <a:solidFill>
                  <a:srgbClr val="0066FF"/>
                </a:solidFill>
              </a:rPr>
              <a:t> </a:t>
            </a:r>
            <a:r>
              <a:rPr lang="en-US" sz="2800" dirty="0" err="1">
                <a:solidFill>
                  <a:srgbClr val="0066FF"/>
                </a:solidFill>
              </a:rPr>
              <a:t>điểm</a:t>
            </a:r>
            <a:r>
              <a:rPr lang="en-US" sz="2800" dirty="0">
                <a:solidFill>
                  <a:srgbClr val="0066FF"/>
                </a:solidFill>
              </a:rPr>
              <a:t> </a:t>
            </a:r>
            <a:r>
              <a:rPr lang="en-US" sz="2800" dirty="0" err="1">
                <a:solidFill>
                  <a:srgbClr val="0066FF"/>
                </a:solidFill>
              </a:rPr>
              <a:t>có</a:t>
            </a:r>
            <a:r>
              <a:rPr lang="en-US" sz="2800" dirty="0">
                <a:solidFill>
                  <a:srgbClr val="0066FF"/>
                </a:solidFill>
              </a:rPr>
              <a:t> </a:t>
            </a:r>
            <a:r>
              <a:rPr lang="en-US" sz="2800" dirty="0" err="1">
                <a:solidFill>
                  <a:srgbClr val="0066FF"/>
                </a:solidFill>
              </a:rPr>
              <a:t>sự</a:t>
            </a:r>
            <a:r>
              <a:rPr lang="en-US" sz="2800" dirty="0">
                <a:solidFill>
                  <a:srgbClr val="0066FF"/>
                </a:solidFill>
              </a:rPr>
              <a:t> </a:t>
            </a:r>
            <a:r>
              <a:rPr lang="en-US" sz="2800" dirty="0" err="1">
                <a:solidFill>
                  <a:srgbClr val="0066FF"/>
                </a:solidFill>
              </a:rPr>
              <a:t>phân</a:t>
            </a:r>
            <a:r>
              <a:rPr lang="en-US" sz="2800" dirty="0">
                <a:solidFill>
                  <a:srgbClr val="0066FF"/>
                </a:solidFill>
              </a:rPr>
              <a:t> </a:t>
            </a:r>
            <a:r>
              <a:rPr lang="en-US" sz="2800" dirty="0" err="1">
                <a:solidFill>
                  <a:srgbClr val="0066FF"/>
                </a:solidFill>
              </a:rPr>
              <a:t>bố</a:t>
            </a:r>
            <a:r>
              <a:rPr lang="en-US" sz="2800" dirty="0">
                <a:solidFill>
                  <a:srgbClr val="0066FF"/>
                </a:solidFill>
              </a:rPr>
              <a:t> </a:t>
            </a:r>
            <a:r>
              <a:rPr lang="en-US" sz="2800" dirty="0" err="1">
                <a:solidFill>
                  <a:srgbClr val="0066FF"/>
                </a:solidFill>
              </a:rPr>
              <a:t>thành</a:t>
            </a:r>
            <a:r>
              <a:rPr lang="en-US" sz="2800" dirty="0">
                <a:solidFill>
                  <a:srgbClr val="0066FF"/>
                </a:solidFill>
              </a:rPr>
              <a:t> 2 </a:t>
            </a:r>
            <a:r>
              <a:rPr lang="en-US" sz="2800" dirty="0" err="1">
                <a:solidFill>
                  <a:srgbClr val="0066FF"/>
                </a:solidFill>
              </a:rPr>
              <a:t>mảng</a:t>
            </a:r>
            <a:r>
              <a:rPr lang="en-US" sz="2800" dirty="0">
                <a:solidFill>
                  <a:srgbClr val="0066FF"/>
                </a:solidFill>
              </a:rPr>
              <a:t>. </a:t>
            </a:r>
          </a:p>
          <a:p>
            <a:pPr lvl="1" algn="just"/>
            <a:r>
              <a:rPr lang="en-US" sz="2800" dirty="0" err="1">
                <a:solidFill>
                  <a:srgbClr val="FF0000"/>
                </a:solidFill>
              </a:rPr>
              <a:t>Mảng</a:t>
            </a:r>
            <a:r>
              <a:rPr lang="en-US" sz="2800" dirty="0">
                <a:solidFill>
                  <a:srgbClr val="FF0000"/>
                </a:solidFill>
              </a:rPr>
              <a:t> d</a:t>
            </a:r>
            <a:r>
              <a:rPr lang="vi-VN" sz="2800" dirty="0" err="1">
                <a:solidFill>
                  <a:srgbClr val="FF0000"/>
                </a:solidFill>
              </a:rPr>
              <a:t>ưới</a:t>
            </a:r>
            <a:r>
              <a:rPr lang="vi-VN" sz="2800" dirty="0">
                <a:solidFill>
                  <a:srgbClr val="FF0000"/>
                </a:solidFill>
              </a:rPr>
              <a:t> </a:t>
            </a:r>
            <a:r>
              <a:rPr lang="vi-VN" sz="2800" dirty="0" err="1">
                <a:solidFill>
                  <a:srgbClr val="FF0000"/>
                </a:solidFill>
              </a:rPr>
              <a:t>trái</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lớn</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đỏ</a:t>
            </a:r>
            <a:r>
              <a:rPr lang="vi-VN" sz="2800" dirty="0">
                <a:solidFill>
                  <a:srgbClr val="FF0000"/>
                </a:solidFill>
              </a:rPr>
              <a:t>, </a:t>
            </a:r>
            <a:r>
              <a:rPr lang="vi-VN" sz="2800" dirty="0" err="1">
                <a:solidFill>
                  <a:srgbClr val="FF0000"/>
                </a:solidFill>
              </a:rPr>
              <a:t>tức</a:t>
            </a:r>
            <a:r>
              <a:rPr lang="vi-VN" sz="2800" dirty="0">
                <a:solidFill>
                  <a:srgbClr val="FF0000"/>
                </a:solidFill>
              </a:rPr>
              <a:t> </a:t>
            </a:r>
            <a:r>
              <a:rPr lang="vi-VN" sz="2800" dirty="0" err="1">
                <a:solidFill>
                  <a:srgbClr val="FF0000"/>
                </a:solidFill>
              </a:rPr>
              <a:t>khách</a:t>
            </a:r>
            <a:r>
              <a:rPr lang="vi-VN" sz="2800" dirty="0">
                <a:solidFill>
                  <a:srgbClr val="FF0000"/>
                </a:solidFill>
              </a:rPr>
              <a:t> </a:t>
            </a:r>
            <a:r>
              <a:rPr lang="vi-VN" sz="2800" dirty="0" err="1">
                <a:solidFill>
                  <a:srgbClr val="FF0000"/>
                </a:solidFill>
              </a:rPr>
              <a:t>hàng</a:t>
            </a:r>
            <a:r>
              <a:rPr lang="vi-VN" sz="2800" dirty="0">
                <a:solidFill>
                  <a:srgbClr val="FF0000"/>
                </a:solidFill>
              </a:rPr>
              <a:t> không mua </a:t>
            </a:r>
            <a:r>
              <a:rPr lang="vi-VN" sz="2800" dirty="0" err="1">
                <a:solidFill>
                  <a:srgbClr val="FF0000"/>
                </a:solidFill>
              </a:rPr>
              <a:t>hàng</a:t>
            </a:r>
            <a:r>
              <a:rPr lang="vi-VN" sz="2800" dirty="0">
                <a:solidFill>
                  <a:srgbClr val="FF0000"/>
                </a:solidFill>
              </a:rPr>
              <a:t>.</a:t>
            </a:r>
          </a:p>
          <a:p>
            <a:pPr lvl="1" algn="just"/>
            <a:r>
              <a:rPr lang="vi-VN" sz="2800" dirty="0" err="1">
                <a:solidFill>
                  <a:srgbClr val="0066FF"/>
                </a:solidFill>
              </a:rPr>
              <a:t>Mảng</a:t>
            </a:r>
            <a:r>
              <a:rPr lang="vi-VN" sz="2800" dirty="0">
                <a:solidFill>
                  <a:srgbClr val="0066FF"/>
                </a:solidFill>
              </a:rPr>
              <a:t> bên </a:t>
            </a:r>
            <a:r>
              <a:rPr lang="vi-VN" sz="2800" dirty="0" err="1">
                <a:solidFill>
                  <a:srgbClr val="0066FF"/>
                </a:solidFill>
              </a:rPr>
              <a:t>phải</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mảng</a:t>
            </a:r>
            <a:r>
              <a:rPr lang="vi-VN" sz="2800" dirty="0">
                <a:solidFill>
                  <a:srgbClr val="0066FF"/>
                </a:solidFill>
              </a:rPr>
              <a:t> bên trên </a:t>
            </a:r>
            <a:r>
              <a:rPr lang="vi-VN" sz="2800" dirty="0" err="1">
                <a:solidFill>
                  <a:srgbClr val="0066FF"/>
                </a:solidFill>
              </a:rPr>
              <a:t>phần</a:t>
            </a:r>
            <a:r>
              <a:rPr lang="vi-VN" sz="2800" dirty="0">
                <a:solidFill>
                  <a:srgbClr val="0066FF"/>
                </a:solidFill>
              </a:rPr>
              <a:t> </a:t>
            </a:r>
            <a:r>
              <a:rPr lang="vi-VN" sz="2800" dirty="0" err="1">
                <a:solidFill>
                  <a:srgbClr val="0066FF"/>
                </a:solidFill>
              </a:rPr>
              <a:t>lớn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màu</a:t>
            </a:r>
            <a:r>
              <a:rPr lang="vi-VN" sz="2800" dirty="0">
                <a:solidFill>
                  <a:srgbClr val="0066FF"/>
                </a:solidFill>
              </a:rPr>
              <a:t> xanh, </a:t>
            </a:r>
            <a:r>
              <a:rPr lang="vi-VN" sz="2800" dirty="0" err="1">
                <a:solidFill>
                  <a:srgbClr val="0066FF"/>
                </a:solidFill>
              </a:rPr>
              <a:t>tức</a:t>
            </a:r>
            <a:r>
              <a:rPr lang="vi-VN" sz="2800" dirty="0">
                <a:solidFill>
                  <a:srgbClr val="0066FF"/>
                </a:solidFill>
              </a:rPr>
              <a:t> </a:t>
            </a:r>
            <a:r>
              <a:rPr lang="vi-VN" sz="2800" dirty="0" err="1">
                <a:solidFill>
                  <a:srgbClr val="0066FF"/>
                </a:solidFill>
              </a:rPr>
              <a:t>khách</a:t>
            </a:r>
            <a:r>
              <a:rPr lang="vi-VN" sz="2800" dirty="0">
                <a:solidFill>
                  <a:srgbClr val="0066FF"/>
                </a:solidFill>
              </a:rPr>
              <a:t> </a:t>
            </a:r>
            <a:r>
              <a:rPr lang="vi-VN" sz="2800" dirty="0" err="1">
                <a:solidFill>
                  <a:srgbClr val="0066FF"/>
                </a:solidFill>
              </a:rPr>
              <a:t>hàng</a:t>
            </a:r>
            <a:r>
              <a:rPr lang="vi-VN" sz="2800" dirty="0">
                <a:solidFill>
                  <a:srgbClr val="0066FF"/>
                </a:solidFill>
              </a:rPr>
              <a:t> </a:t>
            </a:r>
            <a:r>
              <a:rPr lang="vi-VN" sz="2800" dirty="0" err="1">
                <a:solidFill>
                  <a:srgbClr val="0066FF"/>
                </a:solidFill>
              </a:rPr>
              <a:t>có</a:t>
            </a:r>
            <a:r>
              <a:rPr lang="vi-VN" sz="2800" dirty="0">
                <a:solidFill>
                  <a:srgbClr val="0066FF"/>
                </a:solidFill>
              </a:rPr>
              <a:t> mua </a:t>
            </a:r>
            <a:r>
              <a:rPr lang="vi-VN" sz="2800" dirty="0" err="1">
                <a:solidFill>
                  <a:srgbClr val="0066FF"/>
                </a:solidFill>
              </a:rPr>
              <a:t>hàng</a:t>
            </a:r>
            <a:r>
              <a:rPr lang="vi-VN" sz="2800" dirty="0">
                <a:solidFill>
                  <a:srgbClr val="0066FF"/>
                </a:solidFill>
              </a:rPr>
              <a:t>. </a:t>
            </a:r>
            <a:endParaRPr lang="vi-VN" sz="3200" dirty="0">
              <a:solidFill>
                <a:srgbClr val="0066FF"/>
              </a:solidFill>
            </a:endParaRPr>
          </a:p>
        </p:txBody>
      </p:sp>
    </p:spTree>
    <p:extLst>
      <p:ext uri="{BB962C8B-B14F-4D97-AF65-F5344CB8AC3E}">
        <p14:creationId xmlns:p14="http://schemas.microsoft.com/office/powerpoint/2010/main" val="426164463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67E4-70E5-4178-8021-580FFB07B9C1}"/>
              </a:ext>
            </a:extLst>
          </p:cNvPr>
          <p:cNvSpPr>
            <a:spLocks noGrp="1"/>
          </p:cNvSpPr>
          <p:nvPr>
            <p:ph type="title"/>
          </p:nvPr>
        </p:nvSpPr>
        <p:spPr/>
        <p:txBody>
          <a:bodyPr/>
          <a:lstStyle/>
          <a:p>
            <a:r>
              <a:rPr lang="en-US" dirty="0" err="1"/>
              <a:t>Trực</a:t>
            </a:r>
            <a:r>
              <a:rPr lang="en-US" dirty="0"/>
              <a:t> </a:t>
            </a:r>
            <a:r>
              <a:rPr lang="en-US" dirty="0" err="1"/>
              <a:t>quan</a:t>
            </a:r>
            <a:r>
              <a:rPr lang="en-US" dirty="0"/>
              <a:t> </a:t>
            </a:r>
            <a:r>
              <a:rPr lang="en-US" dirty="0" err="1"/>
              <a:t>hóa</a:t>
            </a:r>
            <a:r>
              <a:rPr lang="en-US" dirty="0"/>
              <a:t> </a:t>
            </a:r>
            <a:r>
              <a:rPr lang="en-US" dirty="0" err="1"/>
              <a:t>dữ</a:t>
            </a:r>
            <a:r>
              <a:rPr lang="en-US" dirty="0"/>
              <a:t> </a:t>
            </a:r>
            <a:r>
              <a:rPr lang="en-US" dirty="0" err="1"/>
              <a:t>liệu</a:t>
            </a:r>
            <a:endParaRPr lang="vi-VN" dirty="0"/>
          </a:p>
        </p:txBody>
      </p:sp>
      <p:pic>
        <p:nvPicPr>
          <p:cNvPr id="5" name="Content Placeholder 4">
            <a:extLst>
              <a:ext uri="{FF2B5EF4-FFF2-40B4-BE49-F238E27FC236}">
                <a16:creationId xmlns:a16="http://schemas.microsoft.com/office/drawing/2014/main" id="{09E9A416-4274-4410-9F60-93605379AA64}"/>
              </a:ext>
            </a:extLst>
          </p:cNvPr>
          <p:cNvPicPr>
            <a:picLocks noGrp="1" noChangeAspect="1"/>
          </p:cNvPicPr>
          <p:nvPr>
            <p:ph sz="half" idx="1"/>
          </p:nvPr>
        </p:nvPicPr>
        <p:blipFill>
          <a:blip r:embed="rId2"/>
          <a:stretch>
            <a:fillRect/>
          </a:stretch>
        </p:blipFill>
        <p:spPr>
          <a:xfrm>
            <a:off x="0" y="1335314"/>
            <a:ext cx="6324600" cy="4790850"/>
          </a:xfrm>
          <a:prstGeom prst="rect">
            <a:avLst/>
          </a:prstGeom>
        </p:spPr>
      </p:pic>
      <p:sp>
        <p:nvSpPr>
          <p:cNvPr id="3" name="Content Placeholder 2">
            <a:extLst>
              <a:ext uri="{FF2B5EF4-FFF2-40B4-BE49-F238E27FC236}">
                <a16:creationId xmlns:a16="http://schemas.microsoft.com/office/drawing/2014/main" id="{75612C6F-9A97-4651-AFB9-ADB638D4C964}"/>
              </a:ext>
            </a:extLst>
          </p:cNvPr>
          <p:cNvSpPr>
            <a:spLocks noGrp="1"/>
          </p:cNvSpPr>
          <p:nvPr>
            <p:ph sz="half" idx="2"/>
          </p:nvPr>
        </p:nvSpPr>
        <p:spPr/>
        <p:txBody>
          <a:bodyPr/>
          <a:lstStyle/>
          <a:p>
            <a:pPr algn="just"/>
            <a:r>
              <a:rPr lang="vi-VN" sz="3200" dirty="0" err="1">
                <a:solidFill>
                  <a:srgbClr val="0066FF"/>
                </a:solidFill>
              </a:rPr>
              <a:t>Điều</a:t>
            </a:r>
            <a:r>
              <a:rPr lang="vi-VN" sz="3200" dirty="0">
                <a:solidFill>
                  <a:srgbClr val="0066FF"/>
                </a:solidFill>
              </a:rPr>
              <a:t> </a:t>
            </a:r>
            <a:r>
              <a:rPr lang="vi-VN" sz="3200" dirty="0" err="1">
                <a:solidFill>
                  <a:srgbClr val="0066FF"/>
                </a:solidFill>
              </a:rPr>
              <a:t>này</a:t>
            </a:r>
            <a:r>
              <a:rPr lang="vi-VN" sz="3200" dirty="0">
                <a:solidFill>
                  <a:srgbClr val="0066FF"/>
                </a:solidFill>
              </a:rPr>
              <a:t> </a:t>
            </a:r>
            <a:r>
              <a:rPr lang="vi-VN" sz="3200" dirty="0" err="1">
                <a:solidFill>
                  <a:srgbClr val="0066FF"/>
                </a:solidFill>
              </a:rPr>
              <a:t>là</a:t>
            </a:r>
            <a:r>
              <a:rPr lang="vi-VN" sz="3200" dirty="0">
                <a:solidFill>
                  <a:srgbClr val="0066FF"/>
                </a:solidFill>
              </a:rPr>
              <a:t> </a:t>
            </a:r>
            <a:r>
              <a:rPr lang="vi-VN" sz="3200" dirty="0" err="1">
                <a:solidFill>
                  <a:srgbClr val="0066FF"/>
                </a:solidFill>
              </a:rPr>
              <a:t>phù</a:t>
            </a:r>
            <a:r>
              <a:rPr lang="vi-VN" sz="3200" dirty="0">
                <a:solidFill>
                  <a:srgbClr val="0066FF"/>
                </a:solidFill>
              </a:rPr>
              <a:t> </a:t>
            </a:r>
            <a:r>
              <a:rPr lang="vi-VN" sz="3200" dirty="0" err="1">
                <a:solidFill>
                  <a:srgbClr val="0066FF"/>
                </a:solidFill>
              </a:rPr>
              <a:t>hợp</a:t>
            </a:r>
            <a:r>
              <a:rPr lang="vi-VN" sz="3200" dirty="0">
                <a:solidFill>
                  <a:srgbClr val="0066FF"/>
                </a:solidFill>
              </a:rPr>
              <a:t> </a:t>
            </a:r>
            <a:r>
              <a:rPr lang="vi-VN" sz="3200" dirty="0" err="1">
                <a:solidFill>
                  <a:srgbClr val="0066FF"/>
                </a:solidFill>
              </a:rPr>
              <a:t>vì</a:t>
            </a:r>
            <a:r>
              <a:rPr lang="vi-VN" sz="3200" dirty="0">
                <a:solidFill>
                  <a:srgbClr val="0066FF"/>
                </a:solidFill>
              </a:rPr>
              <a:t> </a:t>
            </a:r>
            <a:r>
              <a:rPr lang="vi-VN" sz="3200" dirty="0" err="1">
                <a:solidFill>
                  <a:srgbClr val="0066FF"/>
                </a:solidFill>
              </a:rPr>
              <a:t>các</a:t>
            </a:r>
            <a:r>
              <a:rPr lang="vi-VN" sz="3200" dirty="0">
                <a:solidFill>
                  <a:srgbClr val="0066FF"/>
                </a:solidFill>
              </a:rPr>
              <a:t> </a:t>
            </a:r>
            <a:r>
              <a:rPr lang="vi-VN" sz="3200" dirty="0" err="1">
                <a:solidFill>
                  <a:srgbClr val="0066FF"/>
                </a:solidFill>
              </a:rPr>
              <a:t>khách</a:t>
            </a:r>
            <a:r>
              <a:rPr lang="vi-VN" sz="3200" dirty="0">
                <a:solidFill>
                  <a:srgbClr val="0066FF"/>
                </a:solidFill>
              </a:rPr>
              <a:t> </a:t>
            </a:r>
            <a:r>
              <a:rPr lang="vi-VN" sz="3200" dirty="0" err="1">
                <a:solidFill>
                  <a:srgbClr val="0066FF"/>
                </a:solidFill>
              </a:rPr>
              <a:t>hàng</a:t>
            </a:r>
            <a:r>
              <a:rPr lang="vi-VN" sz="3200" dirty="0">
                <a:solidFill>
                  <a:srgbClr val="0066FF"/>
                </a:solidFill>
              </a:rPr>
              <a:t> </a:t>
            </a:r>
            <a:r>
              <a:rPr lang="vi-VN" sz="3200" dirty="0" err="1">
                <a:solidFill>
                  <a:srgbClr val="0066FF"/>
                </a:solidFill>
              </a:rPr>
              <a:t>trẻ</a:t>
            </a:r>
            <a:r>
              <a:rPr lang="vi-VN" sz="3200" dirty="0">
                <a:solidFill>
                  <a:srgbClr val="0066FF"/>
                </a:solidFill>
              </a:rPr>
              <a:t> </a:t>
            </a:r>
            <a:r>
              <a:rPr lang="vi-VN" sz="3200" dirty="0" err="1">
                <a:solidFill>
                  <a:srgbClr val="0066FF"/>
                </a:solidFill>
              </a:rPr>
              <a:t>và</a:t>
            </a:r>
            <a:r>
              <a:rPr lang="vi-VN" sz="3200" dirty="0">
                <a:solidFill>
                  <a:srgbClr val="0066FF"/>
                </a:solidFill>
              </a:rPr>
              <a:t> </a:t>
            </a:r>
            <a:r>
              <a:rPr lang="vi-VN" sz="3200" dirty="0" err="1">
                <a:solidFill>
                  <a:srgbClr val="0066FF"/>
                </a:solidFill>
              </a:rPr>
              <a:t>có</a:t>
            </a:r>
            <a:r>
              <a:rPr lang="vi-VN" sz="3200" dirty="0">
                <a:solidFill>
                  <a:srgbClr val="0066FF"/>
                </a:solidFill>
              </a:rPr>
              <a:t> </a:t>
            </a:r>
            <a:r>
              <a:rPr lang="vi-VN" sz="3200" dirty="0" err="1">
                <a:solidFill>
                  <a:srgbClr val="0066FF"/>
                </a:solidFill>
              </a:rPr>
              <a:t>mức</a:t>
            </a:r>
            <a:r>
              <a:rPr lang="vi-VN" sz="3200" dirty="0">
                <a:solidFill>
                  <a:srgbClr val="0066FF"/>
                </a:solidFill>
              </a:rPr>
              <a:t> lương </a:t>
            </a:r>
            <a:r>
              <a:rPr lang="vi-VN" sz="3200" dirty="0" err="1">
                <a:solidFill>
                  <a:srgbClr val="0066FF"/>
                </a:solidFill>
              </a:rPr>
              <a:t>thấp</a:t>
            </a:r>
            <a:r>
              <a:rPr lang="vi-VN" sz="3200" dirty="0">
                <a:solidFill>
                  <a:srgbClr val="0066FF"/>
                </a:solidFill>
              </a:rPr>
              <a:t> </a:t>
            </a:r>
            <a:r>
              <a:rPr lang="vi-VN" sz="3200" dirty="0" err="1">
                <a:solidFill>
                  <a:srgbClr val="0066FF"/>
                </a:solidFill>
              </a:rPr>
              <a:t>sẽ</a:t>
            </a:r>
            <a:r>
              <a:rPr lang="vi-VN" sz="3200" dirty="0">
                <a:solidFill>
                  <a:srgbClr val="0066FF"/>
                </a:solidFill>
              </a:rPr>
              <a:t> </a:t>
            </a:r>
            <a:r>
              <a:rPr lang="vi-VN" sz="3200" dirty="0" err="1">
                <a:solidFill>
                  <a:srgbClr val="0066FF"/>
                </a:solidFill>
              </a:rPr>
              <a:t>thường</a:t>
            </a:r>
            <a:r>
              <a:rPr lang="vi-VN" sz="3200" dirty="0">
                <a:solidFill>
                  <a:srgbClr val="0066FF"/>
                </a:solidFill>
              </a:rPr>
              <a:t> không mua </a:t>
            </a:r>
            <a:r>
              <a:rPr lang="vi-VN" sz="3200" dirty="0" err="1">
                <a:solidFill>
                  <a:srgbClr val="0066FF"/>
                </a:solidFill>
              </a:rPr>
              <a:t>hàng</a:t>
            </a:r>
            <a:r>
              <a:rPr lang="vi-VN" sz="3200" dirty="0">
                <a:solidFill>
                  <a:srgbClr val="0066FF"/>
                </a:solidFill>
              </a:rPr>
              <a:t>. </a:t>
            </a:r>
          </a:p>
          <a:p>
            <a:pPr algn="just"/>
            <a:r>
              <a:rPr lang="vi-VN" sz="3200" dirty="0" err="1">
                <a:solidFill>
                  <a:srgbClr val="FF0000"/>
                </a:solidFill>
              </a:rPr>
              <a:t>Ngược</a:t>
            </a:r>
            <a:r>
              <a:rPr lang="vi-VN" sz="3200" dirty="0">
                <a:solidFill>
                  <a:srgbClr val="FF0000"/>
                </a:solidFill>
              </a:rPr>
              <a:t> </a:t>
            </a:r>
            <a:r>
              <a:rPr lang="vi-VN" sz="3200" dirty="0" err="1">
                <a:solidFill>
                  <a:srgbClr val="FF0000"/>
                </a:solidFill>
              </a:rPr>
              <a:t>lại</a:t>
            </a:r>
            <a:r>
              <a:rPr lang="vi-VN" sz="3200" dirty="0">
                <a:solidFill>
                  <a:srgbClr val="FF0000"/>
                </a:solidFill>
              </a:rPr>
              <a:t>, </a:t>
            </a:r>
            <a:r>
              <a:rPr lang="vi-VN" sz="3200" dirty="0" err="1">
                <a:solidFill>
                  <a:srgbClr val="FF0000"/>
                </a:solidFill>
              </a:rPr>
              <a:t>khách</a:t>
            </a:r>
            <a:r>
              <a:rPr lang="vi-VN" sz="3200" dirty="0">
                <a:solidFill>
                  <a:srgbClr val="FF0000"/>
                </a:solidFill>
              </a:rPr>
              <a:t> </a:t>
            </a:r>
            <a:r>
              <a:rPr lang="vi-VN" sz="3200" dirty="0" err="1">
                <a:solidFill>
                  <a:srgbClr val="FF0000"/>
                </a:solidFill>
              </a:rPr>
              <a:t>hàng</a:t>
            </a:r>
            <a:r>
              <a:rPr lang="vi-VN" sz="3200" dirty="0">
                <a:solidFill>
                  <a:srgbClr val="FF0000"/>
                </a:solidFill>
              </a:rPr>
              <a:t> cao </a:t>
            </a:r>
            <a:r>
              <a:rPr lang="vi-VN" sz="3200" dirty="0" err="1">
                <a:solidFill>
                  <a:srgbClr val="FF0000"/>
                </a:solidFill>
              </a:rPr>
              <a:t>tuổi</a:t>
            </a:r>
            <a:r>
              <a:rPr lang="vi-VN" sz="3200" dirty="0">
                <a:solidFill>
                  <a:srgbClr val="FF0000"/>
                </a:solidFill>
              </a:rPr>
              <a:t> </a:t>
            </a:r>
            <a:r>
              <a:rPr lang="vi-VN" sz="3200" dirty="0" err="1">
                <a:solidFill>
                  <a:srgbClr val="FF0000"/>
                </a:solidFill>
              </a:rPr>
              <a:t>hoặc</a:t>
            </a:r>
            <a:r>
              <a:rPr lang="vi-VN" sz="3200" dirty="0">
                <a:solidFill>
                  <a:srgbClr val="FF0000"/>
                </a:solidFill>
              </a:rPr>
              <a:t> </a:t>
            </a:r>
            <a:r>
              <a:rPr lang="vi-VN" sz="3200" dirty="0" err="1">
                <a:solidFill>
                  <a:srgbClr val="FF0000"/>
                </a:solidFill>
              </a:rPr>
              <a:t>có</a:t>
            </a:r>
            <a:r>
              <a:rPr lang="vi-VN" sz="3200" dirty="0">
                <a:solidFill>
                  <a:srgbClr val="FF0000"/>
                </a:solidFill>
              </a:rPr>
              <a:t> lương cao </a:t>
            </a:r>
            <a:r>
              <a:rPr lang="vi-VN" sz="3200" dirty="0" err="1">
                <a:solidFill>
                  <a:srgbClr val="FF0000"/>
                </a:solidFill>
              </a:rPr>
              <a:t>sẽ</a:t>
            </a:r>
            <a:r>
              <a:rPr lang="vi-VN" sz="3200" dirty="0">
                <a:solidFill>
                  <a:srgbClr val="FF0000"/>
                </a:solidFill>
              </a:rPr>
              <a:t> </a:t>
            </a:r>
            <a:r>
              <a:rPr lang="vi-VN" sz="3200" dirty="0" err="1">
                <a:solidFill>
                  <a:srgbClr val="FF0000"/>
                </a:solidFill>
              </a:rPr>
              <a:t>thường</a:t>
            </a:r>
            <a:r>
              <a:rPr lang="vi-VN" sz="3200" dirty="0">
                <a:solidFill>
                  <a:srgbClr val="FF0000"/>
                </a:solidFill>
              </a:rPr>
              <a:t> mua </a:t>
            </a:r>
            <a:r>
              <a:rPr lang="vi-VN" sz="3200" dirty="0" err="1">
                <a:solidFill>
                  <a:srgbClr val="FF0000"/>
                </a:solidFill>
              </a:rPr>
              <a:t>hàng</a:t>
            </a:r>
            <a:r>
              <a:rPr lang="vi-VN" sz="3200" dirty="0">
                <a:solidFill>
                  <a:srgbClr val="FF0000"/>
                </a:solidFill>
              </a:rPr>
              <a:t> </a:t>
            </a:r>
            <a:r>
              <a:rPr lang="vi-VN" sz="3200" dirty="0" err="1">
                <a:solidFill>
                  <a:srgbClr val="FF0000"/>
                </a:solidFill>
              </a:rPr>
              <a:t>nhiều</a:t>
            </a:r>
            <a:r>
              <a:rPr lang="vi-VN" sz="3200" dirty="0">
                <a:solidFill>
                  <a:srgbClr val="FF0000"/>
                </a:solidFill>
              </a:rPr>
              <a:t> hơn.</a:t>
            </a:r>
          </a:p>
        </p:txBody>
      </p:sp>
    </p:spTree>
    <p:extLst>
      <p:ext uri="{BB962C8B-B14F-4D97-AF65-F5344CB8AC3E}">
        <p14:creationId xmlns:p14="http://schemas.microsoft.com/office/powerpoint/2010/main" val="224632693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p:sp>
        <p:nvSpPr>
          <p:cNvPr id="5" name="Text Placeholder 4">
            <a:extLst>
              <a:ext uri="{FF2B5EF4-FFF2-40B4-BE49-F238E27FC236}">
                <a16:creationId xmlns:a16="http://schemas.microsoft.com/office/drawing/2014/main" id="{0FB32012-D23F-4B9D-95F7-BA4EBADD5ACF}"/>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9465868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a:xfrm>
            <a:off x="609600" y="274638"/>
            <a:ext cx="10972800" cy="1143000"/>
          </a:xfrm>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a:xfrm>
                <a:off x="609600" y="1600201"/>
                <a:ext cx="10972800" cy="4525963"/>
              </a:xfrm>
            </p:spPr>
            <p:txBody>
              <a:bodyPr/>
              <a:lstStyle/>
              <a:p>
                <a:pPr algn="just"/>
                <a:r>
                  <a:rPr lang="en-US" sz="2800" dirty="0">
                    <a:solidFill>
                      <a:srgbClr val="0066FF"/>
                    </a:solidFill>
                  </a:rPr>
                  <a:t>Nhắc </a:t>
                </a:r>
                <a:r>
                  <a:rPr lang="en-US" sz="2800" dirty="0" err="1">
                    <a:solidFill>
                      <a:srgbClr val="0066FF"/>
                    </a:solidFill>
                  </a:rPr>
                  <a:t>lại</a:t>
                </a:r>
                <a:r>
                  <a:rPr lang="en-US" sz="2800" dirty="0">
                    <a:solidFill>
                      <a:srgbClr val="0066FF"/>
                    </a:solidFill>
                  </a:rPr>
                  <a:t> </a:t>
                </a:r>
                <a:r>
                  <a:rPr lang="en-US" sz="2800" dirty="0" err="1">
                    <a:solidFill>
                      <a:srgbClr val="0066FF"/>
                    </a:solidFill>
                  </a:rPr>
                  <a:t>định</a:t>
                </a:r>
                <a:r>
                  <a:rPr lang="en-US" sz="2800" dirty="0">
                    <a:solidFill>
                      <a:srgbClr val="0066FF"/>
                    </a:solidFill>
                  </a:rPr>
                  <a:t> </a:t>
                </a:r>
                <a:r>
                  <a:rPr lang="en-US" sz="2800" dirty="0" err="1">
                    <a:solidFill>
                      <a:srgbClr val="0066FF"/>
                    </a:solidFill>
                  </a:rPr>
                  <a:t>lý</a:t>
                </a:r>
                <a:r>
                  <a:rPr lang="en-US" sz="2800" dirty="0">
                    <a:solidFill>
                      <a:srgbClr val="0066FF"/>
                    </a:solidFill>
                  </a:rPr>
                  <a:t> </a:t>
                </a:r>
                <a:r>
                  <a:rPr lang="en-US" sz="2800" dirty="0" err="1">
                    <a:solidFill>
                      <a:srgbClr val="0066FF"/>
                    </a:solidFill>
                  </a:rPr>
                  <a:t>xác</a:t>
                </a:r>
                <a:r>
                  <a:rPr lang="en-US" sz="2800" dirty="0">
                    <a:solidFill>
                      <a:srgbClr val="0066FF"/>
                    </a:solidFill>
                  </a:rPr>
                  <a:t> </a:t>
                </a:r>
                <a:r>
                  <a:rPr lang="en-US" sz="2800" dirty="0" err="1">
                    <a:solidFill>
                      <a:srgbClr val="0066FF"/>
                    </a:solidFill>
                  </a:rPr>
                  <a:t>suất</a:t>
                </a:r>
                <a:r>
                  <a:rPr lang="en-US" sz="2800" dirty="0">
                    <a:solidFill>
                      <a:srgbClr val="0066FF"/>
                    </a:solidFill>
                  </a:rPr>
                  <a:t> Bayes:</a:t>
                </a:r>
              </a:p>
              <a:p>
                <a:pPr marL="0" indent="0" algn="ctr">
                  <a:buNone/>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𝑃</m:t>
                      </m:r>
                      <m:d>
                        <m:dPr>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panose="02040503050406030204" pitchFamily="18" charset="0"/>
                            </a:rPr>
                            <m:t>𝑦</m:t>
                          </m:r>
                        </m:e>
                        <m:e>
                          <m:r>
                            <a:rPr lang="en-US" sz="2800" b="0" i="1" smtClean="0">
                              <a:solidFill>
                                <a:srgbClr val="FF0000"/>
                              </a:solidFill>
                              <a:latin typeface="Cambria Math" panose="02040503050406030204" pitchFamily="18" charset="0"/>
                            </a:rPr>
                            <m:t>𝑥</m:t>
                          </m:r>
                        </m:e>
                      </m:d>
                      <m:r>
                        <a:rPr lang="en-US" sz="2800" b="0" i="1" smtClean="0">
                          <a:solidFill>
                            <a:srgbClr val="FF0000"/>
                          </a:solidFill>
                          <a:latin typeface="Cambria Math" panose="02040503050406030204" pitchFamily="18" charset="0"/>
                        </a:rPr>
                        <m:t>=</m:t>
                      </m:r>
                      <m:f>
                        <m:fPr>
                          <m:ctrlPr>
                            <a:rPr lang="en-US" sz="2800" b="0" i="1" smtClean="0">
                              <a:solidFill>
                                <a:srgbClr val="FF0000"/>
                              </a:solidFill>
                              <a:latin typeface="Cambria Math" panose="02040503050406030204" pitchFamily="18" charset="0"/>
                              <a:ea typeface="Cambria Math" panose="02040503050406030204" pitchFamily="18" charset="0"/>
                            </a:rPr>
                          </m:ctrlPr>
                        </m:fPr>
                        <m:num>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𝑥</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𝑃</m:t>
                          </m:r>
                          <m:d>
                            <m:dPr>
                              <m:ctrlPr>
                                <a:rPr lang="en-US" sz="2800" b="0" i="1" smtClean="0">
                                  <a:solidFill>
                                    <a:srgbClr val="FF0000"/>
                                  </a:solidFill>
                                  <a:latin typeface="Cambria Math" panose="02040503050406030204" pitchFamily="18" charset="0"/>
                                  <a:ea typeface="Cambria Math" panose="02040503050406030204" pitchFamily="18" charset="0"/>
                                </a:rPr>
                              </m:ctrlPr>
                            </m:dPr>
                            <m:e>
                              <m:r>
                                <a:rPr lang="en-US" sz="2800" b="0" i="1" smtClean="0">
                                  <a:solidFill>
                                    <a:srgbClr val="FF0000"/>
                                  </a:solidFill>
                                  <a:latin typeface="Cambria Math" panose="02040503050406030204" pitchFamily="18" charset="0"/>
                                  <a:ea typeface="Cambria Math" panose="02040503050406030204" pitchFamily="18" charset="0"/>
                                </a:rPr>
                                <m:t>𝑦</m:t>
                              </m:r>
                            </m:e>
                          </m:d>
                        </m:num>
                        <m:den>
                          <m:r>
                            <a:rPr lang="en-US" sz="2800" b="0" i="1" smtClean="0">
                              <a:solidFill>
                                <a:srgbClr val="FF0000"/>
                              </a:solidFill>
                              <a:latin typeface="Cambria Math" panose="02040503050406030204" pitchFamily="18" charset="0"/>
                              <a:ea typeface="Cambria Math" panose="02040503050406030204" pitchFamily="18" charset="0"/>
                            </a:rPr>
                            <m:t>𝑃</m:t>
                          </m:r>
                          <m:d>
                            <m:dPr>
                              <m:ctrlPr>
                                <a:rPr lang="en-US" sz="2800" b="0" i="1" smtClean="0">
                                  <a:solidFill>
                                    <a:srgbClr val="FF0000"/>
                                  </a:solidFill>
                                  <a:latin typeface="Cambria Math" panose="02040503050406030204" pitchFamily="18" charset="0"/>
                                  <a:ea typeface="Cambria Math" panose="02040503050406030204" pitchFamily="18" charset="0"/>
                                </a:rPr>
                              </m:ctrlPr>
                            </m:dPr>
                            <m:e>
                              <m:r>
                                <a:rPr lang="en-US" sz="2800" b="0" i="1" smtClean="0">
                                  <a:solidFill>
                                    <a:srgbClr val="FF0000"/>
                                  </a:solidFill>
                                  <a:latin typeface="Cambria Math" panose="02040503050406030204" pitchFamily="18" charset="0"/>
                                  <a:ea typeface="Cambria Math" panose="02040503050406030204" pitchFamily="18" charset="0"/>
                                </a:rPr>
                                <m:t>𝑥</m:t>
                              </m:r>
                            </m:e>
                          </m:d>
                        </m:den>
                      </m:f>
                    </m:oMath>
                  </m:oMathPara>
                </a14:m>
                <a:endParaRPr lang="vi-VN" sz="2800" dirty="0">
                  <a:solidFill>
                    <a:srgbClr val="FF0000"/>
                  </a:solidFill>
                </a:endParaRP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xfrm>
                <a:off x="609600" y="1600201"/>
                <a:ext cx="10972800" cy="4525963"/>
              </a:xfrm>
              <a:blipFill>
                <a:blip r:embed="rId2"/>
                <a:stretch>
                  <a:fillRect l="-1000" t="-1482"/>
                </a:stretch>
              </a:blipFill>
            </p:spPr>
            <p:txBody>
              <a:bodyPr/>
              <a:lstStyle/>
              <a:p>
                <a:r>
                  <a:rPr lang="vi-VN">
                    <a:noFill/>
                  </a:rPr>
                  <a:t> </a:t>
                </a:r>
              </a:p>
            </p:txBody>
          </p:sp>
        </mc:Fallback>
      </mc:AlternateContent>
    </p:spTree>
    <p:extLst>
      <p:ext uri="{BB962C8B-B14F-4D97-AF65-F5344CB8AC3E}">
        <p14:creationId xmlns:p14="http://schemas.microsoft.com/office/powerpoint/2010/main" val="155366018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a:solidFill>
                      <a:srgbClr val="0066FF"/>
                    </a:solidFill>
                  </a:rPr>
                  <a:t>Xét </a:t>
                </a:r>
                <a:r>
                  <a:rPr lang="vi-VN" sz="2800" dirty="0" err="1">
                    <a:solidFill>
                      <a:srgbClr val="0066FF"/>
                    </a:solidFill>
                  </a:rPr>
                  <a:t>bài</a:t>
                </a:r>
                <a:r>
                  <a:rPr lang="vi-VN" sz="2800" dirty="0">
                    <a:solidFill>
                      <a:srgbClr val="0066FF"/>
                    </a:solidFill>
                  </a:rPr>
                  <a:t> </a:t>
                </a:r>
                <a:r>
                  <a:rPr lang="vi-VN" sz="2800" dirty="0" err="1">
                    <a:solidFill>
                      <a:srgbClr val="0066FF"/>
                    </a:solidFill>
                  </a:rPr>
                  <a:t>toán</a:t>
                </a:r>
                <a:r>
                  <a:rPr lang="vi-VN" sz="2800">
                    <a:solidFill>
                      <a:srgbClr val="0066FF"/>
                    </a:solidFill>
                  </a:rPr>
                  <a:t>: </a:t>
                </a:r>
                <a:r>
                  <a:rPr lang="en-US" sz="2800">
                    <a:solidFill>
                      <a:srgbClr val="0066FF"/>
                    </a:solidFill>
                  </a:rPr>
                  <a:t>c</a:t>
                </a:r>
                <a:r>
                  <a:rPr lang="vi-VN" sz="2800">
                    <a:solidFill>
                      <a:srgbClr val="0066FF"/>
                    </a:solidFill>
                  </a:rPr>
                  <a:t>ho </a:t>
                </a:r>
                <a:r>
                  <a:rPr lang="vi-VN" sz="2800" dirty="0" err="1">
                    <a:solidFill>
                      <a:srgbClr val="0066FF"/>
                    </a:solidFill>
                  </a:rPr>
                  <a:t>mức</a:t>
                </a:r>
                <a:r>
                  <a:rPr lang="vi-VN" sz="2800" dirty="0">
                    <a:solidFill>
                      <a:srgbClr val="0066FF"/>
                    </a:solidFill>
                  </a:rPr>
                  <a:t> lương </a:t>
                </a:r>
                <a:r>
                  <a:rPr lang="vi-VN" sz="2800" dirty="0" err="1">
                    <a:solidFill>
                      <a:srgbClr val="0066FF"/>
                    </a:solidFill>
                  </a:rPr>
                  <a:t>và</a:t>
                </a:r>
                <a:r>
                  <a:rPr lang="vi-VN" sz="2800" dirty="0">
                    <a:solidFill>
                      <a:srgbClr val="0066FF"/>
                    </a:solidFill>
                  </a:rPr>
                  <a:t> </a:t>
                </a:r>
                <a:r>
                  <a:rPr lang="vi-VN" sz="2800" dirty="0" err="1">
                    <a:solidFill>
                      <a:srgbClr val="0066FF"/>
                    </a:solidFill>
                  </a:rPr>
                  <a:t>độ</a:t>
                </a:r>
                <a:r>
                  <a:rPr lang="vi-VN" sz="2800" dirty="0">
                    <a:solidFill>
                      <a:srgbClr val="0066FF"/>
                    </a:solidFill>
                  </a:rPr>
                  <a:t> </a:t>
                </a:r>
                <a:r>
                  <a:rPr lang="vi-VN" sz="2800" dirty="0" err="1">
                    <a:solidFill>
                      <a:srgbClr val="0066FF"/>
                    </a:solidFill>
                  </a:rPr>
                  <a:t>tuổi</a:t>
                </a:r>
                <a:r>
                  <a:rPr lang="vi-VN" sz="2800" dirty="0">
                    <a:solidFill>
                      <a:srgbClr val="0066FF"/>
                    </a:solidFill>
                  </a:rPr>
                  <a:t> </a:t>
                </a:r>
                <a:r>
                  <a:rPr lang="vi-VN" sz="2800" dirty="0" err="1">
                    <a:solidFill>
                      <a:srgbClr val="0066FF"/>
                    </a:solidFill>
                  </a:rPr>
                  <a:t>của</a:t>
                </a:r>
                <a:r>
                  <a:rPr lang="vi-VN" sz="2800" dirty="0">
                    <a:solidFill>
                      <a:srgbClr val="0066FF"/>
                    </a:solidFill>
                  </a:rPr>
                  <a:t> </a:t>
                </a:r>
                <a:r>
                  <a:rPr lang="vi-VN" sz="2800" dirty="0" err="1">
                    <a:solidFill>
                      <a:srgbClr val="0066FF"/>
                    </a:solidFill>
                  </a:rPr>
                  <a:t>một</a:t>
                </a:r>
                <a:r>
                  <a:rPr lang="vi-VN" sz="2800" dirty="0">
                    <a:solidFill>
                      <a:srgbClr val="0066FF"/>
                    </a:solidFill>
                  </a:rPr>
                  <a:t> nhân viên. </a:t>
                </a:r>
                <a:r>
                  <a:rPr lang="vi-VN" sz="2800" dirty="0" err="1">
                    <a:solidFill>
                      <a:srgbClr val="0066FF"/>
                    </a:solidFill>
                  </a:rPr>
                  <a:t>Dự</a:t>
                </a:r>
                <a:r>
                  <a:rPr lang="vi-VN" sz="2800" dirty="0">
                    <a:solidFill>
                      <a:srgbClr val="0066FF"/>
                    </a:solidFill>
                  </a:rPr>
                  <a:t> </a:t>
                </a:r>
                <a:r>
                  <a:rPr lang="vi-VN" sz="2800" dirty="0" err="1">
                    <a:solidFill>
                      <a:srgbClr val="0066FF"/>
                    </a:solidFill>
                  </a:rPr>
                  <a:t>đoán</a:t>
                </a:r>
                <a:r>
                  <a:rPr lang="vi-VN" sz="2800" dirty="0">
                    <a:solidFill>
                      <a:srgbClr val="0066FF"/>
                    </a:solidFill>
                  </a:rPr>
                  <a:t> </a:t>
                </a:r>
                <a:r>
                  <a:rPr lang="vi-VN" sz="2800" dirty="0" err="1">
                    <a:solidFill>
                      <a:srgbClr val="0066FF"/>
                    </a:solidFill>
                  </a:rPr>
                  <a:t>người</a:t>
                </a:r>
                <a:r>
                  <a:rPr lang="vi-VN" sz="2800" dirty="0">
                    <a:solidFill>
                      <a:srgbClr val="0066FF"/>
                    </a:solidFill>
                  </a:rPr>
                  <a:t> </a:t>
                </a:r>
                <a:r>
                  <a:rPr lang="vi-VN" sz="2800" dirty="0" err="1">
                    <a:solidFill>
                      <a:srgbClr val="0066FF"/>
                    </a:solidFill>
                  </a:rPr>
                  <a:t>đó</a:t>
                </a:r>
                <a:r>
                  <a:rPr lang="vi-VN" sz="2800" dirty="0">
                    <a:solidFill>
                      <a:srgbClr val="0066FF"/>
                    </a:solidFill>
                  </a:rPr>
                  <a:t> đi </a:t>
                </a:r>
                <a:r>
                  <a:rPr lang="vi-VN" sz="2800" dirty="0" err="1">
                    <a:solidFill>
                      <a:srgbClr val="0066FF"/>
                    </a:solidFill>
                  </a:rPr>
                  <a:t>làm</a:t>
                </a:r>
                <a:r>
                  <a:rPr lang="vi-VN" sz="2800" dirty="0">
                    <a:solidFill>
                      <a:srgbClr val="0066FF"/>
                    </a:solidFill>
                  </a:rPr>
                  <a:t> </a:t>
                </a:r>
                <a:r>
                  <a:rPr lang="vi-VN" sz="2800" dirty="0" err="1">
                    <a:solidFill>
                      <a:srgbClr val="0066FF"/>
                    </a:solidFill>
                  </a:rPr>
                  <a:t>bằng</a:t>
                </a:r>
                <a:r>
                  <a:rPr lang="vi-VN" sz="2800" dirty="0">
                    <a:solidFill>
                      <a:srgbClr val="0066FF"/>
                    </a:solidFill>
                  </a:rPr>
                  <a:t> xe hay đi </a:t>
                </a:r>
                <a:r>
                  <a:rPr lang="vi-VN" sz="2800" dirty="0" err="1">
                    <a:solidFill>
                      <a:srgbClr val="0066FF"/>
                    </a:solidFill>
                  </a:rPr>
                  <a:t>bộ</a:t>
                </a:r>
                <a:r>
                  <a:rPr lang="vi-VN" sz="2800" dirty="0">
                    <a:solidFill>
                      <a:srgbClr val="0066FF"/>
                    </a:solidFill>
                  </a:rPr>
                  <a:t>?</a:t>
                </a:r>
              </a:p>
              <a:p>
                <a:pPr algn="just"/>
                <a:r>
                  <a:rPr lang="vi-VN" sz="2800" dirty="0">
                    <a:solidFill>
                      <a:srgbClr val="FF0000"/>
                    </a:solidFill>
                  </a:rPr>
                  <a:t>Gọi </a:t>
                </a:r>
                <a14:m>
                  <m:oMath xmlns:m="http://schemas.openxmlformats.org/officeDocument/2006/math">
                    <m:r>
                      <a:rPr lang="vi-VN" sz="2800" i="1" dirty="0" smtClean="0">
                        <a:solidFill>
                          <a:srgbClr val="FF0000"/>
                        </a:solidFill>
                        <a:latin typeface="Cambria Math" panose="02040503050406030204" pitchFamily="18" charset="0"/>
                      </a:rPr>
                      <m:t>𝑋</m:t>
                    </m:r>
                    <m:r>
                      <a:rPr lang="vi-VN" sz="2800" i="1" dirty="0" err="1"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𝑦</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biến</a:t>
                </a:r>
                <a:r>
                  <a:rPr lang="vi-VN" sz="2800" dirty="0">
                    <a:solidFill>
                      <a:srgbClr val="FF0000"/>
                    </a:solidFill>
                  </a:rPr>
                  <a:t> </a:t>
                </a:r>
                <a:r>
                  <a:rPr lang="vi-VN" sz="2800" dirty="0" err="1">
                    <a:solidFill>
                      <a:srgbClr val="FF0000"/>
                    </a:solidFill>
                  </a:rPr>
                  <a:t>ngẫu</a:t>
                </a:r>
                <a:r>
                  <a:rPr lang="vi-VN" sz="2800" dirty="0">
                    <a:solidFill>
                      <a:srgbClr val="FF0000"/>
                    </a:solidFill>
                  </a:rPr>
                  <a:t> nhiên </a:t>
                </a:r>
                <a:r>
                  <a:rPr lang="vi-VN" sz="2800" dirty="0" err="1">
                    <a:solidFill>
                      <a:srgbClr val="FF0000"/>
                    </a:solidFill>
                  </a:rPr>
                  <a:t>với</a:t>
                </a:r>
                <a:r>
                  <a:rPr lang="vi-VN" sz="2800" dirty="0">
                    <a:solidFill>
                      <a:srgbClr val="FF0000"/>
                    </a:solidFill>
                  </a:rPr>
                  <a:t>:</a:t>
                </a:r>
              </a:p>
              <a:p>
                <a:pPr lvl="1" algn="just"/>
                <a14:m>
                  <m:oMath xmlns:m="http://schemas.openxmlformats.org/officeDocument/2006/math">
                    <m:r>
                      <a:rPr lang="vi-VN" sz="2800" b="0" i="1" smtClean="0">
                        <a:solidFill>
                          <a:srgbClr val="0066FF"/>
                        </a:solidFill>
                        <a:latin typeface="Cambria Math" panose="02040503050406030204" pitchFamily="18" charset="0"/>
                      </a:rPr>
                      <m:t>𝑋</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𝑆𝑎𝑙𝑎𝑟𝑦</m:t>
                    </m:r>
                    <m:r>
                      <a:rPr lang="vi-VN" sz="2800" b="0" i="1" smtClean="0">
                        <a:solidFill>
                          <a:srgbClr val="0066FF"/>
                        </a:solidFill>
                        <a:latin typeface="Cambria Math" panose="02040503050406030204" pitchFamily="18" charset="0"/>
                      </a:rPr>
                      <m:t>, </m:t>
                    </m:r>
                    <m:r>
                      <a:rPr lang="vi-VN" sz="2800" b="0" i="1" smtClean="0">
                        <a:solidFill>
                          <a:srgbClr val="0066FF"/>
                        </a:solidFill>
                        <a:latin typeface="Cambria Math" panose="02040503050406030204" pitchFamily="18" charset="0"/>
                      </a:rPr>
                      <m:t>𝐴𝑔𝑒</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𝑆𝑎𝑙𝑎𝑟𝑦</m:t>
                    </m:r>
                    <m:r>
                      <a:rPr lang="vi-VN" sz="2800" b="0" i="1" smtClean="0">
                        <a:solidFill>
                          <a:srgbClr val="0066FF"/>
                        </a:solidFill>
                        <a:latin typeface="Cambria Math" panose="02040503050406030204" pitchFamily="18" charset="0"/>
                      </a:rPr>
                      <m:t>&gt;0,</m:t>
                    </m:r>
                    <m:r>
                      <a:rPr lang="vi-VN" sz="2800" b="0" i="1" smtClean="0">
                        <a:solidFill>
                          <a:srgbClr val="0066FF"/>
                        </a:solidFill>
                        <a:latin typeface="Cambria Math" panose="02040503050406030204" pitchFamily="18" charset="0"/>
                      </a:rPr>
                      <m:t>𝐴𝑔𝑒</m:t>
                    </m:r>
                    <m:r>
                      <a:rPr lang="vi-VN" sz="2800" b="0" i="1" smtClean="0">
                        <a:solidFill>
                          <a:srgbClr val="0066FF"/>
                        </a:solidFill>
                        <a:latin typeface="Cambria Math" panose="02040503050406030204" pitchFamily="18" charset="0"/>
                      </a:rPr>
                      <m:t>&gt;0}</m:t>
                    </m:r>
                  </m:oMath>
                </a14:m>
                <a:r>
                  <a:rPr lang="vi-VN" sz="2800" dirty="0">
                    <a:solidFill>
                      <a:srgbClr val="0066FF"/>
                    </a:solidFill>
                  </a:rPr>
                  <a:t>.</a:t>
                </a:r>
              </a:p>
              <a:p>
                <a:pPr lvl="1" algn="just"/>
                <a14:m>
                  <m:oMath xmlns:m="http://schemas.openxmlformats.org/officeDocument/2006/math">
                    <m:r>
                      <a:rPr lang="vi-VN" sz="2800" b="0" i="1" smtClean="0">
                        <a:solidFill>
                          <a:srgbClr val="FF0000"/>
                        </a:solidFill>
                        <a:latin typeface="Cambria Math" panose="02040503050406030204" pitchFamily="18" charset="0"/>
                      </a:rPr>
                      <m:t>𝑦</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𝑊𝑎𝑙𝑘</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𝐷𝑟𝑖𝑣𝑒</m:t>
                    </m:r>
                    <m:r>
                      <a:rPr lang="vi-VN" sz="2800" b="0" i="1" smtClean="0">
                        <a:solidFill>
                          <a:srgbClr val="FF0000"/>
                        </a:solidFill>
                        <a:latin typeface="Cambria Math" panose="02040503050406030204" pitchFamily="18" charset="0"/>
                      </a:rPr>
                      <m:t>}</m:t>
                    </m:r>
                  </m:oMath>
                </a14:m>
                <a:r>
                  <a:rPr lang="vi-VN" sz="2800" dirty="0">
                    <a:solidFill>
                      <a:srgbClr val="FF0000"/>
                    </a:solidFill>
                  </a:rPr>
                  <a:t>.</a:t>
                </a:r>
              </a:p>
              <a:p>
                <a:pPr algn="just"/>
                <a:r>
                  <a:rPr lang="vi-VN" sz="2800" dirty="0" err="1">
                    <a:solidFill>
                      <a:srgbClr val="0066FF"/>
                    </a:solidFill>
                  </a:rPr>
                  <a:t>Bài</a:t>
                </a:r>
                <a:r>
                  <a:rPr lang="vi-VN" sz="2800" dirty="0">
                    <a:solidFill>
                      <a:srgbClr val="0066FF"/>
                    </a:solidFill>
                  </a:rPr>
                  <a:t> </a:t>
                </a:r>
                <a:r>
                  <a:rPr lang="vi-VN" sz="2800" dirty="0" err="1">
                    <a:solidFill>
                      <a:srgbClr val="0066FF"/>
                    </a:solidFill>
                  </a:rPr>
                  <a:t>toán</a:t>
                </a:r>
                <a:r>
                  <a:rPr lang="vi-VN" sz="2800" dirty="0">
                    <a:solidFill>
                      <a:srgbClr val="0066FF"/>
                    </a:solidFill>
                  </a:rPr>
                  <a:t> trên </a:t>
                </a:r>
                <a:r>
                  <a:rPr lang="vi-VN" sz="2800" dirty="0" err="1">
                    <a:solidFill>
                      <a:srgbClr val="0066FF"/>
                    </a:solidFill>
                  </a:rPr>
                  <a:t>có</a:t>
                </a:r>
                <a:r>
                  <a:rPr lang="vi-VN" sz="2800" dirty="0">
                    <a:solidFill>
                      <a:srgbClr val="0066FF"/>
                    </a:solidFill>
                  </a:rPr>
                  <a:t> </a:t>
                </a:r>
                <a:r>
                  <a:rPr lang="vi-VN" sz="2800" dirty="0" err="1">
                    <a:solidFill>
                      <a:srgbClr val="0066FF"/>
                    </a:solidFill>
                  </a:rPr>
                  <a:t>thể</a:t>
                </a:r>
                <a:r>
                  <a:rPr lang="vi-VN" sz="2800" dirty="0">
                    <a:solidFill>
                      <a:srgbClr val="0066FF"/>
                    </a:solidFill>
                  </a:rPr>
                  <a:t> đưa </a:t>
                </a:r>
                <a:r>
                  <a:rPr lang="vi-VN" sz="2800" dirty="0" err="1">
                    <a:solidFill>
                      <a:srgbClr val="0066FF"/>
                    </a:solidFill>
                  </a:rPr>
                  <a:t>về</a:t>
                </a:r>
                <a:r>
                  <a:rPr lang="vi-VN" sz="2800" dirty="0">
                    <a:solidFill>
                      <a:srgbClr val="0066FF"/>
                    </a:solidFill>
                  </a:rPr>
                  <a:t> </a:t>
                </a:r>
                <a:r>
                  <a:rPr lang="vi-VN" sz="2800" dirty="0" err="1">
                    <a:solidFill>
                      <a:srgbClr val="0066FF"/>
                    </a:solidFill>
                  </a:rPr>
                  <a:t>dạng</a:t>
                </a:r>
                <a:r>
                  <a:rPr lang="vi-VN" sz="2800" dirty="0">
                    <a:solidFill>
                      <a:srgbClr val="0066FF"/>
                    </a:solidFill>
                  </a:rPr>
                  <a:t>:</a:t>
                </a:r>
              </a:p>
              <a:p>
                <a:pPr lvl="1" algn="just"/>
                <a:r>
                  <a:rPr lang="vi-VN" sz="2800" dirty="0">
                    <a:solidFill>
                      <a:srgbClr val="FF0000"/>
                    </a:solidFill>
                  </a:rPr>
                  <a:t>Tìm </a:t>
                </a:r>
                <a14:m>
                  <m:oMath xmlns:m="http://schemas.openxmlformats.org/officeDocument/2006/math">
                    <m:r>
                      <a:rPr lang="vi-VN" sz="2800" i="1">
                        <a:solidFill>
                          <a:srgbClr val="FF0000"/>
                        </a:solidFill>
                        <a:latin typeface="Cambria Math" panose="02040503050406030204" pitchFamily="18" charset="0"/>
                      </a:rPr>
                      <m:t>𝑦</m:t>
                    </m:r>
                    <m:r>
                      <a:rPr lang="vi-VN" sz="280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𝑊𝑎𝑙𝑘</m:t>
                    </m:r>
                    <m:r>
                      <a:rPr lang="vi-VN" sz="280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𝐷𝑟𝑖𝑣𝑒</m:t>
                    </m:r>
                    <m:r>
                      <a:rPr lang="vi-VN" sz="2800" i="1">
                        <a:solidFill>
                          <a:srgbClr val="FF0000"/>
                        </a:solidFill>
                        <a:latin typeface="Cambria Math" panose="02040503050406030204" pitchFamily="18" charset="0"/>
                      </a:rPr>
                      <m:t>}</m:t>
                    </m:r>
                  </m:oMath>
                </a14:m>
                <a:r>
                  <a:rPr lang="vi-VN" sz="2800" dirty="0">
                    <a:solidFill>
                      <a:srgbClr val="FF0000"/>
                    </a:solidFill>
                  </a:rPr>
                  <a:t> sao cho </a:t>
                </a:r>
                <a14:m>
                  <m:oMath xmlns:m="http://schemas.openxmlformats.org/officeDocument/2006/math">
                    <m:r>
                      <a:rPr lang="vi-VN" sz="2800" b="0" i="1" smtClean="0">
                        <a:solidFill>
                          <a:srgbClr val="FF0000"/>
                        </a:solidFill>
                        <a:latin typeface="Cambria Math" panose="02040503050406030204" pitchFamily="18" charset="0"/>
                      </a:rPr>
                      <m:t>𝑃</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𝑦</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𝑋</m:t>
                    </m:r>
                    <m:r>
                      <a:rPr lang="vi-VN" sz="2800" b="0" i="1"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đạt</a:t>
                </a:r>
                <a:r>
                  <a:rPr lang="vi-VN" sz="2800" dirty="0">
                    <a:solidFill>
                      <a:srgbClr val="FF0000"/>
                    </a:solidFill>
                  </a:rPr>
                  <a:t> </a:t>
                </a:r>
                <a:r>
                  <a:rPr lang="vi-VN" sz="2800" dirty="0" err="1">
                    <a:solidFill>
                      <a:srgbClr val="FF0000"/>
                    </a:solidFill>
                  </a:rPr>
                  <a:t>giá</a:t>
                </a:r>
                <a:r>
                  <a:rPr lang="vi-VN" sz="2800" dirty="0">
                    <a:solidFill>
                      <a:srgbClr val="FF0000"/>
                    </a:solidFill>
                  </a:rPr>
                  <a:t> </a:t>
                </a:r>
                <a:r>
                  <a:rPr lang="vi-VN" sz="2800" dirty="0" err="1">
                    <a:solidFill>
                      <a:srgbClr val="FF0000"/>
                    </a:solidFill>
                  </a:rPr>
                  <a:t>trị</a:t>
                </a:r>
                <a:r>
                  <a:rPr lang="vi-VN" sz="2800" dirty="0">
                    <a:solidFill>
                      <a:srgbClr val="FF0000"/>
                    </a:solidFill>
                  </a:rPr>
                  <a:t> </a:t>
                </a:r>
                <a:r>
                  <a:rPr lang="vi-VN" sz="2800" dirty="0" err="1">
                    <a:solidFill>
                      <a:srgbClr val="FF0000"/>
                    </a:solidFill>
                  </a:rPr>
                  <a:t>lớn</a:t>
                </a:r>
                <a:r>
                  <a:rPr lang="vi-VN" sz="2800" dirty="0">
                    <a:solidFill>
                      <a:srgbClr val="FF0000"/>
                    </a:solidFill>
                  </a:rPr>
                  <a:t> </a:t>
                </a:r>
                <a:r>
                  <a:rPr lang="vi-VN" sz="2800" dirty="0" err="1">
                    <a:solidFill>
                      <a:srgbClr val="FF0000"/>
                    </a:solidFill>
                  </a:rPr>
                  <a:t>nhất</a:t>
                </a:r>
                <a:r>
                  <a:rPr lang="vi-VN" sz="2800" dirty="0">
                    <a:solidFill>
                      <a:srgbClr val="FF0000"/>
                    </a:solidFill>
                  </a:rPr>
                  <a:t>.</a:t>
                </a:r>
              </a:p>
              <a:p>
                <a:pPr lvl="1" algn="just"/>
                <a:r>
                  <a:rPr lang="vi-VN" sz="2800" dirty="0" err="1">
                    <a:solidFill>
                      <a:srgbClr val="0066FF"/>
                    </a:solidFill>
                  </a:rPr>
                  <a:t>Tức</a:t>
                </a:r>
                <a:r>
                  <a:rPr lang="vi-VN" sz="2800" dirty="0">
                    <a:solidFill>
                      <a:srgbClr val="0066FF"/>
                    </a:solidFill>
                  </a:rPr>
                  <a:t> ta </a:t>
                </a:r>
                <a:r>
                  <a:rPr lang="vi-VN" sz="2800" dirty="0" err="1">
                    <a:solidFill>
                      <a:srgbClr val="0066FF"/>
                    </a:solidFill>
                  </a:rPr>
                  <a:t>cần</a:t>
                </a:r>
                <a:r>
                  <a:rPr lang="vi-VN" sz="2800" dirty="0">
                    <a:solidFill>
                      <a:srgbClr val="0066FF"/>
                    </a:solidFill>
                  </a:rPr>
                  <a:t>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𝑃</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𝑦</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𝑊𝑎𝑙𝑘</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𝑋</m:t>
                    </m:r>
                    <m:r>
                      <a:rPr lang="vi-VN" sz="2800" b="0" i="1" smtClean="0">
                        <a:solidFill>
                          <a:srgbClr val="0066FF"/>
                        </a:solidFill>
                        <a:latin typeface="Cambria Math" panose="02040503050406030204" pitchFamily="18" charset="0"/>
                      </a:rPr>
                      <m:t>)</m:t>
                    </m:r>
                  </m:oMath>
                </a14:m>
                <a:r>
                  <a:rPr lang="vi-VN" sz="2800" dirty="0">
                    <a:solidFill>
                      <a:srgbClr val="0066FF"/>
                    </a:solidFill>
                  </a:rPr>
                  <a:t> </a:t>
                </a:r>
                <a:r>
                  <a:rPr lang="vi-VN" sz="2800" dirty="0" err="1">
                    <a:solidFill>
                      <a:srgbClr val="0066FF"/>
                    </a:solidFill>
                  </a:rPr>
                  <a:t>và</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𝑃</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𝑦</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𝐷𝑟𝑖𝑣𝑒</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𝑋</m:t>
                    </m:r>
                    <m:r>
                      <a:rPr lang="vi-VN" sz="2800" b="0" i="1" smtClean="0">
                        <a:solidFill>
                          <a:srgbClr val="0066FF"/>
                        </a:solidFill>
                        <a:latin typeface="Cambria Math" panose="02040503050406030204" pitchFamily="18" charset="0"/>
                      </a:rPr>
                      <m:t>)</m:t>
                    </m:r>
                  </m:oMath>
                </a14:m>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chọn</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𝑦</m:t>
                    </m:r>
                  </m:oMath>
                </a14:m>
                <a:r>
                  <a:rPr lang="vi-VN" sz="2800" dirty="0">
                    <a:solidFill>
                      <a:srgbClr val="0066FF"/>
                    </a:solidFill>
                  </a:rPr>
                  <a:t> tương </a:t>
                </a:r>
                <a:r>
                  <a:rPr lang="vi-VN" sz="2800" dirty="0" err="1">
                    <a:solidFill>
                      <a:srgbClr val="0066FF"/>
                    </a:solidFill>
                  </a:rPr>
                  <a:t>ứng</a:t>
                </a:r>
                <a:r>
                  <a:rPr lang="vi-VN" sz="2800" dirty="0">
                    <a:solidFill>
                      <a:srgbClr val="0066FF"/>
                    </a:solidFill>
                  </a:rPr>
                  <a:t> </a:t>
                </a:r>
                <a:r>
                  <a:rPr lang="vi-VN" sz="2800" dirty="0" err="1">
                    <a:solidFill>
                      <a:srgbClr val="0066FF"/>
                    </a:solidFill>
                  </a:rPr>
                  <a:t>với</a:t>
                </a:r>
                <a:r>
                  <a:rPr lang="vi-VN" sz="2800" dirty="0">
                    <a:solidFill>
                      <a:srgbClr val="0066FF"/>
                    </a:solidFill>
                  </a:rPr>
                  <a:t> </a:t>
                </a:r>
                <a:r>
                  <a:rPr lang="vi-VN" sz="2800" dirty="0" err="1">
                    <a:solidFill>
                      <a:srgbClr val="0066FF"/>
                    </a:solidFill>
                  </a:rPr>
                  <a:t>giá</a:t>
                </a:r>
                <a:r>
                  <a:rPr lang="vi-VN" sz="2800" dirty="0">
                    <a:solidFill>
                      <a:srgbClr val="0066FF"/>
                    </a:solidFill>
                  </a:rPr>
                  <a:t> </a:t>
                </a:r>
                <a:r>
                  <a:rPr lang="vi-VN" sz="2800" dirty="0" err="1">
                    <a:solidFill>
                      <a:srgbClr val="0066FF"/>
                    </a:solidFill>
                  </a:rPr>
                  <a:t>trị</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𝑃</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𝑦</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𝑋</m:t>
                    </m:r>
                    <m:r>
                      <a:rPr lang="vi-VN" sz="2800" b="0" i="1" smtClean="0">
                        <a:solidFill>
                          <a:srgbClr val="0066FF"/>
                        </a:solidFill>
                        <a:latin typeface="Cambria Math" panose="02040503050406030204" pitchFamily="18" charset="0"/>
                      </a:rPr>
                      <m:t>)</m:t>
                    </m:r>
                  </m:oMath>
                </a14:m>
                <a:r>
                  <a:rPr lang="vi-VN" sz="2800" dirty="0">
                    <a:solidFill>
                      <a:srgbClr val="0066FF"/>
                    </a:solidFill>
                  </a:rPr>
                  <a:t> </a:t>
                </a:r>
                <a:r>
                  <a:rPr lang="vi-VN" sz="2800" dirty="0" err="1">
                    <a:solidFill>
                      <a:srgbClr val="0066FF"/>
                    </a:solidFill>
                  </a:rPr>
                  <a:t>lớn</a:t>
                </a:r>
                <a:r>
                  <a:rPr lang="vi-VN" sz="2800" dirty="0">
                    <a:solidFill>
                      <a:srgbClr val="0066FF"/>
                    </a:solidFill>
                  </a:rPr>
                  <a:t> hơn.</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b="-1887"/>
                </a:stretch>
              </a:blipFill>
            </p:spPr>
            <p:txBody>
              <a:bodyPr/>
              <a:lstStyle/>
              <a:p>
                <a:r>
                  <a:rPr lang="en-US">
                    <a:noFill/>
                  </a:rPr>
                  <a:t> </a:t>
                </a:r>
              </a:p>
            </p:txBody>
          </p:sp>
        </mc:Fallback>
      </mc:AlternateContent>
    </p:spTree>
    <p:extLst>
      <p:ext uri="{BB962C8B-B14F-4D97-AF65-F5344CB8AC3E}">
        <p14:creationId xmlns:p14="http://schemas.microsoft.com/office/powerpoint/2010/main" val="248862427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p:pic>
        <p:nvPicPr>
          <p:cNvPr id="9" name="Content Placeholder 2">
            <a:extLst>
              <a:ext uri="{FF2B5EF4-FFF2-40B4-BE49-F238E27FC236}">
                <a16:creationId xmlns:a16="http://schemas.microsoft.com/office/drawing/2014/main" id="{F3AB5530-2DEE-4873-8F02-FF9FC9CD39AA}"/>
              </a:ext>
            </a:extLst>
          </p:cNvPr>
          <p:cNvPicPr>
            <a:picLocks noGrp="1" noChangeAspect="1"/>
          </p:cNvPicPr>
          <p:nvPr>
            <p:ph idx="1"/>
          </p:nvPr>
        </p:nvPicPr>
        <p:blipFill>
          <a:blip r:embed="rId2"/>
          <a:stretch>
            <a:fillRect/>
          </a:stretch>
        </p:blipFill>
        <p:spPr bwMode="auto">
          <a:xfrm>
            <a:off x="2500312" y="1924844"/>
            <a:ext cx="7191375"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793738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E12D3368-991C-43A8-AC6A-6A25450666E5}"/>
                  </a:ext>
                </a:extLst>
              </p:cNvPr>
              <p:cNvSpPr>
                <a:spLocks noGrp="1"/>
              </p:cNvSpPr>
              <p:nvPr>
                <p:ph idx="1"/>
              </p:nvPr>
            </p:nvSpPr>
            <p:spPr/>
            <p:txBody>
              <a:bodyPr/>
              <a:lstStyle/>
              <a:p>
                <a:pPr algn="just"/>
                <a:r>
                  <a:rPr lang="vi-VN" sz="2800" dirty="0">
                    <a:solidFill>
                      <a:srgbClr val="0066FF"/>
                    </a:solidFill>
                  </a:rPr>
                  <a:t>Theo </a:t>
                </a:r>
                <a:r>
                  <a:rPr lang="vi-VN" sz="2800" dirty="0" err="1">
                    <a:solidFill>
                      <a:srgbClr val="0066FF"/>
                    </a:solidFill>
                  </a:rPr>
                  <a:t>định</a:t>
                </a:r>
                <a:r>
                  <a:rPr lang="vi-VN" sz="2800" dirty="0">
                    <a:solidFill>
                      <a:srgbClr val="0066FF"/>
                    </a:solidFill>
                  </a:rPr>
                  <a:t> </a:t>
                </a:r>
                <a:r>
                  <a:rPr lang="vi-VN" sz="2800" dirty="0" err="1">
                    <a:solidFill>
                      <a:srgbClr val="0066FF"/>
                    </a:solidFill>
                  </a:rPr>
                  <a:t>lý</a:t>
                </a:r>
                <a:r>
                  <a:rPr lang="vi-VN" sz="2800" dirty="0">
                    <a:solidFill>
                      <a:srgbClr val="0066FF"/>
                    </a:solidFill>
                  </a:rPr>
                  <a:t> </a:t>
                </a:r>
                <a:r>
                  <a:rPr lang="vi-VN" sz="2800" dirty="0" err="1">
                    <a:solidFill>
                      <a:srgbClr val="0066FF"/>
                    </a:solidFill>
                  </a:rPr>
                  <a:t>Bayes</a:t>
                </a:r>
                <a:r>
                  <a:rPr lang="vi-VN" sz="2800" dirty="0">
                    <a:solidFill>
                      <a:srgbClr val="0066FF"/>
                    </a:solidFill>
                  </a:rPr>
                  <a:t>:</a:t>
                </a:r>
              </a:p>
              <a:p>
                <a:pPr marL="457200" lvl="1" indent="0" algn="just">
                  <a:buNone/>
                </a:pPr>
                <a14:m>
                  <m:oMathPara xmlns:m="http://schemas.openxmlformats.org/officeDocument/2006/math">
                    <m:oMathParaPr>
                      <m:jc m:val="centerGroup"/>
                    </m:oMathParaPr>
                    <m:oMath xmlns:m="http://schemas.openxmlformats.org/officeDocument/2006/math">
                      <m:r>
                        <a:rPr lang="en-US" sz="2800" i="1" smtClean="0">
                          <a:solidFill>
                            <a:srgbClr val="FF0000"/>
                          </a:solidFill>
                          <a:latin typeface="Cambria Math" panose="02040503050406030204" pitchFamily="18" charset="0"/>
                        </a:rPr>
                        <m:t>𝑃</m:t>
                      </m:r>
                      <m:d>
                        <m:dPr>
                          <m:ctrlPr>
                            <a:rPr lang="en-US" sz="2800" i="1">
                              <a:solidFill>
                                <a:srgbClr val="FF0000"/>
                              </a:solidFill>
                              <a:latin typeface="Cambria Math" panose="02040503050406030204" pitchFamily="18" charset="0"/>
                            </a:rPr>
                          </m:ctrlPr>
                        </m:dPr>
                        <m:e>
                          <m:r>
                            <a:rPr lang="en-US" sz="2800" i="1">
                              <a:solidFill>
                                <a:srgbClr val="FF0000"/>
                              </a:solidFill>
                              <a:latin typeface="Cambria Math" panose="02040503050406030204" pitchFamily="18" charset="0"/>
                            </a:rPr>
                            <m:t>𝑦</m:t>
                          </m:r>
                        </m:e>
                        <m:e>
                          <m:r>
                            <a:rPr lang="en-US" sz="2800" b="0" i="1" smtClean="0">
                              <a:solidFill>
                                <a:srgbClr val="FF0000"/>
                              </a:solidFill>
                              <a:latin typeface="Cambria Math" panose="02040503050406030204" pitchFamily="18" charset="0"/>
                            </a:rPr>
                            <m:t>𝑋</m:t>
                          </m:r>
                        </m:e>
                      </m:d>
                      <m:r>
                        <a:rPr lang="en-US" sz="2800" i="1">
                          <a:solidFill>
                            <a:srgbClr val="FF0000"/>
                          </a:solidFill>
                          <a:latin typeface="Cambria Math" panose="02040503050406030204" pitchFamily="18" charset="0"/>
                        </a:rPr>
                        <m:t>=</m:t>
                      </m:r>
                      <m:f>
                        <m:fPr>
                          <m:ctrlPr>
                            <a:rPr lang="en-US" sz="2800" i="1">
                              <a:solidFill>
                                <a:srgbClr val="FF0000"/>
                              </a:solidFill>
                              <a:latin typeface="Cambria Math" panose="02040503050406030204" pitchFamily="18" charset="0"/>
                              <a:ea typeface="Cambria Math" panose="02040503050406030204" pitchFamily="18" charset="0"/>
                            </a:rPr>
                          </m:ctrlPr>
                        </m:fPr>
                        <m:num>
                          <m:r>
                            <a:rPr lang="en-US" sz="2800" i="1">
                              <a:solidFill>
                                <a:srgbClr val="FF0000"/>
                              </a:solidFill>
                              <a:latin typeface="Cambria Math" panose="02040503050406030204" pitchFamily="18" charset="0"/>
                            </a:rPr>
                            <m:t>𝑃</m:t>
                          </m:r>
                          <m:r>
                            <a:rPr lang="en-US" sz="2800" i="1">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𝑋</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𝑦</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ea typeface="Cambria Math" panose="02040503050406030204" pitchFamily="18" charset="0"/>
                            </a:rPr>
                            <m:t>𝑃</m:t>
                          </m:r>
                          <m:d>
                            <m:dPr>
                              <m:ctrlPr>
                                <a:rPr lang="en-US" sz="2800" i="1">
                                  <a:solidFill>
                                    <a:srgbClr val="FF0000"/>
                                  </a:solidFill>
                                  <a:latin typeface="Cambria Math" panose="02040503050406030204" pitchFamily="18" charset="0"/>
                                  <a:ea typeface="Cambria Math" panose="02040503050406030204" pitchFamily="18" charset="0"/>
                                </a:rPr>
                              </m:ctrlPr>
                            </m:dPr>
                            <m:e>
                              <m:r>
                                <a:rPr lang="en-US" sz="2800" i="1">
                                  <a:solidFill>
                                    <a:srgbClr val="FF0000"/>
                                  </a:solidFill>
                                  <a:latin typeface="Cambria Math" panose="02040503050406030204" pitchFamily="18" charset="0"/>
                                  <a:ea typeface="Cambria Math" panose="02040503050406030204" pitchFamily="18" charset="0"/>
                                </a:rPr>
                                <m:t>𝑦</m:t>
                              </m:r>
                            </m:e>
                          </m:d>
                        </m:num>
                        <m:den>
                          <m:r>
                            <a:rPr lang="en-US" sz="2800" i="1">
                              <a:solidFill>
                                <a:srgbClr val="FF0000"/>
                              </a:solidFill>
                              <a:latin typeface="Cambria Math" panose="02040503050406030204" pitchFamily="18" charset="0"/>
                              <a:ea typeface="Cambria Math" panose="02040503050406030204" pitchFamily="18" charset="0"/>
                            </a:rPr>
                            <m:t>𝑃</m:t>
                          </m:r>
                          <m:d>
                            <m:dPr>
                              <m:ctrlPr>
                                <a:rPr lang="en-US" sz="2800" i="1">
                                  <a:solidFill>
                                    <a:srgbClr val="FF0000"/>
                                  </a:solidFill>
                                  <a:latin typeface="Cambria Math" panose="02040503050406030204" pitchFamily="18" charset="0"/>
                                  <a:ea typeface="Cambria Math" panose="02040503050406030204" pitchFamily="18" charset="0"/>
                                </a:rPr>
                              </m:ctrlPr>
                            </m:dPr>
                            <m:e>
                              <m:r>
                                <a:rPr lang="en-US" sz="2800" b="0" i="1" smtClean="0">
                                  <a:solidFill>
                                    <a:srgbClr val="FF0000"/>
                                  </a:solidFill>
                                  <a:latin typeface="Cambria Math" panose="02040503050406030204" pitchFamily="18" charset="0"/>
                                  <a:ea typeface="Cambria Math" panose="02040503050406030204" pitchFamily="18" charset="0"/>
                                </a:rPr>
                                <m:t>𝑋</m:t>
                              </m:r>
                            </m:e>
                          </m:d>
                        </m:den>
                      </m:f>
                    </m:oMath>
                  </m:oMathPara>
                </a14:m>
                <a:endParaRPr lang="en-US" sz="2800" b="0" dirty="0">
                  <a:solidFill>
                    <a:srgbClr val="FF0000"/>
                  </a:solidFill>
                  <a:ea typeface="Cambria Math" panose="02040503050406030204" pitchFamily="18" charset="0"/>
                </a:endParaRPr>
              </a:p>
              <a:p>
                <a:pPr lvl="1" algn="just"/>
                <a:r>
                  <a:rPr lang="en-US" sz="2800" dirty="0">
                    <a:solidFill>
                      <a:srgbClr val="FF0000"/>
                    </a:solidFill>
                  </a:rPr>
                  <a:t>Trong </a:t>
                </a:r>
                <a:r>
                  <a:rPr lang="en-US" sz="2800" dirty="0" err="1">
                    <a:solidFill>
                      <a:srgbClr val="FF0000"/>
                    </a:solidFill>
                  </a:rPr>
                  <a:t>đó</a:t>
                </a:r>
                <a:r>
                  <a:rPr lang="en-US" sz="2800" dirty="0">
                    <a:solidFill>
                      <a:srgbClr val="FF0000"/>
                    </a:solidFill>
                  </a:rPr>
                  <a:t>:</a:t>
                </a:r>
              </a:p>
              <a:p>
                <a:pPr lvl="2" algn="just"/>
                <a14:m>
                  <m:oMath xmlns:m="http://schemas.openxmlformats.org/officeDocument/2006/math">
                    <m:r>
                      <a:rPr lang="en-US" sz="2800" b="0" i="1" smtClean="0">
                        <a:solidFill>
                          <a:srgbClr val="0066FF"/>
                        </a:solidFill>
                        <a:latin typeface="Cambria Math" panose="02040503050406030204" pitchFamily="18" charset="0"/>
                      </a:rPr>
                      <m:t>𝑃</m:t>
                    </m:r>
                    <m:r>
                      <a:rPr lang="en-US" sz="2800" b="0" i="1" smtClean="0">
                        <a:solidFill>
                          <a:srgbClr val="0066FF"/>
                        </a:solidFill>
                        <a:latin typeface="Cambria Math" panose="02040503050406030204" pitchFamily="18" charset="0"/>
                      </a:rPr>
                      <m:t>(</m:t>
                    </m:r>
                    <m:r>
                      <a:rPr lang="en-US" sz="2800" b="0" i="1" smtClean="0">
                        <a:solidFill>
                          <a:srgbClr val="0066FF"/>
                        </a:solidFill>
                        <a:latin typeface="Cambria Math" panose="02040503050406030204" pitchFamily="18" charset="0"/>
                      </a:rPr>
                      <m:t>𝑦</m:t>
                    </m:r>
                    <m:r>
                      <a:rPr lang="en-US" sz="2800" b="0" i="1" smtClean="0">
                        <a:solidFill>
                          <a:srgbClr val="0066FF"/>
                        </a:solidFill>
                        <a:latin typeface="Cambria Math" panose="02040503050406030204" pitchFamily="18" charset="0"/>
                      </a:rPr>
                      <m:t>)</m:t>
                    </m:r>
                  </m:oMath>
                </a14:m>
                <a:r>
                  <a:rPr lang="en-US" sz="2800" dirty="0">
                    <a:solidFill>
                      <a:srgbClr val="0066FF"/>
                    </a:solidFill>
                  </a:rPr>
                  <a:t> </a:t>
                </a:r>
                <a:r>
                  <a:rPr lang="en-US" sz="2800" dirty="0" err="1">
                    <a:solidFill>
                      <a:srgbClr val="0066FF"/>
                    </a:solidFill>
                  </a:rPr>
                  <a:t>được</a:t>
                </a:r>
                <a:r>
                  <a:rPr lang="en-US" sz="2800" dirty="0">
                    <a:solidFill>
                      <a:srgbClr val="0066FF"/>
                    </a:solidFill>
                  </a:rPr>
                  <a:t> </a:t>
                </a:r>
                <a:r>
                  <a:rPr lang="en-US" sz="2800" dirty="0" err="1">
                    <a:solidFill>
                      <a:srgbClr val="0066FF"/>
                    </a:solidFill>
                  </a:rPr>
                  <a:t>gọi</a:t>
                </a:r>
                <a:r>
                  <a:rPr lang="en-US" sz="2800" dirty="0">
                    <a:solidFill>
                      <a:srgbClr val="0066FF"/>
                    </a:solidFill>
                  </a:rPr>
                  <a:t> </a:t>
                </a:r>
                <a:r>
                  <a:rPr lang="en-US" sz="2800" dirty="0" err="1">
                    <a:solidFill>
                      <a:srgbClr val="0066FF"/>
                    </a:solidFill>
                  </a:rPr>
                  <a:t>là</a:t>
                </a:r>
                <a:r>
                  <a:rPr lang="en-US" sz="2800" dirty="0">
                    <a:solidFill>
                      <a:srgbClr val="0066FF"/>
                    </a:solidFill>
                  </a:rPr>
                  <a:t> Prior Probability.</a:t>
                </a:r>
              </a:p>
              <a:p>
                <a:pPr lvl="2" algn="just"/>
                <a14:m>
                  <m:oMath xmlns:m="http://schemas.openxmlformats.org/officeDocument/2006/math">
                    <m:r>
                      <a:rPr lang="en-US" sz="2800" i="1" dirty="0" smtClean="0">
                        <a:solidFill>
                          <a:srgbClr val="FF0000"/>
                        </a:solidFill>
                        <a:latin typeface="Cambria Math" panose="02040503050406030204" pitchFamily="18" charset="0"/>
                      </a:rPr>
                      <m:t>𝑃</m:t>
                    </m:r>
                    <m:r>
                      <a:rPr lang="en-US" sz="2800" i="1" dirty="0" smtClean="0">
                        <a:solidFill>
                          <a:srgbClr val="FF0000"/>
                        </a:solidFill>
                        <a:latin typeface="Cambria Math" panose="02040503050406030204" pitchFamily="18" charset="0"/>
                      </a:rPr>
                      <m:t>(</m:t>
                    </m:r>
                    <m:r>
                      <a:rPr lang="en-US" sz="2800" i="1" dirty="0" smtClean="0">
                        <a:solidFill>
                          <a:srgbClr val="FF0000"/>
                        </a:solidFill>
                        <a:latin typeface="Cambria Math" panose="02040503050406030204" pitchFamily="18" charset="0"/>
                      </a:rPr>
                      <m:t>𝑋</m:t>
                    </m:r>
                    <m:r>
                      <a:rPr lang="en-US" sz="2800" i="1" dirty="0" smtClean="0">
                        <a:solidFill>
                          <a:srgbClr val="FF0000"/>
                        </a:solidFill>
                        <a:latin typeface="Cambria Math" panose="02040503050406030204" pitchFamily="18" charset="0"/>
                      </a:rPr>
                      <m:t>)</m:t>
                    </m:r>
                  </m:oMath>
                </a14:m>
                <a:r>
                  <a:rPr lang="en-US" sz="2800" dirty="0">
                    <a:solidFill>
                      <a:srgbClr val="FF0000"/>
                    </a:solidFill>
                  </a:rPr>
                  <a:t> đ</a:t>
                </a:r>
                <a:r>
                  <a:rPr lang="vi-VN" sz="2800" dirty="0" err="1">
                    <a:solidFill>
                      <a:srgbClr val="FF0000"/>
                    </a:solidFill>
                  </a:rPr>
                  <a:t>ược</a:t>
                </a:r>
                <a:r>
                  <a:rPr lang="vi-VN" sz="2800" dirty="0">
                    <a:solidFill>
                      <a:srgbClr val="FF0000"/>
                    </a:solidFill>
                  </a:rPr>
                  <a:t> </a:t>
                </a:r>
                <a:r>
                  <a:rPr lang="vi-VN" sz="2800" dirty="0" err="1">
                    <a:solidFill>
                      <a:srgbClr val="FF0000"/>
                    </a:solidFill>
                  </a:rPr>
                  <a:t>gọi</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Marginal</a:t>
                </a:r>
                <a:r>
                  <a:rPr lang="vi-VN" sz="2800" dirty="0">
                    <a:solidFill>
                      <a:srgbClr val="FF0000"/>
                    </a:solidFill>
                  </a:rPr>
                  <a:t> </a:t>
                </a:r>
                <a:r>
                  <a:rPr lang="vi-VN" sz="2800" dirty="0" err="1">
                    <a:solidFill>
                      <a:srgbClr val="FF0000"/>
                    </a:solidFill>
                  </a:rPr>
                  <a:t>Probability</a:t>
                </a:r>
                <a:r>
                  <a:rPr lang="vi-VN" sz="2800" dirty="0">
                    <a:solidFill>
                      <a:srgbClr val="FF0000"/>
                    </a:solidFill>
                  </a:rPr>
                  <a:t>.</a:t>
                </a:r>
              </a:p>
              <a:p>
                <a:pPr lvl="2" algn="just"/>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err="1" smtClean="0">
                        <a:solidFill>
                          <a:srgbClr val="0066FF"/>
                        </a:solidFill>
                        <a:latin typeface="Cambria Math" panose="02040503050406030204" pitchFamily="18" charset="0"/>
                      </a:rPr>
                      <m:t>𝑋</m:t>
                    </m:r>
                    <m:r>
                      <a:rPr lang="vi-VN" sz="2800" i="1" dirty="0" err="1" smtClean="0">
                        <a:solidFill>
                          <a:srgbClr val="0066FF"/>
                        </a:solidFill>
                        <a:latin typeface="Cambria Math" panose="02040503050406030204" pitchFamily="18" charset="0"/>
                      </a:rPr>
                      <m:t>|</m:t>
                    </m:r>
                    <m:r>
                      <a:rPr lang="vi-VN" sz="2800" i="1" dirty="0" err="1" smtClean="0">
                        <a:solidFill>
                          <a:srgbClr val="0066FF"/>
                        </a:solidFill>
                        <a:latin typeface="Cambria Math" panose="02040503050406030204" pitchFamily="18" charset="0"/>
                      </a:rPr>
                      <m:t>𝑦</m:t>
                    </m:r>
                    <m:r>
                      <a:rPr lang="vi-VN" sz="2800" i="1" dirty="0" smtClean="0">
                        <a:solidFill>
                          <a:srgbClr val="0066FF"/>
                        </a:solidFill>
                        <a:latin typeface="Cambria Math" panose="02040503050406030204" pitchFamily="18" charset="0"/>
                      </a:rPr>
                      <m:t>)</m:t>
                    </m:r>
                  </m:oMath>
                </a14:m>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gọi</a:t>
                </a:r>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Likelihood</a:t>
                </a:r>
                <a:r>
                  <a:rPr lang="vi-VN" sz="2800" dirty="0">
                    <a:solidFill>
                      <a:srgbClr val="0066FF"/>
                    </a:solidFill>
                  </a:rPr>
                  <a:t>.</a:t>
                </a:r>
              </a:p>
              <a:p>
                <a:pPr lvl="2"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𝑦</m:t>
                    </m:r>
                    <m:r>
                      <a:rPr lang="vi-VN" sz="2800" i="1" dirty="0" err="1"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gọi</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Posterior</a:t>
                </a:r>
                <a:r>
                  <a:rPr lang="vi-VN" sz="2800" dirty="0">
                    <a:solidFill>
                      <a:srgbClr val="FF0000"/>
                    </a:solidFill>
                  </a:rPr>
                  <a:t> </a:t>
                </a:r>
                <a:r>
                  <a:rPr lang="vi-VN" sz="2800" dirty="0" err="1">
                    <a:solidFill>
                      <a:srgbClr val="FF0000"/>
                    </a:solidFill>
                  </a:rPr>
                  <a:t>Probability</a:t>
                </a:r>
                <a:r>
                  <a:rPr lang="vi-VN" sz="2800" dirty="0">
                    <a:solidFill>
                      <a:srgbClr val="FF0000"/>
                    </a:solidFill>
                  </a:rPr>
                  <a:t>.</a:t>
                </a:r>
                <a:endParaRPr lang="en-US" sz="2800" dirty="0">
                  <a:solidFill>
                    <a:srgbClr val="FF0000"/>
                  </a:solidFill>
                </a:endParaRPr>
              </a:p>
            </p:txBody>
          </p:sp>
        </mc:Choice>
        <mc:Fallback xmlns="">
          <p:sp>
            <p:nvSpPr>
              <p:cNvPr id="6" name="Content Placeholder 5">
                <a:extLst>
                  <a:ext uri="{FF2B5EF4-FFF2-40B4-BE49-F238E27FC236}">
                    <a16:creationId xmlns:a16="http://schemas.microsoft.com/office/drawing/2014/main" id="{E12D3368-991C-43A8-AC6A-6A25450666E5}"/>
                  </a:ext>
                </a:extLst>
              </p:cNvPr>
              <p:cNvSpPr>
                <a:spLocks noGrp="1" noRot="1" noChangeAspect="1" noMove="1" noResize="1" noEditPoints="1" noAdjustHandles="1" noChangeArrowheads="1" noChangeShapeType="1" noTextEdit="1"/>
              </p:cNvSpPr>
              <p:nvPr>
                <p:ph idx="1"/>
              </p:nvPr>
            </p:nvSpPr>
            <p:spPr>
              <a:blipFill>
                <a:blip r:embed="rId2"/>
                <a:stretch>
                  <a:fillRect l="-1000" t="-1482"/>
                </a:stretch>
              </a:blipFill>
            </p:spPr>
            <p:txBody>
              <a:bodyPr/>
              <a:lstStyle/>
              <a:p>
                <a:r>
                  <a:rPr lang="vi-VN">
                    <a:noFill/>
                  </a:rPr>
                  <a:t> </a:t>
                </a:r>
              </a:p>
            </p:txBody>
          </p:sp>
        </mc:Fallback>
      </mc:AlternateContent>
    </p:spTree>
    <p:extLst>
      <p:ext uri="{BB962C8B-B14F-4D97-AF65-F5344CB8AC3E}">
        <p14:creationId xmlns:p14="http://schemas.microsoft.com/office/powerpoint/2010/main" val="179619267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err="1">
                    <a:solidFill>
                      <a:srgbClr val="0066FF"/>
                    </a:solidFill>
                  </a:rPr>
                  <a:t>Cách</a:t>
                </a:r>
                <a:r>
                  <a:rPr lang="vi-VN" sz="2800" dirty="0">
                    <a:solidFill>
                      <a:srgbClr val="0066FF"/>
                    </a:solidFill>
                  </a:rPr>
                  <a:t>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𝑦</m:t>
                    </m:r>
                    <m:r>
                      <a:rPr lang="vi-VN" sz="2800" i="1" dirty="0" smtClean="0">
                        <a:solidFill>
                          <a:srgbClr val="0066FF"/>
                        </a:solidFill>
                        <a:latin typeface="Cambria Math" panose="02040503050406030204" pitchFamily="18" charset="0"/>
                      </a:rPr>
                      <m:t>)</m:t>
                    </m:r>
                  </m:oMath>
                </a14:m>
                <a:r>
                  <a:rPr lang="vi-VN" sz="2800" dirty="0">
                    <a:solidFill>
                      <a:srgbClr val="0066FF"/>
                    </a:solidFill>
                  </a:rPr>
                  <a:t> hay </a:t>
                </a:r>
                <a:r>
                  <a:rPr lang="vi-VN" sz="2800" dirty="0" err="1">
                    <a:solidFill>
                      <a:srgbClr val="0066FF"/>
                    </a:solidFill>
                  </a:rPr>
                  <a:t>Prior</a:t>
                </a:r>
                <a:r>
                  <a:rPr lang="vi-VN" sz="2800" dirty="0">
                    <a:solidFill>
                      <a:srgbClr val="0066FF"/>
                    </a:solidFill>
                  </a:rPr>
                  <a:t> </a:t>
                </a:r>
                <a:r>
                  <a:rPr lang="vi-VN" sz="2800" dirty="0" err="1">
                    <a:solidFill>
                      <a:srgbClr val="0066FF"/>
                    </a:solidFill>
                  </a:rPr>
                  <a:t>Probability</a:t>
                </a:r>
                <a:r>
                  <a:rPr lang="vi-VN" sz="2800" dirty="0">
                    <a:solidFill>
                      <a:srgbClr val="0066FF"/>
                    </a:solidFill>
                  </a:rPr>
                  <a:t>:</a:t>
                </a:r>
                <a:endParaRPr lang="vi-VN" sz="2800" dirty="0">
                  <a:solidFill>
                    <a:srgbClr val="FF0000"/>
                  </a:solidFill>
                </a:endParaRPr>
              </a:p>
              <a:p>
                <a:pPr lvl="1"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𝑦</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một</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bất</a:t>
                </a:r>
                <a:r>
                  <a:rPr lang="vi-VN" sz="2800" dirty="0">
                    <a:solidFill>
                      <a:srgbClr val="FF0000"/>
                    </a:solidFill>
                  </a:rPr>
                  <a:t> </a:t>
                </a:r>
                <a:r>
                  <a:rPr lang="vi-VN" sz="2800" dirty="0" err="1">
                    <a:solidFill>
                      <a:srgbClr val="FF0000"/>
                    </a:solidFill>
                  </a:rPr>
                  <a:t>kỳ</a:t>
                </a:r>
                <a:r>
                  <a:rPr lang="vi-VN" sz="2800" dirty="0">
                    <a:solidFill>
                      <a:srgbClr val="FF0000"/>
                    </a:solidFill>
                  </a:rPr>
                  <a:t> rơi </a:t>
                </a:r>
                <a:r>
                  <a:rPr lang="vi-VN" sz="2800" dirty="0" err="1">
                    <a:solidFill>
                      <a:srgbClr val="FF0000"/>
                    </a:solidFill>
                  </a:rPr>
                  <a:t>vào</a:t>
                </a:r>
                <a:r>
                  <a:rPr lang="vi-VN" sz="2800" dirty="0">
                    <a:solidFill>
                      <a:srgbClr val="FF0000"/>
                    </a:solidFill>
                  </a:rPr>
                  <a:t> </a:t>
                </a:r>
                <a:r>
                  <a:rPr lang="vi-VN" sz="2800" dirty="0" err="1">
                    <a:solidFill>
                      <a:srgbClr val="FF0000"/>
                    </a:solidFill>
                  </a:rPr>
                  <a:t>lớp</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tính</a:t>
                </a:r>
                <a:r>
                  <a:rPr lang="vi-VN" sz="2800" dirty="0">
                    <a:solidFill>
                      <a:srgbClr val="FF0000"/>
                    </a:solidFill>
                  </a:rPr>
                  <a:t> </a:t>
                </a:r>
                <a:r>
                  <a:rPr lang="vi-VN" sz="2800" dirty="0" err="1">
                    <a:solidFill>
                      <a:srgbClr val="FF0000"/>
                    </a:solidFill>
                  </a:rPr>
                  <a:t>bằng</a:t>
                </a:r>
                <a:r>
                  <a:rPr lang="vi-VN" sz="2800" dirty="0">
                    <a:solidFill>
                      <a:srgbClr val="FF0000"/>
                    </a:solidFill>
                  </a:rPr>
                  <a:t> công </a:t>
                </a:r>
                <a:r>
                  <a:rPr lang="vi-VN" sz="2800" dirty="0" err="1">
                    <a:solidFill>
                      <a:srgbClr val="FF0000"/>
                    </a:solidFill>
                  </a:rPr>
                  <a:t>thức</a:t>
                </a:r>
                <a:r>
                  <a:rPr lang="vi-VN" sz="2800" dirty="0">
                    <a:solidFill>
                      <a:srgbClr val="FF0000"/>
                    </a:solidFill>
                  </a:rPr>
                  <a:t>:</a:t>
                </a:r>
              </a:p>
              <a:p>
                <a:pPr marL="914400" lvl="2" indent="0" algn="just">
                  <a:buNone/>
                </a:pPr>
                <a14:m>
                  <m:oMathPara xmlns:m="http://schemas.openxmlformats.org/officeDocument/2006/math">
                    <m:oMathParaPr>
                      <m:jc m:val="centerGroup"/>
                    </m:oMathParaPr>
                    <m:oMath xmlns:m="http://schemas.openxmlformats.org/officeDocument/2006/math">
                      <m:r>
                        <a:rPr lang="vi-VN" sz="2800" b="0" i="1" smtClean="0">
                          <a:solidFill>
                            <a:srgbClr val="0066FF"/>
                          </a:solidFill>
                          <a:latin typeface="Cambria Math" panose="02040503050406030204" pitchFamily="18" charset="0"/>
                        </a:rPr>
                        <m:t>𝑃</m:t>
                      </m:r>
                      <m:d>
                        <m:dPr>
                          <m:ctrlPr>
                            <a:rPr lang="vi-VN" sz="2800" b="0" i="1" smtClean="0">
                              <a:solidFill>
                                <a:srgbClr val="0066FF"/>
                              </a:solidFill>
                              <a:latin typeface="Cambria Math" panose="02040503050406030204" pitchFamily="18" charset="0"/>
                            </a:rPr>
                          </m:ctrlPr>
                        </m:dPr>
                        <m:e>
                          <m:r>
                            <a:rPr lang="vi-VN" sz="2800" b="0" i="1" smtClean="0">
                              <a:solidFill>
                                <a:srgbClr val="0066FF"/>
                              </a:solidFill>
                              <a:latin typeface="Cambria Math" panose="02040503050406030204" pitchFamily="18" charset="0"/>
                            </a:rPr>
                            <m:t>𝑦</m:t>
                          </m:r>
                        </m:e>
                      </m:d>
                      <m:r>
                        <a:rPr lang="vi-VN" sz="2800" b="0" i="1" smtClean="0">
                          <a:solidFill>
                            <a:srgbClr val="0066FF"/>
                          </a:solidFill>
                          <a:latin typeface="Cambria Math" panose="02040503050406030204" pitchFamily="18" charset="0"/>
                        </a:rPr>
                        <m:t>=</m:t>
                      </m:r>
                      <m:f>
                        <m:fPr>
                          <m:ctrlPr>
                            <a:rPr lang="vi-VN" sz="2800" b="0" i="1" smtClean="0">
                              <a:solidFill>
                                <a:srgbClr val="0066FF"/>
                              </a:solidFill>
                              <a:latin typeface="Cambria Math" panose="02040503050406030204" pitchFamily="18" charset="0"/>
                            </a:rPr>
                          </m:ctrlPr>
                        </m:fPr>
                        <m:num>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ượ</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d</m:t>
                          </m:r>
                          <m:r>
                            <a:rPr lang="vi-VN" sz="2800" b="0" i="0" smtClean="0">
                              <a:solidFill>
                                <a:srgbClr val="0066FF"/>
                              </a:solidFill>
                              <a:latin typeface="Cambria Math" panose="02040503050406030204" pitchFamily="18" charset="0"/>
                            </a:rPr>
                            <m:t>ữ </m:t>
                          </m:r>
                          <m:r>
                            <m:rPr>
                              <m:sty m:val="p"/>
                            </m:rPr>
                            <a:rPr lang="vi-VN" sz="2800" b="0" i="0" smtClean="0">
                              <a:solidFill>
                                <a:srgbClr val="0066FF"/>
                              </a:solidFill>
                              <a:latin typeface="Cambria Math" panose="02040503050406030204" pitchFamily="18" charset="0"/>
                            </a:rPr>
                            <m:t>li</m:t>
                          </m:r>
                          <m:r>
                            <a:rPr lang="vi-VN" sz="2800" b="0" i="0" smtClean="0">
                              <a:solidFill>
                                <a:srgbClr val="0066FF"/>
                              </a:solidFill>
                              <a:latin typeface="Cambria Math" panose="02040503050406030204" pitchFamily="18" charset="0"/>
                            </a:rPr>
                            <m:t>ệ</m:t>
                          </m:r>
                          <m:r>
                            <m:rPr>
                              <m:sty m:val="p"/>
                            </m:rPr>
                            <a:rPr lang="vi-VN" sz="2800" b="0" i="0" smtClean="0">
                              <a:solidFill>
                                <a:srgbClr val="0066FF"/>
                              </a:solidFill>
                              <a:latin typeface="Cambria Math" panose="02040503050406030204" pitchFamily="18" charset="0"/>
                            </a:rPr>
                            <m:t>u</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thu</m:t>
                          </m:r>
                          <m:r>
                            <a:rPr lang="vi-VN" sz="2800" b="0" i="0" smtClean="0">
                              <a:solidFill>
                                <a:srgbClr val="0066FF"/>
                              </a:solidFill>
                              <a:latin typeface="Cambria Math" panose="02040503050406030204" pitchFamily="18" charset="0"/>
                            </a:rPr>
                            <m:t>ộ</m:t>
                          </m:r>
                          <m:r>
                            <m:rPr>
                              <m:sty m:val="p"/>
                            </m:rPr>
                            <a:rPr lang="vi-VN" sz="2800" b="0" i="0" smtClean="0">
                              <a:solidFill>
                                <a:srgbClr val="0066FF"/>
                              </a:solidFill>
                              <a:latin typeface="Cambria Math" panose="02040503050406030204" pitchFamily="18" charset="0"/>
                            </a:rPr>
                            <m:t>c</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ớ</m:t>
                          </m:r>
                          <m:r>
                            <m:rPr>
                              <m:sty m:val="p"/>
                            </m:rPr>
                            <a:rPr lang="vi-VN" sz="2800" b="0" i="0" smtClean="0">
                              <a:solidFill>
                                <a:srgbClr val="0066FF"/>
                              </a:solidFill>
                              <a:latin typeface="Cambria Math" panose="02040503050406030204" pitchFamily="18" charset="0"/>
                            </a:rPr>
                            <m:t>p</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y</m:t>
                          </m:r>
                        </m:num>
                        <m:den>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ổ</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ượ</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d</m:t>
                          </m:r>
                          <m:r>
                            <a:rPr lang="vi-VN" sz="2800" b="0" i="0" smtClean="0">
                              <a:solidFill>
                                <a:srgbClr val="0066FF"/>
                              </a:solidFill>
                              <a:latin typeface="Cambria Math" panose="02040503050406030204" pitchFamily="18" charset="0"/>
                            </a:rPr>
                            <m:t>ữ </m:t>
                          </m:r>
                          <m:r>
                            <m:rPr>
                              <m:sty m:val="p"/>
                            </m:rPr>
                            <a:rPr lang="vi-VN" sz="2800" b="0" i="0" smtClean="0">
                              <a:solidFill>
                                <a:srgbClr val="0066FF"/>
                              </a:solidFill>
                              <a:latin typeface="Cambria Math" panose="02040503050406030204" pitchFamily="18" charset="0"/>
                            </a:rPr>
                            <m:t>li</m:t>
                          </m:r>
                          <m:r>
                            <a:rPr lang="vi-VN" sz="2800" b="0" i="0" smtClean="0">
                              <a:solidFill>
                                <a:srgbClr val="0066FF"/>
                              </a:solidFill>
                              <a:latin typeface="Cambria Math" panose="02040503050406030204" pitchFamily="18" charset="0"/>
                            </a:rPr>
                            <m:t>ệ</m:t>
                          </m:r>
                          <m:r>
                            <m:rPr>
                              <m:sty m:val="p"/>
                            </m:rPr>
                            <a:rPr lang="vi-VN" sz="2800" b="0" i="0" smtClean="0">
                              <a:solidFill>
                                <a:srgbClr val="0066FF"/>
                              </a:solidFill>
                              <a:latin typeface="Cambria Math" panose="02040503050406030204" pitchFamily="18" charset="0"/>
                            </a:rPr>
                            <m:t>u</m:t>
                          </m:r>
                        </m:den>
                      </m:f>
                    </m:oMath>
                  </m:oMathPara>
                </a14:m>
                <a:endParaRPr lang="vi-VN" sz="2800" b="0" dirty="0">
                  <a:solidFill>
                    <a:srgbClr val="0066FF"/>
                  </a:solidFill>
                </a:endParaRP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375520872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sz="half" idx="1"/>
              </p:nvPr>
            </p:nvSpPr>
            <p:spPr/>
            <p:txBody>
              <a:bodyPr/>
              <a:lstStyle/>
              <a:p>
                <a:pPr algn="just"/>
                <a:r>
                  <a:rPr lang="vi-VN" sz="2800" dirty="0">
                    <a:solidFill>
                      <a:srgbClr val="0066FF"/>
                    </a:solidFill>
                  </a:rPr>
                  <a:t>Ví </a:t>
                </a:r>
                <a:r>
                  <a:rPr lang="vi-VN" sz="2800" dirty="0" err="1">
                    <a:solidFill>
                      <a:srgbClr val="0066FF"/>
                    </a:solidFill>
                  </a:rPr>
                  <a:t>dụ</a:t>
                </a:r>
                <a:r>
                  <a:rPr lang="vi-VN" sz="2800" dirty="0">
                    <a:solidFill>
                      <a:srgbClr val="0066FF"/>
                    </a:solidFill>
                  </a:rPr>
                  <a:t>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𝑦</m:t>
                    </m:r>
                    <m:r>
                      <a:rPr lang="vi-VN" sz="2800" i="1" dirty="0" smtClean="0">
                        <a:solidFill>
                          <a:srgbClr val="0066FF"/>
                        </a:solidFill>
                        <a:latin typeface="Cambria Math" panose="02040503050406030204" pitchFamily="18" charset="0"/>
                      </a:rPr>
                      <m:t>=</m:t>
                    </m:r>
                    <m:r>
                      <a:rPr lang="vi-VN" sz="2800" i="1" dirty="0" err="1" smtClean="0">
                        <a:solidFill>
                          <a:srgbClr val="0066FF"/>
                        </a:solidFill>
                        <a:latin typeface="Cambria Math" panose="02040503050406030204" pitchFamily="18" charset="0"/>
                      </a:rPr>
                      <m:t>𝑊𝑎𝑙𝑘</m:t>
                    </m:r>
                    <m:r>
                      <a:rPr lang="vi-VN" sz="2800" i="1" dirty="0" smtClean="0">
                        <a:solidFill>
                          <a:srgbClr val="0066FF"/>
                        </a:solidFill>
                        <a:latin typeface="Cambria Math" panose="02040503050406030204" pitchFamily="18" charset="0"/>
                      </a:rPr>
                      <m:t>)</m:t>
                    </m:r>
                  </m:oMath>
                </a14:m>
                <a:r>
                  <a:rPr lang="vi-VN" sz="2800" dirty="0">
                    <a:solidFill>
                      <a:srgbClr val="0066FF"/>
                    </a:solidFill>
                  </a:rPr>
                  <a:t>:</a:t>
                </a:r>
              </a:p>
              <a:p>
                <a:pPr lvl="1" algn="just"/>
                <a:r>
                  <a:rPr lang="vi-VN" sz="2800" dirty="0">
                    <a:solidFill>
                      <a:srgbClr val="FF0000"/>
                    </a:solidFill>
                  </a:rPr>
                  <a:t>Số </a:t>
                </a:r>
                <a:r>
                  <a:rPr lang="vi-VN" sz="2800" dirty="0" err="1">
                    <a:solidFill>
                      <a:srgbClr val="FF0000"/>
                    </a:solidFill>
                  </a:rPr>
                  <a:t>lượng</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thuộc</a:t>
                </a:r>
                <a:r>
                  <a:rPr lang="vi-VN" sz="2800" dirty="0">
                    <a:solidFill>
                      <a:srgbClr val="FF0000"/>
                    </a:solidFill>
                  </a:rPr>
                  <a:t> </a:t>
                </a:r>
                <a:r>
                  <a:rPr lang="vi-VN" sz="2800" dirty="0" err="1">
                    <a:solidFill>
                      <a:srgbClr val="FF0000"/>
                    </a:solidFill>
                  </a:rPr>
                  <a:t>lớp</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r>
                      <a:rPr lang="vi-VN" sz="2800" i="1" dirty="0"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𝑊𝑎𝑙𝑘</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10</m:t>
                    </m:r>
                  </m:oMath>
                </a14:m>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đỏ</a:t>
                </a:r>
                <a:r>
                  <a:rPr lang="vi-VN" sz="2800" dirty="0">
                    <a:solidFill>
                      <a:srgbClr val="FF0000"/>
                    </a:solidFill>
                  </a:rPr>
                  <a:t>).</a:t>
                </a:r>
              </a:p>
              <a:p>
                <a:pPr lvl="1" algn="just"/>
                <a:r>
                  <a:rPr lang="vi-VN" sz="2800" dirty="0" err="1">
                    <a:solidFill>
                      <a:srgbClr val="0066FF"/>
                    </a:solidFill>
                  </a:rPr>
                  <a:t>Tổng</a:t>
                </a:r>
                <a:r>
                  <a:rPr lang="vi-VN" sz="2800" dirty="0">
                    <a:solidFill>
                      <a:srgbClr val="0066FF"/>
                    </a:solidFill>
                  </a:rPr>
                  <a:t> </a:t>
                </a:r>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31</m:t>
                    </m:r>
                  </m:oMath>
                </a14:m>
                <a:r>
                  <a:rPr lang="vi-VN" sz="2800" dirty="0">
                    <a:solidFill>
                      <a:srgbClr val="0066FF"/>
                    </a:solidFill>
                  </a:rPr>
                  <a:t> (</a:t>
                </a:r>
                <a:r>
                  <a:rPr lang="vi-VN" sz="2800" dirty="0" err="1">
                    <a:solidFill>
                      <a:srgbClr val="0066FF"/>
                    </a:solidFill>
                  </a:rPr>
                  <a:t>tổng</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màu</a:t>
                </a:r>
                <a:r>
                  <a:rPr lang="vi-VN" sz="2800" dirty="0">
                    <a:solidFill>
                      <a:srgbClr val="0066FF"/>
                    </a:solidFill>
                  </a:rPr>
                  <a:t> xanh </a:t>
                </a:r>
                <a:r>
                  <a:rPr lang="vi-VN" sz="2800" dirty="0" err="1">
                    <a:solidFill>
                      <a:srgbClr val="0066FF"/>
                    </a:solidFill>
                  </a:rPr>
                  <a:t>và</a:t>
                </a:r>
                <a:r>
                  <a:rPr lang="vi-VN" sz="2800" dirty="0">
                    <a:solidFill>
                      <a:srgbClr val="0066FF"/>
                    </a:solidFill>
                  </a:rPr>
                  <a:t> </a:t>
                </a:r>
                <a:r>
                  <a:rPr lang="vi-VN" sz="2800" dirty="0" err="1">
                    <a:solidFill>
                      <a:srgbClr val="0066FF"/>
                    </a:solidFill>
                  </a:rPr>
                  <a:t>đỏ</a:t>
                </a:r>
                <a:r>
                  <a:rPr lang="vi-VN" sz="2800" dirty="0">
                    <a:solidFill>
                      <a:srgbClr val="0066FF"/>
                    </a:solidFill>
                  </a:rPr>
                  <a:t>).</a:t>
                </a:r>
              </a:p>
              <a:p>
                <a:pPr lvl="1"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𝑦</m:t>
                    </m:r>
                    <m:r>
                      <a:rPr lang="vi-VN" sz="2800" i="1" dirty="0" smtClean="0">
                        <a:solidFill>
                          <a:srgbClr val="FF0000"/>
                        </a:solidFill>
                        <a:latin typeface="Cambria Math" panose="02040503050406030204" pitchFamily="18" charset="0"/>
                      </a:rPr>
                      <m:t>)=10/31</m:t>
                    </m:r>
                  </m:oMath>
                </a14:m>
                <a:r>
                  <a:rPr lang="vi-VN" sz="2800" dirty="0">
                    <a:solidFill>
                      <a:srgbClr val="FF0000"/>
                    </a:solidFill>
                  </a:rPr>
                  <a:t>.</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a:stretch>
              </a:blipFill>
            </p:spPr>
            <p:txBody>
              <a:bodyPr/>
              <a:lstStyle/>
              <a:p>
                <a:r>
                  <a:rPr lang="vi-VN">
                    <a:noFill/>
                  </a:rPr>
                  <a:t> </a:t>
                </a:r>
              </a:p>
            </p:txBody>
          </p:sp>
        </mc:Fallback>
      </mc:AlternateContent>
      <p:pic>
        <p:nvPicPr>
          <p:cNvPr id="6" name="Content Placeholder 2">
            <a:extLst>
              <a:ext uri="{FF2B5EF4-FFF2-40B4-BE49-F238E27FC236}">
                <a16:creationId xmlns:a16="http://schemas.microsoft.com/office/drawing/2014/main" id="{681CD789-0ECF-4A7F-95E7-D46050AC9197}"/>
              </a:ext>
            </a:extLst>
          </p:cNvPr>
          <p:cNvPicPr>
            <a:picLocks noGrp="1" noChangeAspect="1"/>
          </p:cNvPicPr>
          <p:nvPr>
            <p:ph sz="half" idx="2"/>
          </p:nvPr>
        </p:nvPicPr>
        <p:blipFill>
          <a:blip r:embed="rId3"/>
          <a:stretch>
            <a:fillRect/>
          </a:stretch>
        </p:blipFill>
        <p:spPr bwMode="auto">
          <a:xfrm>
            <a:off x="6197600" y="2411782"/>
            <a:ext cx="5384800" cy="290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841420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a:solidFill>
                      <a:srgbClr val="0066FF"/>
                    </a:solidFill>
                  </a:rPr>
                  <a:t>Cách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𝑋</m:t>
                    </m:r>
                    <m:r>
                      <a:rPr lang="vi-VN" sz="2800" i="1" dirty="0" smtClean="0">
                        <a:solidFill>
                          <a:srgbClr val="0066FF"/>
                        </a:solidFill>
                        <a:latin typeface="Cambria Math" panose="02040503050406030204" pitchFamily="18" charset="0"/>
                      </a:rPr>
                      <m:t>)</m:t>
                    </m:r>
                  </m:oMath>
                </a14:m>
                <a:r>
                  <a:rPr lang="vi-VN" sz="2800" dirty="0">
                    <a:solidFill>
                      <a:srgbClr val="0066FF"/>
                    </a:solidFill>
                  </a:rPr>
                  <a:t> hay </a:t>
                </a:r>
                <a:r>
                  <a:rPr lang="vi-VN" sz="2800" dirty="0" err="1">
                    <a:solidFill>
                      <a:srgbClr val="0066FF"/>
                    </a:solidFill>
                  </a:rPr>
                  <a:t>Marginal</a:t>
                </a:r>
                <a:r>
                  <a:rPr lang="vi-VN" sz="2800" dirty="0">
                    <a:solidFill>
                      <a:srgbClr val="0066FF"/>
                    </a:solidFill>
                  </a:rPr>
                  <a:t> </a:t>
                </a:r>
                <a:r>
                  <a:rPr lang="vi-VN" sz="2800" dirty="0" err="1">
                    <a:solidFill>
                      <a:srgbClr val="0066FF"/>
                    </a:solidFill>
                  </a:rPr>
                  <a:t>Probability</a:t>
                </a:r>
                <a:r>
                  <a:rPr lang="vi-VN" sz="2800" dirty="0">
                    <a:solidFill>
                      <a:srgbClr val="0066FF"/>
                    </a:solidFill>
                  </a:rPr>
                  <a:t>:</a:t>
                </a:r>
              </a:p>
              <a:p>
                <a:pPr lvl="1"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lấy</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điểm</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𝑋</m:t>
                    </m:r>
                  </m:oMath>
                </a14:m>
                <a:r>
                  <a:rPr lang="vi-VN" sz="2800" dirty="0">
                    <a:solidFill>
                      <a:srgbClr val="FF0000"/>
                    </a:solidFill>
                  </a:rPr>
                  <a:t> trong </a:t>
                </a:r>
                <a:r>
                  <a:rPr lang="vi-VN" sz="2800" dirty="0" err="1">
                    <a:solidFill>
                      <a:srgbClr val="FF0000"/>
                    </a:solidFill>
                  </a:rPr>
                  <a:t>tập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lvl="1" algn="just"/>
                <a:r>
                  <a:rPr lang="vi-VN" sz="2800" dirty="0" err="1">
                    <a:solidFill>
                      <a:srgbClr val="0066FF"/>
                    </a:solidFill>
                  </a:rPr>
                  <a:t>Để</a:t>
                </a:r>
                <a:r>
                  <a:rPr lang="vi-VN" sz="2800" dirty="0">
                    <a:solidFill>
                      <a:srgbClr val="0066FF"/>
                    </a:solidFill>
                  </a:rPr>
                  <a:t> </a:t>
                </a:r>
                <a:r>
                  <a:rPr lang="vi-VN" sz="2800" dirty="0" err="1">
                    <a:solidFill>
                      <a:srgbClr val="0066FF"/>
                    </a:solidFill>
                  </a:rPr>
                  <a:t>tìm</a:t>
                </a:r>
                <a:r>
                  <a:rPr lang="vi-VN" sz="2800" dirty="0">
                    <a:solidFill>
                      <a:srgbClr val="0066FF"/>
                    </a:solidFill>
                  </a:rPr>
                  <a:t> </a:t>
                </a:r>
                <a:r>
                  <a:rPr lang="vi-VN" sz="2800" dirty="0" err="1">
                    <a:solidFill>
                      <a:srgbClr val="0066FF"/>
                    </a:solidFill>
                  </a:rPr>
                  <a:t>được</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𝑋</m:t>
                    </m:r>
                    <m:r>
                      <a:rPr lang="vi-VN" sz="2800" i="1" dirty="0" smtClean="0">
                        <a:solidFill>
                          <a:srgbClr val="0066FF"/>
                        </a:solidFill>
                        <a:latin typeface="Cambria Math" panose="02040503050406030204" pitchFamily="18" charset="0"/>
                      </a:rPr>
                      <m:t>)</m:t>
                    </m:r>
                  </m:oMath>
                </a14:m>
                <a:r>
                  <a:rPr lang="vi-VN" sz="2800" dirty="0">
                    <a:solidFill>
                      <a:srgbClr val="0066FF"/>
                    </a:solidFill>
                  </a:rPr>
                  <a:t>, ta </a:t>
                </a:r>
                <a:r>
                  <a:rPr lang="vi-VN" sz="2800" dirty="0" err="1">
                    <a:solidFill>
                      <a:srgbClr val="0066FF"/>
                    </a:solidFill>
                  </a:rPr>
                  <a:t>cần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rất</a:t>
                </a:r>
                <a:r>
                  <a:rPr lang="vi-VN" sz="2800" dirty="0">
                    <a:solidFill>
                      <a:srgbClr val="0066FF"/>
                    </a:solidFill>
                  </a:rPr>
                  <a:t> </a:t>
                </a:r>
                <a:r>
                  <a:rPr lang="vi-VN" sz="2800" dirty="0" err="1">
                    <a:solidFill>
                      <a:srgbClr val="0066FF"/>
                    </a:solidFill>
                  </a:rPr>
                  <a:t>nhiều</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trong </a:t>
                </a:r>
                <a:r>
                  <a:rPr lang="vi-VN" sz="2800" dirty="0" err="1">
                    <a:solidFill>
                      <a:srgbClr val="0066FF"/>
                    </a:solidFill>
                  </a:rPr>
                  <a:t>tập</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để</a:t>
                </a:r>
                <a:r>
                  <a:rPr lang="vi-VN" sz="2800" dirty="0">
                    <a:solidFill>
                      <a:srgbClr val="0066FF"/>
                    </a:solidFill>
                  </a:rPr>
                  <a:t> </a:t>
                </a:r>
                <a:r>
                  <a:rPr lang="vi-VN" sz="2800" dirty="0" err="1">
                    <a:solidFill>
                      <a:srgbClr val="0066FF"/>
                    </a:solidFill>
                  </a:rPr>
                  <a:t>xác</a:t>
                </a:r>
                <a:r>
                  <a:rPr lang="vi-VN" sz="2800" dirty="0">
                    <a:solidFill>
                      <a:srgbClr val="0066FF"/>
                    </a:solidFill>
                  </a:rPr>
                  <a:t> </a:t>
                </a:r>
                <a:r>
                  <a:rPr lang="vi-VN" sz="2800" dirty="0" err="1">
                    <a:solidFill>
                      <a:srgbClr val="0066FF"/>
                    </a:solidFill>
                  </a:rPr>
                  <a:t>định</a:t>
                </a:r>
                <a:r>
                  <a:rPr lang="vi-VN" sz="2800" dirty="0">
                    <a:solidFill>
                      <a:srgbClr val="0066FF"/>
                    </a:solidFill>
                  </a:rPr>
                  <a:t> phân </a:t>
                </a:r>
                <a:r>
                  <a:rPr lang="vi-VN" sz="2800" dirty="0" err="1">
                    <a:solidFill>
                      <a:srgbClr val="0066FF"/>
                    </a:solidFill>
                  </a:rPr>
                  <a:t>phối</a:t>
                </a:r>
                <a:r>
                  <a:rPr lang="vi-VN" sz="2800" dirty="0">
                    <a:solidFill>
                      <a:srgbClr val="0066FF"/>
                    </a:solidFill>
                  </a:rPr>
                  <a:t> </a:t>
                </a:r>
                <a:r>
                  <a:rPr lang="vi-VN" sz="2800" dirty="0" err="1">
                    <a:solidFill>
                      <a:srgbClr val="0066FF"/>
                    </a:solidFill>
                  </a:rPr>
                  <a:t>của</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𝑋</m:t>
                    </m:r>
                  </m:oMath>
                </a14:m>
                <a:r>
                  <a:rPr lang="vi-VN" sz="2800" dirty="0">
                    <a:solidFill>
                      <a:srgbClr val="0066FF"/>
                    </a:solidFill>
                  </a:rPr>
                  <a:t>.</a:t>
                </a:r>
              </a:p>
              <a:p>
                <a:pPr lvl="1" algn="just"/>
                <a:r>
                  <a:rPr lang="vi-VN" sz="2800" dirty="0">
                    <a:solidFill>
                      <a:srgbClr val="FF0000"/>
                    </a:solidFill>
                  </a:rPr>
                  <a:t>Trong </a:t>
                </a:r>
                <a:r>
                  <a:rPr lang="vi-VN" sz="2800" dirty="0" err="1">
                    <a:solidFill>
                      <a:srgbClr val="FF0000"/>
                    </a:solidFill>
                  </a:rPr>
                  <a:t>Naive</a:t>
                </a:r>
                <a:r>
                  <a:rPr lang="vi-VN" sz="2800" dirty="0">
                    <a:solidFill>
                      <a:srgbClr val="FF0000"/>
                    </a:solidFill>
                  </a:rPr>
                  <a:t> </a:t>
                </a:r>
                <a:r>
                  <a:rPr lang="vi-VN" sz="2800" dirty="0" err="1">
                    <a:solidFill>
                      <a:srgbClr val="FF0000"/>
                    </a:solidFill>
                  </a:rPr>
                  <a:t>Bayes</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định</a:t>
                </a:r>
                <a:r>
                  <a:rPr lang="vi-VN" sz="2800" dirty="0">
                    <a:solidFill>
                      <a:srgbClr val="FF0000"/>
                    </a:solidFill>
                  </a:rPr>
                  <a:t> </a:t>
                </a:r>
                <a:r>
                  <a:rPr lang="vi-VN" sz="2800" dirty="0" err="1">
                    <a:solidFill>
                      <a:srgbClr val="FF0000"/>
                    </a:solidFill>
                  </a:rPr>
                  <a:t>nghĩa</a:t>
                </a:r>
                <a:r>
                  <a:rPr lang="vi-VN" sz="2800" dirty="0">
                    <a:solidFill>
                      <a:srgbClr val="FF0000"/>
                    </a:solidFill>
                  </a:rPr>
                  <a:t> </a:t>
                </a:r>
                <a:r>
                  <a:rPr lang="vi-VN" sz="2800" dirty="0" err="1">
                    <a:solidFill>
                      <a:srgbClr val="FF0000"/>
                    </a:solidFill>
                  </a:rPr>
                  <a:t>lại</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lấy</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một</a:t>
                </a:r>
                <a:r>
                  <a:rPr lang="vi-VN" sz="2800" dirty="0">
                    <a:solidFill>
                      <a:srgbClr val="FF0000"/>
                    </a:solidFill>
                  </a:rPr>
                  <a:t> </a:t>
                </a:r>
                <a:r>
                  <a:rPr lang="vi-VN" sz="2800" dirty="0" err="1">
                    <a:solidFill>
                      <a:srgbClr val="FF0000"/>
                    </a:solidFill>
                  </a:rPr>
                  <a:t>điểm</a:t>
                </a:r>
                <a:r>
                  <a:rPr lang="vi-VN" sz="2800" dirty="0">
                    <a:solidFill>
                      <a:srgbClr val="FF0000"/>
                    </a:solidFill>
                  </a:rPr>
                  <a:t> tương </a:t>
                </a:r>
                <a:r>
                  <a:rPr lang="vi-VN" sz="2800" dirty="0" err="1">
                    <a:solidFill>
                      <a:srgbClr val="FF0000"/>
                    </a:solidFill>
                  </a:rPr>
                  <a:t>tự</a:t>
                </a:r>
                <a:r>
                  <a:rPr lang="vi-VN" sz="2800" dirty="0">
                    <a:solidFill>
                      <a:srgbClr val="FF0000"/>
                    </a:solidFill>
                  </a:rPr>
                  <a:t> </a:t>
                </a:r>
                <a:r>
                  <a:rPr lang="vi-VN" sz="2800" dirty="0" err="1">
                    <a:solidFill>
                      <a:srgbClr val="FF0000"/>
                    </a:solidFill>
                  </a:rPr>
                  <a:t>với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𝑋</m:t>
                    </m:r>
                  </m:oMath>
                </a14:m>
                <a:r>
                  <a:rPr lang="vi-VN" sz="2800" dirty="0">
                    <a:solidFill>
                      <a:srgbClr val="FF0000"/>
                    </a:solidFill>
                  </a:rPr>
                  <a:t> trong </a:t>
                </a:r>
                <a:r>
                  <a:rPr lang="vi-VN" sz="2800" dirty="0" err="1">
                    <a:solidFill>
                      <a:srgbClr val="FF0000"/>
                    </a:solidFill>
                  </a:rPr>
                  <a:t>tập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Khi </a:t>
                </a:r>
                <a:r>
                  <a:rPr lang="vi-VN" sz="2800" dirty="0" err="1">
                    <a:solidFill>
                      <a:srgbClr val="FF0000"/>
                    </a:solidFill>
                  </a:rPr>
                  <a:t>đó</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này</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thể</a:t>
                </a:r>
                <a:r>
                  <a:rPr lang="vi-VN" sz="2800" dirty="0">
                    <a:solidFill>
                      <a:srgbClr val="FF0000"/>
                    </a:solidFill>
                  </a:rPr>
                  <a:t> </a:t>
                </a:r>
                <a:r>
                  <a:rPr lang="vi-VN" sz="2800" dirty="0" err="1">
                    <a:solidFill>
                      <a:srgbClr val="FF0000"/>
                    </a:solidFill>
                  </a:rPr>
                  <a:t>tính</a:t>
                </a:r>
                <a:r>
                  <a:rPr lang="vi-VN" sz="2800" dirty="0">
                    <a:solidFill>
                      <a:srgbClr val="FF0000"/>
                    </a:solidFill>
                  </a:rPr>
                  <a:t> </a:t>
                </a:r>
                <a:r>
                  <a:rPr lang="vi-VN" sz="2800" dirty="0" err="1">
                    <a:solidFill>
                      <a:srgbClr val="FF0000"/>
                    </a:solidFill>
                  </a:rPr>
                  <a:t>bằng</a:t>
                </a:r>
                <a:r>
                  <a:rPr lang="vi-VN" sz="2800" dirty="0">
                    <a:solidFill>
                      <a:srgbClr val="FF0000"/>
                    </a:solidFill>
                  </a:rPr>
                  <a:t> phương </a:t>
                </a:r>
                <a:r>
                  <a:rPr lang="vi-VN" sz="2800" dirty="0" err="1">
                    <a:solidFill>
                      <a:srgbClr val="FF0000"/>
                    </a:solidFill>
                  </a:rPr>
                  <a:t>pháp</a:t>
                </a:r>
                <a:r>
                  <a:rPr lang="vi-VN" sz="2800" dirty="0">
                    <a:solidFill>
                      <a:srgbClr val="FF0000"/>
                    </a:solidFill>
                  </a:rPr>
                  <a:t> </a:t>
                </a:r>
                <a:r>
                  <a:rPr lang="vi-VN" sz="2800" dirty="0" err="1">
                    <a:solidFill>
                      <a:srgbClr val="FF0000"/>
                    </a:solidFill>
                  </a:rPr>
                  <a:t>thống</a:t>
                </a:r>
                <a:r>
                  <a:rPr lang="vi-VN" sz="2800" dirty="0">
                    <a:solidFill>
                      <a:srgbClr val="FF0000"/>
                    </a:solidFill>
                  </a:rPr>
                  <a:t> kê như sau:</a:t>
                </a:r>
              </a:p>
              <a:p>
                <a:pPr marL="914400" lvl="2" indent="0" algn="just">
                  <a:buNone/>
                </a:pPr>
                <a14:m>
                  <m:oMathPara xmlns:m="http://schemas.openxmlformats.org/officeDocument/2006/math">
                    <m:oMathParaPr>
                      <m:jc m:val="centerGroup"/>
                    </m:oMathParaPr>
                    <m:oMath xmlns:m="http://schemas.openxmlformats.org/officeDocument/2006/math">
                      <m:r>
                        <a:rPr lang="vi-VN" sz="2800" b="0" i="1" smtClean="0">
                          <a:solidFill>
                            <a:srgbClr val="0066FF"/>
                          </a:solidFill>
                          <a:latin typeface="Cambria Math" panose="02040503050406030204" pitchFamily="18" charset="0"/>
                        </a:rPr>
                        <m:t>𝑃</m:t>
                      </m:r>
                      <m:d>
                        <m:dPr>
                          <m:ctrlPr>
                            <a:rPr lang="vi-VN" sz="2800" b="0" i="1" smtClean="0">
                              <a:solidFill>
                                <a:srgbClr val="0066FF"/>
                              </a:solidFill>
                              <a:latin typeface="Cambria Math" panose="02040503050406030204" pitchFamily="18" charset="0"/>
                            </a:rPr>
                          </m:ctrlPr>
                        </m:dPr>
                        <m:e>
                          <m:r>
                            <a:rPr lang="vi-VN" sz="2800" b="0" i="1" smtClean="0">
                              <a:solidFill>
                                <a:srgbClr val="0066FF"/>
                              </a:solidFill>
                              <a:latin typeface="Cambria Math" panose="02040503050406030204" pitchFamily="18" charset="0"/>
                            </a:rPr>
                            <m:t>𝑋</m:t>
                          </m:r>
                        </m:e>
                      </m:d>
                      <m:r>
                        <a:rPr lang="vi-VN" sz="2800" b="0" i="1" smtClean="0">
                          <a:solidFill>
                            <a:srgbClr val="0066FF"/>
                          </a:solidFill>
                          <a:latin typeface="Cambria Math" panose="02040503050406030204" pitchFamily="18" charset="0"/>
                        </a:rPr>
                        <m:t>=</m:t>
                      </m:r>
                      <m:f>
                        <m:fPr>
                          <m:ctrlPr>
                            <a:rPr lang="vi-VN" sz="2800" b="0" i="1" smtClean="0">
                              <a:solidFill>
                                <a:srgbClr val="0066FF"/>
                              </a:solidFill>
                              <a:latin typeface="Cambria Math" panose="02040503050406030204" pitchFamily="18" charset="0"/>
                            </a:rPr>
                          </m:ctrlPr>
                        </m:fPr>
                        <m:num>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ượ</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d</m:t>
                          </m:r>
                          <m:r>
                            <a:rPr lang="vi-VN" sz="2800" b="0" i="0" smtClean="0">
                              <a:solidFill>
                                <a:srgbClr val="0066FF"/>
                              </a:solidFill>
                              <a:latin typeface="Cambria Math" panose="02040503050406030204" pitchFamily="18" charset="0"/>
                            </a:rPr>
                            <m:t>ữ </m:t>
                          </m:r>
                          <m:r>
                            <m:rPr>
                              <m:sty m:val="p"/>
                            </m:rPr>
                            <a:rPr lang="vi-VN" sz="2800" b="0" i="0" smtClean="0">
                              <a:solidFill>
                                <a:srgbClr val="0066FF"/>
                              </a:solidFill>
                              <a:latin typeface="Cambria Math" panose="02040503050406030204" pitchFamily="18" charset="0"/>
                            </a:rPr>
                            <m:t>li</m:t>
                          </m:r>
                          <m:r>
                            <a:rPr lang="vi-VN" sz="2800" b="0" i="0" smtClean="0">
                              <a:solidFill>
                                <a:srgbClr val="0066FF"/>
                              </a:solidFill>
                              <a:latin typeface="Cambria Math" panose="02040503050406030204" pitchFamily="18" charset="0"/>
                            </a:rPr>
                            <m:t>ệ</m:t>
                          </m:r>
                          <m:r>
                            <m:rPr>
                              <m:sty m:val="p"/>
                            </m:rPr>
                            <a:rPr lang="vi-VN" sz="2800" b="0" i="0" smtClean="0">
                              <a:solidFill>
                                <a:srgbClr val="0066FF"/>
                              </a:solidFill>
                              <a:latin typeface="Cambria Math" panose="02040503050406030204" pitchFamily="18" charset="0"/>
                            </a:rPr>
                            <m:t>u</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ươ</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ự </m:t>
                          </m:r>
                          <m:r>
                            <m:rPr>
                              <m:sty m:val="p"/>
                            </m:rPr>
                            <a:rPr lang="vi-VN" sz="2800" b="0" i="0" smtClean="0">
                              <a:solidFill>
                                <a:srgbClr val="0066FF"/>
                              </a:solidFill>
                              <a:latin typeface="Cambria Math" panose="02040503050406030204" pitchFamily="18" charset="0"/>
                            </a:rPr>
                            <m:t>v</m:t>
                          </m:r>
                          <m:r>
                            <a:rPr lang="vi-VN" sz="2800" b="0" i="0" smtClean="0">
                              <a:solidFill>
                                <a:srgbClr val="0066FF"/>
                              </a:solidFill>
                              <a:latin typeface="Cambria Math" panose="02040503050406030204" pitchFamily="18" charset="0"/>
                            </a:rPr>
                            <m:t>ớ</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X</m:t>
                          </m:r>
                        </m:num>
                        <m:den>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ổ</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d</m:t>
                          </m:r>
                          <m:r>
                            <a:rPr lang="vi-VN" sz="2800" b="0" i="0" smtClean="0">
                              <a:solidFill>
                                <a:srgbClr val="0066FF"/>
                              </a:solidFill>
                              <a:latin typeface="Cambria Math" panose="02040503050406030204" pitchFamily="18" charset="0"/>
                            </a:rPr>
                            <m:t>ữ </m:t>
                          </m:r>
                          <m:r>
                            <m:rPr>
                              <m:sty m:val="p"/>
                            </m:rPr>
                            <a:rPr lang="vi-VN" sz="2800" b="0" i="0" smtClean="0">
                              <a:solidFill>
                                <a:srgbClr val="0066FF"/>
                              </a:solidFill>
                              <a:latin typeface="Cambria Math" panose="02040503050406030204" pitchFamily="18" charset="0"/>
                            </a:rPr>
                            <m:t>li</m:t>
                          </m:r>
                          <m:r>
                            <a:rPr lang="vi-VN" sz="2800" b="0" i="0" smtClean="0">
                              <a:solidFill>
                                <a:srgbClr val="0066FF"/>
                              </a:solidFill>
                              <a:latin typeface="Cambria Math" panose="02040503050406030204" pitchFamily="18" charset="0"/>
                            </a:rPr>
                            <m:t>ệ</m:t>
                          </m:r>
                          <m:r>
                            <m:rPr>
                              <m:sty m:val="p"/>
                            </m:rPr>
                            <a:rPr lang="vi-VN" sz="2800" b="0" i="0" smtClean="0">
                              <a:solidFill>
                                <a:srgbClr val="0066FF"/>
                              </a:solidFill>
                              <a:latin typeface="Cambria Math" panose="02040503050406030204" pitchFamily="18" charset="0"/>
                            </a:rPr>
                            <m:t>u</m:t>
                          </m:r>
                        </m:den>
                      </m:f>
                    </m:oMath>
                  </m:oMathPara>
                </a14:m>
                <a:endParaRPr lang="vi-VN" sz="2800" dirty="0">
                  <a:solidFill>
                    <a:srgbClr val="0066FF"/>
                  </a:solidFill>
                </a:endParaRP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13653634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7BFBD-8392-4325-9261-7E7ED058E35F}"/>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304396-B9B7-41EC-8BCA-B15EB539E0C4}"/>
                  </a:ext>
                </a:extLst>
              </p:cNvPr>
              <p:cNvSpPr>
                <a:spLocks noGrp="1"/>
              </p:cNvSpPr>
              <p:nvPr>
                <p:ph sz="half" idx="1"/>
              </p:nvPr>
            </p:nvSpPr>
            <p:spPr/>
            <p:txBody>
              <a:bodyPr/>
              <a:lstStyle/>
              <a:p>
                <a:pPr algn="just"/>
                <a:r>
                  <a:rPr lang="vi-VN" dirty="0">
                    <a:solidFill>
                      <a:srgbClr val="0066FF"/>
                    </a:solidFill>
                  </a:rPr>
                  <a:t>Ví </a:t>
                </a:r>
                <a:r>
                  <a:rPr lang="vi-VN" dirty="0" err="1">
                    <a:solidFill>
                      <a:srgbClr val="0066FF"/>
                    </a:solidFill>
                  </a:rPr>
                  <a:t>dụ</a:t>
                </a:r>
                <a:r>
                  <a:rPr lang="vi-VN" dirty="0">
                    <a:solidFill>
                      <a:srgbClr val="0066FF"/>
                    </a:solidFill>
                  </a:rPr>
                  <a:t> </a:t>
                </a:r>
                <a:r>
                  <a:rPr lang="vi-VN" dirty="0" err="1">
                    <a:solidFill>
                      <a:srgbClr val="0066FF"/>
                    </a:solidFill>
                  </a:rPr>
                  <a:t>tính</a:t>
                </a:r>
                <a:r>
                  <a:rPr lang="vi-VN" dirty="0">
                    <a:solidFill>
                      <a:srgbClr val="0066FF"/>
                    </a:solidFill>
                  </a:rPr>
                  <a:t> </a:t>
                </a:r>
                <a14:m>
                  <m:oMath xmlns:m="http://schemas.openxmlformats.org/officeDocument/2006/math">
                    <m:r>
                      <a:rPr lang="vi-VN" i="1" dirty="0" smtClean="0">
                        <a:solidFill>
                          <a:srgbClr val="0066FF"/>
                        </a:solidFill>
                        <a:latin typeface="Cambria Math" panose="02040503050406030204" pitchFamily="18" charset="0"/>
                      </a:rPr>
                      <m:t>𝑃</m:t>
                    </m:r>
                    <m:r>
                      <a:rPr lang="vi-VN" i="1" dirty="0" smtClean="0">
                        <a:solidFill>
                          <a:srgbClr val="0066FF"/>
                        </a:solidFill>
                        <a:latin typeface="Cambria Math" panose="02040503050406030204" pitchFamily="18" charset="0"/>
                      </a:rPr>
                      <m:t>(</m:t>
                    </m:r>
                    <m:r>
                      <a:rPr lang="vi-VN" i="1" dirty="0" smtClean="0">
                        <a:solidFill>
                          <a:srgbClr val="0066FF"/>
                        </a:solidFill>
                        <a:latin typeface="Cambria Math" panose="02040503050406030204" pitchFamily="18" charset="0"/>
                      </a:rPr>
                      <m:t>𝑋</m:t>
                    </m:r>
                    <m:r>
                      <a:rPr lang="vi-VN" i="1" dirty="0" smtClean="0">
                        <a:solidFill>
                          <a:srgbClr val="0066FF"/>
                        </a:solidFill>
                        <a:latin typeface="Cambria Math" panose="02040503050406030204" pitchFamily="18" charset="0"/>
                      </a:rPr>
                      <m:t>)</m:t>
                    </m:r>
                  </m:oMath>
                </a14:m>
                <a:r>
                  <a:rPr lang="vi-VN" dirty="0">
                    <a:solidFill>
                      <a:srgbClr val="0066FF"/>
                    </a:solidFill>
                  </a:rPr>
                  <a:t> – </a:t>
                </a:r>
                <a:r>
                  <a:rPr lang="vi-VN" dirty="0" err="1">
                    <a:solidFill>
                      <a:srgbClr val="0066FF"/>
                    </a:solidFill>
                  </a:rPr>
                  <a:t>với</a:t>
                </a:r>
                <a:r>
                  <a:rPr lang="vi-VN" dirty="0">
                    <a:solidFill>
                      <a:srgbClr val="0066FF"/>
                    </a:solidFill>
                  </a:rPr>
                  <a:t> </a:t>
                </a:r>
                <a14:m>
                  <m:oMath xmlns:m="http://schemas.openxmlformats.org/officeDocument/2006/math">
                    <m:r>
                      <a:rPr lang="vi-VN" i="1" dirty="0" smtClean="0">
                        <a:solidFill>
                          <a:srgbClr val="0066FF"/>
                        </a:solidFill>
                        <a:latin typeface="Cambria Math" panose="02040503050406030204" pitchFamily="18" charset="0"/>
                      </a:rPr>
                      <m:t>𝑋</m:t>
                    </m:r>
                  </m:oMath>
                </a14:m>
                <a:r>
                  <a:rPr lang="vi-VN" dirty="0">
                    <a:solidFill>
                      <a:srgbClr val="0066FF"/>
                    </a:solidFill>
                  </a:rPr>
                  <a:t> </a:t>
                </a:r>
                <a:r>
                  <a:rPr lang="vi-VN" dirty="0" err="1">
                    <a:solidFill>
                      <a:srgbClr val="0066FF"/>
                    </a:solidFill>
                  </a:rPr>
                  <a:t>là</a:t>
                </a:r>
                <a:r>
                  <a:rPr lang="vi-VN" dirty="0">
                    <a:solidFill>
                      <a:srgbClr val="0066FF"/>
                    </a:solidFill>
                  </a:rPr>
                  <a:t> </a:t>
                </a:r>
                <a:r>
                  <a:rPr lang="vi-VN" dirty="0" err="1">
                    <a:solidFill>
                      <a:srgbClr val="0066FF"/>
                    </a:solidFill>
                  </a:rPr>
                  <a:t>điểm</a:t>
                </a:r>
                <a:r>
                  <a:rPr lang="vi-VN" dirty="0">
                    <a:solidFill>
                      <a:srgbClr val="0066FF"/>
                    </a:solidFill>
                  </a:rPr>
                  <a:t> </a:t>
                </a:r>
                <a:r>
                  <a:rPr lang="vi-VN" dirty="0" err="1">
                    <a:solidFill>
                      <a:srgbClr val="0066FF"/>
                    </a:solidFill>
                  </a:rPr>
                  <a:t>màu</a:t>
                </a:r>
                <a:r>
                  <a:rPr lang="vi-VN" dirty="0">
                    <a:solidFill>
                      <a:srgbClr val="0066FF"/>
                    </a:solidFill>
                  </a:rPr>
                  <a:t> </a:t>
                </a:r>
                <a:r>
                  <a:rPr lang="vi-VN" dirty="0" err="1">
                    <a:solidFill>
                      <a:srgbClr val="0066FF"/>
                    </a:solidFill>
                  </a:rPr>
                  <a:t>xám</a:t>
                </a:r>
                <a:r>
                  <a:rPr lang="vi-VN" dirty="0">
                    <a:solidFill>
                      <a:srgbClr val="0066FF"/>
                    </a:solidFill>
                  </a:rPr>
                  <a:t>.</a:t>
                </a:r>
              </a:p>
              <a:p>
                <a:pPr lvl="1" algn="just"/>
                <a:r>
                  <a:rPr lang="vi-VN" sz="2800" dirty="0">
                    <a:solidFill>
                      <a:srgbClr val="FF0000"/>
                    </a:solidFill>
                  </a:rPr>
                  <a:t>Số </a:t>
                </a:r>
                <a:r>
                  <a:rPr lang="vi-VN" sz="2800" dirty="0" err="1">
                    <a:solidFill>
                      <a:srgbClr val="FF0000"/>
                    </a:solidFill>
                  </a:rPr>
                  <a:t>lượng</a:t>
                </a:r>
                <a:r>
                  <a:rPr lang="vi-VN" sz="2800" dirty="0">
                    <a:solidFill>
                      <a:srgbClr val="FF0000"/>
                    </a:solidFill>
                  </a:rPr>
                  <a:t> </a:t>
                </a:r>
                <a:r>
                  <a:rPr lang="vi-VN" sz="2800" dirty="0" err="1">
                    <a:solidFill>
                      <a:srgbClr val="FF0000"/>
                    </a:solidFill>
                  </a:rPr>
                  <a:t>điểm</a:t>
                </a:r>
                <a:r>
                  <a:rPr lang="vi-VN" sz="2800" dirty="0">
                    <a:solidFill>
                      <a:srgbClr val="FF0000"/>
                    </a:solidFill>
                  </a:rPr>
                  <a:t> tương </a:t>
                </a:r>
                <a:r>
                  <a:rPr lang="vi-VN" sz="2800" dirty="0" err="1">
                    <a:solidFill>
                      <a:srgbClr val="FF0000"/>
                    </a:solidFill>
                  </a:rPr>
                  <a:t>tự</a:t>
                </a:r>
                <a:r>
                  <a:rPr lang="vi-VN" sz="2800" dirty="0">
                    <a:solidFill>
                      <a:srgbClr val="FF0000"/>
                    </a:solidFill>
                  </a:rPr>
                  <a:t> </a:t>
                </a:r>
                <a:r>
                  <a:rPr lang="vi-VN" sz="2800" dirty="0" err="1">
                    <a:solidFill>
                      <a:srgbClr val="FF0000"/>
                    </a:solidFill>
                  </a:rPr>
                  <a:t>với</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xám</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4</m:t>
                    </m:r>
                  </m:oMath>
                </a14:m>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nằm</a:t>
                </a:r>
                <a:r>
                  <a:rPr lang="vi-VN" sz="2800" dirty="0">
                    <a:solidFill>
                      <a:srgbClr val="FF0000"/>
                    </a:solidFill>
                  </a:rPr>
                  <a:t> trong </a:t>
                </a:r>
                <a:r>
                  <a:rPr lang="vi-VN" sz="2800" dirty="0" err="1">
                    <a:solidFill>
                      <a:srgbClr val="FF0000"/>
                    </a:solidFill>
                  </a:rPr>
                  <a:t>vòng</a:t>
                </a:r>
                <a:r>
                  <a:rPr lang="vi-VN" sz="2800" dirty="0">
                    <a:solidFill>
                      <a:srgbClr val="FF0000"/>
                    </a:solidFill>
                  </a:rPr>
                  <a:t> </a:t>
                </a:r>
                <a:r>
                  <a:rPr lang="vi-VN" sz="2800" dirty="0" err="1">
                    <a:solidFill>
                      <a:srgbClr val="FF0000"/>
                    </a:solidFill>
                  </a:rPr>
                  <a:t>được</a:t>
                </a:r>
                <a:r>
                  <a:rPr lang="vi-VN" sz="2800" dirty="0">
                    <a:solidFill>
                      <a:srgbClr val="FF0000"/>
                    </a:solidFill>
                  </a:rPr>
                  <a:t> khoanh </a:t>
                </a:r>
                <a:r>
                  <a:rPr lang="vi-VN" sz="2800" dirty="0" err="1">
                    <a:solidFill>
                      <a:srgbClr val="FF0000"/>
                    </a:solidFill>
                  </a:rPr>
                  <a:t>tròn</a:t>
                </a:r>
                <a:r>
                  <a:rPr lang="vi-VN" sz="2800" dirty="0">
                    <a:solidFill>
                      <a:srgbClr val="FF0000"/>
                    </a:solidFill>
                  </a:rPr>
                  <a:t>).</a:t>
                </a:r>
              </a:p>
              <a:p>
                <a:pPr lvl="1" algn="just"/>
                <a:r>
                  <a:rPr lang="vi-VN" sz="2800" dirty="0" err="1">
                    <a:solidFill>
                      <a:srgbClr val="0066FF"/>
                    </a:solidFill>
                  </a:rPr>
                  <a:t>Tổng</a:t>
                </a:r>
                <a:r>
                  <a:rPr lang="vi-VN" sz="2800" dirty="0">
                    <a:solidFill>
                      <a:srgbClr val="0066FF"/>
                    </a:solidFill>
                  </a:rPr>
                  <a:t> </a:t>
                </a:r>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31</m:t>
                    </m:r>
                  </m:oMath>
                </a14:m>
                <a:r>
                  <a:rPr lang="vi-VN" sz="2800" dirty="0">
                    <a:solidFill>
                      <a:srgbClr val="0066FF"/>
                    </a:solidFill>
                  </a:rPr>
                  <a:t>.</a:t>
                </a:r>
              </a:p>
              <a:p>
                <a:pPr lvl="1"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)=4/31</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2E304396-B9B7-41EC-8BCA-B15EB539E0C4}"/>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a:stretch>
              </a:blipFill>
            </p:spPr>
            <p:txBody>
              <a:bodyPr/>
              <a:lstStyle/>
              <a:p>
                <a:r>
                  <a:rPr lang="vi-VN">
                    <a:noFill/>
                  </a:rPr>
                  <a:t> </a:t>
                </a:r>
              </a:p>
            </p:txBody>
          </p:sp>
        </mc:Fallback>
      </mc:AlternateContent>
      <p:pic>
        <p:nvPicPr>
          <p:cNvPr id="8" name="Content Placeholder 7">
            <a:extLst>
              <a:ext uri="{FF2B5EF4-FFF2-40B4-BE49-F238E27FC236}">
                <a16:creationId xmlns:a16="http://schemas.microsoft.com/office/drawing/2014/main" id="{9CBAB4C9-037B-45D6-A5B9-B815BDFB4620}"/>
              </a:ext>
            </a:extLst>
          </p:cNvPr>
          <p:cNvPicPr>
            <a:picLocks noGrp="1" noChangeAspect="1"/>
          </p:cNvPicPr>
          <p:nvPr>
            <p:ph sz="half" idx="2"/>
          </p:nvPr>
        </p:nvPicPr>
        <p:blipFill>
          <a:blip r:embed="rId3"/>
          <a:stretch>
            <a:fillRect/>
          </a:stretch>
        </p:blipFill>
        <p:spPr>
          <a:xfrm>
            <a:off x="6199187" y="2205831"/>
            <a:ext cx="5381625" cy="3314700"/>
          </a:xfrm>
          <a:prstGeom prst="rect">
            <a:avLst/>
          </a:prstGeom>
        </p:spPr>
      </p:pic>
    </p:spTree>
    <p:extLst>
      <p:ext uri="{BB962C8B-B14F-4D97-AF65-F5344CB8AC3E}">
        <p14:creationId xmlns:p14="http://schemas.microsoft.com/office/powerpoint/2010/main" val="294112785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a:solidFill>
                      <a:srgbClr val="0066FF"/>
                    </a:solidFill>
                  </a:rPr>
                  <a:t>Cách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𝑋</m:t>
                    </m:r>
                    <m:r>
                      <a:rPr lang="vi-VN" sz="2800" i="1" dirty="0" smtClean="0">
                        <a:solidFill>
                          <a:srgbClr val="0066FF"/>
                        </a:solidFill>
                        <a:latin typeface="Cambria Math" panose="02040503050406030204" pitchFamily="18" charset="0"/>
                      </a:rPr>
                      <m:t>)</m:t>
                    </m:r>
                  </m:oMath>
                </a14:m>
                <a:r>
                  <a:rPr lang="vi-VN" sz="2800" dirty="0">
                    <a:solidFill>
                      <a:srgbClr val="0066FF"/>
                    </a:solidFill>
                  </a:rPr>
                  <a:t> hay </a:t>
                </a:r>
                <a:r>
                  <a:rPr lang="vi-VN" sz="2800" dirty="0" err="1">
                    <a:solidFill>
                      <a:srgbClr val="0066FF"/>
                    </a:solidFill>
                  </a:rPr>
                  <a:t>Marginal</a:t>
                </a:r>
                <a:r>
                  <a:rPr lang="vi-VN" sz="2800" dirty="0">
                    <a:solidFill>
                      <a:srgbClr val="0066FF"/>
                    </a:solidFill>
                  </a:rPr>
                  <a:t> </a:t>
                </a:r>
                <a:r>
                  <a:rPr lang="vi-VN" sz="2800" dirty="0" err="1">
                    <a:solidFill>
                      <a:srgbClr val="0066FF"/>
                    </a:solidFill>
                  </a:rPr>
                  <a:t>Probability</a:t>
                </a:r>
                <a:r>
                  <a:rPr lang="vi-VN" sz="2800" dirty="0">
                    <a:solidFill>
                      <a:srgbClr val="0066FF"/>
                    </a:solidFill>
                  </a:rPr>
                  <a:t> (</a:t>
                </a:r>
                <a:r>
                  <a:rPr lang="vi-VN" sz="2800" dirty="0" err="1">
                    <a:solidFill>
                      <a:srgbClr val="0066FF"/>
                    </a:solidFill>
                  </a:rPr>
                  <a:t>Đọc</a:t>
                </a:r>
                <a:r>
                  <a:rPr lang="vi-VN" sz="2800" dirty="0">
                    <a:solidFill>
                      <a:srgbClr val="0066FF"/>
                    </a:solidFill>
                  </a:rPr>
                  <a:t> thêm):</a:t>
                </a:r>
              </a:p>
              <a:p>
                <a:pPr lvl="1" algn="just"/>
                <a:r>
                  <a:rPr lang="vi-VN" sz="2800" dirty="0">
                    <a:solidFill>
                      <a:srgbClr val="FF0000"/>
                    </a:solidFill>
                  </a:rPr>
                  <a:t>Thực </a:t>
                </a:r>
                <a:r>
                  <a:rPr lang="vi-VN" sz="2800" dirty="0" err="1">
                    <a:solidFill>
                      <a:srgbClr val="FF0000"/>
                    </a:solidFill>
                  </a:rPr>
                  <a:t>tế</a:t>
                </a:r>
                <a:r>
                  <a:rPr lang="vi-VN" sz="2800" dirty="0">
                    <a:solidFill>
                      <a:srgbClr val="FF0000"/>
                    </a:solidFill>
                  </a:rPr>
                  <a:t>, </a:t>
                </a:r>
                <a:r>
                  <a:rPr lang="vi-VN" sz="2800" dirty="0" err="1">
                    <a:solidFill>
                      <a:srgbClr val="FF0000"/>
                    </a:solidFill>
                  </a:rPr>
                  <a:t>việc</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định</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định</a:t>
                </a:r>
                <a:r>
                  <a:rPr lang="vi-VN" sz="2800" dirty="0">
                    <a:solidFill>
                      <a:srgbClr val="FF0000"/>
                    </a:solidFill>
                  </a:rPr>
                  <a:t> </a:t>
                </a:r>
                <a:r>
                  <a:rPr lang="vi-VN" sz="2800" dirty="0" err="1">
                    <a:solidFill>
                      <a:srgbClr val="FF0000"/>
                    </a:solidFill>
                  </a:rPr>
                  <a:t>bằng</a:t>
                </a:r>
                <a:r>
                  <a:rPr lang="vi-VN" sz="2800" dirty="0">
                    <a:solidFill>
                      <a:srgbClr val="FF0000"/>
                    </a:solidFill>
                  </a:rPr>
                  <a:t> công </a:t>
                </a:r>
                <a:r>
                  <a:rPr lang="vi-VN" sz="2800" dirty="0" err="1">
                    <a:solidFill>
                      <a:srgbClr val="FF0000"/>
                    </a:solidFill>
                  </a:rPr>
                  <a:t>thức</a:t>
                </a:r>
                <a:r>
                  <a:rPr lang="vi-VN" sz="2800" dirty="0">
                    <a:solidFill>
                      <a:srgbClr val="FF0000"/>
                    </a:solidFill>
                  </a:rPr>
                  <a:t>:</a:t>
                </a:r>
              </a:p>
              <a:p>
                <a:pPr marL="914400" lvl="2" indent="0" algn="just">
                  <a:buNone/>
                </a:pPr>
                <a14:m>
                  <m:oMathPara xmlns:m="http://schemas.openxmlformats.org/officeDocument/2006/math">
                    <m:oMathParaPr>
                      <m:jc m:val="centerGroup"/>
                    </m:oMathParaPr>
                    <m:oMath xmlns:m="http://schemas.openxmlformats.org/officeDocument/2006/math">
                      <m:r>
                        <a:rPr lang="vi-VN" sz="2800" b="0" i="1" smtClean="0">
                          <a:solidFill>
                            <a:srgbClr val="0066FF"/>
                          </a:solidFill>
                          <a:latin typeface="Cambria Math" panose="02040503050406030204" pitchFamily="18" charset="0"/>
                        </a:rPr>
                        <m:t>𝑃</m:t>
                      </m:r>
                      <m:d>
                        <m:dPr>
                          <m:ctrlPr>
                            <a:rPr lang="vi-VN" sz="2800" b="0" i="1" smtClean="0">
                              <a:solidFill>
                                <a:srgbClr val="0066FF"/>
                              </a:solidFill>
                              <a:latin typeface="Cambria Math" panose="02040503050406030204" pitchFamily="18" charset="0"/>
                            </a:rPr>
                          </m:ctrlPr>
                        </m:dPr>
                        <m:e>
                          <m:r>
                            <a:rPr lang="vi-VN" sz="2800" b="0" i="1" smtClean="0">
                              <a:solidFill>
                                <a:srgbClr val="0066FF"/>
                              </a:solidFill>
                              <a:latin typeface="Cambria Math" panose="02040503050406030204" pitchFamily="18" charset="0"/>
                            </a:rPr>
                            <m:t>𝑋</m:t>
                          </m:r>
                        </m:e>
                      </m:d>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𝑃</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𝐴𝑔𝑒</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ea typeface="Cambria Math" panose="02040503050406030204" pitchFamily="18" charset="0"/>
                        </a:rPr>
                        <m:t>𝑃</m:t>
                      </m:r>
                      <m:r>
                        <a:rPr lang="vi-VN" sz="2800" b="0" i="1" smtClean="0">
                          <a:solidFill>
                            <a:srgbClr val="0066FF"/>
                          </a:solidFill>
                          <a:latin typeface="Cambria Math" panose="02040503050406030204" pitchFamily="18" charset="0"/>
                          <a:ea typeface="Cambria Math" panose="02040503050406030204" pitchFamily="18" charset="0"/>
                        </a:rPr>
                        <m:t>(</m:t>
                      </m:r>
                      <m:r>
                        <a:rPr lang="vi-VN" sz="2800" b="0" i="1" smtClean="0">
                          <a:solidFill>
                            <a:srgbClr val="0066FF"/>
                          </a:solidFill>
                          <a:latin typeface="Cambria Math" panose="02040503050406030204" pitchFamily="18" charset="0"/>
                          <a:ea typeface="Cambria Math" panose="02040503050406030204" pitchFamily="18" charset="0"/>
                        </a:rPr>
                        <m:t>𝑆𝑎𝑙𝑎𝑟𝑦</m:t>
                      </m:r>
                      <m:r>
                        <a:rPr lang="vi-VN" sz="2800" b="0" i="1" smtClean="0">
                          <a:solidFill>
                            <a:srgbClr val="0066FF"/>
                          </a:solidFill>
                          <a:latin typeface="Cambria Math" panose="02040503050406030204" pitchFamily="18" charset="0"/>
                          <a:ea typeface="Cambria Math" panose="02040503050406030204" pitchFamily="18" charset="0"/>
                        </a:rPr>
                        <m:t>)</m:t>
                      </m:r>
                    </m:oMath>
                  </m:oMathPara>
                </a14:m>
                <a:endParaRPr lang="vi-VN" sz="2800" dirty="0">
                  <a:solidFill>
                    <a:srgbClr val="0066FF"/>
                  </a:solidFill>
                </a:endParaRPr>
              </a:p>
              <a:p>
                <a:pPr lvl="1" algn="just"/>
                <a:r>
                  <a:rPr lang="vi-VN" sz="2800" dirty="0">
                    <a:solidFill>
                      <a:srgbClr val="FF0000"/>
                    </a:solidFill>
                  </a:rPr>
                  <a:t>Công </a:t>
                </a:r>
                <a:r>
                  <a:rPr lang="vi-VN" sz="2800" dirty="0" err="1">
                    <a:solidFill>
                      <a:srgbClr val="FF0000"/>
                    </a:solidFill>
                  </a:rPr>
                  <a:t>thức</a:t>
                </a:r>
                <a:r>
                  <a:rPr lang="vi-VN" sz="2800" dirty="0">
                    <a:solidFill>
                      <a:srgbClr val="FF0000"/>
                    </a:solidFill>
                  </a:rPr>
                  <a:t> trên </a:t>
                </a:r>
                <a:r>
                  <a:rPr lang="vi-VN" sz="2800" dirty="0" err="1">
                    <a:solidFill>
                      <a:srgbClr val="FF0000"/>
                    </a:solidFill>
                  </a:rPr>
                  <a:t>được</a:t>
                </a:r>
                <a:r>
                  <a:rPr lang="vi-VN" sz="2800" dirty="0">
                    <a:solidFill>
                      <a:srgbClr val="FF0000"/>
                    </a:solidFill>
                  </a:rPr>
                  <a:t> </a:t>
                </a:r>
                <a:r>
                  <a:rPr lang="vi-VN" sz="2800" dirty="0" err="1">
                    <a:solidFill>
                      <a:srgbClr val="FF0000"/>
                    </a:solidFill>
                  </a:rPr>
                  <a:t>thành</a:t>
                </a:r>
                <a:r>
                  <a:rPr lang="vi-VN" sz="2800" dirty="0">
                    <a:solidFill>
                      <a:srgbClr val="FF0000"/>
                    </a:solidFill>
                  </a:rPr>
                  <a:t> </a:t>
                </a:r>
                <a:r>
                  <a:rPr lang="vi-VN" sz="2800" dirty="0" err="1">
                    <a:solidFill>
                      <a:srgbClr val="FF0000"/>
                    </a:solidFill>
                  </a:rPr>
                  <a:t>lập</a:t>
                </a:r>
                <a:r>
                  <a:rPr lang="vi-VN" sz="2800" dirty="0">
                    <a:solidFill>
                      <a:srgbClr val="FF0000"/>
                    </a:solidFill>
                  </a:rPr>
                  <a:t> </a:t>
                </a:r>
                <a:r>
                  <a:rPr lang="vi-VN" sz="2800" dirty="0" err="1">
                    <a:solidFill>
                      <a:srgbClr val="FF0000"/>
                    </a:solidFill>
                  </a:rPr>
                  <a:t>với</a:t>
                </a:r>
                <a:r>
                  <a:rPr lang="vi-VN" sz="2800" dirty="0">
                    <a:solidFill>
                      <a:srgbClr val="FF0000"/>
                    </a:solidFill>
                  </a:rPr>
                  <a:t> </a:t>
                </a:r>
                <a:r>
                  <a:rPr lang="vi-VN" sz="2800" dirty="0" err="1">
                    <a:solidFill>
                      <a:srgbClr val="FF0000"/>
                    </a:solidFill>
                  </a:rPr>
                  <a:t>giả</a:t>
                </a:r>
                <a:r>
                  <a:rPr lang="vi-VN" sz="2800" dirty="0">
                    <a:solidFill>
                      <a:srgbClr val="FF0000"/>
                    </a:solidFill>
                  </a:rPr>
                  <a:t> </a:t>
                </a:r>
                <a:r>
                  <a:rPr lang="vi-VN" sz="2800" dirty="0" err="1">
                    <a:solidFill>
                      <a:srgbClr val="FF0000"/>
                    </a:solidFill>
                  </a:rPr>
                  <a:t>thiết</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đặc</a:t>
                </a:r>
                <a:r>
                  <a:rPr lang="vi-VN" sz="2800" dirty="0">
                    <a:solidFill>
                      <a:srgbClr val="FF0000"/>
                    </a:solidFill>
                  </a:rPr>
                  <a:t> trưng </a:t>
                </a:r>
                <a:r>
                  <a:rPr lang="vi-VN" sz="2800" dirty="0" err="1">
                    <a:solidFill>
                      <a:srgbClr val="FF0000"/>
                    </a:solidFill>
                  </a:rPr>
                  <a:t>đầu</a:t>
                </a:r>
                <a:r>
                  <a:rPr lang="vi-VN" sz="2800" dirty="0">
                    <a:solidFill>
                      <a:srgbClr val="FF0000"/>
                    </a:solidFill>
                  </a:rPr>
                  <a:t> </a:t>
                </a:r>
                <a:r>
                  <a:rPr lang="vi-VN" sz="2800" dirty="0" err="1">
                    <a:solidFill>
                      <a:srgbClr val="FF0000"/>
                    </a:solidFill>
                  </a:rPr>
                  <a:t>vào</a:t>
                </a:r>
                <a:r>
                  <a:rPr lang="vi-VN" sz="2800" dirty="0">
                    <a:solidFill>
                      <a:srgbClr val="FF0000"/>
                    </a:solidFill>
                  </a:rPr>
                  <a:t> </a:t>
                </a:r>
                <a:r>
                  <a:rPr lang="vi-VN" sz="2800" dirty="0" err="1">
                    <a:solidFill>
                      <a:srgbClr val="FF0000"/>
                    </a:solidFill>
                  </a:rPr>
                  <a:t>của</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𝑋</m:t>
                    </m:r>
                  </m:oMath>
                </a14:m>
                <a:r>
                  <a:rPr lang="vi-VN" sz="2800" dirty="0">
                    <a:solidFill>
                      <a:srgbClr val="FF0000"/>
                    </a:solidFill>
                  </a:rPr>
                  <a:t> (trong </a:t>
                </a:r>
                <a:r>
                  <a:rPr lang="vi-VN" sz="2800" dirty="0" err="1">
                    <a:solidFill>
                      <a:srgbClr val="FF0000"/>
                    </a:solidFill>
                  </a:rPr>
                  <a:t>trường</a:t>
                </a:r>
                <a:r>
                  <a:rPr lang="vi-VN" sz="2800" dirty="0">
                    <a:solidFill>
                      <a:srgbClr val="FF0000"/>
                    </a:solidFill>
                  </a:rPr>
                  <a:t> </a:t>
                </a:r>
                <a:r>
                  <a:rPr lang="vi-VN" sz="2800" dirty="0" err="1">
                    <a:solidFill>
                      <a:srgbClr val="FF0000"/>
                    </a:solidFill>
                  </a:rPr>
                  <a:t>hợp</a:t>
                </a:r>
                <a:r>
                  <a:rPr lang="vi-VN" sz="2800" dirty="0">
                    <a:solidFill>
                      <a:srgbClr val="FF0000"/>
                    </a:solidFill>
                  </a:rPr>
                  <a:t> </a:t>
                </a:r>
                <a:r>
                  <a:rPr lang="vi-VN" sz="2800" dirty="0" err="1">
                    <a:solidFill>
                      <a:srgbClr val="FF0000"/>
                    </a:solidFill>
                  </a:rPr>
                  <a:t>này</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𝐴𝑔𝑒</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𝑆𝑎𝑙𝑎𝑟𝑦</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độc</a:t>
                </a:r>
                <a:r>
                  <a:rPr lang="vi-VN" sz="2800" dirty="0">
                    <a:solidFill>
                      <a:srgbClr val="FF0000"/>
                    </a:solidFill>
                  </a:rPr>
                  <a:t> </a:t>
                </a:r>
                <a:r>
                  <a:rPr lang="vi-VN" sz="2800" dirty="0" err="1">
                    <a:solidFill>
                      <a:srgbClr val="FF0000"/>
                    </a:solidFill>
                  </a:rPr>
                  <a:t>lập</a:t>
                </a:r>
                <a:r>
                  <a:rPr lang="vi-VN" sz="2800" dirty="0">
                    <a:solidFill>
                      <a:srgbClr val="FF0000"/>
                    </a:solidFill>
                  </a:rPr>
                  <a:t> </a:t>
                </a:r>
                <a:r>
                  <a:rPr lang="vi-VN" sz="2800" dirty="0" err="1">
                    <a:solidFill>
                      <a:srgbClr val="FF0000"/>
                    </a:solidFill>
                  </a:rPr>
                  <a:t>với</a:t>
                </a:r>
                <a:r>
                  <a:rPr lang="vi-VN" sz="2800" dirty="0">
                    <a:solidFill>
                      <a:srgbClr val="FF0000"/>
                    </a:solidFill>
                  </a:rPr>
                  <a:t> nhau.</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40326025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a:solidFill>
                      <a:srgbClr val="0066FF"/>
                    </a:solidFill>
                  </a:rPr>
                  <a:t>Cách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𝑋</m:t>
                    </m:r>
                    <m:r>
                      <a:rPr lang="vi-VN" sz="2800" i="1" dirty="0" smtClean="0">
                        <a:solidFill>
                          <a:srgbClr val="0066FF"/>
                        </a:solidFill>
                        <a:latin typeface="Cambria Math" panose="02040503050406030204" pitchFamily="18" charset="0"/>
                      </a:rPr>
                      <m:t>)</m:t>
                    </m:r>
                  </m:oMath>
                </a14:m>
                <a:r>
                  <a:rPr lang="vi-VN" sz="2800" dirty="0">
                    <a:solidFill>
                      <a:srgbClr val="0066FF"/>
                    </a:solidFill>
                  </a:rPr>
                  <a:t> hay </a:t>
                </a:r>
                <a:r>
                  <a:rPr lang="vi-VN" sz="2800" dirty="0" err="1">
                    <a:solidFill>
                      <a:srgbClr val="0066FF"/>
                    </a:solidFill>
                  </a:rPr>
                  <a:t>Marginal</a:t>
                </a:r>
                <a:r>
                  <a:rPr lang="vi-VN" sz="2800" dirty="0">
                    <a:solidFill>
                      <a:srgbClr val="0066FF"/>
                    </a:solidFill>
                  </a:rPr>
                  <a:t> </a:t>
                </a:r>
                <a:r>
                  <a:rPr lang="vi-VN" sz="2800" dirty="0" err="1">
                    <a:solidFill>
                      <a:srgbClr val="0066FF"/>
                    </a:solidFill>
                  </a:rPr>
                  <a:t>Probability</a:t>
                </a:r>
                <a:r>
                  <a:rPr lang="vi-VN" sz="2800" dirty="0">
                    <a:solidFill>
                      <a:srgbClr val="0066FF"/>
                    </a:solidFill>
                  </a:rPr>
                  <a:t> (</a:t>
                </a:r>
                <a:r>
                  <a:rPr lang="vi-VN" sz="2800" dirty="0" err="1">
                    <a:solidFill>
                      <a:srgbClr val="0066FF"/>
                    </a:solidFill>
                  </a:rPr>
                  <a:t>Đọc</a:t>
                </a:r>
                <a:r>
                  <a:rPr lang="vi-VN" sz="2800" dirty="0">
                    <a:solidFill>
                      <a:srgbClr val="0066FF"/>
                    </a:solidFill>
                  </a:rPr>
                  <a:t> thêm):</a:t>
                </a:r>
                <a:endParaRPr lang="en-US" sz="2800" dirty="0">
                  <a:solidFill>
                    <a:srgbClr val="0066FF"/>
                  </a:solidFill>
                </a:endParaRPr>
              </a:p>
              <a:p>
                <a:pPr lvl="1" algn="just"/>
                <a:r>
                  <a:rPr lang="vi-VN" sz="2800" dirty="0">
                    <a:solidFill>
                      <a:srgbClr val="FF0000"/>
                    </a:solidFill>
                  </a:rPr>
                  <a:t>Cách </a:t>
                </a:r>
                <a:r>
                  <a:rPr lang="vi-VN" sz="2800" dirty="0" err="1">
                    <a:solidFill>
                      <a:srgbClr val="FF0000"/>
                    </a:solidFill>
                  </a:rPr>
                  <a:t>tính</a:t>
                </a:r>
                <a:r>
                  <a:rPr lang="vi-VN" sz="2800" dirty="0">
                    <a:solidFill>
                      <a:srgbClr val="FF0000"/>
                    </a:solidFill>
                  </a:rPr>
                  <a:t> </a:t>
                </a:r>
                <a:r>
                  <a:rPr lang="vi-VN" sz="2800" dirty="0" err="1">
                    <a:solidFill>
                      <a:srgbClr val="FF0000"/>
                    </a:solidFill>
                  </a:rPr>
                  <a:t>các</a:t>
                </a:r>
                <a:r>
                  <a:rPr lang="vi-VN" sz="2800" dirty="0">
                    <a:solidFill>
                      <a:srgbClr val="FF0000"/>
                    </a:solidFill>
                  </a:rPr>
                  <a:t> </a:t>
                </a:r>
                <a14:m>
                  <m:oMath xmlns:m="http://schemas.openxmlformats.org/officeDocument/2006/math">
                    <m:r>
                      <a:rPr lang="vi-VN" sz="2800" i="1" dirty="0">
                        <a:solidFill>
                          <a:srgbClr val="FF0000"/>
                        </a:solidFill>
                        <a:latin typeface="Cambria Math" panose="02040503050406030204" pitchFamily="18" charset="0"/>
                      </a:rPr>
                      <m:t>𝑃</m:t>
                    </m:r>
                    <m:r>
                      <a:rPr lang="vi-VN" sz="2800" i="1" dirty="0">
                        <a:solidFill>
                          <a:srgbClr val="FF0000"/>
                        </a:solidFill>
                        <a:latin typeface="Cambria Math" panose="02040503050406030204" pitchFamily="18" charset="0"/>
                      </a:rPr>
                      <m:t>(</m:t>
                    </m:r>
                    <m:r>
                      <a:rPr lang="vi-VN" sz="2800" i="1" dirty="0" err="1">
                        <a:solidFill>
                          <a:srgbClr val="FF0000"/>
                        </a:solidFill>
                        <a:latin typeface="Cambria Math" panose="02040503050406030204" pitchFamily="18" charset="0"/>
                      </a:rPr>
                      <m:t>𝐴𝑔𝑒</m:t>
                    </m:r>
                    <m:r>
                      <a:rPr lang="vi-VN" sz="2800" i="1" dirty="0">
                        <a:solidFill>
                          <a:srgbClr val="FF0000"/>
                        </a:solidFill>
                        <a:latin typeface="Cambria Math" panose="02040503050406030204" pitchFamily="18" charset="0"/>
                      </a:rPr>
                      <m:t>)</m:t>
                    </m:r>
                  </m:oMath>
                </a14:m>
                <a:r>
                  <a:rPr lang="vi-VN" sz="2800" dirty="0">
                    <a:solidFill>
                      <a:srgbClr val="FF0000"/>
                    </a:solidFill>
                  </a:rPr>
                  <a:t> hay </a:t>
                </a:r>
                <a14:m>
                  <m:oMath xmlns:m="http://schemas.openxmlformats.org/officeDocument/2006/math">
                    <m:r>
                      <a:rPr lang="vi-VN" sz="2800" i="1" dirty="0">
                        <a:solidFill>
                          <a:srgbClr val="FF0000"/>
                        </a:solidFill>
                        <a:latin typeface="Cambria Math" panose="02040503050406030204" pitchFamily="18" charset="0"/>
                      </a:rPr>
                      <m:t>𝑃</m:t>
                    </m:r>
                    <m:r>
                      <a:rPr lang="vi-VN" sz="2800" i="1" dirty="0">
                        <a:solidFill>
                          <a:srgbClr val="FF0000"/>
                        </a:solidFill>
                        <a:latin typeface="Cambria Math" panose="02040503050406030204" pitchFamily="18" charset="0"/>
                      </a:rPr>
                      <m:t>(</m:t>
                    </m:r>
                    <m:r>
                      <a:rPr lang="vi-VN" sz="2800" i="1" dirty="0" err="1">
                        <a:solidFill>
                          <a:srgbClr val="FF0000"/>
                        </a:solidFill>
                        <a:latin typeface="Cambria Math" panose="02040503050406030204" pitchFamily="18" charset="0"/>
                      </a:rPr>
                      <m:t>𝑆𝑎𝑙𝑎𝑟𝑦</m:t>
                    </m:r>
                    <m:r>
                      <a:rPr lang="vi-VN" sz="2800" i="1" dirty="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thường</a:t>
                </a:r>
                <a:r>
                  <a:rPr lang="vi-VN" sz="2800" dirty="0">
                    <a:solidFill>
                      <a:srgbClr val="FF0000"/>
                    </a:solidFill>
                  </a:rPr>
                  <a:t> </a:t>
                </a:r>
                <a:r>
                  <a:rPr lang="vi-VN" sz="2800" dirty="0" err="1">
                    <a:solidFill>
                      <a:srgbClr val="FF0000"/>
                    </a:solidFill>
                  </a:rPr>
                  <a:t>sẽ</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dựa</a:t>
                </a:r>
                <a:r>
                  <a:rPr lang="vi-VN" sz="2800" dirty="0">
                    <a:solidFill>
                      <a:srgbClr val="FF0000"/>
                    </a:solidFill>
                  </a:rPr>
                  <a:t> trên </a:t>
                </a:r>
                <a:r>
                  <a:rPr lang="vi-VN" sz="2800" dirty="0" err="1">
                    <a:solidFill>
                      <a:srgbClr val="FF0000"/>
                    </a:solidFill>
                  </a:rPr>
                  <a:t>một</a:t>
                </a:r>
                <a:r>
                  <a:rPr lang="vi-VN" sz="2800" dirty="0">
                    <a:solidFill>
                      <a:srgbClr val="FF0000"/>
                    </a:solidFill>
                  </a:rPr>
                  <a:t> </a:t>
                </a:r>
                <a:r>
                  <a:rPr lang="vi-VN" sz="2800" dirty="0" err="1">
                    <a:solidFill>
                      <a:srgbClr val="FF0000"/>
                    </a:solidFill>
                  </a:rPr>
                  <a:t>số</a:t>
                </a:r>
                <a:r>
                  <a:rPr lang="vi-VN" sz="2800" dirty="0">
                    <a:solidFill>
                      <a:srgbClr val="FF0000"/>
                    </a:solidFill>
                  </a:rPr>
                  <a:t> phân </a:t>
                </a:r>
                <a:r>
                  <a:rPr lang="vi-VN" sz="2800" dirty="0" err="1">
                    <a:solidFill>
                      <a:srgbClr val="FF0000"/>
                    </a:solidFill>
                  </a:rPr>
                  <a:t>phối</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nhất</a:t>
                </a:r>
                <a:r>
                  <a:rPr lang="vi-VN" sz="2800" dirty="0">
                    <a:solidFill>
                      <a:srgbClr val="FF0000"/>
                    </a:solidFill>
                  </a:rPr>
                  <a:t> </a:t>
                </a:r>
                <a:r>
                  <a:rPr lang="vi-VN" sz="2800" dirty="0" err="1">
                    <a:solidFill>
                      <a:srgbClr val="FF0000"/>
                    </a:solidFill>
                  </a:rPr>
                  <a:t>định</a:t>
                </a:r>
                <a:r>
                  <a:rPr lang="vi-VN" sz="2800" dirty="0">
                    <a:solidFill>
                      <a:srgbClr val="FF0000"/>
                    </a:solidFill>
                  </a:rPr>
                  <a:t>.</a:t>
                </a:r>
              </a:p>
              <a:p>
                <a:pPr lvl="1" algn="just"/>
                <a:r>
                  <a:rPr lang="vi-VN" sz="2800" dirty="0" err="1">
                    <a:solidFill>
                      <a:srgbClr val="0066FF"/>
                    </a:solidFill>
                  </a:rPr>
                  <a:t>Các</a:t>
                </a:r>
                <a:r>
                  <a:rPr lang="vi-VN" sz="2800" dirty="0">
                    <a:solidFill>
                      <a:srgbClr val="0066FF"/>
                    </a:solidFill>
                  </a:rPr>
                  <a:t> phân </a:t>
                </a:r>
                <a:r>
                  <a:rPr lang="vi-VN" sz="2800" dirty="0" err="1">
                    <a:solidFill>
                      <a:srgbClr val="0066FF"/>
                    </a:solidFill>
                  </a:rPr>
                  <a:t>phối</a:t>
                </a:r>
                <a:r>
                  <a:rPr lang="vi-VN" sz="2800" dirty="0">
                    <a:solidFill>
                      <a:srgbClr val="0066FF"/>
                    </a:solidFill>
                  </a:rPr>
                  <a:t> </a:t>
                </a:r>
                <a:r>
                  <a:rPr lang="vi-VN" sz="2800" dirty="0" err="1">
                    <a:solidFill>
                      <a:srgbClr val="0066FF"/>
                    </a:solidFill>
                  </a:rPr>
                  <a:t>xác</a:t>
                </a:r>
                <a:r>
                  <a:rPr lang="vi-VN" sz="2800" dirty="0">
                    <a:solidFill>
                      <a:srgbClr val="0066FF"/>
                    </a:solidFill>
                  </a:rPr>
                  <a:t> </a:t>
                </a:r>
                <a:r>
                  <a:rPr lang="vi-VN" sz="2800" dirty="0" err="1">
                    <a:solidFill>
                      <a:srgbClr val="0066FF"/>
                    </a:solidFill>
                  </a:rPr>
                  <a:t>suất</a:t>
                </a:r>
                <a:r>
                  <a:rPr lang="vi-VN" sz="2800" dirty="0">
                    <a:solidFill>
                      <a:srgbClr val="0066FF"/>
                    </a:solidFill>
                  </a:rPr>
                  <a:t> </a:t>
                </a:r>
                <a:r>
                  <a:rPr lang="vi-VN" sz="2800" dirty="0" err="1">
                    <a:solidFill>
                      <a:srgbClr val="0066FF"/>
                    </a:solidFill>
                  </a:rPr>
                  <a:t>thường</a:t>
                </a:r>
                <a:r>
                  <a:rPr lang="vi-VN" sz="2800" dirty="0">
                    <a:solidFill>
                      <a:srgbClr val="0066FF"/>
                    </a:solidFill>
                  </a:rPr>
                  <a:t> </a:t>
                </a:r>
                <a:r>
                  <a:rPr lang="vi-VN" sz="2800" dirty="0" err="1">
                    <a:solidFill>
                      <a:srgbClr val="0066FF"/>
                    </a:solidFill>
                  </a:rPr>
                  <a:t>dùng</a:t>
                </a:r>
                <a:r>
                  <a:rPr lang="vi-VN" sz="2800" dirty="0">
                    <a:solidFill>
                      <a:srgbClr val="0066FF"/>
                    </a:solidFill>
                  </a:rPr>
                  <a:t> </a:t>
                </a:r>
                <a:r>
                  <a:rPr lang="vi-VN" sz="2800" dirty="0" err="1">
                    <a:solidFill>
                      <a:srgbClr val="0066FF"/>
                    </a:solidFill>
                  </a:rPr>
                  <a:t>là</a:t>
                </a:r>
                <a:r>
                  <a:rPr lang="vi-VN" sz="2800" dirty="0">
                    <a:solidFill>
                      <a:srgbClr val="0066FF"/>
                    </a:solidFill>
                  </a:rPr>
                  <a:t>:</a:t>
                </a:r>
              </a:p>
              <a:p>
                <a:pPr lvl="2" algn="just"/>
                <a:r>
                  <a:rPr lang="vi-VN" sz="2800" dirty="0">
                    <a:solidFill>
                      <a:srgbClr val="FF0000"/>
                    </a:solidFill>
                  </a:rPr>
                  <a:t>Phân </a:t>
                </a:r>
                <a:r>
                  <a:rPr lang="vi-VN" sz="2800" dirty="0" err="1">
                    <a:solidFill>
                      <a:srgbClr val="FF0000"/>
                    </a:solidFill>
                  </a:rPr>
                  <a:t>phối</a:t>
                </a:r>
                <a:r>
                  <a:rPr lang="vi-VN" sz="2800" dirty="0">
                    <a:solidFill>
                      <a:srgbClr val="FF0000"/>
                    </a:solidFill>
                  </a:rPr>
                  <a:t> </a:t>
                </a:r>
                <a:r>
                  <a:rPr lang="vi-VN" sz="2800" dirty="0" err="1">
                    <a:solidFill>
                      <a:srgbClr val="FF0000"/>
                    </a:solidFill>
                  </a:rPr>
                  <a:t>chuẩn</a:t>
                </a:r>
                <a:r>
                  <a:rPr lang="vi-VN" sz="2800" dirty="0">
                    <a:solidFill>
                      <a:srgbClr val="FF0000"/>
                    </a:solidFill>
                  </a:rPr>
                  <a:t> (</a:t>
                </a:r>
                <a:r>
                  <a:rPr lang="vi-VN" sz="2800" dirty="0" err="1">
                    <a:solidFill>
                      <a:srgbClr val="FF0000"/>
                    </a:solidFill>
                  </a:rPr>
                  <a:t>Normal</a:t>
                </a:r>
                <a:r>
                  <a:rPr lang="vi-VN" sz="2800" dirty="0">
                    <a:solidFill>
                      <a:srgbClr val="FF0000"/>
                    </a:solidFill>
                  </a:rPr>
                  <a:t> </a:t>
                </a:r>
                <a:r>
                  <a:rPr lang="vi-VN" sz="2800" dirty="0" err="1">
                    <a:solidFill>
                      <a:srgbClr val="FF0000"/>
                    </a:solidFill>
                  </a:rPr>
                  <a:t>Distribution</a:t>
                </a:r>
                <a:r>
                  <a:rPr lang="vi-VN" sz="2800" dirty="0">
                    <a:solidFill>
                      <a:srgbClr val="FF0000"/>
                    </a:solidFill>
                  </a:rPr>
                  <a:t> hay </a:t>
                </a:r>
                <a:r>
                  <a:rPr lang="vi-VN" sz="2800" dirty="0" err="1">
                    <a:solidFill>
                      <a:srgbClr val="FF0000"/>
                    </a:solidFill>
                  </a:rPr>
                  <a:t>Gauss</a:t>
                </a:r>
                <a:r>
                  <a:rPr lang="vi-VN" sz="2800" dirty="0">
                    <a:solidFill>
                      <a:srgbClr val="FF0000"/>
                    </a:solidFill>
                  </a:rPr>
                  <a:t> </a:t>
                </a:r>
                <a:r>
                  <a:rPr lang="vi-VN" sz="2800" dirty="0" err="1">
                    <a:solidFill>
                      <a:srgbClr val="FF0000"/>
                    </a:solidFill>
                  </a:rPr>
                  <a:t>Distribution</a:t>
                </a:r>
                <a:r>
                  <a:rPr lang="vi-VN" sz="2800" dirty="0">
                    <a:solidFill>
                      <a:srgbClr val="FF0000"/>
                    </a:solidFill>
                  </a:rPr>
                  <a:t>): </a:t>
                </a:r>
                <a:r>
                  <a:rPr lang="vi-VN" sz="2800" dirty="0" err="1">
                    <a:solidFill>
                      <a:srgbClr val="FF0000"/>
                    </a:solidFill>
                  </a:rPr>
                  <a:t>thường</a:t>
                </a:r>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dùng</a:t>
                </a:r>
                <a:r>
                  <a:rPr lang="vi-VN" sz="2800" dirty="0">
                    <a:solidFill>
                      <a:srgbClr val="FF0000"/>
                    </a:solidFill>
                  </a:rPr>
                  <a:t> cho </a:t>
                </a:r>
                <a:r>
                  <a:rPr lang="vi-VN" sz="2800" dirty="0" err="1">
                    <a:solidFill>
                      <a:srgbClr val="FF0000"/>
                    </a:solidFill>
                  </a:rPr>
                  <a:t>các</a:t>
                </a:r>
                <a:r>
                  <a:rPr lang="vi-VN" sz="2800" dirty="0">
                    <a:solidFill>
                      <a:srgbClr val="FF0000"/>
                    </a:solidFill>
                  </a:rPr>
                  <a:t> </a:t>
                </a:r>
                <a:r>
                  <a:rPr lang="vi-VN" sz="2800" dirty="0" err="1">
                    <a:solidFill>
                      <a:srgbClr val="FF0000"/>
                    </a:solidFill>
                  </a:rPr>
                  <a:t>biến</a:t>
                </a:r>
                <a:r>
                  <a:rPr lang="vi-VN" sz="2800" dirty="0">
                    <a:solidFill>
                      <a:srgbClr val="FF0000"/>
                    </a:solidFill>
                  </a:rPr>
                  <a:t> </a:t>
                </a:r>
                <a:r>
                  <a:rPr lang="vi-VN" sz="2800" dirty="0" err="1">
                    <a:solidFill>
                      <a:srgbClr val="FF0000"/>
                    </a:solidFill>
                  </a:rPr>
                  <a:t>ngẫu</a:t>
                </a:r>
                <a:r>
                  <a:rPr lang="vi-VN" sz="2800" dirty="0">
                    <a:solidFill>
                      <a:srgbClr val="FF0000"/>
                    </a:solidFill>
                  </a:rPr>
                  <a:t> nhiên </a:t>
                </a:r>
                <a:r>
                  <a:rPr lang="vi-VN" sz="2800" dirty="0" err="1">
                    <a:solidFill>
                      <a:srgbClr val="FF0000"/>
                    </a:solidFill>
                  </a:rPr>
                  <a:t>có</a:t>
                </a:r>
                <a:r>
                  <a:rPr lang="vi-VN" sz="2800" dirty="0">
                    <a:solidFill>
                      <a:srgbClr val="FF0000"/>
                    </a:solidFill>
                  </a:rPr>
                  <a:t> </a:t>
                </a:r>
                <a:r>
                  <a:rPr lang="vi-VN" sz="2800" dirty="0" err="1">
                    <a:solidFill>
                      <a:srgbClr val="FF0000"/>
                    </a:solidFill>
                  </a:rPr>
                  <a:t>giá</a:t>
                </a:r>
                <a:r>
                  <a:rPr lang="vi-VN" sz="2800" dirty="0">
                    <a:solidFill>
                      <a:srgbClr val="FF0000"/>
                    </a:solidFill>
                  </a:rPr>
                  <a:t> </a:t>
                </a:r>
                <a:r>
                  <a:rPr lang="vi-VN" sz="2800" dirty="0" err="1">
                    <a:solidFill>
                      <a:srgbClr val="FF0000"/>
                    </a:solidFill>
                  </a:rPr>
                  <a:t>trị</a:t>
                </a:r>
                <a:r>
                  <a:rPr lang="vi-VN" sz="2800" dirty="0">
                    <a:solidFill>
                      <a:srgbClr val="FF0000"/>
                    </a:solidFill>
                  </a:rPr>
                  <a:t> </a:t>
                </a:r>
                <a:r>
                  <a:rPr lang="vi-VN" sz="2800" dirty="0" err="1">
                    <a:solidFill>
                      <a:srgbClr val="FF0000"/>
                    </a:solidFill>
                  </a:rPr>
                  <a:t>là</a:t>
                </a:r>
                <a:r>
                  <a:rPr lang="vi-VN" sz="2800" dirty="0">
                    <a:solidFill>
                      <a:srgbClr val="FF0000"/>
                    </a:solidFill>
                  </a:rPr>
                  <a:t> liên </a:t>
                </a:r>
                <a:r>
                  <a:rPr lang="vi-VN" sz="2800" dirty="0" err="1">
                    <a:solidFill>
                      <a:srgbClr val="FF0000"/>
                    </a:solidFill>
                  </a:rPr>
                  <a:t>lục</a:t>
                </a:r>
                <a:r>
                  <a:rPr lang="vi-VN" sz="2800" dirty="0">
                    <a:solidFill>
                      <a:srgbClr val="FF0000"/>
                    </a:solidFill>
                  </a:rPr>
                  <a:t>.</a:t>
                </a:r>
              </a:p>
              <a:p>
                <a:pPr lvl="2" algn="just"/>
                <a:r>
                  <a:rPr lang="vi-VN" sz="2800" dirty="0">
                    <a:solidFill>
                      <a:srgbClr val="0066FF"/>
                    </a:solidFill>
                  </a:rPr>
                  <a:t>Phân </a:t>
                </a:r>
                <a:r>
                  <a:rPr lang="vi-VN" sz="2800" dirty="0" err="1">
                    <a:solidFill>
                      <a:srgbClr val="0066FF"/>
                    </a:solidFill>
                  </a:rPr>
                  <a:t>phối</a:t>
                </a:r>
                <a:r>
                  <a:rPr lang="vi-VN" sz="2800" dirty="0">
                    <a:solidFill>
                      <a:srgbClr val="0066FF"/>
                    </a:solidFill>
                  </a:rPr>
                  <a:t> đa </a:t>
                </a:r>
                <a:r>
                  <a:rPr lang="vi-VN" sz="2800" dirty="0" err="1">
                    <a:solidFill>
                      <a:srgbClr val="0066FF"/>
                    </a:solidFill>
                  </a:rPr>
                  <a:t>thức</a:t>
                </a:r>
                <a:r>
                  <a:rPr lang="vi-VN" sz="2800" dirty="0">
                    <a:solidFill>
                      <a:srgbClr val="0066FF"/>
                    </a:solidFill>
                  </a:rPr>
                  <a:t> (</a:t>
                </a:r>
                <a:r>
                  <a:rPr lang="vi-VN" sz="2800" dirty="0" err="1">
                    <a:solidFill>
                      <a:srgbClr val="0066FF"/>
                    </a:solidFill>
                  </a:rPr>
                  <a:t>Multinomial</a:t>
                </a:r>
                <a:r>
                  <a:rPr lang="vi-VN" sz="2800" dirty="0">
                    <a:solidFill>
                      <a:srgbClr val="0066FF"/>
                    </a:solidFill>
                  </a:rPr>
                  <a:t> </a:t>
                </a:r>
                <a:r>
                  <a:rPr lang="vi-VN" sz="2800" dirty="0" err="1">
                    <a:solidFill>
                      <a:srgbClr val="0066FF"/>
                    </a:solidFill>
                  </a:rPr>
                  <a:t>Distribution</a:t>
                </a:r>
                <a:r>
                  <a:rPr lang="vi-VN" sz="2800" dirty="0">
                    <a:solidFill>
                      <a:srgbClr val="0066FF"/>
                    </a:solidFill>
                  </a:rPr>
                  <a:t>): </a:t>
                </a:r>
                <a:r>
                  <a:rPr lang="vi-VN" sz="2800" dirty="0" err="1">
                    <a:solidFill>
                      <a:srgbClr val="0066FF"/>
                    </a:solidFill>
                  </a:rPr>
                  <a:t>thường</a:t>
                </a:r>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dùng</a:t>
                </a:r>
                <a:r>
                  <a:rPr lang="vi-VN" sz="2800" dirty="0">
                    <a:solidFill>
                      <a:srgbClr val="0066FF"/>
                    </a:solidFill>
                  </a:rPr>
                  <a:t> cho </a:t>
                </a:r>
                <a:r>
                  <a:rPr lang="vi-VN" sz="2800" dirty="0" err="1">
                    <a:solidFill>
                      <a:srgbClr val="0066FF"/>
                    </a:solidFill>
                  </a:rPr>
                  <a:t>các</a:t>
                </a:r>
                <a:r>
                  <a:rPr lang="vi-VN" sz="2800" dirty="0">
                    <a:solidFill>
                      <a:srgbClr val="0066FF"/>
                    </a:solidFill>
                  </a:rPr>
                  <a:t> </a:t>
                </a:r>
                <a:r>
                  <a:rPr lang="vi-VN" sz="2800" dirty="0" err="1">
                    <a:solidFill>
                      <a:srgbClr val="0066FF"/>
                    </a:solidFill>
                  </a:rPr>
                  <a:t>biến</a:t>
                </a:r>
                <a:r>
                  <a:rPr lang="vi-VN" sz="2800" dirty="0">
                    <a:solidFill>
                      <a:srgbClr val="0066FF"/>
                    </a:solidFill>
                  </a:rPr>
                  <a:t> </a:t>
                </a:r>
                <a:r>
                  <a:rPr lang="vi-VN" sz="2800" dirty="0" err="1">
                    <a:solidFill>
                      <a:srgbClr val="0066FF"/>
                    </a:solidFill>
                  </a:rPr>
                  <a:t>ngẫu</a:t>
                </a:r>
                <a:r>
                  <a:rPr lang="vi-VN" sz="2800" dirty="0">
                    <a:solidFill>
                      <a:srgbClr val="0066FF"/>
                    </a:solidFill>
                  </a:rPr>
                  <a:t> nhiên </a:t>
                </a:r>
                <a:r>
                  <a:rPr lang="vi-VN" sz="2800" dirty="0" err="1">
                    <a:solidFill>
                      <a:srgbClr val="0066FF"/>
                    </a:solidFill>
                  </a:rPr>
                  <a:t>có</a:t>
                </a:r>
                <a:r>
                  <a:rPr lang="vi-VN" sz="2800" dirty="0">
                    <a:solidFill>
                      <a:srgbClr val="0066FF"/>
                    </a:solidFill>
                  </a:rPr>
                  <a:t> </a:t>
                </a:r>
                <a:r>
                  <a:rPr lang="vi-VN" sz="2800" dirty="0" err="1">
                    <a:solidFill>
                      <a:srgbClr val="0066FF"/>
                    </a:solidFill>
                  </a:rPr>
                  <a:t>giá</a:t>
                </a:r>
                <a:r>
                  <a:rPr lang="vi-VN" sz="2800" dirty="0">
                    <a:solidFill>
                      <a:srgbClr val="0066FF"/>
                    </a:solidFill>
                  </a:rPr>
                  <a:t> </a:t>
                </a:r>
                <a:r>
                  <a:rPr lang="vi-VN" sz="2800" dirty="0" err="1">
                    <a:solidFill>
                      <a:srgbClr val="0066FF"/>
                    </a:solidFill>
                  </a:rPr>
                  <a:t>trị</a:t>
                </a:r>
                <a:r>
                  <a:rPr lang="vi-VN" sz="2800" dirty="0">
                    <a:solidFill>
                      <a:srgbClr val="0066FF"/>
                    </a:solidFill>
                  </a:rPr>
                  <a:t> </a:t>
                </a:r>
                <a:r>
                  <a:rPr lang="vi-VN" sz="2800" dirty="0" err="1">
                    <a:solidFill>
                      <a:srgbClr val="0066FF"/>
                    </a:solidFill>
                  </a:rPr>
                  <a:t>rời</a:t>
                </a:r>
                <a:r>
                  <a:rPr lang="vi-VN" sz="2800" dirty="0">
                    <a:solidFill>
                      <a:srgbClr val="0066FF"/>
                    </a:solidFill>
                  </a:rPr>
                  <a:t> </a:t>
                </a:r>
                <a:r>
                  <a:rPr lang="vi-VN" sz="2800" dirty="0" err="1">
                    <a:solidFill>
                      <a:srgbClr val="0066FF"/>
                    </a:solidFill>
                  </a:rPr>
                  <a:t>rạc</a:t>
                </a:r>
                <a:r>
                  <a:rPr lang="vi-VN" sz="2800" dirty="0">
                    <a:solidFill>
                      <a:srgbClr val="0066FF"/>
                    </a:solidFill>
                  </a:rPr>
                  <a:t> </a:t>
                </a:r>
                <a:r>
                  <a:rPr lang="vi-VN" sz="2800" dirty="0" err="1">
                    <a:solidFill>
                      <a:srgbClr val="0066FF"/>
                    </a:solidFill>
                  </a:rPr>
                  <a:t>đếm</a:t>
                </a:r>
                <a:r>
                  <a:rPr lang="vi-VN" sz="2800" dirty="0">
                    <a:solidFill>
                      <a:srgbClr val="0066FF"/>
                    </a:solidFill>
                  </a:rPr>
                  <a:t> </a:t>
                </a:r>
                <a:r>
                  <a:rPr lang="vi-VN" sz="2800" dirty="0" err="1">
                    <a:solidFill>
                      <a:srgbClr val="0066FF"/>
                    </a:solidFill>
                  </a:rPr>
                  <a:t>được</a:t>
                </a:r>
                <a:r>
                  <a:rPr lang="vi-VN" sz="2800" dirty="0">
                    <a:solidFill>
                      <a:srgbClr val="0066FF"/>
                    </a:solidFill>
                  </a:rPr>
                  <a:t>.</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139612447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89129D-638B-4DCA-830A-FBF9871433CE}"/>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D2CFB27-AAF2-4E13-B6AB-2FE55B0739B0}"/>
                  </a:ext>
                </a:extLst>
              </p:cNvPr>
              <p:cNvSpPr>
                <a:spLocks noGrp="1"/>
              </p:cNvSpPr>
              <p:nvPr>
                <p:ph idx="1"/>
              </p:nvPr>
            </p:nvSpPr>
            <p:spPr/>
            <p:txBody>
              <a:bodyPr/>
              <a:lstStyle/>
              <a:p>
                <a:pPr algn="just"/>
                <a:r>
                  <a:rPr lang="vi-VN" sz="2800" dirty="0">
                    <a:solidFill>
                      <a:srgbClr val="0066FF"/>
                    </a:solidFill>
                  </a:rPr>
                  <a:t>Cách </a:t>
                </a:r>
                <a:r>
                  <a:rPr lang="vi-VN" sz="2800" dirty="0" err="1">
                    <a:solidFill>
                      <a:srgbClr val="0066FF"/>
                    </a:solidFill>
                  </a:rPr>
                  <a:t>tính</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𝑃</m:t>
                    </m:r>
                    <m:r>
                      <a:rPr lang="vi-VN" sz="2800" i="1" dirty="0" smtClean="0">
                        <a:solidFill>
                          <a:srgbClr val="0066FF"/>
                        </a:solidFill>
                        <a:latin typeface="Cambria Math" panose="02040503050406030204" pitchFamily="18" charset="0"/>
                      </a:rPr>
                      <m:t>(</m:t>
                    </m:r>
                    <m:r>
                      <a:rPr lang="vi-VN" sz="2800" i="1" dirty="0" smtClean="0">
                        <a:solidFill>
                          <a:srgbClr val="0066FF"/>
                        </a:solidFill>
                        <a:latin typeface="Cambria Math" panose="02040503050406030204" pitchFamily="18" charset="0"/>
                      </a:rPr>
                      <m:t>𝑋</m:t>
                    </m:r>
                    <m:r>
                      <a:rPr lang="vi-VN" sz="2800" b="0" i="1" dirty="0" smtClean="0">
                        <a:solidFill>
                          <a:srgbClr val="0066FF"/>
                        </a:solidFill>
                        <a:latin typeface="Cambria Math" panose="02040503050406030204" pitchFamily="18" charset="0"/>
                      </a:rPr>
                      <m:t>|</m:t>
                    </m:r>
                    <m:r>
                      <a:rPr lang="vi-VN" sz="2800" b="0" i="1" dirty="0" smtClean="0">
                        <a:solidFill>
                          <a:srgbClr val="0066FF"/>
                        </a:solidFill>
                        <a:latin typeface="Cambria Math" panose="02040503050406030204" pitchFamily="18" charset="0"/>
                      </a:rPr>
                      <m:t>𝑦</m:t>
                    </m:r>
                    <m:r>
                      <a:rPr lang="vi-VN" sz="2800" i="1" dirty="0" smtClean="0">
                        <a:solidFill>
                          <a:srgbClr val="0066FF"/>
                        </a:solidFill>
                        <a:latin typeface="Cambria Math" panose="02040503050406030204" pitchFamily="18" charset="0"/>
                      </a:rPr>
                      <m:t>)</m:t>
                    </m:r>
                  </m:oMath>
                </a14:m>
                <a:r>
                  <a:rPr lang="vi-VN" sz="2800" dirty="0">
                    <a:solidFill>
                      <a:srgbClr val="0066FF"/>
                    </a:solidFill>
                  </a:rPr>
                  <a:t> hay </a:t>
                </a:r>
                <a:r>
                  <a:rPr lang="vi-VN" sz="2800" dirty="0" err="1">
                    <a:solidFill>
                      <a:srgbClr val="0066FF"/>
                    </a:solidFill>
                  </a:rPr>
                  <a:t>Likelihood</a:t>
                </a:r>
                <a:r>
                  <a:rPr lang="vi-VN" sz="2800" dirty="0">
                    <a:solidFill>
                      <a:srgbClr val="0066FF"/>
                    </a:solidFill>
                  </a:rPr>
                  <a:t>:</a:t>
                </a:r>
              </a:p>
              <a:p>
                <a:pPr lvl="1" algn="just"/>
                <a:r>
                  <a:rPr lang="vi-VN" sz="2800" dirty="0">
                    <a:solidFill>
                      <a:srgbClr val="FF0000"/>
                    </a:solidFill>
                  </a:rPr>
                  <a:t>Tương </a:t>
                </a:r>
                <a:r>
                  <a:rPr lang="vi-VN" sz="2800" dirty="0" err="1">
                    <a:solidFill>
                      <a:srgbClr val="FF0000"/>
                    </a:solidFill>
                  </a:rPr>
                  <a:t>tự</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trong </a:t>
                </a:r>
                <a:r>
                  <a:rPr lang="vi-VN" sz="2800" dirty="0" err="1">
                    <a:solidFill>
                      <a:srgbClr val="FF0000"/>
                    </a:solidFill>
                  </a:rPr>
                  <a:t>Naive</a:t>
                </a:r>
                <a:r>
                  <a:rPr lang="vi-VN" sz="2800" dirty="0">
                    <a:solidFill>
                      <a:srgbClr val="FF0000"/>
                    </a:solidFill>
                  </a:rPr>
                  <a:t> </a:t>
                </a:r>
                <a:r>
                  <a:rPr lang="vi-VN" sz="2800" dirty="0" err="1">
                    <a:solidFill>
                      <a:srgbClr val="FF0000"/>
                    </a:solidFill>
                  </a:rPr>
                  <a:t>Bayes</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𝑋</m:t>
                    </m:r>
                    <m:r>
                      <a:rPr lang="vi-VN" sz="2800" i="1" dirty="0" err="1"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𝑦</m:t>
                    </m:r>
                    <m:r>
                      <a:rPr lang="vi-VN" sz="2800" i="1" dirty="0" smtClean="0">
                        <a:solidFill>
                          <a:srgbClr val="FF0000"/>
                        </a:solidFill>
                        <a:latin typeface="Cambria Math" panose="02040503050406030204" pitchFamily="18" charset="0"/>
                      </a:rPr>
                      <m:t>)</m:t>
                    </m:r>
                  </m:oMath>
                </a14:m>
                <a:r>
                  <a:rPr lang="vi-VN" sz="2800" dirty="0">
                    <a:solidFill>
                      <a:srgbClr val="FF0000"/>
                    </a:solidFill>
                  </a:rPr>
                  <a:t> </a:t>
                </a:r>
                <a:r>
                  <a:rPr lang="vi-VN" sz="2800" dirty="0" err="1">
                    <a:solidFill>
                      <a:srgbClr val="FF0000"/>
                    </a:solidFill>
                  </a:rPr>
                  <a:t>được</a:t>
                </a:r>
                <a:r>
                  <a:rPr lang="vi-VN" sz="2800" dirty="0">
                    <a:solidFill>
                      <a:srgbClr val="FF0000"/>
                    </a:solidFill>
                  </a:rPr>
                  <a:t> </a:t>
                </a:r>
                <a:r>
                  <a:rPr lang="vi-VN" sz="2800" dirty="0" err="1">
                    <a:solidFill>
                      <a:srgbClr val="FF0000"/>
                    </a:solidFill>
                  </a:rPr>
                  <a:t>định</a:t>
                </a:r>
                <a:r>
                  <a:rPr lang="vi-VN" sz="2800" dirty="0">
                    <a:solidFill>
                      <a:srgbClr val="FF0000"/>
                    </a:solidFill>
                  </a:rPr>
                  <a:t> </a:t>
                </a:r>
                <a:r>
                  <a:rPr lang="vi-VN" sz="2800" dirty="0" err="1">
                    <a:solidFill>
                      <a:srgbClr val="FF0000"/>
                    </a:solidFill>
                  </a:rPr>
                  <a:t>nghĩa</a:t>
                </a:r>
                <a:r>
                  <a:rPr lang="vi-VN" sz="2800" dirty="0">
                    <a:solidFill>
                      <a:srgbClr val="FF0000"/>
                    </a:solidFill>
                  </a:rPr>
                  <a:t> </a:t>
                </a:r>
                <a:r>
                  <a:rPr lang="vi-VN" sz="2800" dirty="0" err="1">
                    <a:solidFill>
                      <a:srgbClr val="FF0000"/>
                    </a:solidFill>
                  </a:rPr>
                  <a:t>là</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suất</a:t>
                </a:r>
                <a:r>
                  <a:rPr lang="vi-VN" sz="2800" dirty="0">
                    <a:solidFill>
                      <a:srgbClr val="FF0000"/>
                    </a:solidFill>
                  </a:rPr>
                  <a:t> </a:t>
                </a:r>
                <a:r>
                  <a:rPr lang="vi-VN" sz="2800" dirty="0" err="1">
                    <a:solidFill>
                      <a:srgbClr val="FF0000"/>
                    </a:solidFill>
                  </a:rPr>
                  <a:t>để</a:t>
                </a:r>
                <a:r>
                  <a:rPr lang="vi-VN" sz="2800" dirty="0">
                    <a:solidFill>
                      <a:srgbClr val="FF0000"/>
                    </a:solidFill>
                  </a:rPr>
                  <a:t> </a:t>
                </a:r>
                <a:r>
                  <a:rPr lang="vi-VN" sz="2800" dirty="0" err="1">
                    <a:solidFill>
                      <a:srgbClr val="FF0000"/>
                    </a:solidFill>
                  </a:rPr>
                  <a:t>bắt</a:t>
                </a:r>
                <a:r>
                  <a:rPr lang="vi-VN" sz="2800" dirty="0">
                    <a:solidFill>
                      <a:srgbClr val="FF0000"/>
                    </a:solidFill>
                  </a:rPr>
                  <a:t> </a:t>
                </a:r>
                <a:r>
                  <a:rPr lang="vi-VN" sz="2800" dirty="0" err="1">
                    <a:solidFill>
                      <a:srgbClr val="FF0000"/>
                    </a:solidFill>
                  </a:rPr>
                  <a:t>gặp</a:t>
                </a:r>
                <a:r>
                  <a:rPr lang="vi-VN" sz="2800" dirty="0">
                    <a:solidFill>
                      <a:srgbClr val="FF0000"/>
                    </a:solidFill>
                  </a:rPr>
                  <a:t> </a:t>
                </a:r>
                <a:r>
                  <a:rPr lang="vi-VN" sz="2800" dirty="0" err="1">
                    <a:solidFill>
                      <a:srgbClr val="FF0000"/>
                    </a:solidFill>
                  </a:rPr>
                  <a:t>một</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tương </a:t>
                </a:r>
                <a:r>
                  <a:rPr lang="vi-VN" sz="2800" dirty="0" err="1">
                    <a:solidFill>
                      <a:srgbClr val="FF0000"/>
                    </a:solidFill>
                  </a:rPr>
                  <a:t>tự</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𝑋</m:t>
                    </m:r>
                  </m:oMath>
                </a14:m>
                <a:r>
                  <a:rPr lang="vi-VN" sz="2800" dirty="0">
                    <a:solidFill>
                      <a:srgbClr val="FF0000"/>
                    </a:solidFill>
                  </a:rPr>
                  <a:t> trong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thuộc</a:t>
                </a:r>
                <a:r>
                  <a:rPr lang="vi-VN" sz="2800" dirty="0">
                    <a:solidFill>
                      <a:srgbClr val="FF0000"/>
                    </a:solidFill>
                  </a:rPr>
                  <a:t> </a:t>
                </a:r>
                <a:r>
                  <a:rPr lang="vi-VN" sz="2800" dirty="0" err="1">
                    <a:solidFill>
                      <a:srgbClr val="FF0000"/>
                    </a:solidFill>
                  </a:rPr>
                  <a:t>lớp</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 Công </a:t>
                </a:r>
                <a:r>
                  <a:rPr lang="vi-VN" sz="2800" dirty="0" err="1">
                    <a:solidFill>
                      <a:srgbClr val="FF0000"/>
                    </a:solidFill>
                  </a:rPr>
                  <a:t>thức</a:t>
                </a:r>
                <a:r>
                  <a:rPr lang="vi-VN" sz="2800" dirty="0">
                    <a:solidFill>
                      <a:srgbClr val="FF0000"/>
                    </a:solidFill>
                  </a:rPr>
                  <a:t> </a:t>
                </a:r>
                <a:r>
                  <a:rPr lang="vi-VN" sz="2800" dirty="0" err="1">
                    <a:solidFill>
                      <a:srgbClr val="FF0000"/>
                    </a:solidFill>
                  </a:rPr>
                  <a:t>cụ</a:t>
                </a:r>
                <a:r>
                  <a:rPr lang="vi-VN" sz="2800" dirty="0">
                    <a:solidFill>
                      <a:srgbClr val="FF0000"/>
                    </a:solidFill>
                  </a:rPr>
                  <a:t> </a:t>
                </a:r>
                <a:r>
                  <a:rPr lang="vi-VN" sz="2800" dirty="0" err="1">
                    <a:solidFill>
                      <a:srgbClr val="FF0000"/>
                    </a:solidFill>
                  </a:rPr>
                  <a:t>thể</a:t>
                </a:r>
                <a:r>
                  <a:rPr lang="vi-VN" sz="2800" dirty="0">
                    <a:solidFill>
                      <a:srgbClr val="FF0000"/>
                    </a:solidFill>
                  </a:rPr>
                  <a:t>:</a:t>
                </a:r>
                <a:endParaRPr lang="vi-VN" sz="2800" dirty="0">
                  <a:solidFill>
                    <a:srgbClr val="0066FF"/>
                  </a:solidFill>
                </a:endParaRPr>
              </a:p>
              <a:p>
                <a:pPr marL="914400" lvl="2" indent="0" algn="just">
                  <a:buNone/>
                </a:pPr>
                <a14:m>
                  <m:oMathPara xmlns:m="http://schemas.openxmlformats.org/officeDocument/2006/math">
                    <m:oMathParaPr>
                      <m:jc m:val="centerGroup"/>
                    </m:oMathParaPr>
                    <m:oMath xmlns:m="http://schemas.openxmlformats.org/officeDocument/2006/math">
                      <m:r>
                        <a:rPr lang="vi-VN" sz="2800" b="0" i="1" smtClean="0">
                          <a:solidFill>
                            <a:srgbClr val="0066FF"/>
                          </a:solidFill>
                          <a:latin typeface="Cambria Math" panose="02040503050406030204" pitchFamily="18" charset="0"/>
                        </a:rPr>
                        <m:t>𝑃</m:t>
                      </m:r>
                      <m:d>
                        <m:dPr>
                          <m:ctrlPr>
                            <a:rPr lang="vi-VN" sz="2800" b="0" i="1" smtClean="0">
                              <a:solidFill>
                                <a:srgbClr val="0066FF"/>
                              </a:solidFill>
                              <a:latin typeface="Cambria Math" panose="02040503050406030204" pitchFamily="18" charset="0"/>
                            </a:rPr>
                          </m:ctrlPr>
                        </m:dPr>
                        <m:e>
                          <m:r>
                            <a:rPr lang="vi-VN" sz="2800" b="0" i="1" smtClean="0">
                              <a:solidFill>
                                <a:srgbClr val="0066FF"/>
                              </a:solidFill>
                              <a:latin typeface="Cambria Math" panose="02040503050406030204" pitchFamily="18" charset="0"/>
                            </a:rPr>
                            <m:t>𝑋</m:t>
                          </m:r>
                        </m:e>
                        <m:e>
                          <m:r>
                            <a:rPr lang="vi-VN" sz="2800" b="0" i="1" smtClean="0">
                              <a:solidFill>
                                <a:srgbClr val="0066FF"/>
                              </a:solidFill>
                              <a:latin typeface="Cambria Math" panose="02040503050406030204" pitchFamily="18" charset="0"/>
                            </a:rPr>
                            <m:t>𝑦</m:t>
                          </m:r>
                        </m:e>
                      </m:d>
                      <m:r>
                        <a:rPr lang="vi-VN" sz="2800" b="0" i="1" smtClean="0">
                          <a:solidFill>
                            <a:srgbClr val="0066FF"/>
                          </a:solidFill>
                          <a:latin typeface="Cambria Math" panose="02040503050406030204" pitchFamily="18" charset="0"/>
                        </a:rPr>
                        <m:t>=</m:t>
                      </m:r>
                      <m:f>
                        <m:fPr>
                          <m:ctrlPr>
                            <a:rPr lang="vi-VN" sz="2800" b="0" i="1" smtClean="0">
                              <a:solidFill>
                                <a:srgbClr val="0066FF"/>
                              </a:solidFill>
                              <a:latin typeface="Cambria Math" panose="02040503050406030204" pitchFamily="18" charset="0"/>
                            </a:rPr>
                          </m:ctrlPr>
                        </m:fPr>
                        <m:num>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ượ</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trong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ớ</m:t>
                          </m:r>
                          <m:r>
                            <m:rPr>
                              <m:sty m:val="p"/>
                            </m:rPr>
                            <a:rPr lang="vi-VN" sz="2800" b="0" i="0" smtClean="0">
                              <a:solidFill>
                                <a:srgbClr val="0066FF"/>
                              </a:solidFill>
                              <a:latin typeface="Cambria Math" panose="02040503050406030204" pitchFamily="18" charset="0"/>
                            </a:rPr>
                            <m:t>p</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y</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ươ</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m:t>
                          </m:r>
                          <m:r>
                            <a:rPr lang="vi-VN" sz="2800" b="0" i="0" smtClean="0">
                              <a:solidFill>
                                <a:srgbClr val="0066FF"/>
                              </a:solidFill>
                              <a:latin typeface="Cambria Math" panose="02040503050406030204" pitchFamily="18" charset="0"/>
                            </a:rPr>
                            <m:t>ự </m:t>
                          </m:r>
                          <m:r>
                            <m:rPr>
                              <m:sty m:val="p"/>
                            </m:rPr>
                            <a:rPr lang="vi-VN" sz="2800" b="0" i="0" smtClean="0">
                              <a:solidFill>
                                <a:srgbClr val="0066FF"/>
                              </a:solidFill>
                              <a:latin typeface="Cambria Math" panose="02040503050406030204" pitchFamily="18" charset="0"/>
                            </a:rPr>
                            <m:t>v</m:t>
                          </m:r>
                          <m:r>
                            <a:rPr lang="vi-VN" sz="2800" b="0" i="0" smtClean="0">
                              <a:solidFill>
                                <a:srgbClr val="0066FF"/>
                              </a:solidFill>
                              <a:latin typeface="Cambria Math" panose="02040503050406030204" pitchFamily="18" charset="0"/>
                            </a:rPr>
                            <m:t>ớ</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X</m:t>
                          </m:r>
                        </m:num>
                        <m:den>
                          <m:r>
                            <m:rPr>
                              <m:sty m:val="p"/>
                            </m:rPr>
                            <a:rPr lang="vi-VN" sz="2800" b="0" i="0" smtClean="0">
                              <a:solidFill>
                                <a:srgbClr val="0066FF"/>
                              </a:solidFill>
                              <a:latin typeface="Cambria Math" panose="02040503050406030204" pitchFamily="18" charset="0"/>
                            </a:rPr>
                            <m:t>S</m:t>
                          </m:r>
                          <m:r>
                            <a:rPr lang="vi-VN" sz="2800" b="0" i="0" smtClean="0">
                              <a:solidFill>
                                <a:srgbClr val="0066FF"/>
                              </a:solidFill>
                              <a:latin typeface="Cambria Math" panose="02040503050406030204" pitchFamily="18" charset="0"/>
                            </a:rPr>
                            <m:t>ố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ượ</m:t>
                          </m:r>
                          <m:r>
                            <m:rPr>
                              <m:sty m:val="p"/>
                            </m:rPr>
                            <a:rPr lang="vi-VN" sz="2800" b="0" i="0" smtClean="0">
                              <a:solidFill>
                                <a:srgbClr val="0066FF"/>
                              </a:solidFill>
                              <a:latin typeface="Cambria Math" panose="02040503050406030204" pitchFamily="18" charset="0"/>
                            </a:rPr>
                            <m:t>ng</m:t>
                          </m:r>
                          <m:r>
                            <a:rPr lang="vi-VN" sz="2800" b="0" i="0" smtClean="0">
                              <a:solidFill>
                                <a:srgbClr val="0066FF"/>
                              </a:solidFill>
                              <a:latin typeface="Cambria Math" panose="02040503050406030204" pitchFamily="18" charset="0"/>
                            </a:rPr>
                            <m:t> đ</m:t>
                          </m:r>
                          <m:r>
                            <m:rPr>
                              <m:sty m:val="p"/>
                            </m:rPr>
                            <a:rPr lang="vi-VN" sz="2800" b="0" i="0" smtClean="0">
                              <a:solidFill>
                                <a:srgbClr val="0066FF"/>
                              </a:solidFill>
                              <a:latin typeface="Cambria Math" panose="02040503050406030204" pitchFamily="18" charset="0"/>
                            </a:rPr>
                            <m:t>i</m:t>
                          </m:r>
                          <m:r>
                            <a:rPr lang="vi-VN" sz="2800" b="0" i="0" smtClean="0">
                              <a:solidFill>
                                <a:srgbClr val="0066FF"/>
                              </a:solidFill>
                              <a:latin typeface="Cambria Math" panose="02040503050406030204" pitchFamily="18" charset="0"/>
                            </a:rPr>
                            <m:t>ể</m:t>
                          </m:r>
                          <m:r>
                            <m:rPr>
                              <m:sty m:val="p"/>
                            </m:rPr>
                            <a:rPr lang="vi-VN" sz="2800" b="0" i="0" smtClean="0">
                              <a:solidFill>
                                <a:srgbClr val="0066FF"/>
                              </a:solidFill>
                              <a:latin typeface="Cambria Math" panose="02040503050406030204" pitchFamily="18" charset="0"/>
                            </a:rPr>
                            <m:t>m</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trong</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l</m:t>
                          </m:r>
                          <m:r>
                            <a:rPr lang="vi-VN" sz="2800" b="0" i="0" smtClean="0">
                              <a:solidFill>
                                <a:srgbClr val="0066FF"/>
                              </a:solidFill>
                              <a:latin typeface="Cambria Math" panose="02040503050406030204" pitchFamily="18" charset="0"/>
                            </a:rPr>
                            <m:t>ớ</m:t>
                          </m:r>
                          <m:r>
                            <m:rPr>
                              <m:sty m:val="p"/>
                            </m:rPr>
                            <a:rPr lang="vi-VN" sz="2800" b="0" i="0" smtClean="0">
                              <a:solidFill>
                                <a:srgbClr val="0066FF"/>
                              </a:solidFill>
                              <a:latin typeface="Cambria Math" panose="02040503050406030204" pitchFamily="18" charset="0"/>
                            </a:rPr>
                            <m:t>p</m:t>
                          </m:r>
                          <m:r>
                            <a:rPr lang="vi-VN" sz="2800" b="0" i="0" smtClean="0">
                              <a:solidFill>
                                <a:srgbClr val="0066FF"/>
                              </a:solidFill>
                              <a:latin typeface="Cambria Math" panose="02040503050406030204" pitchFamily="18" charset="0"/>
                            </a:rPr>
                            <m:t> </m:t>
                          </m:r>
                          <m:r>
                            <m:rPr>
                              <m:sty m:val="p"/>
                            </m:rPr>
                            <a:rPr lang="vi-VN" sz="2800" b="0" i="0" smtClean="0">
                              <a:solidFill>
                                <a:srgbClr val="0066FF"/>
                              </a:solidFill>
                              <a:latin typeface="Cambria Math" panose="02040503050406030204" pitchFamily="18" charset="0"/>
                            </a:rPr>
                            <m:t>y</m:t>
                          </m:r>
                        </m:den>
                      </m:f>
                    </m:oMath>
                  </m:oMathPara>
                </a14:m>
                <a:endParaRPr lang="vi-VN" sz="2800" dirty="0">
                  <a:solidFill>
                    <a:srgbClr val="0066FF"/>
                  </a:solidFill>
                </a:endParaRPr>
              </a:p>
              <a:p>
                <a:pPr lvl="1" algn="just"/>
                <a:r>
                  <a:rPr lang="vi-VN" sz="2800" dirty="0">
                    <a:solidFill>
                      <a:srgbClr val="FF0000"/>
                    </a:solidFill>
                  </a:rPr>
                  <a:t>Việc </a:t>
                </a:r>
                <a:r>
                  <a:rPr lang="vi-VN" sz="2800" dirty="0" err="1">
                    <a:solidFill>
                      <a:srgbClr val="FF0000"/>
                    </a:solidFill>
                  </a:rPr>
                  <a:t>xác</a:t>
                </a:r>
                <a:r>
                  <a:rPr lang="vi-VN" sz="2800" dirty="0">
                    <a:solidFill>
                      <a:srgbClr val="FF0000"/>
                    </a:solidFill>
                  </a:rPr>
                  <a:t> </a:t>
                </a:r>
                <a:r>
                  <a:rPr lang="vi-VN" sz="2800" dirty="0" err="1">
                    <a:solidFill>
                      <a:srgbClr val="FF0000"/>
                    </a:solidFill>
                  </a:rPr>
                  <a:t>định</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𝑋</m:t>
                    </m:r>
                    <m:r>
                      <a:rPr lang="vi-VN" sz="2800" i="1" dirty="0" err="1" smtClean="0">
                        <a:solidFill>
                          <a:srgbClr val="FF0000"/>
                        </a:solidFill>
                        <a:latin typeface="Cambria Math" panose="02040503050406030204" pitchFamily="18" charset="0"/>
                      </a:rPr>
                      <m:t>|</m:t>
                    </m:r>
                    <m:r>
                      <a:rPr lang="vi-VN" sz="2800" i="1" dirty="0" err="1" smtClean="0">
                        <a:solidFill>
                          <a:srgbClr val="FF0000"/>
                        </a:solidFill>
                        <a:latin typeface="Cambria Math" panose="02040503050406030204" pitchFamily="18" charset="0"/>
                      </a:rPr>
                      <m:t>𝑦</m:t>
                    </m:r>
                    <m:r>
                      <a:rPr lang="vi-VN" sz="2800" i="1" dirty="0" smtClean="0">
                        <a:solidFill>
                          <a:srgbClr val="FF0000"/>
                        </a:solidFill>
                        <a:latin typeface="Cambria Math" panose="02040503050406030204" pitchFamily="18" charset="0"/>
                      </a:rPr>
                      <m:t>)</m:t>
                    </m:r>
                  </m:oMath>
                </a14:m>
                <a:r>
                  <a:rPr lang="vi-VN" sz="2800" dirty="0">
                    <a:solidFill>
                      <a:srgbClr val="FF0000"/>
                    </a:solidFill>
                  </a:rPr>
                  <a:t> trong </a:t>
                </a:r>
                <a:r>
                  <a:rPr lang="vi-VN" sz="2800" dirty="0" err="1">
                    <a:solidFill>
                      <a:srgbClr val="FF0000"/>
                    </a:solidFill>
                  </a:rPr>
                  <a:t>thực</a:t>
                </a:r>
                <a:r>
                  <a:rPr lang="vi-VN" sz="2800" dirty="0">
                    <a:solidFill>
                      <a:srgbClr val="FF0000"/>
                    </a:solidFill>
                  </a:rPr>
                  <a:t> </a:t>
                </a:r>
                <a:r>
                  <a:rPr lang="vi-VN" sz="2800" dirty="0" err="1">
                    <a:solidFill>
                      <a:srgbClr val="FF0000"/>
                    </a:solidFill>
                  </a:rPr>
                  <a:t>tế</a:t>
                </a:r>
                <a:r>
                  <a:rPr lang="vi-VN" sz="2800" dirty="0">
                    <a:solidFill>
                      <a:srgbClr val="FF0000"/>
                    </a:solidFill>
                  </a:rPr>
                  <a:t> </a:t>
                </a:r>
                <a:r>
                  <a:rPr lang="vi-VN" sz="2800" dirty="0" err="1">
                    <a:solidFill>
                      <a:srgbClr val="FF0000"/>
                    </a:solidFill>
                  </a:rPr>
                  <a:t>cũng</a:t>
                </a:r>
                <a:r>
                  <a:rPr lang="vi-VN" sz="2800" dirty="0">
                    <a:solidFill>
                      <a:srgbClr val="FF0000"/>
                    </a:solidFill>
                  </a:rPr>
                  <a:t> tương </a:t>
                </a:r>
                <a:r>
                  <a:rPr lang="vi-VN" sz="2800" dirty="0" err="1">
                    <a:solidFill>
                      <a:srgbClr val="FF0000"/>
                    </a:solidFill>
                  </a:rPr>
                  <a:t>tự</a:t>
                </a:r>
                <a:r>
                  <a:rPr lang="vi-VN" sz="2800" dirty="0">
                    <a:solidFill>
                      <a:srgbClr val="FF0000"/>
                    </a:solidFill>
                  </a:rPr>
                  <a:t> </a:t>
                </a:r>
                <a:r>
                  <a:rPr lang="vi-VN" sz="2800" dirty="0" err="1">
                    <a:solidFill>
                      <a:srgbClr val="FF0000"/>
                    </a:solidFill>
                  </a:rPr>
                  <a:t>việc</a:t>
                </a:r>
                <a:r>
                  <a:rPr lang="vi-VN" sz="2800" dirty="0">
                    <a:solidFill>
                      <a:srgbClr val="FF0000"/>
                    </a:solidFill>
                  </a:rPr>
                  <a:t> </a:t>
                </a:r>
                <a:r>
                  <a:rPr lang="vi-VN" sz="2800" dirty="0" err="1">
                    <a:solidFill>
                      <a:srgbClr val="FF0000"/>
                    </a:solidFill>
                  </a:rPr>
                  <a:t>xác</a:t>
                </a:r>
                <a:r>
                  <a:rPr lang="vi-VN" sz="2800" dirty="0">
                    <a:solidFill>
                      <a:srgbClr val="FF0000"/>
                    </a:solidFill>
                  </a:rPr>
                  <a:t> </a:t>
                </a:r>
                <a:r>
                  <a:rPr lang="vi-VN" sz="2800" dirty="0" err="1">
                    <a:solidFill>
                      <a:srgbClr val="FF0000"/>
                    </a:solidFill>
                  </a:rPr>
                  <a:t>định</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i="1" dirty="0" smtClean="0">
                        <a:solidFill>
                          <a:srgbClr val="FF0000"/>
                        </a:solidFill>
                        <a:latin typeface="Cambria Math" panose="02040503050406030204" pitchFamily="18" charset="0"/>
                      </a:rPr>
                      <m:t>)</m:t>
                    </m:r>
                  </m:oMath>
                </a14:m>
                <a:r>
                  <a:rPr lang="vi-VN" sz="2800" dirty="0">
                    <a:solidFill>
                      <a:srgbClr val="FF0000"/>
                    </a:solidFill>
                  </a:rPr>
                  <a:t>, tuy nhiên không gian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ở đây thu </a:t>
                </a:r>
                <a:r>
                  <a:rPr lang="vi-VN" sz="2800" dirty="0" err="1">
                    <a:solidFill>
                      <a:srgbClr val="FF0000"/>
                    </a:solidFill>
                  </a:rPr>
                  <a:t>gọn</a:t>
                </a:r>
                <a:r>
                  <a:rPr lang="vi-VN" sz="2800" dirty="0">
                    <a:solidFill>
                      <a:srgbClr val="FF0000"/>
                    </a:solidFill>
                  </a:rPr>
                  <a:t> </a:t>
                </a:r>
                <a:r>
                  <a:rPr lang="vi-VN" sz="2800" dirty="0" err="1">
                    <a:solidFill>
                      <a:srgbClr val="FF0000"/>
                    </a:solidFill>
                  </a:rPr>
                  <a:t>thành</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trong </a:t>
                </a:r>
                <a:r>
                  <a:rPr lang="vi-VN" sz="2800" dirty="0" err="1">
                    <a:solidFill>
                      <a:srgbClr val="FF0000"/>
                    </a:solidFill>
                  </a:rPr>
                  <a:t>lớp</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oMath>
                </a14:m>
                <a:r>
                  <a:rPr lang="vi-VN" sz="2800" dirty="0">
                    <a:solidFill>
                      <a:srgbClr val="FF0000"/>
                    </a:solidFill>
                  </a:rPr>
                  <a:t> thay </a:t>
                </a:r>
                <a:r>
                  <a:rPr lang="vi-VN" sz="2800" dirty="0" err="1">
                    <a:solidFill>
                      <a:srgbClr val="FF0000"/>
                    </a:solidFill>
                  </a:rPr>
                  <a:t>vì</a:t>
                </a:r>
                <a:r>
                  <a:rPr lang="vi-VN" sz="2800" dirty="0">
                    <a:solidFill>
                      <a:srgbClr val="FF0000"/>
                    </a:solidFill>
                  </a:rPr>
                  <a:t> </a:t>
                </a:r>
                <a:r>
                  <a:rPr lang="vi-VN" sz="2800" dirty="0" err="1">
                    <a:solidFill>
                      <a:srgbClr val="FF0000"/>
                    </a:solidFill>
                  </a:rPr>
                  <a:t>toàn</a:t>
                </a:r>
                <a:r>
                  <a:rPr lang="vi-VN" sz="2800" dirty="0">
                    <a:solidFill>
                      <a:srgbClr val="FF0000"/>
                    </a:solidFill>
                  </a:rPr>
                  <a:t> </a:t>
                </a:r>
                <a:r>
                  <a:rPr lang="vi-VN" sz="2800" dirty="0" err="1">
                    <a:solidFill>
                      <a:srgbClr val="FF0000"/>
                    </a:solidFill>
                  </a:rPr>
                  <a:t>bộ</a:t>
                </a:r>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trong </a:t>
                </a:r>
                <a:r>
                  <a:rPr lang="vi-VN" sz="2800" dirty="0" err="1">
                    <a:solidFill>
                      <a:srgbClr val="FF0000"/>
                    </a:solidFill>
                  </a:rPr>
                  <a:t>tập</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a:t>
                </a:r>
              </a:p>
            </p:txBody>
          </p:sp>
        </mc:Choice>
        <mc:Fallback xmlns="">
          <p:sp>
            <p:nvSpPr>
              <p:cNvPr id="2" name="Content Placeholder 1">
                <a:extLst>
                  <a:ext uri="{FF2B5EF4-FFF2-40B4-BE49-F238E27FC236}">
                    <a16:creationId xmlns:a16="http://schemas.microsoft.com/office/drawing/2014/main" id="{ED2CFB27-AAF2-4E13-B6AB-2FE55B0739B0}"/>
                  </a:ext>
                </a:extLst>
              </p:cNvPr>
              <p:cNvSpPr>
                <a:spLocks noGrp="1" noRot="1" noChangeAspect="1" noMove="1" noResize="1" noEditPoints="1" noAdjustHandles="1" noChangeArrowheads="1" noChangeShapeType="1" noTextEdit="1"/>
              </p:cNvSpPr>
              <p:nvPr>
                <p:ph idx="1"/>
              </p:nvPr>
            </p:nvSpPr>
            <p:spPr>
              <a:blipFill>
                <a:blip r:embed="rId2"/>
                <a:stretch>
                  <a:fillRect l="-1000" t="-1482" r="-1111" b="-4987"/>
                </a:stretch>
              </a:blipFill>
            </p:spPr>
            <p:txBody>
              <a:bodyPr/>
              <a:lstStyle/>
              <a:p>
                <a:r>
                  <a:rPr lang="en-US">
                    <a:noFill/>
                  </a:rPr>
                  <a:t> </a:t>
                </a:r>
              </a:p>
            </p:txBody>
          </p:sp>
        </mc:Fallback>
      </mc:AlternateContent>
    </p:spTree>
    <p:extLst>
      <p:ext uri="{BB962C8B-B14F-4D97-AF65-F5344CB8AC3E}">
        <p14:creationId xmlns:p14="http://schemas.microsoft.com/office/powerpoint/2010/main" val="187006422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7BFBD-8392-4325-9261-7E7ED058E35F}"/>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304396-B9B7-41EC-8BCA-B15EB539E0C4}"/>
                  </a:ext>
                </a:extLst>
              </p:cNvPr>
              <p:cNvSpPr>
                <a:spLocks noGrp="1"/>
              </p:cNvSpPr>
              <p:nvPr>
                <p:ph sz="half" idx="1"/>
              </p:nvPr>
            </p:nvSpPr>
            <p:spPr/>
            <p:txBody>
              <a:bodyPr/>
              <a:lstStyle/>
              <a:p>
                <a:pPr algn="just"/>
                <a:r>
                  <a:rPr lang="vi-VN" dirty="0">
                    <a:solidFill>
                      <a:srgbClr val="0066FF"/>
                    </a:solidFill>
                  </a:rPr>
                  <a:t>Ví </a:t>
                </a:r>
                <a:r>
                  <a:rPr lang="vi-VN" dirty="0" err="1">
                    <a:solidFill>
                      <a:srgbClr val="0066FF"/>
                    </a:solidFill>
                  </a:rPr>
                  <a:t>dụ</a:t>
                </a:r>
                <a:r>
                  <a:rPr lang="vi-VN" dirty="0">
                    <a:solidFill>
                      <a:srgbClr val="0066FF"/>
                    </a:solidFill>
                  </a:rPr>
                  <a:t> </a:t>
                </a:r>
                <a:r>
                  <a:rPr lang="vi-VN" dirty="0" err="1">
                    <a:solidFill>
                      <a:srgbClr val="0066FF"/>
                    </a:solidFill>
                  </a:rPr>
                  <a:t>tính</a:t>
                </a:r>
                <a:r>
                  <a:rPr lang="vi-VN" dirty="0">
                    <a:solidFill>
                      <a:srgbClr val="0066FF"/>
                    </a:solidFill>
                  </a:rPr>
                  <a:t> </a:t>
                </a:r>
                <a14:m>
                  <m:oMath xmlns:m="http://schemas.openxmlformats.org/officeDocument/2006/math">
                    <m:r>
                      <a:rPr lang="vi-VN" i="1" dirty="0" smtClean="0">
                        <a:solidFill>
                          <a:srgbClr val="0066FF"/>
                        </a:solidFill>
                        <a:latin typeface="Cambria Math" panose="02040503050406030204" pitchFamily="18" charset="0"/>
                      </a:rPr>
                      <m:t>𝑃</m:t>
                    </m:r>
                    <m:r>
                      <a:rPr lang="vi-VN" i="1" dirty="0" smtClean="0">
                        <a:solidFill>
                          <a:srgbClr val="0066FF"/>
                        </a:solidFill>
                        <a:latin typeface="Cambria Math" panose="02040503050406030204" pitchFamily="18" charset="0"/>
                      </a:rPr>
                      <m:t>(</m:t>
                    </m:r>
                    <m:r>
                      <a:rPr lang="vi-VN" i="1" dirty="0" smtClean="0">
                        <a:solidFill>
                          <a:srgbClr val="0066FF"/>
                        </a:solidFill>
                        <a:latin typeface="Cambria Math" panose="02040503050406030204" pitchFamily="18" charset="0"/>
                      </a:rPr>
                      <m:t>𝑋</m:t>
                    </m:r>
                    <m:r>
                      <a:rPr lang="vi-VN" b="0" i="1" dirty="0" smtClean="0">
                        <a:solidFill>
                          <a:srgbClr val="0066FF"/>
                        </a:solidFill>
                        <a:latin typeface="Cambria Math" panose="02040503050406030204" pitchFamily="18" charset="0"/>
                      </a:rPr>
                      <m:t>|</m:t>
                    </m:r>
                    <m:r>
                      <a:rPr lang="vi-VN" b="0" i="1" dirty="0" smtClean="0">
                        <a:solidFill>
                          <a:srgbClr val="0066FF"/>
                        </a:solidFill>
                        <a:latin typeface="Cambria Math" panose="02040503050406030204" pitchFamily="18" charset="0"/>
                      </a:rPr>
                      <m:t>𝑦</m:t>
                    </m:r>
                    <m:r>
                      <a:rPr lang="vi-VN" b="0" i="1" dirty="0" smtClean="0">
                        <a:solidFill>
                          <a:srgbClr val="0066FF"/>
                        </a:solidFill>
                        <a:latin typeface="Cambria Math" panose="02040503050406030204" pitchFamily="18" charset="0"/>
                      </a:rPr>
                      <m:t>=</m:t>
                    </m:r>
                    <m:r>
                      <a:rPr lang="vi-VN" b="0" i="1" dirty="0" smtClean="0">
                        <a:solidFill>
                          <a:srgbClr val="0066FF"/>
                        </a:solidFill>
                        <a:latin typeface="Cambria Math" panose="02040503050406030204" pitchFamily="18" charset="0"/>
                      </a:rPr>
                      <m:t>𝑊𝑎𝑙𝑘</m:t>
                    </m:r>
                    <m:r>
                      <a:rPr lang="vi-VN" i="1" dirty="0" smtClean="0">
                        <a:solidFill>
                          <a:srgbClr val="0066FF"/>
                        </a:solidFill>
                        <a:latin typeface="Cambria Math" panose="02040503050406030204" pitchFamily="18" charset="0"/>
                      </a:rPr>
                      <m:t>)</m:t>
                    </m:r>
                  </m:oMath>
                </a14:m>
                <a:r>
                  <a:rPr lang="vi-VN" dirty="0">
                    <a:solidFill>
                      <a:srgbClr val="0066FF"/>
                    </a:solidFill>
                  </a:rPr>
                  <a:t> – </a:t>
                </a:r>
                <a:r>
                  <a:rPr lang="vi-VN" dirty="0" err="1">
                    <a:solidFill>
                      <a:srgbClr val="0066FF"/>
                    </a:solidFill>
                  </a:rPr>
                  <a:t>với</a:t>
                </a:r>
                <a:r>
                  <a:rPr lang="vi-VN" dirty="0">
                    <a:solidFill>
                      <a:srgbClr val="0066FF"/>
                    </a:solidFill>
                  </a:rPr>
                  <a:t> </a:t>
                </a:r>
                <a14:m>
                  <m:oMath xmlns:m="http://schemas.openxmlformats.org/officeDocument/2006/math">
                    <m:r>
                      <a:rPr lang="vi-VN" i="1" dirty="0" smtClean="0">
                        <a:solidFill>
                          <a:srgbClr val="0066FF"/>
                        </a:solidFill>
                        <a:latin typeface="Cambria Math" panose="02040503050406030204" pitchFamily="18" charset="0"/>
                      </a:rPr>
                      <m:t>𝑋</m:t>
                    </m:r>
                  </m:oMath>
                </a14:m>
                <a:r>
                  <a:rPr lang="vi-VN" dirty="0">
                    <a:solidFill>
                      <a:srgbClr val="0066FF"/>
                    </a:solidFill>
                  </a:rPr>
                  <a:t> </a:t>
                </a:r>
                <a:r>
                  <a:rPr lang="vi-VN" dirty="0" err="1">
                    <a:solidFill>
                      <a:srgbClr val="0066FF"/>
                    </a:solidFill>
                  </a:rPr>
                  <a:t>là</a:t>
                </a:r>
                <a:r>
                  <a:rPr lang="vi-VN" dirty="0">
                    <a:solidFill>
                      <a:srgbClr val="0066FF"/>
                    </a:solidFill>
                  </a:rPr>
                  <a:t> </a:t>
                </a:r>
                <a:r>
                  <a:rPr lang="vi-VN" dirty="0" err="1">
                    <a:solidFill>
                      <a:srgbClr val="0066FF"/>
                    </a:solidFill>
                  </a:rPr>
                  <a:t>điểm</a:t>
                </a:r>
                <a:r>
                  <a:rPr lang="vi-VN" dirty="0">
                    <a:solidFill>
                      <a:srgbClr val="0066FF"/>
                    </a:solidFill>
                  </a:rPr>
                  <a:t> </a:t>
                </a:r>
                <a:r>
                  <a:rPr lang="vi-VN" dirty="0" err="1">
                    <a:solidFill>
                      <a:srgbClr val="0066FF"/>
                    </a:solidFill>
                  </a:rPr>
                  <a:t>màu</a:t>
                </a:r>
                <a:r>
                  <a:rPr lang="vi-VN" dirty="0">
                    <a:solidFill>
                      <a:srgbClr val="0066FF"/>
                    </a:solidFill>
                  </a:rPr>
                  <a:t> </a:t>
                </a:r>
                <a:r>
                  <a:rPr lang="vi-VN" dirty="0" err="1">
                    <a:solidFill>
                      <a:srgbClr val="0066FF"/>
                    </a:solidFill>
                  </a:rPr>
                  <a:t>xám</a:t>
                </a:r>
                <a:r>
                  <a:rPr lang="vi-VN" dirty="0">
                    <a:solidFill>
                      <a:srgbClr val="0066FF"/>
                    </a:solidFill>
                  </a:rPr>
                  <a:t>.</a:t>
                </a:r>
              </a:p>
              <a:p>
                <a:pPr lvl="1" algn="just"/>
                <a:r>
                  <a:rPr lang="vi-VN" sz="2800" dirty="0">
                    <a:solidFill>
                      <a:srgbClr val="FF0000"/>
                    </a:solidFill>
                  </a:rPr>
                  <a:t>Số </a:t>
                </a:r>
                <a:r>
                  <a:rPr lang="vi-VN" sz="2800" dirty="0" err="1">
                    <a:solidFill>
                      <a:srgbClr val="FF0000"/>
                    </a:solidFill>
                  </a:rPr>
                  <a:t>lượng</a:t>
                </a:r>
                <a:r>
                  <a:rPr lang="vi-VN" sz="2800" dirty="0">
                    <a:solidFill>
                      <a:srgbClr val="FF0000"/>
                    </a:solidFill>
                  </a:rPr>
                  <a:t> </a:t>
                </a:r>
                <a:r>
                  <a:rPr lang="vi-VN" sz="2800" dirty="0" err="1">
                    <a:solidFill>
                      <a:srgbClr val="FF0000"/>
                    </a:solidFill>
                  </a:rPr>
                  <a:t>điểm</a:t>
                </a:r>
                <a:r>
                  <a:rPr lang="vi-VN" sz="2800" dirty="0">
                    <a:solidFill>
                      <a:srgbClr val="FF0000"/>
                    </a:solidFill>
                  </a:rPr>
                  <a:t> tương </a:t>
                </a:r>
                <a:r>
                  <a:rPr lang="vi-VN" sz="2800" dirty="0" err="1">
                    <a:solidFill>
                      <a:srgbClr val="FF0000"/>
                    </a:solidFill>
                  </a:rPr>
                  <a:t>tự</a:t>
                </a:r>
                <a:r>
                  <a:rPr lang="vi-VN" sz="2800" dirty="0">
                    <a:solidFill>
                      <a:srgbClr val="FF0000"/>
                    </a:solidFill>
                  </a:rPr>
                  <a:t> </a:t>
                </a:r>
                <a:r>
                  <a:rPr lang="vi-VN" sz="2800" dirty="0" err="1">
                    <a:solidFill>
                      <a:srgbClr val="FF0000"/>
                    </a:solidFill>
                  </a:rPr>
                  <a:t>với</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xám</a:t>
                </a:r>
                <a:r>
                  <a:rPr lang="vi-VN" sz="2800" dirty="0">
                    <a:solidFill>
                      <a:srgbClr val="FF0000"/>
                    </a:solidFill>
                  </a:rPr>
                  <a:t> trong </a:t>
                </a:r>
                <a:r>
                  <a:rPr lang="vi-VN" sz="2800" dirty="0" err="1">
                    <a:solidFill>
                      <a:srgbClr val="FF0000"/>
                    </a:solidFill>
                  </a:rPr>
                  <a:t>lớp</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𝑦</m:t>
                    </m:r>
                    <m:r>
                      <a:rPr lang="vi-VN" sz="2800" b="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𝑊𝑎𝑙𝑘</m:t>
                    </m:r>
                  </m:oMath>
                </a14:m>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3</m:t>
                    </m:r>
                  </m:oMath>
                </a14:m>
                <a:r>
                  <a:rPr lang="vi-VN" sz="2800" dirty="0">
                    <a:solidFill>
                      <a:srgbClr val="FF0000"/>
                    </a:solidFill>
                  </a:rPr>
                  <a:t> (</a:t>
                </a:r>
                <a:r>
                  <a:rPr lang="vi-VN" sz="2800" dirty="0" err="1">
                    <a:solidFill>
                      <a:srgbClr val="FF0000"/>
                    </a:solidFill>
                  </a:rPr>
                  <a:t>các</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màu</a:t>
                </a:r>
                <a:r>
                  <a:rPr lang="vi-VN" sz="2800" dirty="0">
                    <a:solidFill>
                      <a:srgbClr val="FF0000"/>
                    </a:solidFill>
                  </a:rPr>
                  <a:t> </a:t>
                </a:r>
                <a:r>
                  <a:rPr lang="vi-VN" sz="2800" dirty="0" err="1">
                    <a:solidFill>
                      <a:srgbClr val="FF0000"/>
                    </a:solidFill>
                  </a:rPr>
                  <a:t>đỏ</a:t>
                </a:r>
                <a:r>
                  <a:rPr lang="vi-VN" sz="2800" dirty="0">
                    <a:solidFill>
                      <a:srgbClr val="FF0000"/>
                    </a:solidFill>
                  </a:rPr>
                  <a:t> </a:t>
                </a:r>
                <a:r>
                  <a:rPr lang="vi-VN" sz="2800" dirty="0" err="1">
                    <a:solidFill>
                      <a:srgbClr val="FF0000"/>
                    </a:solidFill>
                  </a:rPr>
                  <a:t>nằm</a:t>
                </a:r>
                <a:r>
                  <a:rPr lang="vi-VN" sz="2800" dirty="0">
                    <a:solidFill>
                      <a:srgbClr val="FF0000"/>
                    </a:solidFill>
                  </a:rPr>
                  <a:t> trong </a:t>
                </a:r>
                <a:r>
                  <a:rPr lang="vi-VN" sz="2800" dirty="0" err="1">
                    <a:solidFill>
                      <a:srgbClr val="FF0000"/>
                    </a:solidFill>
                  </a:rPr>
                  <a:t>vòng</a:t>
                </a:r>
                <a:r>
                  <a:rPr lang="vi-VN" sz="2800" dirty="0">
                    <a:solidFill>
                      <a:srgbClr val="FF0000"/>
                    </a:solidFill>
                  </a:rPr>
                  <a:t> </a:t>
                </a:r>
                <a:r>
                  <a:rPr lang="vi-VN" sz="2800" dirty="0" err="1">
                    <a:solidFill>
                      <a:srgbClr val="FF0000"/>
                    </a:solidFill>
                  </a:rPr>
                  <a:t>được</a:t>
                </a:r>
                <a:r>
                  <a:rPr lang="vi-VN" sz="2800" dirty="0">
                    <a:solidFill>
                      <a:srgbClr val="FF0000"/>
                    </a:solidFill>
                  </a:rPr>
                  <a:t> khoanh </a:t>
                </a:r>
                <a:r>
                  <a:rPr lang="vi-VN" sz="2800" dirty="0" err="1">
                    <a:solidFill>
                      <a:srgbClr val="FF0000"/>
                    </a:solidFill>
                  </a:rPr>
                  <a:t>tròn</a:t>
                </a:r>
                <a:r>
                  <a:rPr lang="vi-VN" sz="2800" dirty="0">
                    <a:solidFill>
                      <a:srgbClr val="FF0000"/>
                    </a:solidFill>
                  </a:rPr>
                  <a:t>). </a:t>
                </a:r>
              </a:p>
              <a:p>
                <a:pPr lvl="1" algn="just"/>
                <a:r>
                  <a:rPr lang="vi-VN" sz="2800" dirty="0" err="1">
                    <a:solidFill>
                      <a:srgbClr val="0066FF"/>
                    </a:solidFill>
                  </a:rPr>
                  <a:t>Tổng</a:t>
                </a:r>
                <a:r>
                  <a:rPr lang="vi-VN" sz="2800" dirty="0">
                    <a:solidFill>
                      <a:srgbClr val="0066FF"/>
                    </a:solidFill>
                  </a:rPr>
                  <a:t> </a:t>
                </a:r>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thuộc</a:t>
                </a:r>
                <a:r>
                  <a:rPr lang="vi-VN" sz="2800" dirty="0">
                    <a:solidFill>
                      <a:srgbClr val="0066FF"/>
                    </a:solidFill>
                  </a:rPr>
                  <a:t> </a:t>
                </a:r>
                <a:r>
                  <a:rPr lang="vi-VN" sz="2800" dirty="0" err="1">
                    <a:solidFill>
                      <a:srgbClr val="0066FF"/>
                    </a:solidFill>
                  </a:rPr>
                  <a:t>lớp</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𝑦</m:t>
                    </m:r>
                    <m:r>
                      <a:rPr lang="vi-VN" sz="2800" i="1" dirty="0" smtClean="0">
                        <a:solidFill>
                          <a:srgbClr val="0066FF"/>
                        </a:solidFill>
                        <a:latin typeface="Cambria Math" panose="02040503050406030204" pitchFamily="18" charset="0"/>
                      </a:rPr>
                      <m:t>=</m:t>
                    </m:r>
                    <m:r>
                      <a:rPr lang="vi-VN" sz="2800" i="1" dirty="0" err="1" smtClean="0">
                        <a:solidFill>
                          <a:srgbClr val="0066FF"/>
                        </a:solidFill>
                        <a:latin typeface="Cambria Math" panose="02040503050406030204" pitchFamily="18" charset="0"/>
                      </a:rPr>
                      <m:t>𝑊𝑎𝑙𝑘</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10</m:t>
                    </m:r>
                  </m:oMath>
                </a14:m>
                <a:r>
                  <a:rPr lang="vi-VN" sz="2800" dirty="0">
                    <a:solidFill>
                      <a:srgbClr val="0066FF"/>
                    </a:solidFill>
                  </a:rPr>
                  <a:t>.</a:t>
                </a:r>
              </a:p>
              <a:p>
                <a:pPr lvl="1" algn="just"/>
                <a14:m>
                  <m:oMath xmlns:m="http://schemas.openxmlformats.org/officeDocument/2006/math">
                    <m:r>
                      <a:rPr lang="vi-VN" sz="2800" i="1" dirty="0" smtClean="0">
                        <a:solidFill>
                          <a:srgbClr val="FF0000"/>
                        </a:solidFill>
                        <a:latin typeface="Cambria Math" panose="02040503050406030204" pitchFamily="18" charset="0"/>
                      </a:rPr>
                      <m:t>𝑃</m:t>
                    </m:r>
                    <m:r>
                      <a:rPr lang="vi-VN" sz="2800" i="1" dirty="0" smtClean="0">
                        <a:solidFill>
                          <a:srgbClr val="FF0000"/>
                        </a:solidFill>
                        <a:latin typeface="Cambria Math" panose="02040503050406030204" pitchFamily="18" charset="0"/>
                      </a:rPr>
                      <m:t>(</m:t>
                    </m:r>
                    <m:r>
                      <a:rPr lang="vi-VN" sz="2800" i="1" dirty="0" smtClean="0">
                        <a:solidFill>
                          <a:srgbClr val="FF0000"/>
                        </a:solidFill>
                        <a:latin typeface="Cambria Math" panose="02040503050406030204" pitchFamily="18" charset="0"/>
                      </a:rPr>
                      <m:t>𝑋</m:t>
                    </m:r>
                    <m:r>
                      <a:rPr lang="vi-VN" sz="2800" b="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𝑦</m:t>
                    </m:r>
                    <m:r>
                      <a:rPr lang="vi-VN" sz="2800" b="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𝑊𝑎𝑙𝑘</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3</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10</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2E304396-B9B7-41EC-8BCA-B15EB539E0C4}"/>
                  </a:ext>
                </a:extLst>
              </p:cNvPr>
              <p:cNvSpPr>
                <a:spLocks noGrp="1" noRot="1" noChangeAspect="1" noMove="1" noResize="1" noEditPoints="1" noAdjustHandles="1" noChangeArrowheads="1" noChangeShapeType="1" noTextEdit="1"/>
              </p:cNvSpPr>
              <p:nvPr>
                <p:ph sz="half" idx="1"/>
              </p:nvPr>
            </p:nvSpPr>
            <p:spPr>
              <a:blipFill>
                <a:blip r:embed="rId2"/>
                <a:stretch>
                  <a:fillRect l="-2039" t="-1482" r="-2265" b="-5660"/>
                </a:stretch>
              </a:blipFill>
            </p:spPr>
            <p:txBody>
              <a:bodyPr/>
              <a:lstStyle/>
              <a:p>
                <a:r>
                  <a:rPr lang="vi-VN">
                    <a:noFill/>
                  </a:rPr>
                  <a:t> </a:t>
                </a:r>
              </a:p>
            </p:txBody>
          </p:sp>
        </mc:Fallback>
      </mc:AlternateContent>
      <p:pic>
        <p:nvPicPr>
          <p:cNvPr id="8" name="Content Placeholder 7">
            <a:extLst>
              <a:ext uri="{FF2B5EF4-FFF2-40B4-BE49-F238E27FC236}">
                <a16:creationId xmlns:a16="http://schemas.microsoft.com/office/drawing/2014/main" id="{9CBAB4C9-037B-45D6-A5B9-B815BDFB4620}"/>
              </a:ext>
            </a:extLst>
          </p:cNvPr>
          <p:cNvPicPr>
            <a:picLocks noGrp="1" noChangeAspect="1"/>
          </p:cNvPicPr>
          <p:nvPr>
            <p:ph sz="half" idx="2"/>
          </p:nvPr>
        </p:nvPicPr>
        <p:blipFill>
          <a:blip r:embed="rId3"/>
          <a:stretch>
            <a:fillRect/>
          </a:stretch>
        </p:blipFill>
        <p:spPr>
          <a:xfrm>
            <a:off x="6199187" y="2205831"/>
            <a:ext cx="5381625" cy="3314700"/>
          </a:xfrm>
          <a:prstGeom prst="rect">
            <a:avLst/>
          </a:prstGeom>
        </p:spPr>
      </p:pic>
    </p:spTree>
    <p:extLst>
      <p:ext uri="{BB962C8B-B14F-4D97-AF65-F5344CB8AC3E}">
        <p14:creationId xmlns:p14="http://schemas.microsoft.com/office/powerpoint/2010/main" val="94347717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7BFBD-8392-4325-9261-7E7ED058E35F}"/>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304396-B9B7-41EC-8BCA-B15EB539E0C4}"/>
                  </a:ext>
                </a:extLst>
              </p:cNvPr>
              <p:cNvSpPr>
                <a:spLocks noGrp="1"/>
              </p:cNvSpPr>
              <p:nvPr>
                <p:ph idx="1"/>
              </p:nvPr>
            </p:nvSpPr>
            <p:spPr/>
            <p:txBody>
              <a:bodyPr/>
              <a:lstStyle/>
              <a:p>
                <a:pPr algn="just">
                  <a:spcBef>
                    <a:spcPts val="0"/>
                  </a:spcBef>
                </a:pPr>
                <a:r>
                  <a:rPr lang="vi-VN" sz="2800" dirty="0">
                    <a:solidFill>
                      <a:srgbClr val="0066FF"/>
                    </a:solidFill>
                  </a:rPr>
                  <a:t>Vậy, </a:t>
                </a:r>
                <a:r>
                  <a:rPr lang="vi-VN" sz="2800" dirty="0" err="1">
                    <a:solidFill>
                      <a:srgbClr val="0066FF"/>
                    </a:solidFill>
                  </a:rPr>
                  <a:t>giá</a:t>
                </a:r>
                <a:r>
                  <a:rPr lang="vi-VN" sz="2800" dirty="0">
                    <a:solidFill>
                      <a:srgbClr val="0066FF"/>
                    </a:solidFill>
                  </a:rPr>
                  <a:t> </a:t>
                </a:r>
                <a:r>
                  <a:rPr lang="vi-VN" sz="2800" dirty="0" err="1">
                    <a:solidFill>
                      <a:srgbClr val="0066FF"/>
                    </a:solidFill>
                  </a:rPr>
                  <a:t>trị</a:t>
                </a:r>
                <a:r>
                  <a:rPr lang="vi-VN" sz="2800" dirty="0">
                    <a:solidFill>
                      <a:srgbClr val="0066FF"/>
                    </a:solidFill>
                  </a:rPr>
                  <a:t> </a:t>
                </a:r>
                <a14:m>
                  <m:oMath xmlns:m="http://schemas.openxmlformats.org/officeDocument/2006/math">
                    <m:r>
                      <a:rPr lang="vi-VN" sz="2800" b="0" i="1" smtClean="0">
                        <a:solidFill>
                          <a:srgbClr val="0066FF"/>
                        </a:solidFill>
                        <a:latin typeface="Cambria Math" panose="02040503050406030204" pitchFamily="18" charset="0"/>
                      </a:rPr>
                      <m:t>𝑃</m:t>
                    </m:r>
                    <m:d>
                      <m:dPr>
                        <m:ctrlPr>
                          <a:rPr lang="vi-VN" sz="2800" b="0" i="1" smtClean="0">
                            <a:solidFill>
                              <a:srgbClr val="0066FF"/>
                            </a:solidFill>
                            <a:latin typeface="Cambria Math" panose="02040503050406030204" pitchFamily="18" charset="0"/>
                          </a:rPr>
                        </m:ctrlPr>
                      </m:dPr>
                      <m:e>
                        <m:r>
                          <a:rPr lang="vi-VN" sz="2800" b="0" i="1" smtClean="0">
                            <a:solidFill>
                              <a:srgbClr val="0066FF"/>
                            </a:solidFill>
                            <a:latin typeface="Cambria Math" panose="02040503050406030204" pitchFamily="18" charset="0"/>
                          </a:rPr>
                          <m:t>𝑦</m:t>
                        </m:r>
                        <m:r>
                          <a:rPr lang="vi-VN" sz="2800" b="0" i="1" smtClean="0">
                            <a:solidFill>
                              <a:srgbClr val="0066FF"/>
                            </a:solidFill>
                            <a:latin typeface="Cambria Math" panose="02040503050406030204" pitchFamily="18" charset="0"/>
                          </a:rPr>
                          <m:t>=</m:t>
                        </m:r>
                        <m:r>
                          <a:rPr lang="vi-VN" sz="2800" b="0" i="1" smtClean="0">
                            <a:solidFill>
                              <a:srgbClr val="0066FF"/>
                            </a:solidFill>
                            <a:latin typeface="Cambria Math" panose="02040503050406030204" pitchFamily="18" charset="0"/>
                          </a:rPr>
                          <m:t>𝑊𝑎𝑙𝑘</m:t>
                        </m:r>
                      </m:e>
                      <m:e>
                        <m:r>
                          <a:rPr lang="vi-VN" sz="2800" b="0" i="1" smtClean="0">
                            <a:solidFill>
                              <a:srgbClr val="0066FF"/>
                            </a:solidFill>
                            <a:latin typeface="Cambria Math" panose="02040503050406030204" pitchFamily="18" charset="0"/>
                          </a:rPr>
                          <m:t>𝑋</m:t>
                        </m:r>
                      </m:e>
                    </m:d>
                  </m:oMath>
                </a14:m>
                <a:r>
                  <a:rPr lang="vi-VN" sz="2800" dirty="0">
                    <a:solidFill>
                      <a:srgbClr val="0066FF"/>
                    </a:solidFill>
                  </a:rPr>
                  <a:t> </a:t>
                </a:r>
                <a:r>
                  <a:rPr lang="vi-VN" sz="2800" dirty="0" err="1">
                    <a:solidFill>
                      <a:srgbClr val="0066FF"/>
                    </a:solidFill>
                  </a:rPr>
                  <a:t>với</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𝑋</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màu</a:t>
                </a:r>
                <a:r>
                  <a:rPr lang="vi-VN" sz="2800" dirty="0">
                    <a:solidFill>
                      <a:srgbClr val="0066FF"/>
                    </a:solidFill>
                  </a:rPr>
                  <a:t> </a:t>
                </a:r>
                <a:r>
                  <a:rPr lang="vi-VN" sz="2800" dirty="0" err="1">
                    <a:solidFill>
                      <a:srgbClr val="0066FF"/>
                    </a:solidFill>
                  </a:rPr>
                  <a:t>xám</a:t>
                </a:r>
                <a:r>
                  <a:rPr lang="vi-VN" sz="2800" dirty="0">
                    <a:solidFill>
                      <a:srgbClr val="0066FF"/>
                    </a:solidFill>
                  </a:rPr>
                  <a:t> </a:t>
                </a:r>
                <a:r>
                  <a:rPr lang="vi-VN" sz="2800" dirty="0" err="1">
                    <a:solidFill>
                      <a:srgbClr val="0066FF"/>
                    </a:solidFill>
                  </a:rPr>
                  <a:t>là</a:t>
                </a:r>
                <a:r>
                  <a:rPr lang="vi-VN" sz="2800" dirty="0">
                    <a:solidFill>
                      <a:srgbClr val="0066FF"/>
                    </a:solidFill>
                  </a:rPr>
                  <a:t>:</a:t>
                </a:r>
              </a:p>
              <a:p>
                <a:pPr marL="457200" lvl="1" indent="0" algn="just">
                  <a:spcBef>
                    <a:spcPts val="0"/>
                  </a:spcBef>
                  <a:buNone/>
                </a:pPr>
                <a14:m>
                  <m:oMathPara xmlns:m="http://schemas.openxmlformats.org/officeDocument/2006/math">
                    <m:oMathParaPr>
                      <m:jc m:val="centerGroup"/>
                    </m:oMathParaPr>
                    <m:oMath xmlns:m="http://schemas.openxmlformats.org/officeDocument/2006/math">
                      <m:r>
                        <a:rPr lang="vi-VN" sz="2800" b="0" i="1" smtClean="0">
                          <a:solidFill>
                            <a:srgbClr val="FF0000"/>
                          </a:solidFill>
                          <a:latin typeface="Cambria Math" panose="02040503050406030204" pitchFamily="18" charset="0"/>
                        </a:rPr>
                        <m:t>𝑃</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𝑦</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𝑊𝑎𝑙𝑘</m:t>
                          </m:r>
                        </m:e>
                        <m:e>
                          <m:r>
                            <a:rPr lang="vi-VN" sz="2800" b="0" i="1" smtClean="0">
                              <a:solidFill>
                                <a:srgbClr val="FF0000"/>
                              </a:solidFill>
                              <a:latin typeface="Cambria Math" panose="02040503050406030204" pitchFamily="18" charset="0"/>
                            </a:rPr>
                            <m:t>𝑋</m:t>
                          </m:r>
                        </m:e>
                      </m:d>
                      <m:r>
                        <a:rPr lang="vi-VN" sz="2800" b="0" i="1" smtClean="0">
                          <a:solidFill>
                            <a:srgbClr val="FF0000"/>
                          </a:solidFill>
                          <a:latin typeface="Cambria Math" panose="02040503050406030204" pitchFamily="18" charset="0"/>
                        </a:rPr>
                        <m:t>=</m:t>
                      </m:r>
                      <m:f>
                        <m:fPr>
                          <m:ctrlPr>
                            <a:rPr lang="vi-VN" sz="2800" b="0" i="1" smtClean="0">
                              <a:solidFill>
                                <a:srgbClr val="FF0000"/>
                              </a:solidFill>
                              <a:latin typeface="Cambria Math" panose="02040503050406030204" pitchFamily="18" charset="0"/>
                            </a:rPr>
                          </m:ctrlPr>
                        </m:fPr>
                        <m:num>
                          <m:r>
                            <a:rPr lang="vi-VN" sz="2800" b="0" i="1" smtClean="0">
                              <a:solidFill>
                                <a:srgbClr val="FF0000"/>
                              </a:solidFill>
                              <a:latin typeface="Cambria Math" panose="02040503050406030204" pitchFamily="18" charset="0"/>
                            </a:rPr>
                            <m:t>𝑃</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𝑋</m:t>
                              </m:r>
                            </m:e>
                            <m:e>
                              <m:r>
                                <a:rPr lang="vi-VN" sz="2800" b="0" i="1" smtClean="0">
                                  <a:solidFill>
                                    <a:srgbClr val="FF0000"/>
                                  </a:solidFill>
                                  <a:latin typeface="Cambria Math" panose="02040503050406030204" pitchFamily="18" charset="0"/>
                                </a:rPr>
                                <m:t>𝑦</m:t>
                              </m:r>
                              <m:r>
                                <a:rPr lang="vi-VN" sz="2800" b="0" i="1" smtClean="0">
                                  <a:solidFill>
                                    <a:srgbClr val="FF0000"/>
                                  </a:solidFill>
                                  <a:latin typeface="Cambria Math" panose="02040503050406030204" pitchFamily="18" charset="0"/>
                                </a:rPr>
                                <m:t>=</m:t>
                              </m:r>
                              <m:r>
                                <a:rPr lang="vi-VN" sz="2800" b="0" i="1" smtClean="0">
                                  <a:solidFill>
                                    <a:srgbClr val="FF0000"/>
                                  </a:solidFill>
                                  <a:latin typeface="Cambria Math" panose="02040503050406030204" pitchFamily="18" charset="0"/>
                                </a:rPr>
                                <m:t>𝑊𝑎𝑙𝑘</m:t>
                              </m:r>
                            </m:e>
                          </m:d>
                          <m:r>
                            <a:rPr lang="vi-VN" sz="2800" b="0" i="1" smtClean="0">
                              <a:solidFill>
                                <a:srgbClr val="FF0000"/>
                              </a:solidFill>
                              <a:latin typeface="Cambria Math" panose="02040503050406030204" pitchFamily="18" charset="0"/>
                              <a:ea typeface="Cambria Math" panose="02040503050406030204" pitchFamily="18" charset="0"/>
                            </a:rPr>
                            <m:t>×</m:t>
                          </m:r>
                          <m:r>
                            <a:rPr lang="vi-VN" sz="2800" b="0" i="1" smtClean="0">
                              <a:solidFill>
                                <a:srgbClr val="FF0000"/>
                              </a:solidFill>
                              <a:latin typeface="Cambria Math" panose="02040503050406030204" pitchFamily="18" charset="0"/>
                            </a:rPr>
                            <m:t>𝑃</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𝑦</m:t>
                              </m:r>
                            </m:e>
                          </m:d>
                        </m:num>
                        <m:den>
                          <m:r>
                            <a:rPr lang="vi-VN" sz="2800" b="0" i="1" smtClean="0">
                              <a:solidFill>
                                <a:srgbClr val="FF0000"/>
                              </a:solidFill>
                              <a:latin typeface="Cambria Math" panose="02040503050406030204" pitchFamily="18" charset="0"/>
                            </a:rPr>
                            <m:t>𝑃</m:t>
                          </m:r>
                          <m:d>
                            <m:dPr>
                              <m:ctrlPr>
                                <a:rPr lang="vi-VN" sz="2800" b="0" i="1" smtClean="0">
                                  <a:solidFill>
                                    <a:srgbClr val="FF0000"/>
                                  </a:solidFill>
                                  <a:latin typeface="Cambria Math" panose="02040503050406030204" pitchFamily="18" charset="0"/>
                                </a:rPr>
                              </m:ctrlPr>
                            </m:dPr>
                            <m:e>
                              <m:r>
                                <a:rPr lang="vi-VN" sz="2800" b="0" i="1" smtClean="0">
                                  <a:solidFill>
                                    <a:srgbClr val="FF0000"/>
                                  </a:solidFill>
                                  <a:latin typeface="Cambria Math" panose="02040503050406030204" pitchFamily="18" charset="0"/>
                                </a:rPr>
                                <m:t>𝑋</m:t>
                              </m:r>
                            </m:e>
                          </m:d>
                        </m:den>
                      </m:f>
                    </m:oMath>
                  </m:oMathPara>
                </a14:m>
                <a:endParaRPr lang="vi-VN" sz="2800" dirty="0">
                  <a:solidFill>
                    <a:srgbClr val="FF0000"/>
                  </a:solidFill>
                </a:endParaRPr>
              </a:p>
              <a:p>
                <a:pPr marL="457200" lvl="1" indent="0" algn="just">
                  <a:spcBef>
                    <a:spcPts val="0"/>
                  </a:spcBef>
                  <a:buNone/>
                </a:pPr>
                <a14:m>
                  <m:oMathPara xmlns:m="http://schemas.openxmlformats.org/officeDocument/2006/math">
                    <m:oMathParaPr>
                      <m:jc m:val="centerGroup"/>
                    </m:oMathParaPr>
                    <m:oMath xmlns:m="http://schemas.openxmlformats.org/officeDocument/2006/math">
                      <m:r>
                        <a:rPr lang="vi-VN" sz="2800" b="0" i="1" smtClean="0">
                          <a:solidFill>
                            <a:srgbClr val="0066FF"/>
                          </a:solidFill>
                          <a:latin typeface="Cambria Math" panose="02040503050406030204" pitchFamily="18" charset="0"/>
                        </a:rPr>
                        <m:t>⇒ </m:t>
                      </m:r>
                      <m:r>
                        <a:rPr lang="vi-VN" sz="2800" i="1">
                          <a:solidFill>
                            <a:srgbClr val="0066FF"/>
                          </a:solidFill>
                          <a:latin typeface="Cambria Math" panose="02040503050406030204" pitchFamily="18" charset="0"/>
                        </a:rPr>
                        <m:t>𝑃</m:t>
                      </m:r>
                      <m:d>
                        <m:dPr>
                          <m:ctrlPr>
                            <a:rPr lang="vi-VN" sz="2800" i="1">
                              <a:solidFill>
                                <a:srgbClr val="0066FF"/>
                              </a:solidFill>
                              <a:latin typeface="Cambria Math" panose="02040503050406030204" pitchFamily="18" charset="0"/>
                            </a:rPr>
                          </m:ctrlPr>
                        </m:dPr>
                        <m:e>
                          <m:r>
                            <a:rPr lang="vi-VN" sz="2800" i="1">
                              <a:solidFill>
                                <a:srgbClr val="0066FF"/>
                              </a:solidFill>
                              <a:latin typeface="Cambria Math" panose="02040503050406030204" pitchFamily="18" charset="0"/>
                            </a:rPr>
                            <m:t>𝑦</m:t>
                          </m:r>
                          <m:r>
                            <a:rPr lang="vi-VN" sz="2800" i="1">
                              <a:solidFill>
                                <a:srgbClr val="0066FF"/>
                              </a:solidFill>
                              <a:latin typeface="Cambria Math" panose="02040503050406030204" pitchFamily="18" charset="0"/>
                            </a:rPr>
                            <m:t>=</m:t>
                          </m:r>
                          <m:r>
                            <a:rPr lang="vi-VN" sz="2800" i="1">
                              <a:solidFill>
                                <a:srgbClr val="0066FF"/>
                              </a:solidFill>
                              <a:latin typeface="Cambria Math" panose="02040503050406030204" pitchFamily="18" charset="0"/>
                            </a:rPr>
                            <m:t>𝑊𝑎𝑙𝑘</m:t>
                          </m:r>
                        </m:e>
                        <m:e>
                          <m:r>
                            <a:rPr lang="vi-VN" sz="2800" i="1">
                              <a:solidFill>
                                <a:srgbClr val="0066FF"/>
                              </a:solidFill>
                              <a:latin typeface="Cambria Math" panose="02040503050406030204" pitchFamily="18" charset="0"/>
                            </a:rPr>
                            <m:t>𝑋</m:t>
                          </m:r>
                        </m:e>
                      </m:d>
                      <m:r>
                        <a:rPr lang="vi-VN" sz="2800" i="1">
                          <a:solidFill>
                            <a:srgbClr val="0066FF"/>
                          </a:solidFill>
                          <a:latin typeface="Cambria Math" panose="02040503050406030204" pitchFamily="18" charset="0"/>
                        </a:rPr>
                        <m:t>=</m:t>
                      </m:r>
                      <m:f>
                        <m:fPr>
                          <m:ctrlPr>
                            <a:rPr lang="vi-VN" sz="2800" b="0" i="1" smtClean="0">
                              <a:solidFill>
                                <a:srgbClr val="0066FF"/>
                              </a:solidFill>
                              <a:latin typeface="Cambria Math" panose="02040503050406030204" pitchFamily="18" charset="0"/>
                              <a:ea typeface="Cambria Math" panose="02040503050406030204" pitchFamily="18" charset="0"/>
                            </a:rPr>
                          </m:ctrlPr>
                        </m:fPr>
                        <m:num>
                          <m:f>
                            <m:fPr>
                              <m:ctrlPr>
                                <a:rPr lang="vi-VN" sz="2800" b="0" i="1" smtClean="0">
                                  <a:solidFill>
                                    <a:srgbClr val="0066FF"/>
                                  </a:solidFill>
                                  <a:latin typeface="Cambria Math" panose="02040503050406030204" pitchFamily="18" charset="0"/>
                                </a:rPr>
                              </m:ctrlPr>
                            </m:fPr>
                            <m:num>
                              <m:r>
                                <a:rPr lang="vi-VN" sz="2800" b="0" i="1" smtClean="0">
                                  <a:solidFill>
                                    <a:srgbClr val="0066FF"/>
                                  </a:solidFill>
                                  <a:latin typeface="Cambria Math" panose="02040503050406030204" pitchFamily="18" charset="0"/>
                                </a:rPr>
                                <m:t>3</m:t>
                              </m:r>
                            </m:num>
                            <m:den>
                              <m:r>
                                <a:rPr lang="vi-VN" sz="2800" b="0" i="1" smtClean="0">
                                  <a:solidFill>
                                    <a:srgbClr val="0066FF"/>
                                  </a:solidFill>
                                  <a:latin typeface="Cambria Math" panose="02040503050406030204" pitchFamily="18" charset="0"/>
                                </a:rPr>
                                <m:t>10</m:t>
                              </m:r>
                            </m:den>
                          </m:f>
                          <m:r>
                            <a:rPr lang="vi-VN" sz="2800" b="0" i="1" smtClean="0">
                              <a:solidFill>
                                <a:srgbClr val="0066FF"/>
                              </a:solidFill>
                              <a:latin typeface="Cambria Math" panose="02040503050406030204" pitchFamily="18" charset="0"/>
                              <a:ea typeface="Cambria Math" panose="02040503050406030204" pitchFamily="18" charset="0"/>
                            </a:rPr>
                            <m:t>×</m:t>
                          </m:r>
                          <m:f>
                            <m:fPr>
                              <m:ctrlPr>
                                <a:rPr lang="vi-VN" sz="2800" b="0" i="1" smtClean="0">
                                  <a:solidFill>
                                    <a:srgbClr val="0066FF"/>
                                  </a:solidFill>
                                  <a:latin typeface="Cambria Math" panose="02040503050406030204" pitchFamily="18" charset="0"/>
                                  <a:ea typeface="Cambria Math" panose="02040503050406030204" pitchFamily="18" charset="0"/>
                                </a:rPr>
                              </m:ctrlPr>
                            </m:fPr>
                            <m:num>
                              <m:r>
                                <a:rPr lang="vi-VN" sz="2800" b="0" i="1" smtClean="0">
                                  <a:solidFill>
                                    <a:srgbClr val="0066FF"/>
                                  </a:solidFill>
                                  <a:latin typeface="Cambria Math" panose="02040503050406030204" pitchFamily="18" charset="0"/>
                                  <a:ea typeface="Cambria Math" panose="02040503050406030204" pitchFamily="18" charset="0"/>
                                </a:rPr>
                                <m:t>10</m:t>
                              </m:r>
                            </m:num>
                            <m:den>
                              <m:r>
                                <a:rPr lang="vi-VN" sz="2800" b="0" i="1" smtClean="0">
                                  <a:solidFill>
                                    <a:srgbClr val="0066FF"/>
                                  </a:solidFill>
                                  <a:latin typeface="Cambria Math" panose="02040503050406030204" pitchFamily="18" charset="0"/>
                                  <a:ea typeface="Cambria Math" panose="02040503050406030204" pitchFamily="18" charset="0"/>
                                </a:rPr>
                                <m:t>31</m:t>
                              </m:r>
                            </m:den>
                          </m:f>
                        </m:num>
                        <m:den>
                          <m:f>
                            <m:fPr>
                              <m:ctrlPr>
                                <a:rPr lang="vi-VN" sz="2800" b="0" i="1" smtClean="0">
                                  <a:solidFill>
                                    <a:srgbClr val="0066FF"/>
                                  </a:solidFill>
                                  <a:latin typeface="Cambria Math" panose="02040503050406030204" pitchFamily="18" charset="0"/>
                                  <a:ea typeface="Cambria Math" panose="02040503050406030204" pitchFamily="18" charset="0"/>
                                </a:rPr>
                              </m:ctrlPr>
                            </m:fPr>
                            <m:num>
                              <m:r>
                                <a:rPr lang="vi-VN" sz="2800" b="0" i="1" smtClean="0">
                                  <a:solidFill>
                                    <a:srgbClr val="0066FF"/>
                                  </a:solidFill>
                                  <a:latin typeface="Cambria Math" panose="02040503050406030204" pitchFamily="18" charset="0"/>
                                  <a:ea typeface="Cambria Math" panose="02040503050406030204" pitchFamily="18" charset="0"/>
                                </a:rPr>
                                <m:t>4</m:t>
                              </m:r>
                            </m:num>
                            <m:den>
                              <m:r>
                                <a:rPr lang="vi-VN" sz="2800" b="0" i="1" smtClean="0">
                                  <a:solidFill>
                                    <a:srgbClr val="0066FF"/>
                                  </a:solidFill>
                                  <a:latin typeface="Cambria Math" panose="02040503050406030204" pitchFamily="18" charset="0"/>
                                  <a:ea typeface="Cambria Math" panose="02040503050406030204" pitchFamily="18" charset="0"/>
                                </a:rPr>
                                <m:t>31</m:t>
                              </m:r>
                            </m:den>
                          </m:f>
                        </m:den>
                      </m:f>
                      <m:r>
                        <a:rPr lang="vi-VN" sz="2800" b="0" i="1" smtClean="0">
                          <a:solidFill>
                            <a:srgbClr val="0066FF"/>
                          </a:solidFill>
                          <a:latin typeface="Cambria Math" panose="02040503050406030204" pitchFamily="18" charset="0"/>
                          <a:ea typeface="Cambria Math" panose="02040503050406030204" pitchFamily="18" charset="0"/>
                        </a:rPr>
                        <m:t>=</m:t>
                      </m:r>
                      <m:f>
                        <m:fPr>
                          <m:ctrlPr>
                            <a:rPr lang="vi-VN" sz="2800" b="0" i="1" smtClean="0">
                              <a:solidFill>
                                <a:srgbClr val="0066FF"/>
                              </a:solidFill>
                              <a:latin typeface="Cambria Math" panose="02040503050406030204" pitchFamily="18" charset="0"/>
                              <a:ea typeface="Cambria Math" panose="02040503050406030204" pitchFamily="18" charset="0"/>
                            </a:rPr>
                          </m:ctrlPr>
                        </m:fPr>
                        <m:num>
                          <m:r>
                            <a:rPr lang="vi-VN" sz="2800" b="0" i="1" smtClean="0">
                              <a:solidFill>
                                <a:srgbClr val="0066FF"/>
                              </a:solidFill>
                              <a:latin typeface="Cambria Math" panose="02040503050406030204" pitchFamily="18" charset="0"/>
                              <a:ea typeface="Cambria Math" panose="02040503050406030204" pitchFamily="18" charset="0"/>
                            </a:rPr>
                            <m:t>3</m:t>
                          </m:r>
                        </m:num>
                        <m:den>
                          <m:r>
                            <a:rPr lang="vi-VN" sz="2800" b="0" i="1" smtClean="0">
                              <a:solidFill>
                                <a:srgbClr val="0066FF"/>
                              </a:solidFill>
                              <a:latin typeface="Cambria Math" panose="02040503050406030204" pitchFamily="18" charset="0"/>
                              <a:ea typeface="Cambria Math" panose="02040503050406030204" pitchFamily="18" charset="0"/>
                            </a:rPr>
                            <m:t>4</m:t>
                          </m:r>
                        </m:den>
                      </m:f>
                      <m:r>
                        <a:rPr lang="vi-VN" sz="2800" b="0" i="1" smtClean="0">
                          <a:solidFill>
                            <a:srgbClr val="0066FF"/>
                          </a:solidFill>
                          <a:latin typeface="Cambria Math" panose="02040503050406030204" pitchFamily="18" charset="0"/>
                          <a:ea typeface="Cambria Math" panose="02040503050406030204" pitchFamily="18" charset="0"/>
                        </a:rPr>
                        <m:t>=0.75</m:t>
                      </m:r>
                    </m:oMath>
                  </m:oMathPara>
                </a14:m>
                <a:endParaRPr lang="vi-VN" sz="2800" dirty="0">
                  <a:solidFill>
                    <a:srgbClr val="0066FF"/>
                  </a:solidFill>
                </a:endParaRPr>
              </a:p>
              <a:p>
                <a:pPr algn="just">
                  <a:spcBef>
                    <a:spcPts val="0"/>
                  </a:spcBef>
                </a:pPr>
                <a:r>
                  <a:rPr lang="en-US" sz="2800" dirty="0">
                    <a:solidFill>
                      <a:srgbClr val="FF0000"/>
                    </a:solidFill>
                  </a:rPr>
                  <a:t>Ta </a:t>
                </a:r>
                <a:r>
                  <a:rPr lang="en-US" sz="2800" dirty="0" err="1">
                    <a:solidFill>
                      <a:srgbClr val="FF0000"/>
                    </a:solidFill>
                  </a:rPr>
                  <a:t>có</a:t>
                </a:r>
                <a:r>
                  <a:rPr lang="en-US" sz="2800" dirty="0">
                    <a:solidFill>
                      <a:srgbClr val="FF0000"/>
                    </a:solidFill>
                  </a:rPr>
                  <a:t> </a:t>
                </a:r>
                <a:r>
                  <a:rPr lang="en-US" sz="2800" dirty="0" err="1">
                    <a:solidFill>
                      <a:srgbClr val="FF0000"/>
                    </a:solidFill>
                  </a:rPr>
                  <a:t>thể</a:t>
                </a:r>
                <a:r>
                  <a:rPr lang="en-US" sz="2800" dirty="0">
                    <a:solidFill>
                      <a:srgbClr val="FF0000"/>
                    </a:solidFill>
                  </a:rPr>
                  <a:t> </a:t>
                </a:r>
                <a:r>
                  <a:rPr lang="en-US" sz="2800" dirty="0" err="1">
                    <a:solidFill>
                      <a:srgbClr val="FF0000"/>
                    </a:solidFill>
                  </a:rPr>
                  <a:t>nói</a:t>
                </a:r>
                <a:r>
                  <a:rPr lang="en-US" sz="2800" dirty="0">
                    <a:solidFill>
                      <a:srgbClr val="FF0000"/>
                    </a:solidFill>
                  </a:rPr>
                  <a:t> </a:t>
                </a:r>
                <a:r>
                  <a:rPr lang="en-US" sz="2800" dirty="0" err="1">
                    <a:solidFill>
                      <a:srgbClr val="FF0000"/>
                    </a:solidFill>
                  </a:rPr>
                  <a:t>rằng</a:t>
                </a:r>
                <a:r>
                  <a:rPr lang="en-US" sz="2800" dirty="0">
                    <a:solidFill>
                      <a:srgbClr val="FF0000"/>
                    </a:solidFill>
                  </a:rPr>
                  <a:t>, </a:t>
                </a:r>
                <a:r>
                  <a:rPr lang="en-US" sz="2800" dirty="0" err="1">
                    <a:solidFill>
                      <a:srgbClr val="FF0000"/>
                    </a:solidFill>
                  </a:rPr>
                  <a:t>xác</a:t>
                </a:r>
                <a:r>
                  <a:rPr lang="en-US" sz="2800" dirty="0">
                    <a:solidFill>
                      <a:srgbClr val="FF0000"/>
                    </a:solidFill>
                  </a:rPr>
                  <a:t> </a:t>
                </a:r>
                <a:r>
                  <a:rPr lang="en-US" sz="2800" dirty="0" err="1">
                    <a:solidFill>
                      <a:srgbClr val="FF0000"/>
                    </a:solidFill>
                  </a:rPr>
                  <a:t>suất</a:t>
                </a:r>
                <a:r>
                  <a:rPr lang="en-US" sz="2800" dirty="0">
                    <a:solidFill>
                      <a:srgbClr val="FF0000"/>
                    </a:solidFill>
                  </a:rPr>
                  <a:t> </a:t>
                </a:r>
                <a:r>
                  <a:rPr lang="en-US" sz="2800" dirty="0" err="1">
                    <a:solidFill>
                      <a:srgbClr val="FF0000"/>
                    </a:solidFill>
                  </a:rPr>
                  <a:t>để</a:t>
                </a:r>
                <a:r>
                  <a:rPr lang="en-US" sz="2800">
                    <a:solidFill>
                      <a:srgbClr val="FF0000"/>
                    </a:solidFill>
                  </a:rPr>
                  <a:t> ng</a:t>
                </a:r>
                <a:r>
                  <a:rPr lang="vi-VN" sz="2800" dirty="0" err="1">
                    <a:solidFill>
                      <a:srgbClr val="FF0000"/>
                    </a:solidFill>
                  </a:rPr>
                  <a:t>ười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𝑋</m:t>
                    </m:r>
                  </m:oMath>
                </a14:m>
                <a:r>
                  <a:rPr lang="vi-VN" sz="2800" dirty="0">
                    <a:solidFill>
                      <a:srgbClr val="FF0000"/>
                    </a:solidFill>
                  </a:rPr>
                  <a:t> đi </a:t>
                </a:r>
                <a:r>
                  <a:rPr lang="vi-VN" sz="2800" dirty="0" err="1">
                    <a:solidFill>
                      <a:srgbClr val="FF0000"/>
                    </a:solidFill>
                  </a:rPr>
                  <a:t>bộ</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75%</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2E304396-B9B7-41EC-8BCA-B15EB539E0C4}"/>
                  </a:ext>
                </a:extLst>
              </p:cNvPr>
              <p:cNvSpPr>
                <a:spLocks noGrp="1" noRot="1" noChangeAspect="1" noMove="1" noResize="1" noEditPoints="1" noAdjustHandles="1" noChangeArrowheads="1" noChangeShapeType="1" noTextEdit="1"/>
              </p:cNvSpPr>
              <p:nvPr>
                <p:ph idx="1"/>
              </p:nvPr>
            </p:nvSpPr>
            <p:spPr>
              <a:blipFill>
                <a:blip r:embed="rId2"/>
                <a:stretch>
                  <a:fillRect l="-1000" t="-1482"/>
                </a:stretch>
              </a:blipFill>
            </p:spPr>
            <p:txBody>
              <a:bodyPr/>
              <a:lstStyle/>
              <a:p>
                <a:r>
                  <a:rPr lang="vi-VN">
                    <a:noFill/>
                  </a:rPr>
                  <a:t> </a:t>
                </a:r>
              </a:p>
            </p:txBody>
          </p:sp>
        </mc:Fallback>
      </mc:AlternateContent>
    </p:spTree>
    <p:extLst>
      <p:ext uri="{BB962C8B-B14F-4D97-AF65-F5344CB8AC3E}">
        <p14:creationId xmlns:p14="http://schemas.microsoft.com/office/powerpoint/2010/main" val="313454776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446546-0101-410F-8D04-EDD472ECD36F}"/>
              </a:ext>
            </a:extLst>
          </p:cNvPr>
          <p:cNvSpPr>
            <a:spLocks noGrp="1"/>
          </p:cNvSpPr>
          <p:nvPr>
            <p:ph type="title"/>
          </p:nvPr>
        </p:nvSpPr>
        <p:spPr/>
        <p:txBody>
          <a:bodyPr/>
          <a:lstStyle/>
          <a:p>
            <a:r>
              <a:rPr lang="en-US" dirty="0"/>
              <a:t>Naïve Bayes</a:t>
            </a:r>
            <a:endParaRPr lang="vi-VN"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9D825B18-13D5-491E-A223-56319FE407C5}"/>
                  </a:ext>
                </a:extLst>
              </p:cNvPr>
              <p:cNvSpPr>
                <a:spLocks noGrp="1"/>
              </p:cNvSpPr>
              <p:nvPr>
                <p:ph idx="1"/>
              </p:nvPr>
            </p:nvSpPr>
            <p:spPr/>
            <p:txBody>
              <a:bodyPr/>
              <a:lstStyle/>
              <a:p>
                <a:pPr marL="514350" indent="-457200" algn="just"/>
                <a:r>
                  <a:rPr lang="vi-VN" sz="2800" dirty="0">
                    <a:solidFill>
                      <a:srgbClr val="0066FF"/>
                    </a:solidFill>
                  </a:rPr>
                  <a:t>Từ </a:t>
                </a:r>
                <a:r>
                  <a:rPr lang="en-US" sz="2800" dirty="0">
                    <a:solidFill>
                      <a:srgbClr val="0066FF"/>
                    </a:solidFill>
                  </a:rPr>
                  <a:t>Naïve</a:t>
                </a:r>
                <a:r>
                  <a:rPr lang="vi-VN" sz="2800" dirty="0">
                    <a:solidFill>
                      <a:srgbClr val="0066FF"/>
                    </a:solidFill>
                  </a:rPr>
                  <a:t> trong </a:t>
                </a:r>
                <a:r>
                  <a:rPr lang="vi-VN" sz="2800" dirty="0" err="1">
                    <a:solidFill>
                      <a:srgbClr val="0066FF"/>
                    </a:solidFill>
                  </a:rPr>
                  <a:t>Naive</a:t>
                </a:r>
                <a:r>
                  <a:rPr lang="vi-VN" sz="2800" dirty="0">
                    <a:solidFill>
                      <a:srgbClr val="0066FF"/>
                    </a:solidFill>
                  </a:rPr>
                  <a:t> </a:t>
                </a:r>
                <a:r>
                  <a:rPr lang="vi-VN" sz="2800" dirty="0" err="1">
                    <a:solidFill>
                      <a:srgbClr val="0066FF"/>
                    </a:solidFill>
                  </a:rPr>
                  <a:t>Bayes</a:t>
                </a:r>
                <a:r>
                  <a:rPr lang="vi-VN" sz="2800" dirty="0">
                    <a:solidFill>
                      <a:srgbClr val="0066FF"/>
                    </a:solidFill>
                  </a:rPr>
                  <a:t> </a:t>
                </a:r>
                <a:r>
                  <a:rPr lang="vi-VN" sz="2800" dirty="0" err="1">
                    <a:solidFill>
                      <a:srgbClr val="0066FF"/>
                    </a:solidFill>
                  </a:rPr>
                  <a:t>được</a:t>
                </a:r>
                <a:r>
                  <a:rPr lang="vi-VN" sz="2800" dirty="0">
                    <a:solidFill>
                      <a:srgbClr val="0066FF"/>
                    </a:solidFill>
                  </a:rPr>
                  <a:t> </a:t>
                </a:r>
                <a:r>
                  <a:rPr lang="vi-VN" sz="2800" dirty="0" err="1">
                    <a:solidFill>
                      <a:srgbClr val="0066FF"/>
                    </a:solidFill>
                  </a:rPr>
                  <a:t>đặt</a:t>
                </a:r>
                <a:r>
                  <a:rPr lang="vi-VN" sz="2800" dirty="0">
                    <a:solidFill>
                      <a:srgbClr val="0066FF"/>
                    </a:solidFill>
                  </a:rPr>
                  <a:t> </a:t>
                </a:r>
                <a:r>
                  <a:rPr lang="vi-VN" sz="2800" dirty="0" err="1">
                    <a:solidFill>
                      <a:srgbClr val="0066FF"/>
                    </a:solidFill>
                  </a:rPr>
                  <a:t>vì</a:t>
                </a:r>
                <a:r>
                  <a:rPr lang="vi-VN" sz="2800" dirty="0">
                    <a:solidFill>
                      <a:srgbClr val="0066FF"/>
                    </a:solidFill>
                  </a:rPr>
                  <a:t> </a:t>
                </a:r>
                <a:r>
                  <a:rPr lang="vi-VN" sz="2800" dirty="0" err="1">
                    <a:solidFill>
                      <a:srgbClr val="0066FF"/>
                    </a:solidFill>
                  </a:rPr>
                  <a:t>giả</a:t>
                </a:r>
                <a:r>
                  <a:rPr lang="vi-VN" sz="2800" dirty="0">
                    <a:solidFill>
                      <a:srgbClr val="0066FF"/>
                    </a:solidFill>
                  </a:rPr>
                  <a:t> </a:t>
                </a:r>
                <a:r>
                  <a:rPr lang="vi-VN" sz="2800" dirty="0" err="1">
                    <a:solidFill>
                      <a:srgbClr val="0066FF"/>
                    </a:solidFill>
                  </a:rPr>
                  <a:t>thiết</a:t>
                </a:r>
                <a:r>
                  <a:rPr lang="vi-VN" sz="2800" dirty="0">
                    <a:solidFill>
                      <a:srgbClr val="0066FF"/>
                    </a:solidFill>
                  </a:rPr>
                  <a:t> </a:t>
                </a:r>
                <a:r>
                  <a:rPr lang="vi-VN" sz="2800" dirty="0" err="1">
                    <a:solidFill>
                      <a:srgbClr val="0066FF"/>
                    </a:solidFill>
                  </a:rPr>
                  <a:t>các</a:t>
                </a:r>
                <a:r>
                  <a:rPr lang="vi-VN" sz="2800" dirty="0">
                    <a:solidFill>
                      <a:srgbClr val="0066FF"/>
                    </a:solidFill>
                  </a:rPr>
                  <a:t> </a:t>
                </a:r>
                <a:r>
                  <a:rPr lang="vi-VN" sz="2800" dirty="0" err="1">
                    <a:solidFill>
                      <a:srgbClr val="0066FF"/>
                    </a:solidFill>
                  </a:rPr>
                  <a:t>đặc</a:t>
                </a:r>
                <a:r>
                  <a:rPr lang="vi-VN" sz="2800" dirty="0">
                    <a:solidFill>
                      <a:srgbClr val="0066FF"/>
                    </a:solidFill>
                  </a:rPr>
                  <a:t> trưng </a:t>
                </a:r>
                <a:r>
                  <a:rPr lang="vi-VN" sz="2800" dirty="0" err="1">
                    <a:solidFill>
                      <a:srgbClr val="0066FF"/>
                    </a:solidFill>
                  </a:rPr>
                  <a:t>của</a:t>
                </a:r>
                <a:r>
                  <a:rPr lang="vi-VN" sz="2800" dirty="0">
                    <a:solidFill>
                      <a:srgbClr val="0066FF"/>
                    </a:solidFill>
                  </a:rPr>
                  <a:t> </a:t>
                </a:r>
                <a14:m>
                  <m:oMath xmlns:m="http://schemas.openxmlformats.org/officeDocument/2006/math">
                    <m:r>
                      <a:rPr lang="vi-VN" sz="2800" i="1" dirty="0">
                        <a:solidFill>
                          <a:srgbClr val="0066FF"/>
                        </a:solidFill>
                        <a:latin typeface="Cambria Math" panose="02040503050406030204" pitchFamily="18" charset="0"/>
                      </a:rPr>
                      <m:t>𝑋</m:t>
                    </m:r>
                  </m:oMath>
                </a14:m>
                <a:r>
                  <a:rPr lang="vi-VN" sz="2800" dirty="0">
                    <a:solidFill>
                      <a:srgbClr val="0066FF"/>
                    </a:solidFill>
                  </a:rPr>
                  <a:t> </a:t>
                </a:r>
                <a:r>
                  <a:rPr lang="vi-VN" sz="2800" dirty="0" err="1">
                    <a:solidFill>
                      <a:srgbClr val="0066FF"/>
                    </a:solidFill>
                  </a:rPr>
                  <a:t>hoàn</a:t>
                </a:r>
                <a:r>
                  <a:rPr lang="vi-VN" sz="2800" dirty="0">
                    <a:solidFill>
                      <a:srgbClr val="0066FF"/>
                    </a:solidFill>
                  </a:rPr>
                  <a:t> </a:t>
                </a:r>
                <a:r>
                  <a:rPr lang="vi-VN" sz="2800" dirty="0" err="1">
                    <a:solidFill>
                      <a:srgbClr val="0066FF"/>
                    </a:solidFill>
                  </a:rPr>
                  <a:t>toàn</a:t>
                </a:r>
                <a:r>
                  <a:rPr lang="vi-VN" sz="2800" dirty="0">
                    <a:solidFill>
                      <a:srgbClr val="0066FF"/>
                    </a:solidFill>
                  </a:rPr>
                  <a:t> </a:t>
                </a:r>
                <a:r>
                  <a:rPr lang="vi-VN" sz="2800" dirty="0" err="1">
                    <a:solidFill>
                      <a:srgbClr val="0066FF"/>
                    </a:solidFill>
                  </a:rPr>
                  <a:t>độc</a:t>
                </a:r>
                <a:r>
                  <a:rPr lang="vi-VN" sz="2800" dirty="0">
                    <a:solidFill>
                      <a:srgbClr val="0066FF"/>
                    </a:solidFill>
                  </a:rPr>
                  <a:t> </a:t>
                </a:r>
                <a:r>
                  <a:rPr lang="vi-VN" sz="2800" dirty="0" err="1">
                    <a:solidFill>
                      <a:srgbClr val="0066FF"/>
                    </a:solidFill>
                  </a:rPr>
                  <a:t>lập</a:t>
                </a:r>
                <a:r>
                  <a:rPr lang="vi-VN" sz="2800" dirty="0">
                    <a:solidFill>
                      <a:srgbClr val="0066FF"/>
                    </a:solidFill>
                  </a:rPr>
                  <a:t> </a:t>
                </a:r>
                <a:r>
                  <a:rPr lang="vi-VN" sz="2800" dirty="0" err="1">
                    <a:solidFill>
                      <a:srgbClr val="0066FF"/>
                    </a:solidFill>
                  </a:rPr>
                  <a:t>với</a:t>
                </a:r>
                <a:r>
                  <a:rPr lang="vi-VN" sz="2800" dirty="0">
                    <a:solidFill>
                      <a:srgbClr val="0066FF"/>
                    </a:solidFill>
                  </a:rPr>
                  <a:t> nhau. </a:t>
                </a:r>
                <a:endParaRPr lang="en-US" sz="2800" dirty="0">
                  <a:solidFill>
                    <a:srgbClr val="0066FF"/>
                  </a:solidFill>
                </a:endParaRPr>
              </a:p>
              <a:p>
                <a:pPr marL="514350" indent="-457200" algn="just"/>
                <a:r>
                  <a:rPr lang="vi-VN" sz="2800" dirty="0" err="1">
                    <a:solidFill>
                      <a:srgbClr val="FF0000"/>
                    </a:solidFill>
                  </a:rPr>
                  <a:t>Mặc</a:t>
                </a:r>
                <a:r>
                  <a:rPr lang="vi-VN" sz="2800" dirty="0">
                    <a:solidFill>
                      <a:srgbClr val="FF0000"/>
                    </a:solidFill>
                  </a:rPr>
                  <a:t> </a:t>
                </a:r>
                <a:r>
                  <a:rPr lang="vi-VN" sz="2800" dirty="0" err="1">
                    <a:solidFill>
                      <a:srgbClr val="FF0000"/>
                    </a:solidFill>
                  </a:rPr>
                  <a:t>dù</a:t>
                </a:r>
                <a:r>
                  <a:rPr lang="vi-VN" sz="2800" dirty="0">
                    <a:solidFill>
                      <a:srgbClr val="FF0000"/>
                    </a:solidFill>
                  </a:rPr>
                  <a:t> </a:t>
                </a:r>
                <a:r>
                  <a:rPr lang="vi-VN" sz="2800" dirty="0" err="1">
                    <a:solidFill>
                      <a:srgbClr val="FF0000"/>
                    </a:solidFill>
                  </a:rPr>
                  <a:t>giả</a:t>
                </a:r>
                <a:r>
                  <a:rPr lang="vi-VN" sz="2800" dirty="0">
                    <a:solidFill>
                      <a:srgbClr val="FF0000"/>
                    </a:solidFill>
                  </a:rPr>
                  <a:t> </a:t>
                </a:r>
                <a:r>
                  <a:rPr lang="vi-VN" sz="2800" dirty="0" err="1">
                    <a:solidFill>
                      <a:srgbClr val="FF0000"/>
                    </a:solidFill>
                  </a:rPr>
                  <a:t>thiết</a:t>
                </a:r>
                <a:r>
                  <a:rPr lang="vi-VN" sz="2800" dirty="0">
                    <a:solidFill>
                      <a:srgbClr val="FF0000"/>
                    </a:solidFill>
                  </a:rPr>
                  <a:t> </a:t>
                </a:r>
                <a:r>
                  <a:rPr lang="vi-VN" sz="2800" dirty="0" err="1">
                    <a:solidFill>
                      <a:srgbClr val="FF0000"/>
                    </a:solidFill>
                  </a:rPr>
                  <a:t>này</a:t>
                </a:r>
                <a:r>
                  <a:rPr lang="vi-VN" sz="2800" dirty="0">
                    <a:solidFill>
                      <a:srgbClr val="FF0000"/>
                    </a:solidFill>
                  </a:rPr>
                  <a:t> </a:t>
                </a:r>
                <a:r>
                  <a:rPr lang="vi-VN" sz="2800" dirty="0" err="1">
                    <a:solidFill>
                      <a:srgbClr val="FF0000"/>
                    </a:solidFill>
                  </a:rPr>
                  <a:t>khá</a:t>
                </a:r>
                <a:r>
                  <a:rPr lang="vi-VN" sz="2800" dirty="0">
                    <a:solidFill>
                      <a:srgbClr val="FF0000"/>
                    </a:solidFill>
                  </a:rPr>
                  <a:t> phi </a:t>
                </a:r>
                <a:r>
                  <a:rPr lang="vi-VN" sz="2800" dirty="0" err="1">
                    <a:solidFill>
                      <a:srgbClr val="FF0000"/>
                    </a:solidFill>
                  </a:rPr>
                  <a:t>thực</a:t>
                </a:r>
                <a:r>
                  <a:rPr lang="vi-VN" sz="2800" dirty="0">
                    <a:solidFill>
                      <a:srgbClr val="FF0000"/>
                    </a:solidFill>
                  </a:rPr>
                  <a:t> </a:t>
                </a:r>
                <a:r>
                  <a:rPr lang="vi-VN" sz="2800" dirty="0" err="1">
                    <a:solidFill>
                      <a:srgbClr val="FF0000"/>
                    </a:solidFill>
                  </a:rPr>
                  <a:t>tế</a:t>
                </a:r>
                <a:r>
                  <a:rPr lang="vi-VN" sz="2800" dirty="0">
                    <a:solidFill>
                      <a:srgbClr val="FF0000"/>
                    </a:solidFill>
                  </a:rPr>
                  <a:t>, nhưng </a:t>
                </a:r>
                <a:r>
                  <a:rPr lang="en-US" sz="2800" dirty="0">
                    <a:solidFill>
                      <a:srgbClr val="FF0000"/>
                    </a:solidFill>
                  </a:rPr>
                  <a:t>Naïve</a:t>
                </a:r>
                <a:r>
                  <a:rPr lang="vi-VN" sz="2800" dirty="0">
                    <a:solidFill>
                      <a:srgbClr val="FF0000"/>
                    </a:solidFill>
                  </a:rPr>
                  <a:t> </a:t>
                </a:r>
                <a:r>
                  <a:rPr lang="vi-VN" sz="2800" dirty="0" err="1">
                    <a:solidFill>
                      <a:srgbClr val="FF0000"/>
                    </a:solidFill>
                  </a:rPr>
                  <a:t>Bayes</a:t>
                </a:r>
                <a:r>
                  <a:rPr lang="vi-VN" sz="2800" dirty="0">
                    <a:solidFill>
                      <a:srgbClr val="FF0000"/>
                    </a:solidFill>
                  </a:rPr>
                  <a:t> </a:t>
                </a:r>
                <a:r>
                  <a:rPr lang="vi-VN" sz="2800" dirty="0" err="1">
                    <a:solidFill>
                      <a:srgbClr val="FF0000"/>
                    </a:solidFill>
                  </a:rPr>
                  <a:t>lại</a:t>
                </a:r>
                <a:r>
                  <a:rPr lang="vi-VN" sz="2800" dirty="0">
                    <a:solidFill>
                      <a:srgbClr val="FF0000"/>
                    </a:solidFill>
                  </a:rPr>
                  <a:t> </a:t>
                </a:r>
                <a:r>
                  <a:rPr lang="vi-VN" sz="2800" dirty="0" err="1">
                    <a:solidFill>
                      <a:srgbClr val="FF0000"/>
                    </a:solidFill>
                  </a:rPr>
                  <a:t>hoạt</a:t>
                </a:r>
                <a:r>
                  <a:rPr lang="vi-VN" sz="2800" dirty="0">
                    <a:solidFill>
                      <a:srgbClr val="FF0000"/>
                    </a:solidFill>
                  </a:rPr>
                  <a:t> </a:t>
                </a:r>
                <a:r>
                  <a:rPr lang="vi-VN" sz="2800" dirty="0" err="1">
                    <a:solidFill>
                      <a:srgbClr val="FF0000"/>
                    </a:solidFill>
                  </a:rPr>
                  <a:t>động</a:t>
                </a:r>
                <a:r>
                  <a:rPr lang="vi-VN" sz="2800" dirty="0">
                    <a:solidFill>
                      <a:srgbClr val="FF0000"/>
                    </a:solidFill>
                  </a:rPr>
                  <a:t> </a:t>
                </a:r>
                <a:r>
                  <a:rPr lang="vi-VN" sz="2800" dirty="0" err="1">
                    <a:solidFill>
                      <a:srgbClr val="FF0000"/>
                    </a:solidFill>
                  </a:rPr>
                  <a:t>rất</a:t>
                </a:r>
                <a:r>
                  <a:rPr lang="vi-VN" sz="2800" dirty="0">
                    <a:solidFill>
                      <a:srgbClr val="FF0000"/>
                    </a:solidFill>
                  </a:rPr>
                  <a:t> </a:t>
                </a:r>
                <a:r>
                  <a:rPr lang="vi-VN" sz="2800" dirty="0" err="1">
                    <a:solidFill>
                      <a:srgbClr val="FF0000"/>
                    </a:solidFill>
                  </a:rPr>
                  <a:t>hiệu</a:t>
                </a:r>
                <a:r>
                  <a:rPr lang="vi-VN" sz="2800" dirty="0">
                    <a:solidFill>
                      <a:srgbClr val="FF0000"/>
                    </a:solidFill>
                  </a:rPr>
                  <a:t> </a:t>
                </a:r>
                <a:r>
                  <a:rPr lang="vi-VN" sz="2800" dirty="0" err="1">
                    <a:solidFill>
                      <a:srgbClr val="FF0000"/>
                    </a:solidFill>
                  </a:rPr>
                  <a:t>quả</a:t>
                </a:r>
                <a:r>
                  <a:rPr lang="vi-VN" sz="2800" dirty="0">
                    <a:solidFill>
                      <a:srgbClr val="FF0000"/>
                    </a:solidFill>
                  </a:rPr>
                  <a:t>.</a:t>
                </a:r>
              </a:p>
            </p:txBody>
          </p:sp>
        </mc:Choice>
        <mc:Fallback xmlns="">
          <p:sp>
            <p:nvSpPr>
              <p:cNvPr id="8" name="Content Placeholder 7">
                <a:extLst>
                  <a:ext uri="{FF2B5EF4-FFF2-40B4-BE49-F238E27FC236}">
                    <a16:creationId xmlns:a16="http://schemas.microsoft.com/office/drawing/2014/main" id="{9D825B18-13D5-491E-A223-56319FE407C5}"/>
                  </a:ext>
                </a:extLst>
              </p:cNvPr>
              <p:cNvSpPr>
                <a:spLocks noGrp="1" noRot="1" noChangeAspect="1" noMove="1" noResize="1" noEditPoints="1" noAdjustHandles="1" noChangeArrowheads="1" noChangeShapeType="1" noTextEdit="1"/>
              </p:cNvSpPr>
              <p:nvPr>
                <p:ph idx="1"/>
              </p:nvPr>
            </p:nvSpPr>
            <p:spPr>
              <a:blipFill>
                <a:blip r:embed="rId2"/>
                <a:stretch>
                  <a:fillRect l="-5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302964039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a:lstStyle/>
          <a:p>
            <a:r>
              <a:rPr lang="en-US" dirty="0" err="1"/>
              <a:t>Huấn</a:t>
            </a:r>
            <a:r>
              <a:rPr lang="en-US" dirty="0"/>
              <a:t> </a:t>
            </a:r>
            <a:r>
              <a:rPr lang="en-US" dirty="0" err="1"/>
              <a:t>luyện</a:t>
            </a:r>
            <a:r>
              <a:rPr lang="en-US" dirty="0"/>
              <a:t> </a:t>
            </a:r>
            <a:r>
              <a:rPr lang="en-US" dirty="0" err="1"/>
              <a:t>mô</a:t>
            </a:r>
            <a:r>
              <a:rPr lang="en-US" dirty="0"/>
              <a:t> </a:t>
            </a:r>
            <a:r>
              <a:rPr lang="en-US" dirty="0" err="1"/>
              <a:t>hình</a:t>
            </a:r>
            <a:endParaRPr lang="vi-VN" dirty="0"/>
          </a:p>
        </p:txBody>
      </p:sp>
      <p:sp>
        <p:nvSpPr>
          <p:cNvPr id="4" name="Text Placeholder 3">
            <a:extLst>
              <a:ext uri="{FF2B5EF4-FFF2-40B4-BE49-F238E27FC236}">
                <a16:creationId xmlns:a16="http://schemas.microsoft.com/office/drawing/2014/main" id="{26D308A1-220E-41D1-95C3-05079F64FB0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396183205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D357-44D3-4192-9574-AEB50D07BA93}"/>
              </a:ext>
            </a:extLst>
          </p:cNvPr>
          <p:cNvSpPr>
            <a:spLocks noGrp="1"/>
          </p:cNvSpPr>
          <p:nvPr>
            <p:ph type="title"/>
          </p:nvPr>
        </p:nvSpPr>
        <p:spPr/>
        <p:txBody>
          <a:bodyPr wrap="square"/>
          <a:lstStyle/>
          <a:p>
            <a:pPr>
              <a:defRPr sz="2800" b="1">
                <a:solidFill>
                  <a:srgbClr val="002060"/>
                </a:solidFill>
                <a:latin typeface="Calibri"/>
              </a:defRPr>
            </a:pPr>
            <a:r>
              <a:t>Huấn luyện mô hình: Gaussian Naive Bayes &amp; Đánh Giá (In [1])</a:t>
            </a:r>
            <a:endParaRPr lang="vi-VN" dirty="0"/>
          </a:p>
        </p:txBody>
      </p:sp>
      <p:sp>
        <p:nvSpPr>
          <p:cNvPr id="3" name="Content Placeholder 2">
            <a:extLst>
              <a:ext uri="{FF2B5EF4-FFF2-40B4-BE49-F238E27FC236}">
                <a16:creationId xmlns:a16="http://schemas.microsoft.com/office/drawing/2014/main" id="{A734B11A-0C5D-4094-8818-CED3C58F0E7B}"/>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Huấn luyện mô hình GaussianNB trong module sklearn.naive_bayes:</a:t>
            </a:r>
          </a:p>
          <a:p>
            <a:pPr>
              <a:spcAft>
                <a:spcPts val="200"/>
              </a:spcAft>
              <a:defRPr sz="1300" b="0">
                <a:solidFill>
                  <a:srgbClr val="004696"/>
                </a:solidFill>
                <a:latin typeface="Consolas"/>
              </a:defRPr>
            </a:pPr>
            <a:r>
              <a:t>from sklearn.naive_bayes import GaussianNB</a:t>
            </a:r>
          </a:p>
          <a:p>
            <a:pPr>
              <a:spcAft>
                <a:spcPts val="200"/>
              </a:spcAft>
              <a:defRPr sz="1300" b="0">
                <a:solidFill>
                  <a:srgbClr val="004696"/>
                </a:solidFill>
                <a:latin typeface="Consolas"/>
              </a:defRPr>
            </a:pPr>
            <a:r>
              <a:t>from sklearn.metrics import confusion_matrix, accuracy_score</a:t>
            </a:r>
          </a:p>
          <a:p>
            <a:pPr>
              <a:spcAft>
                <a:spcPts val="200"/>
              </a:spcAft>
              <a:defRPr sz="1300" b="0">
                <a:solidFill>
                  <a:srgbClr val="004696"/>
                </a:solidFill>
                <a:latin typeface="Consolas"/>
              </a:defRPr>
            </a:pPr>
            <a:r>
              <a:t>classifier = GaussianNB()</a:t>
            </a:r>
          </a:p>
          <a:p>
            <a:pPr>
              <a:spcAft>
                <a:spcPts val="200"/>
              </a:spcAft>
              <a:defRPr sz="1300" b="0">
                <a:solidFill>
                  <a:srgbClr val="004696"/>
                </a:solidFill>
                <a:latin typeface="Consolas"/>
              </a:defRPr>
            </a:pPr>
            <a:r>
              <a:t>classifier.fit(X_train_scaled, y_train)</a:t>
            </a:r>
          </a:p>
          <a:p>
            <a:pPr>
              <a:spcAft>
                <a:spcPts val="400"/>
              </a:spcAft>
              <a:defRPr sz="1300" b="0">
                <a:solidFill>
                  <a:srgbClr val="004696"/>
                </a:solidFill>
                <a:latin typeface="Consolas"/>
              </a:defRPr>
            </a:pPr>
            <a:r>
              <a:t>y_pred = classifier.predict(X_test_scaled)</a:t>
            </a:r>
          </a:p>
          <a:p>
            <a:pPr>
              <a:spcAft>
                <a:spcPts val="200"/>
              </a:spcAft>
              <a:defRPr sz="1300" b="0">
                <a:solidFill>
                  <a:srgbClr val="004696"/>
                </a:solidFill>
                <a:latin typeface="Consolas"/>
              </a:defRPr>
            </a:pPr>
            <a:r>
              <a:t>cm = confusion_matrix(y_test, y_pred)</a:t>
            </a:r>
          </a:p>
          <a:p>
            <a:pPr>
              <a:spcAft>
                <a:spcPts val="200"/>
              </a:spcAft>
              <a:defRPr sz="1300" b="0">
                <a:solidFill>
                  <a:srgbClr val="004696"/>
                </a:solidFill>
                <a:latin typeface="Consolas"/>
              </a:defRPr>
            </a:pPr>
            <a:r>
              <a:t>print(f'Accuracy: {accuracy_score(y_test, y_pred)*100:.2f}%')</a:t>
            </a:r>
          </a:p>
          <a:p>
            <a:pPr>
              <a:spcAft>
                <a:spcPts val="400"/>
              </a:spcAft>
              <a:defRPr sz="1300" b="0">
                <a:solidFill>
                  <a:srgbClr val="004696"/>
                </a:solidFill>
                <a:latin typeface="Consolas"/>
              </a:defRPr>
            </a:pPr>
            <a:r>
              <a:t>print('Confusion Matrix:\n', cm)</a:t>
            </a:r>
          </a:p>
          <a:p>
            <a:pPr>
              <a:spcAft>
                <a:spcPts val="200"/>
              </a:spcAft>
              <a:defRPr sz="1200" b="0">
                <a:solidFill>
                  <a:srgbClr val="146428"/>
                </a:solidFill>
                <a:latin typeface="Consolas"/>
              </a:defRPr>
            </a:pPr>
            <a:r>
              <a:t>📌 Kết quả đánh giá: Accuracy = 90.00% | Confusion Matrix: [[65, 3], [7, 25]] (Chính xác 90/100 mẫu)</a:t>
            </a:r>
          </a:p>
        </p:txBody>
      </p:sp>
    </p:spTree>
    <p:extLst>
      <p:ext uri="{BB962C8B-B14F-4D97-AF65-F5344CB8AC3E}">
        <p14:creationId xmlns:p14="http://schemas.microsoft.com/office/powerpoint/2010/main" val="89957868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5" name="Text Placeholder 4">
            <a:extLst>
              <a:ext uri="{FF2B5EF4-FFF2-40B4-BE49-F238E27FC236}">
                <a16:creationId xmlns:a16="http://schemas.microsoft.com/office/drawing/2014/main" id="{76631E8E-7F95-48D1-B193-056D9DF35BBA}"/>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25823738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lang="vi-VN" sz="2800" dirty="0">
                    <a:solidFill>
                      <a:srgbClr val="0066FF"/>
                    </a:solidFill>
                  </a:rPr>
                  <a:t>Ta </a:t>
                </a:r>
                <a:r>
                  <a:rPr lang="vi-VN" sz="2800" dirty="0" err="1">
                    <a:solidFill>
                      <a:srgbClr val="0066FF"/>
                    </a:solidFill>
                  </a:rPr>
                  <a:t>tạo</a:t>
                </a:r>
                <a:r>
                  <a:rPr lang="vi-VN" sz="2800" dirty="0">
                    <a:solidFill>
                      <a:srgbClr val="0066FF"/>
                    </a:solidFill>
                  </a:rPr>
                  <a:t> </a:t>
                </a:r>
                <a:r>
                  <a:rPr lang="vi-VN" sz="2800" dirty="0" err="1">
                    <a:solidFill>
                      <a:srgbClr val="0066FF"/>
                    </a:solidFill>
                  </a:rPr>
                  <a:t>một</a:t>
                </a:r>
                <a:r>
                  <a:rPr lang="vi-VN" sz="2800" dirty="0">
                    <a:solidFill>
                      <a:srgbClr val="0066FF"/>
                    </a:solidFill>
                  </a:rPr>
                  <a:t> </a:t>
                </a:r>
                <a:r>
                  <a:rPr lang="vi-VN" sz="2800" i="1" dirty="0" err="1">
                    <a:solidFill>
                      <a:srgbClr val="0066FF"/>
                    </a:solidFill>
                  </a:rPr>
                  <a:t>confusion</a:t>
                </a:r>
                <a:r>
                  <a:rPr lang="vi-VN" sz="2800" i="1" dirty="0">
                    <a:solidFill>
                      <a:srgbClr val="0066FF"/>
                    </a:solidFill>
                  </a:rPr>
                  <a:t> </a:t>
                </a:r>
                <a:r>
                  <a:rPr lang="vi-VN" sz="2800" i="1" dirty="0" err="1">
                    <a:solidFill>
                      <a:srgbClr val="0066FF"/>
                    </a:solidFill>
                  </a:rPr>
                  <a:t>matrix</a:t>
                </a:r>
                <a:r>
                  <a:rPr lang="vi-VN" sz="2800" dirty="0">
                    <a:solidFill>
                      <a:srgbClr val="0066FF"/>
                    </a:solidFill>
                  </a:rPr>
                  <a:t>. Đây </a:t>
                </a:r>
                <a:r>
                  <a:rPr lang="vi-VN" sz="2800" dirty="0" err="1">
                    <a:solidFill>
                      <a:srgbClr val="0066FF"/>
                    </a:solidFill>
                  </a:rPr>
                  <a:t>là</a:t>
                </a:r>
                <a:r>
                  <a:rPr lang="vi-VN" sz="2800" dirty="0">
                    <a:solidFill>
                      <a:srgbClr val="0066FF"/>
                    </a:solidFill>
                  </a:rPr>
                  <a:t> </a:t>
                </a:r>
                <a:r>
                  <a:rPr lang="vi-VN" sz="2800" dirty="0" err="1">
                    <a:solidFill>
                      <a:srgbClr val="0066FF"/>
                    </a:solidFill>
                  </a:rPr>
                  <a:t>một</a:t>
                </a:r>
                <a:r>
                  <a:rPr lang="vi-VN" sz="2800" dirty="0">
                    <a:solidFill>
                      <a:srgbClr val="0066FF"/>
                    </a:solidFill>
                  </a:rPr>
                  <a:t> ma </a:t>
                </a:r>
                <a:r>
                  <a:rPr lang="vi-VN" sz="2800" dirty="0" err="1">
                    <a:solidFill>
                      <a:srgbClr val="0066FF"/>
                    </a:solidFill>
                  </a:rPr>
                  <a:t>trận</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kích</a:t>
                </a:r>
                <a:r>
                  <a:rPr lang="vi-VN" sz="2800" dirty="0">
                    <a:solidFill>
                      <a:srgbClr val="0066FF"/>
                    </a:solidFill>
                  </a:rPr>
                  <a:t> </a:t>
                </a:r>
                <a:r>
                  <a:rPr lang="vi-VN" sz="2800" dirty="0" err="1">
                    <a:solidFill>
                      <a:srgbClr val="0066FF"/>
                    </a:solidFill>
                  </a:rPr>
                  <a:t>thước</a:t>
                </a:r>
                <a:r>
                  <a:rPr lang="vi-VN" sz="2800" dirty="0">
                    <a:solidFill>
                      <a:srgbClr val="0066FF"/>
                    </a:solidFill>
                  </a:rPr>
                  <a:t>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r>
                      <a:rPr lang="vi-VN" sz="2800" i="1" dirty="0" smtClean="0">
                        <a:solidFill>
                          <a:srgbClr val="0066FF"/>
                        </a:solidFill>
                        <a:latin typeface="Cambria Math" panose="02040503050406030204" pitchFamily="18" charset="0"/>
                        <a:ea typeface="Cambria Math" panose="02040503050406030204" pitchFamily="18" charset="0"/>
                      </a:rPr>
                      <m:t>×</m:t>
                    </m:r>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với</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𝑝</m:t>
                    </m:r>
                  </m:oMath>
                </a14:m>
                <a:r>
                  <a:rPr lang="vi-VN" sz="2800" dirty="0">
                    <a:solidFill>
                      <a:srgbClr val="0066FF"/>
                    </a:solidFill>
                  </a:rPr>
                  <a:t> </a:t>
                </a:r>
                <a:r>
                  <a:rPr lang="vi-VN" sz="2800" dirty="0" err="1">
                    <a:solidFill>
                      <a:srgbClr val="0066FF"/>
                    </a:solidFill>
                  </a:rPr>
                  <a:t>là</a:t>
                </a:r>
                <a:r>
                  <a:rPr lang="vi-VN" sz="2800" dirty="0">
                    <a:solidFill>
                      <a:srgbClr val="0066FF"/>
                    </a:solidFill>
                  </a:rPr>
                  <a:t> </a:t>
                </a:r>
                <a:r>
                  <a:rPr lang="vi-VN" sz="2800" dirty="0" err="1">
                    <a:solidFill>
                      <a:srgbClr val="0066FF"/>
                    </a:solidFill>
                  </a:rPr>
                  <a:t>số</a:t>
                </a:r>
                <a:r>
                  <a:rPr lang="vi-VN" sz="2800" dirty="0">
                    <a:solidFill>
                      <a:srgbClr val="0066FF"/>
                    </a:solidFill>
                  </a:rPr>
                  <a:t> phân </a:t>
                </a:r>
                <a:r>
                  <a:rPr lang="vi-VN" sz="2800" dirty="0" err="1">
                    <a:solidFill>
                      <a:srgbClr val="0066FF"/>
                    </a:solidFill>
                  </a:rPr>
                  <a:t>lớp</a:t>
                </a:r>
                <a:r>
                  <a:rPr lang="vi-VN" sz="2800" dirty="0">
                    <a:solidFill>
                      <a:srgbClr val="0066FF"/>
                    </a:solidFill>
                  </a:rPr>
                  <a:t> trong </a:t>
                </a:r>
                <a:r>
                  <a:rPr lang="vi-VN" sz="2800" dirty="0" err="1">
                    <a:solidFill>
                      <a:srgbClr val="0066FF"/>
                    </a:solidFill>
                  </a:rPr>
                  <a:t>bài</a:t>
                </a:r>
                <a:r>
                  <a:rPr lang="vi-VN" sz="2800" dirty="0">
                    <a:solidFill>
                      <a:srgbClr val="0066FF"/>
                    </a:solidFill>
                  </a:rPr>
                  <a:t> </a:t>
                </a:r>
                <a:r>
                  <a:rPr lang="vi-VN" sz="2800" dirty="0" err="1">
                    <a:solidFill>
                      <a:srgbClr val="0066FF"/>
                    </a:solidFill>
                  </a:rPr>
                  <a:t>toán</a:t>
                </a:r>
                <a:r>
                  <a:rPr lang="vi-VN" sz="2800" dirty="0">
                    <a:solidFill>
                      <a:srgbClr val="0066FF"/>
                    </a:solidFill>
                  </a:rPr>
                  <a:t> đang </a:t>
                </a:r>
                <a:r>
                  <a:rPr lang="vi-VN" sz="2800" dirty="0" err="1">
                    <a:solidFill>
                      <a:srgbClr val="0066FF"/>
                    </a:solidFill>
                  </a:rPr>
                  <a:t>xét</a:t>
                </a:r>
                <a:r>
                  <a:rPr lang="vi-VN" sz="2800" dirty="0">
                    <a:solidFill>
                      <a:srgbClr val="0066FF"/>
                    </a:solidFill>
                  </a:rPr>
                  <a:t>, ở đây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2</m:t>
                    </m:r>
                  </m:oMath>
                </a14:m>
                <a:r>
                  <a:rPr lang="vi-VN" sz="2800" dirty="0">
                    <a:solidFill>
                      <a:srgbClr val="0066FF"/>
                    </a:solidFill>
                  </a:rPr>
                  <a:t>.</a:t>
                </a:r>
              </a:p>
              <a:p>
                <a:pPr algn="just"/>
                <a:r>
                  <a:rPr lang="vi-VN" sz="2800" dirty="0">
                    <a:solidFill>
                      <a:srgbClr val="FF0000"/>
                    </a:solidFill>
                  </a:rPr>
                  <a:t>Phần </a:t>
                </a:r>
                <a:r>
                  <a:rPr lang="vi-VN" sz="2800" dirty="0" err="1">
                    <a:solidFill>
                      <a:srgbClr val="FF0000"/>
                    </a:solidFill>
                  </a:rPr>
                  <a:t>tử</a:t>
                </a:r>
                <a:r>
                  <a:rPr lang="vi-VN" sz="2800" dirty="0">
                    <a:solidFill>
                      <a:srgbClr val="FF0000"/>
                    </a:solidFill>
                  </a:rPr>
                  <a:t> ở </a:t>
                </a:r>
                <a:r>
                  <a:rPr lang="vi-VN" sz="2800" dirty="0" err="1">
                    <a:solidFill>
                      <a:srgbClr val="FF0000"/>
                    </a:solidFill>
                  </a:rPr>
                  <a:t>dòng</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cột</a:t>
                </a:r>
                <a:r>
                  <a:rPr lang="vi-VN" sz="2800" dirty="0">
                    <a:solidFill>
                      <a:srgbClr val="FF0000"/>
                    </a:solidFill>
                  </a:rPr>
                  <a:t> </a:t>
                </a:r>
                <a:r>
                  <a:rPr lang="vi-VN" sz="2800" dirty="0" err="1">
                    <a:solidFill>
                      <a:srgbClr val="FF0000"/>
                    </a:solidFill>
                  </a:rPr>
                  <a:t>thứ</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 </a:t>
                </a:r>
                <a:r>
                  <a:rPr lang="vi-VN" sz="2800" dirty="0" err="1">
                    <a:solidFill>
                      <a:srgbClr val="FF0000"/>
                    </a:solidFill>
                  </a:rPr>
                  <a:t>của</a:t>
                </a:r>
                <a:r>
                  <a:rPr lang="vi-VN" sz="2800" dirty="0">
                    <a:solidFill>
                      <a:srgbClr val="FF0000"/>
                    </a:solidFill>
                  </a:rPr>
                  <a:t> </a:t>
                </a:r>
                <a:r>
                  <a:rPr lang="vi-VN" sz="2800" dirty="0" err="1">
                    <a:solidFill>
                      <a:srgbClr val="FF0000"/>
                    </a:solidFill>
                  </a:rPr>
                  <a:t>confusion</a:t>
                </a:r>
                <a:r>
                  <a:rPr lang="vi-VN" sz="2800" dirty="0">
                    <a:solidFill>
                      <a:srgbClr val="FF0000"/>
                    </a:solidFill>
                  </a:rPr>
                  <a:t> </a:t>
                </a:r>
                <a:r>
                  <a:rPr lang="vi-VN" sz="2800" dirty="0" err="1">
                    <a:solidFill>
                      <a:srgbClr val="FF0000"/>
                    </a:solidFill>
                  </a:rPr>
                  <a:t>matrix</a:t>
                </a:r>
                <a:r>
                  <a:rPr lang="vi-VN" sz="2800" dirty="0">
                    <a:solidFill>
                      <a:srgbClr val="FF0000"/>
                    </a:solidFill>
                  </a:rPr>
                  <a:t> </a:t>
                </a:r>
                <a:r>
                  <a:rPr lang="vi-VN" sz="2800" dirty="0" err="1">
                    <a:solidFill>
                      <a:srgbClr val="FF0000"/>
                    </a:solidFill>
                  </a:rPr>
                  <a:t>biểu</a:t>
                </a:r>
                <a:r>
                  <a:rPr lang="vi-VN" sz="2800" dirty="0">
                    <a:solidFill>
                      <a:srgbClr val="FF0000"/>
                    </a:solidFill>
                  </a:rPr>
                  <a:t> </a:t>
                </a:r>
                <a:r>
                  <a:rPr lang="vi-VN" sz="2800" dirty="0" err="1">
                    <a:solidFill>
                      <a:srgbClr val="FF0000"/>
                    </a:solidFill>
                  </a:rPr>
                  <a:t>thị</a:t>
                </a:r>
                <a:r>
                  <a:rPr lang="vi-VN" sz="2800" dirty="0">
                    <a:solidFill>
                      <a:srgbClr val="FF0000"/>
                    </a:solidFill>
                  </a:rPr>
                  <a:t>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phần</a:t>
                </a:r>
                <a:r>
                  <a:rPr lang="vi-VN" sz="2800" dirty="0">
                    <a:solidFill>
                      <a:srgbClr val="FF0000"/>
                    </a:solidFill>
                  </a:rPr>
                  <a:t> </a:t>
                </a:r>
                <a:r>
                  <a:rPr lang="vi-VN" sz="2800" dirty="0" err="1">
                    <a:solidFill>
                      <a:srgbClr val="FF0000"/>
                    </a:solidFill>
                  </a:rPr>
                  <a:t>tử</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loại</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𝑖</m:t>
                    </m:r>
                  </m:oMath>
                </a14:m>
                <a:r>
                  <a:rPr lang="vi-VN" sz="2800" dirty="0">
                    <a:solidFill>
                      <a:srgbClr val="FF0000"/>
                    </a:solidFill>
                  </a:rPr>
                  <a:t> </a:t>
                </a:r>
                <a:r>
                  <a:rPr lang="vi-VN" sz="2800" dirty="0" err="1">
                    <a:solidFill>
                      <a:srgbClr val="FF0000"/>
                    </a:solidFill>
                  </a:rPr>
                  <a:t>và</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vào</a:t>
                </a:r>
                <a:r>
                  <a:rPr lang="vi-VN" sz="2800" dirty="0">
                    <a:solidFill>
                      <a:srgbClr val="FF0000"/>
                    </a:solidFill>
                  </a:rPr>
                  <a:t> </a:t>
                </a:r>
                <a:r>
                  <a:rPr lang="vi-VN" sz="2800" dirty="0" err="1">
                    <a:solidFill>
                      <a:srgbClr val="FF0000"/>
                    </a:solidFill>
                  </a:rPr>
                  <a:t>loại</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𝑗</m:t>
                    </m:r>
                  </m:oMath>
                </a14:m>
                <a:r>
                  <a:rPr lang="vi-VN" sz="2800" dirty="0">
                    <a:solidFill>
                      <a:srgbClr val="FF0000"/>
                    </a:solidFill>
                  </a:rPr>
                  <a:t>.</a:t>
                </a:r>
              </a:p>
              <a:p>
                <a:pPr algn="just"/>
                <a:r>
                  <a:rPr lang="vi-VN" sz="2800" dirty="0" err="1">
                    <a:solidFill>
                      <a:srgbClr val="0066FF"/>
                    </a:solidFill>
                  </a:rPr>
                  <a:t>Hàm</a:t>
                </a:r>
                <a:r>
                  <a:rPr lang="vi-VN" sz="2800" dirty="0">
                    <a:solidFill>
                      <a:srgbClr val="0066FF"/>
                    </a:solidFill>
                  </a:rPr>
                  <a:t> </a:t>
                </a:r>
                <a:r>
                  <a:rPr lang="vi-VN" sz="2800" dirty="0" err="1">
                    <a:highlight>
                      <a:srgbClr val="FFFF00"/>
                    </a:highlight>
                    <a:latin typeface="Consolas" panose="020B0609020204030204" pitchFamily="49" charset="0"/>
                  </a:rPr>
                  <a:t>confusion_matrix</a:t>
                </a:r>
                <a:r>
                  <a:rPr lang="vi-VN" sz="2800" dirty="0">
                    <a:solidFill>
                      <a:srgbClr val="0066FF"/>
                    </a:solidFill>
                  </a:rPr>
                  <a:t> trong </a:t>
                </a:r>
                <a:r>
                  <a:rPr lang="vi-VN" sz="2800" dirty="0" err="1">
                    <a:solidFill>
                      <a:srgbClr val="0066FF"/>
                    </a:solidFill>
                  </a:rPr>
                  <a:t>module</a:t>
                </a:r>
                <a:r>
                  <a:rPr lang="vi-VN" sz="2800" dirty="0">
                    <a:solidFill>
                      <a:srgbClr val="0066FF"/>
                    </a:solidFill>
                  </a:rPr>
                  <a:t> </a:t>
                </a:r>
                <a:r>
                  <a:rPr lang="vi-VN" sz="2800" dirty="0" err="1">
                    <a:highlight>
                      <a:srgbClr val="FFFF00"/>
                    </a:highlight>
                    <a:latin typeface="Consolas" panose="020B0609020204030204" pitchFamily="49" charset="0"/>
                  </a:rPr>
                  <a:t>sklearn.metrics</a:t>
                </a:r>
                <a:r>
                  <a:rPr lang="vi-VN" sz="2800" dirty="0">
                    <a:solidFill>
                      <a:srgbClr val="0066FF"/>
                    </a:solidFill>
                  </a:rPr>
                  <a:t> </a:t>
                </a:r>
                <a:r>
                  <a:rPr lang="vi-VN" sz="2800" dirty="0" err="1">
                    <a:solidFill>
                      <a:srgbClr val="0066FF"/>
                    </a:solidFill>
                  </a:rPr>
                  <a:t>sẽ</a:t>
                </a:r>
                <a:r>
                  <a:rPr lang="vi-VN" sz="2800" dirty="0">
                    <a:solidFill>
                      <a:srgbClr val="0066FF"/>
                    </a:solidFill>
                  </a:rPr>
                  <a:t> </a:t>
                </a:r>
                <a:r>
                  <a:rPr lang="vi-VN" sz="2800" dirty="0" err="1">
                    <a:solidFill>
                      <a:srgbClr val="0066FF"/>
                    </a:solidFill>
                  </a:rPr>
                  <a:t>hỗ</a:t>
                </a:r>
                <a:r>
                  <a:rPr lang="vi-VN" sz="2800" dirty="0">
                    <a:solidFill>
                      <a:srgbClr val="0066FF"/>
                    </a:solidFill>
                  </a:rPr>
                  <a:t> </a:t>
                </a:r>
                <a:r>
                  <a:rPr lang="vi-VN" sz="2800" dirty="0" err="1">
                    <a:solidFill>
                      <a:srgbClr val="0066FF"/>
                    </a:solidFill>
                  </a:rPr>
                  <a:t>trợ</a:t>
                </a:r>
                <a:r>
                  <a:rPr lang="vi-VN" sz="2800" dirty="0">
                    <a:solidFill>
                      <a:srgbClr val="0066FF"/>
                    </a:solidFill>
                  </a:rPr>
                  <a:t> ta xây </a:t>
                </a:r>
                <a:r>
                  <a:rPr lang="vi-VN" sz="2800" dirty="0" err="1">
                    <a:solidFill>
                      <a:srgbClr val="0066FF"/>
                    </a:solidFill>
                  </a:rPr>
                  <a:t>dựng</a:t>
                </a:r>
                <a:r>
                  <a:rPr lang="vi-VN" sz="2800" dirty="0">
                    <a:solidFill>
                      <a:srgbClr val="0066FF"/>
                    </a:solidFill>
                  </a:rPr>
                  <a:t> </a:t>
                </a:r>
                <a:r>
                  <a:rPr lang="vi-VN" sz="2800" dirty="0" err="1">
                    <a:solidFill>
                      <a:srgbClr val="0066FF"/>
                    </a:solidFill>
                  </a:rPr>
                  <a:t>confusion</a:t>
                </a:r>
                <a:r>
                  <a:rPr lang="vi-VN" sz="2800" dirty="0">
                    <a:solidFill>
                      <a:srgbClr val="0066FF"/>
                    </a:solidFill>
                  </a:rPr>
                  <a:t> </a:t>
                </a:r>
                <a:r>
                  <a:rPr lang="vi-VN" sz="2800" dirty="0" err="1">
                    <a:solidFill>
                      <a:srgbClr val="0066FF"/>
                    </a:solidFill>
                  </a:rPr>
                  <a:t>matrix</a:t>
                </a:r>
                <a:r>
                  <a:rPr lang="vi-VN" sz="2800" dirty="0">
                    <a:solidFill>
                      <a:srgbClr val="0066FF"/>
                    </a:solidFill>
                  </a:rPr>
                  <a:t>.</a:t>
                </a:r>
              </a:p>
              <a:p>
                <a:pPr marL="514350" indent="-514350">
                  <a:buFont typeface="+mj-lt"/>
                  <a:buAutoNum type="arabicPeriod" startAt="23"/>
                </a:pPr>
                <a:r>
                  <a:rPr lang="vi-VN" dirty="0" err="1">
                    <a:solidFill>
                      <a:srgbClr val="AF00DB"/>
                    </a:solidFill>
                    <a:latin typeface="Consolas" panose="020B0609020204030204" pitchFamily="49" charset="0"/>
                  </a:rPr>
                  <a:t>from</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sklearn.metrics</a:t>
                </a:r>
                <a:r>
                  <a:rPr lang="vi-VN" dirty="0">
                    <a:solidFill>
                      <a:srgbClr val="000000"/>
                    </a:solidFill>
                    <a:latin typeface="Consolas" panose="020B0609020204030204" pitchFamily="49" charset="0"/>
                  </a:rPr>
                  <a:t> </a:t>
                </a:r>
                <a:r>
                  <a:rPr lang="vi-VN" dirty="0" err="1">
                    <a:solidFill>
                      <a:srgbClr val="AF00DB"/>
                    </a:solidFill>
                    <a:latin typeface="Consolas" panose="020B0609020204030204" pitchFamily="49" charset="0"/>
                  </a:rPr>
                  <a:t>import</a:t>
                </a: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confusion_matrix</a:t>
                </a:r>
                <a:endParaRPr lang="vi-VN" dirty="0">
                  <a:solidFill>
                    <a:srgbClr val="000000"/>
                  </a:solidFill>
                  <a:latin typeface="Consolas" panose="020B0609020204030204" pitchFamily="49" charset="0"/>
                </a:endParaRPr>
              </a:p>
              <a:p>
                <a:pPr marL="514350" indent="-514350">
                  <a:buFont typeface="+mj-lt"/>
                  <a:buAutoNum type="arabicPeriod" startAt="23"/>
                </a:pPr>
                <a:r>
                  <a:rPr lang="fr-FR" dirty="0">
                    <a:solidFill>
                      <a:srgbClr val="000000"/>
                    </a:solidFill>
                    <a:latin typeface="Consolas" panose="020B0609020204030204" pitchFamily="49" charset="0"/>
                  </a:rPr>
                  <a:t>cm = </a:t>
                </a:r>
                <a:r>
                  <a:rPr lang="fr-FR" dirty="0" err="1">
                    <a:solidFill>
                      <a:srgbClr val="000000"/>
                    </a:solidFill>
                    <a:latin typeface="Consolas" panose="020B0609020204030204" pitchFamily="49" charset="0"/>
                  </a:rPr>
                  <a:t>confusion_matrix</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Y_train</a:t>
                </a:r>
                <a:r>
                  <a:rPr lang="fr-FR" dirty="0">
                    <a:solidFill>
                      <a:srgbClr val="000000"/>
                    </a:solidFill>
                    <a:latin typeface="Consolas" panose="020B0609020204030204" pitchFamily="49" charset="0"/>
                  </a:rPr>
                  <a:t>, </a:t>
                </a:r>
                <a:r>
                  <a:rPr lang="fr-FR" dirty="0" err="1">
                    <a:solidFill>
                      <a:srgbClr val="000000"/>
                    </a:solidFill>
                    <a:latin typeface="Consolas" panose="020B0609020204030204" pitchFamily="49" charset="0"/>
                  </a:rPr>
                  <a:t>classifier.predict</a:t>
                </a:r>
                <a:r>
                  <a:rPr lang="fr-FR" dirty="0">
                    <a:solidFill>
                      <a:srgbClr val="000000"/>
                    </a:solidFill>
                    <a:latin typeface="Consolas" panose="020B0609020204030204" pitchFamily="49" charset="0"/>
                  </a:rPr>
                  <a:t>(</a:t>
                </a:r>
                <a:r>
                  <a:rPr lang="fr-FR" dirty="0" err="1">
                    <a:solidFill>
                      <a:srgbClr val="000000"/>
                    </a:solidFill>
                    <a:latin typeface="Consolas" panose="020B0609020204030204" pitchFamily="49" charset="0"/>
                  </a:rPr>
                  <a:t>X_train</a:t>
                </a:r>
                <a:r>
                  <a:rPr lang="fr-FR" dirty="0">
                    <a:solidFill>
                      <a:srgbClr val="000000"/>
                    </a:solidFill>
                    <a:latin typeface="Consolas" panose="020B0609020204030204" pitchFamily="49" charset="0"/>
                  </a:rPr>
                  <a:t>))</a:t>
                </a:r>
              </a:p>
              <a:p>
                <a:pPr marL="514350" indent="-514350">
                  <a:buFont typeface="+mj-lt"/>
                  <a:buAutoNum type="arabicPeriod" startAt="23"/>
                </a:pPr>
                <a:r>
                  <a:rPr lang="vi-VN" dirty="0" err="1">
                    <a:solidFill>
                      <a:srgbClr val="795E26"/>
                    </a:solidFill>
                    <a:latin typeface="Consolas" panose="020B0609020204030204" pitchFamily="49" charset="0"/>
                  </a:rPr>
                  <a:t>print</a:t>
                </a:r>
                <a:r>
                  <a:rPr lang="vi-VN" dirty="0">
                    <a:solidFill>
                      <a:srgbClr val="000000"/>
                    </a:solidFill>
                    <a:latin typeface="Consolas" panose="020B0609020204030204" pitchFamily="49" charset="0"/>
                  </a:rPr>
                  <a:t>(</a:t>
                </a:r>
                <a:r>
                  <a:rPr lang="vi-VN" dirty="0" err="1">
                    <a:solidFill>
                      <a:srgbClr val="000000"/>
                    </a:solidFill>
                    <a:latin typeface="Consolas" panose="020B0609020204030204" pitchFamily="49" charset="0"/>
                  </a:rPr>
                  <a:t>cm</a:t>
                </a:r>
                <a:r>
                  <a:rPr lang="vi-VN" dirty="0">
                    <a:solidFill>
                      <a:srgbClr val="000000"/>
                    </a:solidFill>
                    <a:latin typeface="Consolas" panose="020B0609020204030204" pitchFamily="49" charset="0"/>
                  </a:rPr>
                  <a:t>)</a:t>
                </a:r>
              </a:p>
            </p:txBody>
          </p:sp>
        </mc:Choice>
        <mc:Fallback xmlns="">
          <p:sp>
            <p:nvSpPr>
              <p:cNvPr id="2" name="Content Placeholder 1">
                <a:extLst>
                  <a:ext uri="{FF2B5EF4-FFF2-40B4-BE49-F238E27FC236}">
                    <a16:creationId xmlns:a16="http://schemas.microsoft.com/office/drawing/2014/main" id="{4E7C6AE8-60A2-49FB-A20C-4375C46A913F}"/>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19604333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1</m:t>
                    </m:r>
                    <m:r>
                      <a:rPr lang="vi-VN" sz="2800" b="0" i="1" dirty="0" smtClean="0">
                        <a:solidFill>
                          <a:srgbClr val="FF0000"/>
                        </a:solidFill>
                        <a:latin typeface="Cambria Math" panose="02040503050406030204" pitchFamily="18" charset="0"/>
                      </a:rPr>
                      <m:t>83</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100</m:t>
                    </m:r>
                    <m:r>
                      <a:rPr lang="vi-VN" sz="2800" i="1" dirty="0" smtClean="0">
                        <a:solidFill>
                          <a:srgbClr val="FF0000"/>
                        </a:solidFill>
                        <a:latin typeface="Cambria Math" panose="02040503050406030204" pitchFamily="18" charset="0"/>
                      </a:rPr>
                      <m:t>=</m:t>
                    </m:r>
                    <m:r>
                      <a:rPr lang="vi-VN" sz="2800" b="0" i="1" dirty="0" smtClean="0">
                        <a:solidFill>
                          <a:srgbClr val="FF0000"/>
                        </a:solidFill>
                        <a:latin typeface="Cambria Math" panose="02040503050406030204" pitchFamily="18" charset="0"/>
                      </a:rPr>
                      <m:t>283</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a:solidFill>
                          <a:srgbClr val="0066FF"/>
                        </a:solidFill>
                        <a:latin typeface="Cambria Math" panose="02040503050406030204" pitchFamily="18" charset="0"/>
                      </a:rPr>
                      <m:t>2</m:t>
                    </m:r>
                    <m:r>
                      <a:rPr lang="vi-VN" sz="2800" b="0" i="1" dirty="0" smtClean="0">
                        <a:solidFill>
                          <a:srgbClr val="0066FF"/>
                        </a:solidFill>
                        <a:latin typeface="Cambria Math" panose="02040503050406030204" pitchFamily="18" charset="0"/>
                      </a:rPr>
                      <m:t>1</m:t>
                    </m:r>
                    <m:r>
                      <a:rPr lang="vi-VN" sz="2800" i="1" dirty="0" smtClean="0">
                        <a:solidFill>
                          <a:srgbClr val="0066FF"/>
                        </a:solidFill>
                        <a:latin typeface="Cambria Math" panose="02040503050406030204" pitchFamily="18" charset="0"/>
                      </a:rPr>
                      <m:t>+</m:t>
                    </m:r>
                    <m:r>
                      <a:rPr lang="vi-VN" sz="2800" b="0" i="1" dirty="0" smtClean="0">
                        <a:solidFill>
                          <a:srgbClr val="0066FF"/>
                        </a:solidFill>
                        <a:latin typeface="Cambria Math" panose="02040503050406030204" pitchFamily="18" charset="0"/>
                      </a:rPr>
                      <m:t>16</m:t>
                    </m:r>
                    <m:r>
                      <a:rPr lang="vi-VN" sz="2800" i="1" dirty="0" smtClean="0">
                        <a:solidFill>
                          <a:srgbClr val="0066FF"/>
                        </a:solidFill>
                        <a:latin typeface="Cambria Math" panose="02040503050406030204" pitchFamily="18" charset="0"/>
                      </a:rPr>
                      <m:t>=</m:t>
                    </m:r>
                    <m:r>
                      <a:rPr lang="vi-VN" sz="2800" b="0" i="1" dirty="0" smtClean="0">
                        <a:solidFill>
                          <a:srgbClr val="0066FF"/>
                        </a:solidFill>
                        <a:latin typeface="Cambria Math" panose="02040503050406030204" pitchFamily="18" charset="0"/>
                      </a:rPr>
                      <m:t>37</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f>
                      <m:fPr>
                        <m:type m:val="lin"/>
                        <m:ctrlPr>
                          <a:rPr lang="vi-VN" sz="2800" b="0" i="1" dirty="0" smtClean="0">
                            <a:solidFill>
                              <a:srgbClr val="FF0000"/>
                            </a:solidFill>
                            <a:latin typeface="Cambria Math" panose="02040503050406030204" pitchFamily="18" charset="0"/>
                          </a:rPr>
                        </m:ctrlPr>
                      </m:fPr>
                      <m:num>
                        <m:r>
                          <a:rPr lang="vi-VN" sz="2800" b="0" i="1" dirty="0" smtClean="0">
                            <a:solidFill>
                              <a:srgbClr val="FF0000"/>
                            </a:solidFill>
                            <a:latin typeface="Cambria Math" panose="02040503050406030204" pitchFamily="18" charset="0"/>
                          </a:rPr>
                          <m:t>37</m:t>
                        </m:r>
                      </m:num>
                      <m:den>
                        <m:r>
                          <a:rPr lang="vi-VN" sz="2800" i="1" dirty="0" smtClean="0">
                            <a:solidFill>
                              <a:srgbClr val="FF0000"/>
                            </a:solidFill>
                            <a:latin typeface="Cambria Math" panose="02040503050406030204" pitchFamily="18" charset="0"/>
                          </a:rPr>
                          <m:t>3</m:t>
                        </m:r>
                        <m:r>
                          <a:rPr lang="vi-VN" sz="2800" b="0" i="1" dirty="0" smtClean="0">
                            <a:solidFill>
                              <a:srgbClr val="FF0000"/>
                            </a:solidFill>
                            <a:latin typeface="Cambria Math" panose="02040503050406030204" pitchFamily="18" charset="0"/>
                          </a:rPr>
                          <m:t>2</m:t>
                        </m:r>
                        <m:r>
                          <a:rPr lang="vi-VN" sz="2800" i="1" dirty="0" smtClean="0">
                            <a:solidFill>
                              <a:srgbClr val="FF0000"/>
                            </a:solidFill>
                            <a:latin typeface="Cambria Math" panose="02040503050406030204" pitchFamily="18" charset="0"/>
                          </a:rPr>
                          <m:t>0</m:t>
                        </m:r>
                      </m:den>
                    </m:f>
                    <m:r>
                      <a:rPr lang="vi-VN" sz="2800" b="0" i="1" dirty="0" smtClean="0">
                        <a:solidFill>
                          <a:srgbClr val="FF0000"/>
                        </a:solidFill>
                        <a:latin typeface="Cambria Math" panose="02040503050406030204" pitchFamily="18" charset="0"/>
                        <a:ea typeface="Cambria Math" panose="02040503050406030204" pitchFamily="18" charset="0"/>
                      </a:rPr>
                      <m:t>≈</m:t>
                    </m:r>
                    <m:r>
                      <a:rPr lang="vi-VN" sz="2800" b="0" i="1" dirty="0" smtClean="0">
                        <a:solidFill>
                          <a:srgbClr val="FF0000"/>
                        </a:solidFill>
                        <a:latin typeface="Cambria Math" panose="02040503050406030204" pitchFamily="18" charset="0"/>
                      </a:rPr>
                      <m:t>0.12</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377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183</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16</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21</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100</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2035215219"/>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90019393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sz="half" idx="1"/>
          </p:nvPr>
        </p:nvSpPr>
        <p:spPr/>
        <p:txBody>
          <a:bodyPr/>
          <a:lstStyle/>
          <a:p>
            <a:pPr algn="just"/>
            <a:r>
              <a:rPr lang="vi-VN" sz="2800" dirty="0">
                <a:solidFill>
                  <a:srgbClr val="0066FF"/>
                </a:solidFill>
              </a:rPr>
              <a:t>Ta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 trên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thu </a:t>
            </a:r>
            <a:r>
              <a:rPr lang="vi-VN" sz="2800" dirty="0" err="1">
                <a:solidFill>
                  <a:srgbClr val="0066FF"/>
                </a:solidFill>
              </a:rPr>
              <a:t>được</a:t>
            </a:r>
            <a:r>
              <a:rPr lang="vi-VN" sz="2800" dirty="0">
                <a:solidFill>
                  <a:srgbClr val="0066FF"/>
                </a:solidFill>
              </a:rPr>
              <a:t> sau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a:t>
            </a:r>
          </a:p>
        </p:txBody>
      </p:sp>
      <p:pic>
        <p:nvPicPr>
          <p:cNvPr id="7" name="Content Placeholder 6">
            <a:extLst>
              <a:ext uri="{FF2B5EF4-FFF2-40B4-BE49-F238E27FC236}">
                <a16:creationId xmlns:a16="http://schemas.microsoft.com/office/drawing/2014/main" id="{77C718A7-0DB0-4236-B5E5-22D6E1FB0369}"/>
              </a:ext>
            </a:extLst>
          </p:cNvPr>
          <p:cNvPicPr>
            <a:picLocks noGrp="1" noChangeAspect="1"/>
          </p:cNvPicPr>
          <p:nvPr>
            <p:ph sz="half" idx="2"/>
          </p:nvPr>
        </p:nvPicPr>
        <p:blipFill>
          <a:blip r:embed="rId2"/>
          <a:stretch>
            <a:fillRect/>
          </a:stretch>
        </p:blipFill>
        <p:spPr>
          <a:xfrm>
            <a:off x="6096000" y="1338503"/>
            <a:ext cx="6020478" cy="4419600"/>
          </a:xfrm>
          <a:prstGeom prst="rect">
            <a:avLst/>
          </a:prstGeom>
        </p:spPr>
      </p:pic>
    </p:spTree>
    <p:extLst>
      <p:ext uri="{BB962C8B-B14F-4D97-AF65-F5344CB8AC3E}">
        <p14:creationId xmlns:p14="http://schemas.microsoft.com/office/powerpoint/2010/main" val="153536520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pPr algn="just"/>
            <a:r>
              <a:rPr lang="vi-VN" sz="2800" dirty="0">
                <a:solidFill>
                  <a:srgbClr val="0066FF"/>
                </a:solidFill>
              </a:rPr>
              <a:t>Xây </a:t>
            </a:r>
            <a:r>
              <a:rPr lang="vi-VN" sz="2800" dirty="0" err="1">
                <a:solidFill>
                  <a:srgbClr val="0066FF"/>
                </a:solidFill>
              </a:rPr>
              <a:t>dựng</a:t>
            </a:r>
            <a:r>
              <a:rPr lang="vi-VN" sz="2800" dirty="0">
                <a:solidFill>
                  <a:srgbClr val="0066FF"/>
                </a:solidFill>
              </a:rPr>
              <a:t> </a:t>
            </a:r>
            <a:r>
              <a:rPr lang="vi-VN" sz="2800" dirty="0" err="1">
                <a:solidFill>
                  <a:srgbClr val="0066FF"/>
                </a:solidFill>
              </a:rPr>
              <a:t>hàm</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tạo</a:t>
            </a:r>
            <a:r>
              <a:rPr lang="vi-VN" sz="2800" dirty="0">
                <a:solidFill>
                  <a:srgbClr val="0066FF"/>
                </a:solidFill>
              </a:rPr>
              <a:t> 2 </a:t>
            </a:r>
            <a:r>
              <a:rPr lang="vi-VN" sz="2800" dirty="0" err="1">
                <a:solidFill>
                  <a:srgbClr val="0066FF"/>
                </a:solidFill>
              </a:rPr>
              <a:t>vùng</a:t>
            </a:r>
            <a:r>
              <a:rPr lang="vi-VN" sz="2800" dirty="0">
                <a:solidFill>
                  <a:srgbClr val="0066FF"/>
                </a:solidFill>
              </a:rPr>
              <a:t> phân chia </a:t>
            </a:r>
            <a:r>
              <a:rPr lang="vi-VN" sz="2800" dirty="0" err="1">
                <a:solidFill>
                  <a:srgbClr val="0066FF"/>
                </a:solidFill>
              </a:rPr>
              <a:t>mà</a:t>
            </a:r>
            <a:r>
              <a:rPr lang="vi-VN" sz="2800" dirty="0">
                <a:solidFill>
                  <a:srgbClr val="0066FF"/>
                </a:solidFill>
              </a:rPr>
              <a:t> mô </a:t>
            </a:r>
            <a:r>
              <a:rPr lang="vi-VN" sz="2800" dirty="0" err="1">
                <a:solidFill>
                  <a:srgbClr val="0066FF"/>
                </a:solidFill>
              </a:rPr>
              <a:t>hình</a:t>
            </a:r>
            <a:r>
              <a:rPr lang="vi-VN" sz="2800" dirty="0">
                <a:solidFill>
                  <a:srgbClr val="0066FF"/>
                </a:solidFill>
              </a:rPr>
              <a:t> </a:t>
            </a:r>
            <a:r>
              <a:rPr lang="vi-VN" sz="2800" dirty="0" err="1">
                <a:solidFill>
                  <a:srgbClr val="0066FF"/>
                </a:solidFill>
              </a:rPr>
              <a:t>đạt</a:t>
            </a:r>
            <a:r>
              <a:rPr lang="vi-VN" sz="2800" dirty="0">
                <a:solidFill>
                  <a:srgbClr val="0066FF"/>
                </a:solidFill>
              </a:rPr>
              <a:t> </a:t>
            </a:r>
            <a:r>
              <a:rPr lang="vi-VN" sz="2800" dirty="0" err="1">
                <a:solidFill>
                  <a:srgbClr val="0066FF"/>
                </a:solidFill>
              </a:rPr>
              <a:t>được</a:t>
            </a:r>
            <a:r>
              <a:rPr lang="vi-VN" sz="2800" dirty="0">
                <a:solidFill>
                  <a:srgbClr val="0066FF"/>
                </a:solidFill>
              </a:rPr>
              <a:t>.</a:t>
            </a:r>
            <a:endParaRPr lang="vi-VN" sz="2800" dirty="0">
              <a:solidFill>
                <a:srgbClr val="FF0000"/>
              </a:solidFill>
            </a:endParaRPr>
          </a:p>
          <a:p>
            <a:pPr marL="457200" indent="-457200">
              <a:buFont typeface="+mj-lt"/>
              <a:buAutoNum type="arabicPeriod" startAt="26"/>
            </a:pPr>
            <a:r>
              <a:rPr lang="es-ES" dirty="0" err="1">
                <a:solidFill>
                  <a:srgbClr val="0000FF"/>
                </a:solidFill>
                <a:latin typeface="Consolas" panose="020B0609020204030204" pitchFamily="49" charset="0"/>
              </a:rPr>
              <a:t>def VisualizingResult(model, X_):</a:t>
            </a:r>
            <a:r>
              <a:rPr lang="es-ES" dirty="0">
                <a:solidFill>
                  <a:srgbClr val="000000"/>
                </a:solidFill>
                <a:latin typeface="Consolas" panose="020B0609020204030204" pitchFamily="49" charset="0"/>
              </a:rPr>
              <a:t/>
            </a:r>
            <a:r>
              <a:rPr lang="es-ES" dirty="0" err="1">
                <a:solidFill>
                  <a:srgbClr val="795E26"/>
                </a:solidFill>
                <a:latin typeface="Consolas" panose="020B0609020204030204" pitchFamily="49" charset="0"/>
              </a:rPr>
              <a:t/>
            </a:r>
            <a:r>
              <a:rPr lang="es-ES" dirty="0">
                <a:solidFill>
                  <a:srgbClr val="000000"/>
                </a:solidFill>
                <a:latin typeface="Consolas" panose="020B0609020204030204" pitchFamily="49" charset="0"/>
              </a:rPr>
              <a:t/>
            </a:r>
            <a:r>
              <a:rPr lang="es-ES" dirty="0" err="1">
                <a:solidFill>
                  <a:srgbClr val="001080"/>
                </a:solidFill>
                <a:latin typeface="Consolas" panose="020B0609020204030204" pitchFamily="49" charset="0"/>
              </a:rPr>
              <a:t/>
            </a:r>
            <a:r>
              <a:rPr lang="es-ES" dirty="0">
                <a:solidFill>
                  <a:srgbClr val="000000"/>
                </a:solidFill>
                <a:latin typeface="Consolas" panose="020B0609020204030204" pitchFamily="49" charset="0"/>
              </a:rPr>
              <a:t/>
            </a:r>
            <a:r>
              <a:rPr lang="es-ES" dirty="0">
                <a:solidFill>
                  <a:srgbClr val="001080"/>
                </a:solidFill>
                <a:latin typeface="Consolas" panose="020B0609020204030204" pitchFamily="49" charset="0"/>
              </a:rPr>
              <a:t/>
            </a:r>
            <a:r>
              <a:rPr lang="es-ES" dirty="0">
                <a:solidFill>
                  <a:srgbClr val="000000"/>
                </a:solidFill>
                <a:latin typeface="Consolas" panose="020B0609020204030204" pitchFamily="49" charset="0"/>
              </a:rPr>
              <a:t/>
            </a:r>
          </a:p>
          <a:p>
            <a:pPr marL="457200" indent="-457200">
              <a:buFont typeface="+mj-lt"/>
              <a:buAutoNum type="arabicPeriod" startAt="26"/>
            </a:pPr>
            <a:r>
              <a:rPr lang="vi-VN" dirty="0">
                <a:solidFill>
                  <a:srgbClr val="000000"/>
                </a:solidFill>
                <a:latin typeface="Consolas" panose="020B0609020204030204" pitchFamily="49" charset="0"/>
              </a:rPr>
              <a:t>    X1 = X_[:, 0]</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26"/>
            </a:pPr>
            <a:r>
              <a:rPr lang="vi-VN" dirty="0">
                <a:solidFill>
                  <a:srgbClr val="000000"/>
                </a:solidFill>
                <a:latin typeface="Consolas" panose="020B0609020204030204" pitchFamily="49" charset="0"/>
              </a:rPr>
              <a:t>    X2 = X_[:, 1]</a:t>
            </a:r>
            <a:r>
              <a:rPr lang="vi-VN" dirty="0">
                <a:solidFill>
                  <a:srgbClr val="09885A"/>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26"/>
            </a:pPr>
            <a:r>
              <a:rPr lang="en-US" dirty="0">
                <a:solidFill>
                  <a:srgbClr val="000000"/>
                </a:solidFill>
                <a:latin typeface="Consolas" panose="020B0609020204030204" pitchFamily="49" charset="0"/>
              </a:rPr>
              <a:t>    X1_range = np.arange(start= X1.min()-1, stop= X1.max()+1, step = 0.01)</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26"/>
            </a:pPr>
            <a:r>
              <a:rPr lang="en-US" dirty="0">
                <a:solidFill>
                  <a:srgbClr val="000000"/>
                </a:solidFill>
                <a:latin typeface="Consolas" panose="020B0609020204030204" pitchFamily="49" charset="0"/>
              </a:rPr>
              <a:t>    X2_range = np.arange(start= X2.min()-1, stop= X2.max()+1, step = 0.01)</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01080"/>
                </a:solidFill>
                <a:latin typeface="Consolas" panose="020B0609020204030204" pitchFamily="49" charset="0"/>
              </a:rPr>
              <a:t/>
            </a:r>
            <a:r>
              <a:rPr lang="en-US" dirty="0">
                <a:solidFill>
                  <a:srgbClr val="000000"/>
                </a:solidFill>
                <a:latin typeface="Consolas" panose="020B0609020204030204" pitchFamily="49" charset="0"/>
              </a:rPr>
              <a:t/>
            </a:r>
            <a:r>
              <a:rPr lang="en-US" dirty="0">
                <a:solidFill>
                  <a:srgbClr val="09885A"/>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26"/>
            </a:pPr>
            <a:r>
              <a:rPr lang="fr-FR" dirty="0">
                <a:solidFill>
                  <a:srgbClr val="000000"/>
                </a:solidFill>
                <a:latin typeface="Consolas" panose="020B0609020204030204" pitchFamily="49" charset="0"/>
              </a:rPr>
              <a:t>    X1_matrix, X2_matrix = np.meshgrid(X1_range, X2_range)</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p>
        </p:txBody>
      </p:sp>
    </p:spTree>
    <p:extLst>
      <p:ext uri="{BB962C8B-B14F-4D97-AF65-F5344CB8AC3E}">
        <p14:creationId xmlns:p14="http://schemas.microsoft.com/office/powerpoint/2010/main" val="89850136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wrap="square"/>
          <a:lstStyle/>
          <a:p>
            <a:pPr>
              <a:defRPr sz="2800" b="1">
                <a:solidFill>
                  <a:srgbClr val="002060"/>
                </a:solidFill>
                <a:latin typeface="Calibri"/>
              </a:defRPr>
            </a:pPr>
            <a:r>
              <a:t>Trực quan hóa kết quả: Ranh Giới Quyết Định Phi Tuyến (In [2])</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Phân tích ranh giới phân lớp của Gaussian Naive Bayes:</a:t>
            </a:r>
            <a:endParaRPr lang="vi-VN" dirty="0">
              <a:solidFill>
                <a:srgbClr val="0000FF"/>
              </a:solidFill>
              <a:latin typeface="Consolas" panose="020B0609020204030204" pitchFamily="49" charset="0"/>
            </a:endParaRPr>
          </a:p>
          <a:p>
            <a:pPr>
              <a:spcAft>
                <a:spcPts val="300"/>
              </a:spcAft>
              <a:defRPr sz="1500" b="1">
                <a:solidFill>
                  <a:srgbClr val="282828"/>
                </a:solidFill>
                <a:latin typeface="Calibri"/>
              </a:defRPr>
            </a:pPr>
            <a:r>
              <a:t>• Khác với Logistic Regression (ranh giới là đường thẳng), Gaussian Naive Bayes tạo ra ranh giới CONG (Non-linear Boundary).</a:t>
            </a:r>
          </a:p>
          <a:p>
            <a:pPr>
              <a:spcAft>
                <a:spcPts val="300"/>
              </a:spcAft>
              <a:defRPr sz="1500" b="0">
                <a:solidFill>
                  <a:srgbClr val="282828"/>
                </a:solidFill>
                <a:latin typeface="Calibri"/>
              </a:defRPr>
            </a:pPr>
            <a:r>
              <a:t>• Nguyên nhân: Mỗi lớp (y=0 và y=1) được mô hình hóa bởi một phân phối chuẩn đa chiều (Gaussian) có ma trận hiệp phương sai riêng biệt.</a:t>
            </a:r>
          </a:p>
          <a:p>
            <a:pPr>
              <a:spcAft>
                <a:spcPts val="300"/>
              </a:spcAft>
              <a:defRPr sz="1500" b="0">
                <a:solidFill>
                  <a:srgbClr val="282828"/>
                </a:solidFill>
                <a:latin typeface="Calibri"/>
              </a:defRPr>
            </a:pPr>
            <a:r>
              <a:t>• Giao tuyến xác suất P(y=1|x) = P(y=0|x) tạo thành một đường cong bậc 2 (Quadratic Boundary), uốn lượn ôm lấy cụm khách hàng trẻ tuổi lương cao và lớn tuổi.</a:t>
            </a:r>
          </a:p>
        </p:txBody>
      </p:sp>
    </p:spTree>
    <p:extLst>
      <p:ext uri="{BB962C8B-B14F-4D97-AF65-F5344CB8AC3E}">
        <p14:creationId xmlns:p14="http://schemas.microsoft.com/office/powerpoint/2010/main" val="331620656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5D8847BE-064C-4CB5-8E65-33ED27DF2C1C}"/>
              </a:ext>
            </a:extLst>
          </p:cNvPr>
          <p:cNvSpPr>
            <a:spLocks noGrp="1"/>
          </p:cNvSpPr>
          <p:nvPr>
            <p:ph idx="1"/>
          </p:nvPr>
        </p:nvSpPr>
        <p:spPr/>
        <p:txBody>
          <a:bodyPr/>
          <a:lstStyle/>
          <a:p>
            <a:r>
              <a:rPr lang="vi-VN" sz="2800" dirty="0" err="1">
                <a:solidFill>
                  <a:srgbClr val="0066FF"/>
                </a:solidFill>
              </a:rPr>
              <a:t>Trực</a:t>
            </a:r>
            <a:r>
              <a:rPr lang="vi-VN" sz="2800" dirty="0">
                <a:solidFill>
                  <a:srgbClr val="0066FF"/>
                </a:solidFill>
              </a:rPr>
              <a:t> quan </a:t>
            </a:r>
            <a:r>
              <a:rPr lang="vi-VN" sz="2800" dirty="0" err="1">
                <a:solidFill>
                  <a:srgbClr val="0066FF"/>
                </a:solidFill>
              </a:rPr>
              <a:t>hóa</a:t>
            </a:r>
            <a:r>
              <a:rPr lang="vi-VN" sz="2800" dirty="0">
                <a:solidFill>
                  <a:srgbClr val="0066FF"/>
                </a:solidFill>
              </a:rPr>
              <a:t> </a:t>
            </a:r>
            <a:r>
              <a:rPr lang="vi-VN" sz="2800" dirty="0" err="1">
                <a:solidFill>
                  <a:srgbClr val="0066FF"/>
                </a:solidFill>
              </a:rPr>
              <a:t>kết</a:t>
            </a:r>
            <a:r>
              <a:rPr lang="vi-VN" sz="2800" dirty="0">
                <a:solidFill>
                  <a:srgbClr val="0066FF"/>
                </a:solidFill>
              </a:rPr>
              <a:t> </a:t>
            </a:r>
            <a:r>
              <a:rPr lang="vi-VN" sz="2800" dirty="0" err="1">
                <a:solidFill>
                  <a:srgbClr val="0066FF"/>
                </a:solidFill>
              </a:rPr>
              <a:t>quả</a:t>
            </a:r>
            <a:r>
              <a:rPr lang="vi-VN" sz="2800" dirty="0">
                <a:solidFill>
                  <a:srgbClr val="0066FF"/>
                </a:solidFill>
              </a:rPr>
              <a:t> mô </a:t>
            </a:r>
            <a:r>
              <a:rPr lang="vi-VN" sz="2800" dirty="0" err="1">
                <a:solidFill>
                  <a:srgbClr val="0066FF"/>
                </a:solidFill>
              </a:rPr>
              <a:t>hình</a:t>
            </a:r>
            <a:r>
              <a:rPr lang="vi-VN" sz="2800" dirty="0">
                <a:solidFill>
                  <a:srgbClr val="0066FF"/>
                </a:solidFill>
              </a:rPr>
              <a:t>.</a:t>
            </a:r>
          </a:p>
          <a:p>
            <a:endParaRPr lang="en-US" sz="2800" dirty="0">
              <a:solidFill>
                <a:srgbClr val="000000"/>
              </a:solidFill>
              <a:latin typeface="Consolas" panose="020B0609020204030204" pitchFamily="49" charset="0"/>
            </a:endParaRPr>
          </a:p>
          <a:p>
            <a:pPr marL="514350" indent="-514350">
              <a:buFont typeface="+mj-lt"/>
              <a:buAutoNum type="arabicPeriod" startAt="35"/>
            </a:pPr>
            <a:r>
              <a:rPr lang="en-US" dirty="0" err="1">
                <a:solidFill>
                  <a:srgbClr val="000000"/>
                </a:solidFill>
                <a:latin typeface="Consolas" panose="020B0609020204030204" pitchFamily="49" charset="0"/>
              </a:rPr>
              <a:t>VisualizingResult(classifier, X_train)</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514350" indent="-514350">
              <a:buFont typeface="+mj-lt"/>
              <a:buAutoNum type="arabicPeriod" startAt="35"/>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98738092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pic>
        <p:nvPicPr>
          <p:cNvPr id="5" name="Content Placeholder 4">
            <a:extLst>
              <a:ext uri="{FF2B5EF4-FFF2-40B4-BE49-F238E27FC236}">
                <a16:creationId xmlns:a16="http://schemas.microsoft.com/office/drawing/2014/main" id="{E99F2E6B-BD38-477C-80B6-07B2B0C4CC4B}"/>
              </a:ext>
            </a:extLst>
          </p:cNvPr>
          <p:cNvPicPr>
            <a:picLocks noGrp="1" noChangeAspect="1"/>
          </p:cNvPicPr>
          <p:nvPr>
            <p:ph idx="1"/>
          </p:nvPr>
        </p:nvPicPr>
        <p:blipFill>
          <a:blip r:embed="rId2"/>
          <a:stretch>
            <a:fillRect/>
          </a:stretch>
        </p:blipFill>
        <p:spPr>
          <a:xfrm>
            <a:off x="2438400" y="1417638"/>
            <a:ext cx="6406406" cy="4678362"/>
          </a:xfrm>
          <a:prstGeom prst="rect">
            <a:avLst/>
          </a:prstGeom>
        </p:spPr>
      </p:pic>
    </p:spTree>
    <p:extLst>
      <p:ext uri="{BB962C8B-B14F-4D97-AF65-F5344CB8AC3E}">
        <p14:creationId xmlns:p14="http://schemas.microsoft.com/office/powerpoint/2010/main" val="149235149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Trực</a:t>
            </a:r>
            <a:r>
              <a:rPr lang="vi-VN" dirty="0"/>
              <a:t> quan </a:t>
            </a:r>
            <a:r>
              <a:rPr lang="vi-VN" dirty="0" err="1"/>
              <a:t>hóa</a:t>
            </a:r>
            <a:r>
              <a:rPr lang="vi-VN" dirty="0"/>
              <a:t> </a:t>
            </a:r>
            <a:r>
              <a:rPr lang="vi-VN" dirty="0" err="1"/>
              <a:t>kết</a:t>
            </a:r>
            <a:r>
              <a:rPr lang="vi-VN" dirty="0"/>
              <a:t> </a:t>
            </a:r>
            <a:r>
              <a:rPr lang="vi-VN" dirty="0" err="1"/>
              <a:t>quả</a:t>
            </a:r>
            <a:r>
              <a:rPr lang="vi-VN" dirty="0"/>
              <a:t> mô </a:t>
            </a:r>
            <a:r>
              <a:rPr lang="vi-VN" dirty="0" err="1"/>
              <a:t>hình</a:t>
            </a:r>
            <a:endParaRPr lang="vi-VN" dirty="0"/>
          </a:p>
        </p:txBody>
      </p:sp>
      <p:sp>
        <p:nvSpPr>
          <p:cNvPr id="2" name="Content Placeholder 1">
            <a:extLst>
              <a:ext uri="{FF2B5EF4-FFF2-40B4-BE49-F238E27FC236}">
                <a16:creationId xmlns:a16="http://schemas.microsoft.com/office/drawing/2014/main" id="{AEA321E8-246F-4EAF-A682-01E42CE71019}"/>
              </a:ext>
            </a:extLst>
          </p:cNvPr>
          <p:cNvSpPr>
            <a:spLocks noGrp="1"/>
          </p:cNvSpPr>
          <p:nvPr>
            <p:ph idx="1"/>
          </p:nvPr>
        </p:nvSpPr>
        <p:spPr/>
        <p:txBody>
          <a:bodyPr/>
          <a:lstStyle/>
          <a:p>
            <a:pPr algn="just"/>
            <a:r>
              <a:rPr lang="vi-VN" sz="2800" dirty="0" err="1">
                <a:solidFill>
                  <a:srgbClr val="0066FF"/>
                </a:solidFill>
              </a:rPr>
              <a:t>Hoàn</a:t>
            </a:r>
            <a:r>
              <a:rPr lang="vi-VN" sz="2800" dirty="0">
                <a:solidFill>
                  <a:srgbClr val="0066FF"/>
                </a:solidFill>
              </a:rPr>
              <a:t> </a:t>
            </a:r>
            <a:r>
              <a:rPr lang="vi-VN" sz="2800" dirty="0" err="1">
                <a:solidFill>
                  <a:srgbClr val="0066FF"/>
                </a:solidFill>
              </a:rPr>
              <a:t>thiện</a:t>
            </a:r>
            <a:r>
              <a:rPr lang="vi-VN" sz="2800" dirty="0">
                <a:solidFill>
                  <a:srgbClr val="0066FF"/>
                </a:solidFill>
              </a:rPr>
              <a:t> </a:t>
            </a:r>
            <a:r>
              <a:rPr lang="vi-VN" sz="2800" dirty="0" err="1">
                <a:solidFill>
                  <a:srgbClr val="0066FF"/>
                </a:solidFill>
              </a:rPr>
              <a:t>quá</a:t>
            </a:r>
            <a:r>
              <a:rPr lang="vi-VN" sz="2800" dirty="0">
                <a:solidFill>
                  <a:srgbClr val="0066FF"/>
                </a:solidFill>
              </a:rPr>
              <a:t> </a:t>
            </a:r>
            <a:r>
              <a:rPr lang="vi-VN" sz="2800" dirty="0" err="1">
                <a:solidFill>
                  <a:srgbClr val="0066FF"/>
                </a:solidFill>
              </a:rPr>
              <a:t>trình</a:t>
            </a:r>
            <a:r>
              <a:rPr lang="vi-VN" sz="2800" dirty="0">
                <a:solidFill>
                  <a:srgbClr val="0066FF"/>
                </a:solidFill>
              </a:rPr>
              <a:t> </a:t>
            </a:r>
            <a:r>
              <a:rPr lang="vi-VN" sz="2800" dirty="0" err="1">
                <a:solidFill>
                  <a:srgbClr val="0066FF"/>
                </a:solidFill>
              </a:rPr>
              <a:t>trực</a:t>
            </a:r>
            <a:r>
              <a:rPr lang="vi-VN" sz="2800" dirty="0">
                <a:solidFill>
                  <a:srgbClr val="0066FF"/>
                </a:solidFill>
              </a:rPr>
              <a:t> quan </a:t>
            </a:r>
            <a:r>
              <a:rPr lang="vi-VN" sz="2800" dirty="0" err="1">
                <a:solidFill>
                  <a:srgbClr val="0066FF"/>
                </a:solidFill>
              </a:rPr>
              <a:t>bằng</a:t>
            </a:r>
            <a:r>
              <a:rPr lang="vi-VN" sz="2800" dirty="0">
                <a:solidFill>
                  <a:srgbClr val="0066FF"/>
                </a:solidFill>
              </a:rPr>
              <a:t> </a:t>
            </a:r>
            <a:r>
              <a:rPr lang="vi-VN" sz="2800" dirty="0" err="1">
                <a:solidFill>
                  <a:srgbClr val="0066FF"/>
                </a:solidFill>
              </a:rPr>
              <a:t>cách</a:t>
            </a:r>
            <a:r>
              <a:rPr lang="vi-VN" sz="2800" dirty="0">
                <a:solidFill>
                  <a:srgbClr val="0066FF"/>
                </a:solidFill>
              </a:rPr>
              <a:t> </a:t>
            </a:r>
            <a:r>
              <a:rPr lang="vi-VN" sz="2800" dirty="0" err="1">
                <a:solidFill>
                  <a:srgbClr val="0066FF"/>
                </a:solidFill>
              </a:rPr>
              <a:t>vẽ</a:t>
            </a:r>
            <a:r>
              <a:rPr lang="vi-VN" sz="2800" dirty="0">
                <a:solidFill>
                  <a:srgbClr val="0066FF"/>
                </a:solidFill>
              </a:rPr>
              <a:t> thêm </a:t>
            </a:r>
            <a:r>
              <a:rPr lang="vi-VN" sz="2800" dirty="0" err="1">
                <a:solidFill>
                  <a:srgbClr val="0066FF"/>
                </a:solidFill>
              </a:rPr>
              <a:t>các</a:t>
            </a:r>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huấn</a:t>
            </a:r>
            <a:r>
              <a:rPr lang="vi-VN" sz="2800" dirty="0">
                <a:solidFill>
                  <a:srgbClr val="0066FF"/>
                </a:solidFill>
              </a:rPr>
              <a:t> </a:t>
            </a:r>
            <a:r>
              <a:rPr lang="vi-VN" sz="2800" dirty="0" err="1">
                <a:solidFill>
                  <a:srgbClr val="0066FF"/>
                </a:solidFill>
              </a:rPr>
              <a:t>luyện</a:t>
            </a:r>
            <a:r>
              <a:rPr lang="vi-VN" sz="2800" dirty="0">
                <a:solidFill>
                  <a:srgbClr val="0066FF"/>
                </a:solidFill>
              </a:rPr>
              <a:t> lên </a:t>
            </a:r>
            <a:r>
              <a:rPr lang="vi-VN" sz="2800" dirty="0" err="1">
                <a:solidFill>
                  <a:srgbClr val="0066FF"/>
                </a:solidFill>
              </a:rPr>
              <a:t>mặt</a:t>
            </a:r>
            <a:r>
              <a:rPr lang="vi-VN" sz="2800" dirty="0">
                <a:solidFill>
                  <a:srgbClr val="0066FF"/>
                </a:solidFill>
              </a:rPr>
              <a:t> </a:t>
            </a:r>
            <a:r>
              <a:rPr lang="vi-VN" sz="2800" dirty="0" err="1">
                <a:solidFill>
                  <a:srgbClr val="0066FF"/>
                </a:solidFill>
              </a:rPr>
              <a:t>phẳng</a:t>
            </a:r>
            <a:r>
              <a:rPr lang="vi-VN" sz="2800" dirty="0">
                <a:solidFill>
                  <a:srgbClr val="0066FF"/>
                </a:solidFill>
              </a:rPr>
              <a:t> </a:t>
            </a:r>
            <a:r>
              <a:rPr lang="vi-VN" sz="2800" dirty="0" err="1">
                <a:solidFill>
                  <a:srgbClr val="0066FF"/>
                </a:solidFill>
              </a:rPr>
              <a:t>tọa</a:t>
            </a:r>
            <a:r>
              <a:rPr lang="vi-VN" sz="2800" dirty="0">
                <a:solidFill>
                  <a:srgbClr val="0066FF"/>
                </a:solidFill>
              </a:rPr>
              <a:t> </a:t>
            </a:r>
            <a:r>
              <a:rPr lang="vi-VN" sz="2800" dirty="0" err="1">
                <a:solidFill>
                  <a:srgbClr val="0066FF"/>
                </a:solidFill>
              </a:rPr>
              <a:t>độ</a:t>
            </a:r>
            <a:r>
              <a:rPr lang="vi-VN" sz="2800" dirty="0">
                <a:solidFill>
                  <a:srgbClr val="0066FF"/>
                </a:solidFill>
              </a:rPr>
              <a:t>.</a:t>
            </a:r>
          </a:p>
          <a:p>
            <a:pPr algn="just"/>
            <a:endParaRPr lang="vi-VN" sz="2800" dirty="0">
              <a:solidFill>
                <a:srgbClr val="0066FF"/>
              </a:solidFill>
            </a:endParaRPr>
          </a:p>
          <a:p>
            <a:pPr marL="457200" indent="-457200">
              <a:buFont typeface="+mj-lt"/>
              <a:buAutoNum type="arabicPeriod" startAt="37"/>
            </a:pPr>
            <a:r>
              <a:rPr lang="en-US" dirty="0" err="1">
                <a:solidFill>
                  <a:srgbClr val="000000"/>
                </a:solidFill>
                <a:latin typeface="Consolas" panose="020B0609020204030204" pitchFamily="49" charset="0"/>
              </a:rPr>
              <a:t>VisualizingResult(classifier, X_train)</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37"/>
            </a:pPr>
            <a:r>
              <a:rPr lang="vi-VN" dirty="0" err="1">
                <a:solidFill>
                  <a:srgbClr val="000000"/>
                </a:solidFill>
                <a:latin typeface="Consolas" panose="020B0609020204030204" pitchFamily="49" charset="0"/>
              </a:rPr>
              <a:t>VisualizingDataset(X_train, y_train)</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37"/>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2800" dirty="0">
              <a:solidFill>
                <a:srgbClr val="0066FF"/>
              </a:solidFill>
            </a:endParaRPr>
          </a:p>
        </p:txBody>
      </p:sp>
    </p:spTree>
    <p:extLst>
      <p:ext uri="{BB962C8B-B14F-4D97-AF65-F5344CB8AC3E}">
        <p14:creationId xmlns:p14="http://schemas.microsoft.com/office/powerpoint/2010/main" val="153851014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22CF-F325-4B0D-BB9C-4A5BDD91CA0C}"/>
              </a:ext>
            </a:extLst>
          </p:cNvPr>
          <p:cNvSpPr>
            <a:spLocks noGrp="1"/>
          </p:cNvSpPr>
          <p:nvPr>
            <p:ph type="title"/>
          </p:nvPr>
        </p:nvSpPr>
        <p:spPr/>
        <p:txBody>
          <a:bodyPr/>
          <a:lstStyle/>
          <a:p>
            <a:r>
              <a:rPr lang="vi-VN"/>
              <a:t>Trực quan hóa kết quả mô hình</a:t>
            </a:r>
            <a:endParaRPr lang="vi-VN" dirty="0"/>
          </a:p>
        </p:txBody>
      </p:sp>
      <p:pic>
        <p:nvPicPr>
          <p:cNvPr id="5" name="Content Placeholder 4">
            <a:extLst>
              <a:ext uri="{FF2B5EF4-FFF2-40B4-BE49-F238E27FC236}">
                <a16:creationId xmlns:a16="http://schemas.microsoft.com/office/drawing/2014/main" id="{CFD350A4-EA4B-444A-BBF1-DA11335A4557}"/>
              </a:ext>
            </a:extLst>
          </p:cNvPr>
          <p:cNvPicPr>
            <a:picLocks noGrp="1" noChangeAspect="1"/>
          </p:cNvPicPr>
          <p:nvPr>
            <p:ph idx="1"/>
          </p:nvPr>
        </p:nvPicPr>
        <p:blipFill>
          <a:blip r:embed="rId2"/>
          <a:stretch>
            <a:fillRect/>
          </a:stretch>
        </p:blipFill>
        <p:spPr>
          <a:xfrm>
            <a:off x="3176587" y="1720056"/>
            <a:ext cx="5838825" cy="4286250"/>
          </a:xfrm>
          <a:prstGeom prst="rect">
            <a:avLst/>
          </a:prstGeom>
        </p:spPr>
      </p:pic>
    </p:spTree>
    <p:extLst>
      <p:ext uri="{BB962C8B-B14F-4D97-AF65-F5344CB8AC3E}">
        <p14:creationId xmlns:p14="http://schemas.microsoft.com/office/powerpoint/2010/main" val="179502093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E22CF-F325-4B0D-BB9C-4A5BDD91CA0C}"/>
              </a:ext>
            </a:extLst>
          </p:cNvPr>
          <p:cNvSpPr>
            <a:spLocks noGrp="1"/>
          </p:cNvSpPr>
          <p:nvPr>
            <p:ph type="title"/>
          </p:nvPr>
        </p:nvSpPr>
        <p:spPr/>
        <p:txBody>
          <a:bodyPr/>
          <a:lstStyle/>
          <a:p>
            <a:r>
              <a:rPr lang="vi-VN"/>
              <a:t>Trực quan hóa kết quả mô hình</a:t>
            </a:r>
            <a:endParaRPr lang="vi-VN" dirty="0"/>
          </a:p>
        </p:txBody>
      </p:sp>
      <p:sp>
        <p:nvSpPr>
          <p:cNvPr id="4" name="Content Placeholder 3">
            <a:extLst>
              <a:ext uri="{FF2B5EF4-FFF2-40B4-BE49-F238E27FC236}">
                <a16:creationId xmlns:a16="http://schemas.microsoft.com/office/drawing/2014/main" id="{21920D58-5361-4A92-8004-3A836CDECB0B}"/>
              </a:ext>
            </a:extLst>
          </p:cNvPr>
          <p:cNvSpPr>
            <a:spLocks noGrp="1"/>
          </p:cNvSpPr>
          <p:nvPr>
            <p:ph sz="half" idx="2"/>
          </p:nvPr>
        </p:nvSpPr>
        <p:spPr/>
        <p:txBody>
          <a:bodyPr/>
          <a:lstStyle/>
          <a:p>
            <a:pPr algn="just"/>
            <a:r>
              <a:rPr lang="vi-VN" dirty="0" err="1">
                <a:solidFill>
                  <a:srgbClr val="0066FF"/>
                </a:solidFill>
              </a:rPr>
              <a:t>Nhận</a:t>
            </a:r>
            <a:r>
              <a:rPr lang="vi-VN" dirty="0">
                <a:solidFill>
                  <a:srgbClr val="0066FF"/>
                </a:solidFill>
              </a:rPr>
              <a:t> </a:t>
            </a:r>
            <a:r>
              <a:rPr lang="vi-VN" dirty="0" err="1">
                <a:solidFill>
                  <a:srgbClr val="0066FF"/>
                </a:solidFill>
              </a:rPr>
              <a:t>xét</a:t>
            </a:r>
            <a:r>
              <a:rPr lang="vi-VN" dirty="0">
                <a:solidFill>
                  <a:srgbClr val="0066FF"/>
                </a:solidFill>
              </a:rPr>
              <a:t>:</a:t>
            </a:r>
          </a:p>
          <a:p>
            <a:pPr lvl="1" algn="just"/>
            <a:r>
              <a:rPr lang="vi-VN" sz="2800" dirty="0">
                <a:solidFill>
                  <a:srgbClr val="FF0000"/>
                </a:solidFill>
              </a:rPr>
              <a:t>Mô </a:t>
            </a:r>
            <a:r>
              <a:rPr lang="vi-VN" sz="2800" dirty="0" err="1">
                <a:solidFill>
                  <a:srgbClr val="FF0000"/>
                </a:solidFill>
              </a:rPr>
              <a:t>hình</a:t>
            </a:r>
            <a:r>
              <a:rPr lang="vi-VN" sz="2800" dirty="0">
                <a:solidFill>
                  <a:srgbClr val="FF0000"/>
                </a:solidFill>
              </a:rPr>
              <a:t> </a:t>
            </a:r>
            <a:r>
              <a:rPr lang="vi-VN" sz="2800" dirty="0" err="1">
                <a:solidFill>
                  <a:srgbClr val="FF0000"/>
                </a:solidFill>
              </a:rPr>
              <a:t>có</a:t>
            </a:r>
            <a:r>
              <a:rPr lang="vi-VN" sz="2800" dirty="0">
                <a:solidFill>
                  <a:srgbClr val="FF0000"/>
                </a:solidFill>
              </a:rPr>
              <a:t> </a:t>
            </a:r>
            <a:r>
              <a:rPr lang="vi-VN" sz="2800" dirty="0" err="1">
                <a:solidFill>
                  <a:srgbClr val="FF0000"/>
                </a:solidFill>
              </a:rPr>
              <a:t>độ</a:t>
            </a:r>
            <a:r>
              <a:rPr lang="vi-VN" sz="2800" dirty="0">
                <a:solidFill>
                  <a:srgbClr val="FF0000"/>
                </a:solidFill>
              </a:rPr>
              <a:t> </a:t>
            </a:r>
            <a:r>
              <a:rPr lang="vi-VN" sz="2800" dirty="0" err="1">
                <a:solidFill>
                  <a:srgbClr val="FF0000"/>
                </a:solidFill>
              </a:rPr>
              <a:t>chính</a:t>
            </a:r>
            <a:r>
              <a:rPr lang="vi-VN" sz="2800" dirty="0">
                <a:solidFill>
                  <a:srgbClr val="FF0000"/>
                </a:solidFill>
              </a:rPr>
              <a:t> </a:t>
            </a:r>
            <a:r>
              <a:rPr lang="vi-VN" sz="2800" dirty="0" err="1">
                <a:solidFill>
                  <a:srgbClr val="FF0000"/>
                </a:solidFill>
              </a:rPr>
              <a:t>xác</a:t>
            </a:r>
            <a:r>
              <a:rPr lang="vi-VN" sz="2800" dirty="0">
                <a:solidFill>
                  <a:srgbClr val="FF0000"/>
                </a:solidFill>
              </a:rPr>
              <a:t> cao.</a:t>
            </a:r>
          </a:p>
          <a:p>
            <a:pPr lvl="1" algn="just"/>
            <a:r>
              <a:rPr lang="vi-VN" sz="2800" dirty="0" err="1">
                <a:solidFill>
                  <a:srgbClr val="0066FF"/>
                </a:solidFill>
              </a:rPr>
              <a:t>Đường</a:t>
            </a:r>
            <a:r>
              <a:rPr lang="vi-VN" sz="2800" dirty="0">
                <a:solidFill>
                  <a:srgbClr val="0066FF"/>
                </a:solidFill>
              </a:rPr>
              <a:t> phân chia </a:t>
            </a:r>
            <a:r>
              <a:rPr lang="vi-VN" sz="2800" dirty="0" err="1">
                <a:solidFill>
                  <a:srgbClr val="0066FF"/>
                </a:solidFill>
              </a:rPr>
              <a:t>mượt</a:t>
            </a:r>
            <a:r>
              <a:rPr lang="vi-VN" sz="2800" dirty="0">
                <a:solidFill>
                  <a:srgbClr val="0066FF"/>
                </a:solidFill>
              </a:rPr>
              <a:t> (</a:t>
            </a:r>
            <a:r>
              <a:rPr lang="vi-VN" sz="2800" dirty="0" err="1">
                <a:solidFill>
                  <a:srgbClr val="0066FF"/>
                </a:solidFill>
              </a:rPr>
              <a:t>smooth</a:t>
            </a:r>
            <a:r>
              <a:rPr lang="vi-VN" sz="2800" dirty="0">
                <a:solidFill>
                  <a:srgbClr val="0066FF"/>
                </a:solidFill>
              </a:rPr>
              <a:t>) </a:t>
            </a:r>
            <a:r>
              <a:rPr lang="vi-VN" sz="2800" dirty="0" err="1">
                <a:solidFill>
                  <a:srgbClr val="0066FF"/>
                </a:solidFill>
              </a:rPr>
              <a:t>và</a:t>
            </a:r>
            <a:r>
              <a:rPr lang="vi-VN" sz="2800" dirty="0">
                <a:solidFill>
                  <a:srgbClr val="0066FF"/>
                </a:solidFill>
              </a:rPr>
              <a:t> </a:t>
            </a:r>
            <a:r>
              <a:rPr lang="vi-VN" sz="2800" dirty="0" err="1">
                <a:solidFill>
                  <a:srgbClr val="0066FF"/>
                </a:solidFill>
              </a:rPr>
              <a:t>rõ</a:t>
            </a:r>
            <a:r>
              <a:rPr lang="vi-VN" sz="2800" dirty="0">
                <a:solidFill>
                  <a:srgbClr val="0066FF"/>
                </a:solidFill>
              </a:rPr>
              <a:t> </a:t>
            </a:r>
            <a:r>
              <a:rPr lang="vi-VN" sz="2800" dirty="0" err="1">
                <a:solidFill>
                  <a:srgbClr val="0066FF"/>
                </a:solidFill>
              </a:rPr>
              <a:t>ràng</a:t>
            </a:r>
            <a:r>
              <a:rPr lang="vi-VN" sz="2800" dirty="0">
                <a:solidFill>
                  <a:srgbClr val="0066FF"/>
                </a:solidFill>
              </a:rPr>
              <a:t>.</a:t>
            </a:r>
          </a:p>
        </p:txBody>
      </p:sp>
      <p:pic>
        <p:nvPicPr>
          <p:cNvPr id="6" name="Content Placeholder 4">
            <a:extLst>
              <a:ext uri="{FF2B5EF4-FFF2-40B4-BE49-F238E27FC236}">
                <a16:creationId xmlns:a16="http://schemas.microsoft.com/office/drawing/2014/main" id="{857A93CF-DDB3-4048-95F6-DE59483E7E39}"/>
              </a:ext>
            </a:extLst>
          </p:cNvPr>
          <p:cNvPicPr>
            <a:picLocks noGrp="1" noChangeAspect="1"/>
          </p:cNvPicPr>
          <p:nvPr>
            <p:ph sz="half" idx="1"/>
          </p:nvPr>
        </p:nvPicPr>
        <p:blipFill>
          <a:blip r:embed="rId2"/>
          <a:stretch>
            <a:fillRect/>
          </a:stretch>
        </p:blipFill>
        <p:spPr>
          <a:xfrm>
            <a:off x="0" y="1524000"/>
            <a:ext cx="6165368" cy="4525963"/>
          </a:xfrm>
          <a:prstGeom prst="rect">
            <a:avLst/>
          </a:prstGeom>
        </p:spPr>
      </p:pic>
    </p:spTree>
    <p:extLst>
      <p:ext uri="{BB962C8B-B14F-4D97-AF65-F5344CB8AC3E}">
        <p14:creationId xmlns:p14="http://schemas.microsoft.com/office/powerpoint/2010/main" val="157516771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5" name="Text Placeholder 4">
            <a:extLst>
              <a:ext uri="{FF2B5EF4-FFF2-40B4-BE49-F238E27FC236}">
                <a16:creationId xmlns:a16="http://schemas.microsoft.com/office/drawing/2014/main" id="{6CB81405-0B4B-4752-8010-5BC101FF1B13}"/>
              </a:ext>
            </a:extLst>
          </p:cNvPr>
          <p:cNvSpPr>
            <a:spLocks noGrp="1"/>
          </p:cNvSpPr>
          <p:nvPr>
            <p:ph type="body" idx="1"/>
          </p:nvPr>
        </p:nvSpPr>
        <p:spPr/>
        <p:txBody>
          <a:bodyPr/>
          <a:lstStyle/>
          <a:p>
            <a:endParaRPr lang="vi-VN"/>
          </a:p>
        </p:txBody>
      </p:sp>
    </p:spTree>
    <p:extLst>
      <p:ext uri="{BB962C8B-B14F-4D97-AF65-F5344CB8AC3E}">
        <p14:creationId xmlns:p14="http://schemas.microsoft.com/office/powerpoint/2010/main" val="4321999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03915-96E8-4D3F-AEBF-7529BD817D88}"/>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4E7C6AE8-60A2-49FB-A20C-4375C46A913F}"/>
              </a:ext>
            </a:extLst>
          </p:cNvPr>
          <p:cNvSpPr>
            <a:spLocks noGrp="1"/>
          </p:cNvSpPr>
          <p:nvPr>
            <p:ph idx="1"/>
          </p:nvPr>
        </p:nvSpPr>
        <p:spPr/>
        <p:txBody>
          <a:bodyPr/>
          <a:lstStyle/>
          <a:p>
            <a:pPr algn="just"/>
            <a:r>
              <a:rPr lang="vi-VN" sz="2800" dirty="0" err="1">
                <a:solidFill>
                  <a:srgbClr val="0066FF"/>
                </a:solidFill>
              </a:rPr>
              <a:t>Tạo</a:t>
            </a:r>
            <a:r>
              <a:rPr lang="vi-VN" sz="2800" dirty="0">
                <a:solidFill>
                  <a:srgbClr val="0066FF"/>
                </a:solidFill>
              </a:rPr>
              <a:t> </a:t>
            </a:r>
            <a:r>
              <a:rPr lang="vi-VN" sz="2800" i="1" dirty="0" err="1">
                <a:solidFill>
                  <a:srgbClr val="0066FF"/>
                </a:solidFill>
              </a:rPr>
              <a:t>confusion</a:t>
            </a:r>
            <a:r>
              <a:rPr lang="vi-VN" sz="2800" i="1" dirty="0">
                <a:solidFill>
                  <a:srgbClr val="0066FF"/>
                </a:solidFill>
              </a:rPr>
              <a:t> </a:t>
            </a:r>
            <a:r>
              <a:rPr lang="vi-VN" sz="2800" i="1" dirty="0" err="1">
                <a:solidFill>
                  <a:srgbClr val="0066FF"/>
                </a:solidFill>
              </a:rPr>
              <a:t>matrix</a:t>
            </a:r>
            <a:r>
              <a:rPr lang="vi-VN" sz="2800" i="1" dirty="0">
                <a:solidFill>
                  <a:srgbClr val="0066FF"/>
                </a:solidFill>
              </a:rPr>
              <a:t> </a:t>
            </a:r>
            <a:r>
              <a:rPr lang="vi-VN" sz="2800" dirty="0">
                <a:solidFill>
                  <a:srgbClr val="0066FF"/>
                </a:solidFill>
              </a:rPr>
              <a:t>trên </a:t>
            </a:r>
            <a:r>
              <a:rPr lang="vi-VN" sz="2800" dirty="0" err="1">
                <a:solidFill>
                  <a:srgbClr val="0066FF"/>
                </a:solidFill>
              </a:rPr>
              <a:t>tập</a:t>
            </a:r>
            <a:r>
              <a:rPr lang="vi-VN" sz="2800" dirty="0">
                <a:solidFill>
                  <a:srgbClr val="0066FF"/>
                </a:solidFill>
              </a:rPr>
              <a:t> </a:t>
            </a:r>
            <a:r>
              <a:rPr lang="vi-VN" sz="2800" dirty="0" err="1">
                <a:solidFill>
                  <a:srgbClr val="0066FF"/>
                </a:solidFill>
              </a:rPr>
              <a:t>test</a:t>
            </a:r>
            <a:r>
              <a:rPr lang="vi-VN" sz="2800" dirty="0">
                <a:solidFill>
                  <a:srgbClr val="0066FF"/>
                </a:solidFill>
              </a:rPr>
              <a:t>.</a:t>
            </a:r>
          </a:p>
          <a:p>
            <a:pPr algn="just"/>
            <a:endParaRPr lang="vi-VN" sz="2800" dirty="0"/>
          </a:p>
          <a:p>
            <a:pPr marL="457200" indent="-457200">
              <a:buFont typeface="+mj-lt"/>
              <a:buAutoNum type="arabicPeriod" startAt="40"/>
            </a:pPr>
            <a:r>
              <a:rPr lang="fr-FR" dirty="0" sz="2000">
                <a:solidFill>
                  <a:srgbClr val="AF00DB"/>
                </a:solidFill>
                <a:latin typeface="Consolas" panose="020B0609020204030204" pitchFamily="49" charset="0"/>
              </a:rPr>
              <a:t>from sklearn.metrics import confusion_matrix</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fr-FR"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fr-FR" dirty="0">
                <a:solidFill>
                  <a:srgbClr val="000000"/>
                </a:solidFill>
                <a:latin typeface="Consolas" panose="020B0609020204030204" pitchFamily="49" charset="0"/>
              </a:rPr>
              <a:t/>
            </a:r>
          </a:p>
          <a:p>
            <a:pPr marL="457200" indent="-457200">
              <a:buFont typeface="+mj-lt"/>
              <a:buAutoNum type="arabicPeriod" startAt="40"/>
            </a:pPr>
            <a:r>
              <a:rPr lang="vi-VN" dirty="0" err="1" sz="2000">
                <a:solidFill>
                  <a:srgbClr val="000000"/>
                </a:solidFill>
                <a:latin typeface="Consolas" panose="020B0609020204030204" pitchFamily="49" charset="0"/>
              </a:rPr>
              <a:t>cm = confusion_matrix(y_test, classifier.predict(X_test))</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r>
              <a:rPr sz="2000">
                <a:solidFill>
                  <a:srgbClr val="000000"/>
                </a:solidFill>
                <a:latin typeface="Consolas"/>
              </a:rPr>
              <a:t>print(cm)</a:t>
            </a:r>
          </a:p>
        </p:txBody>
      </p:sp>
    </p:spTree>
    <p:extLst>
      <p:ext uri="{BB962C8B-B14F-4D97-AF65-F5344CB8AC3E}">
        <p14:creationId xmlns:p14="http://schemas.microsoft.com/office/powerpoint/2010/main" val="51876529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1FE9-BB2E-49B4-B0F1-3693843C0196}"/>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95AD93-52A0-4D38-8C7C-5813D54C2C62}"/>
                  </a:ext>
                </a:extLst>
              </p:cNvPr>
              <p:cNvSpPr>
                <a:spLocks noGrp="1"/>
              </p:cNvSpPr>
              <p:nvPr>
                <p:ph idx="1"/>
              </p:nvPr>
            </p:nvSpPr>
            <p:spPr/>
            <p:txBody>
              <a:bodyPr/>
              <a:lstStyle/>
              <a:p>
                <a:pPr algn="just"/>
                <a:r>
                  <a:rPr lang="vi-VN" sz="2800" dirty="0">
                    <a:solidFill>
                      <a:srgbClr val="0066FF"/>
                    </a:solidFill>
                  </a:rPr>
                  <a:t>Confusion </a:t>
                </a:r>
                <a:r>
                  <a:rPr lang="vi-VN" sz="2800" dirty="0" err="1">
                    <a:solidFill>
                      <a:srgbClr val="0066FF"/>
                    </a:solidFill>
                  </a:rPr>
                  <a:t>Matrix</a:t>
                </a:r>
                <a:r>
                  <a:rPr lang="vi-VN" sz="2800" dirty="0">
                    <a:solidFill>
                      <a:srgbClr val="0066FF"/>
                    </a:solidFill>
                  </a:rPr>
                  <a:t> </a:t>
                </a:r>
                <a:r>
                  <a:rPr lang="vi-VN" sz="2800" dirty="0" err="1">
                    <a:solidFill>
                      <a:srgbClr val="0066FF"/>
                    </a:solidFill>
                  </a:rPr>
                  <a:t>được</a:t>
                </a:r>
                <a:r>
                  <a:rPr lang="vi-VN" sz="2800" dirty="0">
                    <a:solidFill>
                      <a:srgbClr val="0066FF"/>
                    </a:solidFill>
                  </a:rPr>
                  <a:t> in ra </a:t>
                </a:r>
                <a:r>
                  <a:rPr lang="vi-VN" sz="2800" dirty="0" err="1">
                    <a:solidFill>
                      <a:srgbClr val="0066FF"/>
                    </a:solidFill>
                  </a:rPr>
                  <a:t>là</a:t>
                </a:r>
                <a:r>
                  <a:rPr lang="vi-VN" sz="2800" dirty="0">
                    <a:solidFill>
                      <a:srgbClr val="0066FF"/>
                    </a:solidFill>
                  </a:rPr>
                  <a:t>:</a:t>
                </a: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endParaRPr lang="vi-VN" sz="2800" dirty="0">
                  <a:solidFill>
                    <a:srgbClr val="0066FF"/>
                  </a:solidFill>
                </a:endParaRPr>
              </a:p>
              <a:p>
                <a:pPr algn="just"/>
                <a:r>
                  <a:rPr lang="vi-VN" sz="2800" dirty="0">
                    <a:solidFill>
                      <a:srgbClr val="FF0000"/>
                    </a:solidFill>
                  </a:rPr>
                  <a:t>Theo ma </a:t>
                </a:r>
                <a:r>
                  <a:rPr lang="vi-VN" sz="2800" dirty="0" err="1">
                    <a:solidFill>
                      <a:srgbClr val="FF0000"/>
                    </a:solidFill>
                  </a:rPr>
                  <a:t>trận</a:t>
                </a:r>
                <a:r>
                  <a:rPr lang="vi-VN" sz="2800" dirty="0">
                    <a:solidFill>
                      <a:srgbClr val="FF0000"/>
                    </a:solidFill>
                  </a:rPr>
                  <a:t> trên, </a:t>
                </a:r>
                <a:r>
                  <a:rPr lang="vi-VN" sz="2800" dirty="0" err="1">
                    <a:solidFill>
                      <a:srgbClr val="FF0000"/>
                    </a:solidFill>
                  </a:rPr>
                  <a:t>số</a:t>
                </a:r>
                <a:r>
                  <a:rPr lang="vi-VN" sz="2800" dirty="0">
                    <a:solidFill>
                      <a:srgbClr val="FF0000"/>
                    </a:solidFill>
                  </a:rPr>
                  <a:t> </a:t>
                </a:r>
                <a:r>
                  <a:rPr lang="vi-VN" sz="2800" dirty="0" err="1">
                    <a:solidFill>
                      <a:srgbClr val="FF0000"/>
                    </a:solidFill>
                  </a:rPr>
                  <a:t>lượng</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r>
                  <a:rPr lang="vi-VN" sz="2800" dirty="0" err="1">
                    <a:solidFill>
                      <a:srgbClr val="FF0000"/>
                    </a:solidFill>
                  </a:rPr>
                  <a:t>được</a:t>
                </a:r>
                <a:r>
                  <a:rPr lang="vi-VN" sz="2800" dirty="0">
                    <a:solidFill>
                      <a:srgbClr val="FF0000"/>
                    </a:solidFill>
                  </a:rPr>
                  <a:t> phân </a:t>
                </a:r>
                <a:r>
                  <a:rPr lang="vi-VN" sz="2800" dirty="0" err="1">
                    <a:solidFill>
                      <a:srgbClr val="FF0000"/>
                    </a:solidFill>
                  </a:rPr>
                  <a:t>loại</a:t>
                </a:r>
                <a:r>
                  <a:rPr lang="vi-VN" sz="2800" dirty="0">
                    <a:solidFill>
                      <a:srgbClr val="FF0000"/>
                    </a:solidFill>
                  </a:rPr>
                  <a:t> </a:t>
                </a:r>
                <a:r>
                  <a:rPr lang="vi-VN" sz="2800" dirty="0" err="1">
                    <a:solidFill>
                      <a:srgbClr val="FF0000"/>
                    </a:solidFill>
                  </a:rPr>
                  <a:t>đúng</a:t>
                </a:r>
                <a:r>
                  <a:rPr lang="vi-VN" sz="2800" dirty="0">
                    <a:solidFill>
                      <a:srgbClr val="FF0000"/>
                    </a:solidFill>
                  </a:rPr>
                  <a:t>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5</m:t>
                    </m:r>
                    <m:r>
                      <a:rPr lang="vi-VN" sz="2800" b="0" i="1" dirty="0" smtClean="0">
                        <a:solidFill>
                          <a:srgbClr val="FF0000"/>
                        </a:solidFill>
                        <a:latin typeface="Cambria Math" panose="02040503050406030204" pitchFamily="18" charset="0"/>
                      </a:rPr>
                      <m:t>5+18=73</m:t>
                    </m:r>
                  </m:oMath>
                </a14:m>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a:t>
                </a:r>
              </a:p>
              <a:p>
                <a:pPr algn="just"/>
                <a:r>
                  <a:rPr lang="vi-VN" sz="2800" dirty="0" err="1">
                    <a:solidFill>
                      <a:srgbClr val="0066FF"/>
                    </a:solidFill>
                  </a:rPr>
                  <a:t>Số</a:t>
                </a:r>
                <a:r>
                  <a:rPr lang="vi-VN" sz="2800" dirty="0">
                    <a:solidFill>
                      <a:srgbClr val="0066FF"/>
                    </a:solidFill>
                  </a:rPr>
                  <a:t> </a:t>
                </a:r>
                <a:r>
                  <a:rPr lang="vi-VN" sz="2800" dirty="0" err="1">
                    <a:solidFill>
                      <a:srgbClr val="0066FF"/>
                    </a:solidFill>
                  </a:rPr>
                  <a:t>lượng</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phân </a:t>
                </a:r>
                <a:r>
                  <a:rPr lang="vi-VN" sz="2800" dirty="0" err="1">
                    <a:solidFill>
                      <a:srgbClr val="0066FF"/>
                    </a:solidFill>
                  </a:rPr>
                  <a:t>loại</a:t>
                </a:r>
                <a:r>
                  <a:rPr lang="vi-VN" sz="2800" dirty="0">
                    <a:solidFill>
                      <a:srgbClr val="0066FF"/>
                    </a:solidFill>
                  </a:rPr>
                  <a:t> sai </a:t>
                </a:r>
                <a:r>
                  <a:rPr lang="vi-VN" sz="2800" dirty="0" err="1">
                    <a:solidFill>
                      <a:srgbClr val="0066FF"/>
                    </a:solidFill>
                  </a:rPr>
                  <a:t>là</a:t>
                </a:r>
                <a:r>
                  <a:rPr lang="vi-VN" sz="2800" dirty="0">
                    <a:solidFill>
                      <a:srgbClr val="0066FF"/>
                    </a:solidFill>
                  </a:rPr>
                  <a:t> </a:t>
                </a:r>
                <a14:m>
                  <m:oMath xmlns:m="http://schemas.openxmlformats.org/officeDocument/2006/math">
                    <m:r>
                      <a:rPr lang="vi-VN" sz="2800" i="1" dirty="0">
                        <a:solidFill>
                          <a:srgbClr val="0066FF"/>
                        </a:solidFill>
                        <a:latin typeface="Cambria Math" panose="02040503050406030204" pitchFamily="18" charset="0"/>
                      </a:rPr>
                      <m:t>4</m:t>
                    </m:r>
                    <m:r>
                      <a:rPr lang="vi-VN" sz="2800" b="0" i="1" dirty="0" smtClean="0">
                        <a:solidFill>
                          <a:srgbClr val="0066FF"/>
                        </a:solidFill>
                        <a:latin typeface="Cambria Math" panose="02040503050406030204" pitchFamily="18" charset="0"/>
                      </a:rPr>
                      <m:t>+3=7</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a:t>
                </a:r>
              </a:p>
              <a:p>
                <a:pPr algn="just"/>
                <a:r>
                  <a:rPr lang="vi-VN" sz="2800" dirty="0">
                    <a:solidFill>
                      <a:srgbClr val="FF0000"/>
                    </a:solidFill>
                  </a:rPr>
                  <a:t>Tỉ </a:t>
                </a:r>
                <a:r>
                  <a:rPr lang="vi-VN" sz="2800" dirty="0" err="1">
                    <a:solidFill>
                      <a:srgbClr val="FF0000"/>
                    </a:solidFill>
                  </a:rPr>
                  <a:t>lệ</a:t>
                </a:r>
                <a:r>
                  <a:rPr lang="vi-VN" sz="2800" dirty="0">
                    <a:solidFill>
                      <a:srgbClr val="FF0000"/>
                    </a:solidFill>
                  </a:rPr>
                  <a:t> </a:t>
                </a:r>
                <a:r>
                  <a:rPr lang="vi-VN" sz="2800" dirty="0" err="1">
                    <a:solidFill>
                      <a:srgbClr val="FF0000"/>
                    </a:solidFill>
                  </a:rPr>
                  <a:t>điểm</a:t>
                </a:r>
                <a:r>
                  <a:rPr lang="vi-VN" sz="2800" dirty="0">
                    <a:solidFill>
                      <a:srgbClr val="FF0000"/>
                    </a:solidFill>
                  </a:rPr>
                  <a:t> </a:t>
                </a:r>
                <a:r>
                  <a:rPr lang="vi-VN" sz="2800" dirty="0" err="1">
                    <a:solidFill>
                      <a:srgbClr val="FF0000"/>
                    </a:solidFill>
                  </a:rPr>
                  <a:t>dữ</a:t>
                </a:r>
                <a:r>
                  <a:rPr lang="vi-VN" sz="2800" dirty="0">
                    <a:solidFill>
                      <a:srgbClr val="FF0000"/>
                    </a:solidFill>
                  </a:rPr>
                  <a:t> </a:t>
                </a:r>
                <a:r>
                  <a:rPr lang="vi-VN" sz="2800" dirty="0" err="1">
                    <a:solidFill>
                      <a:srgbClr val="FF0000"/>
                    </a:solidFill>
                  </a:rPr>
                  <a:t>liệu</a:t>
                </a:r>
                <a:r>
                  <a:rPr lang="vi-VN" sz="2800" dirty="0">
                    <a:solidFill>
                      <a:srgbClr val="FF0000"/>
                    </a:solidFill>
                  </a:rPr>
                  <a:t> phân </a:t>
                </a:r>
                <a:r>
                  <a:rPr lang="vi-VN" sz="2800" dirty="0" err="1">
                    <a:solidFill>
                      <a:srgbClr val="FF0000"/>
                    </a:solidFill>
                  </a:rPr>
                  <a:t>loại</a:t>
                </a:r>
                <a:r>
                  <a:rPr lang="vi-VN" sz="2800" dirty="0">
                    <a:solidFill>
                      <a:srgbClr val="FF0000"/>
                    </a:solidFill>
                  </a:rPr>
                  <a:t> sai </a:t>
                </a:r>
                <a:r>
                  <a:rPr lang="vi-VN" sz="2800" dirty="0" err="1">
                    <a:solidFill>
                      <a:srgbClr val="FF0000"/>
                    </a:solidFill>
                  </a:rPr>
                  <a:t>là</a:t>
                </a:r>
                <a:r>
                  <a:rPr lang="vi-VN" sz="2800" dirty="0">
                    <a:solidFill>
                      <a:srgbClr val="FF0000"/>
                    </a:solidFill>
                  </a:rPr>
                  <a:t> </a:t>
                </a:r>
                <a14:m>
                  <m:oMath xmlns:m="http://schemas.openxmlformats.org/officeDocument/2006/math">
                    <m:r>
                      <a:rPr lang="vi-VN" sz="2800" i="1" dirty="0" smtClean="0">
                        <a:solidFill>
                          <a:srgbClr val="FF0000"/>
                        </a:solidFill>
                        <a:latin typeface="Cambria Math" panose="02040503050406030204" pitchFamily="18" charset="0"/>
                      </a:rPr>
                      <m:t>7</m:t>
                    </m:r>
                    <m:r>
                      <a:rPr lang="vi-VN" sz="2800" b="0" i="1" dirty="0" smtClean="0">
                        <a:solidFill>
                          <a:srgbClr val="FF0000"/>
                        </a:solidFill>
                        <a:latin typeface="Cambria Math" panose="02040503050406030204" pitchFamily="18" charset="0"/>
                      </a:rPr>
                      <m:t>/80</m:t>
                    </m:r>
                    <m:r>
                      <a:rPr lang="vi-VN" sz="2800" i="1" dirty="0" smtClean="0">
                        <a:solidFill>
                          <a:srgbClr val="FF0000"/>
                        </a:solidFill>
                        <a:latin typeface="Cambria Math" panose="02040503050406030204" pitchFamily="18" charset="0"/>
                        <a:ea typeface="Cambria Math" panose="02040503050406030204" pitchFamily="18" charset="0"/>
                      </a:rPr>
                      <m:t>≈</m:t>
                    </m:r>
                    <m:r>
                      <a:rPr lang="vi-VN" sz="2800" i="1" dirty="0" smtClean="0">
                        <a:solidFill>
                          <a:srgbClr val="FF0000"/>
                        </a:solidFill>
                        <a:latin typeface="Cambria Math" panose="02040503050406030204" pitchFamily="18" charset="0"/>
                      </a:rPr>
                      <m:t>0.</m:t>
                    </m:r>
                    <m:r>
                      <a:rPr lang="vi-VN" sz="2800" b="0" i="1" dirty="0" smtClean="0">
                        <a:solidFill>
                          <a:srgbClr val="FF0000"/>
                        </a:solidFill>
                        <a:latin typeface="Cambria Math" panose="02040503050406030204" pitchFamily="18" charset="0"/>
                      </a:rPr>
                      <m:t>0875</m:t>
                    </m:r>
                  </m:oMath>
                </a14:m>
                <a:r>
                  <a:rPr lang="vi-VN" sz="2800" dirty="0">
                    <a:solidFill>
                      <a:srgbClr val="FF0000"/>
                    </a:solidFill>
                  </a:rPr>
                  <a:t>.</a:t>
                </a:r>
              </a:p>
            </p:txBody>
          </p:sp>
        </mc:Choice>
        <mc:Fallback xmlns="">
          <p:sp>
            <p:nvSpPr>
              <p:cNvPr id="3" name="Content Placeholder 2">
                <a:extLst>
                  <a:ext uri="{FF2B5EF4-FFF2-40B4-BE49-F238E27FC236}">
                    <a16:creationId xmlns:a16="http://schemas.microsoft.com/office/drawing/2014/main" id="{9A95AD93-52A0-4D38-8C7C-5813D54C2C62}"/>
                  </a:ext>
                </a:extLst>
              </p:cNvPr>
              <p:cNvSpPr>
                <a:spLocks noGrp="1" noRot="1" noChangeAspect="1" noMove="1" noResize="1" noEditPoints="1" noAdjustHandles="1" noChangeArrowheads="1" noChangeShapeType="1" noTextEdit="1"/>
              </p:cNvSpPr>
              <p:nvPr>
                <p:ph idx="1"/>
              </p:nvPr>
            </p:nvSpPr>
            <p:spPr>
              <a:blipFill>
                <a:blip r:embed="rId2"/>
                <a:stretch>
                  <a:fillRect l="-1000" t="-1482" b="-377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8</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4" name="Table 3">
                <a:extLst>
                  <a:ext uri="{FF2B5EF4-FFF2-40B4-BE49-F238E27FC236}">
                    <a16:creationId xmlns:a16="http://schemas.microsoft.com/office/drawing/2014/main" id="{E04C35AC-FD6B-4911-AB9C-280EA13B059B}"/>
                  </a:ext>
                </a:extLst>
              </p:cNvPr>
              <p:cNvGraphicFramePr>
                <a:graphicFrameLocks noGrp="1"/>
              </p:cNvGraphicFramePr>
              <p:nvPr>
                <p:extLst>
                  <p:ext uri="{D42A27DB-BD31-4B8C-83A1-F6EECF244321}">
                    <p14:modId xmlns:p14="http://schemas.microsoft.com/office/powerpoint/2010/main" val="3145577163"/>
                  </p:ext>
                </p:extLst>
              </p:nvPr>
            </p:nvGraphicFramePr>
            <p:xfrm>
              <a:off x="42672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556" t="-110465" r="-101667" b="-131395"/>
                          </a:stretch>
                        </a:blipFill>
                      </a:tcPr>
                    </a:tc>
                    <a:tc>
                      <a:txBody>
                        <a:bodyPr/>
                        <a:lstStyle/>
                        <a:p>
                          <a:endParaRPr lang="vi-VN"/>
                        </a:p>
                      </a:txBody>
                      <a:tcPr anchor="ctr">
                        <a:blipFill>
                          <a:blip r:embed="rId3"/>
                          <a:stretch>
                            <a:fillRect l="-201676" t="-110465" r="-2235"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556" t="-212941" r="-101667" b="-32941"/>
                          </a:stretch>
                        </a:blipFill>
                      </a:tcPr>
                    </a:tc>
                    <a:tc>
                      <a:txBody>
                        <a:bodyPr/>
                        <a:lstStyle/>
                        <a:p>
                          <a:endParaRPr lang="vi-VN"/>
                        </a:p>
                      </a:txBody>
                      <a:tcPr anchor="ctr">
                        <a:blipFill>
                          <a:blip r:embed="rId3"/>
                          <a:stretch>
                            <a:fillRect l="-201676" t="-212941" r="-2235"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260586178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sp>
        <p:nvSpPr>
          <p:cNvPr id="2" name="Content Placeholder 1">
            <a:extLst>
              <a:ext uri="{FF2B5EF4-FFF2-40B4-BE49-F238E27FC236}">
                <a16:creationId xmlns:a16="http://schemas.microsoft.com/office/drawing/2014/main" id="{89B145C5-2FC6-4997-B32D-879CA6F44042}"/>
              </a:ext>
            </a:extLst>
          </p:cNvPr>
          <p:cNvSpPr>
            <a:spLocks noGrp="1"/>
          </p:cNvSpPr>
          <p:nvPr>
            <p:ph idx="1"/>
          </p:nvPr>
        </p:nvSpPr>
        <p:spPr/>
        <p:txBody>
          <a:bodyPr/>
          <a:lstStyle/>
          <a:p>
            <a:pPr algn="just"/>
            <a:r>
              <a:rPr lang="en-US" sz="2800" dirty="0" err="1">
                <a:solidFill>
                  <a:srgbClr val="0066FF"/>
                </a:solidFill>
              </a:rPr>
              <a:t>Thực</a:t>
            </a:r>
            <a:r>
              <a:rPr lang="en-US" sz="2800" dirty="0">
                <a:solidFill>
                  <a:srgbClr val="0066FF"/>
                </a:solidFill>
              </a:rPr>
              <a:t> </a:t>
            </a:r>
            <a:r>
              <a:rPr lang="en-US" sz="2800" dirty="0" err="1">
                <a:solidFill>
                  <a:srgbClr val="0066FF"/>
                </a:solidFill>
              </a:rPr>
              <a:t>hiện</a:t>
            </a:r>
            <a:r>
              <a:rPr lang="en-US" sz="2800" dirty="0">
                <a:solidFill>
                  <a:srgbClr val="0066FF"/>
                </a:solidFill>
              </a:rPr>
              <a:t> t</a:t>
            </a:r>
            <a:r>
              <a:rPr lang="vi-VN" sz="2800" dirty="0">
                <a:solidFill>
                  <a:srgbClr val="0066FF"/>
                </a:solidFill>
              </a:rPr>
              <a:t>ư</a:t>
            </a:r>
            <a:r>
              <a:rPr lang="en-US" sz="2800" dirty="0" err="1">
                <a:solidFill>
                  <a:srgbClr val="0066FF"/>
                </a:solidFill>
              </a:rPr>
              <a:t>ơng</a:t>
            </a:r>
            <a:r>
              <a:rPr lang="en-US" sz="2800" dirty="0">
                <a:solidFill>
                  <a:srgbClr val="0066FF"/>
                </a:solidFill>
              </a:rPr>
              <a:t> </a:t>
            </a:r>
            <a:r>
              <a:rPr lang="en-US" sz="2800" dirty="0" err="1">
                <a:solidFill>
                  <a:srgbClr val="0066FF"/>
                </a:solidFill>
              </a:rPr>
              <a:t>tự</a:t>
            </a:r>
            <a:r>
              <a:rPr lang="en-US" sz="2800" dirty="0">
                <a:solidFill>
                  <a:srgbClr val="0066FF"/>
                </a:solidFill>
              </a:rPr>
              <a:t> </a:t>
            </a:r>
            <a:r>
              <a:rPr lang="en-US" sz="2800" dirty="0" err="1">
                <a:solidFill>
                  <a:srgbClr val="0066FF"/>
                </a:solidFill>
              </a:rPr>
              <a:t>trực</a:t>
            </a:r>
            <a:r>
              <a:rPr lang="en-US" sz="2800" dirty="0">
                <a:solidFill>
                  <a:srgbClr val="0066FF"/>
                </a:solidFill>
              </a:rPr>
              <a:t> </a:t>
            </a:r>
            <a:r>
              <a:rPr lang="en-US" sz="2800" dirty="0" err="1">
                <a:solidFill>
                  <a:srgbClr val="0066FF"/>
                </a:solidFill>
              </a:rPr>
              <a:t>quan</a:t>
            </a:r>
            <a:r>
              <a:rPr lang="en-US" sz="2800" dirty="0">
                <a:solidFill>
                  <a:srgbClr val="0066FF"/>
                </a:solidFill>
              </a:rPr>
              <a:t> </a:t>
            </a:r>
            <a:r>
              <a:rPr lang="en-US" sz="2800" dirty="0" err="1">
                <a:solidFill>
                  <a:srgbClr val="0066FF"/>
                </a:solidFill>
              </a:rPr>
              <a:t>hóa</a:t>
            </a:r>
            <a:r>
              <a:rPr lang="en-US" sz="2800" dirty="0">
                <a:solidFill>
                  <a:srgbClr val="0066FF"/>
                </a:solidFill>
              </a:rPr>
              <a:t> </a:t>
            </a:r>
            <a:r>
              <a:rPr lang="en-US" sz="2800" dirty="0" err="1">
                <a:solidFill>
                  <a:srgbClr val="0066FF"/>
                </a:solidFill>
              </a:rPr>
              <a:t>kết</a:t>
            </a:r>
            <a:r>
              <a:rPr lang="en-US" sz="2800" dirty="0">
                <a:solidFill>
                  <a:srgbClr val="0066FF"/>
                </a:solidFill>
              </a:rPr>
              <a:t> </a:t>
            </a:r>
            <a:r>
              <a:rPr lang="en-US" sz="2800" dirty="0" err="1">
                <a:solidFill>
                  <a:srgbClr val="0066FF"/>
                </a:solidFill>
              </a:rPr>
              <a:t>quả</a:t>
            </a:r>
            <a:r>
              <a:rPr lang="en-US" sz="2800" dirty="0">
                <a:solidFill>
                  <a:srgbClr val="0066FF"/>
                </a:solidFill>
              </a:rPr>
              <a:t> </a:t>
            </a:r>
            <a:r>
              <a:rPr lang="en-US" sz="2800" dirty="0" err="1">
                <a:solidFill>
                  <a:srgbClr val="0066FF"/>
                </a:solidFill>
              </a:rPr>
              <a:t>mô</a:t>
            </a:r>
            <a:r>
              <a:rPr lang="en-US" sz="2800" dirty="0">
                <a:solidFill>
                  <a:srgbClr val="0066FF"/>
                </a:solidFill>
              </a:rPr>
              <a:t> </a:t>
            </a:r>
            <a:r>
              <a:rPr lang="en-US" sz="2800" dirty="0" err="1">
                <a:solidFill>
                  <a:srgbClr val="0066FF"/>
                </a:solidFill>
              </a:rPr>
              <a:t>hình</a:t>
            </a:r>
            <a:r>
              <a:rPr lang="en-US" sz="2800" dirty="0">
                <a:solidFill>
                  <a:srgbClr val="0066FF"/>
                </a:solidFill>
              </a:rPr>
              <a:t> </a:t>
            </a:r>
            <a:r>
              <a:rPr lang="en-US" sz="2800" dirty="0" err="1">
                <a:solidFill>
                  <a:srgbClr val="0066FF"/>
                </a:solidFill>
              </a:rPr>
              <a:t>trên</a:t>
            </a:r>
            <a:r>
              <a:rPr lang="en-US" sz="2800" dirty="0">
                <a:solidFill>
                  <a:srgbClr val="0066FF"/>
                </a:solidFill>
              </a:rPr>
              <a:t> </a:t>
            </a:r>
            <a:r>
              <a:rPr lang="en-US" sz="2800" dirty="0" err="1">
                <a:solidFill>
                  <a:srgbClr val="0066FF"/>
                </a:solidFill>
              </a:rPr>
              <a:t>tập</a:t>
            </a:r>
            <a:r>
              <a:rPr lang="en-US" sz="2800" dirty="0">
                <a:solidFill>
                  <a:srgbClr val="0066FF"/>
                </a:solidFill>
              </a:rPr>
              <a:t> </a:t>
            </a:r>
            <a:r>
              <a:rPr lang="en-US" sz="2800" dirty="0" err="1">
                <a:solidFill>
                  <a:srgbClr val="0066FF"/>
                </a:solidFill>
              </a:rPr>
              <a:t>traning</a:t>
            </a:r>
            <a:r>
              <a:rPr lang="en-US" sz="2800" dirty="0">
                <a:solidFill>
                  <a:srgbClr val="0066FF"/>
                </a:solidFill>
              </a:rPr>
              <a:t>.</a:t>
            </a:r>
          </a:p>
          <a:p>
            <a:pPr algn="just"/>
            <a:endParaRPr lang="en-US" sz="2800" dirty="0">
              <a:solidFill>
                <a:srgbClr val="000000"/>
              </a:solidFill>
              <a:latin typeface="Consolas" panose="020B0609020204030204" pitchFamily="49" charset="0"/>
            </a:endParaRPr>
          </a:p>
          <a:p>
            <a:pPr marL="457200" indent="-457200">
              <a:buFont typeface="+mj-lt"/>
              <a:buAutoNum type="arabicPeriod" startAt="42"/>
            </a:pPr>
            <a:r>
              <a:rPr lang="vi-VN" dirty="0" err="1">
                <a:solidFill>
                  <a:srgbClr val="000000"/>
                </a:solidFill>
                <a:latin typeface="Consolas" panose="020B0609020204030204" pitchFamily="49" charset="0"/>
              </a:rPr>
              <a:t>VisualizingResult(classifier, X_test)</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r>
              <a:rPr lang="vi-VN" dirty="0" err="1">
                <a:solidFill>
                  <a:srgbClr val="000000"/>
                </a:solidFill>
                <a:latin typeface="Consolas" panose="020B0609020204030204" pitchFamily="49" charset="0"/>
              </a:rPr>
              <a:t/>
            </a:r>
            <a:r>
              <a:rPr lang="vi-VN" dirty="0">
                <a:solidFill>
                  <a:srgbClr val="000000"/>
                </a:solidFill>
                <a:latin typeface="Consolas" panose="020B0609020204030204" pitchFamily="49" charset="0"/>
              </a:rPr>
              <a:t/>
            </a:r>
          </a:p>
          <a:p>
            <a:pPr marL="457200" indent="-457200">
              <a:buFont typeface="+mj-lt"/>
              <a:buAutoNum type="arabicPeriod" startAt="42"/>
            </a:pPr>
            <a:r>
              <a:rPr lang="en-US" dirty="0" err="1">
                <a:solidFill>
                  <a:srgbClr val="000000"/>
                </a:solidFill>
                <a:latin typeface="Consolas" panose="020B0609020204030204" pitchFamily="49" charset="0"/>
              </a:rPr>
              <a:t>VisualizingDataset(X_test, y_test)</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r>
              <a:rPr lang="en-US" dirty="0" err="1">
                <a:solidFill>
                  <a:srgbClr val="000000"/>
                </a:solidFill>
                <a:latin typeface="Consolas" panose="020B0609020204030204" pitchFamily="49" charset="0"/>
              </a:rPr>
              <a:t/>
            </a:r>
            <a:r>
              <a:rPr lang="en-US" dirty="0">
                <a:solidFill>
                  <a:srgbClr val="000000"/>
                </a:solidFill>
                <a:latin typeface="Consolas" panose="020B0609020204030204" pitchFamily="49" charset="0"/>
              </a:rPr>
              <a:t/>
            </a:r>
          </a:p>
          <a:p>
            <a:pPr marL="457200" indent="-457200">
              <a:buFont typeface="+mj-lt"/>
              <a:buAutoNum type="arabicPeriod" startAt="42"/>
            </a:pPr>
            <a:r>
              <a:rPr lang="vi-VN" dirty="0" err="1">
                <a:solidFill>
                  <a:srgbClr val="000000"/>
                </a:solidFill>
                <a:latin typeface="Consolas" panose="020B0609020204030204" pitchFamily="49" charset="0"/>
              </a:rPr>
              <a:t>plt.show</a:t>
            </a:r>
            <a:r>
              <a:rPr lang="vi-VN" dirty="0">
                <a:solidFill>
                  <a:srgbClr val="000000"/>
                </a:solidFill>
                <a:latin typeface="Consolas" panose="020B0609020204030204" pitchFamily="49" charset="0"/>
              </a:rPr>
              <a:t>()</a:t>
            </a:r>
            <a:endParaRPr lang="vi-VN" sz="3200" dirty="0">
              <a:latin typeface="Arial" panose="020B0604020202020204" pitchFamily="34" charset="0"/>
            </a:endParaRPr>
          </a:p>
        </p:txBody>
      </p:sp>
    </p:spTree>
    <p:extLst>
      <p:ext uri="{BB962C8B-B14F-4D97-AF65-F5344CB8AC3E}">
        <p14:creationId xmlns:p14="http://schemas.microsoft.com/office/powerpoint/2010/main" val="32554622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p:txBody>
          <a:bodyPr/>
          <a:lstStyle/>
          <a:p>
            <a:r>
              <a:rPr lang="vi-VN" dirty="0" err="1"/>
              <a:t>Kiểm</a:t>
            </a:r>
            <a:r>
              <a:rPr lang="vi-VN" dirty="0"/>
              <a:t> tra </a:t>
            </a:r>
            <a:r>
              <a:rPr lang="vi-VN" dirty="0" err="1"/>
              <a:t>kết</a:t>
            </a:r>
            <a:r>
              <a:rPr lang="vi-VN" dirty="0"/>
              <a:t> </a:t>
            </a:r>
            <a:r>
              <a:rPr lang="vi-VN" dirty="0" err="1"/>
              <a:t>quả</a:t>
            </a:r>
            <a:r>
              <a:rPr lang="vi-VN" dirty="0"/>
              <a:t> trên </a:t>
            </a:r>
            <a:r>
              <a:rPr lang="vi-VN" dirty="0" err="1"/>
              <a:t>tập</a:t>
            </a:r>
            <a:r>
              <a:rPr lang="vi-VN" dirty="0"/>
              <a:t> </a:t>
            </a:r>
            <a:r>
              <a:rPr lang="vi-VN" dirty="0" err="1"/>
              <a:t>test</a:t>
            </a:r>
            <a:endParaRPr lang="vi-VN" dirty="0"/>
          </a:p>
        </p:txBody>
      </p:sp>
      <p:pic>
        <p:nvPicPr>
          <p:cNvPr id="3" name="Content Placeholder 2">
            <a:extLst>
              <a:ext uri="{FF2B5EF4-FFF2-40B4-BE49-F238E27FC236}">
                <a16:creationId xmlns:a16="http://schemas.microsoft.com/office/drawing/2014/main" id="{387E1983-1234-46A5-AF0B-D01CE1C19BE3}"/>
              </a:ext>
            </a:extLst>
          </p:cNvPr>
          <p:cNvPicPr>
            <a:picLocks noGrp="1" noChangeAspect="1"/>
          </p:cNvPicPr>
          <p:nvPr>
            <p:ph idx="1"/>
          </p:nvPr>
        </p:nvPicPr>
        <p:blipFill>
          <a:blip r:embed="rId2"/>
          <a:stretch>
            <a:fillRect/>
          </a:stretch>
        </p:blipFill>
        <p:spPr>
          <a:xfrm>
            <a:off x="1447800" y="1743869"/>
            <a:ext cx="5857875" cy="4238625"/>
          </a:xfrm>
          <a:prstGeom prst="rect">
            <a:avLst/>
          </a:prstGeom>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215C8A79-F729-4F46-906F-CBB91B2DEC57}"/>
                  </a:ext>
                </a:extLst>
              </p:cNvPr>
              <p:cNvGraphicFramePr>
                <a:graphicFrameLocks noGrp="1"/>
              </p:cNvGraphicFramePr>
              <p:nvPr/>
            </p:nvGraphicFramePr>
            <p:xfrm>
              <a:off x="80010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43180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43180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5</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m:t>
                                </m:r>
                              </m:oMath>
                            </m:oMathPara>
                          </a14:m>
                          <a:endParaRPr lang="vi-VN" sz="2800" dirty="0"/>
                        </a:p>
                      </a:txBody>
                      <a:tcPr anchor="ctr"/>
                    </a:tc>
                    <a:extLst>
                      <a:ext uri="{0D108BD9-81ED-4DB2-BD59-A6C34878D82A}">
                        <a16:rowId xmlns:a16="http://schemas.microsoft.com/office/drawing/2014/main" val="3641710761"/>
                      </a:ext>
                    </a:extLst>
                  </a:tr>
                  <a:tr h="431800">
                    <a:tc>
                      <a:txBody>
                        <a:bodyPr/>
                        <a:lstStyle/>
                        <a:p>
                          <a:pPr algn="ctr"/>
                          <a:r>
                            <a:rPr lang="vi-VN" sz="2800" b="1" dirty="0">
                              <a:solidFill>
                                <a:schemeClr val="bg1"/>
                              </a:solidFill>
                            </a:rPr>
                            <a:t>1</a:t>
                          </a:r>
                        </a:p>
                      </a:txBody>
                      <a:tcPr anchor="ctr">
                        <a:solidFill>
                          <a:schemeClr val="accent2"/>
                        </a:solidFill>
                      </a:tcP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8</m:t>
                                </m:r>
                              </m:oMath>
                            </m:oMathPara>
                          </a14:m>
                          <a:endParaRPr lang="vi-VN" sz="2800" dirty="0"/>
                        </a:p>
                      </a:txBody>
                      <a:tcPr anchor="ctr"/>
                    </a:tc>
                    <a:extLst>
                      <a:ext uri="{0D108BD9-81ED-4DB2-BD59-A6C34878D82A}">
                        <a16:rowId xmlns:a16="http://schemas.microsoft.com/office/drawing/2014/main" val="2250376396"/>
                      </a:ext>
                    </a:extLst>
                  </a:tr>
                </a:tbl>
              </a:graphicData>
            </a:graphic>
          </p:graphicFrame>
        </mc:Choice>
        <mc:Fallback xmlns="">
          <p:graphicFrame>
            <p:nvGraphicFramePr>
              <p:cNvPr id="5" name="Table 4">
                <a:extLst>
                  <a:ext uri="{FF2B5EF4-FFF2-40B4-BE49-F238E27FC236}">
                    <a16:creationId xmlns:a16="http://schemas.microsoft.com/office/drawing/2014/main" id="{215C8A79-F729-4F46-906F-CBB91B2DEC57}"/>
                  </a:ext>
                </a:extLst>
              </p:cNvPr>
              <p:cNvGraphicFramePr>
                <a:graphicFrameLocks noGrp="1"/>
              </p:cNvGraphicFramePr>
              <p:nvPr>
                <p:extLst>
                  <p:ext uri="{D42A27DB-BD31-4B8C-83A1-F6EECF244321}">
                    <p14:modId xmlns:p14="http://schemas.microsoft.com/office/powerpoint/2010/main" val="4173451443"/>
                  </p:ext>
                </p:extLst>
              </p:nvPr>
            </p:nvGraphicFramePr>
            <p:xfrm>
              <a:off x="8001000" y="2308702"/>
              <a:ext cx="3276600" cy="1554480"/>
            </p:xfrm>
            <a:graphic>
              <a:graphicData uri="http://schemas.openxmlformats.org/drawingml/2006/table">
                <a:tbl>
                  <a:tblPr firstRow="1" bandRow="1">
                    <a:tableStyleId>{21E4AEA4-8DFA-4A89-87EB-49C32662AFE0}</a:tableStyleId>
                  </a:tblPr>
                  <a:tblGrid>
                    <a:gridCol w="1092200">
                      <a:extLst>
                        <a:ext uri="{9D8B030D-6E8A-4147-A177-3AD203B41FA5}">
                          <a16:colId xmlns:a16="http://schemas.microsoft.com/office/drawing/2014/main" val="4171667629"/>
                        </a:ext>
                      </a:extLst>
                    </a:gridCol>
                    <a:gridCol w="1092200">
                      <a:extLst>
                        <a:ext uri="{9D8B030D-6E8A-4147-A177-3AD203B41FA5}">
                          <a16:colId xmlns:a16="http://schemas.microsoft.com/office/drawing/2014/main" val="523946260"/>
                        </a:ext>
                      </a:extLst>
                    </a:gridCol>
                    <a:gridCol w="1092200">
                      <a:extLst>
                        <a:ext uri="{9D8B030D-6E8A-4147-A177-3AD203B41FA5}">
                          <a16:colId xmlns:a16="http://schemas.microsoft.com/office/drawing/2014/main" val="1766665144"/>
                        </a:ext>
                      </a:extLst>
                    </a:gridCol>
                  </a:tblGrid>
                  <a:tr h="518160">
                    <a:tc>
                      <a:txBody>
                        <a:bodyPr/>
                        <a:lstStyle/>
                        <a:p>
                          <a:pPr algn="ctr"/>
                          <a:endParaRPr lang="vi-VN" sz="2800" dirty="0">
                            <a:solidFill>
                              <a:schemeClr val="bg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vi-VN" sz="2800" dirty="0"/>
                            <a:t>0</a:t>
                          </a:r>
                        </a:p>
                      </a:txBody>
                      <a:tcPr anchor="ctr">
                        <a:lnL w="12700" cmpd="sng">
                          <a:noFill/>
                        </a:lnL>
                      </a:tcPr>
                    </a:tc>
                    <a:tc>
                      <a:txBody>
                        <a:bodyPr/>
                        <a:lstStyle/>
                        <a:p>
                          <a:pPr algn="ctr"/>
                          <a:r>
                            <a:rPr lang="vi-VN" sz="2800" dirty="0"/>
                            <a:t>1</a:t>
                          </a:r>
                        </a:p>
                      </a:txBody>
                      <a:tcPr anchor="ctr"/>
                    </a:tc>
                    <a:extLst>
                      <a:ext uri="{0D108BD9-81ED-4DB2-BD59-A6C34878D82A}">
                        <a16:rowId xmlns:a16="http://schemas.microsoft.com/office/drawing/2014/main" val="3216580"/>
                      </a:ext>
                    </a:extLst>
                  </a:tr>
                  <a:tr h="518160">
                    <a:tc>
                      <a:txBody>
                        <a:bodyPr/>
                        <a:lstStyle/>
                        <a:p>
                          <a:pPr algn="ctr"/>
                          <a:r>
                            <a:rPr lang="vi-VN" sz="2800" b="1" dirty="0">
                              <a:solidFill>
                                <a:schemeClr val="bg1"/>
                              </a:solidFill>
                            </a:rPr>
                            <a:t>0</a:t>
                          </a:r>
                        </a:p>
                      </a:txBody>
                      <a:tcPr anchor="ctr">
                        <a:lnT w="38100" cmpd="sng">
                          <a:noFill/>
                        </a:lnT>
                        <a:solidFill>
                          <a:schemeClr val="accent2"/>
                        </a:solidFill>
                      </a:tcPr>
                    </a:tc>
                    <a:tc>
                      <a:txBody>
                        <a:bodyPr/>
                        <a:lstStyle/>
                        <a:p>
                          <a:endParaRPr lang="vi-VN"/>
                        </a:p>
                      </a:txBody>
                      <a:tcPr anchor="ctr">
                        <a:blipFill>
                          <a:blip r:embed="rId3"/>
                          <a:stretch>
                            <a:fillRect l="-100000" t="-110465" r="-102222" b="-131395"/>
                          </a:stretch>
                        </a:blipFill>
                      </a:tcPr>
                    </a:tc>
                    <a:tc>
                      <a:txBody>
                        <a:bodyPr/>
                        <a:lstStyle/>
                        <a:p>
                          <a:endParaRPr lang="vi-VN"/>
                        </a:p>
                      </a:txBody>
                      <a:tcPr anchor="ctr">
                        <a:blipFill>
                          <a:blip r:embed="rId3"/>
                          <a:stretch>
                            <a:fillRect l="-201117" t="-110465" r="-2793" b="-131395"/>
                          </a:stretch>
                        </a:blipFill>
                      </a:tcPr>
                    </a:tc>
                    <a:extLst>
                      <a:ext uri="{0D108BD9-81ED-4DB2-BD59-A6C34878D82A}">
                        <a16:rowId xmlns:a16="http://schemas.microsoft.com/office/drawing/2014/main" val="3641710761"/>
                      </a:ext>
                    </a:extLst>
                  </a:tr>
                  <a:tr h="518160">
                    <a:tc>
                      <a:txBody>
                        <a:bodyPr/>
                        <a:lstStyle/>
                        <a:p>
                          <a:pPr algn="ctr"/>
                          <a:r>
                            <a:rPr lang="vi-VN" sz="2800" b="1" dirty="0">
                              <a:solidFill>
                                <a:schemeClr val="bg1"/>
                              </a:solidFill>
                            </a:rPr>
                            <a:t>1</a:t>
                          </a:r>
                        </a:p>
                      </a:txBody>
                      <a:tcPr anchor="ctr">
                        <a:solidFill>
                          <a:schemeClr val="accent2"/>
                        </a:solidFill>
                      </a:tcPr>
                    </a:tc>
                    <a:tc>
                      <a:txBody>
                        <a:bodyPr/>
                        <a:lstStyle/>
                        <a:p>
                          <a:endParaRPr lang="vi-VN"/>
                        </a:p>
                      </a:txBody>
                      <a:tcPr anchor="ctr">
                        <a:blipFill>
                          <a:blip r:embed="rId3"/>
                          <a:stretch>
                            <a:fillRect l="-100000" t="-212941" r="-102222" b="-32941"/>
                          </a:stretch>
                        </a:blipFill>
                      </a:tcPr>
                    </a:tc>
                    <a:tc>
                      <a:txBody>
                        <a:bodyPr/>
                        <a:lstStyle/>
                        <a:p>
                          <a:endParaRPr lang="vi-VN"/>
                        </a:p>
                      </a:txBody>
                      <a:tcPr anchor="ctr">
                        <a:blipFill>
                          <a:blip r:embed="rId3"/>
                          <a:stretch>
                            <a:fillRect l="-201117" t="-212941" r="-2793" b="-32941"/>
                          </a:stretch>
                        </a:blipFill>
                      </a:tcPr>
                    </a:tc>
                    <a:extLst>
                      <a:ext uri="{0D108BD9-81ED-4DB2-BD59-A6C34878D82A}">
                        <a16:rowId xmlns:a16="http://schemas.microsoft.com/office/drawing/2014/main" val="2250376396"/>
                      </a:ext>
                    </a:extLst>
                  </a:tr>
                </a:tbl>
              </a:graphicData>
            </a:graphic>
          </p:graphicFrame>
        </mc:Fallback>
      </mc:AlternateContent>
    </p:spTree>
    <p:extLst>
      <p:ext uri="{BB962C8B-B14F-4D97-AF65-F5344CB8AC3E}">
        <p14:creationId xmlns:p14="http://schemas.microsoft.com/office/powerpoint/2010/main" val="429281924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wrap="square">
            <a:normAutofit/>
          </a:bodyPr>
          <a:lstStyle/>
          <a:p>
            <a:pPr eaLnBrk="1" hangingPunct="1">
              <a:lnSpc>
                <a:spcPct val="90000"/>
              </a:lnSpc>
              <a:defRPr sz="2800" b="1">
                <a:solidFill>
                  <a:srgbClr val="002060"/>
                </a:solidFill>
                <a:latin typeface="Calibri"/>
              </a:defRPr>
            </a:pPr>
            <a:r>
              <a:t>Kiểm tra kết quả: Giả Định Độc Lập 'Ngây Thơ' &amp; Câu Hỏi Thảo Luận</a:t>
            </a:r>
          </a:p>
        </p:txBody>
      </p:sp>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1. Tại sao thuật toán lại được gọi là 'Naive' (Ngây thơ)?</a:t>
            </a:r>
          </a:p>
          <a:p>
            <a:pPr>
              <a:spcAft>
                <a:spcPts val="300"/>
              </a:spcAft>
              <a:defRPr sz="1500" b="0">
                <a:solidFill>
                  <a:srgbClr val="282828"/>
                </a:solidFill>
                <a:latin typeface="Calibri"/>
              </a:defRPr>
            </a:pPr>
            <a:r>
              <a:t>• Giả định cốt lõi: Mọi đặc trưng đều độc lập có điều kiện với nhau khi biết nhãn lớp:</a:t>
            </a:r>
          </a:p>
          <a:p>
            <a:pPr>
              <a:spcAft>
                <a:spcPts val="200"/>
              </a:spcAft>
              <a:defRPr sz="1300" b="0">
                <a:solidFill>
                  <a:srgbClr val="004696"/>
                </a:solidFill>
                <a:latin typeface="Consolas"/>
              </a:defRPr>
            </a:pPr>
            <a:r>
              <a:t>    P(x_1, x_2 | y) = P(x_1 | y) * P(x_2 | y)</a:t>
            </a:r>
          </a:p>
          <a:p>
            <a:pPr>
              <a:spcAft>
                <a:spcPts val="300"/>
              </a:spcAft>
              <a:defRPr sz="1500" b="1">
                <a:solidFill>
                  <a:srgbClr val="282828"/>
                </a:solidFill>
                <a:latin typeface="Calibri"/>
              </a:defRPr>
            </a:pPr>
            <a:r>
              <a:t>• Trong thực tế, Tuổi tác và Mức lương có tương quan với nhau, nhưng Naive Bayes vẫn hoạt động cực kỳ hiệu quả!</a:t>
            </a:r>
          </a:p>
          <a:p>
            <a:pPr>
              <a:spcBef>
                <a:spcPts val="600"/>
              </a:spcBef>
              <a:spcAft>
                <a:spcPts val="400"/>
              </a:spcAft>
              <a:defRPr sz="1700" b="1">
                <a:solidFill>
                  <a:srgbClr val="003366"/>
                </a:solidFill>
                <a:latin typeface="Calibri"/>
              </a:defRPr>
            </a:pPr>
            <a:r>
              <a:t>2. Câu hỏi tư duy dành cho học viên:</a:t>
            </a:r>
          </a:p>
          <a:p>
            <a:pPr>
              <a:spcAft>
                <a:spcPts val="300"/>
              </a:spcAft>
              <a:defRPr sz="1500" b="0">
                <a:solidFill>
                  <a:srgbClr val="282828"/>
                </a:solidFill>
                <a:latin typeface="Calibri"/>
              </a:defRPr>
            </a:pPr>
            <a:r>
              <a:t>• Ưu thế tuyệt đối của Naive Bayes so với các mô hình phức tạp (như SVM hay Deep Learning) khi xử lý bài toán Phân loại Văn bản (Spam Filtering) là gì?</a:t>
            </a:r>
          </a:p>
        </p:txBody>
      </p:sp>
    </p:spTree>
    <p:extLst>
      <p:ext uri="{BB962C8B-B14F-4D97-AF65-F5344CB8AC3E}">
        <p14:creationId xmlns:p14="http://schemas.microsoft.com/office/powerpoint/2010/main" val="230303521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D4540C1-FAA8-42E9-B0B2-2EFA782BCA41}"/>
                  </a:ext>
                </a:extLst>
              </p:cNvPr>
              <p:cNvSpPr>
                <a:spLocks noGrp="1"/>
              </p:cNvSpPr>
              <p:nvPr>
                <p:ph idx="1"/>
              </p:nvPr>
            </p:nvSpPr>
            <p:spPr/>
            <p:txBody>
              <a:bodyPr/>
              <a:lstStyle/>
              <a:p>
                <a:pPr algn="just"/>
                <a:r>
                  <a:rPr lang="vi-VN" sz="2800" dirty="0" err="1">
                    <a:solidFill>
                      <a:srgbClr val="0066FF"/>
                    </a:solidFill>
                  </a:rPr>
                  <a:t>Gọi</a:t>
                </a:r>
                <a:r>
                  <a:rPr lang="vi-VN" sz="2800" dirty="0">
                    <a:solidFill>
                      <a:srgbClr val="0066FF"/>
                    </a:solidFill>
                  </a:rPr>
                  <a:t> </a:t>
                </a:r>
                <a:r>
                  <a:rPr lang="vi-VN" sz="2800" dirty="0" err="1">
                    <a:solidFill>
                      <a:srgbClr val="0066FF"/>
                    </a:solidFill>
                  </a:rPr>
                  <a:t>thực</a:t>
                </a:r>
                <a:r>
                  <a:rPr lang="vi-VN" sz="2800" dirty="0">
                    <a:solidFill>
                      <a:srgbClr val="0066FF"/>
                    </a:solidFill>
                  </a:rPr>
                  <a:t> </a:t>
                </a:r>
                <a:r>
                  <a:rPr lang="vi-VN" sz="2800" dirty="0" err="1">
                    <a:solidFill>
                      <a:srgbClr val="0066FF"/>
                    </a:solidFill>
                  </a:rPr>
                  <a:t>hiện</a:t>
                </a:r>
                <a:r>
                  <a:rPr lang="vi-VN" sz="2800" dirty="0">
                    <a:solidFill>
                      <a:srgbClr val="0066FF"/>
                    </a:solidFill>
                  </a:rPr>
                  <a:t> </a:t>
                </a:r>
                <a:r>
                  <a:rPr lang="vi-VN" sz="2800" dirty="0" err="1">
                    <a:solidFill>
                      <a:srgbClr val="0066FF"/>
                    </a:solidFill>
                  </a:rPr>
                  <a:t>hàm</a:t>
                </a:r>
                <a:r>
                  <a:rPr lang="vi-VN" sz="2800" dirty="0">
                    <a:solidFill>
                      <a:srgbClr val="0066FF"/>
                    </a:solidFill>
                  </a:rPr>
                  <a:t> so </a:t>
                </a:r>
                <a:r>
                  <a:rPr lang="vi-VN" sz="2800" dirty="0" err="1">
                    <a:solidFill>
                      <a:srgbClr val="0066FF"/>
                    </a:solidFill>
                  </a:rPr>
                  <a:t>sánh</a:t>
                </a:r>
                <a:r>
                  <a:rPr lang="vi-VN" sz="2800" dirty="0">
                    <a:solidFill>
                      <a:srgbClr val="0066FF"/>
                    </a:solidFill>
                  </a:rPr>
                  <a:t> trên </a:t>
                </a:r>
                <a14:m>
                  <m:oMath xmlns:m="http://schemas.openxmlformats.org/officeDocument/2006/math">
                    <m:r>
                      <a:rPr lang="vi-VN" sz="2800" i="1" dirty="0" smtClean="0">
                        <a:solidFill>
                          <a:srgbClr val="0066FF"/>
                        </a:solidFill>
                        <a:latin typeface="Cambria Math" panose="02040503050406030204" pitchFamily="18" charset="0"/>
                      </a:rPr>
                      <m:t>5</m:t>
                    </m:r>
                  </m:oMath>
                </a14:m>
                <a:r>
                  <a:rPr lang="vi-VN" sz="2800" dirty="0">
                    <a:solidFill>
                      <a:srgbClr val="0066FF"/>
                    </a:solidFill>
                  </a:rPr>
                  <a:t> </a:t>
                </a:r>
                <a:r>
                  <a:rPr lang="vi-VN" sz="2800" dirty="0" err="1">
                    <a:solidFill>
                      <a:srgbClr val="0066FF"/>
                    </a:solidFill>
                  </a:rPr>
                  <a:t>điểm</a:t>
                </a:r>
                <a:r>
                  <a:rPr lang="vi-VN" sz="2800" dirty="0">
                    <a:solidFill>
                      <a:srgbClr val="0066FF"/>
                    </a:solidFill>
                  </a:rPr>
                  <a:t> </a:t>
                </a:r>
                <a:r>
                  <a:rPr lang="vi-VN" sz="2800" dirty="0" err="1">
                    <a:solidFill>
                      <a:srgbClr val="0066FF"/>
                    </a:solidFill>
                  </a:rPr>
                  <a:t>dữ</a:t>
                </a:r>
                <a:r>
                  <a:rPr lang="vi-VN" sz="2800" dirty="0">
                    <a:solidFill>
                      <a:srgbClr val="0066FF"/>
                    </a:solidFill>
                  </a:rPr>
                  <a:t> </a:t>
                </a:r>
                <a:r>
                  <a:rPr lang="vi-VN" sz="2800" dirty="0" err="1">
                    <a:solidFill>
                      <a:srgbClr val="0066FF"/>
                    </a:solidFill>
                  </a:rPr>
                  <a:t>liệu</a:t>
                </a:r>
                <a:r>
                  <a:rPr lang="vi-VN" sz="2800" dirty="0">
                    <a:solidFill>
                      <a:srgbClr val="0066FF"/>
                    </a:solidFill>
                  </a:rPr>
                  <a:t>, </a:t>
                </a:r>
                <a:r>
                  <a:rPr lang="vi-VN" sz="2800" dirty="0" err="1">
                    <a:solidFill>
                      <a:srgbClr val="0066FF"/>
                    </a:solidFill>
                  </a:rPr>
                  <a:t>có</a:t>
                </a:r>
                <a:r>
                  <a:rPr lang="vi-VN" sz="2800" dirty="0">
                    <a:solidFill>
                      <a:srgbClr val="0066FF"/>
                    </a:solidFill>
                  </a:rPr>
                  <a:t> </a:t>
                </a:r>
                <a:r>
                  <a:rPr lang="vi-VN" sz="2800" dirty="0" err="1">
                    <a:solidFill>
                      <a:srgbClr val="0066FF"/>
                    </a:solidFill>
                  </a:rPr>
                  <a:t>chỉ</a:t>
                </a:r>
                <a:r>
                  <a:rPr lang="vi-VN" sz="2800" dirty="0">
                    <a:solidFill>
                      <a:srgbClr val="0066FF"/>
                    </a:solidFill>
                  </a:rPr>
                  <a:t> </a:t>
                </a:r>
                <a:r>
                  <a:rPr lang="vi-VN" sz="2800" dirty="0" err="1">
                    <a:solidFill>
                      <a:srgbClr val="0066FF"/>
                    </a:solidFill>
                  </a:rPr>
                  <a:t>mục</a:t>
                </a:r>
                <a:r>
                  <a:rPr lang="vi-VN" sz="2800" dirty="0">
                    <a:solidFill>
                      <a:srgbClr val="0066FF"/>
                    </a:solidFill>
                  </a:rPr>
                  <a:t> </a:t>
                </a:r>
                <a:r>
                  <a:rPr lang="vi-VN" sz="2800" dirty="0" err="1">
                    <a:solidFill>
                      <a:srgbClr val="0066FF"/>
                    </a:solidFill>
                  </a:rPr>
                  <a:t>từ</a:t>
                </a:r>
                <a:r>
                  <a:rPr lang="vi-VN" sz="2800" dirty="0">
                    <a:solidFill>
                      <a:srgbClr val="0066FF"/>
                    </a:solidFill>
                  </a:rPr>
                  <a:t> </a:t>
                </a:r>
                <a:r>
                  <a:rPr lang="vi-VN" sz="2800" dirty="0" err="1">
                    <a:solidFill>
                      <a:srgbClr val="0066FF"/>
                    </a:solidFill>
                  </a:rPr>
                  <a:t>thứ</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7</m:t>
                    </m:r>
                  </m:oMath>
                </a14:m>
                <a:r>
                  <a:rPr lang="vi-VN" sz="2800" dirty="0">
                    <a:solidFill>
                      <a:srgbClr val="0066FF"/>
                    </a:solidFill>
                  </a:rPr>
                  <a:t> </a:t>
                </a:r>
                <a:r>
                  <a:rPr lang="vi-VN" sz="2800" dirty="0" err="1">
                    <a:solidFill>
                      <a:srgbClr val="0066FF"/>
                    </a:solidFill>
                  </a:rPr>
                  <a:t>đến</a:t>
                </a:r>
                <a:r>
                  <a:rPr lang="vi-VN" sz="2800" dirty="0">
                    <a:solidFill>
                      <a:srgbClr val="0066FF"/>
                    </a:solidFill>
                  </a:rPr>
                  <a:t> </a:t>
                </a:r>
                <a14:m>
                  <m:oMath xmlns:m="http://schemas.openxmlformats.org/officeDocument/2006/math">
                    <m:r>
                      <a:rPr lang="vi-VN" sz="2800" i="1" dirty="0" smtClean="0">
                        <a:solidFill>
                          <a:srgbClr val="0066FF"/>
                        </a:solidFill>
                        <a:latin typeface="Cambria Math" panose="02040503050406030204" pitchFamily="18" charset="0"/>
                      </a:rPr>
                      <m:t>11</m:t>
                    </m:r>
                  </m:oMath>
                </a14:m>
                <a:r>
                  <a:rPr lang="vi-VN" sz="2800" dirty="0">
                    <a:solidFill>
                      <a:srgbClr val="0066FF"/>
                    </a:solidFill>
                  </a:rPr>
                  <a:t> trong </a:t>
                </a:r>
                <a:r>
                  <a:rPr lang="vi-VN" sz="2800" dirty="0" err="1">
                    <a:solidFill>
                      <a:srgbClr val="0066FF"/>
                    </a:solidFill>
                  </a:rPr>
                  <a:t>tập</a:t>
                </a:r>
                <a:r>
                  <a:rPr lang="vi-VN" sz="2800" dirty="0">
                    <a:solidFill>
                      <a:srgbClr val="0066FF"/>
                    </a:solidFill>
                  </a:rPr>
                  <a:t> </a:t>
                </a:r>
                <a:r>
                  <a:rPr lang="vi-VN" sz="2800" dirty="0" err="1">
                    <a:solidFill>
                      <a:srgbClr val="0066FF"/>
                    </a:solidFill>
                  </a:rPr>
                  <a:t>kiểm</a:t>
                </a:r>
                <a:r>
                  <a:rPr lang="vi-VN" sz="2800" dirty="0">
                    <a:solidFill>
                      <a:srgbClr val="0066FF"/>
                    </a:solidFill>
                  </a:rPr>
                  <a:t> </a:t>
                </a:r>
                <a:r>
                  <a:rPr lang="vi-VN" sz="2800" dirty="0" err="1">
                    <a:solidFill>
                      <a:srgbClr val="0066FF"/>
                    </a:solidFill>
                  </a:rPr>
                  <a:t>thử</a:t>
                </a:r>
                <a:r>
                  <a:rPr lang="vi-VN" sz="2800" dirty="0">
                    <a:solidFill>
                      <a:srgbClr val="0066FF"/>
                    </a:solidFill>
                  </a:rPr>
                  <a:t>.</a:t>
                </a:r>
              </a:p>
              <a:p>
                <a:pPr algn="just"/>
                <a:endParaRPr lang="vi-VN" sz="2800" dirty="0">
                  <a:solidFill>
                    <a:srgbClr val="0066FF"/>
                  </a:solidFill>
                </a:endParaRPr>
              </a:p>
              <a:p>
                <a:endParaRPr lang="vi-VN" sz="2800" dirty="0">
                  <a:solidFill>
                    <a:srgbClr val="000000"/>
                  </a:solidFill>
                  <a:latin typeface="Consolas" panose="020B0609020204030204" pitchFamily="49" charset="0"/>
                </a:endParaRPr>
              </a:p>
              <a:p>
                <a:pPr marL="514350" indent="-514350">
                  <a:buFont typeface="+mj-lt"/>
                  <a:buAutoNum type="arabicPeriod" startAt="51"/>
                </a:pPr>
                <a:r>
                  <a:rPr lang="en-US" dirty="0">
                    <a:solidFill>
                      <a:srgbClr val="AF00DB"/>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a:t>
                </a:r>
                <a:r>
                  <a:rPr lang="en-US" dirty="0">
                    <a:solidFill>
                      <a:srgbClr val="000000"/>
                    </a:solidFill>
                    <a:latin typeface="Consolas" panose="020B0609020204030204" pitchFamily="49" charset="0"/>
                  </a:rPr>
                  <a:t> </a:t>
                </a:r>
                <a:r>
                  <a:rPr lang="en-US" dirty="0">
                    <a:solidFill>
                      <a:srgbClr val="795E26"/>
                    </a:solidFill>
                    <a:latin typeface="Consolas" panose="020B0609020204030204" pitchFamily="49" charset="0"/>
                  </a:rPr>
                  <a:t>range</a:t>
                </a:r>
                <a:r>
                  <a:rPr lang="en-US" dirty="0">
                    <a:solidFill>
                      <a:srgbClr val="000000"/>
                    </a:solidFill>
                    <a:latin typeface="Consolas" panose="020B0609020204030204" pitchFamily="49" charset="0"/>
                  </a:rPr>
                  <a:t>(</a:t>
                </a:r>
                <a:r>
                  <a:rPr lang="en-US" dirty="0">
                    <a:solidFill>
                      <a:srgbClr val="09885A"/>
                    </a:solidFill>
                    <a:latin typeface="Consolas" panose="020B0609020204030204" pitchFamily="49" charset="0"/>
                  </a:rPr>
                  <a:t>7</a:t>
                </a:r>
                <a:r>
                  <a:rPr lang="en-US" dirty="0">
                    <a:solidFill>
                      <a:srgbClr val="000000"/>
                    </a:solidFill>
                    <a:latin typeface="Consolas" panose="020B0609020204030204" pitchFamily="49" charset="0"/>
                  </a:rPr>
                  <a:t>, </a:t>
                </a:r>
                <a:r>
                  <a:rPr lang="en-US" dirty="0">
                    <a:solidFill>
                      <a:srgbClr val="09885A"/>
                    </a:solidFill>
                    <a:latin typeface="Consolas" panose="020B0609020204030204" pitchFamily="49" charset="0"/>
                  </a:rPr>
                  <a:t>12</a:t>
                </a:r>
                <a:r>
                  <a:rPr lang="en-US" dirty="0">
                    <a:solidFill>
                      <a:srgbClr val="000000"/>
                    </a:solidFill>
                    <a:latin typeface="Consolas" panose="020B0609020204030204" pitchFamily="49" charset="0"/>
                  </a:rPr>
                  <a:t>):</a:t>
                </a:r>
              </a:p>
              <a:p>
                <a:pPr marL="514350" indent="-514350">
                  <a:buFont typeface="+mj-lt"/>
                  <a:buAutoNum type="arabicPeriod" startAt="51"/>
                </a:pPr>
                <a:r>
                  <a:rPr lang="vi-VN" dirty="0">
                    <a:solidFill>
                      <a:srgbClr val="000000"/>
                    </a:solidFill>
                    <a:latin typeface="Consolas" panose="020B0609020204030204" pitchFamily="49" charset="0"/>
                  </a:rPr>
                  <a:t>    </a:t>
                </a:r>
                <a:r>
                  <a:rPr lang="vi-VN" dirty="0" err="1">
                    <a:solidFill>
                      <a:srgbClr val="000000"/>
                    </a:solidFill>
                    <a:latin typeface="Consolas" panose="020B0609020204030204" pitchFamily="49" charset="0"/>
                  </a:rPr>
                  <a:t>compare</a:t>
                </a:r>
                <a:r>
                  <a:rPr lang="vi-VN" dirty="0">
                    <a:solidFill>
                      <a:srgbClr val="000000"/>
                    </a:solidFill>
                    <a:latin typeface="Consolas" panose="020B0609020204030204" pitchFamily="49" charset="0"/>
                  </a:rPr>
                  <a:t>(i)</a:t>
                </a:r>
              </a:p>
            </p:txBody>
          </p:sp>
        </mc:Choice>
        <mc:Fallback xmlns="">
          <p:sp>
            <p:nvSpPr>
              <p:cNvPr id="2" name="Content Placeholder 1">
                <a:extLst>
                  <a:ext uri="{FF2B5EF4-FFF2-40B4-BE49-F238E27FC236}">
                    <a16:creationId xmlns:a16="http://schemas.microsoft.com/office/drawing/2014/main" id="{AD4540C1-FAA8-42E9-B0B2-2EFA782BCA41}"/>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vi-VN">
                    <a:noFill/>
                  </a:rPr>
                  <a:t> </a:t>
                </a:r>
              </a:p>
            </p:txBody>
          </p:sp>
        </mc:Fallback>
      </mc:AlternateContent>
    </p:spTree>
    <p:extLst>
      <p:ext uri="{BB962C8B-B14F-4D97-AF65-F5344CB8AC3E}">
        <p14:creationId xmlns:p14="http://schemas.microsoft.com/office/powerpoint/2010/main" val="298059122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87E84A-3B19-4FF8-969F-5C38D9EFB492}"/>
              </a:ext>
            </a:extLst>
          </p:cNvPr>
          <p:cNvSpPr>
            <a:spLocks noGrp="1"/>
          </p:cNvSpPr>
          <p:nvPr>
            <p:ph type="title"/>
          </p:nvPr>
        </p:nvSpPr>
        <p:spPr>
          <a:xfrm>
            <a:off x="838199" y="291090"/>
            <a:ext cx="10515599" cy="932688"/>
          </a:xfrm>
        </p:spPr>
        <p:txBody>
          <a:bodyPr vert="horz" lIns="91440" tIns="45720" rIns="91440" bIns="45720" rtlCol="0" anchor="b">
            <a:normAutofit/>
          </a:bodyPr>
          <a:lstStyle/>
          <a:p>
            <a:pPr eaLnBrk="1" hangingPunct="1">
              <a:lnSpc>
                <a:spcPct val="90000"/>
              </a:lnSpc>
            </a:pPr>
            <a:r>
              <a:rPr lang="en-US" sz="4800" kern="1200" dirty="0" err="1">
                <a:latin typeface="+mj-lt"/>
                <a:ea typeface="+mj-ea"/>
                <a:cs typeface="+mj-cs"/>
              </a:rPr>
              <a:t>Kiểm</a:t>
            </a:r>
            <a:r>
              <a:rPr lang="en-US" sz="4800" kern="1200" dirty="0">
                <a:latin typeface="+mj-lt"/>
                <a:ea typeface="+mj-ea"/>
                <a:cs typeface="+mj-cs"/>
              </a:rPr>
              <a:t> </a:t>
            </a:r>
            <a:r>
              <a:rPr lang="en-US" sz="4800" kern="1200" dirty="0" err="1">
                <a:latin typeface="+mj-lt"/>
                <a:ea typeface="+mj-ea"/>
                <a:cs typeface="+mj-cs"/>
              </a:rPr>
              <a:t>tra</a:t>
            </a:r>
            <a:r>
              <a:rPr lang="en-US" sz="4800" kern="1200" dirty="0">
                <a:latin typeface="+mj-lt"/>
                <a:ea typeface="+mj-ea"/>
                <a:cs typeface="+mj-cs"/>
              </a:rPr>
              <a:t> </a:t>
            </a:r>
            <a:r>
              <a:rPr lang="en-US" sz="4800" kern="1200" dirty="0" err="1">
                <a:latin typeface="+mj-lt"/>
                <a:ea typeface="+mj-ea"/>
                <a:cs typeface="+mj-cs"/>
              </a:rPr>
              <a:t>kết</a:t>
            </a:r>
            <a:r>
              <a:rPr lang="en-US" sz="4800" kern="1200" dirty="0">
                <a:latin typeface="+mj-lt"/>
                <a:ea typeface="+mj-ea"/>
                <a:cs typeface="+mj-cs"/>
              </a:rPr>
              <a:t> </a:t>
            </a:r>
            <a:r>
              <a:rPr lang="en-US" sz="4800" kern="1200" dirty="0" err="1">
                <a:latin typeface="+mj-lt"/>
                <a:ea typeface="+mj-ea"/>
                <a:cs typeface="+mj-cs"/>
              </a:rPr>
              <a:t>quả</a:t>
            </a:r>
            <a:r>
              <a:rPr lang="en-US" sz="4800" kern="1200" dirty="0">
                <a:latin typeface="+mj-lt"/>
                <a:ea typeface="+mj-ea"/>
                <a:cs typeface="+mj-cs"/>
              </a:rPr>
              <a:t> </a:t>
            </a:r>
            <a:r>
              <a:rPr lang="en-US" sz="4800" kern="1200" dirty="0" err="1">
                <a:latin typeface="+mj-lt"/>
                <a:ea typeface="+mj-ea"/>
                <a:cs typeface="+mj-cs"/>
              </a:rPr>
              <a:t>trên</a:t>
            </a:r>
            <a:r>
              <a:rPr lang="en-US" sz="4800" kern="1200" dirty="0">
                <a:latin typeface="+mj-lt"/>
                <a:ea typeface="+mj-ea"/>
                <a:cs typeface="+mj-cs"/>
              </a:rPr>
              <a:t> </a:t>
            </a:r>
            <a:r>
              <a:rPr lang="en-US" sz="4800" kern="1200" dirty="0" err="1">
                <a:latin typeface="+mj-lt"/>
                <a:ea typeface="+mj-ea"/>
                <a:cs typeface="+mj-cs"/>
              </a:rPr>
              <a:t>tập</a:t>
            </a:r>
            <a:r>
              <a:rPr lang="en-US" sz="4800" kern="1200" dirty="0">
                <a:latin typeface="+mj-lt"/>
                <a:ea typeface="+mj-ea"/>
                <a:cs typeface="+mj-cs"/>
              </a:rPr>
              <a:t> test</a:t>
            </a:r>
          </a:p>
        </p:txBody>
      </p:sp>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nvPr>
            </p:nvGraphicFramePr>
            <p:xfrm>
              <a:off x="1676398" y="166116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37084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dirty="0" smtClean="0">
                                    <a:latin typeface="Cambria Math" panose="02040503050406030204" pitchFamily="18" charset="0"/>
                                  </a:rPr>
                                  <m:t>36</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r>
                                  <a:rPr lang="vi-VN" sz="2800" b="0" i="1" dirty="0" smtClean="0">
                                    <a:latin typeface="Cambria Math" panose="02040503050406030204" pitchFamily="18" charset="0"/>
                                  </a:rPr>
                                  <m:t>44</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solidFill>
                          <a:srgbClr val="FFC000"/>
                        </a:solidFill>
                      </a:tcPr>
                    </a:tc>
                    <a:extLst>
                      <a:ext uri="{0D108BD9-81ED-4DB2-BD59-A6C34878D82A}">
                        <a16:rowId xmlns:a16="http://schemas.microsoft.com/office/drawing/2014/main" val="2485347973"/>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18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6</m:t>
                                </m:r>
                                <m:r>
                                  <a:rPr lang="vi-VN" sz="2800" b="0" i="1" dirty="0" smtClean="0">
                                    <a:latin typeface="Cambria Math" panose="02040503050406030204" pitchFamily="18" charset="0"/>
                                  </a:rPr>
                                  <m:t>8</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391906055"/>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47</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43,000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1</m:t>
                                </m:r>
                              </m:oMath>
                            </m:oMathPara>
                          </a14:m>
                          <a:endParaRPr lang="vi-VN" sz="2800" dirty="0"/>
                        </a:p>
                      </a:txBody>
                      <a:tcPr anchor="ctr">
                        <a:solidFill>
                          <a:srgbClr val="FFC000"/>
                        </a:solidFill>
                      </a:tcPr>
                    </a:tc>
                    <a:extLst>
                      <a:ext uri="{0D108BD9-81ED-4DB2-BD59-A6C34878D82A}">
                        <a16:rowId xmlns:a16="http://schemas.microsoft.com/office/drawing/2014/main" val="68464354"/>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30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4</m:t>
                                </m:r>
                                <m:r>
                                  <a:rPr lang="vi-VN" sz="2800" b="0" i="1" dirty="0" smtClean="0">
                                    <a:latin typeface="Cambria Math" panose="02040503050406030204" pitchFamily="18" charset="0"/>
                                  </a:rPr>
                                  <m:t>9</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4192353787"/>
                      </a:ext>
                    </a:extLst>
                  </a:tr>
                  <a:tr h="370840">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28</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5</m:t>
                                </m:r>
                                <m:r>
                                  <a:rPr lang="vi-VN" sz="2800" b="0" i="1" dirty="0" smtClean="0">
                                    <a:latin typeface="Cambria Math" panose="02040503050406030204" pitchFamily="18" charset="0"/>
                                  </a:rPr>
                                  <m:t>3</m:t>
                                </m:r>
                                <m:r>
                                  <a:rPr lang="vi-VN" sz="2800" i="1" dirty="0" smtClean="0">
                                    <a:latin typeface="Cambria Math" panose="02040503050406030204" pitchFamily="18" charset="0"/>
                                  </a:rPr>
                                  <m:t>,000</m:t>
                                </m:r>
                              </m:oMath>
                            </m:oMathPara>
                          </a14:m>
                          <a:endParaRPr lang="vi-VN" sz="28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vi-VN" sz="2800" b="0" i="1" smtClean="0">
                                    <a:latin typeface="Cambria Math" panose="02040503050406030204" pitchFamily="18" charset="0"/>
                                  </a:rPr>
                                  <m:t>0</m:t>
                                </m:r>
                              </m:oMath>
                            </m:oMathPara>
                          </a14:m>
                          <a:endParaRPr lang="vi-VN" sz="2800" dirty="0"/>
                        </a:p>
                      </a:txBody>
                      <a:tcPr anchor="ctr">
                        <a:solidFill>
                          <a:srgbClr val="FFC000"/>
                        </a:solidFill>
                      </a:tcPr>
                    </a:tc>
                    <a:tc>
                      <a:txBody>
                        <a:bodyPr/>
                        <a:lstStyle/>
                        <a:p>
                          <a:pPr algn="ctr"/>
                          <a14:m>
                            <m:oMathPara xmlns:m="http://schemas.openxmlformats.org/officeDocument/2006/math">
                              <m:oMathParaPr>
                                <m:jc m:val="centerGroup"/>
                              </m:oMathParaPr>
                              <m:oMath xmlns:m="http://schemas.openxmlformats.org/officeDocument/2006/math">
                                <m:r>
                                  <a:rPr lang="vi-VN" sz="2800" i="1" dirty="0" smtClean="0">
                                    <a:latin typeface="Cambria Math" panose="02040503050406030204" pitchFamily="18" charset="0"/>
                                  </a:rPr>
                                  <m:t>0</m:t>
                                </m:r>
                              </m:oMath>
                            </m:oMathPara>
                          </a14:m>
                          <a:endParaRPr lang="vi-VN" sz="2800" dirty="0"/>
                        </a:p>
                      </a:txBody>
                      <a:tcPr anchor="ctr">
                        <a:solidFill>
                          <a:srgbClr val="FFC000"/>
                        </a:solidFill>
                      </a:tcPr>
                    </a:tc>
                    <a:extLst>
                      <a:ext uri="{0D108BD9-81ED-4DB2-BD59-A6C34878D82A}">
                        <a16:rowId xmlns:a16="http://schemas.microsoft.com/office/drawing/2014/main" val="251226265"/>
                      </a:ext>
                    </a:extLst>
                  </a:tr>
                </a:tbl>
              </a:graphicData>
            </a:graphic>
          </p:graphicFrame>
        </mc:Choice>
        <mc:Fallback xmlns="">
          <p:graphicFrame>
            <p:nvGraphicFramePr>
              <p:cNvPr id="5" name="Content Placeholder 3">
                <a:extLst>
                  <a:ext uri="{FF2B5EF4-FFF2-40B4-BE49-F238E27FC236}">
                    <a16:creationId xmlns:a16="http://schemas.microsoft.com/office/drawing/2014/main" id="{ECC9B8FD-DF83-49A2-98AF-3CB75CF1DBE8}"/>
                  </a:ext>
                </a:extLst>
              </p:cNvPr>
              <p:cNvGraphicFramePr>
                <a:graphicFrameLocks noGrp="1"/>
              </p:cNvGraphicFramePr>
              <p:nvPr>
                <p:ph idx="1"/>
                <p:extLst>
                  <p:ext uri="{D42A27DB-BD31-4B8C-83A1-F6EECF244321}">
                    <p14:modId xmlns:p14="http://schemas.microsoft.com/office/powerpoint/2010/main" val="3239477727"/>
                  </p:ext>
                </p:extLst>
              </p:nvPr>
            </p:nvGraphicFramePr>
            <p:xfrm>
              <a:off x="1676398" y="1661160"/>
              <a:ext cx="8839200" cy="353568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3600337692"/>
                        </a:ext>
                      </a:extLst>
                    </a:gridCol>
                    <a:gridCol w="2164080">
                      <a:extLst>
                        <a:ext uri="{9D8B030D-6E8A-4147-A177-3AD203B41FA5}">
                          <a16:colId xmlns:a16="http://schemas.microsoft.com/office/drawing/2014/main" val="3658340494"/>
                        </a:ext>
                      </a:extLst>
                    </a:gridCol>
                    <a:gridCol w="2133600">
                      <a:extLst>
                        <a:ext uri="{9D8B030D-6E8A-4147-A177-3AD203B41FA5}">
                          <a16:colId xmlns:a16="http://schemas.microsoft.com/office/drawing/2014/main" val="1278605173"/>
                        </a:ext>
                      </a:extLst>
                    </a:gridCol>
                    <a:gridCol w="2895600">
                      <a:extLst>
                        <a:ext uri="{9D8B030D-6E8A-4147-A177-3AD203B41FA5}">
                          <a16:colId xmlns:a16="http://schemas.microsoft.com/office/drawing/2014/main" val="4220248793"/>
                        </a:ext>
                      </a:extLst>
                    </a:gridCol>
                  </a:tblGrid>
                  <a:tr h="944880">
                    <a:tc>
                      <a:txBody>
                        <a:bodyPr/>
                        <a:lstStyle/>
                        <a:p>
                          <a:pPr algn="ctr"/>
                          <a:r>
                            <a:rPr lang="vi-VN" sz="2800" dirty="0" err="1"/>
                            <a:t>Age</a:t>
                          </a:r>
                          <a:endParaRPr lang="vi-VN" sz="2800" dirty="0"/>
                        </a:p>
                      </a:txBody>
                      <a:tcPr anchor="ctr"/>
                    </a:tc>
                    <a:tc>
                      <a:txBody>
                        <a:bodyPr/>
                        <a:lstStyle/>
                        <a:p>
                          <a:pPr algn="ctr"/>
                          <a:r>
                            <a:rPr lang="vi-VN" sz="2800" dirty="0" err="1"/>
                            <a:t>Estimated</a:t>
                          </a:r>
                          <a:r>
                            <a:rPr lang="vi-VN" sz="2800" dirty="0"/>
                            <a:t> </a:t>
                          </a:r>
                          <a:r>
                            <a:rPr lang="vi-VN" sz="2800" dirty="0" err="1"/>
                            <a:t>Salary</a:t>
                          </a:r>
                          <a:endParaRPr lang="vi-VN" sz="2800" dirty="0"/>
                        </a:p>
                      </a:txBody>
                      <a:tcPr anchor="ctr"/>
                    </a:tc>
                    <a:tc>
                      <a:txBody>
                        <a:bodyPr/>
                        <a:lstStyle/>
                        <a:p>
                          <a:pPr algn="ctr"/>
                          <a:r>
                            <a:rPr lang="vi-VN" sz="2800" dirty="0" err="1">
                              <a:solidFill>
                                <a:schemeClr val="tx1"/>
                              </a:solidFill>
                            </a:rPr>
                            <a:t>Purchased</a:t>
                          </a:r>
                          <a:endParaRPr lang="vi-VN" sz="2800" dirty="0">
                            <a:solidFill>
                              <a:schemeClr val="tx1"/>
                            </a:solidFill>
                          </a:endParaRPr>
                        </a:p>
                      </a:txBody>
                      <a:tcPr anchor="ctr">
                        <a:solidFill>
                          <a:srgbClr val="FFC000"/>
                        </a:solidFill>
                      </a:tcPr>
                    </a:tc>
                    <a:tc>
                      <a:txBody>
                        <a:bodyPr/>
                        <a:lstStyle/>
                        <a:p>
                          <a:pPr algn="ctr"/>
                          <a:r>
                            <a:rPr lang="vi-VN" sz="2800" dirty="0" err="1">
                              <a:solidFill>
                                <a:schemeClr val="tx1"/>
                              </a:solidFill>
                            </a:rPr>
                            <a:t>Predicted</a:t>
                          </a:r>
                          <a:r>
                            <a:rPr lang="vi-VN" sz="2800" dirty="0">
                              <a:solidFill>
                                <a:schemeClr val="tx1"/>
                              </a:solidFill>
                            </a:rPr>
                            <a:t> </a:t>
                          </a:r>
                          <a:r>
                            <a:rPr lang="vi-VN" sz="2800" dirty="0" err="1">
                              <a:solidFill>
                                <a:schemeClr val="tx1"/>
                              </a:solidFill>
                            </a:rPr>
                            <a:t>Purchased</a:t>
                          </a:r>
                          <a:endParaRPr lang="vi-VN" sz="2800" dirty="0">
                            <a:solidFill>
                              <a:schemeClr val="tx1"/>
                            </a:solidFill>
                          </a:endParaRPr>
                        </a:p>
                      </a:txBody>
                      <a:tcPr anchor="ctr">
                        <a:solidFill>
                          <a:srgbClr val="FFC000"/>
                        </a:solidFill>
                      </a:tcPr>
                    </a:tc>
                    <a:extLst>
                      <a:ext uri="{0D108BD9-81ED-4DB2-BD59-A6C34878D82A}">
                        <a16:rowId xmlns:a16="http://schemas.microsoft.com/office/drawing/2014/main" val="2231562568"/>
                      </a:ext>
                    </a:extLst>
                  </a:tr>
                  <a:tr h="518160">
                    <a:tc>
                      <a:txBody>
                        <a:bodyPr/>
                        <a:lstStyle/>
                        <a:p>
                          <a:endParaRPr lang="vi-VN"/>
                        </a:p>
                      </a:txBody>
                      <a:tcPr anchor="ctr">
                        <a:blipFill>
                          <a:blip r:embed="rId2"/>
                          <a:stretch>
                            <a:fillRect l="-370" t="-194118" r="-439259" b="-403529"/>
                          </a:stretch>
                        </a:blipFill>
                      </a:tcPr>
                    </a:tc>
                    <a:tc>
                      <a:txBody>
                        <a:bodyPr/>
                        <a:lstStyle/>
                        <a:p>
                          <a:endParaRPr lang="vi-VN"/>
                        </a:p>
                      </a:txBody>
                      <a:tcPr anchor="ctr">
                        <a:blipFill>
                          <a:blip r:embed="rId2"/>
                          <a:stretch>
                            <a:fillRect l="-76338" t="-194118" r="-234085" b="-403529"/>
                          </a:stretch>
                        </a:blipFill>
                      </a:tcPr>
                    </a:tc>
                    <a:tc>
                      <a:txBody>
                        <a:bodyPr/>
                        <a:lstStyle/>
                        <a:p>
                          <a:endParaRPr lang="vi-VN"/>
                        </a:p>
                      </a:txBody>
                      <a:tcPr anchor="ctr">
                        <a:blipFill>
                          <a:blip r:embed="rId2"/>
                          <a:stretch>
                            <a:fillRect l="-178348" t="-194118" r="-136752" b="-403529"/>
                          </a:stretch>
                        </a:blipFill>
                      </a:tcPr>
                    </a:tc>
                    <a:tc>
                      <a:txBody>
                        <a:bodyPr/>
                        <a:lstStyle/>
                        <a:p>
                          <a:endParaRPr lang="vi-VN"/>
                        </a:p>
                      </a:txBody>
                      <a:tcPr anchor="ctr">
                        <a:blipFill>
                          <a:blip r:embed="rId2"/>
                          <a:stretch>
                            <a:fillRect l="-205684" t="-194118" r="-1053" b="-403529"/>
                          </a:stretch>
                        </a:blipFill>
                      </a:tcPr>
                    </a:tc>
                    <a:extLst>
                      <a:ext uri="{0D108BD9-81ED-4DB2-BD59-A6C34878D82A}">
                        <a16:rowId xmlns:a16="http://schemas.microsoft.com/office/drawing/2014/main" val="2485347973"/>
                      </a:ext>
                    </a:extLst>
                  </a:tr>
                  <a:tr h="518160">
                    <a:tc>
                      <a:txBody>
                        <a:bodyPr/>
                        <a:lstStyle/>
                        <a:p>
                          <a:endParaRPr lang="vi-VN"/>
                        </a:p>
                      </a:txBody>
                      <a:tcPr anchor="ctr">
                        <a:blipFill>
                          <a:blip r:embed="rId2"/>
                          <a:stretch>
                            <a:fillRect l="-370" t="-290698" r="-439259" b="-298837"/>
                          </a:stretch>
                        </a:blipFill>
                      </a:tcPr>
                    </a:tc>
                    <a:tc>
                      <a:txBody>
                        <a:bodyPr/>
                        <a:lstStyle/>
                        <a:p>
                          <a:endParaRPr lang="vi-VN"/>
                        </a:p>
                      </a:txBody>
                      <a:tcPr anchor="ctr">
                        <a:blipFill>
                          <a:blip r:embed="rId2"/>
                          <a:stretch>
                            <a:fillRect l="-76338" t="-290698" r="-234085" b="-298837"/>
                          </a:stretch>
                        </a:blipFill>
                      </a:tcPr>
                    </a:tc>
                    <a:tc>
                      <a:txBody>
                        <a:bodyPr/>
                        <a:lstStyle/>
                        <a:p>
                          <a:endParaRPr lang="vi-VN"/>
                        </a:p>
                      </a:txBody>
                      <a:tcPr anchor="ctr">
                        <a:blipFill>
                          <a:blip r:embed="rId2"/>
                          <a:stretch>
                            <a:fillRect l="-178348" t="-290698" r="-136752" b="-298837"/>
                          </a:stretch>
                        </a:blipFill>
                      </a:tcPr>
                    </a:tc>
                    <a:tc>
                      <a:txBody>
                        <a:bodyPr/>
                        <a:lstStyle/>
                        <a:p>
                          <a:endParaRPr lang="vi-VN"/>
                        </a:p>
                      </a:txBody>
                      <a:tcPr anchor="ctr">
                        <a:blipFill>
                          <a:blip r:embed="rId2"/>
                          <a:stretch>
                            <a:fillRect l="-205684" t="-290698" r="-1053" b="-298837"/>
                          </a:stretch>
                        </a:blipFill>
                      </a:tcPr>
                    </a:tc>
                    <a:extLst>
                      <a:ext uri="{0D108BD9-81ED-4DB2-BD59-A6C34878D82A}">
                        <a16:rowId xmlns:a16="http://schemas.microsoft.com/office/drawing/2014/main" val="2391906055"/>
                      </a:ext>
                    </a:extLst>
                  </a:tr>
                  <a:tr h="518160">
                    <a:tc>
                      <a:txBody>
                        <a:bodyPr/>
                        <a:lstStyle/>
                        <a:p>
                          <a:endParaRPr lang="vi-VN"/>
                        </a:p>
                      </a:txBody>
                      <a:tcPr anchor="ctr">
                        <a:blipFill>
                          <a:blip r:embed="rId2"/>
                          <a:stretch>
                            <a:fillRect l="-370" t="-395294" r="-439259" b="-202353"/>
                          </a:stretch>
                        </a:blipFill>
                      </a:tcPr>
                    </a:tc>
                    <a:tc>
                      <a:txBody>
                        <a:bodyPr/>
                        <a:lstStyle/>
                        <a:p>
                          <a:endParaRPr lang="vi-VN"/>
                        </a:p>
                      </a:txBody>
                      <a:tcPr anchor="ctr">
                        <a:blipFill>
                          <a:blip r:embed="rId2"/>
                          <a:stretch>
                            <a:fillRect l="-76338" t="-395294" r="-234085" b="-202353"/>
                          </a:stretch>
                        </a:blipFill>
                      </a:tcPr>
                    </a:tc>
                    <a:tc>
                      <a:txBody>
                        <a:bodyPr/>
                        <a:lstStyle/>
                        <a:p>
                          <a:endParaRPr lang="vi-VN"/>
                        </a:p>
                      </a:txBody>
                      <a:tcPr anchor="ctr">
                        <a:blipFill>
                          <a:blip r:embed="rId2"/>
                          <a:stretch>
                            <a:fillRect l="-178348" t="-395294" r="-136752" b="-202353"/>
                          </a:stretch>
                        </a:blipFill>
                      </a:tcPr>
                    </a:tc>
                    <a:tc>
                      <a:txBody>
                        <a:bodyPr/>
                        <a:lstStyle/>
                        <a:p>
                          <a:endParaRPr lang="vi-VN"/>
                        </a:p>
                      </a:txBody>
                      <a:tcPr anchor="ctr">
                        <a:blipFill>
                          <a:blip r:embed="rId2"/>
                          <a:stretch>
                            <a:fillRect l="-205684" t="-395294" r="-1053" b="-202353"/>
                          </a:stretch>
                        </a:blipFill>
                      </a:tcPr>
                    </a:tc>
                    <a:extLst>
                      <a:ext uri="{0D108BD9-81ED-4DB2-BD59-A6C34878D82A}">
                        <a16:rowId xmlns:a16="http://schemas.microsoft.com/office/drawing/2014/main" val="68464354"/>
                      </a:ext>
                    </a:extLst>
                  </a:tr>
                  <a:tr h="518160">
                    <a:tc>
                      <a:txBody>
                        <a:bodyPr/>
                        <a:lstStyle/>
                        <a:p>
                          <a:endParaRPr lang="vi-VN"/>
                        </a:p>
                      </a:txBody>
                      <a:tcPr anchor="ctr">
                        <a:blipFill>
                          <a:blip r:embed="rId2"/>
                          <a:stretch>
                            <a:fillRect l="-370" t="-495294" r="-439259" b="-102353"/>
                          </a:stretch>
                        </a:blipFill>
                      </a:tcPr>
                    </a:tc>
                    <a:tc>
                      <a:txBody>
                        <a:bodyPr/>
                        <a:lstStyle/>
                        <a:p>
                          <a:endParaRPr lang="vi-VN"/>
                        </a:p>
                      </a:txBody>
                      <a:tcPr anchor="ctr">
                        <a:blipFill>
                          <a:blip r:embed="rId2"/>
                          <a:stretch>
                            <a:fillRect l="-76338" t="-495294" r="-234085" b="-102353"/>
                          </a:stretch>
                        </a:blipFill>
                      </a:tcPr>
                    </a:tc>
                    <a:tc>
                      <a:txBody>
                        <a:bodyPr/>
                        <a:lstStyle/>
                        <a:p>
                          <a:endParaRPr lang="vi-VN"/>
                        </a:p>
                      </a:txBody>
                      <a:tcPr anchor="ctr">
                        <a:blipFill>
                          <a:blip r:embed="rId2"/>
                          <a:stretch>
                            <a:fillRect l="-178348" t="-495294" r="-136752" b="-102353"/>
                          </a:stretch>
                        </a:blipFill>
                      </a:tcPr>
                    </a:tc>
                    <a:tc>
                      <a:txBody>
                        <a:bodyPr/>
                        <a:lstStyle/>
                        <a:p>
                          <a:endParaRPr lang="vi-VN"/>
                        </a:p>
                      </a:txBody>
                      <a:tcPr anchor="ctr">
                        <a:blipFill>
                          <a:blip r:embed="rId2"/>
                          <a:stretch>
                            <a:fillRect l="-205684" t="-495294" r="-1053" b="-102353"/>
                          </a:stretch>
                        </a:blipFill>
                      </a:tcPr>
                    </a:tc>
                    <a:extLst>
                      <a:ext uri="{0D108BD9-81ED-4DB2-BD59-A6C34878D82A}">
                        <a16:rowId xmlns:a16="http://schemas.microsoft.com/office/drawing/2014/main" val="4192353787"/>
                      </a:ext>
                    </a:extLst>
                  </a:tr>
                  <a:tr h="518160">
                    <a:tc>
                      <a:txBody>
                        <a:bodyPr/>
                        <a:lstStyle/>
                        <a:p>
                          <a:endParaRPr lang="vi-VN"/>
                        </a:p>
                      </a:txBody>
                      <a:tcPr anchor="ctr">
                        <a:blipFill>
                          <a:blip r:embed="rId2"/>
                          <a:stretch>
                            <a:fillRect l="-370" t="-595294" r="-439259" b="-2353"/>
                          </a:stretch>
                        </a:blipFill>
                      </a:tcPr>
                    </a:tc>
                    <a:tc>
                      <a:txBody>
                        <a:bodyPr/>
                        <a:lstStyle/>
                        <a:p>
                          <a:endParaRPr lang="vi-VN"/>
                        </a:p>
                      </a:txBody>
                      <a:tcPr anchor="ctr">
                        <a:blipFill>
                          <a:blip r:embed="rId2"/>
                          <a:stretch>
                            <a:fillRect l="-76338" t="-595294" r="-234085" b="-2353"/>
                          </a:stretch>
                        </a:blipFill>
                      </a:tcPr>
                    </a:tc>
                    <a:tc>
                      <a:txBody>
                        <a:bodyPr/>
                        <a:lstStyle/>
                        <a:p>
                          <a:endParaRPr lang="vi-VN"/>
                        </a:p>
                      </a:txBody>
                      <a:tcPr anchor="ctr">
                        <a:blipFill>
                          <a:blip r:embed="rId2"/>
                          <a:stretch>
                            <a:fillRect l="-178348" t="-595294" r="-136752" b="-2353"/>
                          </a:stretch>
                        </a:blipFill>
                      </a:tcPr>
                    </a:tc>
                    <a:tc>
                      <a:txBody>
                        <a:bodyPr/>
                        <a:lstStyle/>
                        <a:p>
                          <a:endParaRPr lang="vi-VN"/>
                        </a:p>
                      </a:txBody>
                      <a:tcPr anchor="ctr">
                        <a:blipFill>
                          <a:blip r:embed="rId2"/>
                          <a:stretch>
                            <a:fillRect l="-205684" t="-595294" r="-1053" b="-2353"/>
                          </a:stretch>
                        </a:blipFill>
                      </a:tcPr>
                    </a:tc>
                    <a:extLst>
                      <a:ext uri="{0D108BD9-81ED-4DB2-BD59-A6C34878D82A}">
                        <a16:rowId xmlns:a16="http://schemas.microsoft.com/office/drawing/2014/main" val="251226265"/>
                      </a:ext>
                    </a:extLst>
                  </a:tr>
                </a:tbl>
              </a:graphicData>
            </a:graphic>
          </p:graphicFrame>
        </mc:Fallback>
      </mc:AlternateContent>
    </p:spTree>
    <p:extLst>
      <p:ext uri="{BB962C8B-B14F-4D97-AF65-F5344CB8AC3E}">
        <p14:creationId xmlns:p14="http://schemas.microsoft.com/office/powerpoint/2010/main" val="137456720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t>Chúc các bạn học tốt</a:t>
            </a:r>
            <a:br>
              <a:rPr lang="en-US" sz="4000">
                <a:solidFill>
                  <a:srgbClr val="0066FF"/>
                </a:solidFill>
              </a:rPr>
            </a:br>
            <a:r>
              <a:rPr lang="en-US" sz="3200">
                <a:solidFill>
                  <a:srgbClr val="0066FF"/>
                </a:solidFill>
              </a:rPr>
              <a:t>TRƯỜNG ĐẠI HỌC CÔNG NGHỆ THÔNG TIN TP.HCM</a:t>
            </a:r>
            <a:br>
              <a:rPr lang="en-US" sz="3200">
                <a:solidFill>
                  <a:srgbClr val="0066FF"/>
                </a:solidFill>
              </a:rPr>
            </a:br>
            <a:br>
              <a:rPr lang="en-US" sz="3200">
                <a:solidFill>
                  <a:srgbClr val="0066FF"/>
                </a:solidFill>
              </a:rPr>
            </a:br>
            <a:r>
              <a:rPr lang="en-US" sz="4000"/>
              <a:t>Nhóm UIT-Together</a:t>
            </a:r>
            <a:br>
              <a:rPr lang="en-US" sz="4000">
                <a:solidFill>
                  <a:srgbClr val="0066FF"/>
                </a:solidFill>
              </a:rPr>
            </a:br>
            <a:r>
              <a:rPr lang="en-US" sz="4000">
                <a:solidFill>
                  <a:srgbClr val="0066FF"/>
                </a:solidFill>
              </a:rPr>
              <a:t>Nguyễn Tấn Trần Minh Khang</a:t>
            </a:r>
          </a:p>
        </p:txBody>
      </p:sp>
    </p:spTree>
    <p:extLst>
      <p:ext uri="{BB962C8B-B14F-4D97-AF65-F5344CB8AC3E}">
        <p14:creationId xmlns:p14="http://schemas.microsoft.com/office/powerpoint/2010/main" val="2651894520"/>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14697</TotalTime>
  <Words>2753</Words>
  <Application>Microsoft Office PowerPoint</Application>
  <PresentationFormat>Widescreen</PresentationFormat>
  <Paragraphs>342</Paragraphs>
  <Slides>53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Cambria Math</vt:lpstr>
      <vt:lpstr>Consolas</vt:lpstr>
      <vt:lpstr>Courier New</vt:lpstr>
      <vt:lpstr>Default Design</vt:lpstr>
      <vt:lpstr>NAÏVE BAYES</vt:lpstr>
      <vt:lpstr>DATASET</vt:lpstr>
      <vt:lpstr>Dataset</vt:lpstr>
      <vt:lpstr>Dataset</vt:lpstr>
      <vt:lpstr>Dataset</vt:lpstr>
      <vt:lpstr>Dataset</vt:lpstr>
      <vt:lpstr>Tiền xử lý dữ liệu</vt:lpstr>
      <vt:lpstr>Tiền xử lý dữ liệu</vt:lpstr>
      <vt:lpstr>Tiền xử lý dữ liệu</vt:lpstr>
      <vt:lpstr>Tiền xử lý dữ liệu</vt:lpstr>
      <vt:lpstr>Trực quan hóa dữ liệu</vt:lpstr>
      <vt:lpstr>Trực quan hóa dữ liệu</vt:lpstr>
      <vt:lpstr>Trực quan hóa dữ liệu</vt:lpstr>
      <vt:lpstr>Trực quan hóa dữ liệu</vt:lpstr>
      <vt:lpstr>Trực quan hóa dữ liệu</vt:lpstr>
      <vt:lpstr>Trực quan hóa dữ liệu</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Naïve Bayes</vt:lpstr>
      <vt:lpstr>Huấn luyện mô hình</vt:lpstr>
      <vt:lpstr>Huấn luyện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Trực quan hóa kết quả mô hình</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Kiểm tra kết quả trên tập test</vt:lpstr>
      <vt:lpstr>Chúc các bạn học tốt TRƯỜNG ĐẠI HỌC CÔNG NGHỆ THÔNG TIN TP.HCM  Nhóm UIT-Together Nguyễn Tấn Trần Minh Khang</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Quan Chí Khánh An</cp:lastModifiedBy>
  <cp:revision>1325</cp:revision>
  <cp:lastPrinted>2013-08-30T01:32:34Z</cp:lastPrinted>
  <dcterms:created xsi:type="dcterms:W3CDTF">2008-06-14T04:13:27Z</dcterms:created>
  <dcterms:modified xsi:type="dcterms:W3CDTF">2023-10-24T15:37:00Z</dcterms:modified>
</cp:coreProperties>
</file>