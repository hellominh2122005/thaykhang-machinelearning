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112"/>
  </p:notesMasterIdLst>
  <p:handoutMasterIdLst>
    <p:handoutMasterId r:id="rId113"/>
  </p:handoutMasterIdLst>
  <p:sldIdLst>
    <p:sldId id="1585" r:id="rId2"/>
    <p:sldId id="358" r:id="rId3"/>
    <p:sldId id="370" r:id="rId4"/>
    <p:sldId id="344" r:id="rId5"/>
    <p:sldId id="347" r:id="rId6"/>
    <p:sldId id="1662" r:id="rId7"/>
    <p:sldId id="371" r:id="rId8"/>
    <p:sldId id="1663" r:id="rId9"/>
    <p:sldId id="348" r:id="rId10"/>
    <p:sldId id="1664" r:id="rId11"/>
    <p:sldId id="349" r:id="rId12"/>
    <p:sldId id="1588" r:id="rId13"/>
    <p:sldId id="357" r:id="rId14"/>
    <p:sldId id="1582" r:id="rId15"/>
    <p:sldId id="346" r:id="rId16"/>
    <p:sldId id="360" r:id="rId17"/>
    <p:sldId id="1581" r:id="rId18"/>
    <p:sldId id="362" r:id="rId19"/>
    <p:sldId id="363" r:id="rId20"/>
    <p:sldId id="364" r:id="rId21"/>
    <p:sldId id="365" r:id="rId22"/>
    <p:sldId id="373" r:id="rId23"/>
    <p:sldId id="1665" r:id="rId24"/>
    <p:sldId id="352" r:id="rId25"/>
    <p:sldId id="354" r:id="rId26"/>
    <p:sldId id="1583" r:id="rId27"/>
    <p:sldId id="350" r:id="rId28"/>
    <p:sldId id="1584" r:id="rId29"/>
    <p:sldId id="1586" r:id="rId30"/>
    <p:sldId id="351" r:id="rId31"/>
    <p:sldId id="355" r:id="rId32"/>
    <p:sldId id="1587" r:id="rId33"/>
    <p:sldId id="343" r:id="rId34"/>
    <p:sldId id="356" r:id="rId35"/>
    <p:sldId id="1666" r:id="rId36"/>
    <p:sldId id="330" r:id="rId37"/>
    <p:sldId id="335" r:id="rId38"/>
    <p:sldId id="374" r:id="rId39"/>
    <p:sldId id="1668" r:id="rId40"/>
    <p:sldId id="1669" r:id="rId41"/>
    <p:sldId id="1670" r:id="rId42"/>
    <p:sldId id="1671" r:id="rId43"/>
    <p:sldId id="1672" r:id="rId44"/>
    <p:sldId id="375" r:id="rId45"/>
    <p:sldId id="1673" r:id="rId46"/>
    <p:sldId id="1674" r:id="rId47"/>
    <p:sldId id="1675" r:id="rId48"/>
    <p:sldId id="1676" r:id="rId49"/>
    <p:sldId id="1677" r:id="rId50"/>
    <p:sldId id="376" r:id="rId51"/>
    <p:sldId id="1678" r:id="rId52"/>
    <p:sldId id="1679" r:id="rId53"/>
    <p:sldId id="1680" r:id="rId54"/>
    <p:sldId id="1681" r:id="rId55"/>
    <p:sldId id="1682" r:id="rId56"/>
    <p:sldId id="331" r:id="rId57"/>
    <p:sldId id="333" r:id="rId58"/>
    <p:sldId id="332" r:id="rId59"/>
    <p:sldId id="1683" r:id="rId60"/>
    <p:sldId id="1667" r:id="rId61"/>
    <p:sldId id="334" r:id="rId62"/>
    <p:sldId id="1684" r:id="rId63"/>
    <p:sldId id="336" r:id="rId64"/>
    <p:sldId id="337" r:id="rId65"/>
    <p:sldId id="338" r:id="rId66"/>
    <p:sldId id="339" r:id="rId67"/>
    <p:sldId id="340" r:id="rId68"/>
    <p:sldId id="341" r:id="rId69"/>
    <p:sldId id="342" r:id="rId70"/>
    <p:sldId id="1661" r:id="rId71"/>
    <p:sldId id="1604" r:id="rId72"/>
    <p:sldId id="1605" r:id="rId73"/>
    <p:sldId id="1606" r:id="rId74"/>
    <p:sldId id="1607" r:id="rId75"/>
    <p:sldId id="1608" r:id="rId76"/>
    <p:sldId id="1609" r:id="rId77"/>
    <p:sldId id="1610" r:id="rId78"/>
    <p:sldId id="1611" r:id="rId79"/>
    <p:sldId id="1612" r:id="rId80"/>
    <p:sldId id="1613" r:id="rId81"/>
    <p:sldId id="1614" r:id="rId82"/>
    <p:sldId id="1615" r:id="rId83"/>
    <p:sldId id="1616" r:id="rId84"/>
    <p:sldId id="1617" r:id="rId85"/>
    <p:sldId id="1618" r:id="rId86"/>
    <p:sldId id="1621" r:id="rId87"/>
    <p:sldId id="1622" r:id="rId88"/>
    <p:sldId id="1623" r:id="rId89"/>
    <p:sldId id="1624" r:id="rId90"/>
    <p:sldId id="1625" r:id="rId91"/>
    <p:sldId id="1626" r:id="rId92"/>
    <p:sldId id="1627" r:id="rId93"/>
    <p:sldId id="1628" r:id="rId94"/>
    <p:sldId id="1629" r:id="rId95"/>
    <p:sldId id="1630" r:id="rId96"/>
    <p:sldId id="1631" r:id="rId97"/>
    <p:sldId id="1632" r:id="rId98"/>
    <p:sldId id="1633" r:id="rId99"/>
    <p:sldId id="1634" r:id="rId100"/>
    <p:sldId id="1635" r:id="rId101"/>
    <p:sldId id="378" r:id="rId102"/>
    <p:sldId id="1636" r:id="rId103"/>
    <p:sldId id="1637" r:id="rId104"/>
    <p:sldId id="379" r:id="rId105"/>
    <p:sldId id="380" r:id="rId106"/>
    <p:sldId id="381" r:id="rId107"/>
    <p:sldId id="1638" r:id="rId108"/>
    <p:sldId id="366" r:id="rId109"/>
    <p:sldId id="359" r:id="rId110"/>
    <p:sldId id="1573" r:id="rId1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84" d="100"/>
          <a:sy n="84" d="100"/>
        </p:scale>
        <p:origin x="1072" y="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handoutMaster" Target="handoutMasters/handoutMaster1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72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3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4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DB780-8063-410B-88BC-AD4AA3925B34}" type="datetime1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5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501751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4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DB780-8063-410B-88BC-AD4AA3925B34}" type="datetime1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5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134896"/>
            <a:ext cx="10972800" cy="9906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8360888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6"/>
            <a:ext cx="11811000" cy="3508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228A5-DE51-45EB-A51E-AC7C60465EA1}" type="datetime1">
              <a:rPr lang="en-US" smtClean="0"/>
              <a:t>11/7/2023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</p:spTree>
    <p:extLst>
      <p:ext uri="{BB962C8B-B14F-4D97-AF65-F5344CB8AC3E}">
        <p14:creationId xmlns:p14="http://schemas.microsoft.com/office/powerpoint/2010/main" val="3224067907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theme" Target="../theme/theme1.xml"/><Relationship Id="rId63" Type="http://schemas.openxmlformats.org/officeDocument/2006/relationships/image" Target="../media/image1.png"/><Relationship Id="rId64" Type="http://schemas.openxmlformats.org/officeDocument/2006/relationships/image" Target="../media/image2.png"/><Relationship Id="rId6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  <p:sldLayoutId id="2147483751" r:id="rId59"/>
    <p:sldLayoutId id="2147483752" r:id="rId60"/>
    <p:sldLayoutId id="2147483753" r:id="rId6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image" Target="../media/image7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9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10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1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www.superdatascience.com/pages/machine-learning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image" Target="../media/image6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6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0.png"/><Relationship Id="rId3" Type="http://schemas.openxmlformats.org/officeDocument/2006/relationships/image" Target="../media/image80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hyperlink" Target="https://archive.ics.uci.edu/ml/datasets/iris" TargetMode="External"/><Relationship Id="rId3" Type="http://schemas.openxmlformats.org/officeDocument/2006/relationships/image" Target="../media/image1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DECISION TREE</a:t>
            </a:r>
            <a:br>
              <a:rPr lang="en-US" dirty="0">
                <a:solidFill>
                  <a:srgbClr val="0066FF"/>
                </a:solidFill>
              </a:rPr>
            </a:br>
            <a:r>
              <a:rPr lang="vi-VN" dirty="0"/>
              <a:t>PHƯƠNG PHÁP CÂY QUYẾT ĐỊNH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/>
              <a:t>KS. Cao Bá Kiệt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E6C797-4367-405B-9F95-0CF705A2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Thuật toán Cây quyết định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4686A0-A6DC-4B90-882C-C585080007C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https://www.edureka.co/blog/decision-trees/</a:t>
            </a:r>
          </a:p>
        </p:txBody>
      </p:sp>
      <p:pic>
        <p:nvPicPr>
          <p:cNvPr id="1026" name="Picture 2" descr="Decision Tree - Decision Tree - Edureka">
            <a:extLst>
              <a:ext uri="{FF2B5EF4-FFF2-40B4-BE49-F238E27FC236}">
                <a16:creationId xmlns:a16="http://schemas.microsoft.com/office/drawing/2014/main" id="{1AEBBE72-F3D9-443D-B269-BE50F5345B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286" y="1600200"/>
            <a:ext cx="7285427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85722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8F01-9081-4966-A38C-50F48BEF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Thuật toán Cây quyết định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8B4283-F245-4E94-B1C7-6C50725BA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399" y="1590065"/>
            <a:ext cx="6553202" cy="430652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64E1-C904-4A87-BE00-35AAE685182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066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52B0-E459-4E67-8B10-6EF64D40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Thuật toán Cây quyết định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C885-FBAF-4AFF-85AF-ADFCA759A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In computer science, Decision tree learning uses a decision tree (as a predictive model) to go from observations about an item (represented in the branches) to conclusions about the item's target value (represented in the leaves). 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It is one of the predictive modeling approaches used in statistics, data mining and machine learning. 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662F0-1760-4F97-8051-56709493506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https://en.wikipedia.org/wiki/Decision_tree_learning</a:t>
            </a:r>
          </a:p>
        </p:txBody>
      </p:sp>
    </p:spTree>
    <p:extLst>
      <p:ext uri="{BB962C8B-B14F-4D97-AF65-F5344CB8AC3E}">
        <p14:creationId xmlns:p14="http://schemas.microsoft.com/office/powerpoint/2010/main" val="104563804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8DF1-243C-4603-9015-69CC136A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Thuật toán Cây quyết định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5AEC-67F4-48CB-A44E-CF1A8E831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Tree models where the target variable can take a discrete set of values are called classification trees; 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In these tree structures, leaves represent class labels and branches represent conjunctions of features that lead to those class labels. </a:t>
            </a:r>
          </a:p>
          <a:p>
            <a:pPr algn="just"/>
            <a:r>
              <a:rPr lang="en-US"/>
              <a:t>Decision trees where the target variable can take continuous values (typically real numbers) are called regression trees.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EF37E-2C69-42D1-9987-27FF0405227A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https://en.wikipedia.org/wiki/Decision_tree_learning</a:t>
            </a:r>
          </a:p>
        </p:txBody>
      </p:sp>
    </p:spTree>
    <p:extLst>
      <p:ext uri="{BB962C8B-B14F-4D97-AF65-F5344CB8AC3E}">
        <p14:creationId xmlns:p14="http://schemas.microsoft.com/office/powerpoint/2010/main" val="29490256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392ECF-E450-4C68-B6C3-474CBF4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NGHĨA CÂY QUYẾT ĐỊNH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05F66B-3299-4C3A-98A2-4DFEDAB1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6377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A418A-179A-4D7E-A7FE-8F490DE9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nghĩa Cây quyết định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85310-9963-4C21-9BFE-82F92B458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/>
              <a:t>Decision tree is a classifier in the form of a tree structure.</a:t>
            </a:r>
          </a:p>
          <a:p>
            <a:pPr lvl="1" algn="just"/>
            <a:r>
              <a:rPr lang="en-US" altLang="zh-CN">
                <a:solidFill>
                  <a:srgbClr val="FF0000"/>
                </a:solidFill>
              </a:rPr>
              <a:t>Decision node: specifies a test on a single attribute.</a:t>
            </a:r>
          </a:p>
          <a:p>
            <a:pPr lvl="1" algn="just"/>
            <a:r>
              <a:rPr lang="en-US" altLang="zh-CN"/>
              <a:t>Leaf node: indicates the value of the target attribute.</a:t>
            </a:r>
          </a:p>
          <a:p>
            <a:pPr lvl="1" algn="just"/>
            <a:r>
              <a:rPr lang="en-US" altLang="zh-CN">
                <a:solidFill>
                  <a:srgbClr val="FF0000"/>
                </a:solidFill>
              </a:rPr>
              <a:t>Arc/edge: split of one attribute.</a:t>
            </a:r>
          </a:p>
          <a:p>
            <a:pPr lvl="1" algn="just"/>
            <a:r>
              <a:rPr lang="en-US" altLang="zh-CN"/>
              <a:t>Path: a disjunction of test to make the final decisionan.</a:t>
            </a:r>
          </a:p>
          <a:p>
            <a:pPr algn="just"/>
            <a:r>
              <a:rPr lang="en-US" altLang="zh-CN">
                <a:solidFill>
                  <a:srgbClr val="FF0000"/>
                </a:solidFill>
              </a:rPr>
              <a:t>Decision trees classify instances or examples by starting at the root of the tree and moving through it until a leaf node.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9BA92-CD4C-4CFD-9738-B5EBB89CB9C3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6116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392ECF-E450-4C68-B6C3-474CBF4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LOẠI CÂY QUYẾT ĐỊNH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05F66B-3299-4C3A-98A2-4DFEDAB1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9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B6B4-66DC-4315-9825-33D03620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loại cây quyết định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685CA-06DA-46DD-9793-F96EFAFFB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Classification tree analysis</a:t>
            </a:r>
            <a:r>
              <a:rPr lang="en-US"/>
              <a:t> is when the predicted outcome is the class (discrete) to which the data belongs.</a:t>
            </a:r>
          </a:p>
          <a:p>
            <a:pPr algn="just"/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Regression tree analysis</a:t>
            </a:r>
            <a:r>
              <a:rPr lang="en-US">
                <a:solidFill>
                  <a:srgbClr val="FF0000"/>
                </a:solidFill>
              </a:rPr>
              <a:t> is when the predicted outcome can be considered a real number (e.g. the price of a house, or a patient's length of stay in a hospital).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C2291-C44E-44D6-9FD3-A001F0953E76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https://en.wikipedia.org/wiki/Decision_tree_learning</a:t>
            </a:r>
          </a:p>
        </p:txBody>
      </p:sp>
    </p:spTree>
    <p:extLst>
      <p:ext uri="{BB962C8B-B14F-4D97-AF65-F5344CB8AC3E}">
        <p14:creationId xmlns:p14="http://schemas.microsoft.com/office/powerpoint/2010/main" val="76383950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392ECF-E450-4C68-B6C3-474CBF4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THUẬT TOÁN CÂY QUYẾT ĐỊNH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05F66B-3299-4C3A-98A2-4DFEDAB1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7221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D3AF-D483-419D-B943-E60066EF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thuật toán xây dựng cây quyết định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C079-3E1C-4987-ACB8-D32E2E2F8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ID3 (Iterative Dichotomiser 3) – J. Ross Quinlan.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C4.5 (successor of ID3) – J. Ross Quinlan.</a:t>
            </a:r>
          </a:p>
          <a:p>
            <a:pPr algn="just"/>
            <a:r>
              <a:rPr lang="en-US"/>
              <a:t>CART (Classification And Regression Tree) – L. Breiman, J. Friedman, R. Olshen, and C. Stone.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Chi-square automatic interaction detection (CHAID). Performs multi-level splits when computing classification trees.</a:t>
            </a:r>
          </a:p>
          <a:p>
            <a:pPr algn="just"/>
            <a:r>
              <a:rPr lang="en-US"/>
              <a:t>MARS: extends decision trees to handle numerical data better.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Conditional Inference Trees.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76199-23E9-47D7-A3E5-9E1AF75BAFF6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https://en.wikipedia.org/wiki/Decision_tree_learning</a:t>
            </a:r>
          </a:p>
        </p:txBody>
      </p:sp>
    </p:spTree>
    <p:extLst>
      <p:ext uri="{BB962C8B-B14F-4D97-AF65-F5344CB8AC3E}">
        <p14:creationId xmlns:p14="http://schemas.microsoft.com/office/powerpoint/2010/main" val="258201825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392ECF-E450-4C68-B6C3-474CBF4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SÁNH CÁC THUẬT TOÁN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05F66B-3299-4C3A-98A2-4DFEDAB1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9776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7CCE-5CCF-4881-8310-28584B2D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thuật toán xây dựng cây quyết định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C7B4DC-642A-48FA-8FCE-8D73C8F2E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399" y="1627180"/>
            <a:ext cx="7315202" cy="42322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9FD6B-4682-4E5F-9612-F92CD710AB2C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https://www.ncbi.nlm.nih.gov/pmc/articles/PMC4466856/</a:t>
            </a:r>
          </a:p>
        </p:txBody>
      </p:sp>
    </p:spTree>
    <p:extLst>
      <p:ext uri="{BB962C8B-B14F-4D97-AF65-F5344CB8AC3E}">
        <p14:creationId xmlns:p14="http://schemas.microsoft.com/office/powerpoint/2010/main" val="133152947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392ECF-E450-4C68-B6C3-474CBF4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CÂY QUYẾT ĐỊNH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05F66B-3299-4C3A-98A2-4DFEDAB1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7210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4F30-A9C1-43F8-A1BD-5EEC0B88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thuật toán cây quyết định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D90B2-D6A8-4F47-9E3F-2F031A3CD2B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Kết quả hình ảnh cho advantage decision tree&quot;">
            <a:extLst>
              <a:ext uri="{FF2B5EF4-FFF2-40B4-BE49-F238E27FC236}">
                <a16:creationId xmlns:a16="http://schemas.microsoft.com/office/drawing/2014/main" id="{2045B9C8-C519-42C1-AF2E-1DD6E94342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838325"/>
            <a:ext cx="8763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9018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4F30-A9C1-43F8-A1BD-5EEC0B88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thuật toán cây quyết định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D90B2-D6A8-4F47-9E3F-2F031A3CD2B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https://www.quora.com/In-what-real-world-applications-is-the-decision-tree-classifier-used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C97F-6CD6-4CB8-B708-1861672B9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Hotel</a:t>
            </a:r>
            <a:r>
              <a:rPr lang="en-US"/>
              <a:t>.</a:t>
            </a:r>
          </a:p>
          <a:p>
            <a:pPr lvl="1" algn="just"/>
            <a:r>
              <a:rPr lang="en-US"/>
              <a:t>Predicting high occupancy dates for hotels</a:t>
            </a:r>
          </a:p>
          <a:p>
            <a:pPr lvl="1" algn="just"/>
            <a:r>
              <a:rPr lang="en-US">
                <a:solidFill>
                  <a:srgbClr val="FF0000"/>
                </a:solidFill>
              </a:rPr>
              <a:t>Dự báo ngày đặt chỗ nhiều nhất.</a:t>
            </a:r>
          </a:p>
          <a:p>
            <a:pPr lvl="1" algn="just"/>
            <a:endParaRPr lang="en-US">
              <a:solidFill>
                <a:srgbClr val="FF0000"/>
              </a:solidFill>
            </a:endParaRPr>
          </a:p>
          <a:p>
            <a:pPr lvl="1" algn="just"/>
            <a:r>
              <a:rPr lang="en-US"/>
              <a:t>Identifying factors leading to better gross margins on a retail chain.</a:t>
            </a:r>
          </a:p>
          <a:p>
            <a:pPr lvl="1" algn="just"/>
            <a:r>
              <a:rPr lang="en-US">
                <a:solidFill>
                  <a:srgbClr val="FF0000"/>
                </a:solidFill>
              </a:rPr>
              <a:t>Xác định các yếu tố chủ chốt mang đến lợi nhuận tốt nhất.</a:t>
            </a:r>
          </a:p>
        </p:txBody>
      </p:sp>
    </p:spTree>
    <p:extLst>
      <p:ext uri="{BB962C8B-B14F-4D97-AF65-F5344CB8AC3E}">
        <p14:creationId xmlns:p14="http://schemas.microsoft.com/office/powerpoint/2010/main" val="259744139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4F30-A9C1-43F8-A1BD-5EEC0B88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thuật toán cây quyết định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D90B2-D6A8-4F47-9E3F-2F031A3CD2B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https://www.quora.com/In-what-real-world-applications-is-the-decision-tree-classifier-used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C97F-6CD6-4CB8-B708-1861672B9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Hotel</a:t>
            </a:r>
            <a:r>
              <a:rPr lang="en-US"/>
              <a:t>.</a:t>
            </a:r>
          </a:p>
          <a:p>
            <a:pPr lvl="1" algn="just"/>
            <a:r>
              <a:rPr lang="en-US"/>
              <a:t>Identifying correlates to high average checks for a global quick-service restaurant chain.</a:t>
            </a:r>
          </a:p>
          <a:p>
            <a:pPr lvl="1" algn="just"/>
            <a:r>
              <a:rPr lang="en-US">
                <a:solidFill>
                  <a:srgbClr val="FF0000"/>
                </a:solidFill>
              </a:rPr>
              <a:t>Xác định t</a:t>
            </a:r>
            <a:r>
              <a:rPr lang="vi-VN">
                <a:solidFill>
                  <a:srgbClr val="FF0000"/>
                </a:solidFill>
              </a:rPr>
              <a:t>ư</a:t>
            </a:r>
            <a:r>
              <a:rPr lang="en-US">
                <a:solidFill>
                  <a:srgbClr val="FF0000"/>
                </a:solidFill>
              </a:rPr>
              <a:t>ơng quan giữa check in và dịch vụ nhà hàng.</a:t>
            </a:r>
          </a:p>
        </p:txBody>
      </p:sp>
    </p:spTree>
    <p:extLst>
      <p:ext uri="{BB962C8B-B14F-4D97-AF65-F5344CB8AC3E}">
        <p14:creationId xmlns:p14="http://schemas.microsoft.com/office/powerpoint/2010/main" val="399093262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D6BFC6-3AFB-4CF8-85AA-1B38FE75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thuật toán cây quyết định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B2CEC5-3383-465A-AF71-A1A42E63655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Predicting tumor cells as benign or malignant</a:t>
            </a:r>
          </a:p>
        </p:txBody>
      </p:sp>
      <p:pic>
        <p:nvPicPr>
          <p:cNvPr id="5122" name="Picture 2" descr="Kết quả hình ảnh cho Predicting tumor cells as benign or malignant&quot;">
            <a:extLst>
              <a:ext uri="{FF2B5EF4-FFF2-40B4-BE49-F238E27FC236}">
                <a16:creationId xmlns:a16="http://schemas.microsoft.com/office/drawing/2014/main" id="{D0F088CF-4BBC-4A14-891C-7FD00B3F1D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194" y="1600200"/>
            <a:ext cx="5039612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42110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D6BFC6-3AFB-4CF8-85AA-1B38FE75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thuật toán cây quyết định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B2CEC5-3383-465A-AF71-A1A42E63655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algn="just">
              <a:defRPr/>
            </a:pPr>
            <a:r>
              <a:rPr lang="en-US"/>
              <a:t>Classifying credit card transactions as legitimate or fraudulent</a:t>
            </a:r>
          </a:p>
        </p:txBody>
      </p:sp>
      <p:pic>
        <p:nvPicPr>
          <p:cNvPr id="7170" name="Picture 2" descr="Kết quả hình ảnh cho Classifying credit card transactions as legitimate or fraudulent&quot;">
            <a:extLst>
              <a:ext uri="{FF2B5EF4-FFF2-40B4-BE49-F238E27FC236}">
                <a16:creationId xmlns:a16="http://schemas.microsoft.com/office/drawing/2014/main" id="{0991689F-3882-405F-8BEC-D647E98E32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733" y="1600200"/>
            <a:ext cx="5960533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17739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D6BFC6-3AFB-4CF8-85AA-1B38FE75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thuật toán cây quyết định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B2CEC5-3383-465A-AF71-A1A42E63655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algn="just">
              <a:defRPr/>
            </a:pPr>
            <a:r>
              <a:rPr lang="en-US"/>
              <a:t>Classifying secondary structures of protein as alpha-helix, beta-sheet, or random coil.</a:t>
            </a:r>
          </a:p>
        </p:txBody>
      </p:sp>
      <p:pic>
        <p:nvPicPr>
          <p:cNvPr id="8194" name="Picture 2" descr="Kết quả hình ảnh cho Classifying secondary structures of protein as alpha-helix, beta-sheet, or random coil.&quot;">
            <a:extLst>
              <a:ext uri="{FF2B5EF4-FFF2-40B4-BE49-F238E27FC236}">
                <a16:creationId xmlns:a16="http://schemas.microsoft.com/office/drawing/2014/main" id="{660AF7EE-BC9C-4736-94C9-289BC7F3B1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1600200"/>
            <a:ext cx="44704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55926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D6BFC6-3AFB-4CF8-85AA-1B38FE75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thuật toán cây quyết định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B2CEC5-3383-465A-AF71-A1A42E63655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algn="just">
              <a:defRPr/>
            </a:pPr>
            <a:r>
              <a:rPr lang="en-US"/>
              <a:t>Categorizing news stories as finance, weather, entertainment, sports, etc.</a:t>
            </a:r>
          </a:p>
        </p:txBody>
      </p:sp>
      <p:pic>
        <p:nvPicPr>
          <p:cNvPr id="9218" name="Picture 2" descr="Kết quả hình ảnh cho stories from data&quot;">
            <a:extLst>
              <a:ext uri="{FF2B5EF4-FFF2-40B4-BE49-F238E27FC236}">
                <a16:creationId xmlns:a16="http://schemas.microsoft.com/office/drawing/2014/main" id="{EA377654-2426-45A2-8F13-D75CE4033A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40" y="1600200"/>
            <a:ext cx="443492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76394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D6BFC6-3AFB-4CF8-85AA-1B38FE75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Ứng dụng thuật toán cây quyết định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B2CEC5-3383-465A-AF71-A1A42E63655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/>
              <a:t>Object classification for robot manipulator (Tan 1993)</a:t>
            </a:r>
            <a:endParaRPr lang="en-US"/>
          </a:p>
        </p:txBody>
      </p:sp>
      <p:pic>
        <p:nvPicPr>
          <p:cNvPr id="1028" name="Picture 4" descr="Kết quả hình ảnh cho Object classification for robot manipulator&quot;">
            <a:extLst>
              <a:ext uri="{FF2B5EF4-FFF2-40B4-BE49-F238E27FC236}">
                <a16:creationId xmlns:a16="http://schemas.microsoft.com/office/drawing/2014/main" id="{6C18E02E-F777-4DB4-A254-6187757E04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751" y="1600200"/>
            <a:ext cx="5994497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39583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392ECF-E450-4C68-B6C3-474CBF4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MẠNH CỦA CÂY QUYẾT ĐỊNH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05F66B-3299-4C3A-98A2-4DFEDAB1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2966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E8F2-08D6-4CEB-AACA-37F87F15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mạnh của thuật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8D25-542E-43FC-8E47-784017A09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Simple to understand and interpret.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Cây quyết định dễ hiểu.</a:t>
            </a:r>
          </a:p>
          <a:p>
            <a:pPr algn="just"/>
            <a:endParaRPr lang="en-US">
              <a:solidFill>
                <a:srgbClr val="FF0000"/>
              </a:solidFill>
            </a:endParaRPr>
          </a:p>
          <a:p>
            <a:pPr algn="just"/>
            <a:r>
              <a:rPr lang="en-US"/>
              <a:t>Decision Trees are easy to explain. It results in a set of rules.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Cây quyết định dễ giải thích. Kết quả của nó là tập các luật.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CC637-72AB-4189-A687-D8944EF7478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https://en.wikipedia.org/wiki/Decision_tree_learning</a:t>
            </a:r>
          </a:p>
        </p:txBody>
      </p:sp>
    </p:spTree>
    <p:extLst>
      <p:ext uri="{BB962C8B-B14F-4D97-AF65-F5344CB8AC3E}">
        <p14:creationId xmlns:p14="http://schemas.microsoft.com/office/powerpoint/2010/main" val="155109164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E8F2-08D6-4CEB-AACA-37F87F15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mạnh của thuật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8D25-542E-43FC-8E47-784017A09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/>
              <a:t>Able to handle both numerical and categorical data.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Cây quyết định có thể xử lý cả dữ liệu có giá trị bằng số và dữ liệu có giá trị là tên thể loại.</a:t>
            </a:r>
          </a:p>
          <a:p>
            <a:pPr algn="just"/>
            <a:endParaRPr lang="en-US"/>
          </a:p>
          <a:p>
            <a:pPr algn="just"/>
            <a:r>
              <a:rPr lang="vi-VN"/>
              <a:t>Requires little data preparation. 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Việc chuẩn bị dữ liệu cho một cây quyết định là cơ bản hoặc không cần thiết</a:t>
            </a:r>
            <a:r>
              <a:rPr lang="en-US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CC637-72AB-4189-A687-D8944EF7478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https://en.wikipedia.org/wiki/Decision_tree_learning</a:t>
            </a:r>
          </a:p>
        </p:txBody>
      </p:sp>
    </p:spTree>
    <p:extLst>
      <p:ext uri="{BB962C8B-B14F-4D97-AF65-F5344CB8AC3E}">
        <p14:creationId xmlns:p14="http://schemas.microsoft.com/office/powerpoint/2010/main" val="308314069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42BF-9BE2-4B7E-8EE1-AB136C24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mạnh của thuật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D1276-BBEF-4BF0-A915-DB76B1CA7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/>
              <a:t>Uses a white box model. 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Cây quyết định là một mô hình hộp trắng.</a:t>
            </a:r>
            <a:endParaRPr lang="en-US">
              <a:solidFill>
                <a:srgbClr val="FF0000"/>
              </a:solidFill>
            </a:endParaRPr>
          </a:p>
          <a:p>
            <a:pPr algn="just"/>
            <a:endParaRPr lang="vi-VN">
              <a:solidFill>
                <a:srgbClr val="FF0000"/>
              </a:solidFill>
            </a:endParaRPr>
          </a:p>
          <a:p>
            <a:pPr algn="just"/>
            <a:r>
              <a:rPr lang="vi-VN"/>
              <a:t>Possible to validate a model using statistical tests.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Có thể thẩm định một mô hình bằng các kiểm tra thống kê.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D167B-4FAE-4953-8FE4-6C788493578A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4893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DDDB-5C32-4D75-9C66-45BD17B3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mạnh của thuật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47F8-2AC0-4D9A-9355-7F506AB3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/>
              <a:t>Performs well with large datasets.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Cây quyết định có thể xử lý tốt một lượng dữ liệu lớn trong thời gian ngắn.</a:t>
            </a:r>
            <a:endParaRPr lang="en-US">
              <a:solidFill>
                <a:srgbClr val="FF0000"/>
              </a:solidFill>
            </a:endParaRPr>
          </a:p>
          <a:p>
            <a:pPr algn="just"/>
            <a:endParaRPr lang="vi-VN">
              <a:solidFill>
                <a:srgbClr val="FF0000"/>
              </a:solidFill>
            </a:endParaRPr>
          </a:p>
          <a:p>
            <a:pPr algn="just"/>
            <a:r>
              <a:rPr lang="en-US"/>
              <a:t>It follows the same approach as humans generally follow while making decisions.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Cây quyết định giống cách tiếp cận ra quyết định của con ng</a:t>
            </a:r>
            <a:r>
              <a:rPr lang="vi-VN">
                <a:solidFill>
                  <a:srgbClr val="FF0000"/>
                </a:solidFill>
              </a:rPr>
              <a:t>ư</a:t>
            </a:r>
            <a:r>
              <a:rPr lang="en-US">
                <a:solidFill>
                  <a:srgbClr val="FF0000"/>
                </a:solidFill>
              </a:rPr>
              <a:t>ời.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A5215-4F94-4DD8-9D69-737CCB38509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https://dataaspirant.com/2017/01/30/how-decision-tree-algorithm-works/</a:t>
            </a:r>
          </a:p>
        </p:txBody>
      </p:sp>
    </p:spTree>
    <p:extLst>
      <p:ext uri="{BB962C8B-B14F-4D97-AF65-F5344CB8AC3E}">
        <p14:creationId xmlns:p14="http://schemas.microsoft.com/office/powerpoint/2010/main" val="99021793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DDDB-5C32-4D75-9C66-45BD17B3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mạnh của thuật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47F8-2AC0-4D9A-9355-7F506AB3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Interpretation of a complex Decision Tree model can be simplified by its visualizations. Even a naive person can understand logic.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Dễ trực quan hóa.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A5215-4F94-4DD8-9D69-737CCB38509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https://dataaspirant.com/2017/01/30/how-decision-tree-algorithm-works/</a:t>
            </a:r>
          </a:p>
        </p:txBody>
      </p:sp>
    </p:spTree>
    <p:extLst>
      <p:ext uri="{BB962C8B-B14F-4D97-AF65-F5344CB8AC3E}">
        <p14:creationId xmlns:p14="http://schemas.microsoft.com/office/powerpoint/2010/main" val="59277030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392ECF-E450-4C68-B6C3-474CBF4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YẾU CỦA CÂY QUYẾT ĐỊNH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05F66B-3299-4C3A-98A2-4DFEDAB1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2297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DDDB-5C32-4D75-9C66-45BD17B3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yếu của thuật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47F8-2AC0-4D9A-9355-7F506AB3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There is a high probability of overfitting in Decision Tree.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Xác xuất xảy ra quá khớp cao.</a:t>
            </a:r>
          </a:p>
          <a:p>
            <a:pPr algn="just"/>
            <a:endParaRPr lang="en-US">
              <a:solidFill>
                <a:srgbClr val="FF0000"/>
              </a:solidFill>
            </a:endParaRPr>
          </a:p>
          <a:p>
            <a:pPr algn="just"/>
            <a:r>
              <a:rPr lang="en-US"/>
              <a:t>Generally, it gives low prediction accuracy for a dataset as compared to other machine learning algorithms.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Độ chính xác của việc dự báo thấp so với các thuật toán học máy khác.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A5215-4F94-4DD8-9D69-737CCB38509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https://dataaspirant.com/2017/01/30/how-decision-tree-algorithm-works/</a:t>
            </a:r>
          </a:p>
        </p:txBody>
      </p:sp>
    </p:spTree>
    <p:extLst>
      <p:ext uri="{BB962C8B-B14F-4D97-AF65-F5344CB8AC3E}">
        <p14:creationId xmlns:p14="http://schemas.microsoft.com/office/powerpoint/2010/main" val="359795997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DDDB-5C32-4D75-9C66-45BD17B3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yếu của thuật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47F8-2AC0-4D9A-9355-7F506AB3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Information gain in a decision tree with categorical variables gives a biased response for attributes with greater no. of categories.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Độ đo Information gain  gặp khó khăn với </a:t>
            </a:r>
            <a:r>
              <a:rPr lang="vi-VN">
                <a:solidFill>
                  <a:srgbClr val="FF0000"/>
                </a:solidFill>
              </a:rPr>
              <a:t>dữ liệu có </a:t>
            </a:r>
            <a:r>
              <a:rPr lang="en-US">
                <a:solidFill>
                  <a:srgbClr val="FF0000"/>
                </a:solidFill>
              </a:rPr>
              <a:t>miền </a:t>
            </a:r>
            <a:r>
              <a:rPr lang="vi-VN">
                <a:solidFill>
                  <a:srgbClr val="FF0000"/>
                </a:solidFill>
              </a:rPr>
              <a:t>giá trị là </a:t>
            </a:r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dữ liệu phân loại</a:t>
            </a:r>
            <a:r>
              <a:rPr lang="en-US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>
              <a:solidFill>
                <a:srgbClr val="FF0000"/>
              </a:solidFill>
            </a:endParaRPr>
          </a:p>
          <a:p>
            <a:pPr algn="just"/>
            <a:r>
              <a:rPr lang="en-US"/>
              <a:t>Calculations can become complex when there are many class labels.</a:t>
            </a:r>
          </a:p>
          <a:p>
            <a:pPr algn="just"/>
            <a:r>
              <a:rPr lang="en-US">
                <a:solidFill>
                  <a:srgbClr val="FF0000"/>
                </a:solidFill>
              </a:rPr>
              <a:t>Việc tính toán trở nên phức tạp nếu biến phụ thuộc có nhiều lớp (nhiều nhãn).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A5215-4F94-4DD8-9D69-737CCB38509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https://dataaspirant.com/2017/01/30/how-decision-tree-algorithm-works/</a:t>
            </a:r>
          </a:p>
        </p:txBody>
      </p:sp>
    </p:spTree>
    <p:extLst>
      <p:ext uri="{BB962C8B-B14F-4D97-AF65-F5344CB8AC3E}">
        <p14:creationId xmlns:p14="http://schemas.microsoft.com/office/powerpoint/2010/main" val="249205281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392ECF-E450-4C68-B6C3-474CBF4E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ĐỘ ĐO XÂY DỰNG CÂY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05F66B-3299-4C3A-98A2-4DFEDAB1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4277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2A54-BDD6-454C-9396-5C32FBBA1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độ đo - 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14896-69E6-46CF-A388-2E333F35B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Gini impurity – Gini index</a:t>
            </a:r>
            <a:r>
              <a:rPr lang="en-US"/>
              <a:t>: CART.</a:t>
            </a:r>
          </a:p>
          <a:p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Information gain</a:t>
            </a:r>
            <a:r>
              <a:rPr lang="en-US"/>
              <a:t>: ID3, C4.5, C5.0.</a:t>
            </a:r>
          </a:p>
          <a:p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Variance reduction</a:t>
            </a:r>
            <a:r>
              <a:rPr lang="en-US"/>
              <a:t>: CART.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537E5-98B9-46B3-8F1A-679ADE7BCA2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https://en.wikipedia.org/wiki/Decision_tree_learning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3612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AB1255-BCCE-47F3-9A10-F9FAAAC9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MINH HỌA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EAA575-A3F0-4549-8D4F-802D4076A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70737391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52962BE-956B-4C2B-8959-F81F49C5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2A53E4F-6A54-4CD1-B368-6231912A4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Cho tập dữ liệu các mặt hàng như sau. X</a:t>
            </a:r>
            <a:r>
              <a:rPr lang="vi-VN" altLang="en-US"/>
              <a:t>ác định khi nào người dùng quyết định Mua và Không mua một mặt h</a:t>
            </a:r>
            <a:r>
              <a:rPr lang="en-US" altLang="en-US"/>
              <a:t>à</a:t>
            </a:r>
            <a:r>
              <a:rPr lang="vi-VN" altLang="en-US"/>
              <a:t>ng</a:t>
            </a:r>
            <a:r>
              <a:rPr lang="en-US" altLang="en-US"/>
              <a:t>.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A82BDF-2D87-4E53-AB23-FE53D4F5B4AA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712720"/>
          <a:ext cx="9731058" cy="414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247693637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28543447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5029993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3203828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09116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Kích cỡ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Màu 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Hình dáng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Quyết định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42733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Cầu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615109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Lớn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Vàng 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Hộp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25715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51396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Nhỏ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Cầu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91257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Nón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2050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Nhỏ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Nón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025582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66961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08270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Bài toán: sử dụng thuật toán Cây định danh để xác định khi nào người dùng quyết định Mua và Không mua một mặt hàng.</a:t>
            </a:r>
            <a:endParaRPr lang="en-US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98EE2799-1719-4B78-97B9-6841E71F83A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712720"/>
          <a:ext cx="9731058" cy="414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247693637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28543447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5029993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3203828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09116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Kích cỡ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Màu 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Hình dáng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Quyết định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42733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Cầu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615109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Lớn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Vàng 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Hộp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25715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51396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Nhỏ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Cầu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91257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Nón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2050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Nhỏ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Nón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025582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66961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10276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3014C14C-CF3C-445E-B332-02F4C2D1B3BD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092960"/>
          <a:ext cx="9731058" cy="414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247693637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28543447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5029993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3203828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09116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Kích cỡ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Màu 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Hình dáng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Quyết định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42733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Cầu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615109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Lớn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Vàng 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Hộp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25715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51396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Nhỏ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Cầu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91257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Nón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2050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Nhỏ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Nón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025582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66961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46549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01: Có mấy thuộc tính.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4660295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01: Có mấy thuộc tính.</a:t>
            </a:r>
          </a:p>
          <a:p>
            <a:r>
              <a:rPr lang="en-US">
                <a:solidFill>
                  <a:srgbClr val="FF0000"/>
                </a:solidFill>
              </a:rPr>
              <a:t>Trả lời: 4 thuộc tính.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007591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01: Có mấy thuộc tính.</a:t>
            </a:r>
          </a:p>
          <a:p>
            <a:r>
              <a:rPr lang="en-US">
                <a:solidFill>
                  <a:srgbClr val="FF0000"/>
                </a:solidFill>
              </a:rPr>
              <a:t>Trả lời: 4 thuộc tính.</a:t>
            </a:r>
          </a:p>
          <a:p>
            <a:r>
              <a:rPr lang="en-US"/>
              <a:t>Câu hỏi 02: Thuộc tính thứ nhất tên gì?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0989915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01: Có mấy thuộc tính.</a:t>
            </a:r>
          </a:p>
          <a:p>
            <a:r>
              <a:rPr lang="en-US">
                <a:solidFill>
                  <a:srgbClr val="FF0000"/>
                </a:solidFill>
              </a:rPr>
              <a:t>Trả lời: 4 thuộc tính.</a:t>
            </a:r>
          </a:p>
          <a:p>
            <a:r>
              <a:rPr lang="en-US"/>
              <a:t>Câu hỏi 02: Thuộc tính thứ nhất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Kích cỡ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142359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01: Có mấy thuộc tính.</a:t>
            </a:r>
          </a:p>
          <a:p>
            <a:r>
              <a:rPr lang="en-US">
                <a:solidFill>
                  <a:srgbClr val="FF0000"/>
                </a:solidFill>
              </a:rPr>
              <a:t>Trả lời: 4 thuộc tính.</a:t>
            </a:r>
          </a:p>
          <a:p>
            <a:r>
              <a:rPr lang="en-US"/>
              <a:t>Câu hỏi 02: Thuộc tính thứ nhất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Kích cỡ</a:t>
            </a:r>
          </a:p>
          <a:p>
            <a:r>
              <a:rPr lang="en-US"/>
              <a:t>Câu hỏi 03: Thuộc tính thứ hai tên gì?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7517968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01: Có mấy thuộc tính.</a:t>
            </a:r>
          </a:p>
          <a:p>
            <a:r>
              <a:rPr lang="en-US">
                <a:solidFill>
                  <a:srgbClr val="FF0000"/>
                </a:solidFill>
              </a:rPr>
              <a:t>Trả lời: 4 thuộc tính.</a:t>
            </a:r>
          </a:p>
          <a:p>
            <a:r>
              <a:rPr lang="en-US"/>
              <a:t>Câu hỏi 02: Thuộc tính thứ nhất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Kích cỡ</a:t>
            </a:r>
          </a:p>
          <a:p>
            <a:r>
              <a:rPr lang="en-US"/>
              <a:t>Câu hỏi 03: Thuộc tính thứ hai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Màu.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5931502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04: Thuộc tính thứ ba tên gì?</a:t>
            </a:r>
            <a:endParaRPr lang="en-US" b="1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385110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04: Thuộc tính thứ ba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Hình dáng.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49391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04: Thuộc tính thứ ba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Hình dáng.</a:t>
            </a:r>
          </a:p>
          <a:p>
            <a:r>
              <a:rPr lang="en-US"/>
              <a:t>Câu hỏi 05: Thuộc tính thứ t</a:t>
            </a:r>
            <a:r>
              <a:rPr lang="vi-VN"/>
              <a:t>ư</a:t>
            </a:r>
            <a:r>
              <a:rPr lang="en-US"/>
              <a:t> tên gì?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623737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04: Thuộc tính thứ ba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Hình dáng.</a:t>
            </a:r>
          </a:p>
          <a:p>
            <a:r>
              <a:rPr lang="en-US"/>
              <a:t>Câu hỏi 05: Thuộc tính thứ t</a:t>
            </a:r>
            <a:r>
              <a:rPr lang="vi-VN"/>
              <a:t>ư</a:t>
            </a:r>
            <a:r>
              <a:rPr lang="en-US"/>
              <a:t>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Quyết định.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507798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04: Thuộc tính thứ ba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Hình dáng.</a:t>
            </a:r>
          </a:p>
          <a:p>
            <a:r>
              <a:rPr lang="en-US"/>
              <a:t>Câu hỏi 05: Thuộc tính thứ t</a:t>
            </a:r>
            <a:r>
              <a:rPr lang="vi-VN"/>
              <a:t>ư</a:t>
            </a:r>
            <a:r>
              <a:rPr lang="en-US"/>
              <a:t>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Quyết định.</a:t>
            </a:r>
          </a:p>
          <a:p>
            <a:r>
              <a:rPr lang="en-US"/>
              <a:t>Câu hỏi 06: Miền giá trị của thuộc tính Kích cỡ?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267280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04: Thuộc tính thứ ba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Hình dáng.</a:t>
            </a:r>
          </a:p>
          <a:p>
            <a:r>
              <a:rPr lang="en-US"/>
              <a:t>Câu hỏi 05: Thuộc tính thứ t</a:t>
            </a:r>
            <a:r>
              <a:rPr lang="vi-VN"/>
              <a:t>ư</a:t>
            </a:r>
            <a:r>
              <a:rPr lang="en-US"/>
              <a:t> tên gì?</a:t>
            </a:r>
          </a:p>
          <a:p>
            <a:r>
              <a:rPr lang="en-US">
                <a:solidFill>
                  <a:srgbClr val="FF0000"/>
                </a:solidFill>
              </a:rPr>
              <a:t>Trả lời: Quyết định.</a:t>
            </a:r>
          </a:p>
          <a:p>
            <a:r>
              <a:rPr lang="en-US"/>
              <a:t>Câu hỏi 06: Miền giá trị của thuộc tính Kích cỡ?</a:t>
            </a:r>
          </a:p>
          <a:p>
            <a:r>
              <a:rPr lang="en-US">
                <a:solidFill>
                  <a:srgbClr val="FF0000"/>
                </a:solidFill>
              </a:rPr>
              <a:t>Trả lời: {Nhỏ, Trung Bình, Lớn}.</a:t>
            </a:r>
            <a:endParaRPr lang="en-US" b="1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8059633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07: Miền giá trị của thuộc tính Màu?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6549360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07: Miền giá trị của thuộc tính Màu?</a:t>
            </a:r>
          </a:p>
          <a:p>
            <a:r>
              <a:rPr lang="en-US">
                <a:solidFill>
                  <a:srgbClr val="FF0000"/>
                </a:solidFill>
              </a:rPr>
              <a:t>Trả lời: {Đỏ, Vàng, Xanh}.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6170974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07: Miền giá trị của thuộc tính Màu?</a:t>
            </a:r>
          </a:p>
          <a:p>
            <a:r>
              <a:rPr lang="en-US">
                <a:solidFill>
                  <a:srgbClr val="FF0000"/>
                </a:solidFill>
              </a:rPr>
              <a:t>Trả lời: {Đỏ, Vàng, Xanh}.</a:t>
            </a:r>
          </a:p>
          <a:p>
            <a:r>
              <a:rPr lang="en-US"/>
              <a:t>Câu hỏi 08: Miền giá trị của thuộc tính Hình dáng?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281097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07: Miền giá trị của thuộc tính Màu?</a:t>
            </a:r>
          </a:p>
          <a:p>
            <a:r>
              <a:rPr lang="en-US">
                <a:solidFill>
                  <a:srgbClr val="FF0000"/>
                </a:solidFill>
              </a:rPr>
              <a:t>Trả lời: {Đỏ, Vàng, Xanh}.</a:t>
            </a:r>
          </a:p>
          <a:p>
            <a:r>
              <a:rPr lang="en-US"/>
              <a:t>Câu hỏi 08: Miền giá trị của thuộc tính Hình dáng?</a:t>
            </a:r>
          </a:p>
          <a:p>
            <a:r>
              <a:rPr lang="en-US">
                <a:solidFill>
                  <a:srgbClr val="FF0000"/>
                </a:solidFill>
              </a:rPr>
              <a:t>Trả lời: {Cầu, Hộp, Trụ, Nón}.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8710402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07: Miền giá trị của thuộc tính Màu?</a:t>
            </a:r>
          </a:p>
          <a:p>
            <a:r>
              <a:rPr lang="en-US">
                <a:solidFill>
                  <a:srgbClr val="FF0000"/>
                </a:solidFill>
              </a:rPr>
              <a:t>Trả lời: {Đỏ, Vàng, Xanh}.</a:t>
            </a:r>
          </a:p>
          <a:p>
            <a:r>
              <a:rPr lang="en-US"/>
              <a:t>Câu hỏi 08: Miền giá trị của thuộc tính Hình dáng?</a:t>
            </a:r>
          </a:p>
          <a:p>
            <a:r>
              <a:rPr lang="en-US">
                <a:solidFill>
                  <a:srgbClr val="FF0000"/>
                </a:solidFill>
              </a:rPr>
              <a:t>Trả lời: {Cầu, Hộp, Trụ, Nón}.</a:t>
            </a:r>
          </a:p>
          <a:p>
            <a:r>
              <a:rPr lang="en-US"/>
              <a:t>Câu hỏi 09: Miền giá trị của thuộc tính Quyết định?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2056165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349A1-5700-46B7-AE1A-CEF88518E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Câu hỏi 07: Miền giá trị của thuộc tính Màu?</a:t>
            </a:r>
          </a:p>
          <a:p>
            <a:r>
              <a:rPr lang="en-US">
                <a:solidFill>
                  <a:srgbClr val="FF0000"/>
                </a:solidFill>
              </a:rPr>
              <a:t>Trả lời: {Đỏ, Vàng, Xanh}.</a:t>
            </a:r>
          </a:p>
          <a:p>
            <a:r>
              <a:rPr lang="en-US"/>
              <a:t>Câu hỏi 08: Miền giá trị của thuộc tính Hình dáng?</a:t>
            </a:r>
          </a:p>
          <a:p>
            <a:r>
              <a:rPr lang="en-US">
                <a:solidFill>
                  <a:srgbClr val="FF0000"/>
                </a:solidFill>
              </a:rPr>
              <a:t>Trả lời: {Cầu, Hộp, Trụ, Nón}.</a:t>
            </a:r>
          </a:p>
          <a:p>
            <a:r>
              <a:rPr lang="en-US"/>
              <a:t>Câu hỏi 09: Miền giá trị của thuộc tính Quyết định?</a:t>
            </a:r>
          </a:p>
          <a:p>
            <a:r>
              <a:rPr lang="en-US">
                <a:solidFill>
                  <a:srgbClr val="FF0000"/>
                </a:solidFill>
              </a:rPr>
              <a:t>Trả lời: {Mua, Không Mua}.</a:t>
            </a:r>
            <a:endParaRPr lang="en-US" b="1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D7E41B4-B82A-4BB2-9989-475D09BC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03" y="2210594"/>
            <a:ext cx="6187897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516628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1876BC-938C-40EB-AE71-8B013342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303401-F738-4BDF-A825-91B3B5AA7BFE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0" y="2682875"/>
            <a:ext cx="5994400" cy="2360613"/>
          </a:xfrm>
          <a:prstGeom prst="rect">
            <a:avLst/>
          </a:prstGeom>
        </p:spPr>
      </p:pic>
      <p:sp>
        <p:nvSpPr>
          <p:cNvPr id="9" name="Line 4">
            <a:extLst>
              <a:ext uri="{FF2B5EF4-FFF2-40B4-BE49-F238E27FC236}">
                <a16:creationId xmlns:a16="http://schemas.microsoft.com/office/drawing/2014/main" id="{C8B99807-AFD0-4524-B95B-EDE31DBA15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2190750"/>
            <a:ext cx="1905000" cy="1981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A6CC9D24-BFD1-460A-B304-31D3AA86C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2190750"/>
            <a:ext cx="0" cy="2057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E0EB98E1-23E8-4F6D-92DA-7EED205E2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2190750"/>
            <a:ext cx="1905000" cy="2057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5A4F4F5A-6419-44FC-81E6-6472B2E8291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105650" y="302895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TB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C396AA54-1F40-4D62-A901-B6AC2F5E7D0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001125" y="302895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Lớn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BABA9D8D-BDFA-464B-8A67-75FD19B6E64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205720" y="300863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Nhỏ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A1E56AE4-4961-40D6-B2A6-07C4E5DC1C5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29400" y="41148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6" name="Oval 11">
            <a:extLst>
              <a:ext uri="{FF2B5EF4-FFF2-40B4-BE49-F238E27FC236}">
                <a16:creationId xmlns:a16="http://schemas.microsoft.com/office/drawing/2014/main" id="{55E3B4E6-6F20-4560-AAB6-346DD06EE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1910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1</a:t>
            </a:r>
          </a:p>
        </p:txBody>
      </p:sp>
      <p:sp>
        <p:nvSpPr>
          <p:cNvPr id="17" name="Oval 12">
            <a:extLst>
              <a:ext uri="{FF2B5EF4-FFF2-40B4-BE49-F238E27FC236}">
                <a16:creationId xmlns:a16="http://schemas.microsoft.com/office/drawing/2014/main" id="{FFF80EB6-BF49-4783-A0D4-EFAFC648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6600" y="424815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4</a:t>
            </a:r>
          </a:p>
        </p:txBody>
      </p:sp>
      <p:sp>
        <p:nvSpPr>
          <p:cNvPr id="18" name="Oval 13">
            <a:extLst>
              <a:ext uri="{FF2B5EF4-FFF2-40B4-BE49-F238E27FC236}">
                <a16:creationId xmlns:a16="http://schemas.microsoft.com/office/drawing/2014/main" id="{D8343AC2-8C4C-4A8F-9082-0B9185A12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24815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2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A784092D-F0AA-42D4-80BA-F73C75582D1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29400" y="46482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EDA508B3-1D37-4B33-AE41-200983740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5626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7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7B047F69-CE5A-4644-9B02-C692E25B5B1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29400" y="50292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8000D6EE-6B49-4DB3-973B-E65909E60E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515600" y="470535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6C54F4-28F2-4118-9DA2-8021CB478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963" y="1676400"/>
            <a:ext cx="13692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Symbol" panose="05050102010706020507" pitchFamily="18" charset="2"/>
              <a:buNone/>
            </a:pPr>
            <a:r>
              <a:rPr lang="en-US" altLang="en-US" sz="2800" b="1">
                <a:highlight>
                  <a:srgbClr val="FFFF00"/>
                </a:highlight>
              </a:rPr>
              <a:t>Kích cỡ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CBC6CD-79EC-418D-BD41-63152A894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40" y="1962469"/>
            <a:ext cx="15408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Symbol" panose="05050102010706020507" pitchFamily="18" charset="2"/>
              <a:buNone/>
            </a:pPr>
            <a:r>
              <a:rPr lang="en-US" altLang="en-US" sz="3200" b="1">
                <a:highlight>
                  <a:srgbClr val="FFFF00"/>
                </a:highlight>
              </a:rPr>
              <a:t>Kích cỡ</a:t>
            </a:r>
          </a:p>
        </p:txBody>
      </p:sp>
    </p:spTree>
    <p:extLst>
      <p:ext uri="{BB962C8B-B14F-4D97-AF65-F5344CB8AC3E}">
        <p14:creationId xmlns:p14="http://schemas.microsoft.com/office/powerpoint/2010/main" val="19829696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animBg="1"/>
      <p:bldP spid="17" grpId="0" animBg="1"/>
      <p:bldP spid="18" grpId="0" animBg="1"/>
      <p:bldP spid="19" grpId="0"/>
      <p:bldP spid="20" grpId="0" animBg="1"/>
      <p:bldP spid="21" grpId="0"/>
      <p:bldP spid="22" grpId="0"/>
      <p:bldP spid="2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1876BC-938C-40EB-AE71-8B013342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303401-F738-4BDF-A825-91B3B5AA7BFE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0" y="2682875"/>
            <a:ext cx="5994400" cy="2360613"/>
          </a:xfrm>
          <a:prstGeom prst="rect">
            <a:avLst/>
          </a:prstGeom>
        </p:spPr>
      </p:pic>
      <p:sp>
        <p:nvSpPr>
          <p:cNvPr id="4" name="Line 6">
            <a:extLst>
              <a:ext uri="{FF2B5EF4-FFF2-40B4-BE49-F238E27FC236}">
                <a16:creationId xmlns:a16="http://schemas.microsoft.com/office/drawing/2014/main" id="{CD952F9B-DCC5-4CC7-A1E6-CCDFD87F29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2133600"/>
            <a:ext cx="1905000" cy="1981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CB2833E3-83B4-4D05-9B57-8FA841CE0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2141538"/>
            <a:ext cx="381000" cy="20494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9A7592C3-FC3D-4994-AED7-636E0942D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2133600"/>
            <a:ext cx="1905000" cy="2057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46FEC8CD-203D-479E-8EA0-916B3FADC0E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915150" y="286766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Đỏ</a:t>
            </a:r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BB31B6DB-4CD6-457C-97FE-E7E24086041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001000" y="287528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Vàng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BFD0C72-96EF-4F2D-9F8D-4883A37393D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06000" y="28956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Xanh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544AB7E-3FE7-42A6-9642-E35E70F4D85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24600" y="40386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DBCDF037-FDD8-44A5-8F64-E90F48301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1148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1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42F14B06-9F71-4646-893D-FBBAD020F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0" y="46482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4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E4D06399-7136-421E-A5D2-9F9AFBC5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41529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2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30A68EEE-9B13-4A84-B6E2-459A8CFEF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7244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7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E698E4A1-80AC-4F9E-A4D8-41A32D2A8C5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210800" y="54864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FB45711B-1AF9-44A7-93B3-EC5C649D814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305800" y="16002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Màu</a:t>
            </a: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55CA37C7-9672-4332-A4D9-6FA090FF976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210800" y="4114800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0CBCA9F3-C0A1-416A-B969-F8C23047508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210800" y="51054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2D1768-275D-470C-A0FE-217DC10CB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543" y="1962469"/>
            <a:ext cx="10054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Symbol" panose="05050102010706020507" pitchFamily="18" charset="2"/>
              <a:buNone/>
            </a:pPr>
            <a:r>
              <a:rPr lang="en-US" altLang="en-US" sz="3200" b="1">
                <a:highlight>
                  <a:srgbClr val="FFFF00"/>
                </a:highlight>
              </a:rPr>
              <a:t>Màu</a:t>
            </a:r>
          </a:p>
        </p:txBody>
      </p:sp>
    </p:spTree>
    <p:extLst>
      <p:ext uri="{BB962C8B-B14F-4D97-AF65-F5344CB8AC3E}">
        <p14:creationId xmlns:p14="http://schemas.microsoft.com/office/powerpoint/2010/main" val="1074671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1876BC-938C-40EB-AE71-8B013342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303401-F738-4BDF-A825-91B3B5AA7BFE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0" y="2682875"/>
            <a:ext cx="5994400" cy="2360613"/>
          </a:xfrm>
          <a:prstGeom prst="rect">
            <a:avLst/>
          </a:prstGeom>
        </p:spPr>
      </p:pic>
      <p:sp>
        <p:nvSpPr>
          <p:cNvPr id="24" name="Line 5">
            <a:extLst>
              <a:ext uri="{FF2B5EF4-FFF2-40B4-BE49-F238E27FC236}">
                <a16:creationId xmlns:a16="http://schemas.microsoft.com/office/drawing/2014/main" id="{154CE9AF-86B0-4B02-B033-421F62CA87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62750" y="2247900"/>
            <a:ext cx="21336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6">
            <a:extLst>
              <a:ext uri="{FF2B5EF4-FFF2-40B4-BE49-F238E27FC236}">
                <a16:creationId xmlns:a16="http://schemas.microsoft.com/office/drawing/2014/main" id="{D7F868D7-925B-43F4-BFC4-1C596924B6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2247900"/>
            <a:ext cx="36195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7">
            <a:extLst>
              <a:ext uri="{FF2B5EF4-FFF2-40B4-BE49-F238E27FC236}">
                <a16:creationId xmlns:a16="http://schemas.microsoft.com/office/drawing/2014/main" id="{3FC321EE-1EA6-4AEE-8C24-19322D743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6350" y="2247900"/>
            <a:ext cx="26670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 8">
            <a:extLst>
              <a:ext uri="{FF2B5EF4-FFF2-40B4-BE49-F238E27FC236}">
                <a16:creationId xmlns:a16="http://schemas.microsoft.com/office/drawing/2014/main" id="{8963C416-7E17-45ED-B1E8-AAE399724D8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457950" y="31623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Cầu</a:t>
            </a:r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B4CD19F5-369F-4B92-B155-FE2B930D4E7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589520" y="31623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Hộp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02B72143-E390-4037-BAA9-FA80717F002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344150" y="31623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Nón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4E16E8FC-ED4F-4376-BA2A-C1C7178113A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34150" y="421005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1" name="Oval 12">
            <a:extLst>
              <a:ext uri="{FF2B5EF4-FFF2-40B4-BE49-F238E27FC236}">
                <a16:creationId xmlns:a16="http://schemas.microsoft.com/office/drawing/2014/main" id="{863C5537-F714-410C-85F5-CEBBA8AC2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3434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1</a:t>
            </a:r>
          </a:p>
        </p:txBody>
      </p:sp>
      <p:sp>
        <p:nvSpPr>
          <p:cNvPr id="32" name="Oval 14">
            <a:extLst>
              <a:ext uri="{FF2B5EF4-FFF2-40B4-BE49-F238E27FC236}">
                <a16:creationId xmlns:a16="http://schemas.microsoft.com/office/drawing/2014/main" id="{10B91480-95A3-4F5E-9C28-0D924639B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36245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2</a:t>
            </a:r>
          </a:p>
        </p:txBody>
      </p:sp>
      <p:sp>
        <p:nvSpPr>
          <p:cNvPr id="33" name="Oval 15">
            <a:extLst>
              <a:ext uri="{FF2B5EF4-FFF2-40B4-BE49-F238E27FC236}">
                <a16:creationId xmlns:a16="http://schemas.microsoft.com/office/drawing/2014/main" id="{DEFEC20A-7E44-4168-A03C-F14B04CF2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9149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4</a:t>
            </a:r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4DAE5B42-941A-4E37-AE08-68F23527338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820400" y="474345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71B4991A-1D8A-4E99-8BB9-FC4BE0B49A1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829550" y="1752600"/>
            <a:ext cx="220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Hình dáng</a:t>
            </a:r>
          </a:p>
        </p:txBody>
      </p:sp>
      <p:sp>
        <p:nvSpPr>
          <p:cNvPr id="36" name="Rectangle 19">
            <a:extLst>
              <a:ext uri="{FF2B5EF4-FFF2-40B4-BE49-F238E27FC236}">
                <a16:creationId xmlns:a16="http://schemas.microsoft.com/office/drawing/2014/main" id="{A4A69458-B2FF-4122-B0DD-0981D44CEDF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820400" y="428625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7" name="Line 20">
            <a:extLst>
              <a:ext uri="{FF2B5EF4-FFF2-40B4-BE49-F238E27FC236}">
                <a16:creationId xmlns:a16="http://schemas.microsoft.com/office/drawing/2014/main" id="{1B9F9A7D-316E-4EEC-BCA0-B09CC08BD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6350" y="2247900"/>
            <a:ext cx="93345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Oval 21">
            <a:extLst>
              <a:ext uri="{FF2B5EF4-FFF2-40B4-BE49-F238E27FC236}">
                <a16:creationId xmlns:a16="http://schemas.microsoft.com/office/drawing/2014/main" id="{D9DB19B6-A09A-42FA-876E-A2968CDFA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050" y="48006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7</a:t>
            </a:r>
          </a:p>
        </p:txBody>
      </p:sp>
      <p:sp>
        <p:nvSpPr>
          <p:cNvPr id="39" name="Rectangle 22">
            <a:extLst>
              <a:ext uri="{FF2B5EF4-FFF2-40B4-BE49-F238E27FC236}">
                <a16:creationId xmlns:a16="http://schemas.microsoft.com/office/drawing/2014/main" id="{C6495415-6BB8-4FFE-8C95-CB72168959C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144000" y="4267200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1EB5F2BB-2BB0-4C50-8744-D0F9B32D5CD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144000" y="31623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Trụ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720D0E-CD48-478D-91F0-5E1B8F488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773" y="1962469"/>
            <a:ext cx="20409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Symbol" panose="05050102010706020507" pitchFamily="18" charset="2"/>
              <a:buNone/>
            </a:pPr>
            <a:r>
              <a:rPr lang="en-US" altLang="en-US" sz="3200" b="1">
                <a:highlight>
                  <a:srgbClr val="FFFF00"/>
                </a:highlight>
              </a:rPr>
              <a:t>Hình dáng</a:t>
            </a:r>
          </a:p>
        </p:txBody>
      </p:sp>
    </p:spTree>
    <p:extLst>
      <p:ext uri="{BB962C8B-B14F-4D97-AF65-F5344CB8AC3E}">
        <p14:creationId xmlns:p14="http://schemas.microsoft.com/office/powerpoint/2010/main" val="3708826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1" grpId="0" animBg="1"/>
      <p:bldP spid="32" grpId="0" animBg="1"/>
      <p:bldP spid="33" grpId="0" animBg="1"/>
      <p:bldP spid="34" grpId="0"/>
      <p:bldP spid="35" grpId="0"/>
      <p:bldP spid="36" grpId="0"/>
      <p:bldP spid="38" grpId="0" animBg="1"/>
      <p:bldP spid="39" grpId="0"/>
      <p:bldP spid="4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FE3D-F0A9-4560-B0CC-9F3744A4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8086913-270F-46F7-866D-93E607F331B4}"/>
              </a:ext>
            </a:extLst>
          </p:cNvPr>
          <p:cNvGrpSpPr/>
          <p:nvPr/>
        </p:nvGrpSpPr>
        <p:grpSpPr>
          <a:xfrm>
            <a:off x="6172200" y="1676400"/>
            <a:ext cx="5410200" cy="4419600"/>
            <a:chOff x="76200" y="1600200"/>
            <a:chExt cx="5410200" cy="4419600"/>
          </a:xfrm>
        </p:grpSpPr>
        <p:sp>
          <p:nvSpPr>
            <p:cNvPr id="4" name="Line 6">
              <a:extLst>
                <a:ext uri="{FF2B5EF4-FFF2-40B4-BE49-F238E27FC236}">
                  <a16:creationId xmlns:a16="http://schemas.microsoft.com/office/drawing/2014/main" id="{F90F2045-B0B6-4C3E-9A97-6BE05C31E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8200" y="2133600"/>
              <a:ext cx="1905000" cy="1981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480474CF-1F4A-44BF-8A88-ADDBE4EADB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2141538"/>
              <a:ext cx="381000" cy="20494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54D2F300-380F-415E-931F-7085301CD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2133600"/>
              <a:ext cx="1905000" cy="2057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E4E44A0B-02B6-4FF4-9414-B6E412FAD96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66750" y="286766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Đỏ</a:t>
              </a:r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	</a:t>
              </a: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6FD2C58E-8A69-4FDB-81CF-75F8D638205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752600" y="287528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Vàng</a:t>
              </a: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683988E5-6C2F-4D5E-B54A-C190FBBBB80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657600" y="28956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Xanh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F61B5F2F-DBE2-4A75-AB44-4ADE6938F5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6200" y="40386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600" b="1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C5FE71CD-4DAC-4097-9513-1F78B63D4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41148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1</a:t>
              </a:r>
            </a:p>
          </p:txBody>
        </p:sp>
        <p:sp>
          <p:nvSpPr>
            <p:cNvPr id="12" name="Oval 14">
              <a:extLst>
                <a:ext uri="{FF2B5EF4-FFF2-40B4-BE49-F238E27FC236}">
                  <a16:creationId xmlns:a16="http://schemas.microsoft.com/office/drawing/2014/main" id="{0B55BEED-2CBD-4A22-B486-824389A6C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46482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4</a:t>
              </a:r>
            </a:p>
          </p:txBody>
        </p: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444E28DE-A11F-4EFA-B099-44B7E8BB8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41529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2</a:t>
              </a:r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E6646978-7CF3-4DED-BB84-2EF8DCCDA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47244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7</a:t>
              </a:r>
            </a:p>
          </p:txBody>
        </p:sp>
        <p:sp>
          <p:nvSpPr>
            <p:cNvPr id="15" name="Rectangle 19">
              <a:extLst>
                <a:ext uri="{FF2B5EF4-FFF2-40B4-BE49-F238E27FC236}">
                  <a16:creationId xmlns:a16="http://schemas.microsoft.com/office/drawing/2014/main" id="{53CA5D43-AB2D-4095-BC1E-D021D7CAAA1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962400" y="5486400"/>
              <a:ext cx="15240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CDBB4F2A-F0D4-47FD-ADDA-86CC6340C9E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57400" y="16002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FFFF00"/>
                  </a:highlight>
                  <a:latin typeface="Arial" panose="020B0604020202020204" pitchFamily="34" charset="0"/>
                </a:rPr>
                <a:t>Màu</a:t>
              </a:r>
            </a:p>
          </p:txBody>
        </p:sp>
        <p:sp>
          <p:nvSpPr>
            <p:cNvPr id="17" name="Rectangle 21">
              <a:extLst>
                <a:ext uri="{FF2B5EF4-FFF2-40B4-BE49-F238E27FC236}">
                  <a16:creationId xmlns:a16="http://schemas.microsoft.com/office/drawing/2014/main" id="{A149301C-DD69-48FE-A3BF-6CA35F9E5EA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962400" y="4114800"/>
              <a:ext cx="14478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8" name="Rectangle 22">
              <a:extLst>
                <a:ext uri="{FF2B5EF4-FFF2-40B4-BE49-F238E27FC236}">
                  <a16:creationId xmlns:a16="http://schemas.microsoft.com/office/drawing/2014/main" id="{7EFDB4BB-9725-446F-976E-22823AE04B5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962400" y="5105400"/>
              <a:ext cx="15240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C4AFDD-6EC5-454B-A12B-C6C211EA1CA0}"/>
              </a:ext>
            </a:extLst>
          </p:cNvPr>
          <p:cNvGrpSpPr/>
          <p:nvPr/>
        </p:nvGrpSpPr>
        <p:grpSpPr>
          <a:xfrm>
            <a:off x="685800" y="1676400"/>
            <a:ext cx="5257800" cy="4343400"/>
            <a:chOff x="6629400" y="1676400"/>
            <a:chExt cx="5257800" cy="4343400"/>
          </a:xfrm>
        </p:grpSpPr>
        <p:sp>
          <p:nvSpPr>
            <p:cNvPr id="33" name="Line 4">
              <a:extLst>
                <a:ext uri="{FF2B5EF4-FFF2-40B4-BE49-F238E27FC236}">
                  <a16:creationId xmlns:a16="http://schemas.microsoft.com/office/drawing/2014/main" id="{34085B1D-DC2C-4506-B502-76278F366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1400" y="2190750"/>
              <a:ext cx="1905000" cy="1981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5">
              <a:extLst>
                <a:ext uri="{FF2B5EF4-FFF2-40B4-BE49-F238E27FC236}">
                  <a16:creationId xmlns:a16="http://schemas.microsoft.com/office/drawing/2014/main" id="{3659B38E-EA02-4D01-B425-E34058B73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6400" y="2190750"/>
              <a:ext cx="0" cy="2057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6">
              <a:extLst>
                <a:ext uri="{FF2B5EF4-FFF2-40B4-BE49-F238E27FC236}">
                  <a16:creationId xmlns:a16="http://schemas.microsoft.com/office/drawing/2014/main" id="{3F6E8698-FC6E-433A-9627-5BEAA19B8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6400" y="2190750"/>
              <a:ext cx="1905000" cy="2057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0D181E9C-FDD9-41E5-9086-70BF4C266E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105650" y="302895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TB</a:t>
              </a: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EB48AB2-D2E2-45CA-8941-058C08B10D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001125" y="302895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Lớn</a:t>
              </a: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7A37932-AB00-4D13-B10D-78A871A692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05720" y="300863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Nhỏ</a:t>
              </a: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DDFEEF55-9858-485E-9B5F-B4B7ADC4E0A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629400" y="41148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600" b="1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Oval 11">
              <a:extLst>
                <a:ext uri="{FF2B5EF4-FFF2-40B4-BE49-F238E27FC236}">
                  <a16:creationId xmlns:a16="http://schemas.microsoft.com/office/drawing/2014/main" id="{1694B3F2-A23B-4612-AB72-27DA6AED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41910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1</a:t>
              </a:r>
            </a:p>
          </p:txBody>
        </p:sp>
        <p:sp>
          <p:nvSpPr>
            <p:cNvPr id="41" name="Oval 12">
              <a:extLst>
                <a:ext uri="{FF2B5EF4-FFF2-40B4-BE49-F238E27FC236}">
                  <a16:creationId xmlns:a16="http://schemas.microsoft.com/office/drawing/2014/main" id="{9F3E3C2E-02B3-498A-B9F1-08B279EC0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6600" y="424815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4</a:t>
              </a:r>
            </a:p>
          </p:txBody>
        </p:sp>
        <p:sp>
          <p:nvSpPr>
            <p:cNvPr id="42" name="Oval 13">
              <a:extLst>
                <a:ext uri="{FF2B5EF4-FFF2-40B4-BE49-F238E27FC236}">
                  <a16:creationId xmlns:a16="http://schemas.microsoft.com/office/drawing/2014/main" id="{1C155E3F-0BB0-4863-9811-E8B041D9D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1600" y="424815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2</a:t>
              </a:r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27E34599-A813-4067-98CB-775A84E9626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629400" y="46482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Oval 16">
              <a:extLst>
                <a:ext uri="{FF2B5EF4-FFF2-40B4-BE49-F238E27FC236}">
                  <a16:creationId xmlns:a16="http://schemas.microsoft.com/office/drawing/2014/main" id="{DA6987A7-4715-4248-94D5-6A0790D4A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55626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7</a:t>
              </a:r>
            </a:p>
          </p:txBody>
        </p:sp>
        <p:sp>
          <p:nvSpPr>
            <p:cNvPr id="45" name="Rectangle 17">
              <a:extLst>
                <a:ext uri="{FF2B5EF4-FFF2-40B4-BE49-F238E27FC236}">
                  <a16:creationId xmlns:a16="http://schemas.microsoft.com/office/drawing/2014/main" id="{3394C382-6500-4D74-8F07-18514445A12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629400" y="50292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6" name="Rectangle 18">
              <a:extLst>
                <a:ext uri="{FF2B5EF4-FFF2-40B4-BE49-F238E27FC236}">
                  <a16:creationId xmlns:a16="http://schemas.microsoft.com/office/drawing/2014/main" id="{1A5DFEFC-C1BF-4491-9A55-171BC724C8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15600" y="470535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062CB5F-282C-4033-8760-8921BA08E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0963" y="1676400"/>
              <a:ext cx="13692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buFont typeface="Symbol" panose="05050102010706020507" pitchFamily="18" charset="2"/>
                <a:buNone/>
              </a:pPr>
              <a:r>
                <a:rPr lang="en-US" altLang="en-US" sz="2800" b="1">
                  <a:highlight>
                    <a:srgbClr val="FFFF00"/>
                  </a:highlight>
                </a:rPr>
                <a:t>Kích cỡ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930949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5DAA-C2D8-4329-B649-2A4C64BF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C869AB3-ACD4-406C-8289-D5FB27861ED5}"/>
              </a:ext>
            </a:extLst>
          </p:cNvPr>
          <p:cNvGrpSpPr/>
          <p:nvPr/>
        </p:nvGrpSpPr>
        <p:grpSpPr>
          <a:xfrm>
            <a:off x="6400800" y="1752600"/>
            <a:ext cx="5943600" cy="3619500"/>
            <a:chOff x="6400800" y="1752600"/>
            <a:chExt cx="5943600" cy="3619500"/>
          </a:xfrm>
        </p:grpSpPr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BA82CAED-18D8-45F8-9D2D-62B79D068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2750" y="2247900"/>
              <a:ext cx="2133600" cy="2133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6">
              <a:extLst>
                <a:ext uri="{FF2B5EF4-FFF2-40B4-BE49-F238E27FC236}">
                  <a16:creationId xmlns:a16="http://schemas.microsoft.com/office/drawing/2014/main" id="{81CFE0E9-B1CB-495D-9CFC-CC24E7FA9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34400" y="2247900"/>
              <a:ext cx="361950" cy="2133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E0083558-3153-41CB-A33B-F3F8446F5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6350" y="2247900"/>
              <a:ext cx="2667000" cy="2133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F8024E37-2A79-4166-9C32-02CA4EE4F7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457950" y="31623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Cầu</a:t>
              </a:r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	</a:t>
              </a: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B459EFDD-5607-4393-B2F8-3E6A0E85123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589520" y="31623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Hộp</a:t>
              </a: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4C5DB0FB-B824-4AC3-A31D-8B9A1C0652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44150" y="31623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Nón</a:t>
              </a:r>
            </a:p>
          </p:txBody>
        </p:sp>
        <p:sp>
          <p:nvSpPr>
            <p:cNvPr id="25" name="Rectangle 11">
              <a:extLst>
                <a:ext uri="{FF2B5EF4-FFF2-40B4-BE49-F238E27FC236}">
                  <a16:creationId xmlns:a16="http://schemas.microsoft.com/office/drawing/2014/main" id="{9E24E865-1960-4FBD-AC0A-CA778D5EC15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534150" y="421005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600" b="1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Oval 12">
              <a:extLst>
                <a:ext uri="{FF2B5EF4-FFF2-40B4-BE49-F238E27FC236}">
                  <a16:creationId xmlns:a16="http://schemas.microsoft.com/office/drawing/2014/main" id="{DC59ECFD-F592-4395-832C-1C0442034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9850" y="43434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1</a:t>
              </a:r>
            </a:p>
          </p:txBody>
        </p:sp>
        <p:sp>
          <p:nvSpPr>
            <p:cNvPr id="27" name="Oval 14">
              <a:extLst>
                <a:ext uri="{FF2B5EF4-FFF2-40B4-BE49-F238E27FC236}">
                  <a16:creationId xmlns:a16="http://schemas.microsoft.com/office/drawing/2014/main" id="{7169DAAB-4539-437D-BE29-39C0D7AB9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36245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2</a:t>
              </a:r>
            </a:p>
          </p:txBody>
        </p:sp>
        <p:sp>
          <p:nvSpPr>
            <p:cNvPr id="28" name="Oval 15">
              <a:extLst>
                <a:ext uri="{FF2B5EF4-FFF2-40B4-BE49-F238E27FC236}">
                  <a16:creationId xmlns:a16="http://schemas.microsoft.com/office/drawing/2014/main" id="{661B48C0-E0BD-4568-A9ED-612390F09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49149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4</a:t>
              </a:r>
            </a:p>
          </p:txBody>
        </p:sp>
        <p:sp>
          <p:nvSpPr>
            <p:cNvPr id="29" name="Rectangle 16">
              <a:extLst>
                <a:ext uri="{FF2B5EF4-FFF2-40B4-BE49-F238E27FC236}">
                  <a16:creationId xmlns:a16="http://schemas.microsoft.com/office/drawing/2014/main" id="{F0C8AF54-8AEB-462B-8DB8-607DA8FA41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20400" y="4743450"/>
              <a:ext cx="15240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30" name="Rectangle 17">
              <a:extLst>
                <a:ext uri="{FF2B5EF4-FFF2-40B4-BE49-F238E27FC236}">
                  <a16:creationId xmlns:a16="http://schemas.microsoft.com/office/drawing/2014/main" id="{49AE2E88-1E2C-4B0B-86F3-029F54CDA8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829550" y="1752600"/>
              <a:ext cx="22098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FFFF00"/>
                  </a:highlight>
                  <a:latin typeface="Arial" panose="020B0604020202020204" pitchFamily="34" charset="0"/>
                </a:rPr>
                <a:t>Hình dáng</a:t>
              </a:r>
            </a:p>
          </p:txBody>
        </p:sp>
        <p:sp>
          <p:nvSpPr>
            <p:cNvPr id="31" name="Rectangle 19">
              <a:extLst>
                <a:ext uri="{FF2B5EF4-FFF2-40B4-BE49-F238E27FC236}">
                  <a16:creationId xmlns:a16="http://schemas.microsoft.com/office/drawing/2014/main" id="{1A51B894-3798-457F-88C5-BF7708F068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20400" y="4286250"/>
              <a:ext cx="15240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2" name="Line 20">
              <a:extLst>
                <a:ext uri="{FF2B5EF4-FFF2-40B4-BE49-F238E27FC236}">
                  <a16:creationId xmlns:a16="http://schemas.microsoft.com/office/drawing/2014/main" id="{6AB4E555-4BE6-46C9-94E3-920FFD080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6350" y="2247900"/>
              <a:ext cx="933450" cy="2133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Oval 21">
              <a:extLst>
                <a:ext uri="{FF2B5EF4-FFF2-40B4-BE49-F238E27FC236}">
                  <a16:creationId xmlns:a16="http://schemas.microsoft.com/office/drawing/2014/main" id="{D9F88FEF-E4C9-4524-AD8A-B9F60732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0" y="48006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7</a:t>
              </a:r>
            </a:p>
          </p:txBody>
        </p:sp>
        <p:sp>
          <p:nvSpPr>
            <p:cNvPr id="34" name="Rectangle 22">
              <a:extLst>
                <a:ext uri="{FF2B5EF4-FFF2-40B4-BE49-F238E27FC236}">
                  <a16:creationId xmlns:a16="http://schemas.microsoft.com/office/drawing/2014/main" id="{555622DC-4E43-4D9A-8E34-B4B535D46C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144000" y="4267200"/>
              <a:ext cx="14478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04A28ACD-BFCC-4D59-98C6-F1A94126EA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144000" y="31623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Trụ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CA91BE0-67AE-4C41-A996-6FEB5D0F7E76}"/>
              </a:ext>
            </a:extLst>
          </p:cNvPr>
          <p:cNvGrpSpPr/>
          <p:nvPr/>
        </p:nvGrpSpPr>
        <p:grpSpPr>
          <a:xfrm>
            <a:off x="457200" y="1772097"/>
            <a:ext cx="5410200" cy="4419600"/>
            <a:chOff x="76200" y="1600200"/>
            <a:chExt cx="5410200" cy="4419600"/>
          </a:xfrm>
        </p:grpSpPr>
        <p:sp>
          <p:nvSpPr>
            <p:cNvPr id="38" name="Line 6">
              <a:extLst>
                <a:ext uri="{FF2B5EF4-FFF2-40B4-BE49-F238E27FC236}">
                  <a16:creationId xmlns:a16="http://schemas.microsoft.com/office/drawing/2014/main" id="{ADA3C953-4907-44DA-B6DC-249A3B8C2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8200" y="2133600"/>
              <a:ext cx="1905000" cy="1981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1F923432-BB9D-4B44-9A7E-A2EBA0C6E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2141538"/>
              <a:ext cx="381000" cy="20494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8">
              <a:extLst>
                <a:ext uri="{FF2B5EF4-FFF2-40B4-BE49-F238E27FC236}">
                  <a16:creationId xmlns:a16="http://schemas.microsoft.com/office/drawing/2014/main" id="{8DC94F80-01CE-40D2-AD1A-AE36CEAF1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2133600"/>
              <a:ext cx="1905000" cy="2057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325195E3-61A9-4A03-8BB0-33981F85075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66750" y="286766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Đỏ</a:t>
              </a:r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	</a:t>
              </a:r>
            </a:p>
          </p:txBody>
        </p:sp>
        <p:sp>
          <p:nvSpPr>
            <p:cNvPr id="42" name="Rectangle 10">
              <a:extLst>
                <a:ext uri="{FF2B5EF4-FFF2-40B4-BE49-F238E27FC236}">
                  <a16:creationId xmlns:a16="http://schemas.microsoft.com/office/drawing/2014/main" id="{1782AA2A-A59A-4B7F-9ECA-5099684A663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752600" y="287528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Vàng</a:t>
              </a:r>
            </a:p>
          </p:txBody>
        </p:sp>
        <p:sp>
          <p:nvSpPr>
            <p:cNvPr id="43" name="Rectangle 11">
              <a:extLst>
                <a:ext uri="{FF2B5EF4-FFF2-40B4-BE49-F238E27FC236}">
                  <a16:creationId xmlns:a16="http://schemas.microsoft.com/office/drawing/2014/main" id="{EC8CDEC2-16A0-4BCA-99DA-3469BE1C956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657600" y="28956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00FFFF"/>
                  </a:highlight>
                  <a:latin typeface="Arial" panose="020B0604020202020204" pitchFamily="34" charset="0"/>
                </a:rPr>
                <a:t>Xanh</a:t>
              </a:r>
            </a:p>
          </p:txBody>
        </p:sp>
        <p:sp>
          <p:nvSpPr>
            <p:cNvPr id="44" name="Rectangle 12">
              <a:extLst>
                <a:ext uri="{FF2B5EF4-FFF2-40B4-BE49-F238E27FC236}">
                  <a16:creationId xmlns:a16="http://schemas.microsoft.com/office/drawing/2014/main" id="{7BDB0005-CDC4-44E5-9D89-53CFFCFA0E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6200" y="40386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600" b="1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Oval 13">
              <a:extLst>
                <a:ext uri="{FF2B5EF4-FFF2-40B4-BE49-F238E27FC236}">
                  <a16:creationId xmlns:a16="http://schemas.microsoft.com/office/drawing/2014/main" id="{DF01F605-F949-43E4-8D38-4F5A25DF2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41148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1</a:t>
              </a:r>
            </a:p>
          </p:txBody>
        </p:sp>
        <p:sp>
          <p:nvSpPr>
            <p:cNvPr id="46" name="Oval 14">
              <a:extLst>
                <a:ext uri="{FF2B5EF4-FFF2-40B4-BE49-F238E27FC236}">
                  <a16:creationId xmlns:a16="http://schemas.microsoft.com/office/drawing/2014/main" id="{E0B74453-FFC3-474F-B635-F86D657DC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46482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4</a:t>
              </a:r>
            </a:p>
          </p:txBody>
        </p:sp>
        <p:sp>
          <p:nvSpPr>
            <p:cNvPr id="47" name="Oval 15">
              <a:extLst>
                <a:ext uri="{FF2B5EF4-FFF2-40B4-BE49-F238E27FC236}">
                  <a16:creationId xmlns:a16="http://schemas.microsoft.com/office/drawing/2014/main" id="{8AF0C6B8-3928-413B-913A-898AE6B7B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41529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2</a:t>
              </a:r>
            </a:p>
          </p:txBody>
        </p:sp>
        <p:sp>
          <p:nvSpPr>
            <p:cNvPr id="48" name="Oval 17">
              <a:extLst>
                <a:ext uri="{FF2B5EF4-FFF2-40B4-BE49-F238E27FC236}">
                  <a16:creationId xmlns:a16="http://schemas.microsoft.com/office/drawing/2014/main" id="{D7795598-672A-4897-BDD7-BBB41550F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4724400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/>
                <a:t>7</a:t>
              </a:r>
            </a:p>
          </p:txBody>
        </p:sp>
        <p:sp>
          <p:nvSpPr>
            <p:cNvPr id="49" name="Rectangle 19">
              <a:extLst>
                <a:ext uri="{FF2B5EF4-FFF2-40B4-BE49-F238E27FC236}">
                  <a16:creationId xmlns:a16="http://schemas.microsoft.com/office/drawing/2014/main" id="{42FE4059-A2F0-4DAF-A323-6B3AAFA669F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962400" y="5486400"/>
              <a:ext cx="15240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50" name="Rectangle 20">
              <a:extLst>
                <a:ext uri="{FF2B5EF4-FFF2-40B4-BE49-F238E27FC236}">
                  <a16:creationId xmlns:a16="http://schemas.microsoft.com/office/drawing/2014/main" id="{B42B05F1-8243-401E-8902-3964428592D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57400" y="1600200"/>
              <a:ext cx="13716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highlight>
                    <a:srgbClr val="FFFF00"/>
                  </a:highlight>
                  <a:latin typeface="Arial" panose="020B0604020202020204" pitchFamily="34" charset="0"/>
                </a:rPr>
                <a:t>Màu</a:t>
              </a:r>
            </a:p>
          </p:txBody>
        </p:sp>
        <p:sp>
          <p:nvSpPr>
            <p:cNvPr id="51" name="Rectangle 21">
              <a:extLst>
                <a:ext uri="{FF2B5EF4-FFF2-40B4-BE49-F238E27FC236}">
                  <a16:creationId xmlns:a16="http://schemas.microsoft.com/office/drawing/2014/main" id="{82AD5F06-F48E-4F81-AA7E-F5BDC28876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962400" y="4114800"/>
              <a:ext cx="14478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52" name="Rectangle 22">
              <a:extLst>
                <a:ext uri="{FF2B5EF4-FFF2-40B4-BE49-F238E27FC236}">
                  <a16:creationId xmlns:a16="http://schemas.microsoft.com/office/drawing/2014/main" id="{3EE37C65-2FCF-43C2-85C8-837E86B8B05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962400" y="5105400"/>
              <a:ext cx="15240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b="1">
                  <a:solidFill>
                    <a:schemeClr val="tx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172792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155D-3A68-4053-90B3-BC374488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DE437-863E-4C91-9AC4-255C16793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Chọn thuộc tính Hình dáng làm thuộc tính phân loại vì thuộc tính này có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xxx xxx xxx xxx xxx</a:t>
            </a:r>
            <a:r>
              <a:rPr lang="en-US" altLang="en-US">
                <a:latin typeface="Arial" panose="020B0604020202020204" pitchFamily="34" charset="0"/>
              </a:rPr>
              <a:t>.</a:t>
            </a:r>
          </a:p>
          <a:p>
            <a:pPr algn="just"/>
            <a:endParaRPr lang="en-US"/>
          </a:p>
        </p:txBody>
      </p:sp>
      <p:sp>
        <p:nvSpPr>
          <p:cNvPr id="56" name="Line 5">
            <a:extLst>
              <a:ext uri="{FF2B5EF4-FFF2-40B4-BE49-F238E27FC236}">
                <a16:creationId xmlns:a16="http://schemas.microsoft.com/office/drawing/2014/main" id="{6EC43FB0-4CC9-4F77-B72D-0F6114F1BA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4750" y="2933700"/>
            <a:ext cx="21336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6">
            <a:extLst>
              <a:ext uri="{FF2B5EF4-FFF2-40B4-BE49-F238E27FC236}">
                <a16:creationId xmlns:a16="http://schemas.microsoft.com/office/drawing/2014/main" id="{00625928-8669-4C6B-8E4E-6007B02057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971800"/>
            <a:ext cx="209550" cy="2095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7">
            <a:extLst>
              <a:ext uri="{FF2B5EF4-FFF2-40B4-BE49-F238E27FC236}">
                <a16:creationId xmlns:a16="http://schemas.microsoft.com/office/drawing/2014/main" id="{107DD0CD-1247-40F0-8030-287D1C1F7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350" y="2933700"/>
            <a:ext cx="26670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Rectangle 8">
            <a:extLst>
              <a:ext uri="{FF2B5EF4-FFF2-40B4-BE49-F238E27FC236}">
                <a16:creationId xmlns:a16="http://schemas.microsoft.com/office/drawing/2014/main" id="{86E4CC89-61FF-4DC5-A515-2F8277F6706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09950" y="38481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Cầu</a:t>
            </a:r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60" name="Rectangle 9">
            <a:extLst>
              <a:ext uri="{FF2B5EF4-FFF2-40B4-BE49-F238E27FC236}">
                <a16:creationId xmlns:a16="http://schemas.microsoft.com/office/drawing/2014/main" id="{25EEA880-A05B-4996-B302-2E69F9BE28F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48200" y="38481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Hộp</a:t>
            </a:r>
          </a:p>
        </p:txBody>
      </p:sp>
      <p:sp>
        <p:nvSpPr>
          <p:cNvPr id="61" name="Rectangle 10">
            <a:extLst>
              <a:ext uri="{FF2B5EF4-FFF2-40B4-BE49-F238E27FC236}">
                <a16:creationId xmlns:a16="http://schemas.microsoft.com/office/drawing/2014/main" id="{DC5A9345-3FD6-4F50-A84E-BC7F6CD677E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96150" y="38481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Nón</a:t>
            </a:r>
          </a:p>
        </p:txBody>
      </p:sp>
      <p:sp>
        <p:nvSpPr>
          <p:cNvPr id="62" name="Rectangle 11">
            <a:extLst>
              <a:ext uri="{FF2B5EF4-FFF2-40B4-BE49-F238E27FC236}">
                <a16:creationId xmlns:a16="http://schemas.microsoft.com/office/drawing/2014/main" id="{65EAB520-1F51-49D2-8C9C-C8B84A46879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86150" y="489585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3" name="Oval 12">
            <a:extLst>
              <a:ext uri="{FF2B5EF4-FFF2-40B4-BE49-F238E27FC236}">
                <a16:creationId xmlns:a16="http://schemas.microsoft.com/office/drawing/2014/main" id="{30231FD8-20CF-4221-A048-A03932843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50292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/>
              <a:t>1</a:t>
            </a:r>
          </a:p>
        </p:txBody>
      </p:sp>
      <p:sp>
        <p:nvSpPr>
          <p:cNvPr id="64" name="Oval 14">
            <a:extLst>
              <a:ext uri="{FF2B5EF4-FFF2-40B4-BE49-F238E27FC236}">
                <a16:creationId xmlns:a16="http://schemas.microsoft.com/office/drawing/2014/main" id="{69E85820-458F-4B01-81B4-04C639784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04825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/>
              <a:t>2</a:t>
            </a:r>
          </a:p>
        </p:txBody>
      </p:sp>
      <p:sp>
        <p:nvSpPr>
          <p:cNvPr id="65" name="Oval 15">
            <a:extLst>
              <a:ext uri="{FF2B5EF4-FFF2-40B4-BE49-F238E27FC236}">
                <a16:creationId xmlns:a16="http://schemas.microsoft.com/office/drawing/2014/main" id="{52274FBC-E643-48DA-8F98-D472CD91C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6007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/>
              <a:t>4</a:t>
            </a:r>
          </a:p>
        </p:txBody>
      </p:sp>
      <p:sp>
        <p:nvSpPr>
          <p:cNvPr id="66" name="Rectangle 16">
            <a:extLst>
              <a:ext uri="{FF2B5EF4-FFF2-40B4-BE49-F238E27FC236}">
                <a16:creationId xmlns:a16="http://schemas.microsoft.com/office/drawing/2014/main" id="{82DF3F38-F13F-4877-99B0-0E65B464966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772400" y="542925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006EF008-7FD3-465B-A473-A287A8CCD63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81550" y="2438400"/>
            <a:ext cx="220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Hình dáng</a:t>
            </a:r>
          </a:p>
        </p:txBody>
      </p:sp>
      <p:sp>
        <p:nvSpPr>
          <p:cNvPr id="68" name="Rectangle 19">
            <a:extLst>
              <a:ext uri="{FF2B5EF4-FFF2-40B4-BE49-F238E27FC236}">
                <a16:creationId xmlns:a16="http://schemas.microsoft.com/office/drawing/2014/main" id="{46C3BCD6-CF06-4FD0-88B2-B5709D37484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772400" y="497205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9" name="Line 20">
            <a:extLst>
              <a:ext uri="{FF2B5EF4-FFF2-40B4-BE49-F238E27FC236}">
                <a16:creationId xmlns:a16="http://schemas.microsoft.com/office/drawing/2014/main" id="{2A39B1E9-9076-43A9-B8CD-D9ACC85577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350" y="2933700"/>
            <a:ext cx="10668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Oval 21">
            <a:extLst>
              <a:ext uri="{FF2B5EF4-FFF2-40B4-BE49-F238E27FC236}">
                <a16:creationId xmlns:a16="http://schemas.microsoft.com/office/drawing/2014/main" id="{A4776C53-8680-4702-A097-BF547D186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4864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/>
              <a:t>7</a:t>
            </a:r>
          </a:p>
        </p:txBody>
      </p:sp>
      <p:sp>
        <p:nvSpPr>
          <p:cNvPr id="71" name="Rectangle 22">
            <a:extLst>
              <a:ext uri="{FF2B5EF4-FFF2-40B4-BE49-F238E27FC236}">
                <a16:creationId xmlns:a16="http://schemas.microsoft.com/office/drawing/2014/main" id="{9BE355CE-7EEB-4CE6-AEDE-678A6A2E1E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29350" y="4953000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2" name="Rectangle 23">
            <a:extLst>
              <a:ext uri="{FF2B5EF4-FFF2-40B4-BE49-F238E27FC236}">
                <a16:creationId xmlns:a16="http://schemas.microsoft.com/office/drawing/2014/main" id="{A3B3F01F-6E2C-432D-B502-2541F51BC54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128766" y="38481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Trụ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7BAA2-723F-4D19-AD96-FF77A2E02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2362200"/>
            <a:ext cx="4343400" cy="115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21995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155D-3A68-4053-90B3-BC374488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DE437-863E-4C91-9AC4-255C16793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Chọn thuộc tính Hình dáng làm thuộc tính phân loại vì thuộc tính này có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xxx xxx xxx xxx xxx</a:t>
            </a:r>
            <a:r>
              <a:rPr lang="en-US" altLang="en-US">
                <a:latin typeface="Arial" panose="020B0604020202020204" pitchFamily="34" charset="0"/>
              </a:rPr>
              <a:t>.</a:t>
            </a:r>
          </a:p>
          <a:p>
            <a:pPr algn="just"/>
            <a:endParaRPr lang="en-US"/>
          </a:p>
        </p:txBody>
      </p:sp>
      <p:sp>
        <p:nvSpPr>
          <p:cNvPr id="56" name="Line 5">
            <a:extLst>
              <a:ext uri="{FF2B5EF4-FFF2-40B4-BE49-F238E27FC236}">
                <a16:creationId xmlns:a16="http://schemas.microsoft.com/office/drawing/2014/main" id="{6EC43FB0-4CC9-4F77-B72D-0F6114F1BA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4750" y="2933700"/>
            <a:ext cx="21336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6">
            <a:extLst>
              <a:ext uri="{FF2B5EF4-FFF2-40B4-BE49-F238E27FC236}">
                <a16:creationId xmlns:a16="http://schemas.microsoft.com/office/drawing/2014/main" id="{00625928-8669-4C6B-8E4E-6007B02057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971800"/>
            <a:ext cx="209550" cy="2095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7">
            <a:extLst>
              <a:ext uri="{FF2B5EF4-FFF2-40B4-BE49-F238E27FC236}">
                <a16:creationId xmlns:a16="http://schemas.microsoft.com/office/drawing/2014/main" id="{107DD0CD-1247-40F0-8030-287D1C1F7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350" y="2933700"/>
            <a:ext cx="26670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Rectangle 8">
            <a:extLst>
              <a:ext uri="{FF2B5EF4-FFF2-40B4-BE49-F238E27FC236}">
                <a16:creationId xmlns:a16="http://schemas.microsoft.com/office/drawing/2014/main" id="{86E4CC89-61FF-4DC5-A515-2F8277F6706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09950" y="38481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Cầu</a:t>
            </a:r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60" name="Rectangle 9">
            <a:extLst>
              <a:ext uri="{FF2B5EF4-FFF2-40B4-BE49-F238E27FC236}">
                <a16:creationId xmlns:a16="http://schemas.microsoft.com/office/drawing/2014/main" id="{25EEA880-A05B-4996-B302-2E69F9BE28F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48200" y="38481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Hộp</a:t>
            </a:r>
          </a:p>
        </p:txBody>
      </p:sp>
      <p:sp>
        <p:nvSpPr>
          <p:cNvPr id="61" name="Rectangle 10">
            <a:extLst>
              <a:ext uri="{FF2B5EF4-FFF2-40B4-BE49-F238E27FC236}">
                <a16:creationId xmlns:a16="http://schemas.microsoft.com/office/drawing/2014/main" id="{DC5A9345-3FD6-4F50-A84E-BC7F6CD677E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96150" y="38481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Nón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006EF008-7FD3-465B-A473-A287A8CCD63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81550" y="2438400"/>
            <a:ext cx="220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Hình dáng</a:t>
            </a:r>
          </a:p>
        </p:txBody>
      </p:sp>
      <p:sp>
        <p:nvSpPr>
          <p:cNvPr id="69" name="Line 20">
            <a:extLst>
              <a:ext uri="{FF2B5EF4-FFF2-40B4-BE49-F238E27FC236}">
                <a16:creationId xmlns:a16="http://schemas.microsoft.com/office/drawing/2014/main" id="{2A39B1E9-9076-43A9-B8CD-D9ACC85577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350" y="2933700"/>
            <a:ext cx="106680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23">
            <a:extLst>
              <a:ext uri="{FF2B5EF4-FFF2-40B4-BE49-F238E27FC236}">
                <a16:creationId xmlns:a16="http://schemas.microsoft.com/office/drawing/2014/main" id="{A3B3F01F-6E2C-432D-B502-2541F51BC54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128766" y="38481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Trụ</a:t>
            </a:r>
          </a:p>
        </p:txBody>
      </p:sp>
      <p:sp>
        <p:nvSpPr>
          <p:cNvPr id="21" name="Rectangle 47">
            <a:extLst>
              <a:ext uri="{FF2B5EF4-FFF2-40B4-BE49-F238E27FC236}">
                <a16:creationId xmlns:a16="http://schemas.microsoft.com/office/drawing/2014/main" id="{8E9E1FB8-D64E-4AA1-B69A-2AFB45895AB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543800" y="5105400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Không Mua</a:t>
            </a:r>
          </a:p>
        </p:txBody>
      </p:sp>
      <p:sp>
        <p:nvSpPr>
          <p:cNvPr id="22" name="Rectangle 49">
            <a:extLst>
              <a:ext uri="{FF2B5EF4-FFF2-40B4-BE49-F238E27FC236}">
                <a16:creationId xmlns:a16="http://schemas.microsoft.com/office/drawing/2014/main" id="{BB739117-FA06-4BF3-94CE-54FDD002549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952750" y="51054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Mua</a:t>
            </a:r>
          </a:p>
        </p:txBody>
      </p:sp>
      <p:sp>
        <p:nvSpPr>
          <p:cNvPr id="23" name="Rectangle 54">
            <a:extLst>
              <a:ext uri="{FF2B5EF4-FFF2-40B4-BE49-F238E27FC236}">
                <a16:creationId xmlns:a16="http://schemas.microsoft.com/office/drawing/2014/main" id="{A4A305B8-D013-4D35-A6FF-713720FDF53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00600" y="51054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Mua</a:t>
            </a:r>
          </a:p>
        </p:txBody>
      </p:sp>
      <p:sp>
        <p:nvSpPr>
          <p:cNvPr id="24" name="Rectangle 55">
            <a:extLst>
              <a:ext uri="{FF2B5EF4-FFF2-40B4-BE49-F238E27FC236}">
                <a16:creationId xmlns:a16="http://schemas.microsoft.com/office/drawing/2014/main" id="{ADD5539D-6422-429A-BCC2-EB7C2F9A7DA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24600" y="51054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????</a:t>
            </a:r>
          </a:p>
        </p:txBody>
      </p:sp>
    </p:spTree>
    <p:extLst>
      <p:ext uri="{BB962C8B-B14F-4D97-AF65-F5344CB8AC3E}">
        <p14:creationId xmlns:p14="http://schemas.microsoft.com/office/powerpoint/2010/main" val="2350003443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32AB1FB5-6F53-48BD-8283-0B2E47F4F94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133600"/>
          <a:ext cx="9731058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247693637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28543447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5029993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3203828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09116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Kích cỡ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Màu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Hình dáng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Quyết định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42733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51396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66961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248962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32AB1FB5-6F53-48BD-8283-0B2E47F4F94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133600"/>
          <a:ext cx="9731058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247693637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28543447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5029993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3203828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09116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Kích cỡ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Màu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Hình dáng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Quyết định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42733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51396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66961153"/>
                  </a:ext>
                </a:extLst>
              </a:tr>
            </a:tbl>
          </a:graphicData>
        </a:graphic>
      </p:graphicFrame>
      <p:sp>
        <p:nvSpPr>
          <p:cNvPr id="6" name="Line 5">
            <a:extLst>
              <a:ext uri="{FF2B5EF4-FFF2-40B4-BE49-F238E27FC236}">
                <a16:creationId xmlns:a16="http://schemas.microsoft.com/office/drawing/2014/main" id="{4C971685-06FF-4B45-B92B-7B54C441A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4737" y="4076700"/>
            <a:ext cx="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7063A6-FDF0-462E-995F-659A6DE25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63880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/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67DA32-E496-4AFE-B121-4A6266CBB0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021137" y="4267200"/>
            <a:ext cx="2514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Trung bình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A336A-21B3-47A4-9B6D-FA7A14D4213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10200" y="5105400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A42E11-C6CF-455C-8742-C2F6379BB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7" y="3543300"/>
            <a:ext cx="1370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Symbol" panose="05050102010706020507" pitchFamily="18" charset="2"/>
              <a:buNone/>
            </a:pPr>
            <a:r>
              <a:rPr lang="en-US" altLang="en-US" sz="2800" b="1">
                <a:highlight>
                  <a:srgbClr val="FFFF00"/>
                </a:highlight>
              </a:rPr>
              <a:t>Kích cỡ</a:t>
            </a:r>
          </a:p>
        </p:txBody>
      </p:sp>
    </p:spTree>
    <p:extLst>
      <p:ext uri="{BB962C8B-B14F-4D97-AF65-F5344CB8AC3E}">
        <p14:creationId xmlns:p14="http://schemas.microsoft.com/office/powerpoint/2010/main" val="5033305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32AB1FB5-6F53-48BD-8283-0B2E47F4F94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133600"/>
          <a:ext cx="9731058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247693637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28543447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5029993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3203828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09116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Kích cỡ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Màu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Hình dáng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Quyết định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42733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51396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66961153"/>
                  </a:ext>
                </a:extLst>
              </a:tr>
            </a:tbl>
          </a:graphicData>
        </a:graphic>
      </p:graphicFrame>
      <p:sp>
        <p:nvSpPr>
          <p:cNvPr id="6" name="Line 4">
            <a:extLst>
              <a:ext uri="{FF2B5EF4-FFF2-40B4-BE49-F238E27FC236}">
                <a16:creationId xmlns:a16="http://schemas.microsoft.com/office/drawing/2014/main" id="{EE8EFBB1-E5D6-4EAE-9DAD-0CE209CE6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962400"/>
            <a:ext cx="7620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0A8C0A74-3097-4DE2-8FCA-2E7D20B18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362575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/>
              <a:t>7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1245770-D2D9-4245-BBB8-D13302ECA45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67200" y="4343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Xanh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1E2406A-8AD3-407C-8576-F5EAF208DFD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67200" y="5295900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BDAB9273-35AA-4EFF-9FF0-EE18308005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67300" y="3962400"/>
            <a:ext cx="800100" cy="138684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6CC16867-2D8A-40DE-9883-B50DBA60FA2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019800" y="4343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Đỏ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598BF-07FD-4B06-9BEB-5518C5D66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045" y="3505200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Symbol" panose="05050102010706020507" pitchFamily="18" charset="2"/>
              <a:buNone/>
            </a:pPr>
            <a:r>
              <a:rPr lang="en-US" altLang="en-US" sz="2800" b="1">
                <a:highlight>
                  <a:srgbClr val="FFFF00"/>
                </a:highlight>
              </a:rPr>
              <a:t>Màu</a:t>
            </a:r>
          </a:p>
        </p:txBody>
      </p:sp>
    </p:spTree>
    <p:extLst>
      <p:ext uri="{BB962C8B-B14F-4D97-AF65-F5344CB8AC3E}">
        <p14:creationId xmlns:p14="http://schemas.microsoft.com/office/powerpoint/2010/main" val="29861872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1" grpId="0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  <a:endParaRPr lang="en-US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32AB1FB5-6F53-48BD-8283-0B2E47F4F94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133600"/>
          <a:ext cx="9731058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247693637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28543447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5029993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3203828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09116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Kích cỡ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Màu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Hình dáng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Quyết định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42733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51396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66961153"/>
                  </a:ext>
                </a:extLst>
              </a:tr>
            </a:tbl>
          </a:graphicData>
        </a:graphic>
      </p:graphicFrame>
      <p:sp>
        <p:nvSpPr>
          <p:cNvPr id="6" name="Line 6">
            <a:extLst>
              <a:ext uri="{FF2B5EF4-FFF2-40B4-BE49-F238E27FC236}">
                <a16:creationId xmlns:a16="http://schemas.microsoft.com/office/drawing/2014/main" id="{E637A516-6850-4DBA-814A-1982890B1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2825" y="3962400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DBBF62DF-728F-444D-BD0D-FDA66971A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825" y="5619750"/>
            <a:ext cx="6096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/>
              <a:t>7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FD285CC-38B2-467E-85B5-9937A31742C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492625" y="4267200"/>
            <a:ext cx="2514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2"/>
                </a:solidFill>
                <a:latin typeface="Arial" panose="020B0604020202020204" pitchFamily="34" charset="0"/>
              </a:rPr>
              <a:t>Trụ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ED8A3A4-4B59-42D4-935E-C35263E3DDA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81625" y="5086350"/>
            <a:ext cx="144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96D580-669B-436F-AB4A-71422D921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475" y="3505200"/>
            <a:ext cx="181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Symbol" panose="05050102010706020507" pitchFamily="18" charset="2"/>
              <a:buNone/>
            </a:pPr>
            <a:r>
              <a:rPr lang="en-US" altLang="en-US" sz="2800" b="1">
                <a:highlight>
                  <a:srgbClr val="FFFF00"/>
                </a:highlight>
              </a:rPr>
              <a:t>Hình dáng</a:t>
            </a:r>
          </a:p>
        </p:txBody>
      </p:sp>
    </p:spTree>
    <p:extLst>
      <p:ext uri="{BB962C8B-B14F-4D97-AF65-F5344CB8AC3E}">
        <p14:creationId xmlns:p14="http://schemas.microsoft.com/office/powerpoint/2010/main" val="2008416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DD22-E10B-4B70-8176-B72A96D5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536-932F-4664-A4D4-D970FC68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Bảng quan sát</a:t>
            </a:r>
          </a:p>
          <a:p>
            <a:endParaRPr lang="en-US">
              <a:latin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</a:rPr>
              <a:t>Chọn </a:t>
            </a:r>
            <a:r>
              <a:rPr lang="en-US" altLang="en-US">
                <a:latin typeface="Arial" panose="020B0604020202020204" pitchFamily="34" charset="0"/>
              </a:rPr>
              <a:t>thuộc tính Màu sắc làm thuộc tính phân loại vì thuộc tính này có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xxx xxx xxx xxx xxx</a:t>
            </a:r>
            <a:r>
              <a:rPr lang="en-US" altLang="en-US">
                <a:latin typeface="Arial" panose="020B0604020202020204" pitchFamily="34" charset="0"/>
              </a:rPr>
              <a:t>.</a:t>
            </a:r>
            <a:endParaRPr lang="en-US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32AB1FB5-6F53-48BD-8283-0B2E47F4F94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133600"/>
          <a:ext cx="9731058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2818">
                  <a:extLst>
                    <a:ext uri="{9D8B030D-6E8A-4147-A177-3AD203B41FA5}">
                      <a16:colId xmlns:a16="http://schemas.microsoft.com/office/drawing/2014/main" val="247693637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28543447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5029993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3203828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09116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Kích cỡ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Màu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Hình dáng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Quyết định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42733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Xanh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Không 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51396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Trung bình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Đỏ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Trụ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Pct val="75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Mua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66961153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6067431-6A5A-4955-88D4-7DF6B9A933F9}"/>
              </a:ext>
            </a:extLst>
          </p:cNvPr>
          <p:cNvGrpSpPr/>
          <p:nvPr/>
        </p:nvGrpSpPr>
        <p:grpSpPr>
          <a:xfrm>
            <a:off x="8239125" y="4038600"/>
            <a:ext cx="3048000" cy="2171700"/>
            <a:chOff x="4276725" y="3505200"/>
            <a:chExt cx="3048000" cy="2171700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F948C8C1-D13D-4BD2-BB87-D493BE455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3962400"/>
              <a:ext cx="723900" cy="11811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50F3E8EC-3237-46AB-B488-C0D5EB17D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6025" y="5133975"/>
              <a:ext cx="609600" cy="457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b="1"/>
                <a:t>7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4FC569C3-09DA-42B4-BD83-6224DD1967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276725" y="4181475"/>
              <a:ext cx="1295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b="1">
                  <a:solidFill>
                    <a:schemeClr val="tx2"/>
                  </a:solidFill>
                  <a:latin typeface="Arial" panose="020B0604020202020204" pitchFamily="34" charset="0"/>
                </a:rPr>
                <a:t>Xanh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721FB9F-E83A-4859-B6CC-63312FDDD5B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371975" y="5143500"/>
              <a:ext cx="14478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600" b="1">
                  <a:solidFill>
                    <a:schemeClr val="tx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BE45012B-B9DF-4C13-9C77-065B119507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3500" y="3962400"/>
              <a:ext cx="723900" cy="11811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7B1806B1-FAD5-4BBE-8C1C-830F7FAF921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029325" y="4181475"/>
              <a:ext cx="1295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143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143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b="1">
                  <a:solidFill>
                    <a:schemeClr val="tx2"/>
                  </a:solidFill>
                  <a:latin typeface="Arial" panose="020B0604020202020204" pitchFamily="34" charset="0"/>
                </a:rPr>
                <a:t>Đỏ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41A4EF-F5FC-4DD6-9615-ECE1E6E11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05200"/>
              <a:ext cx="8001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buFont typeface="Symbol" panose="05050102010706020507" pitchFamily="18" charset="2"/>
                <a:buNone/>
              </a:pPr>
              <a:r>
                <a:rPr lang="en-US" altLang="en-US" b="1"/>
                <a:t>Màu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6E187E6-5216-4A97-B9BC-3877F6302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710653"/>
            <a:ext cx="4343400" cy="115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84611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15E8-3196-4F19-AEA1-5F368D6C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4BF28-4760-4FF3-851B-B301D649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Kết luận</a:t>
            </a:r>
          </a:p>
          <a:p>
            <a:pPr lvl="1"/>
            <a:r>
              <a:rPr lang="en-US"/>
              <a:t>Hình vẽ</a:t>
            </a:r>
          </a:p>
        </p:txBody>
      </p:sp>
      <p:sp>
        <p:nvSpPr>
          <p:cNvPr id="4" name="Line 37">
            <a:extLst>
              <a:ext uri="{FF2B5EF4-FFF2-40B4-BE49-F238E27FC236}">
                <a16:creationId xmlns:a16="http://schemas.microsoft.com/office/drawing/2014/main" id="{5B8DE543-ECC7-4ED6-A27D-D8D5AD689A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2286000"/>
            <a:ext cx="22860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38">
            <a:extLst>
              <a:ext uri="{FF2B5EF4-FFF2-40B4-BE49-F238E27FC236}">
                <a16:creationId xmlns:a16="http://schemas.microsoft.com/office/drawing/2014/main" id="{77C3E776-06E8-40BE-8FD2-BD6C3D6705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2286000"/>
            <a:ext cx="5334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39">
            <a:extLst>
              <a:ext uri="{FF2B5EF4-FFF2-40B4-BE49-F238E27FC236}">
                <a16:creationId xmlns:a16="http://schemas.microsoft.com/office/drawing/2014/main" id="{0460E240-6103-4AF5-B04C-CA08BC678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286000"/>
            <a:ext cx="31242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2A75BEB7-631F-4A8F-ABE0-04D28C65D8F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90800" y="28194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Cầu</a:t>
            </a:r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DAEA2201-487F-433A-BCA5-A32770854A5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733800" y="28194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Hộp</a:t>
            </a:r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4DCC64D6-0789-4A18-9219-18DC0EE6818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858000" y="28194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Nón</a:t>
            </a: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D1DE1AC8-4EBE-4265-8FF5-50B70C752A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743200" y="41910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0309542-EE8D-4893-A619-1322420CD46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39000" y="3733800"/>
            <a:ext cx="243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Không Mua</a:t>
            </a:r>
          </a:p>
        </p:txBody>
      </p:sp>
      <p:sp>
        <p:nvSpPr>
          <p:cNvPr id="12" name="Rectangle 48">
            <a:extLst>
              <a:ext uri="{FF2B5EF4-FFF2-40B4-BE49-F238E27FC236}">
                <a16:creationId xmlns:a16="http://schemas.microsoft.com/office/drawing/2014/main" id="{87EF1B10-2C00-4C1F-A9C8-9E1BB81274F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67200" y="1828800"/>
            <a:ext cx="220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Hình dáng</a:t>
            </a:r>
          </a:p>
        </p:txBody>
      </p:sp>
      <p:sp>
        <p:nvSpPr>
          <p:cNvPr id="13" name="Rectangle 49">
            <a:extLst>
              <a:ext uri="{FF2B5EF4-FFF2-40B4-BE49-F238E27FC236}">
                <a16:creationId xmlns:a16="http://schemas.microsoft.com/office/drawing/2014/main" id="{C14262EB-4B95-4C1F-B381-137BB5C6AE0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057400" y="38100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Mua</a:t>
            </a:r>
          </a:p>
        </p:txBody>
      </p:sp>
      <p:sp>
        <p:nvSpPr>
          <p:cNvPr id="14" name="Line 50">
            <a:extLst>
              <a:ext uri="{FF2B5EF4-FFF2-40B4-BE49-F238E27FC236}">
                <a16:creationId xmlns:a16="http://schemas.microsoft.com/office/drawing/2014/main" id="{3EA90F76-52EF-4492-80E6-6AAFFD9C5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286000"/>
            <a:ext cx="9906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53">
            <a:extLst>
              <a:ext uri="{FF2B5EF4-FFF2-40B4-BE49-F238E27FC236}">
                <a16:creationId xmlns:a16="http://schemas.microsoft.com/office/drawing/2014/main" id="{C9D29BC3-6DD7-42A8-8DBA-85A88E201FB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181600" y="281940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Trụ</a:t>
            </a:r>
          </a:p>
        </p:txBody>
      </p:sp>
      <p:sp>
        <p:nvSpPr>
          <p:cNvPr id="16" name="Rectangle 54">
            <a:extLst>
              <a:ext uri="{FF2B5EF4-FFF2-40B4-BE49-F238E27FC236}">
                <a16:creationId xmlns:a16="http://schemas.microsoft.com/office/drawing/2014/main" id="{46E06FBB-8ACF-4FA0-B560-938D406D0C9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810000" y="38100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Mua</a:t>
            </a:r>
          </a:p>
        </p:txBody>
      </p:sp>
      <p:sp>
        <p:nvSpPr>
          <p:cNvPr id="17" name="Rectangle 55">
            <a:extLst>
              <a:ext uri="{FF2B5EF4-FFF2-40B4-BE49-F238E27FC236}">
                <a16:creationId xmlns:a16="http://schemas.microsoft.com/office/drawing/2014/main" id="{1A88B693-E674-42E2-A017-668EF77B0A7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34000" y="38100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Màu</a:t>
            </a:r>
          </a:p>
        </p:txBody>
      </p:sp>
      <p:sp>
        <p:nvSpPr>
          <p:cNvPr id="18" name="Line 56">
            <a:extLst>
              <a:ext uri="{FF2B5EF4-FFF2-40B4-BE49-F238E27FC236}">
                <a16:creationId xmlns:a16="http://schemas.microsoft.com/office/drawing/2014/main" id="{9113789C-1263-472A-AA82-93AE90B5E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4314825"/>
            <a:ext cx="1295400" cy="124777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58">
            <a:extLst>
              <a:ext uri="{FF2B5EF4-FFF2-40B4-BE49-F238E27FC236}">
                <a16:creationId xmlns:a16="http://schemas.microsoft.com/office/drawing/2014/main" id="{48660F5A-5C41-44AE-88E2-50F356A24BC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81525" y="46482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Xanh</a:t>
            </a:r>
          </a:p>
        </p:txBody>
      </p:sp>
      <p:sp>
        <p:nvSpPr>
          <p:cNvPr id="20" name="Line 60">
            <a:extLst>
              <a:ext uri="{FF2B5EF4-FFF2-40B4-BE49-F238E27FC236}">
                <a16:creationId xmlns:a16="http://schemas.microsoft.com/office/drawing/2014/main" id="{17837628-806C-4A59-8D95-3E2455F348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314825"/>
            <a:ext cx="876300" cy="124777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61">
            <a:extLst>
              <a:ext uri="{FF2B5EF4-FFF2-40B4-BE49-F238E27FC236}">
                <a16:creationId xmlns:a16="http://schemas.microsoft.com/office/drawing/2014/main" id="{EC2C44B3-7174-4A74-9550-011DD968FDF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486525" y="46482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2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Đỏ</a:t>
            </a:r>
          </a:p>
        </p:txBody>
      </p:sp>
      <p:sp>
        <p:nvSpPr>
          <p:cNvPr id="22" name="Rectangle 63">
            <a:extLst>
              <a:ext uri="{FF2B5EF4-FFF2-40B4-BE49-F238E27FC236}">
                <a16:creationId xmlns:a16="http://schemas.microsoft.com/office/drawing/2014/main" id="{59F6445E-74E6-4B6F-ADF1-29280968032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162425" y="5562600"/>
            <a:ext cx="220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Không Mua</a:t>
            </a:r>
          </a:p>
        </p:txBody>
      </p:sp>
      <p:sp>
        <p:nvSpPr>
          <p:cNvPr id="23" name="Rectangle 64">
            <a:extLst>
              <a:ext uri="{FF2B5EF4-FFF2-40B4-BE49-F238E27FC236}">
                <a16:creationId xmlns:a16="http://schemas.microsoft.com/office/drawing/2014/main" id="{0B6CD792-18E3-41FC-AE65-C02943E45F7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753225" y="55626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14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b="1">
                <a:solidFill>
                  <a:schemeClr val="tx2"/>
                </a:solidFill>
                <a:latin typeface="Arial" panose="020B0604020202020204" pitchFamily="34" charset="0"/>
              </a:rPr>
              <a:t>Mua</a:t>
            </a:r>
          </a:p>
        </p:txBody>
      </p:sp>
    </p:spTree>
    <p:extLst>
      <p:ext uri="{BB962C8B-B14F-4D97-AF65-F5344CB8AC3E}">
        <p14:creationId xmlns:p14="http://schemas.microsoft.com/office/powerpoint/2010/main" val="17180623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1" grpId="0"/>
      <p:bldP spid="22" grpId="0"/>
      <p:bldP spid="2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6F360-B8BE-4336-B198-733C6906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quyết định – Ví dụ minh họa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8BFE-0716-4F3A-8F20-F6E673CAC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Rút luật</a:t>
            </a:r>
          </a:p>
          <a:p>
            <a:pPr lvl="2"/>
            <a:r>
              <a:rPr lang="en-US" altLang="en-US"/>
              <a:t>Luật 1: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Nếu Hình dáng = Cầu</a:t>
            </a:r>
            <a:r>
              <a:rPr lang="en-US" altLang="en-US"/>
              <a:t> thì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Quyết định = Mua.</a:t>
            </a:r>
          </a:p>
          <a:p>
            <a:pPr lvl="2"/>
            <a:r>
              <a:rPr lang="en-US" altLang="en-US"/>
              <a:t>Luật 2: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Nếu Hình dáng = Hộp</a:t>
            </a:r>
            <a:r>
              <a:rPr lang="en-US" altLang="en-US"/>
              <a:t> thì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Quyết định = Mua.</a:t>
            </a:r>
          </a:p>
          <a:p>
            <a:pPr lvl="2"/>
            <a:r>
              <a:rPr lang="en-US" altLang="en-US"/>
              <a:t>Luật 3: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Nếu Hình dáng = Trụ</a:t>
            </a:r>
            <a:r>
              <a:rPr lang="en-US" altLang="en-US"/>
              <a:t> và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Màu = Xanh</a:t>
            </a:r>
            <a:r>
              <a:rPr lang="en-US" altLang="en-US"/>
              <a:t> thì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Quyết định=Không Mua.</a:t>
            </a:r>
          </a:p>
          <a:p>
            <a:pPr lvl="2"/>
            <a:r>
              <a:rPr lang="en-US" altLang="en-US"/>
              <a:t>Luật 4: Nếu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Hình dáng = Trụ</a:t>
            </a:r>
            <a:r>
              <a:rPr lang="en-US" altLang="en-US"/>
              <a:t> và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Màu = Đỏ</a:t>
            </a:r>
            <a:r>
              <a:rPr lang="en-US" altLang="en-US"/>
              <a:t> thì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Quyết định = Mua.</a:t>
            </a:r>
          </a:p>
          <a:p>
            <a:pPr lvl="2"/>
            <a:r>
              <a:rPr lang="en-US" altLang="en-US"/>
              <a:t>Luật 5: Nếu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Hình dáng = Nón</a:t>
            </a:r>
            <a:r>
              <a:rPr lang="en-US" altLang="en-US"/>
              <a:t> thì </a:t>
            </a: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Quyết định = Không Mua.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11437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C9192-14F8-4676-9523-FD901A8104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THỰC HÀNH</a:t>
            </a:r>
            <a:br>
              <a:rPr lang="en-US"/>
            </a:br>
            <a:r>
              <a:rPr lang="vi-VN"/>
              <a:t>PHƯƠNG PHÁP CÂY QUYẾT ĐỊNH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B30E5-3C22-4D92-8990-9BFA87BE0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/>
          <a:p>
            <a:pPr marL="457148" indent="-457148"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/>
              <a:t>TS. Nguyễn Tấn Trần Minh Khang</a:t>
            </a:r>
          </a:p>
          <a:p>
            <a:pPr marL="457148" indent="-457148"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>
                <a:solidFill>
                  <a:srgbClr val="FF0000"/>
                </a:solidFill>
              </a:rPr>
              <a:t>ThS. Võ Duy Nguyên</a:t>
            </a:r>
          </a:p>
          <a:p>
            <a:pPr marL="457148" indent="-457148"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/>
              <a:t>Cao học. Nguyễn Hoàn Mỹ</a:t>
            </a:r>
          </a:p>
          <a:p>
            <a:pPr marL="457148" indent="-457148"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>
                <a:solidFill>
                  <a:srgbClr val="FF0000"/>
                </a:solidFill>
              </a:rPr>
              <a:t>Tình nguyện viên. Lê Ngọc Huy</a:t>
            </a:r>
          </a:p>
          <a:p>
            <a:pPr marL="457148" indent="-457148"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/>
              <a:t>Tình nguyện viên. Cao Bá Kiệt</a:t>
            </a:r>
          </a:p>
        </p:txBody>
      </p:sp>
    </p:spTree>
    <p:extLst>
      <p:ext uri="{BB962C8B-B14F-4D97-AF65-F5344CB8AC3E}">
        <p14:creationId xmlns:p14="http://schemas.microsoft.com/office/powerpoint/2010/main" val="4181991356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29751D-41C3-4A4C-9AC9-CCB7A061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DATASET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BF91FE-C018-4D25-9A03-0B4B71F42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2748461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8E49B6-FFB9-48FE-A4A6-A7632629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A5EA7F-8FCE-416E-9B84-E4673825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Tên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: </a:t>
            </a:r>
            <a:r>
              <a:rPr lang="vi-VN" sz="2800" dirty="0" err="1">
                <a:solidFill>
                  <a:srgbClr val="0066FF"/>
                </a:solidFill>
              </a:rPr>
              <a:t>Social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Network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Ads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Nguồn</a:t>
            </a:r>
            <a:r>
              <a:rPr lang="vi-VN" sz="2800" dirty="0">
                <a:solidFill>
                  <a:srgbClr val="FF0000"/>
                </a:solidFill>
              </a:rPr>
              <a:t>: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8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https://www.superdatascience.com/pages/machine-learning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biết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thông tin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họ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mua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hay không.</a:t>
            </a:r>
          </a:p>
        </p:txBody>
      </p:sp>
    </p:spTree>
    <p:extLst>
      <p:ext uri="{BB962C8B-B14F-4D97-AF65-F5344CB8AC3E}">
        <p14:creationId xmlns:p14="http://schemas.microsoft.com/office/powerpoint/2010/main" val="3577725186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8E49B6-FFB9-48FE-A4A6-A7632629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4A5EA7F-8FCE-416E-9B84-E4673825C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chứa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400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mỗi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5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gồm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UserID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định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danh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Gender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Age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tuổi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Estimated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Salary</a:t>
                </a:r>
                <a:r>
                  <a:rPr lang="vi-VN" sz="2800" dirty="0">
                    <a:solidFill>
                      <a:srgbClr val="0066FF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lương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dùng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Purchased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trong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không mua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khách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mua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hàng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4A5EA7F-8FCE-416E-9B84-E4673825C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382993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701-EC67-4BAE-885F-6D32DA23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72-166E-4206-903F-85F9C5F9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 err="1">
                <a:solidFill>
                  <a:srgbClr val="0066FF"/>
                </a:solidFill>
              </a:rPr>
              <a:t>Dưới</a:t>
            </a:r>
            <a:r>
              <a:rPr lang="vi-VN" sz="2800" dirty="0">
                <a:solidFill>
                  <a:srgbClr val="0066FF"/>
                </a:solidFill>
              </a:rPr>
              <a:t> đây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5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ngẫu</a:t>
            </a:r>
            <a:r>
              <a:rPr lang="vi-VN" sz="2800" dirty="0">
                <a:solidFill>
                  <a:srgbClr val="0066FF"/>
                </a:solidFill>
              </a:rPr>
              <a:t> nhiên trong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264C7AE0-BA47-456B-A146-198F1D3F3BB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86409" y="2286000"/>
              <a:ext cx="109728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19678286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18285020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UserID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Gender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Purchased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15624510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44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15810944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20,000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15668575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15603246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15804002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76,000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264C7AE0-BA47-456B-A146-198F1D3F3BB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44353304"/>
                  </p:ext>
                </p:extLst>
              </p:nvPr>
            </p:nvGraphicFramePr>
            <p:xfrm>
              <a:off x="586409" y="2286000"/>
              <a:ext cx="109728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19678286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18285020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UserID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Gender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Purchased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194118" r="-401389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194118" r="-200554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194118" r="-101111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194118" r="-1111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294118" r="-401389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294118" r="-200554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294118" r="-101111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294118" r="-1111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394118" r="-401389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394118" r="-200554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394118" r="-101111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394118" r="-1111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494118" r="-401389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Female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494118" r="-200554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494118" r="-10111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494118" r="-1111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" t="-594118" r="-401389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Male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723" t="-594118" r="-200554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56" t="-594118" r="-10111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56" t="-594118" r="-1111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1933106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6701-EC67-4BAE-885F-6D32DA23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72-166E-4206-903F-85F9C5F9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 err="1">
                <a:solidFill>
                  <a:srgbClr val="0066FF"/>
                </a:solidFill>
              </a:rPr>
              <a:t>Bài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toán</a:t>
            </a:r>
            <a:r>
              <a:rPr lang="en-US" sz="3200" dirty="0">
                <a:solidFill>
                  <a:srgbClr val="0066FF"/>
                </a:solidFill>
              </a:rPr>
              <a:t>: </a:t>
            </a:r>
            <a:r>
              <a:rPr lang="en-US" sz="3200" dirty="0" err="1">
                <a:solidFill>
                  <a:srgbClr val="0066FF"/>
                </a:solidFill>
              </a:rPr>
              <a:t>Yêu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cầu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dựa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vào</a:t>
            </a:r>
            <a:r>
              <a:rPr lang="en-US" sz="3200" dirty="0">
                <a:solidFill>
                  <a:srgbClr val="0066FF"/>
                </a:solidFill>
              </a:rPr>
              <a:t> 2 </a:t>
            </a:r>
            <a:r>
              <a:rPr lang="en-US" sz="3200" dirty="0" err="1">
                <a:solidFill>
                  <a:srgbClr val="0066FF"/>
                </a:solidFill>
              </a:rPr>
              <a:t>thuộc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en-US" sz="3200" dirty="0" err="1">
                <a:solidFill>
                  <a:srgbClr val="0066FF"/>
                </a:solidFill>
              </a:rPr>
              <a:t>tính</a:t>
            </a:r>
            <a:r>
              <a:rPr lang="en-US" sz="32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en-US" sz="3200" dirty="0" err="1">
                <a:solidFill>
                  <a:srgbClr val="FF0000"/>
                </a:solidFill>
              </a:rPr>
              <a:t>Độ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tuổi</a:t>
            </a:r>
            <a:r>
              <a:rPr lang="en-US" sz="3200" dirty="0">
                <a:solidFill>
                  <a:srgbClr val="FF0000"/>
                </a:solidFill>
              </a:rPr>
              <a:t> (Age).</a:t>
            </a:r>
          </a:p>
          <a:p>
            <a:pPr lvl="1" algn="just"/>
            <a:r>
              <a:rPr lang="en-US" sz="3200" dirty="0" err="1">
                <a:solidFill>
                  <a:srgbClr val="0066FF"/>
                </a:solidFill>
              </a:rPr>
              <a:t>Mức</a:t>
            </a:r>
            <a:r>
              <a:rPr lang="en-US" sz="3200" dirty="0">
                <a:solidFill>
                  <a:srgbClr val="0066FF"/>
                </a:solidFill>
              </a:rPr>
              <a:t> l</a:t>
            </a:r>
            <a:r>
              <a:rPr lang="vi-VN" sz="3200" dirty="0">
                <a:solidFill>
                  <a:srgbClr val="0066FF"/>
                </a:solidFill>
              </a:rPr>
              <a:t>ư</a:t>
            </a:r>
            <a:r>
              <a:rPr lang="en-US" sz="3200" dirty="0" err="1">
                <a:solidFill>
                  <a:srgbClr val="0066FF"/>
                </a:solidFill>
              </a:rPr>
              <a:t>ơng</a:t>
            </a:r>
            <a:r>
              <a:rPr lang="en-US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ước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đoán</a:t>
            </a:r>
            <a:r>
              <a:rPr lang="vi-VN" sz="3200" dirty="0">
                <a:solidFill>
                  <a:srgbClr val="0066FF"/>
                </a:solidFill>
              </a:rPr>
              <a:t> (</a:t>
            </a:r>
            <a:r>
              <a:rPr lang="vi-VN" sz="3200" dirty="0" err="1">
                <a:solidFill>
                  <a:srgbClr val="0066FF"/>
                </a:solidFill>
              </a:rPr>
              <a:t>Estimated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Salary</a:t>
            </a:r>
            <a:r>
              <a:rPr lang="vi-VN" sz="3200" dirty="0">
                <a:solidFill>
                  <a:srgbClr val="0066FF"/>
                </a:solidFill>
              </a:rPr>
              <a:t>).</a:t>
            </a:r>
          </a:p>
          <a:p>
            <a:pPr marL="0" indent="0" algn="just">
              <a:buNone/>
            </a:pPr>
            <a:r>
              <a:rPr lang="en-US" sz="4000" dirty="0">
                <a:solidFill>
                  <a:srgbClr val="FF0000"/>
                </a:solidFill>
              </a:rPr>
              <a:t>D</a:t>
            </a:r>
            <a:r>
              <a:rPr lang="vi-VN" sz="4000" dirty="0">
                <a:solidFill>
                  <a:srgbClr val="FF0000"/>
                </a:solidFill>
              </a:rPr>
              <a:t>ự </a:t>
            </a:r>
            <a:r>
              <a:rPr lang="vi-VN" sz="4000" dirty="0" err="1">
                <a:solidFill>
                  <a:srgbClr val="FF0000"/>
                </a:solidFill>
              </a:rPr>
              <a:t>đoán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khách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hàng</a:t>
            </a:r>
            <a:r>
              <a:rPr lang="vi-VN" sz="4000" dirty="0">
                <a:solidFill>
                  <a:srgbClr val="FF0000"/>
                </a:solidFill>
              </a:rPr>
              <a:t> </a:t>
            </a:r>
            <a:r>
              <a:rPr lang="vi-VN" sz="4000" dirty="0" err="1">
                <a:solidFill>
                  <a:srgbClr val="FF0000"/>
                </a:solidFill>
              </a:rPr>
              <a:t>sẽ</a:t>
            </a:r>
            <a:r>
              <a:rPr lang="vi-VN" sz="4000" dirty="0">
                <a:solidFill>
                  <a:srgbClr val="FF0000"/>
                </a:solidFill>
              </a:rPr>
              <a:t> mua </a:t>
            </a:r>
            <a:r>
              <a:rPr lang="vi-VN" sz="4000" dirty="0" err="1">
                <a:solidFill>
                  <a:srgbClr val="FF0000"/>
                </a:solidFill>
              </a:rPr>
              <a:t>hàng</a:t>
            </a:r>
            <a:r>
              <a:rPr lang="vi-VN" sz="4000" dirty="0">
                <a:solidFill>
                  <a:srgbClr val="FF0000"/>
                </a:solidFill>
              </a:rPr>
              <a:t> hay không?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0194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648CF-DA24-4949-AFDB-25EC09D4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9699795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Ở </a:t>
            </a:r>
            <a:r>
              <a:rPr lang="en-US" sz="2800" dirty="0" err="1">
                <a:solidFill>
                  <a:srgbClr val="0066FF"/>
                </a:solidFill>
              </a:rPr>
              <a:t>bài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này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chỉ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tâm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đến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hai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thuộc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tính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tuổi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mức</a:t>
            </a:r>
            <a:r>
              <a:rPr lang="en-US" sz="2800" dirty="0">
                <a:solidFill>
                  <a:srgbClr val="0066FF"/>
                </a:solidFill>
              </a:rPr>
              <a:t> l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ớc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đoán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pandas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pd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vi-VN" dirty="0" err="1">
                <a:highlight>
                  <a:srgbClr val="FFFF00"/>
                </a:highlight>
                <a:latin typeface="Consolas" panose="020B0609020204030204" pitchFamily="49" charset="0"/>
              </a:rPr>
              <a:t>dataset</a:t>
            </a:r>
            <a:r>
              <a:rPr lang="vi-VN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vi-VN" dirty="0" err="1">
                <a:highlight>
                  <a:srgbClr val="FFFF00"/>
                </a:highlight>
                <a:latin typeface="Consolas" panose="020B0609020204030204" pitchFamily="49" charset="0"/>
              </a:rPr>
              <a:t>pd.read_csv</a:t>
            </a:r>
            <a:r>
              <a:rPr lang="vi-VN" dirty="0">
                <a:highlight>
                  <a:srgbClr val="FFFF00"/>
                </a:highlight>
                <a:latin typeface="Consolas" panose="020B0609020204030204" pitchFamily="49" charset="0"/>
              </a:rPr>
              <a:t>("Social_Network_Ads.csv")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X = dataset.iloc[:, [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]].values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dataset.iloc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[:, </a:t>
            </a:r>
            <a:r>
              <a:rPr lang="es-ES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endParaRPr lang="es-E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126933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Để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thuận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tiện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sau khi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, ta </a:t>
            </a:r>
            <a:r>
              <a:rPr lang="vi-VN" sz="2800" dirty="0" err="1">
                <a:solidFill>
                  <a:srgbClr val="0066FF"/>
                </a:solidFill>
              </a:rPr>
              <a:t>chuẩn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về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dạng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Kỳ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vọng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err="1">
                <a:solidFill>
                  <a:srgbClr val="FF0000"/>
                </a:solidFill>
              </a:rPr>
              <a:t>bằng</a:t>
            </a:r>
            <a:r>
              <a:rPr lang="vi-VN" sz="2800">
                <a:solidFill>
                  <a:srgbClr val="FF0000"/>
                </a:solidFill>
              </a:rPr>
              <a:t> 0</a:t>
            </a:r>
            <a:r>
              <a:rPr lang="en-US" sz="2800">
                <a:solidFill>
                  <a:srgbClr val="FF0000"/>
                </a:solidFill>
              </a:rPr>
              <a:t>.</a:t>
            </a:r>
            <a:endParaRPr lang="vi-VN" sz="2800" dirty="0">
              <a:solidFill>
                <a:srgbClr val="FF0000"/>
              </a:solidFill>
            </a:endParaRPr>
          </a:p>
          <a:p>
            <a:pPr lvl="1" algn="just"/>
            <a:r>
              <a:rPr lang="vi-VN" sz="2800" dirty="0">
                <a:solidFill>
                  <a:srgbClr val="0066FF"/>
                </a:solidFill>
              </a:rPr>
              <a:t>Phương sai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1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Lớp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StandardScaler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module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sklearn.preprocessing</a:t>
            </a:r>
            <a:r>
              <a:rPr lang="vi-VN" sz="2800" dirty="0">
                <a:solidFill>
                  <a:schemeClr val="tx1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đã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được</a:t>
            </a:r>
            <a:r>
              <a:rPr lang="vi-VN" sz="2800" dirty="0">
                <a:solidFill>
                  <a:srgbClr val="FF0000"/>
                </a:solidFill>
              </a:rPr>
              <a:t> xây </a:t>
            </a:r>
            <a:r>
              <a:rPr lang="vi-VN" sz="2800" dirty="0" err="1">
                <a:solidFill>
                  <a:srgbClr val="FF0000"/>
                </a:solidFill>
              </a:rPr>
              <a:t>dựng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sẵn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để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chuẩn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hóa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 startAt="7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sklearn.preprocessing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StandardScaler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7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SC =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StandardScaler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457200" indent="-457200" algn="just">
              <a:buFont typeface="+mj-lt"/>
              <a:buAutoNum type="arabicPeriod" startAt="7"/>
            </a:pP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SC.fit_transform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329752356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4B3B2F-8C78-45AD-9334-804B5343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A14EBF-6606-4138-BF0B-F8C2D0B7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Chia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thành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hai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training set </a:t>
            </a:r>
            <a:r>
              <a:rPr lang="en-US" sz="2800" dirty="0" err="1">
                <a:solidFill>
                  <a:srgbClr val="0066FF"/>
                </a:solidFill>
              </a:rPr>
              <a:t>và</a:t>
            </a:r>
            <a:r>
              <a:rPr lang="en-US" sz="2800" dirty="0">
                <a:solidFill>
                  <a:srgbClr val="0066FF"/>
                </a:solidFill>
              </a:rPr>
              <a:t> test set.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Ta </a:t>
            </a:r>
            <a:r>
              <a:rPr lang="en-US" sz="2800" dirty="0" err="1">
                <a:solidFill>
                  <a:srgbClr val="FF0000"/>
                </a:solidFill>
              </a:rPr>
              <a:t>dùng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hàm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train_test_split</a:t>
            </a:r>
            <a:r>
              <a:rPr lang="en-US" sz="2800" dirty="0">
                <a:solidFill>
                  <a:srgbClr val="FF0000"/>
                </a:solidFill>
              </a:rPr>
              <a:t> đ</a:t>
            </a:r>
            <a:r>
              <a:rPr lang="vi-VN" sz="2800" dirty="0" err="1">
                <a:solidFill>
                  <a:srgbClr val="FF0000"/>
                </a:solidFill>
              </a:rPr>
              <a:t>ược</a:t>
            </a:r>
            <a:r>
              <a:rPr lang="vi-VN" sz="2800" dirty="0">
                <a:solidFill>
                  <a:srgbClr val="FF0000"/>
                </a:solidFill>
              </a:rPr>
              <a:t> cung </a:t>
            </a:r>
            <a:r>
              <a:rPr lang="vi-VN" sz="2800" dirty="0" err="1">
                <a:solidFill>
                  <a:srgbClr val="FF0000"/>
                </a:solidFill>
              </a:rPr>
              <a:t>cấp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module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sklearn.model_selection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0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sklearn.model_selection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train_test_split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0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train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_test_split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train_size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rgbClr val="09885A"/>
                </a:solidFill>
                <a:latin typeface="Consolas" panose="020B0609020204030204" pitchFamily="49" charset="0"/>
              </a:rPr>
              <a:t>0.8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random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_state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2112026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DD0D7-166E-4EC1-B249-66AF94207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472650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79ADC-34B1-4E7E-BF88-45FE6E454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7537" y="1762919"/>
            <a:ext cx="58769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22768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EF05E-C092-4A0A-963A-B4B827D2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1BD90-68F2-4043-A681-4CE496AAF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Xây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dựng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hàm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hóa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 startAt="11"/>
            </a:pPr>
            <a:endParaRPr lang="en-US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1"/>
            </a:pP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matplotlib.colors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ListedColormap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11"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plt</a:t>
            </a: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>
                <a:solidFill>
                  <a:srgbClr val="001080"/>
                </a:solidFill>
                <a:latin typeface="Consolas" panose="020B0609020204030204" pitchFamily="49" charset="0"/>
              </a:rPr>
              <a:t>y_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X1 = X_[:, 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    X2 = X_[:, </a:t>
            </a:r>
            <a:r>
              <a:rPr lang="vi-V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label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enumerate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np.unique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(y_)):</a:t>
            </a:r>
          </a:p>
          <a:p>
            <a:pPr marL="457200" indent="-457200" algn="just">
              <a:buFont typeface="+mj-lt"/>
              <a:buAutoNum type="arabicPeriod" startAt="11"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plt.scatter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(X1[y_ ==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label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], X2[y_ == </a:t>
            </a:r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label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	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ListedColormap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"green"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654170458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091A-AA45-4AC6-8CDE-21216FC81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Gọi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vi-V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 startAt="18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</a:p>
          <a:p>
            <a:pPr marL="457200" indent="-457200" algn="just">
              <a:buFont typeface="+mj-lt"/>
              <a:buAutoNum type="arabicPeriod" startAt="18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1889458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9A416-4274-4410-9F60-93605379A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335314"/>
            <a:ext cx="6324600" cy="4790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2C6F-9A97-4651-AFB9-ADB638D4C9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sz="2800" dirty="0">
                <a:solidFill>
                  <a:srgbClr val="0066FF"/>
                </a:solidFill>
              </a:rPr>
              <a:t>Theo </a:t>
            </a:r>
            <a:r>
              <a:rPr lang="en-US" sz="2800" dirty="0" err="1">
                <a:solidFill>
                  <a:srgbClr val="0066FF"/>
                </a:solidFill>
              </a:rPr>
              <a:t>hình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vẽ</a:t>
            </a:r>
            <a:r>
              <a:rPr lang="en-US" sz="2800" dirty="0">
                <a:solidFill>
                  <a:srgbClr val="0066FF"/>
                </a:solidFill>
              </a:rPr>
              <a:t>, ta </a:t>
            </a:r>
            <a:r>
              <a:rPr lang="en-US" sz="2800" dirty="0" err="1">
                <a:solidFill>
                  <a:srgbClr val="0066FF"/>
                </a:solidFill>
              </a:rPr>
              <a:t>thấy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điểm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có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sự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phân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bố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thành</a:t>
            </a:r>
            <a:r>
              <a:rPr lang="en-US" sz="2800" dirty="0">
                <a:solidFill>
                  <a:srgbClr val="0066FF"/>
                </a:solidFill>
              </a:rPr>
              <a:t> 2 </a:t>
            </a:r>
            <a:r>
              <a:rPr lang="en-US" sz="2800" dirty="0" err="1">
                <a:solidFill>
                  <a:srgbClr val="0066FF"/>
                </a:solidFill>
              </a:rPr>
              <a:t>mảng</a:t>
            </a:r>
            <a:r>
              <a:rPr lang="en-US" sz="2800" dirty="0">
                <a:solidFill>
                  <a:srgbClr val="0066FF"/>
                </a:solidFill>
              </a:rPr>
              <a:t>. </a:t>
            </a:r>
          </a:p>
          <a:p>
            <a:pPr lvl="1" algn="just"/>
            <a:r>
              <a:rPr lang="en-US" sz="2800" dirty="0" err="1">
                <a:solidFill>
                  <a:srgbClr val="FF0000"/>
                </a:solidFill>
              </a:rPr>
              <a:t>Mảng</a:t>
            </a:r>
            <a:r>
              <a:rPr lang="en-US" sz="2800" dirty="0">
                <a:solidFill>
                  <a:srgbClr val="FF0000"/>
                </a:solidFill>
              </a:rPr>
              <a:t> d</a:t>
            </a:r>
            <a:r>
              <a:rPr lang="vi-VN" sz="2800" dirty="0" err="1">
                <a:solidFill>
                  <a:srgbClr val="FF0000"/>
                </a:solidFill>
              </a:rPr>
              <a:t>ưới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phần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lớn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màu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đỏ</a:t>
            </a:r>
            <a:r>
              <a:rPr lang="vi-VN" sz="2800" dirty="0">
                <a:solidFill>
                  <a:srgbClr val="FF0000"/>
                </a:solidFill>
              </a:rPr>
              <a:t>, </a:t>
            </a:r>
            <a:r>
              <a:rPr lang="vi-VN" sz="2800" dirty="0" err="1">
                <a:solidFill>
                  <a:srgbClr val="FF0000"/>
                </a:solidFill>
              </a:rPr>
              <a:t>tức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khách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hàng</a:t>
            </a:r>
            <a:r>
              <a:rPr lang="vi-VN" sz="2800" dirty="0">
                <a:solidFill>
                  <a:srgbClr val="FF0000"/>
                </a:solidFill>
              </a:rPr>
              <a:t> không mua </a:t>
            </a:r>
            <a:r>
              <a:rPr lang="vi-VN" sz="2800" dirty="0" err="1">
                <a:solidFill>
                  <a:srgbClr val="FF0000"/>
                </a:solidFill>
              </a:rPr>
              <a:t>hàng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Mảng</a:t>
            </a:r>
            <a:r>
              <a:rPr lang="vi-VN" sz="2800" dirty="0">
                <a:solidFill>
                  <a:srgbClr val="0066FF"/>
                </a:solidFill>
              </a:rPr>
              <a:t> bên </a:t>
            </a:r>
            <a:r>
              <a:rPr lang="vi-VN" sz="2800" dirty="0" err="1">
                <a:solidFill>
                  <a:srgbClr val="0066FF"/>
                </a:solidFill>
              </a:rPr>
              <a:t>phải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mảng</a:t>
            </a:r>
            <a:r>
              <a:rPr lang="vi-VN" sz="2800" dirty="0">
                <a:solidFill>
                  <a:srgbClr val="0066FF"/>
                </a:solidFill>
              </a:rPr>
              <a:t> bên trên </a:t>
            </a:r>
            <a:r>
              <a:rPr lang="vi-VN" sz="2800" dirty="0" err="1">
                <a:solidFill>
                  <a:srgbClr val="0066FF"/>
                </a:solidFill>
              </a:rPr>
              <a:t>phần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lớn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màu</a:t>
            </a:r>
            <a:r>
              <a:rPr lang="vi-VN" sz="2800" dirty="0">
                <a:solidFill>
                  <a:srgbClr val="0066FF"/>
                </a:solidFill>
              </a:rPr>
              <a:t> xanh, </a:t>
            </a:r>
            <a:r>
              <a:rPr lang="vi-VN" sz="2800" dirty="0" err="1">
                <a:solidFill>
                  <a:srgbClr val="0066FF"/>
                </a:solidFill>
              </a:rPr>
              <a:t>tức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khách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mua </a:t>
            </a:r>
            <a:r>
              <a:rPr lang="vi-VN" sz="2800" dirty="0" err="1">
                <a:solidFill>
                  <a:srgbClr val="0066FF"/>
                </a:solidFill>
              </a:rPr>
              <a:t>hàng</a:t>
            </a:r>
            <a:r>
              <a:rPr lang="vi-VN" sz="2800" dirty="0">
                <a:solidFill>
                  <a:srgbClr val="0066FF"/>
                </a:solidFill>
              </a:rPr>
              <a:t>. </a:t>
            </a:r>
            <a:endParaRPr lang="vi-VN" sz="32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644637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67E4-70E5-4178-8021-580FFB07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9A416-4274-4410-9F60-93605379AA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335314"/>
            <a:ext cx="6324600" cy="4790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2C6F-9A97-4651-AFB9-ADB638D4C9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sz="3200" dirty="0" err="1">
                <a:solidFill>
                  <a:srgbClr val="0066FF"/>
                </a:solidFill>
              </a:rPr>
              <a:t>Điều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này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là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phù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hợp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vì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các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khách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hàng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trẻ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và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có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mức</a:t>
            </a:r>
            <a:r>
              <a:rPr lang="vi-VN" sz="3200" dirty="0">
                <a:solidFill>
                  <a:srgbClr val="0066FF"/>
                </a:solidFill>
              </a:rPr>
              <a:t> lương </a:t>
            </a:r>
            <a:r>
              <a:rPr lang="vi-VN" sz="3200" dirty="0" err="1">
                <a:solidFill>
                  <a:srgbClr val="0066FF"/>
                </a:solidFill>
              </a:rPr>
              <a:t>thấp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sẽ</a:t>
            </a:r>
            <a:r>
              <a:rPr lang="vi-VN" sz="3200" dirty="0">
                <a:solidFill>
                  <a:srgbClr val="0066FF"/>
                </a:solidFill>
              </a:rPr>
              <a:t> </a:t>
            </a:r>
            <a:r>
              <a:rPr lang="vi-VN" sz="3200" dirty="0" err="1">
                <a:solidFill>
                  <a:srgbClr val="0066FF"/>
                </a:solidFill>
              </a:rPr>
              <a:t>thường</a:t>
            </a:r>
            <a:r>
              <a:rPr lang="vi-VN" sz="3200" dirty="0">
                <a:solidFill>
                  <a:srgbClr val="0066FF"/>
                </a:solidFill>
              </a:rPr>
              <a:t> không mua </a:t>
            </a:r>
            <a:r>
              <a:rPr lang="vi-VN" sz="3200" dirty="0" err="1">
                <a:solidFill>
                  <a:srgbClr val="0066FF"/>
                </a:solidFill>
              </a:rPr>
              <a:t>hàng</a:t>
            </a:r>
            <a:r>
              <a:rPr lang="vi-VN" sz="3200" dirty="0">
                <a:solidFill>
                  <a:srgbClr val="0066FF"/>
                </a:solidFill>
              </a:rPr>
              <a:t>. </a:t>
            </a:r>
          </a:p>
          <a:p>
            <a:pPr algn="just"/>
            <a:r>
              <a:rPr lang="vi-VN" sz="3200" dirty="0" err="1">
                <a:solidFill>
                  <a:srgbClr val="FF0000"/>
                </a:solidFill>
              </a:rPr>
              <a:t>Ngược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lại</a:t>
            </a:r>
            <a:r>
              <a:rPr lang="vi-VN" sz="3200" dirty="0">
                <a:solidFill>
                  <a:srgbClr val="FF0000"/>
                </a:solidFill>
              </a:rPr>
              <a:t>, </a:t>
            </a:r>
            <a:r>
              <a:rPr lang="vi-VN" sz="3200" dirty="0" err="1">
                <a:solidFill>
                  <a:srgbClr val="FF0000"/>
                </a:solidFill>
              </a:rPr>
              <a:t>khách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hàng</a:t>
            </a:r>
            <a:r>
              <a:rPr lang="vi-VN" sz="3200" dirty="0">
                <a:solidFill>
                  <a:srgbClr val="FF0000"/>
                </a:solidFill>
              </a:rPr>
              <a:t> cao </a:t>
            </a:r>
            <a:r>
              <a:rPr lang="vi-VN" sz="3200" dirty="0" err="1">
                <a:solidFill>
                  <a:srgbClr val="FF0000"/>
                </a:solidFill>
              </a:rPr>
              <a:t>tuổi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hoặc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có</a:t>
            </a:r>
            <a:r>
              <a:rPr lang="vi-VN" sz="3200" dirty="0">
                <a:solidFill>
                  <a:srgbClr val="FF0000"/>
                </a:solidFill>
              </a:rPr>
              <a:t> lương cao </a:t>
            </a:r>
            <a:r>
              <a:rPr lang="vi-VN" sz="3200" dirty="0" err="1">
                <a:solidFill>
                  <a:srgbClr val="FF0000"/>
                </a:solidFill>
              </a:rPr>
              <a:t>sẽ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thường</a:t>
            </a:r>
            <a:r>
              <a:rPr lang="vi-VN" sz="3200" dirty="0">
                <a:solidFill>
                  <a:srgbClr val="FF0000"/>
                </a:solidFill>
              </a:rPr>
              <a:t> mua </a:t>
            </a:r>
            <a:r>
              <a:rPr lang="vi-VN" sz="3200" dirty="0" err="1">
                <a:solidFill>
                  <a:srgbClr val="FF0000"/>
                </a:solidFill>
              </a:rPr>
              <a:t>hàng</a:t>
            </a:r>
            <a:r>
              <a:rPr lang="vi-VN" sz="3200" dirty="0">
                <a:solidFill>
                  <a:srgbClr val="FF0000"/>
                </a:solidFill>
              </a:rPr>
              <a:t> </a:t>
            </a:r>
            <a:r>
              <a:rPr lang="vi-VN" sz="3200" dirty="0" err="1">
                <a:solidFill>
                  <a:srgbClr val="FF0000"/>
                </a:solidFill>
              </a:rPr>
              <a:t>nhiều</a:t>
            </a:r>
            <a:r>
              <a:rPr lang="vi-VN" sz="3200" dirty="0">
                <a:solidFill>
                  <a:srgbClr val="FF0000"/>
                </a:solidFill>
              </a:rPr>
              <a:t> hơn.</a:t>
            </a:r>
          </a:p>
        </p:txBody>
      </p:sp>
    </p:spTree>
    <p:extLst>
      <p:ext uri="{BB962C8B-B14F-4D97-AF65-F5344CB8AC3E}">
        <p14:creationId xmlns:p14="http://schemas.microsoft.com/office/powerpoint/2010/main" val="2246326939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D357-44D3-4192-9574-AEB50D0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308A1-220E-41D1-95C3-05079F64F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1832058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D357-44D3-4192-9574-AEB50D0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Huấn luyện mô hình: DecisionTreeClassifier với Tiêu Chuẩn Entropy (In [1])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4B11A-0C5D-4094-8818-CED3C58F0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Huấn luyện Cây Phân Lớp bằng sklearn.tree (In [1]):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sklearn.tree import DecisionTreeClassifier, export_text, plot_tree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sklearn.metrics import confusion_matrix, accuracy_score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classifier = DecisionTreeClassifier(criterion='entropy', random_state=0)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classifier.fit(X_train_scaled, y_train)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y_pred = classifier.predict(X_test_scaled)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cm = confusion_matrix(y_test, y_pred)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print(f'Accuracy: {accuracy_score(y_test, y_pred)*100:.2f}%')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print('Confusion Matrix:\n', cm)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Kết quả: Accuracy = 91.00% | Confusion Matrix: [[62, 6], [3, 29]] (Chính xác 91/100 mẫu)</a:t>
            </a:r>
          </a:p>
        </p:txBody>
      </p:sp>
    </p:spTree>
    <p:extLst>
      <p:ext uri="{BB962C8B-B14F-4D97-AF65-F5344CB8AC3E}">
        <p14:creationId xmlns:p14="http://schemas.microsoft.com/office/powerpoint/2010/main" val="899578686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31E8E-7F95-48D1-B193-056D9DF35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237387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E7C6AE8-60A2-49FB-A20C-4375C46A9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i="1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i="1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.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trận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kích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thước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với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xét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ở đây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Phần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dòng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thứ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confusion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matrix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biểu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confusion_matrix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module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sklearn.metrics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hỗ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trợ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ta xây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confusion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from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sklearn.metrics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confusion_matrix</a:t>
                </a:r>
                <a:endParaRPr lang="vi-VN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cm =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confusion_matrix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Y_train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classifier.predict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))</a:t>
                </a:r>
              </a:p>
              <a:p>
                <a:pPr marL="514350" indent="-514350">
                  <a:buFont typeface="+mj-lt"/>
                  <a:buAutoNum type="arabicPeriod" startAt="23"/>
                </a:pPr>
                <a:r>
                  <a:rPr lang="vi-VN" dirty="0" err="1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print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cm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E7C6AE8-60A2-49FB-A20C-4375C46A9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6" t="-1482" r="-1111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43339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FE9-BB2E-49B4-B0F1-3693843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in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Theo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319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1/320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0.003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0708129"/>
                  </p:ext>
                </p:extLst>
              </p:nvPr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0193934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Ta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trên </a:t>
            </a:r>
            <a:r>
              <a:rPr lang="vi-VN" sz="2800" dirty="0" err="1">
                <a:solidFill>
                  <a:srgbClr val="0066FF"/>
                </a:solidFill>
              </a:rPr>
              <a:t>mặt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tọa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thu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 sau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276D95-6F5F-4A1D-868E-08A2F72934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4400" y="1600200"/>
            <a:ext cx="6014686" cy="434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42819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Xây </a:t>
            </a:r>
            <a:r>
              <a:rPr lang="vi-VN" sz="2800" dirty="0" err="1">
                <a:solidFill>
                  <a:srgbClr val="0066FF"/>
                </a:solidFill>
              </a:rPr>
              <a:t>dựng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đạt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  <a:endParaRPr lang="vi-VN" sz="28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 startAt="26"/>
            </a:pPr>
            <a:r>
              <a:rPr lang="es-E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VisualizingResult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2400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X1 = X_[:, </a:t>
            </a:r>
            <a:r>
              <a:rPr lang="vi-VN" sz="2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X2 = X_[:, </a:t>
            </a:r>
            <a:r>
              <a:rPr lang="vi-VN" sz="2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X1_range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np.arange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start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X1.min()-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stop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X1.max()+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step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0.01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X2_range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np.arange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start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X2.min()-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stop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X2.max()+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step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9885A"/>
                </a:solidFill>
                <a:latin typeface="Consolas" panose="020B0609020204030204" pitchFamily="49" charset="0"/>
              </a:rPr>
              <a:t>0.01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26"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X1_matrix, X2_matrix = 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np.meshgrid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(X1_range, X2_range)</a:t>
            </a:r>
          </a:p>
        </p:txBody>
      </p:sp>
    </p:spTree>
    <p:extLst>
      <p:ext uri="{BB962C8B-B14F-4D97-AF65-F5344CB8AC3E}">
        <p14:creationId xmlns:p14="http://schemas.microsoft.com/office/powerpoint/2010/main" val="898501364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01400" cy="4525963"/>
          </a:xfrm>
        </p:spPr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Xây </a:t>
            </a:r>
            <a:r>
              <a:rPr lang="vi-VN" sz="2800" dirty="0" err="1">
                <a:solidFill>
                  <a:srgbClr val="0066FF"/>
                </a:solidFill>
              </a:rPr>
              <a:t>dựng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tạo</a:t>
            </a:r>
            <a:r>
              <a:rPr lang="vi-VN" sz="2800" dirty="0">
                <a:solidFill>
                  <a:srgbClr val="0066FF"/>
                </a:solidFill>
              </a:rPr>
              <a:t> 2 </a:t>
            </a:r>
            <a:r>
              <a:rPr lang="vi-VN" sz="2800" dirty="0" err="1">
                <a:solidFill>
                  <a:srgbClr val="0066FF"/>
                </a:solidFill>
              </a:rPr>
              <a:t>vùng</a:t>
            </a:r>
            <a:r>
              <a:rPr lang="vi-VN" sz="2800" dirty="0">
                <a:solidFill>
                  <a:srgbClr val="0066FF"/>
                </a:solidFill>
              </a:rPr>
              <a:t> phân chia </a:t>
            </a:r>
            <a:r>
              <a:rPr lang="vi-VN" sz="2800" dirty="0" err="1">
                <a:solidFill>
                  <a:srgbClr val="0066FF"/>
                </a:solidFill>
              </a:rPr>
              <a:t>mà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đạt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được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  <a:endParaRPr lang="vi-VN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26"/>
            </a:pPr>
            <a:r>
              <a:rPr lang="es-E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VisualizingResult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2400" dirty="0">
                <a:solidFill>
                  <a:srgbClr val="001080"/>
                </a:solidFill>
                <a:latin typeface="Consolas" panose="020B0609020204030204" pitchFamily="49" charset="0"/>
              </a:rPr>
              <a:t>X_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endParaRPr lang="vi-V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31"/>
            </a:pP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</a:p>
          <a:p>
            <a:pPr marL="457200" indent="-457200">
              <a:buFont typeface="+mj-lt"/>
              <a:buAutoNum type="arabicPeriod" startAt="32"/>
            </a:pP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X_grid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vi-V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([X1_matrix.ravel(), X2_matrix.ravel()]).T</a:t>
            </a:r>
          </a:p>
          <a:p>
            <a:pPr marL="457200" indent="-457200">
              <a:buFont typeface="+mj-lt"/>
              <a:buAutoNum type="arabicPeriod" startAt="32"/>
            </a:pP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y_grid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vi-V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model.predict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X_grid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vi-V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reshape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(X1_matrix.shape)</a:t>
            </a:r>
          </a:p>
          <a:p>
            <a:pPr marL="457200" indent="-457200">
              <a:buFont typeface="+mj-lt"/>
              <a:buAutoNum type="arabicPeriod" startAt="34"/>
            </a:pP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vi-VN" sz="24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plt.contourf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(X1_matrix, X2_matrix, </a:t>
            </a:r>
            <a:r>
              <a:rPr lang="vi-V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y_grid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alpha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vi-VN" sz="2400" dirty="0">
                <a:solidFill>
                  <a:srgbClr val="09885A"/>
                </a:solidFill>
                <a:latin typeface="Consolas" panose="020B0609020204030204" pitchFamily="49" charset="0"/>
              </a:rPr>
              <a:t>0.5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,   </a:t>
            </a:r>
            <a:r>
              <a:rPr lang="vi-VN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cmap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vi-V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ListedColormap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vi-VN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red</a:t>
            </a:r>
            <a:r>
              <a:rPr lang="vi-VN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green</a:t>
            </a:r>
            <a:r>
              <a:rPr lang="vi-VN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vi-VN" sz="2400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  <a:endParaRPr lang="vi-VN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2"/>
            </a:pPr>
            <a:endParaRPr lang="vi-VN" sz="24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06566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847BE-064C-4CB5-8E65-33ED27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hóa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kết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quả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hình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35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(classifier,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514350" indent="-514350">
              <a:buFont typeface="+mj-lt"/>
              <a:buAutoNum type="arabicPeriod" startAt="35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87380924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B6916D6-6FA1-429E-B8B1-B039FC9CF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1417638"/>
            <a:ext cx="6477000" cy="471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08879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A321E8-246F-4EAF-A682-01E42CE71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Hoàn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thiện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quá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trình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trực</a:t>
            </a:r>
            <a:r>
              <a:rPr lang="vi-VN" sz="2800" dirty="0">
                <a:solidFill>
                  <a:srgbClr val="0066FF"/>
                </a:solidFill>
              </a:rPr>
              <a:t> quan </a:t>
            </a:r>
            <a:r>
              <a:rPr lang="vi-VN" sz="2800" dirty="0" err="1">
                <a:solidFill>
                  <a:srgbClr val="0066FF"/>
                </a:solidFill>
              </a:rPr>
              <a:t>bằng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cách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vẽ</a:t>
            </a:r>
            <a:r>
              <a:rPr lang="vi-VN" sz="2800" dirty="0">
                <a:solidFill>
                  <a:srgbClr val="0066FF"/>
                </a:solidFill>
              </a:rPr>
              <a:t> thêm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huấn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luyện</a:t>
            </a:r>
            <a:r>
              <a:rPr lang="vi-VN" sz="2800" dirty="0">
                <a:solidFill>
                  <a:srgbClr val="0066FF"/>
                </a:solidFill>
              </a:rPr>
              <a:t> lên </a:t>
            </a:r>
            <a:r>
              <a:rPr lang="vi-VN" sz="2800" dirty="0" err="1">
                <a:solidFill>
                  <a:srgbClr val="0066FF"/>
                </a:solidFill>
              </a:rPr>
              <a:t>mặt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phẳng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tọa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độ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vi-VN" sz="2800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 startAt="37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(classifier,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37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y_train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37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vi-VN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510146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22CF-F325-4B0D-BB9C-4A5BDD91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Trực quan hóa kết quả mô hình</a:t>
            </a:r>
            <a:endParaRPr lang="vi-V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BA8ECA-FCF7-414A-B373-2624E5EAE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219200"/>
            <a:ext cx="6753332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20938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22CF-F325-4B0D-BB9C-4A5BDD91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Trực quan hóa kết quả mô hình</a:t>
            </a:r>
            <a:endParaRPr lang="vi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20D58-5361-4A92-8004-3A836CDECB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dirty="0" err="1">
                <a:solidFill>
                  <a:srgbClr val="0066FF"/>
                </a:solidFill>
              </a:rPr>
              <a:t>Nhận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xét</a:t>
            </a:r>
            <a:r>
              <a:rPr lang="vi-VN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>
                <a:solidFill>
                  <a:srgbClr val="FF0000"/>
                </a:solidFill>
              </a:rPr>
              <a:t>Mô </a:t>
            </a:r>
            <a:r>
              <a:rPr lang="vi-VN" sz="2800" dirty="0" err="1">
                <a:solidFill>
                  <a:srgbClr val="FF0000"/>
                </a:solidFill>
              </a:rPr>
              <a:t>hình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độ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chính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xác</a:t>
            </a:r>
            <a:r>
              <a:rPr lang="vi-VN" sz="2800" dirty="0">
                <a:solidFill>
                  <a:srgbClr val="FF0000"/>
                </a:solidFill>
              </a:rPr>
              <a:t> cao.</a:t>
            </a:r>
          </a:p>
          <a:p>
            <a:pPr lvl="1" algn="just"/>
            <a:r>
              <a:rPr lang="vi-VN" sz="2800" dirty="0">
                <a:solidFill>
                  <a:srgbClr val="0066FF"/>
                </a:solidFill>
              </a:rPr>
              <a:t>Tuy nhiên </a:t>
            </a:r>
            <a:r>
              <a:rPr lang="vi-VN" sz="2800" dirty="0" err="1">
                <a:solidFill>
                  <a:srgbClr val="0066FF"/>
                </a:solidFill>
              </a:rPr>
              <a:t>nó</a:t>
            </a:r>
            <a:r>
              <a:rPr lang="vi-VN" sz="2800" dirty="0">
                <a:solidFill>
                  <a:srgbClr val="0066FF"/>
                </a:solidFill>
              </a:rPr>
              <a:t> đang </a:t>
            </a:r>
            <a:r>
              <a:rPr lang="vi-VN" sz="2800" dirty="0" err="1">
                <a:solidFill>
                  <a:srgbClr val="0066FF"/>
                </a:solidFill>
              </a:rPr>
              <a:t>cố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gắng</a:t>
            </a:r>
            <a:r>
              <a:rPr lang="vi-VN" sz="2800" dirty="0">
                <a:solidFill>
                  <a:srgbClr val="0066FF"/>
                </a:solidFill>
              </a:rPr>
              <a:t> mô </a:t>
            </a:r>
            <a:r>
              <a:rPr lang="vi-VN" sz="2800" dirty="0" err="1">
                <a:solidFill>
                  <a:srgbClr val="0066FF"/>
                </a:solidFill>
              </a:rPr>
              <a:t>tả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các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điểm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nhiễu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573FC74-61CB-47C6-8AE5-7F853B7B87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484730"/>
            <a:ext cx="626749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67718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81405-0B4B-4752-8010-5BC101FF1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219996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03915-96E8-4D3F-AEBF-7529BD8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7C6AE8-60A2-49FB-A20C-4375C46A9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800">
                <a:solidFill>
                  <a:srgbClr val="0066FF"/>
                </a:solidFill>
              </a:rPr>
              <a:t>Tạo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confusion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matrix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trên </a:t>
            </a:r>
            <a:r>
              <a:rPr sz="2800">
                <a:solidFill>
                  <a:srgbClr val="0066FF"/>
                </a:solidFill>
              </a:rPr>
              <a:t>tập</a:t>
            </a:r>
            <a:r>
              <a:rPr sz="2800">
                <a:solidFill>
                  <a:srgbClr val="0066FF"/>
                </a:solidFill>
              </a:rPr>
              <a:t> </a:t>
            </a:r>
            <a:r>
              <a:rPr sz="2800">
                <a:solidFill>
                  <a:srgbClr val="0066FF"/>
                </a:solidFill>
              </a:rPr>
              <a:t>test</a:t>
            </a:r>
            <a:r>
              <a:rPr sz="2800">
                <a:solidFill>
                  <a:srgbClr val="0066FF"/>
                </a:solidFill>
              </a:rPr>
              <a:t>.</a:t>
            </a:r>
          </a:p>
          <a:p/>
          <a:p>
            <a:r>
              <a:rPr>
                <a:solidFill>
                  <a:srgbClr val="AF00DB"/>
                </a:solidFill>
                <a:latin typeface="Consolas"/>
              </a:rPr>
              <a:t>from</a:t>
            </a:r>
            <a:r>
              <a:rPr>
                <a:solidFill>
                  <a:srgbClr val="000000"/>
                </a:solidFill>
                <a:latin typeface="Consolas"/>
              </a:rPr>
              <a:t> sklearn.metrics </a:t>
            </a:r>
            <a:r>
              <a:rPr>
                <a:solidFill>
                  <a:srgbClr val="AF00DB"/>
                </a:solidFill>
                <a:latin typeface="Consolas"/>
              </a:rPr>
              <a:t>import</a:t>
            </a:r>
            <a:r>
              <a:rPr>
                <a:solidFill>
                  <a:srgbClr val="000000"/>
                </a:solidFill>
                <a:latin typeface="Consolas"/>
              </a:rPr>
              <a:t> confusion_matrix</a:t>
            </a:r>
          </a:p>
          <a:p>
            <a:r>
              <a:rPr>
                <a:solidFill>
                  <a:srgbClr val="000000"/>
                </a:solidFill>
                <a:latin typeface="Consolas"/>
              </a:rPr>
              <a:t>cm = </a:t>
            </a:r>
            <a:r>
              <a:rPr>
                <a:solidFill>
                  <a:srgbClr val="000000"/>
                </a:solidFill>
                <a:latin typeface="Consolas"/>
              </a:rPr>
              <a:t>confusion_matrix</a:t>
            </a:r>
            <a:r>
              <a:rPr>
                <a:solidFill>
                  <a:srgbClr val="000000"/>
                </a:solidFill>
                <a:latin typeface="Consolas"/>
              </a:rPr>
              <a:t>(y_test, classifier.predict(X_test))</a:t>
            </a:r>
          </a:p>
          <a:p>
            <a:r>
              <a:rPr>
                <a:solidFill>
                  <a:srgbClr val="795E26"/>
                </a:solidFill>
                <a:latin typeface="Consolas"/>
              </a:rPr>
              <a:t>print</a:t>
            </a:r>
            <a:r>
              <a:rPr>
                <a:solidFill>
                  <a:srgbClr val="000000"/>
                </a:solidFill>
                <a:latin typeface="Consolas"/>
              </a:rPr>
              <a:t>(cm)</a:t>
            </a:r>
          </a:p>
        </p:txBody>
      </p:sp>
    </p:spTree>
    <p:extLst>
      <p:ext uri="{BB962C8B-B14F-4D97-AF65-F5344CB8AC3E}">
        <p14:creationId xmlns:p14="http://schemas.microsoft.com/office/powerpoint/2010/main" val="518765293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FE9-BB2E-49B4-B0F1-3693843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Confusion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Matrix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in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Theo ma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3+19=72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. 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+5=8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loại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sai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vi-V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5AD93-52A0-4D38-8C7C-5813D54C2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b="-3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4C35AC-FD6B-4911-AB9C-280EA13B05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890059"/>
                  </p:ext>
                </p:extLst>
              </p:nvPr>
            </p:nvGraphicFramePr>
            <p:xfrm>
              <a:off x="42672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5861788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B145C5-2FC6-4997-B32D-879CA6F44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Thực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hiện</a:t>
            </a:r>
            <a:r>
              <a:rPr lang="en-US" sz="2800" dirty="0">
                <a:solidFill>
                  <a:srgbClr val="0066FF"/>
                </a:solidFill>
              </a:rPr>
              <a:t> t</a:t>
            </a:r>
            <a:r>
              <a:rPr lang="vi-VN" sz="2800" dirty="0">
                <a:solidFill>
                  <a:srgbClr val="0066FF"/>
                </a:solidFill>
              </a:rPr>
              <a:t>ư</a:t>
            </a:r>
            <a:r>
              <a:rPr lang="en-US" sz="2800" dirty="0" err="1">
                <a:solidFill>
                  <a:srgbClr val="0066FF"/>
                </a:solidFill>
              </a:rPr>
              <a:t>ơng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tự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trực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quan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hóa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kết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quả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mô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hình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trên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tập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traning</a:t>
            </a:r>
            <a:r>
              <a:rPr lang="en-US" sz="2800" dirty="0">
                <a:solidFill>
                  <a:srgbClr val="0066FF"/>
                </a:solidFill>
              </a:rPr>
              <a:t>.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42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VisualizingResult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classifier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42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VisualizingDataset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Font typeface="+mj-lt"/>
              <a:buAutoNum type="arabicPeriod" startAt="42"/>
            </a:pPr>
            <a:r>
              <a:rPr lang="vi-VN" dirty="0" err="1">
                <a:solidFill>
                  <a:srgbClr val="000000"/>
                </a:solidFill>
                <a:latin typeface="Consolas" panose="020B0609020204030204" pitchFamily="49" charset="0"/>
              </a:rPr>
              <a:t>plt.show</a:t>
            </a:r>
            <a:r>
              <a:rPr lang="vi-V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vi-VN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46220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B78BA7-00A2-4A55-BB78-622E41C08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300162"/>
            <a:ext cx="6705600" cy="4842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31F99E-3333-4D44-A2DE-77DEC40EA6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31F99E-3333-4D44-A2DE-77DEC40EA6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4771950"/>
                  </p:ext>
                </p:extLst>
              </p:nvPr>
            </p:nvGraphicFramePr>
            <p:xfrm>
              <a:off x="8382000" y="2308702"/>
              <a:ext cx="3276600" cy="15544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2200">
                      <a:extLst>
                        <a:ext uri="{9D8B030D-6E8A-4147-A177-3AD203B41FA5}">
                          <a16:colId xmlns:a16="http://schemas.microsoft.com/office/drawing/2014/main" val="4171667629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523946260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7666651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vi-VN" sz="2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58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110465" r="-101667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110465" r="-2235" b="-13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107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56" t="-212941" r="-10166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676" t="-212941" r="-2235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3763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92819245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 wrap="square">
            <a:normAutofit/>
          </a:bodyPr>
          <a:lstStyle/>
          <a:p>
            <a:pPr eaLnBrk="1" hangingPunct="1">
              <a:lnSpc>
                <a:spcPct val="90000"/>
              </a:lnSpc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Xuất Bộ Luật Cây &amp; Trực Quan Hóa plot_tree (In [2])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4540C1-FAA8-42E9-B0B2-2EFA782BC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Cấu trúc luật phân loại minh bạch của Cây Quyết Định: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tree_rules = export_text(classifier, feature_names=['Age', 'Salary'])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print(tree_rules[:300])  # Xuất các luật IF-THEN phân nhánh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Trực quan hóa hình học bằng plot_tree: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Ranh giới phân lớp của Decision Tree gồm các đường VUÔNG GÓC với trục tọa độ (Orthogonal Splits).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Tiêu chuẩn Entropy &amp; Information Gain: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Entropy(S) = - sum( p_i * log2(p_i) )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Cây ưu tiên chọn thuộc tính có độ giảm Entropy (Information Gain) lớn nhất để phân nhánh tại mỗi bước.</a:t>
            </a:r>
          </a:p>
        </p:txBody>
      </p:sp>
    </p:spTree>
    <p:extLst>
      <p:ext uri="{BB962C8B-B14F-4D97-AF65-F5344CB8AC3E}">
        <p14:creationId xmlns:p14="http://schemas.microsoft.com/office/powerpoint/2010/main" val="2303035216"/>
      </p:ext>
    </p:extLst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4540C1-FAA8-42E9-B0B2-2EFA782BC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Gọi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so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mục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từ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endParaRPr lang="vi-VN" sz="2800" dirty="0">
                  <a:solidFill>
                    <a:srgbClr val="0066FF"/>
                  </a:solidFill>
                </a:endParaRPr>
              </a:p>
              <a:p>
                <a:endParaRPr lang="vi-VN" sz="28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 startAt="51"/>
                </a:pPr>
                <a:r>
                  <a:rPr lang="en-US" dirty="0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>
                    <a:solidFill>
                      <a:srgbClr val="795E26"/>
                    </a:solidFill>
                    <a:latin typeface="Consolas" panose="020B0609020204030204" pitchFamily="49" charset="0"/>
                  </a:rPr>
                  <a:t>range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7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12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):</a:t>
                </a:r>
              </a:p>
              <a:p>
                <a:pPr marL="514350" indent="-514350">
                  <a:buFont typeface="+mj-lt"/>
                  <a:buAutoNum type="arabicPeriod" startAt="51"/>
                </a:pP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compare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(i)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4540C1-FAA8-42E9-B0B2-2EFA782BC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591225"/>
      </p:ext>
    </p:extLst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87E84A-3B19-4FF8-969F-5C38D9EF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Kiểm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kết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quả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trên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tập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ECC9B8FD-DF83-49A2-98AF-3CB75CF1DBE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676398" y="1661160"/>
              <a:ext cx="88392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42202487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47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ECC9B8FD-DF83-49A2-98AF-3CB75CF1DB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8949837"/>
                  </p:ext>
                </p:extLst>
              </p:nvPr>
            </p:nvGraphicFramePr>
            <p:xfrm>
              <a:off x="1676398" y="1661160"/>
              <a:ext cx="883920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3600337692"/>
                        </a:ext>
                      </a:extLst>
                    </a:gridCol>
                    <a:gridCol w="2164080">
                      <a:extLst>
                        <a:ext uri="{9D8B030D-6E8A-4147-A177-3AD203B41FA5}">
                          <a16:colId xmlns:a16="http://schemas.microsoft.com/office/drawing/2014/main" val="3658340494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1278605173"/>
                        </a:ext>
                      </a:extLst>
                    </a:gridCol>
                    <a:gridCol w="2895600">
                      <a:extLst>
                        <a:ext uri="{9D8B030D-6E8A-4147-A177-3AD203B41FA5}">
                          <a16:colId xmlns:a16="http://schemas.microsoft.com/office/drawing/2014/main" val="4220248793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Age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Estimated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Salary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Purchased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625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194118" r="-439259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194118" r="-234085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194118" r="-136752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194118" r="-1053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3479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290698" r="-439259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290698" r="-234085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290698" r="-136752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290698" r="-1053" b="-29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060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395294" r="-439259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395294" r="-234085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395294" r="-136752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395294" r="-1053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464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495294" r="-439259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495294" r="-234085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495294" r="-136752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495294" r="-1053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35378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" t="-595294" r="-439259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338" t="-595294" r="-234085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348" t="-595294" r="-136752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5684" t="-595294" r="-1053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6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4567206"/>
      </p:ext>
    </p:extLst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0"/>
          <p:cNvSpPr txBox="1">
            <a:spLocks noGrp="1"/>
          </p:cNvSpPr>
          <p:nvPr>
            <p:ph type="ctrTitle"/>
          </p:nvPr>
        </p:nvSpPr>
        <p:spPr>
          <a:xfrm>
            <a:off x="228600" y="2130426"/>
            <a:ext cx="11811000" cy="350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0066FF"/>
                </a:solidFill>
              </a:rPr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FF0000"/>
                </a:solidFill>
              </a:rPr>
              <a:t>Thân ái chào tạm biệt các bạn</a:t>
            </a:r>
            <a:br>
              <a:rPr lang="en-US" sz="4000">
                <a:solidFill>
                  <a:srgbClr val="FF0000"/>
                </a:solidFill>
              </a:rPr>
            </a:br>
            <a:br>
              <a:rPr lang="en-US" sz="4000">
                <a:solidFill>
                  <a:srgbClr val="FF0000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ĐẠI HỌC QUỐC GIA TP.HCM</a:t>
            </a:r>
            <a:br>
              <a:rPr lang="en-US" sz="4000"/>
            </a:br>
            <a:r>
              <a:rPr lang="en-US" sz="3600">
                <a:solidFill>
                  <a:srgbClr val="FF0000"/>
                </a:solidFill>
              </a:rPr>
              <a:t>TRƯỜNG ĐẠI HỌC CÔNG NGHỆ THÔNG TIN TP.HCM</a:t>
            </a:r>
            <a:br>
              <a:rPr lang="en-US" sz="3600">
                <a:solidFill>
                  <a:srgbClr val="FF0000"/>
                </a:solidFill>
              </a:rPr>
            </a:br>
            <a:r>
              <a:rPr lang="en-US" sz="3600">
                <a:solidFill>
                  <a:srgbClr val="0066FF"/>
                </a:solidFill>
              </a:rPr>
              <a:t>TOÀN DIỆN – SÁNG TẠO – PHỤNG SỰ</a:t>
            </a:r>
            <a:r>
              <a:rPr lang="en-US" sz="3600"/>
              <a:t> </a:t>
            </a:r>
            <a:endParaRPr sz="4000"/>
          </a:p>
        </p:txBody>
      </p:sp>
    </p:spTree>
    <p:extLst>
      <p:ext uri="{BB962C8B-B14F-4D97-AF65-F5344CB8AC3E}">
        <p14:creationId xmlns:p14="http://schemas.microsoft.com/office/powerpoint/2010/main" val="1199140407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AB1255-BCCE-47F3-9A10-F9FAAAC9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EAA575-A3F0-4549-8D4F-802D4076A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Programming Exercise</a:t>
            </a:r>
          </a:p>
        </p:txBody>
      </p:sp>
    </p:spTree>
    <p:extLst>
      <p:ext uri="{BB962C8B-B14F-4D97-AF65-F5344CB8AC3E}">
        <p14:creationId xmlns:p14="http://schemas.microsoft.com/office/powerpoint/2010/main" val="2653149814"/>
      </p:ext>
    </p:extLst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80CC-3CD0-4591-9A11-2E79F7CA7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trên Python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D8CA73-BAD1-4D34-9F49-6B67272001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Bài 01. </a:t>
            </a:r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Iris Data Set</a:t>
            </a:r>
          </a:p>
          <a:p>
            <a:pPr lvl="1"/>
            <a:r>
              <a:rPr lang="en-US"/>
              <a:t>Xây dựng cây quyết định cho tập dữ liệu: Iris Data Set.</a:t>
            </a:r>
          </a:p>
          <a:p>
            <a:pPr lvl="1"/>
            <a:r>
              <a:rPr lang="en-US"/>
              <a:t>Nguồn dữ liệu: </a:t>
            </a:r>
            <a:r>
              <a:rPr lang="en-US">
                <a:hlinkClick r:id="rId2"/>
              </a:rPr>
              <a:t>https://archive.ics.uci.edu/ml/datasets/iris</a:t>
            </a:r>
            <a:r>
              <a:rPr lang="en-US"/>
              <a:t>.</a:t>
            </a:r>
          </a:p>
          <a:p>
            <a:pPr lvl="1"/>
            <a:r>
              <a:rPr lang="en-US"/>
              <a:t>Hình ảnh minh họa: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https://www.xoriant.com/blog/product-engineering/decision-trees-machine-learning-algorithm.html</a:t>
            </a:r>
          </a:p>
        </p:txBody>
      </p:sp>
      <p:pic>
        <p:nvPicPr>
          <p:cNvPr id="9" name="Picture 2" descr="Decision Trees modified">
            <a:extLst>
              <a:ext uri="{FF2B5EF4-FFF2-40B4-BE49-F238E27FC236}">
                <a16:creationId xmlns:a16="http://schemas.microsoft.com/office/drawing/2014/main" id="{42B0223E-E754-4E88-A83E-C17D4ADCA91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1651727"/>
            <a:ext cx="5994400" cy="442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867190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TRƯỜNG ĐẠI HỌC CÔNG NGHỆ THÔNG TIN TP.HCM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/>
              <a:t>Nhóm UIT-Together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Tấn Trần Minh Khang</a:t>
            </a:r>
          </a:p>
        </p:txBody>
      </p:sp>
    </p:spTree>
    <p:extLst>
      <p:ext uri="{BB962C8B-B14F-4D97-AF65-F5344CB8AC3E}">
        <p14:creationId xmlns:p14="http://schemas.microsoft.com/office/powerpoint/2010/main" val="2651894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14695</TotalTime>
  <Words>4798</Words>
  <Application>Microsoft Office PowerPoint</Application>
  <PresentationFormat>Widescreen</PresentationFormat>
  <Paragraphs>871</Paragraphs>
  <Slides>110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7" baseType="lpstr">
      <vt:lpstr>Arial</vt:lpstr>
      <vt:lpstr>Cambria Math</vt:lpstr>
      <vt:lpstr>Consolas</vt:lpstr>
      <vt:lpstr>Courier New</vt:lpstr>
      <vt:lpstr>Symbol</vt:lpstr>
      <vt:lpstr>Times New Roman</vt:lpstr>
      <vt:lpstr>Default Design</vt:lpstr>
      <vt:lpstr>DECISION TREE PHƯƠNG PHÁP CÂY QUYẾT ĐỊNH</vt:lpstr>
      <vt:lpstr>Thuật toán Cây quyết định</vt:lpstr>
      <vt:lpstr>Thuật toán Cây quyết định</vt:lpstr>
      <vt:lpstr>Thuật toán Cây quyết định</vt:lpstr>
      <vt:lpstr>Thuật toán Cây quyết định</vt:lpstr>
      <vt:lpstr>ĐỊNH NGHĨA CÂY QUYẾT ĐỊNH</vt:lpstr>
      <vt:lpstr>Định nghĩa Cây quyết định</vt:lpstr>
      <vt:lpstr>PHÂN LOẠI CÂY QUYẾT ĐỊNH</vt:lpstr>
      <vt:lpstr>Phân loại cây quyết định</vt:lpstr>
      <vt:lpstr>CÁC THUẬT TOÁN CÂY QUYẾT ĐỊNH</vt:lpstr>
      <vt:lpstr>Các thuật toán xây dựng cây quyết định</vt:lpstr>
      <vt:lpstr>SO SÁNH CÁC THUẬT TOÁN</vt:lpstr>
      <vt:lpstr>Các thuật toán xây dựng cây quyết định</vt:lpstr>
      <vt:lpstr>ỨNG DỤNG CÂY QUYẾT ĐỊNH</vt:lpstr>
      <vt:lpstr>Ứng dụng thuật toán cây quyết định</vt:lpstr>
      <vt:lpstr>Ứng dụng thuật toán cây quyết định</vt:lpstr>
      <vt:lpstr>Ứng dụng thuật toán cây quyết định</vt:lpstr>
      <vt:lpstr>Ứng dụng thuật toán cây quyết định</vt:lpstr>
      <vt:lpstr>Ứng dụng thuật toán cây quyết định</vt:lpstr>
      <vt:lpstr>Ứng dụng thuật toán cây quyết định</vt:lpstr>
      <vt:lpstr>Ứng dụng thuật toán cây quyết định</vt:lpstr>
      <vt:lpstr>Ứng dụng thuật toán cây quyết định</vt:lpstr>
      <vt:lpstr>ĐIỂM MẠNH CỦA CÂY QUYẾT ĐỊNH</vt:lpstr>
      <vt:lpstr>Điểm mạnh của thuật toán</vt:lpstr>
      <vt:lpstr>Điểm mạnh của thuật toán</vt:lpstr>
      <vt:lpstr>Điểm mạnh của thuật toán</vt:lpstr>
      <vt:lpstr>Điểm mạnh của thuật toán</vt:lpstr>
      <vt:lpstr>Điểm mạnh của thuật toán</vt:lpstr>
      <vt:lpstr>ĐIỂM YẾU CỦA CÂY QUYẾT ĐỊNH</vt:lpstr>
      <vt:lpstr>Điểm yếu của thuật toán</vt:lpstr>
      <vt:lpstr>Điểm yếu của thuật toán</vt:lpstr>
      <vt:lpstr>CÁC ĐỘ ĐO XÂY DỰNG CÂY</vt:lpstr>
      <vt:lpstr>Các độ đo - Metrics </vt:lpstr>
      <vt:lpstr>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Cây quyết định – Ví dụ minh họa</vt:lpstr>
      <vt:lpstr>THỰC HÀNH PHƯƠNG PHÁP CÂY QUYẾT ĐỊNH</vt:lpstr>
      <vt:lpstr>DATASET</vt:lpstr>
      <vt:lpstr>Dataset</vt:lpstr>
      <vt:lpstr>Dataset</vt:lpstr>
      <vt:lpstr>Dataset</vt:lpstr>
      <vt:lpstr>Dataset</vt:lpstr>
      <vt:lpstr>Tiền xử lý dữ liệu</vt:lpstr>
      <vt:lpstr>Tiền xử lý dữ liệu</vt:lpstr>
      <vt:lpstr>Tiền xử lý dữ liệu</vt:lpstr>
      <vt:lpstr>Tiền xử lý dữ liệu</vt:lpstr>
      <vt:lpstr>Trực quan hóa dữ liệu</vt:lpstr>
      <vt:lpstr>Trực quan hóa dữ liệu</vt:lpstr>
      <vt:lpstr>Trực quan hóa dữ liệu</vt:lpstr>
      <vt:lpstr>Trực quan hóa dữ liệu</vt:lpstr>
      <vt:lpstr>Trực quan hóa dữ liệu</vt:lpstr>
      <vt:lpstr>Trực quan hóa dữ liệu</vt:lpstr>
      <vt:lpstr>Huấn luyện mô hình</vt:lpstr>
      <vt:lpstr>Huấn luyện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Trực quan hóa kết quả mô hình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Kiểm tra kết quả trên tập test</vt:lpstr>
      <vt:lpstr>Chúc các bạn học tốt Thân ái chào tạm biệt các bạn  ĐẠI HỌC QUỐC GIA TP.HCM TRƯỜNG ĐẠI HỌC CÔNG NGHỆ THÔNG TIN TP.HCM TOÀN DIỆN – SÁNG TẠO – PHỤNG SỰ </vt:lpstr>
      <vt:lpstr>BÀI TẬP THỰC HÀNH</vt:lpstr>
      <vt:lpstr>Bài tập thực hành trên Python</vt:lpstr>
      <vt:lpstr>Chúc các bạn học tốt TRƯỜNG ĐẠI HỌC CÔNG NGHỆ THÔNG TIN TP.HCM  Nhóm UIT-Together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Quan Chí Khánh An</cp:lastModifiedBy>
  <cp:revision>1325</cp:revision>
  <cp:lastPrinted>2013-08-30T01:32:34Z</cp:lastPrinted>
  <dcterms:created xsi:type="dcterms:W3CDTF">2008-06-14T04:13:27Z</dcterms:created>
  <dcterms:modified xsi:type="dcterms:W3CDTF">2023-11-07T16:05:13Z</dcterms:modified>
</cp:coreProperties>
</file>