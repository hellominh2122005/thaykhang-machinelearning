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1585" r:id="rId2"/>
    <p:sldId id="1589" r:id="rId3"/>
    <p:sldId id="334" r:id="rId4"/>
    <p:sldId id="335" r:id="rId5"/>
    <p:sldId id="1586" r:id="rId6"/>
    <p:sldId id="330" r:id="rId7"/>
    <p:sldId id="351" r:id="rId8"/>
    <p:sldId id="332" r:id="rId9"/>
    <p:sldId id="333" r:id="rId10"/>
    <p:sldId id="1581" r:id="rId11"/>
    <p:sldId id="1582" r:id="rId12"/>
    <p:sldId id="336" r:id="rId13"/>
    <p:sldId id="338" r:id="rId14"/>
    <p:sldId id="339" r:id="rId15"/>
    <p:sldId id="354" r:id="rId16"/>
    <p:sldId id="340" r:id="rId17"/>
    <p:sldId id="350" r:id="rId18"/>
    <p:sldId id="341" r:id="rId19"/>
    <p:sldId id="342" r:id="rId20"/>
    <p:sldId id="343" r:id="rId21"/>
    <p:sldId id="344" r:id="rId22"/>
    <p:sldId id="345" r:id="rId23"/>
    <p:sldId id="346" r:id="rId24"/>
    <p:sldId id="347" r:id="rId25"/>
    <p:sldId id="353" r:id="rId26"/>
    <p:sldId id="348" r:id="rId27"/>
    <p:sldId id="349" r:id="rId28"/>
    <p:sldId id="355" r:id="rId29"/>
    <p:sldId id="356" r:id="rId30"/>
    <p:sldId id="357" r:id="rId31"/>
    <p:sldId id="359" r:id="rId32"/>
    <p:sldId id="1584" r:id="rId33"/>
    <p:sldId id="1587" r:id="rId34"/>
    <p:sldId id="1573" r:id="rId3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9933"/>
    <a:srgbClr val="FF0000"/>
    <a:srgbClr val="FF3399"/>
    <a:srgbClr val="008000"/>
    <a:srgbClr val="000099"/>
    <a:srgbClr val="FF6600"/>
    <a:srgbClr val="66FF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87366" autoAdjust="0"/>
  </p:normalViewPr>
  <p:slideViewPr>
    <p:cSldViewPr>
      <p:cViewPr varScale="1">
        <p:scale>
          <a:sx n="68" d="100"/>
          <a:sy n="68" d="100"/>
        </p:scale>
        <p:origin x="118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handoutMaster" Target="handoutMasters/handout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9E2CB30-4184-4C1B-912F-A6AED0718E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866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5859DDC-9015-4B39-98F8-9F9A698DF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62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859DDC-9015-4B39-98F8-9F9A698DFEA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31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859DDC-9015-4B39-98F8-9F9A698DFEA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7357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TIÊU ĐỀ SLIDE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454966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27E77-6012-42D7-99B0-1D322EEAFE5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086803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97A347-30EE-4B72-93DA-C4CBE7049A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0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F626F4-8319-BB9A-3962-FB52D8DEB45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92656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838081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615748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886200"/>
            <a:ext cx="11582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747701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01_Title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2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127187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3508374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4447936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CHUẨN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947125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2_Standard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6553698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601710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631001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02_Standard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4998215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E9201-BB7C-7361-D15B-554D97FD494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643877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0"/>
            <a:ext cx="109728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57848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1532198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02_Standard Slide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260759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3_Progr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PROGRAM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9038162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3_Program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>
              <a:defRPr sz="28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875236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rogram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276024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rogram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BF5967-6241-0E40-D844-CD2FB96F118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512989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4_Slide Up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PHẦN TRÊN DƯỚI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4379166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3527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953001"/>
            <a:ext cx="10972800" cy="11724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570494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51459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114801"/>
            <a:ext cx="10972800" cy="20106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190481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1371597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9600" y="2971801"/>
            <a:ext cx="10972800" cy="3153696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+"/>
              <a:tabLst/>
              <a:defRPr/>
            </a:pPr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415433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5_Slide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1238762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0254237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93367181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716980-92B1-EFAB-E559-9C67E7C615B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755685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65532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0"/>
            <a:ext cx="4419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4642175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4286864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42868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B267FE-1A4A-FC5A-B1BF-212E21F3C20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9912957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3810000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C8D0DD-B54D-81D5-B7D4-10338B1E328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2304489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2547086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2868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286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1A5BA2-D508-AFA2-E487-FE996D715498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0895333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3809999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38099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108584-BFF3-2406-377A-3236D4DB99A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5069774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94170472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640B4C-4BB4-59DC-6FB5-BE2BEAB17DC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15824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9277816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01540FF-506E-C951-CCC4-F2846A5D1D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16128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4517489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9894408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9BE0C1-77A6-4A1D-2879-D18D2A15649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4376779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7836774-98E2-8399-1A89-B989AAE076F4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410200"/>
            <a:ext cx="122224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8600537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58627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998632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24388919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09728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6338631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15824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696371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2114" y="1535113"/>
            <a:ext cx="12194114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2114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55509956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05_Slide Two Column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6488560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_Slide Three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BA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6098984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65494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70198783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7_Slide Four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94009430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586163-080C-4D92-9FF5-83B9A124C31B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0988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879BDB-29CC-404E-9DCA-E89C7B9070D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103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94B703-5983-4A4F-B197-D2C64EAA9F6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3472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06970055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8_Slide Four 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PHẦN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2302994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EA549A-C581-4C37-B257-ACE55CAD4DF6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0" y="3886200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0016720-4FC2-4205-9886-7838EB04433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97600" y="1608826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E828636-495F-44E0-8340-BCE2B3F4716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97600" y="3894825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01676564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63000" y="16002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4A1A4A6-69C0-4EC3-B5CC-CC08837714D4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09600" y="26808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3E39D719-3B3B-4F96-BE3F-4E767D23D3D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763000" y="26808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7791AFD-E53B-48D7-8A3C-24F9B931493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600" y="37338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7784060D-E07A-4765-948A-FC9071F8DDC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763000" y="37338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67EFF06-2483-4600-B6B9-3D1CE50220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09600" y="48144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22FA758-800C-4200-9C64-1F16B8C51CA7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763000" y="48144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9676352"/>
      </p:ext>
    </p:extLst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9_Flow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LƯU ĐỒ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2140233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1"/>
            <a:ext cx="59944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97600" y="0"/>
            <a:ext cx="5994400" cy="914401"/>
          </a:xfrm>
          <a:solidFill>
            <a:srgbClr val="00B0F0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91959533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4854" y="1066801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14854" y="0"/>
            <a:ext cx="6077146" cy="914401"/>
          </a:xfrm>
          <a:solidFill>
            <a:srgbClr val="00B0F0"/>
          </a:solidFill>
        </p:spPr>
        <p:txBody>
          <a:bodyPr/>
          <a:lstStyle>
            <a:lvl1pPr marL="0" indent="0"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1B544BE-4259-4202-9EEF-29A5F771B6E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9157118" y="1066800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8711408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994400" cy="5211764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01840984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173" y="0"/>
            <a:ext cx="5994400" cy="6096000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34309164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theme" Target="../theme/theme1.xml"/><Relationship Id="rId60" Type="http://schemas.openxmlformats.org/officeDocument/2006/relationships/image" Target="../media/image1.png"/><Relationship Id="rId61" Type="http://schemas.openxmlformats.org/officeDocument/2006/relationships/image" Target="../media/image2.png"/><Relationship Id="rId6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0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1379200" y="6324600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A916C17-A3B0-4CE4-88CA-9129F443D2C0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B82A81E1-3619-4A2C-AB88-C7D0762594CD}"/>
              </a:ext>
            </a:extLst>
          </p:cNvPr>
          <p:cNvPicPr>
            <a:picLocks noChangeAspect="1"/>
          </p:cNvPicPr>
          <p:nvPr userDrawn="1"/>
        </p:nvPicPr>
        <p:blipFill>
          <a:blip r:embed="rId6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103160"/>
            <a:ext cx="1375575" cy="567426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B594A5E-2439-4755-BAA8-30F12FADD3C7}"/>
              </a:ext>
            </a:extLst>
          </p:cNvPr>
          <p:cNvPicPr>
            <a:picLocks noChangeAspect="1"/>
          </p:cNvPicPr>
          <p:nvPr userDrawn="1"/>
        </p:nvPicPr>
        <p:blipFill>
          <a:blip r:embed="rId6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908" y="70999"/>
            <a:ext cx="843402" cy="84340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649" r:id="rId3"/>
    <p:sldLayoutId id="2147483720" r:id="rId4"/>
    <p:sldLayoutId id="2147483652" r:id="rId5"/>
    <p:sldLayoutId id="2147483750" r:id="rId6"/>
    <p:sldLayoutId id="2147483718" r:id="rId7"/>
    <p:sldLayoutId id="2147483650" r:id="rId8"/>
    <p:sldLayoutId id="2147483721" r:id="rId9"/>
    <p:sldLayoutId id="2147483723" r:id="rId10"/>
    <p:sldLayoutId id="2147483716" r:id="rId11"/>
    <p:sldLayoutId id="2147483722" r:id="rId12"/>
    <p:sldLayoutId id="2147483748" r:id="rId13"/>
    <p:sldLayoutId id="2147483749" r:id="rId14"/>
    <p:sldLayoutId id="2147483717" r:id="rId15"/>
    <p:sldLayoutId id="2147483719" r:id="rId16"/>
    <p:sldLayoutId id="2147483725" r:id="rId17"/>
    <p:sldLayoutId id="2147483726" r:id="rId18"/>
    <p:sldLayoutId id="2147483727" r:id="rId19"/>
    <p:sldLayoutId id="2147483724" r:id="rId20"/>
    <p:sldLayoutId id="2147483651" r:id="rId21"/>
    <p:sldLayoutId id="2147483712" r:id="rId22"/>
    <p:sldLayoutId id="2147483713" r:id="rId23"/>
    <p:sldLayoutId id="2147483728" r:id="rId24"/>
    <p:sldLayoutId id="2147483707" r:id="rId25"/>
    <p:sldLayoutId id="2147483709" r:id="rId26"/>
    <p:sldLayoutId id="2147483730" r:id="rId27"/>
    <p:sldLayoutId id="2147483700" r:id="rId28"/>
    <p:sldLayoutId id="2147483731" r:id="rId29"/>
    <p:sldLayoutId id="2147483732" r:id="rId30"/>
    <p:sldLayoutId id="2147483689" r:id="rId31"/>
    <p:sldLayoutId id="2147483733" r:id="rId32"/>
    <p:sldLayoutId id="2147483734" r:id="rId33"/>
    <p:sldLayoutId id="2147483679" r:id="rId34"/>
    <p:sldLayoutId id="2147483735" r:id="rId35"/>
    <p:sldLayoutId id="2147483736" r:id="rId36"/>
    <p:sldLayoutId id="2147483684" r:id="rId37"/>
    <p:sldLayoutId id="2147483737" r:id="rId38"/>
    <p:sldLayoutId id="2147483738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7" r:id="rId45"/>
    <p:sldLayoutId id="2147483729" r:id="rId46"/>
    <p:sldLayoutId id="2147483686" r:id="rId47"/>
    <p:sldLayoutId id="2147483711" r:id="rId48"/>
    <p:sldLayoutId id="2147483739" r:id="rId49"/>
    <p:sldLayoutId id="2147483688" r:id="rId50"/>
    <p:sldLayoutId id="2147483740" r:id="rId51"/>
    <p:sldLayoutId id="2147483694" r:id="rId52"/>
    <p:sldLayoutId id="2147483687" r:id="rId53"/>
    <p:sldLayoutId id="2147483746" r:id="rId54"/>
    <p:sldLayoutId id="2147483701" r:id="rId55"/>
    <p:sldLayoutId id="2147483702" r:id="rId56"/>
    <p:sldLayoutId id="2147483703" r:id="rId57"/>
    <p:sldLayoutId id="2147483704" r:id="rId58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─"/>
        <a:defRPr sz="2800">
          <a:solidFill>
            <a:srgbClr val="0066FF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+"/>
        <a:defRPr sz="2800">
          <a:solidFill>
            <a:srgbClr val="0066FF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rgbClr val="0066FF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www.superdatascience.com/pages/machine-learning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://web.stanford.edu/class/msande226/minip2.pdf" TargetMode="External"/><Relationship Id="rId3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E3612-16D3-622A-7FFF-F636EC5E5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/>
              <a:t>MULTIPLE LINEAR REGRESSION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D9C513-AD71-9FA8-DCD3-EF6738328A0A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Quan Chí Khánh An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Lê Ngọc Huy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CN. Bùi Cao Doanh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CN. Nguyễn Trọng Thuận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Phan Vĩnh Long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Nguyễn Cường Phát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Nguyễn Hoàng Ngân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Hồ Thái Ngọc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Đỗ Văn Tiến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475D-F6A4-3080-6B47-C6E6C22C81F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/>
              <a:t>Nguyễn Hoàng Yến Như</a:t>
            </a:r>
          </a:p>
          <a:p>
            <a:r>
              <a:rPr lang="en-US">
                <a:solidFill>
                  <a:srgbClr val="FF0000"/>
                </a:solidFill>
              </a:rPr>
              <a:t>Nguyễn Trần Phúc Nghi</a:t>
            </a:r>
          </a:p>
          <a:p>
            <a:r>
              <a:rPr lang="en-US"/>
              <a:t>Nguyễn Trần Phúc An</a:t>
            </a:r>
          </a:p>
          <a:p>
            <a:r>
              <a:rPr lang="en-US">
                <a:solidFill>
                  <a:srgbClr val="FF0000"/>
                </a:solidFill>
              </a:rPr>
              <a:t>Nguyễn Đức Anh Phúc</a:t>
            </a:r>
          </a:p>
          <a:p>
            <a:r>
              <a:rPr lang="en-US"/>
              <a:t>Trịnh Thị Thanh Trúc</a:t>
            </a:r>
          </a:p>
          <a:p>
            <a:r>
              <a:rPr lang="en-US"/>
              <a:t>KS. Cao Bá Kiệt</a:t>
            </a:r>
          </a:p>
          <a:p>
            <a:endParaRPr lang="en-US">
              <a:solidFill>
                <a:srgbClr val="FF0000"/>
              </a:solidFill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D686E-4114-4A0E-1FEE-7584196A67B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/>
              <a:t>ThS. Nguyễn Hoàn Mỹ</a:t>
            </a:r>
          </a:p>
          <a:p>
            <a:r>
              <a:rPr lang="en-US">
                <a:solidFill>
                  <a:srgbClr val="FF0000"/>
                </a:solidFill>
              </a:rPr>
              <a:t>ThS. Dương Phi Long</a:t>
            </a:r>
          </a:p>
          <a:p>
            <a:r>
              <a:rPr lang="en-US"/>
              <a:t>ThS. Trương Quốc Dũng </a:t>
            </a:r>
          </a:p>
          <a:p>
            <a:r>
              <a:rPr lang="en-US">
                <a:solidFill>
                  <a:srgbClr val="FF0000"/>
                </a:solidFill>
              </a:rPr>
              <a:t>ThS. Nguyễn Thành Hiệp</a:t>
            </a:r>
          </a:p>
          <a:p>
            <a:r>
              <a:rPr lang="en-US"/>
              <a:t>ThS. Nguyễn Võ Đăng Khoa</a:t>
            </a:r>
          </a:p>
          <a:p>
            <a:r>
              <a:rPr lang="en-US">
                <a:solidFill>
                  <a:srgbClr val="FF0000"/>
                </a:solidFill>
              </a:rPr>
              <a:t>ThS. Võ Duy Nguyên</a:t>
            </a:r>
          </a:p>
          <a:p>
            <a:r>
              <a:rPr lang="en-US"/>
              <a:t>TS. Nguyễn Văn Tâm</a:t>
            </a:r>
          </a:p>
          <a:p>
            <a:r>
              <a:rPr lang="en-US">
                <a:solidFill>
                  <a:srgbClr val="FF0000"/>
                </a:solidFill>
              </a:rPr>
              <a:t>ThS. Trần Việt Thu Phương</a:t>
            </a:r>
          </a:p>
          <a:p>
            <a:r>
              <a:rPr lang="en-US"/>
              <a:t>TS. Nguyễn Tấn Trần Minh Khang</a:t>
            </a:r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265234868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E3612-16D3-622A-7FFF-F636EC5E5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HỒI QUI TUYẾN TÍNH ĐA BIẾN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D9C513-AD71-9FA8-DCD3-EF6738328A0A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Quan Chí Khánh An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Lê Ngọc Huy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CN. Bùi Cao Doanh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CN. Nguyễn Trọng Thuận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Phan Vĩnh Long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Nguyễn Cường Phát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Nguyễn Hoàng Ngân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Hồ Thái Ngọc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Đỗ Văn Tiến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475D-F6A4-3080-6B47-C6E6C22C81F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/>
              <a:t>Nguyễn Hoàng Yến Như</a:t>
            </a:r>
          </a:p>
          <a:p>
            <a:r>
              <a:rPr lang="en-US">
                <a:solidFill>
                  <a:srgbClr val="FF0000"/>
                </a:solidFill>
              </a:rPr>
              <a:t>Nguyễn Trần Phúc Nghi</a:t>
            </a:r>
          </a:p>
          <a:p>
            <a:r>
              <a:rPr lang="en-US"/>
              <a:t>Nguyễn Trần Phúc An</a:t>
            </a:r>
          </a:p>
          <a:p>
            <a:r>
              <a:rPr lang="en-US">
                <a:solidFill>
                  <a:srgbClr val="FF0000"/>
                </a:solidFill>
              </a:rPr>
              <a:t>Nguyễn Đức Anh Phúc</a:t>
            </a:r>
          </a:p>
          <a:p>
            <a:r>
              <a:rPr lang="en-US"/>
              <a:t>Trịnh Thị Thanh Trúc</a:t>
            </a:r>
          </a:p>
          <a:p>
            <a:r>
              <a:rPr lang="en-US"/>
              <a:t>KS. Cao Bá Kiệt</a:t>
            </a:r>
          </a:p>
          <a:p>
            <a:endParaRPr lang="en-US">
              <a:solidFill>
                <a:srgbClr val="FF0000"/>
              </a:solidFill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D686E-4114-4A0E-1FEE-7584196A67B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/>
              <a:t>ThS. Nguyễn Hoàn Mỹ</a:t>
            </a:r>
          </a:p>
          <a:p>
            <a:r>
              <a:rPr lang="en-US">
                <a:solidFill>
                  <a:srgbClr val="FF0000"/>
                </a:solidFill>
              </a:rPr>
              <a:t>ThS. Dương Phi Long</a:t>
            </a:r>
          </a:p>
          <a:p>
            <a:r>
              <a:rPr lang="en-US"/>
              <a:t>ThS. Trương Quốc Dũng </a:t>
            </a:r>
          </a:p>
          <a:p>
            <a:r>
              <a:rPr lang="en-US">
                <a:solidFill>
                  <a:srgbClr val="FF0000"/>
                </a:solidFill>
              </a:rPr>
              <a:t>ThS. Nguyễn Thành Hiệp</a:t>
            </a:r>
          </a:p>
          <a:p>
            <a:r>
              <a:rPr lang="en-US"/>
              <a:t>ThS. Nguyễn Võ Đăng Khoa</a:t>
            </a:r>
          </a:p>
          <a:p>
            <a:r>
              <a:rPr lang="en-US">
                <a:solidFill>
                  <a:srgbClr val="FF0000"/>
                </a:solidFill>
              </a:rPr>
              <a:t>ThS. Võ Duy Nguyên</a:t>
            </a:r>
          </a:p>
          <a:p>
            <a:r>
              <a:rPr lang="en-US"/>
              <a:t>TS. Nguyễn Văn Tâm</a:t>
            </a:r>
          </a:p>
          <a:p>
            <a:r>
              <a:rPr lang="en-US">
                <a:solidFill>
                  <a:srgbClr val="FF0000"/>
                </a:solidFill>
              </a:rPr>
              <a:t>ThS. Trần Việt Thu Phương</a:t>
            </a:r>
          </a:p>
          <a:p>
            <a:r>
              <a:rPr lang="en-US"/>
              <a:t>TS. Nguyễn Tấn Trần Minh Khang</a:t>
            </a:r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253341652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3052A5-5CA0-4756-A24B-71350923D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Multiple</a:t>
            </a:r>
            <a:r>
              <a:rPr lang="vi-VN" dirty="0"/>
              <a:t> </a:t>
            </a:r>
            <a:r>
              <a:rPr lang="vi-VN" dirty="0" err="1"/>
              <a:t>Linear</a:t>
            </a:r>
            <a:r>
              <a:rPr lang="vi-VN" dirty="0"/>
              <a:t> </a:t>
            </a:r>
            <a:r>
              <a:rPr lang="vi-VN" dirty="0" err="1"/>
              <a:t>Regression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618AD4-5524-47FC-B0B7-408C336C16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6509358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3052A5-5CA0-4756-A24B-71350923D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Multiple</a:t>
            </a:r>
            <a:r>
              <a:rPr lang="vi-VN" dirty="0"/>
              <a:t> </a:t>
            </a:r>
            <a:r>
              <a:rPr lang="vi-VN" dirty="0" err="1"/>
              <a:t>Linear</a:t>
            </a:r>
            <a:r>
              <a:rPr lang="vi-VN" dirty="0"/>
              <a:t> </a:t>
            </a:r>
            <a:r>
              <a:rPr lang="vi-VN" dirty="0" err="1"/>
              <a:t>Regression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A6A6BD5-8E0B-4A26-91ED-B995F56570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vi-VN" sz="2800" dirty="0">
                    <a:solidFill>
                      <a:srgbClr val="0066FF"/>
                    </a:solidFill>
                  </a:rPr>
                  <a:t>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hồi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quy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tuyến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đa </a:t>
                </a:r>
                <a:r>
                  <a:rPr lang="vi-VN" sz="2800" err="1">
                    <a:solidFill>
                      <a:srgbClr val="0066FF"/>
                    </a:solidFill>
                  </a:rPr>
                  <a:t>biến</a:t>
                </a:r>
                <a:r>
                  <a:rPr lang="vi-VN" sz="2800">
                    <a:solidFill>
                      <a:srgbClr val="0066FF"/>
                    </a:solidFill>
                  </a:rPr>
                  <a:t> </a:t>
                </a:r>
                <a:r>
                  <a:rPr lang="en-US" sz="2800">
                    <a:solidFill>
                      <a:srgbClr val="0066FF"/>
                    </a:solidFill>
                  </a:rPr>
                  <a:t>– </a:t>
                </a:r>
                <a:r>
                  <a:rPr lang="vi-VN" sz="2800">
                    <a:solidFill>
                      <a:srgbClr val="0066FF"/>
                    </a:solidFill>
                  </a:rPr>
                  <a:t>Multiple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Linear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Regression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marL="457200" lvl="1" indent="0" algn="just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vi-VN" sz="2800" dirty="0">
                  <a:solidFill>
                    <a:srgbClr val="FF0000"/>
                  </a:solidFill>
                </a:endParaRPr>
              </a:p>
              <a:p>
                <a:pPr algn="just">
                  <a:spcBef>
                    <a:spcPts val="600"/>
                  </a:spcBef>
                </a:pPr>
                <a:r>
                  <a:rPr lang="vi-VN" sz="2800" dirty="0">
                    <a:solidFill>
                      <a:srgbClr val="0066FF"/>
                    </a:solidFill>
                  </a:rPr>
                  <a:t>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biến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phụ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thuộc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dependent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err="1">
                    <a:solidFill>
                      <a:srgbClr val="FF0000"/>
                    </a:solidFill>
                  </a:rPr>
                  <a:t>variable</a:t>
                </a:r>
                <a:r>
                  <a:rPr lang="vi-VN" sz="2800">
                    <a:solidFill>
                      <a:srgbClr val="FF0000"/>
                    </a:solidFill>
                  </a:rPr>
                  <a:t>).</a:t>
                </a:r>
                <a:endParaRPr lang="vi-VN" sz="2800" dirty="0">
                  <a:solidFill>
                    <a:srgbClr val="FF0000"/>
                  </a:solidFill>
                </a:endParaRP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các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biến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độc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indenpendent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err="1">
                    <a:solidFill>
                      <a:srgbClr val="0066FF"/>
                    </a:solidFill>
                  </a:rPr>
                  <a:t>variable</a:t>
                </a:r>
                <a:r>
                  <a:rPr lang="vi-VN" sz="2800">
                    <a:solidFill>
                      <a:srgbClr val="0066FF"/>
                    </a:solidFill>
                  </a:rPr>
                  <a:t>).</a:t>
                </a:r>
                <a:endParaRPr lang="vi-VN" sz="2800" dirty="0">
                  <a:solidFill>
                    <a:srgbClr val="0066FF"/>
                  </a:solidFill>
                </a:endParaRP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những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tham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A6A6BD5-8E0B-4A26-91ED-B995F56570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170098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CE6E1BD-D763-4D83-A36D-D0277BFEF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Dataset</a:t>
            </a:r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3CA9848-296C-4DE9-A53C-4A1109B5A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0937968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B74084-B4F6-4BA1-B7C7-DD549B23E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Dataset</a:t>
            </a:r>
            <a:endParaRPr lang="vi-V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614E1E-56AC-4241-86F8-A1094DD38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>
                <a:solidFill>
                  <a:srgbClr val="0066FF"/>
                </a:solidFill>
              </a:rPr>
              <a:t>Tên </a:t>
            </a:r>
            <a:r>
              <a:rPr lang="vi-VN" sz="2800" dirty="0" err="1">
                <a:solidFill>
                  <a:srgbClr val="0066FF"/>
                </a:solidFill>
              </a:rPr>
              <a:t>tập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liệu</a:t>
            </a:r>
            <a:r>
              <a:rPr lang="vi-VN" sz="2800" dirty="0">
                <a:solidFill>
                  <a:srgbClr val="0066FF"/>
                </a:solidFill>
              </a:rPr>
              <a:t>: 50 </a:t>
            </a:r>
            <a:r>
              <a:rPr lang="vi-VN" sz="2800" dirty="0" err="1">
                <a:solidFill>
                  <a:srgbClr val="0066FF"/>
                </a:solidFill>
              </a:rPr>
              <a:t>Startups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algn="just"/>
            <a:r>
              <a:rPr lang="vi-VN" sz="2800" dirty="0" err="1">
                <a:solidFill>
                  <a:srgbClr val="FF0000"/>
                </a:solidFill>
              </a:rPr>
              <a:t>Nguồn</a:t>
            </a:r>
            <a:r>
              <a:rPr lang="vi-VN" sz="2800" dirty="0">
                <a:solidFill>
                  <a:srgbClr val="FF0000"/>
                </a:solidFill>
              </a:rPr>
              <a:t>: </a:t>
            </a:r>
            <a:r>
              <a:rPr lang="vi-VN" sz="2800" dirty="0">
                <a:solidFill>
                  <a:srgbClr val="008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https://www.superdatascience.com/pages/machine-learning</a:t>
            </a:r>
            <a:r>
              <a:rPr lang="vi-VN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507307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B74084-B4F6-4BA1-B7C7-DD549B23E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Dataset: 50 Startups</a:t>
            </a:r>
            <a:endParaRPr lang="vi-V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614E1E-56AC-4241-86F8-A1094DD38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 algn="just"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Tập dữ liệu gồm 50 điểm dữ liệu (50 doanh nghiệp khởi nghiệp), mỗi điểm gồm 5 thuộc tính: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R&amp;D Spend: Số tiền chi trả cho nghiên cứu và phát triển (Research &amp; Development).</a:t>
            </a:r>
          </a:p>
          <a:p>
            <a:pPr>
              <a:spcAft>
                <a:spcPts val="300"/>
              </a:spcAft>
              <a:defRPr sz="1500" b="1">
                <a:solidFill>
                  <a:srgbClr val="282828"/>
                </a:solidFill>
                <a:latin typeface="Calibri"/>
              </a:defRPr>
            </a:pPr>
            <a:r>
              <a:t>• Administration: Số tiền chi trả cho bộ máy quản trị và điều hành (Đặc trưng số).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Marketing Spend: Số tiền chi trả cho tiếp thị và quảng cáo.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State: Chuỗi ký tự đại diện cho bang trụ sở (New York, California, Florida - Dữ liệu Categorical).</a:t>
            </a:r>
          </a:p>
          <a:p>
            <a:pPr>
              <a:spcAft>
                <a:spcPts val="300"/>
              </a:spcAft>
              <a:defRPr sz="1500" b="1">
                <a:solidFill>
                  <a:srgbClr val="282828"/>
                </a:solidFill>
                <a:latin typeface="Calibri"/>
              </a:defRPr>
            </a:pPr>
            <a:r>
              <a:t>• Profit: Số thực dương - Lợi nhuận thu được của Startup (Biến mục tiêu target y).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📌 Lưu ý: Thuộc tính thứ 2 có tên chuẩn xác là 'Administration' (không phải Administrator).</a:t>
            </a:r>
          </a:p>
        </p:txBody>
      </p:sp>
    </p:spTree>
    <p:extLst>
      <p:ext uri="{BB962C8B-B14F-4D97-AF65-F5344CB8AC3E}">
        <p14:creationId xmlns:p14="http://schemas.microsoft.com/office/powerpoint/2010/main" val="172881775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B74084-B4F6-4BA1-B7C7-DD549B23E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Dataset</a:t>
            </a:r>
            <a:endParaRPr lang="vi-V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614E1E-56AC-4241-86F8-A1094DD38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Bài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toán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đặt</a:t>
            </a:r>
            <a:r>
              <a:rPr lang="vi-VN" sz="2800" dirty="0">
                <a:solidFill>
                  <a:srgbClr val="0066FF"/>
                </a:solidFill>
              </a:rPr>
              <a:t> ra </a:t>
            </a:r>
            <a:r>
              <a:rPr lang="vi-VN" sz="2800" dirty="0" err="1">
                <a:solidFill>
                  <a:srgbClr val="0066FF"/>
                </a:solidFill>
              </a:rPr>
              <a:t>là</a:t>
            </a:r>
            <a:r>
              <a:rPr lang="vi-VN" sz="2800" dirty="0">
                <a:solidFill>
                  <a:srgbClr val="0066FF"/>
                </a:solidFill>
              </a:rPr>
              <a:t> cho </a:t>
            </a:r>
            <a:r>
              <a:rPr lang="vi-VN" sz="2800" dirty="0" err="1">
                <a:solidFill>
                  <a:srgbClr val="0066FF"/>
                </a:solidFill>
              </a:rPr>
              <a:t>những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dữ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kiện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về</a:t>
            </a:r>
            <a:r>
              <a:rPr lang="vi-VN" sz="2800" dirty="0">
                <a:solidFill>
                  <a:srgbClr val="0066FF"/>
                </a:solidFill>
              </a:rPr>
              <a:t>:</a:t>
            </a:r>
          </a:p>
          <a:p>
            <a:pPr lvl="1" algn="just"/>
            <a:r>
              <a:rPr lang="vi-VN" sz="2800" dirty="0" err="1">
                <a:solidFill>
                  <a:srgbClr val="FF0000"/>
                </a:solidFill>
              </a:rPr>
              <a:t>Số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tiền</a:t>
            </a:r>
            <a:r>
              <a:rPr lang="vi-VN" sz="2800" dirty="0">
                <a:solidFill>
                  <a:srgbClr val="FF0000"/>
                </a:solidFill>
              </a:rPr>
              <a:t> chi </a:t>
            </a:r>
            <a:r>
              <a:rPr lang="vi-VN" sz="2800" dirty="0" err="1">
                <a:solidFill>
                  <a:srgbClr val="FF0000"/>
                </a:solidFill>
              </a:rPr>
              <a:t>trả</a:t>
            </a:r>
            <a:r>
              <a:rPr lang="vi-VN" sz="2800" dirty="0">
                <a:solidFill>
                  <a:srgbClr val="FF0000"/>
                </a:solidFill>
              </a:rPr>
              <a:t> cho nghiên </a:t>
            </a:r>
            <a:r>
              <a:rPr lang="vi-VN" sz="2800" dirty="0" err="1">
                <a:solidFill>
                  <a:srgbClr val="FF0000"/>
                </a:solidFill>
              </a:rPr>
              <a:t>cứu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phát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triển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Số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tiền</a:t>
            </a:r>
            <a:r>
              <a:rPr lang="vi-VN" sz="2800" dirty="0">
                <a:solidFill>
                  <a:srgbClr val="0066FF"/>
                </a:solidFill>
              </a:rPr>
              <a:t> chi </a:t>
            </a:r>
            <a:r>
              <a:rPr lang="vi-VN" sz="2800" dirty="0" err="1">
                <a:solidFill>
                  <a:srgbClr val="0066FF"/>
                </a:solidFill>
              </a:rPr>
              <a:t>trả</a:t>
            </a:r>
            <a:r>
              <a:rPr lang="vi-VN" sz="2800" dirty="0">
                <a:solidFill>
                  <a:srgbClr val="0066FF"/>
                </a:solidFill>
              </a:rPr>
              <a:t> cho </a:t>
            </a:r>
            <a:r>
              <a:rPr lang="vi-VN" sz="2800" dirty="0" err="1">
                <a:solidFill>
                  <a:srgbClr val="0066FF"/>
                </a:solidFill>
              </a:rPr>
              <a:t>quản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trị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và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điều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hành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lvl="1" algn="just"/>
            <a:r>
              <a:rPr lang="vi-VN" sz="2800" dirty="0" err="1">
                <a:solidFill>
                  <a:srgbClr val="FF0000"/>
                </a:solidFill>
              </a:rPr>
              <a:t>Số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tiền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dành</a:t>
            </a:r>
            <a:r>
              <a:rPr lang="vi-VN" sz="2800" dirty="0">
                <a:solidFill>
                  <a:srgbClr val="FF0000"/>
                </a:solidFill>
              </a:rPr>
              <a:t> cho </a:t>
            </a:r>
            <a:r>
              <a:rPr lang="vi-VN" sz="2800" dirty="0" err="1">
                <a:solidFill>
                  <a:srgbClr val="FF0000"/>
                </a:solidFill>
              </a:rPr>
              <a:t>quảng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cáo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Vị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trí</a:t>
            </a:r>
            <a:r>
              <a:rPr lang="vi-VN" sz="2800" dirty="0">
                <a:solidFill>
                  <a:srgbClr val="0066FF"/>
                </a:solidFill>
              </a:rPr>
              <a:t> (bang - </a:t>
            </a:r>
            <a:r>
              <a:rPr lang="vi-VN" sz="2800" dirty="0" err="1">
                <a:solidFill>
                  <a:srgbClr val="0066FF"/>
                </a:solidFill>
              </a:rPr>
              <a:t>state</a:t>
            </a:r>
            <a:r>
              <a:rPr lang="vi-VN" sz="2800" dirty="0">
                <a:solidFill>
                  <a:srgbClr val="0066FF"/>
                </a:solidFill>
              </a:rPr>
              <a:t>) </a:t>
            </a:r>
            <a:r>
              <a:rPr lang="vi-VN" sz="2800" dirty="0" err="1">
                <a:solidFill>
                  <a:srgbClr val="0066FF"/>
                </a:solidFill>
              </a:rPr>
              <a:t>của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startup</a:t>
            </a:r>
            <a:r>
              <a:rPr lang="vi-VN" sz="2800" dirty="0">
                <a:solidFill>
                  <a:srgbClr val="0066FF"/>
                </a:solidFill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vi-VN" sz="4400" dirty="0">
                <a:solidFill>
                  <a:srgbClr val="FF0000"/>
                </a:solidFill>
              </a:rPr>
              <a:t>Ta </a:t>
            </a:r>
            <a:r>
              <a:rPr lang="vi-VN" sz="4400" dirty="0" err="1">
                <a:solidFill>
                  <a:srgbClr val="FF0000"/>
                </a:solidFill>
              </a:rPr>
              <a:t>cần</a:t>
            </a:r>
            <a:r>
              <a:rPr lang="vi-VN" sz="4400" dirty="0">
                <a:solidFill>
                  <a:srgbClr val="FF0000"/>
                </a:solidFill>
              </a:rPr>
              <a:t> </a:t>
            </a:r>
            <a:r>
              <a:rPr lang="vi-VN" sz="4400" dirty="0" err="1">
                <a:solidFill>
                  <a:srgbClr val="FF0000"/>
                </a:solidFill>
              </a:rPr>
              <a:t>dự</a:t>
            </a:r>
            <a:r>
              <a:rPr lang="vi-VN" sz="4400" dirty="0">
                <a:solidFill>
                  <a:srgbClr val="FF0000"/>
                </a:solidFill>
              </a:rPr>
              <a:t> </a:t>
            </a:r>
            <a:r>
              <a:rPr lang="vi-VN" sz="4400" dirty="0" err="1">
                <a:solidFill>
                  <a:srgbClr val="FF0000"/>
                </a:solidFill>
              </a:rPr>
              <a:t>đoán</a:t>
            </a:r>
            <a:r>
              <a:rPr lang="vi-VN" sz="4400" dirty="0">
                <a:solidFill>
                  <a:srgbClr val="FF0000"/>
                </a:solidFill>
              </a:rPr>
              <a:t> </a:t>
            </a:r>
            <a:r>
              <a:rPr lang="vi-VN" sz="4400" dirty="0" err="1">
                <a:solidFill>
                  <a:srgbClr val="FF0000"/>
                </a:solidFill>
              </a:rPr>
              <a:t>lợi</a:t>
            </a:r>
            <a:r>
              <a:rPr lang="vi-VN" sz="4400" dirty="0">
                <a:solidFill>
                  <a:srgbClr val="FF0000"/>
                </a:solidFill>
              </a:rPr>
              <a:t> </a:t>
            </a:r>
            <a:r>
              <a:rPr lang="vi-VN" sz="4400" err="1">
                <a:solidFill>
                  <a:srgbClr val="FF0000"/>
                </a:solidFill>
              </a:rPr>
              <a:t>nhuận</a:t>
            </a:r>
            <a:r>
              <a:rPr lang="vi-VN" sz="4400">
                <a:solidFill>
                  <a:srgbClr val="FF0000"/>
                </a:solidFill>
              </a:rPr>
              <a:t> </a:t>
            </a:r>
            <a:r>
              <a:rPr lang="en-US" sz="4400">
                <a:solidFill>
                  <a:srgbClr val="FF0000"/>
                </a:solidFill>
              </a:rPr>
              <a:t>(profit) </a:t>
            </a:r>
            <a:r>
              <a:rPr lang="vi-VN" sz="4400">
                <a:solidFill>
                  <a:srgbClr val="FF0000"/>
                </a:solidFill>
              </a:rPr>
              <a:t>mà </a:t>
            </a:r>
            <a:r>
              <a:rPr lang="vi-VN" sz="4400" dirty="0" err="1">
                <a:solidFill>
                  <a:srgbClr val="FF0000"/>
                </a:solidFill>
              </a:rPr>
              <a:t>startup</a:t>
            </a:r>
            <a:r>
              <a:rPr lang="vi-VN" sz="4400" dirty="0">
                <a:solidFill>
                  <a:srgbClr val="FF0000"/>
                </a:solidFill>
              </a:rPr>
              <a:t> </a:t>
            </a:r>
            <a:r>
              <a:rPr lang="vi-VN" sz="4400" dirty="0" err="1">
                <a:solidFill>
                  <a:srgbClr val="FF0000"/>
                </a:solidFill>
              </a:rPr>
              <a:t>đó</a:t>
            </a:r>
            <a:r>
              <a:rPr lang="vi-VN" sz="4400" dirty="0">
                <a:solidFill>
                  <a:srgbClr val="FF0000"/>
                </a:solidFill>
              </a:rPr>
              <a:t> thu </a:t>
            </a:r>
            <a:r>
              <a:rPr lang="vi-VN" sz="4400" dirty="0" err="1">
                <a:solidFill>
                  <a:srgbClr val="FF0000"/>
                </a:solidFill>
              </a:rPr>
              <a:t>được</a:t>
            </a:r>
            <a:r>
              <a:rPr lang="vi-VN" sz="44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330354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17D97-890B-40CE-BD1F-225CDD928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Dataset: Nạp Thư Viện &amp; Khám Phá Dữ Liệu (In [1])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C02D56D7-D711-4A39-AEC5-D276370B810D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18599" y="1600200"/>
              <a:ext cx="11754802" cy="40538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930453475"/>
                        </a:ext>
                      </a:extLst>
                    </a:gridCol>
                    <a:gridCol w="1988820">
                      <a:extLst>
                        <a:ext uri="{9D8B030D-6E8A-4147-A177-3AD203B41FA5}">
                          <a16:colId xmlns:a16="http://schemas.microsoft.com/office/drawing/2014/main" val="1216845581"/>
                        </a:ext>
                      </a:extLst>
                    </a:gridCol>
                    <a:gridCol w="2478563">
                      <a:extLst>
                        <a:ext uri="{9D8B030D-6E8A-4147-A177-3AD203B41FA5}">
                          <a16:colId xmlns:a16="http://schemas.microsoft.com/office/drawing/2014/main" val="2131742798"/>
                        </a:ext>
                      </a:extLst>
                    </a:gridCol>
                    <a:gridCol w="2579529">
                      <a:extLst>
                        <a:ext uri="{9D8B030D-6E8A-4147-A177-3AD203B41FA5}">
                          <a16:colId xmlns:a16="http://schemas.microsoft.com/office/drawing/2014/main" val="546633947"/>
                        </a:ext>
                      </a:extLst>
                    </a:gridCol>
                    <a:gridCol w="1787842">
                      <a:extLst>
                        <a:ext uri="{9D8B030D-6E8A-4147-A177-3AD203B41FA5}">
                          <a16:colId xmlns:a16="http://schemas.microsoft.com/office/drawing/2014/main" val="1109274572"/>
                        </a:ext>
                      </a:extLst>
                    </a:gridCol>
                    <a:gridCol w="1967230">
                      <a:extLst>
                        <a:ext uri="{9D8B030D-6E8A-4147-A177-3AD203B41FA5}">
                          <a16:colId xmlns:a16="http://schemas.microsoft.com/office/drawing/2014/main" val="12474817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R&amp;D </a:t>
                          </a:r>
                          <a:r>
                            <a:rPr lang="vi-VN" sz="2800" dirty="0" err="1"/>
                            <a:t>Spend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Administator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Marketing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Spend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State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Profit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6072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165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349.2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136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897.8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471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784.1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New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York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192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261.83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243643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162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597.7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151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377.59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443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898.53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California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191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792.06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627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153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441.51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101</m:t>
                                </m:r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145.55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407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934.54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Florida</a:t>
                          </a:r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191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050.39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99923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144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372.41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118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671.85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383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199.62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New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York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182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901.99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274698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142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107.34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91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391.77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366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168.42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Florida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166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187.94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218396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131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876.9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99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814.71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362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861.36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New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York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156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991.12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88469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C02D56D7-D711-4A39-AEC5-D276370B810D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18599" y="1600200"/>
              <a:ext cx="11754802" cy="40538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930453475"/>
                        </a:ext>
                      </a:extLst>
                    </a:gridCol>
                    <a:gridCol w="1988820">
                      <a:extLst>
                        <a:ext uri="{9D8B030D-6E8A-4147-A177-3AD203B41FA5}">
                          <a16:colId xmlns:a16="http://schemas.microsoft.com/office/drawing/2014/main" val="1216845581"/>
                        </a:ext>
                      </a:extLst>
                    </a:gridCol>
                    <a:gridCol w="2478563">
                      <a:extLst>
                        <a:ext uri="{9D8B030D-6E8A-4147-A177-3AD203B41FA5}">
                          <a16:colId xmlns:a16="http://schemas.microsoft.com/office/drawing/2014/main" val="2131742798"/>
                        </a:ext>
                      </a:extLst>
                    </a:gridCol>
                    <a:gridCol w="2579529">
                      <a:extLst>
                        <a:ext uri="{9D8B030D-6E8A-4147-A177-3AD203B41FA5}">
                          <a16:colId xmlns:a16="http://schemas.microsoft.com/office/drawing/2014/main" val="546633947"/>
                        </a:ext>
                      </a:extLst>
                    </a:gridCol>
                    <a:gridCol w="1787842">
                      <a:extLst>
                        <a:ext uri="{9D8B030D-6E8A-4147-A177-3AD203B41FA5}">
                          <a16:colId xmlns:a16="http://schemas.microsoft.com/office/drawing/2014/main" val="1109274572"/>
                        </a:ext>
                      </a:extLst>
                    </a:gridCol>
                    <a:gridCol w="1967230">
                      <a:extLst>
                        <a:ext uri="{9D8B030D-6E8A-4147-A177-3AD203B41FA5}">
                          <a16:colId xmlns:a16="http://schemas.microsoft.com/office/drawing/2014/main" val="1247481724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R&amp;D </a:t>
                          </a:r>
                          <a:r>
                            <a:rPr lang="vi-VN" sz="2800" dirty="0" err="1"/>
                            <a:t>Spend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Administator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Marketing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Spend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State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Profit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607231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41" t="-194118" r="-1139744" b="-5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012" t="-194118" r="-443731" b="-5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919" t="-194118" r="-256511" b="-5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638" t="-194118" r="-146809" b="-5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New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York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7833" t="-194118" r="-1238" b="-5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436434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41" t="-294118" r="-1139744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012" t="-294118" r="-443731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919" t="-294118" r="-256511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638" t="-294118" r="-146809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California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7833" t="-294118" r="-1238" b="-4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562776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41" t="-389535" r="-1139744" b="-327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012" t="-389535" r="-443731" b="-327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919" t="-389535" r="-256511" b="-327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638" t="-389535" r="-146809" b="-327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Florida</a:t>
                          </a:r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7833" t="-389535" r="-1238" b="-3279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999235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41" t="-495294" r="-1139744" b="-2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012" t="-495294" r="-443731" b="-2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919" t="-495294" r="-256511" b="-2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638" t="-495294" r="-146809" b="-2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New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York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7833" t="-495294" r="-1238" b="-23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746981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41" t="-595294" r="-1139744" b="-1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012" t="-595294" r="-443731" b="-1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919" t="-595294" r="-256511" b="-1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638" t="-595294" r="-146809" b="-1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Florida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7833" t="-595294" r="-1238" b="-13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183963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41" t="-695294" r="-1139744" b="-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012" t="-695294" r="-443731" b="-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919" t="-695294" r="-256511" b="-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638" t="-695294" r="-146809" b="-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New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York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7833" t="-695294" r="-1238" b="-3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8469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612648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1. Nạp Thư viện cần thiết &amp; Đọc tệp 50_Startups.csv: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import matplotlib.pyplot as plt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sklearn.model_selection import train_test_split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sklearn.compose import ColumnTransformer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sklearn.preprocessing import OneHotEncoder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sklearn.linear_model import LinearRegression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sklearn.metrics import r2_score, root_mean_squared_error</a:t>
            </a:r>
          </a:p>
          <a:p>
            <a:pPr>
              <a:spcAft>
                <a:spcPts val="6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import statsmodels.api as sm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dataset = pd.read_csv('50_Startups.csv')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print('Số lượng mẫu:', len(dataset))</a:t>
            </a:r>
          </a:p>
          <a:p>
            <a:pPr>
              <a:spcAft>
                <a:spcPts val="6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dataset.head()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📌 Expected Output: Số lượng mẫu: 50 (Gồm 4 đặc trưng X và 1 nhãn y: Profit)</a:t>
            </a:r>
          </a:p>
        </p:txBody>
      </p:sp>
    </p:spTree>
    <p:extLst>
      <p:ext uri="{BB962C8B-B14F-4D97-AF65-F5344CB8AC3E}">
        <p14:creationId xmlns:p14="http://schemas.microsoft.com/office/powerpoint/2010/main" val="287716386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3052A5-5CA0-4756-A24B-71350923D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Multiple</a:t>
            </a:r>
            <a:r>
              <a:rPr lang="vi-VN" dirty="0"/>
              <a:t> </a:t>
            </a:r>
            <a:r>
              <a:rPr lang="vi-VN" dirty="0" err="1"/>
              <a:t>Linear</a:t>
            </a:r>
            <a:r>
              <a:rPr lang="vi-VN" dirty="0"/>
              <a:t> </a:t>
            </a:r>
            <a:r>
              <a:rPr lang="vi-VN" dirty="0" err="1"/>
              <a:t>Regression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618AD4-5524-47FC-B0B7-408C336C16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8573140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3052A5-5CA0-4756-A24B-71350923D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Multiple</a:t>
            </a:r>
            <a:r>
              <a:rPr lang="vi-VN" dirty="0"/>
              <a:t> </a:t>
            </a:r>
            <a:r>
              <a:rPr lang="vi-VN" dirty="0" err="1"/>
              <a:t>Linear</a:t>
            </a:r>
            <a:r>
              <a:rPr lang="vi-VN" dirty="0"/>
              <a:t> </a:t>
            </a:r>
            <a:r>
              <a:rPr lang="vi-VN" dirty="0" err="1"/>
              <a:t>Regression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A6A6BD5-8E0B-4A26-91ED-B995F56570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spcBef>
                    <a:spcPts val="300"/>
                  </a:spcBef>
                </a:pPr>
                <a:r>
                  <a:rPr lang="vi-VN" sz="2800" dirty="0">
                    <a:solidFill>
                      <a:srgbClr val="0066FF"/>
                    </a:solidFill>
                  </a:rPr>
                  <a:t>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hồi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quy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tuyến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đa </a:t>
                </a:r>
                <a:r>
                  <a:rPr lang="vi-VN" sz="2800" err="1">
                    <a:solidFill>
                      <a:srgbClr val="0066FF"/>
                    </a:solidFill>
                  </a:rPr>
                  <a:t>biến</a:t>
                </a:r>
                <a:r>
                  <a:rPr lang="vi-VN" sz="2800">
                    <a:solidFill>
                      <a:srgbClr val="0066FF"/>
                    </a:solidFill>
                  </a:rPr>
                  <a:t> </a:t>
                </a:r>
                <a:r>
                  <a:rPr lang="en-US" sz="2800">
                    <a:solidFill>
                      <a:srgbClr val="0066FF"/>
                    </a:solidFill>
                  </a:rPr>
                  <a:t>– </a:t>
                </a:r>
                <a:r>
                  <a:rPr lang="vi-VN" sz="2800">
                    <a:solidFill>
                      <a:srgbClr val="0066FF"/>
                    </a:solidFill>
                  </a:rPr>
                  <a:t>Multiple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Linear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Regression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marL="457200" lvl="1" indent="0" algn="just"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vi-VN" sz="2800" dirty="0">
                  <a:solidFill>
                    <a:srgbClr val="FF0000"/>
                  </a:solidFill>
                </a:endParaRPr>
              </a:p>
              <a:p>
                <a:pPr algn="just">
                  <a:spcBef>
                    <a:spcPts val="300"/>
                  </a:spcBef>
                </a:pPr>
                <a:r>
                  <a:rPr lang="vi-VN" sz="2800" dirty="0">
                    <a:solidFill>
                      <a:srgbClr val="0066FF"/>
                    </a:solidFill>
                  </a:rPr>
                  <a:t>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biến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phụ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thuộc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dependent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variable</a:t>
                </a:r>
                <a:r>
                  <a:rPr lang="vi-VN" sz="2800" dirty="0">
                    <a:solidFill>
                      <a:srgbClr val="FF0000"/>
                    </a:solidFill>
                  </a:rPr>
                  <a:t>), trong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bài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toán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chúng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ta,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giá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trị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lợi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nhuận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profit</a:t>
                </a:r>
                <a:r>
                  <a:rPr lang="vi-VN" sz="2800" dirty="0">
                    <a:solidFill>
                      <a:srgbClr val="FF0000"/>
                    </a:solidFill>
                  </a:rPr>
                  <a:t>).</a:t>
                </a:r>
              </a:p>
              <a:p>
                <a:pPr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các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biến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độc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indenpendent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variable</a:t>
                </a:r>
                <a:r>
                  <a:rPr lang="vi-VN" sz="2800" dirty="0">
                    <a:solidFill>
                      <a:srgbClr val="0066FF"/>
                    </a:solidFill>
                  </a:rPr>
                  <a:t>),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bài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toán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chúng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ta,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chi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phí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nghiên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cứu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phát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triển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chi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phí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quản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trị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chi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phí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quảng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cáo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thông tin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tiểu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bang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startup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những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tham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A6A6BD5-8E0B-4A26-91ED-B995F56570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300505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1C00D0-3824-457D-9D3D-8176FBE2A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Tiền</a:t>
            </a:r>
            <a:r>
              <a:rPr lang="vi-VN" dirty="0"/>
              <a:t>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CEB261-1DF5-4FDE-8B79-1E516FA9E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3085608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1C00D0-3824-457D-9D3D-8176FBE2A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Tiền</a:t>
            </a:r>
            <a:r>
              <a:rPr lang="vi-VN" dirty="0"/>
              <a:t>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9F6AC55-95B7-46B7-ABF5-3D9FEAB8B2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Ban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đầu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đọc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toàn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bộ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phân chia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các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>
                    <a:solidFill>
                      <a:srgbClr val="0066FF"/>
                    </a:solidFill>
                  </a:rPr>
                  <a:t> trị</a:t>
                </a:r>
                <a:r>
                  <a:rPr lang="en-US" sz="280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/>
                <a:r>
                  <a:rPr lang="vi-VN">
                    <a:solidFill>
                      <a:srgbClr val="FF0000"/>
                    </a:solidFill>
                  </a:rPr>
                  <a:t>đầu </a:t>
                </a:r>
                <a:r>
                  <a:rPr lang="vi-VN" dirty="0" err="1">
                    <a:solidFill>
                      <a:srgbClr val="FF0000"/>
                    </a:solidFill>
                  </a:rPr>
                  <a:t>vào</a:t>
                </a:r>
                <a:r>
                  <a:rPr lang="vi-VN" dirty="0">
                    <a:solidFill>
                      <a:srgbClr val="FF0000"/>
                    </a:solidFill>
                  </a:rPr>
                  <a:t> – </a:t>
                </a:r>
                <a:r>
                  <a:rPr lang="vi-VN" dirty="0" err="1">
                    <a:solidFill>
                      <a:srgbClr val="FF0000"/>
                    </a:solidFill>
                  </a:rPr>
                  <a:t>ký</a:t>
                </a:r>
                <a:r>
                  <a:rPr lang="vi-VN" dirty="0">
                    <a:solidFill>
                      <a:srgbClr val="FF0000"/>
                    </a:solidFill>
                  </a:rPr>
                  <a:t> </a:t>
                </a:r>
                <a:r>
                  <a:rPr lang="vi-VN" dirty="0" err="1">
                    <a:solidFill>
                      <a:srgbClr val="FF0000"/>
                    </a:solidFill>
                  </a:rPr>
                  <a:t>hiệu</a:t>
                </a:r>
                <a:r>
                  <a:rPr lang="vi-VN" dirty="0">
                    <a:solidFill>
                      <a:srgbClr val="FF0000"/>
                    </a:solidFill>
                  </a:rPr>
                  <a:t> </a:t>
                </a:r>
                <a:r>
                  <a:rPr lang="vi-VN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vi-VN" dirty="0">
                    <a:solidFill>
                      <a:srgbClr val="FF0000"/>
                    </a:solidFill>
                  </a:rPr>
                  <a:t>, </a:t>
                </a:r>
                <a:r>
                  <a:rPr lang="vi-VN" err="1">
                    <a:solidFill>
                      <a:srgbClr val="FF0000"/>
                    </a:solidFill>
                  </a:rPr>
                  <a:t>và</a:t>
                </a:r>
                <a:r>
                  <a:rPr lang="vi-VN">
                    <a:solidFill>
                      <a:srgbClr val="FF0000"/>
                    </a:solidFill>
                  </a:rPr>
                  <a:t> </a:t>
                </a:r>
                <a:endParaRPr lang="en-US">
                  <a:solidFill>
                    <a:srgbClr val="FF0000"/>
                  </a:solidFill>
                </a:endParaRPr>
              </a:p>
              <a:p>
                <a:pPr lvl="1" algn="just"/>
                <a:r>
                  <a:rPr lang="vi-VN">
                    <a:solidFill>
                      <a:srgbClr val="0066FF"/>
                    </a:solidFill>
                  </a:rPr>
                  <a:t>đầu </a:t>
                </a:r>
                <a:r>
                  <a:rPr lang="vi-VN" dirty="0">
                    <a:solidFill>
                      <a:srgbClr val="0066FF"/>
                    </a:solidFill>
                  </a:rPr>
                  <a:t>ra – </a:t>
                </a:r>
                <a:r>
                  <a:rPr lang="vi-VN" dirty="0" err="1">
                    <a:solidFill>
                      <a:srgbClr val="0066FF"/>
                    </a:solidFill>
                  </a:rPr>
                  <a:t>ký</a:t>
                </a:r>
                <a:r>
                  <a:rPr lang="vi-VN" dirty="0">
                    <a:solidFill>
                      <a:srgbClr val="0066FF"/>
                    </a:solidFill>
                  </a:rPr>
                  <a:t> </a:t>
                </a:r>
                <a:r>
                  <a:rPr lang="vi-VN" dirty="0" err="1">
                    <a:solidFill>
                      <a:srgbClr val="0066FF"/>
                    </a:solidFill>
                  </a:rPr>
                  <a:t>hiệu</a:t>
                </a:r>
                <a:r>
                  <a:rPr lang="vi-VN" dirty="0">
                    <a:solidFill>
                      <a:srgbClr val="0066FF"/>
                    </a:solidFill>
                  </a:rPr>
                  <a:t> </a:t>
                </a:r>
                <a:r>
                  <a:rPr lang="vi-VN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i="0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vi-VN" dirty="0">
                    <a:solidFill>
                      <a:srgbClr val="0066FF"/>
                    </a:solidFill>
                  </a:rPr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endParaRPr lang="en-US">
                  <a:solidFill>
                    <a:srgbClr val="AF00DB"/>
                  </a:solidFill>
                  <a:latin typeface="Consolas" panose="020B0609020204030204" pitchFamily="49" charset="0"/>
                </a:endParaRP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vi-VN">
                    <a:solidFill>
                      <a:srgbClr val="AF00DB"/>
                    </a:solidFill>
                    <a:latin typeface="Consolas" panose="020B0609020204030204" pitchFamily="49" charset="0"/>
                  </a:rPr>
                  <a:t>import</a:t>
                </a:r>
                <a:r>
                  <a:rPr lang="vi-VN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pandas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vi-VN" dirty="0" err="1">
                    <a:solidFill>
                      <a:srgbClr val="AF00DB"/>
                    </a:solidFill>
                    <a:latin typeface="Consolas" panose="020B0609020204030204" pitchFamily="49" charset="0"/>
                  </a:rPr>
                  <a:t>as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vi-VN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pd</a:t>
                </a:r>
                <a:endParaRPr lang="vi-VN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vi-VN" dirty="0" err="1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dataset</a:t>
                </a:r>
                <a:r>
                  <a:rPr lang="vi-VN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 = </a:t>
                </a:r>
                <a:r>
                  <a:rPr lang="vi-VN" dirty="0" err="1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pd.read_csv</a:t>
                </a:r>
                <a:r>
                  <a:rPr lang="vi-VN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("50_Startups.csv")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fi-FI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X = dataset.iloc[:, </a:t>
                </a:r>
                <a:r>
                  <a:rPr lang="fi-FI" dirty="0">
                    <a:solidFill>
                      <a:srgbClr val="09885A"/>
                    </a:solidFill>
                    <a:latin typeface="Consolas" panose="020B0609020204030204" pitchFamily="49" charset="0"/>
                  </a:rPr>
                  <a:t>0</a:t>
                </a:r>
                <a:r>
                  <a:rPr lang="fi-FI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</a:t>
                </a:r>
                <a:r>
                  <a:rPr lang="fi-FI" dirty="0">
                    <a:solidFill>
                      <a:srgbClr val="09885A"/>
                    </a:solidFill>
                    <a:latin typeface="Consolas" panose="020B0609020204030204" pitchFamily="49" charset="0"/>
                  </a:rPr>
                  <a:t>4</a:t>
                </a:r>
                <a:r>
                  <a:rPr lang="fi-FI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].values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s-E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Y = </a:t>
                </a:r>
                <a:r>
                  <a:rPr lang="es-ES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dataset.iloc</a:t>
                </a:r>
                <a:r>
                  <a:rPr lang="es-E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[:, -</a:t>
                </a:r>
                <a:r>
                  <a:rPr lang="es-ES" dirty="0">
                    <a:solidFill>
                      <a:srgbClr val="09885A"/>
                    </a:solidFill>
                    <a:latin typeface="Consolas" panose="020B0609020204030204" pitchFamily="49" charset="0"/>
                  </a:rPr>
                  <a:t>1</a:t>
                </a:r>
                <a:r>
                  <a:rPr lang="es-E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].</a:t>
                </a:r>
                <a:r>
                  <a:rPr lang="es-ES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values</a:t>
                </a:r>
                <a:endParaRPr lang="es-ES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9F6AC55-95B7-46B7-ABF5-3D9FEAB8B2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6" t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539935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23F1D-E698-4610-9649-0D19FB17A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Tiền xử lý dữ liệu: One-Hot Encoding Biến 'State'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36F74-7A21-49B3-B03C-8FA4FEE25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 algn="just"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Bản chất của thuộc tính 'State':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'State' là biến định danh danh mục (Nominal Categorical) gồm: New York, California, Florida.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KHÔNG sử dụng LabelEncoder: Vì LabelEncoder sẽ gán 0, 1, 2 tạo ra thứ tự toán học giả tạo (2 &gt; 1 &gt; 0).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• Chuẩn Scikit-Learn: Sử dụng ColumnTransformer phối hợp với OneHotEncoder: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sklearn.compose import ColumnTransformer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sklearn.preprocessing import OneHotEncoder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X_raw = dataset.iloc[:, :-1]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y = dataset.iloc[:, -1].values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# Áp dụng ColumnTransformer mã hóa cột 'State' và giữ nguyên các cột còn lại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ct = ColumnTransformer(</a:t>
            </a:r>
          </a:p>
          <a:p>
            <a:pPr>
              <a:spcAft>
                <a:spcPts val="200"/>
              </a:spcAft>
              <a:defRPr sz="1300" b="1">
                <a:solidFill>
                  <a:srgbClr val="004696"/>
                </a:solidFill>
                <a:latin typeface="Consolas"/>
              </a:defRPr>
            </a:pPr>
            <a:r>
              <a:t>    transformers=[('encoder', OneHotEncoder(drop='first'), ['State'])],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    remainder='passthrough'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X = np.array(ct.fit_transform(X_raw), dtype=float)</a:t>
            </a:r>
          </a:p>
        </p:txBody>
      </p:sp>
    </p:spTree>
    <p:extLst>
      <p:ext uri="{BB962C8B-B14F-4D97-AF65-F5344CB8AC3E}">
        <p14:creationId xmlns:p14="http://schemas.microsoft.com/office/powerpoint/2010/main" val="51213250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F394D-0128-4AE8-B927-5134D438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Tiền</a:t>
            </a:r>
            <a:r>
              <a:rPr lang="vi-VN" dirty="0"/>
              <a:t>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endParaRPr lang="vi-VN" dirty="0"/>
          </a:p>
        </p:txBody>
      </p:sp>
      <p:graphicFrame>
        <p:nvGraphicFramePr>
          <p:cNvPr id="26" name="Content Placeholder 3">
            <a:extLst>
              <a:ext uri="{FF2B5EF4-FFF2-40B4-BE49-F238E27FC236}">
                <a16:creationId xmlns:a16="http://schemas.microsoft.com/office/drawing/2014/main" id="{DB5BD8ED-1478-4B7B-9FD0-C7773D38BAC6}"/>
              </a:ext>
            </a:extLst>
          </p:cNvPr>
          <p:cNvGraphicFramePr>
            <a:graphicFrameLocks/>
          </p:cNvGraphicFramePr>
          <p:nvPr/>
        </p:nvGraphicFramePr>
        <p:xfrm>
          <a:off x="457200" y="1828800"/>
          <a:ext cx="1752600" cy="383152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97062963"/>
                    </a:ext>
                  </a:extLst>
                </a:gridCol>
              </a:tblGrid>
              <a:tr h="638588">
                <a:tc>
                  <a:txBody>
                    <a:bodyPr/>
                    <a:lstStyle/>
                    <a:p>
                      <a:pPr algn="ctr"/>
                      <a:r>
                        <a:rPr lang="vi-VN" sz="2800" dirty="0" err="1"/>
                        <a:t>State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5620055"/>
                  </a:ext>
                </a:extLst>
              </a:tr>
              <a:tr h="638588">
                <a:tc>
                  <a:txBody>
                    <a:bodyPr/>
                    <a:lstStyle/>
                    <a:p>
                      <a:pPr algn="l"/>
                      <a:r>
                        <a:rPr lang="vi-VN" sz="2800" dirty="0" err="1"/>
                        <a:t>New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York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3363568"/>
                  </a:ext>
                </a:extLst>
              </a:tr>
              <a:tr h="638588">
                <a:tc>
                  <a:txBody>
                    <a:bodyPr/>
                    <a:lstStyle/>
                    <a:p>
                      <a:pPr algn="l"/>
                      <a:r>
                        <a:rPr lang="vi-VN" sz="2800" dirty="0" err="1"/>
                        <a:t>California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0713"/>
                  </a:ext>
                </a:extLst>
              </a:tr>
              <a:tr h="638588">
                <a:tc>
                  <a:txBody>
                    <a:bodyPr/>
                    <a:lstStyle/>
                    <a:p>
                      <a:pPr algn="l"/>
                      <a:r>
                        <a:rPr lang="vi-VN" sz="2800" dirty="0" err="1"/>
                        <a:t>Florida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2753715"/>
                  </a:ext>
                </a:extLst>
              </a:tr>
              <a:tr h="638588">
                <a:tc>
                  <a:txBody>
                    <a:bodyPr/>
                    <a:lstStyle/>
                    <a:p>
                      <a:pPr algn="l"/>
                      <a:r>
                        <a:rPr lang="vi-VN" sz="2800" dirty="0" err="1"/>
                        <a:t>California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1642356"/>
                  </a:ext>
                </a:extLst>
              </a:tr>
              <a:tr h="638588"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New York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856263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CF944CB-959A-4D64-89C1-6341DACA4147}"/>
              </a:ext>
            </a:extLst>
          </p:cNvPr>
          <p:cNvCxnSpPr>
            <a:cxnSpLocks/>
          </p:cNvCxnSpPr>
          <p:nvPr/>
        </p:nvCxnSpPr>
        <p:spPr>
          <a:xfrm>
            <a:off x="2209800" y="3733800"/>
            <a:ext cx="685800" cy="10764"/>
          </a:xfrm>
          <a:prstGeom prst="straightConnector1">
            <a:avLst/>
          </a:prstGeom>
          <a:ln w="60325">
            <a:solidFill>
              <a:schemeClr val="dk1">
                <a:shade val="95000"/>
                <a:satMod val="10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Content Placeholder 3">
                <a:extLst>
                  <a:ext uri="{FF2B5EF4-FFF2-40B4-BE49-F238E27FC236}">
                    <a16:creationId xmlns:a16="http://schemas.microsoft.com/office/drawing/2014/main" id="{FA4C21D3-7D71-4ED8-938F-BDA9ACFDA0B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895600" y="2456624"/>
              <a:ext cx="2809364" cy="255435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57522">
                      <a:extLst>
                        <a:ext uri="{9D8B030D-6E8A-4147-A177-3AD203B41FA5}">
                          <a16:colId xmlns:a16="http://schemas.microsoft.com/office/drawing/2014/main" val="297062963"/>
                        </a:ext>
                      </a:extLst>
                    </a:gridCol>
                    <a:gridCol w="1051842">
                      <a:extLst>
                        <a:ext uri="{9D8B030D-6E8A-4147-A177-3AD203B41FA5}">
                          <a16:colId xmlns:a16="http://schemas.microsoft.com/office/drawing/2014/main" val="2431418049"/>
                        </a:ext>
                      </a:extLst>
                    </a:gridCol>
                  </a:tblGrid>
                  <a:tr h="638588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Bảng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Ánh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Xạ</a:t>
                          </a:r>
                          <a:endParaRPr lang="vi-VN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85620055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New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York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3363568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Califonia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030713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Florida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127537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Content Placeholder 3">
                <a:extLst>
                  <a:ext uri="{FF2B5EF4-FFF2-40B4-BE49-F238E27FC236}">
                    <a16:creationId xmlns:a16="http://schemas.microsoft.com/office/drawing/2014/main" id="{FA4C21D3-7D71-4ED8-938F-BDA9ACFDA0B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895600" y="2456624"/>
              <a:ext cx="2809364" cy="255435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57522">
                      <a:extLst>
                        <a:ext uri="{9D8B030D-6E8A-4147-A177-3AD203B41FA5}">
                          <a16:colId xmlns:a16="http://schemas.microsoft.com/office/drawing/2014/main" val="297062963"/>
                        </a:ext>
                      </a:extLst>
                    </a:gridCol>
                    <a:gridCol w="1051842">
                      <a:extLst>
                        <a:ext uri="{9D8B030D-6E8A-4147-A177-3AD203B41FA5}">
                          <a16:colId xmlns:a16="http://schemas.microsoft.com/office/drawing/2014/main" val="2431418049"/>
                        </a:ext>
                      </a:extLst>
                    </a:gridCol>
                  </a:tblGrid>
                  <a:tr h="638588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Bảng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Ánh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Xạ</a:t>
                          </a:r>
                          <a:endParaRPr lang="vi-VN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85620055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New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York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7630" t="-100000" r="-2890" b="-214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3363568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Califonia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7630" t="-201905" r="-2890" b="-116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30713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Florida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7630" t="-301905" r="-2890" b="-16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275371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Content Placeholder 3">
                <a:extLst>
                  <a:ext uri="{FF2B5EF4-FFF2-40B4-BE49-F238E27FC236}">
                    <a16:creationId xmlns:a16="http://schemas.microsoft.com/office/drawing/2014/main" id="{53786EE3-F150-4B3F-86D5-6D18B52EEDAB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0492506" y="1828800"/>
              <a:ext cx="1152842" cy="383152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152842">
                      <a:extLst>
                        <a:ext uri="{9D8B030D-6E8A-4147-A177-3AD203B41FA5}">
                          <a16:colId xmlns:a16="http://schemas.microsoft.com/office/drawing/2014/main" val="297062963"/>
                        </a:ext>
                      </a:extLst>
                    </a:gridCol>
                  </a:tblGrid>
                  <a:tr h="638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State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85620055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3363568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030713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12753715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45222226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48017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Content Placeholder 3">
                <a:extLst>
                  <a:ext uri="{FF2B5EF4-FFF2-40B4-BE49-F238E27FC236}">
                    <a16:creationId xmlns:a16="http://schemas.microsoft.com/office/drawing/2014/main" id="{53786EE3-F150-4B3F-86D5-6D18B52EEDAB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0492506" y="1828800"/>
              <a:ext cx="1152842" cy="383152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152842">
                      <a:extLst>
                        <a:ext uri="{9D8B030D-6E8A-4147-A177-3AD203B41FA5}">
                          <a16:colId xmlns:a16="http://schemas.microsoft.com/office/drawing/2014/main" val="297062963"/>
                        </a:ext>
                      </a:extLst>
                    </a:gridCol>
                  </a:tblGrid>
                  <a:tr h="638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State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85620055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6" t="-101905" r="-2105" b="-400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3363568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6" t="-201905" r="-2105" b="-300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30713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6" t="-304808" r="-2105" b="-2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2753715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6" t="-400952" r="-2105" b="-10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5222226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6" t="-500952" r="-2105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480173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0" name="Content Placeholder 3">
            <a:extLst>
              <a:ext uri="{FF2B5EF4-FFF2-40B4-BE49-F238E27FC236}">
                <a16:creationId xmlns:a16="http://schemas.microsoft.com/office/drawing/2014/main" id="{A3569BA4-67B3-4FA3-A16A-16F31F242A7E}"/>
              </a:ext>
            </a:extLst>
          </p:cNvPr>
          <p:cNvGraphicFramePr>
            <a:graphicFrameLocks/>
          </p:cNvGraphicFramePr>
          <p:nvPr/>
        </p:nvGraphicFramePr>
        <p:xfrm>
          <a:off x="8044849" y="1828800"/>
          <a:ext cx="1752600" cy="383152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97062963"/>
                    </a:ext>
                  </a:extLst>
                </a:gridCol>
              </a:tblGrid>
              <a:tr h="638588">
                <a:tc>
                  <a:txBody>
                    <a:bodyPr/>
                    <a:lstStyle/>
                    <a:p>
                      <a:pPr algn="ctr"/>
                      <a:r>
                        <a:rPr lang="vi-VN" sz="2800" dirty="0" err="1"/>
                        <a:t>State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5620055"/>
                  </a:ext>
                </a:extLst>
              </a:tr>
              <a:tr h="638588">
                <a:tc>
                  <a:txBody>
                    <a:bodyPr/>
                    <a:lstStyle/>
                    <a:p>
                      <a:pPr algn="l"/>
                      <a:r>
                        <a:rPr lang="vi-VN" sz="2800" dirty="0" err="1"/>
                        <a:t>New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York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3363568"/>
                  </a:ext>
                </a:extLst>
              </a:tr>
              <a:tr h="638588">
                <a:tc>
                  <a:txBody>
                    <a:bodyPr/>
                    <a:lstStyle/>
                    <a:p>
                      <a:pPr algn="l"/>
                      <a:r>
                        <a:rPr lang="vi-VN" sz="2800" dirty="0" err="1"/>
                        <a:t>California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0713"/>
                  </a:ext>
                </a:extLst>
              </a:tr>
              <a:tr h="638588">
                <a:tc>
                  <a:txBody>
                    <a:bodyPr/>
                    <a:lstStyle/>
                    <a:p>
                      <a:pPr algn="l"/>
                      <a:r>
                        <a:rPr lang="vi-VN" sz="2800" dirty="0" err="1"/>
                        <a:t>Florida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2753715"/>
                  </a:ext>
                </a:extLst>
              </a:tr>
              <a:tr h="638588">
                <a:tc>
                  <a:txBody>
                    <a:bodyPr/>
                    <a:lstStyle/>
                    <a:p>
                      <a:pPr algn="l"/>
                      <a:r>
                        <a:rPr lang="vi-VN" sz="2800" dirty="0" err="1"/>
                        <a:t>California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1642356"/>
                  </a:ext>
                </a:extLst>
              </a:tr>
              <a:tr h="638588"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New York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856263"/>
                  </a:ext>
                </a:extLst>
              </a:tr>
            </a:tbl>
          </a:graphicData>
        </a:graphic>
      </p:graphicFrame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4E1FC59-2401-437A-B25F-C3F04E6A8B7F}"/>
              </a:ext>
            </a:extLst>
          </p:cNvPr>
          <p:cNvCxnSpPr>
            <a:cxnSpLocks/>
          </p:cNvCxnSpPr>
          <p:nvPr/>
        </p:nvCxnSpPr>
        <p:spPr>
          <a:xfrm>
            <a:off x="9788825" y="3739182"/>
            <a:ext cx="685800" cy="10764"/>
          </a:xfrm>
          <a:prstGeom prst="straightConnector1">
            <a:avLst/>
          </a:prstGeom>
          <a:ln w="60325">
            <a:solidFill>
              <a:schemeClr val="dk1">
                <a:shade val="95000"/>
                <a:satMod val="10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05619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94F7B-35A0-40D7-BBB4-B3998634F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Tiền</a:t>
            </a:r>
            <a:r>
              <a:rPr lang="vi-VN" dirty="0"/>
              <a:t>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3818B-948D-4098-ADBD-0FC7DE5D2B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Vì “</a:t>
                </a:r>
                <a:r>
                  <a:rPr lang="vi-VN" sz="2800" dirty="0" err="1">
                    <a:solidFill>
                      <a:srgbClr val="0066FF"/>
                    </a:solidFill>
                    <a:latin typeface="Consolas" panose="020B0609020204030204" pitchFamily="49" charset="0"/>
                  </a:rPr>
                  <a:t>State</a:t>
                </a:r>
                <a:r>
                  <a:rPr lang="vi-VN" sz="2800" dirty="0">
                    <a:solidFill>
                      <a:srgbClr val="0066FF"/>
                    </a:solidFill>
                  </a:rPr>
                  <a:t>”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loại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thuộc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không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thứ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tự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tức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trị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các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loại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“</a:t>
                </a:r>
                <a:r>
                  <a:rPr lang="vi-VN" sz="2800" dirty="0" err="1">
                    <a:solidFill>
                      <a:srgbClr val="0066FF"/>
                    </a:solidFill>
                    <a:latin typeface="Consolas" panose="020B0609020204030204" pitchFamily="49" charset="0"/>
                  </a:rPr>
                  <a:t>State</a:t>
                </a:r>
                <a:r>
                  <a:rPr lang="vi-VN" sz="2800" dirty="0">
                    <a:solidFill>
                      <a:srgbClr val="0066FF"/>
                    </a:solidFill>
                  </a:rPr>
                  <a:t>”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khác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nhau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tầm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quan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trọng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như nhau. </a:t>
                </a: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Do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dùng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các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0,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1,2,…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để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gán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nhãn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cho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thuộc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tính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“</a:t>
                </a:r>
                <a:r>
                  <a:rPr lang="vi-VN" sz="2800" dirty="0" err="1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State</a:t>
                </a:r>
                <a:r>
                  <a:rPr lang="vi-VN" sz="2800" dirty="0">
                    <a:solidFill>
                      <a:srgbClr val="FF0000"/>
                    </a:solidFill>
                  </a:rPr>
                  <a:t>”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không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hợp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lý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3818B-948D-4098-ADBD-0FC7DE5D2B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75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226729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94F7B-35A0-40D7-BBB4-B3998634F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Tiền</a:t>
            </a:r>
            <a:r>
              <a:rPr lang="vi-VN" dirty="0"/>
              <a:t>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endParaRPr lang="vi-V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3818B-948D-4098-ADBD-0FC7DE5D2B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Khái </a:t>
                </a:r>
                <a:r>
                  <a:rPr lang="vi-VN" sz="2800" err="1">
                    <a:solidFill>
                      <a:srgbClr val="0066FF"/>
                    </a:solidFill>
                  </a:rPr>
                  <a:t>niệm</a:t>
                </a:r>
                <a:r>
                  <a:rPr lang="vi-VN" sz="2800">
                    <a:solidFill>
                      <a:srgbClr val="0066FF"/>
                    </a:solidFill>
                  </a:rPr>
                  <a:t> one</a:t>
                </a:r>
                <a:r>
                  <a:rPr lang="en-US" sz="2800">
                    <a:solidFill>
                      <a:srgbClr val="0066FF"/>
                    </a:solidFill>
                  </a:rPr>
                  <a:t> </a:t>
                </a:r>
                <a:r>
                  <a:rPr lang="vi-VN" sz="2800">
                    <a:solidFill>
                      <a:srgbClr val="0066FF"/>
                    </a:solidFill>
                  </a:rPr>
                  <a:t>–</a:t>
                </a:r>
                <a:r>
                  <a:rPr lang="en-US" sz="2800">
                    <a:solidFill>
                      <a:srgbClr val="0066FF"/>
                    </a:solidFill>
                  </a:rPr>
                  <a:t> </a:t>
                </a:r>
                <a:r>
                  <a:rPr lang="vi-VN" sz="2800">
                    <a:solidFill>
                      <a:srgbClr val="0066FF"/>
                    </a:solidFill>
                  </a:rPr>
                  <a:t>hot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vector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One-hot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vector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vector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chỉ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đúng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một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phần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tử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giá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trị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1,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các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phần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tử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còn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giá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trị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0.</a:t>
                </a: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Ví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  <a:endParaRPr lang="en-US" sz="2800" dirty="0">
                  <a:solidFill>
                    <a:srgbClr val="0066FF"/>
                  </a:solidFill>
                </a:endParaRPr>
              </a:p>
              <a:p>
                <a:pPr lvl="2" algn="just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vi-V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0,0,1</m:t>
                        </m:r>
                      </m:e>
                    </m:d>
                    <m:r>
                      <a:rPr lang="vi-V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lvl="2" algn="just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vi-VN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1,0,0</m:t>
                        </m:r>
                      </m:e>
                    </m:d>
                  </m:oMath>
                </a14:m>
                <a:r>
                  <a:rPr lang="vi-VN" dirty="0">
                    <a:solidFill>
                      <a:srgbClr val="0066FF"/>
                    </a:solidFill>
                  </a:rPr>
                  <a:t>.</a:t>
                </a:r>
                <a:endParaRPr lang="en-US" dirty="0">
                  <a:solidFill>
                    <a:srgbClr val="0066FF"/>
                  </a:solidFill>
                </a:endParaRPr>
              </a:p>
              <a:p>
                <a:pPr algn="just"/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One-hot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vector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thường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được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sử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dụng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để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gán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nhãn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các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dữ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liệu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dạng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danh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mục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không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thứ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tự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(non-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order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categorial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data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3818B-948D-4098-ADBD-0FC7DE5D2B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2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765294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F394D-0128-4AE8-B927-5134D438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Tiền xử lý dữ liệu: Bẫy Biến Giả (Dummy Variable Trap) &amp; Train/Test Split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6BB90-605B-4F70-A26D-A8C33019C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 algn="just"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Hiện tượng Bẫy Biến Giả (Dummy Variable Trap):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Khi một biến phân loại có k nhóm (k = 3 bang), ta chỉ được phép dùng k - 1 cột biến giả (2 cột).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Nếu giữ cả 3 cột, tổng của chúng luôn = 1 = cột w0 (bias), gây Đa cộng tuyến hoàn hảo (Multicollinearity).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Hậu quả: Ma trận (X^T * X) bị suy biến (singular), không khả nghịch để tìm nghiệm tối ưu!</a:t>
            </a:r>
          </a:p>
          <a:p>
            <a:pPr>
              <a:spcAft>
                <a:spcPts val="300"/>
              </a:spcAft>
              <a:defRPr sz="1500" b="1">
                <a:solidFill>
                  <a:srgbClr val="282828"/>
                </a:solidFill>
                <a:latin typeface="Calibri"/>
              </a:defRPr>
            </a:pPr>
            <a:r>
              <a:t>• Giải pháp: Thiết lập drop='first' trong OneHotEncoder để tự động loại bỏ 1 cột cơ sở (State_California).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Danh sách đặc trưng sau khi mã hóa &amp; Chia tập dữ liệu (In [2]):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feature_names = list(ct.named_transformers_['encoder'].get_feature_names_out(['State'])) \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                + ['R&amp;D Spend', 'Administration', 'Marketing Spend']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print('Danh sách đặc trưng:', feature_names)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# ['State_Florida', 'State_New York', 'R&amp;D Spend', 'Administration', 'Marketing Spend']</a:t>
            </a:r>
          </a:p>
          <a:p>
            <a:pPr>
              <a:spcAft>
                <a:spcPts val="200"/>
              </a:spcAft>
              <a:defRPr sz="1300" b="1">
                <a:solidFill>
                  <a:srgbClr val="004696"/>
                </a:solidFill>
                <a:latin typeface="Consolas"/>
              </a:defRPr>
            </a:pPr>
            <a:r>
              <a:t>X_train, X_test, y_train, y_test = train_test_split(X, y, test_size=0.2, random_state=0)</a:t>
            </a:r>
          </a:p>
        </p:txBody>
      </p:sp>
    </p:spTree>
    <p:extLst>
      <p:ext uri="{BB962C8B-B14F-4D97-AF65-F5344CB8AC3E}">
        <p14:creationId xmlns:p14="http://schemas.microsoft.com/office/powerpoint/2010/main" val="127127795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F394D-0128-4AE8-B927-5134D438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Tiền</a:t>
            </a:r>
            <a:r>
              <a:rPr lang="vi-VN" dirty="0"/>
              <a:t>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E3CDB1F1-4FAC-469D-99EA-25CF5B8A7CF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119587" y="1828800"/>
              <a:ext cx="1938813" cy="383152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646271">
                      <a:extLst>
                        <a:ext uri="{9D8B030D-6E8A-4147-A177-3AD203B41FA5}">
                          <a16:colId xmlns:a16="http://schemas.microsoft.com/office/drawing/2014/main" val="2173243670"/>
                        </a:ext>
                      </a:extLst>
                    </a:gridCol>
                    <a:gridCol w="646271">
                      <a:extLst>
                        <a:ext uri="{9D8B030D-6E8A-4147-A177-3AD203B41FA5}">
                          <a16:colId xmlns:a16="http://schemas.microsoft.com/office/drawing/2014/main" val="1868173614"/>
                        </a:ext>
                      </a:extLst>
                    </a:gridCol>
                    <a:gridCol w="646271">
                      <a:extLst>
                        <a:ext uri="{9D8B030D-6E8A-4147-A177-3AD203B41FA5}">
                          <a16:colId xmlns:a16="http://schemas.microsoft.com/office/drawing/2014/main" val="795634526"/>
                        </a:ext>
                      </a:extLst>
                    </a:gridCol>
                  </a:tblGrid>
                  <a:tr h="63858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State</a:t>
                          </a:r>
                          <a:endParaRPr lang="vi-VN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vi-V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vi-V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8983292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61983778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89368916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74058127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11814074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116312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E3CDB1F1-4FAC-469D-99EA-25CF5B8A7CF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119587" y="1828800"/>
              <a:ext cx="1938813" cy="383152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646271">
                      <a:extLst>
                        <a:ext uri="{9D8B030D-6E8A-4147-A177-3AD203B41FA5}">
                          <a16:colId xmlns:a16="http://schemas.microsoft.com/office/drawing/2014/main" val="2173243670"/>
                        </a:ext>
                      </a:extLst>
                    </a:gridCol>
                    <a:gridCol w="646271">
                      <a:extLst>
                        <a:ext uri="{9D8B030D-6E8A-4147-A177-3AD203B41FA5}">
                          <a16:colId xmlns:a16="http://schemas.microsoft.com/office/drawing/2014/main" val="1868173614"/>
                        </a:ext>
                      </a:extLst>
                    </a:gridCol>
                    <a:gridCol w="646271">
                      <a:extLst>
                        <a:ext uri="{9D8B030D-6E8A-4147-A177-3AD203B41FA5}">
                          <a16:colId xmlns:a16="http://schemas.microsoft.com/office/drawing/2014/main" val="795634526"/>
                        </a:ext>
                      </a:extLst>
                    </a:gridCol>
                  </a:tblGrid>
                  <a:tr h="63858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State</a:t>
                          </a:r>
                          <a:endParaRPr lang="vi-VN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vi-V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vi-V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8983292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43" t="-101905" r="-205660" b="-4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01905" r="-103738" b="-4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887" t="-101905" r="-4717" b="-400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1983778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43" t="-201905" r="-205660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201905" r="-103738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887" t="-201905" r="-4717" b="-300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9368916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43" t="-304808" r="-205660" b="-2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304808" r="-103738" b="-2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887" t="-304808" r="-4717" b="-2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4058127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43" t="-400952" r="-205660" b="-10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400952" r="-103738" b="-10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887" t="-400952" r="-4717" b="-10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1814074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43" t="-500952" r="-205660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500952" r="-103738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887" t="-500952" r="-4717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163126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E2B817-9B9F-4A0F-B0C5-14C4C8680A77}"/>
              </a:ext>
            </a:extLst>
          </p:cNvPr>
          <p:cNvCxnSpPr/>
          <p:nvPr/>
        </p:nvCxnSpPr>
        <p:spPr>
          <a:xfrm>
            <a:off x="6788911" y="3733800"/>
            <a:ext cx="1337787" cy="0"/>
          </a:xfrm>
          <a:prstGeom prst="straightConnector1">
            <a:avLst/>
          </a:prstGeom>
          <a:ln w="60325">
            <a:solidFill>
              <a:schemeClr val="dk1">
                <a:shade val="95000"/>
                <a:satMod val="10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98EC1DCA-B3F8-4BF8-A57F-53955C526E74}"/>
              </a:ext>
            </a:extLst>
          </p:cNvPr>
          <p:cNvGraphicFramePr>
            <a:graphicFrameLocks/>
          </p:cNvGraphicFramePr>
          <p:nvPr/>
        </p:nvGraphicFramePr>
        <p:xfrm>
          <a:off x="1517030" y="1828800"/>
          <a:ext cx="2819400" cy="383152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97062963"/>
                    </a:ext>
                  </a:extLst>
                </a:gridCol>
              </a:tblGrid>
              <a:tr h="638588">
                <a:tc>
                  <a:txBody>
                    <a:bodyPr/>
                    <a:lstStyle/>
                    <a:p>
                      <a:pPr algn="ctr"/>
                      <a:r>
                        <a:rPr lang="vi-VN" sz="2800" dirty="0" err="1"/>
                        <a:t>State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5620055"/>
                  </a:ext>
                </a:extLst>
              </a:tr>
              <a:tr h="638588">
                <a:tc>
                  <a:txBody>
                    <a:bodyPr/>
                    <a:lstStyle/>
                    <a:p>
                      <a:pPr algn="l"/>
                      <a:r>
                        <a:rPr lang="vi-VN" sz="2800" dirty="0" err="1"/>
                        <a:t>New</a:t>
                      </a:r>
                      <a:r>
                        <a:rPr lang="vi-VN" sz="2800" dirty="0"/>
                        <a:t> </a:t>
                      </a:r>
                      <a:r>
                        <a:rPr lang="vi-VN" sz="2800" dirty="0" err="1"/>
                        <a:t>York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3363568"/>
                  </a:ext>
                </a:extLst>
              </a:tr>
              <a:tr h="638588">
                <a:tc>
                  <a:txBody>
                    <a:bodyPr/>
                    <a:lstStyle/>
                    <a:p>
                      <a:pPr algn="l"/>
                      <a:r>
                        <a:rPr lang="vi-VN" sz="2800" dirty="0" err="1"/>
                        <a:t>California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0713"/>
                  </a:ext>
                </a:extLst>
              </a:tr>
              <a:tr h="638588">
                <a:tc>
                  <a:txBody>
                    <a:bodyPr/>
                    <a:lstStyle/>
                    <a:p>
                      <a:pPr algn="l"/>
                      <a:r>
                        <a:rPr lang="vi-VN" sz="2800" dirty="0" err="1"/>
                        <a:t>Florida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2753715"/>
                  </a:ext>
                </a:extLst>
              </a:tr>
              <a:tr h="638588">
                <a:tc>
                  <a:txBody>
                    <a:bodyPr/>
                    <a:lstStyle/>
                    <a:p>
                      <a:pPr algn="l"/>
                      <a:r>
                        <a:rPr lang="vi-VN" sz="2800" dirty="0" err="1"/>
                        <a:t>California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1642356"/>
                  </a:ext>
                </a:extLst>
              </a:tr>
              <a:tr h="638588"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New York</a:t>
                      </a:r>
                      <a:endParaRPr lang="vi-V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856263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79BF61D-C63E-446C-8B1D-D5AB9F7603BF}"/>
              </a:ext>
            </a:extLst>
          </p:cNvPr>
          <p:cNvCxnSpPr/>
          <p:nvPr/>
        </p:nvCxnSpPr>
        <p:spPr>
          <a:xfrm>
            <a:off x="4336430" y="3733800"/>
            <a:ext cx="1337787" cy="0"/>
          </a:xfrm>
          <a:prstGeom prst="straightConnector1">
            <a:avLst/>
          </a:prstGeom>
          <a:ln w="60325">
            <a:solidFill>
              <a:schemeClr val="dk1">
                <a:shade val="95000"/>
                <a:satMod val="10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Content Placeholder 3">
                <a:extLst>
                  <a:ext uri="{FF2B5EF4-FFF2-40B4-BE49-F238E27FC236}">
                    <a16:creationId xmlns:a16="http://schemas.microsoft.com/office/drawing/2014/main" id="{80A92578-2EF6-4DB3-868C-1A47C197FC54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654339" y="1828800"/>
              <a:ext cx="1152842" cy="383152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152842">
                      <a:extLst>
                        <a:ext uri="{9D8B030D-6E8A-4147-A177-3AD203B41FA5}">
                          <a16:colId xmlns:a16="http://schemas.microsoft.com/office/drawing/2014/main" val="297062963"/>
                        </a:ext>
                      </a:extLst>
                    </a:gridCol>
                  </a:tblGrid>
                  <a:tr h="638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State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85620055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3363568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030713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12753715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45222226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48017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Content Placeholder 3">
                <a:extLst>
                  <a:ext uri="{FF2B5EF4-FFF2-40B4-BE49-F238E27FC236}">
                    <a16:creationId xmlns:a16="http://schemas.microsoft.com/office/drawing/2014/main" id="{80A92578-2EF6-4DB3-868C-1A47C197FC54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654339" y="1828800"/>
              <a:ext cx="1152842" cy="383152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152842">
                      <a:extLst>
                        <a:ext uri="{9D8B030D-6E8A-4147-A177-3AD203B41FA5}">
                          <a16:colId xmlns:a16="http://schemas.microsoft.com/office/drawing/2014/main" val="297062963"/>
                        </a:ext>
                      </a:extLst>
                    </a:gridCol>
                  </a:tblGrid>
                  <a:tr h="638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State</a:t>
                          </a:r>
                          <a:endParaRPr lang="vi-VN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85620055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6" t="-101905" r="-2105" b="-400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3363568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6" t="-201905" r="-2105" b="-300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30713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6" t="-304808" r="-2105" b="-2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2753715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6" t="-400952" r="-2105" b="-10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5222226"/>
                      </a:ext>
                    </a:extLst>
                  </a:tr>
                  <a:tr h="6385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6" t="-500952" r="-2105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480173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7951214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ADF39-5CC3-4986-AACE-402A75C13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Tiền</a:t>
            </a:r>
            <a:r>
              <a:rPr lang="vi-VN" dirty="0"/>
              <a:t>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52BB4E-505A-4955-A9D1-9CDBE01FDB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spcBef>
                    <a:spcPts val="300"/>
                  </a:spcBef>
                </a:pPr>
                <a:r>
                  <a:rPr lang="vi-VN" sz="2800" dirty="0">
                    <a:solidFill>
                      <a:srgbClr val="0066FF"/>
                    </a:solidFill>
                  </a:rPr>
                  <a:t>Phân chia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hiện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tại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thành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hai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con,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training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còn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lại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test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>
                  <a:spcBef>
                    <a:spcPts val="300"/>
                  </a:spcBef>
                </a:pPr>
                <a:r>
                  <a:rPr lang="vi-VN" sz="2800" dirty="0">
                    <a:solidFill>
                      <a:srgbClr val="FF0000"/>
                    </a:solidFill>
                  </a:rPr>
                  <a:t>Tỉ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lệ</a:t>
                </a:r>
                <a:r>
                  <a:rPr lang="vi-VN" sz="2800" dirty="0">
                    <a:solidFill>
                      <a:srgbClr val="FF0000"/>
                    </a:solidFill>
                  </a:rPr>
                  <a:t> phân chia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80%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cho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training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algn="just">
                  <a:spcBef>
                    <a:spcPts val="300"/>
                  </a:spcBef>
                </a:pPr>
                <a:r>
                  <a:rPr lang="vi-VN" sz="2800" dirty="0" err="1">
                    <a:solidFill>
                      <a:srgbClr val="0066FF"/>
                    </a:solidFill>
                  </a:rPr>
                  <a:t>Hàm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train_test_split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xây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dựng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sẵn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module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sklearn.model_selection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để</a:t>
                </a:r>
                <a:r>
                  <a:rPr lang="vi-VN" sz="2800" dirty="0">
                    <a:solidFill>
                      <a:srgbClr val="0066FF"/>
                    </a:solidFill>
                  </a:rPr>
                  <a:t> phân chia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>
                  <a:spcBef>
                    <a:spcPts val="300"/>
                  </a:spcBef>
                </a:pPr>
                <a:endParaRPr lang="vi-VN" sz="2800" dirty="0">
                  <a:solidFill>
                    <a:srgbClr val="0066FF"/>
                  </a:solidFill>
                </a:endParaRPr>
              </a:p>
              <a:p>
                <a:pPr marL="514350" indent="-514350" algn="just">
                  <a:spcBef>
                    <a:spcPts val="300"/>
                  </a:spcBef>
                  <a:buFont typeface="+mj-lt"/>
                  <a:buAutoNum type="arabicPeriod" startAt="12"/>
                </a:pPr>
                <a:r>
                  <a:rPr lang="en-US" dirty="0">
                    <a:solidFill>
                      <a:srgbClr val="AF00DB"/>
                    </a:solidFill>
                    <a:latin typeface="Consolas" panose="020B0609020204030204" pitchFamily="49" charset="0"/>
                  </a:rPr>
                  <a:t>from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sklearn.model_selection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dirty="0">
                    <a:solidFill>
                      <a:srgbClr val="AF00DB"/>
                    </a:solidFill>
                    <a:latin typeface="Consolas" panose="020B0609020204030204" pitchFamily="49" charset="0"/>
                  </a:rPr>
                  <a:t>import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</a:t>
                </a:r>
                <a:r>
                  <a:rPr lang="en-US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train_test_split</a:t>
                </a:r>
                <a:endParaRPr lang="en-US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 marL="514350" indent="-514350" algn="just">
                  <a:spcBef>
                    <a:spcPts val="300"/>
                  </a:spcBef>
                  <a:buFont typeface="+mj-lt"/>
                  <a:buAutoNum type="arabicPeriod" startAt="12"/>
                </a:pPr>
                <a:r>
                  <a:rPr lang="fr-FR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X_train</a:t>
                </a: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, </a:t>
                </a:r>
                <a:r>
                  <a:rPr lang="fr-FR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X_test</a:t>
                </a: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, </a:t>
                </a:r>
                <a:r>
                  <a:rPr lang="fr-FR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Y_train</a:t>
                </a: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, </a:t>
                </a:r>
                <a:r>
                  <a:rPr lang="fr-FR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Y_test</a:t>
                </a: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=</a:t>
                </a:r>
              </a:p>
              <a:p>
                <a:pPr marL="0" indent="0" algn="just">
                  <a:spcBef>
                    <a:spcPts val="300"/>
                  </a:spcBef>
                  <a:buNone/>
                </a:pP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   </a:t>
                </a:r>
                <a:r>
                  <a:rPr lang="vi-VN" dirty="0" err="1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train_test_split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(X, Y, </a:t>
                </a:r>
                <a:r>
                  <a:rPr lang="en-US" dirty="0" err="1">
                    <a:solidFill>
                      <a:srgbClr val="001080"/>
                    </a:solidFill>
                    <a:latin typeface="Consolas" panose="020B0609020204030204" pitchFamily="49" charset="0"/>
                  </a:rPr>
                  <a:t>train_size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= </a:t>
                </a:r>
                <a:r>
                  <a:rPr lang="en-US" dirty="0">
                    <a:solidFill>
                      <a:srgbClr val="09885A"/>
                    </a:solidFill>
                    <a:latin typeface="Consolas" panose="020B0609020204030204" pitchFamily="49" charset="0"/>
                  </a:rPr>
                  <a:t>0.8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, </a:t>
                </a:r>
                <a:r>
                  <a:rPr lang="en-US" dirty="0" err="1">
                    <a:solidFill>
                      <a:srgbClr val="001080"/>
                    </a:solidFill>
                    <a:latin typeface="Consolas" panose="020B0609020204030204" pitchFamily="49" charset="0"/>
                  </a:rPr>
                  <a:t>random_state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 = </a:t>
                </a:r>
                <a:r>
                  <a:rPr lang="en-US" dirty="0">
                    <a:solidFill>
                      <a:srgbClr val="09885A"/>
                    </a:solidFill>
                    <a:latin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)</a:t>
                </a:r>
                <a:endParaRPr lang="vi-VN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52BB4E-505A-4955-A9D1-9CDBE01FD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82" r="-1111" b="-5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7395661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90A4-E953-4466-9A77-2F2B96DB3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endParaRPr lang="vi-V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16213-528F-4013-8C82-A3723AB22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45122064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90A4-E953-4466-9A77-2F2B96DB3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Huấn luyện Mô hình Hồi quy Tuyến tính Đa biến (Full Model)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66155-1314-46F8-AD0D-82B6092EB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 algn="just"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Khởi tạo, khớp mô hình &amp; dự đoán trên tập kiểm tra (In [3]):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sklearn.linear_model import LinearRegression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sklearn.metrics import r2_score, root_mean_squared_error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regressor = LinearRegression()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regressor.fit(X_train, y_train)</a:t>
            </a:r>
          </a:p>
          <a:p>
            <a:pPr>
              <a:spcAft>
                <a:spcPts val="6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y_pred = regressor.predict(X_test)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print(f'R² Score trên Test Set: {r2_score(y_test, y_pred):.4f}')</a:t>
            </a:r>
          </a:p>
          <a:p>
            <a:pPr>
              <a:spcAft>
                <a:spcPts val="6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print(f'RMSE trên Test Set:     ${root_mean_squared_error(y_test, y_pred):,.2f}')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📌 Kết quả đánh giá hiệu năng (Expected Output):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• R² Score = 0.9347: Mô hình giải thích được 93.47% sự biến thiên lợi nhuận trên tập dữ liệu kiểm tra.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• RMSE = $9,137.99: Sai số bình phương trung bình xấp xỉ 9.14 ngàn USD.</a:t>
            </a:r>
          </a:p>
        </p:txBody>
      </p:sp>
    </p:spTree>
    <p:extLst>
      <p:ext uri="{BB962C8B-B14F-4D97-AF65-F5344CB8AC3E}">
        <p14:creationId xmlns:p14="http://schemas.microsoft.com/office/powerpoint/2010/main" val="74519290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7E6BDBF-FA14-4222-9A40-DD9766281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12B903B-3964-4842-9BA7-083BAB634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1049153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7E6BDBF-FA14-4222-9A40-DD9766281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Kiểm tra kết quả mô hình: Phương pháp Đánh giá Đa Chiều</a:t>
            </a:r>
            <a:endParaRPr lang="vi-V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88EBEE-D213-4D2F-8F7D-F5982FA74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 algn="just"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Thách thức của dữ liệu đa biến (5 chiều):</a:t>
            </a:r>
            <a:endParaRPr lang="en-US" sz="2800" dirty="0">
              <a:solidFill>
                <a:srgbClr val="0066FF"/>
              </a:solidFill>
            </a:endParaRP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Không thể vẽ mặt phẳng hồi quy trực tiếp lên không gian 2D như Hồi quy Đơn biến.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Tập dữ liệu có 5 đặc trưng (2 biến giả State, R&amp;D, Administration, Marketing) và 1 nhãn Profit.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Giải pháp đánh giá toàn diện kết hợp Thống kê &amp; Trực quan: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1. Chỉ số định lượng: Sử dụng R² Score (0.9347) và RMSE ($9,137.99) để đo độ chính xác tổng thể.</a:t>
            </a:r>
          </a:p>
          <a:p>
            <a:pPr>
              <a:spcAft>
                <a:spcPts val="300"/>
              </a:spcAft>
              <a:defRPr sz="1500" b="1">
                <a:solidFill>
                  <a:srgbClr val="282828"/>
                </a:solidFill>
                <a:latin typeface="Calibri"/>
              </a:defRPr>
            </a:pPr>
            <a:r>
              <a:t>2. Kiểm định Thống kê (p-value): Áp dụng Ordinary Least Squares (OLS) trong statsmodels để kiểm tra ý nghĩa từng đặc trưng (Thuật toán Backward Elimination).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3. Đồ thị Thực tế vs Dự đoán (Actual vs Predicted): Đối chiếu các điểm dữ liệu với đường tham chiếu y = x.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4. Phân tích Trọng số Hệ số (Feature Coefficients): Khảo sát hệ số wi để nhận diện biến đóng góp quan trọng nhất.</a:t>
            </a:r>
          </a:p>
        </p:txBody>
      </p:sp>
    </p:spTree>
    <p:extLst>
      <p:ext uri="{BB962C8B-B14F-4D97-AF65-F5344CB8AC3E}">
        <p14:creationId xmlns:p14="http://schemas.microsoft.com/office/powerpoint/2010/main" val="1187405981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7E6BDBF-FA14-4222-9A40-DD9766281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D88EBEE-D213-4D2F-8F7D-F5982FA748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spcBef>
                    <a:spcPts val="300"/>
                  </a:spcBef>
                </a:pPr>
                <a:r>
                  <a:rPr lang="vi-VN" sz="2800" dirty="0">
                    <a:solidFill>
                      <a:srgbClr val="0066FF"/>
                    </a:solidFill>
                  </a:rPr>
                  <a:t>Khái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niệm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hệ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đánh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vi-VN" sz="28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vi-V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hệ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để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đánh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giá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chất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lượng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một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hồi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quy.</a:t>
                </a:r>
              </a:p>
              <a:p>
                <a:pPr marL="457200" lvl="1" indent="0" algn="just"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sz="280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280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vi-VN" sz="280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vi-VN" sz="28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vi-VN" sz="280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vi-VN" sz="2800" i="1" dirty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vi-VN" sz="2800" i="1" dirty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vi-VN" sz="2800" i="1" dirty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vi-VN" sz="2800" i="1" dirty="0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vi-VN" sz="2800" i="1" dirty="0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vi-VN" sz="2800" i="1" dirty="0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vi-VN" sz="2800" i="1" dirty="0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vi-VN" sz="2800" i="1" dirty="0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vi-VN" sz="2800" i="1" dirty="0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vi-VN" sz="2800" i="1" dirty="0">
                                                  <a:solidFill>
                                                    <a:srgbClr val="0066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vi-VN" sz="2800" i="1" dirty="0">
                                                  <a:solidFill>
                                                    <a:srgbClr val="0066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vi-VN" sz="2800" i="1" dirty="0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vi-VN" sz="2800" i="1" dirty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vi-V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vi-V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vi-VN" sz="280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vi-VN" sz="2800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vi-VN" sz="2800" i="1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vi-VN" sz="2800" i="1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vi-VN" sz="2800" i="1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vi-VN" sz="2800" i="1">
                                          <a:solidFill>
                                            <a:srgbClr val="0066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vi-VN" sz="2800" i="1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vi-VN" sz="2800" i="1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vi-VN" sz="2800" i="1">
                                              <a:solidFill>
                                                <a:srgbClr val="0066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𝑚𝑒𝑎𝑛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vi-VN" sz="280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vi-VN" sz="2800" dirty="0">
                  <a:solidFill>
                    <a:srgbClr val="FF0000"/>
                  </a:solidFill>
                </a:endParaRPr>
              </a:p>
              <a:p>
                <a:pPr lvl="1" algn="just">
                  <a:spcBef>
                    <a:spcPts val="300"/>
                  </a:spcBef>
                </a:pPr>
                <a:r>
                  <a:rPr lang="vi-VN" sz="2800" dirty="0">
                    <a:solidFill>
                      <a:srgbClr val="FF0000"/>
                    </a:solidFill>
                  </a:rPr>
                  <a:t>Trong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:</a:t>
                </a:r>
              </a:p>
              <a:p>
                <a:pPr lvl="2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trị</a:t>
                </a:r>
                <a:r>
                  <a:rPr lang="en-US" sz="2800" dirty="0">
                    <a:solidFill>
                      <a:srgbClr val="0066FF"/>
                    </a:solidFill>
                  </a:rPr>
                  <a:t> outcome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thực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sự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một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en-US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2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giá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trị</a:t>
                </a:r>
                <a:r>
                  <a:rPr lang="en-US" sz="2800" dirty="0">
                    <a:solidFill>
                      <a:srgbClr val="FF0000"/>
                    </a:solidFill>
                  </a:rPr>
                  <a:t> outcome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mô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dự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đoán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của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một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en-US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2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𝑚𝑒𝑎𝑛</m:t>
                        </m:r>
                      </m:sub>
                    </m:sSub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trị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outcome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trung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trên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huấn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luyện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D88EBEE-D213-4D2F-8F7D-F5982FA748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049561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3CEC4-C520-4608-BAD3-201A84B6B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4D1B43-5D09-4398-8A56-7812AC8FEC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Giá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trị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hệ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8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vi-VN" sz="28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luôn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nằm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đoạn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m:rPr>
                        <m:lit/>
                      </m:rP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1]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Nếu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: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tệ</a:t>
                </a:r>
                <a:r>
                  <a:rPr lang="vi-VN" sz="2800" dirty="0">
                    <a:solidFill>
                      <a:srgbClr val="FF0000"/>
                    </a:solidFill>
                  </a:rPr>
                  <a:t> hơn </a:t>
                </a:r>
                <a:r>
                  <a:rPr lang="vi-VN" sz="2800" dirty="0">
                    <a:solidFill>
                      <a:srgbClr val="008000"/>
                    </a:solidFill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mô </a:t>
                </a:r>
                <a:r>
                  <a:rPr lang="vi-VN" sz="2800" dirty="0" err="1">
                    <a:solidFill>
                      <a:srgbClr val="008000"/>
                    </a:solidFill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hình</a:t>
                </a:r>
                <a:r>
                  <a:rPr lang="vi-VN" sz="2800" dirty="0">
                    <a:solidFill>
                      <a:srgbClr val="008000"/>
                    </a:solidFill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 cơ </a:t>
                </a:r>
                <a:r>
                  <a:rPr lang="vi-VN" sz="2800" dirty="0" err="1">
                    <a:solidFill>
                      <a:srgbClr val="008000"/>
                    </a:solidFill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sở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Nếu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8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vi-VN" sz="28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: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giống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như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cơ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sở</a:t>
                </a:r>
                <a:r>
                  <a:rPr lang="vi-VN" sz="2800" dirty="0">
                    <a:solidFill>
                      <a:srgbClr val="0066FF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vẫn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rất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tệ</a:t>
                </a:r>
                <a:r>
                  <a:rPr lang="vi-VN" sz="2800" dirty="0">
                    <a:solidFill>
                      <a:srgbClr val="0066FF"/>
                    </a:solidFill>
                  </a:rPr>
                  <a:t>).</a:t>
                </a:r>
              </a:p>
              <a:p>
                <a:pPr lvl="1" algn="just"/>
                <a:r>
                  <a:rPr lang="vi-VN" sz="2800" dirty="0">
                    <a:solidFill>
                      <a:srgbClr val="FF0000"/>
                    </a:solidFill>
                  </a:rPr>
                  <a:t>Nếu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: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chính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xác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tuyệt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đối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vi-VN" sz="28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vi-VN" sz="28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càng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lớn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thì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độ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chính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xác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càng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cao.</a:t>
                </a: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Một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xem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tốt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nếu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&gt;0.8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4D1B43-5D09-4398-8A56-7812AC8FEC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00" t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302119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03797-227E-466F-8121-1D2A2AC30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41AC79-EE1A-4EBF-A05A-7993462500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Ta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sẽ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phương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thức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score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>
                    <a:solidFill>
                      <a:srgbClr val="0066FF"/>
                    </a:solidFill>
                  </a:rPr>
                  <a:t>trong lớp</a:t>
                </a:r>
                <a:r>
                  <a:rPr lang="en-US" sz="2800">
                    <a:solidFill>
                      <a:srgbClr val="0066FF"/>
                    </a:solidFill>
                  </a:rPr>
                  <a:t> đối tượng</a:t>
                </a:r>
                <a:r>
                  <a:rPr lang="vi-VN" sz="280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LinearRegression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để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đánh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hiện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tại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bằng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hệ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đánh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giá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8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8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vi-VN" sz="28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endParaRPr lang="vi-VN" dirty="0"/>
              </a:p>
              <a:p>
                <a:pPr marL="0" indent="0" algn="just">
                  <a:buNone/>
                </a:pPr>
                <a:endParaRPr lang="vi-VN" dirty="0"/>
              </a:p>
              <a:p>
                <a:pPr marL="457200" indent="-457200" algn="just">
                  <a:buFont typeface="+mj-lt"/>
                  <a:buAutoNum type="arabicPeriod" startAt="17"/>
                </a:pPr>
                <a:r>
                  <a:rPr lang="fr-FR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lin_re</a:t>
                </a: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g</a:t>
                </a: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.score(</a:t>
                </a:r>
                <a:r>
                  <a:rPr lang="fr-FR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X_train</a:t>
                </a: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, </a:t>
                </a:r>
                <a:r>
                  <a:rPr lang="fr-FR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Y_train</a:t>
                </a:r>
                <a:r>
                  <a:rPr lang="fr-FR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)</a:t>
                </a:r>
              </a:p>
              <a:p>
                <a:pPr marL="0" indent="0" algn="just">
                  <a:buNone/>
                </a:pP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&gt;&gt;&gt; 0.9501847627493607</a:t>
                </a:r>
                <a:endParaRPr lang="vi-VN" sz="32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457200" indent="-457200" algn="just">
                  <a:buFont typeface="+mj-lt"/>
                  <a:buAutoNum type="arabicPeriod" startAt="18"/>
                </a:pPr>
                <a:r>
                  <a:rPr lang="en-US" dirty="0" err="1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lin_reg.score</a:t>
                </a:r>
                <a:r>
                  <a:rPr lang="en-US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X_test</a:t>
                </a:r>
                <a:r>
                  <a:rPr lang="en-US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, </a:t>
                </a:r>
                <a:r>
                  <a:rPr lang="en-US" dirty="0" err="1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Y_test</a:t>
                </a:r>
                <a:r>
                  <a:rPr lang="en-US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)</a:t>
                </a:r>
              </a:p>
              <a:p>
                <a:pPr marL="0" indent="0" algn="just">
                  <a:buNone/>
                </a:pPr>
                <a:r>
                  <a:rPr lang="vi-VN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&gt;&gt;&gt; 0.9347068473282303</a:t>
                </a:r>
                <a:endParaRPr lang="vi-VN" sz="32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41AC79-EE1A-4EBF-A05A-7993462500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752" r="-1111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8935490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03797-227E-466F-8121-1D2A2AC30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Kiểm tra kết quả: Thuật toán Loại Bỏ Ngược (Backward Elimination)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1AC79-EE1A-4EBF-A05A-799346250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 algn="just"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Thuật toán Backward Elimination bằng kiểm định p-value qua statsmodels (In [4]):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import statsmodels.api as sm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# Thêm cột hệ số tự do w0 (toàn số 1: x0 = 1) vào ma trận đặc trưng X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X_opt = np.append(arr=np.ones((X.shape[0], 1)).astype(float), values=X, axis=1)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all_feature_names = ['Intercept (w0)'] + feature_names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# Huấn luyện OLS ban đầu và xuất bảng thống kê chi tiết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regressor_ols = sm.OLS(endog=y, exog=X_opt).fit()</a:t>
            </a:r>
          </a:p>
          <a:p>
            <a:pPr>
              <a:spcAft>
                <a:spcPts val="6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print(regressor_ols.summary())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📌 Kết luận từ Bảng OLS Summary (Ngưỡng p-value alpha = 0.05):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• R&amp;D Spend có p-value = 0.000 (&lt; 0.05): Tác động cực kỳ mạnh và có ý nghĩa thống kê tới Lợi nhuận.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• Administration (p = 0.602) và các biến State (p &gt; 0.9): p-value &gt; 0.05 -&gt; không có ý nghĩa thống kê, có thể loại bỏ.</a:t>
            </a:r>
          </a:p>
        </p:txBody>
      </p:sp>
    </p:spTree>
    <p:extLst>
      <p:ext uri="{BB962C8B-B14F-4D97-AF65-F5344CB8AC3E}">
        <p14:creationId xmlns:p14="http://schemas.microsoft.com/office/powerpoint/2010/main" val="2338032476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03797-227E-466F-8121-1D2A2AC30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Kiểm tra kết quả: Trực Quan Hóa Dự Đoán &amp; Trọng Số Đặc Trưng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1AC79-EE1A-4EBF-A05A-799346250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 algn="just"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Vẽ biểu đồ kép đánh giá mô hình (In [5]):</a:t>
            </a:r>
          </a:p>
          <a:p>
            <a:pPr>
              <a:spcAft>
                <a:spcPts val="3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fig, axes = plt.subplots(1, 2, figsize=(15, 5))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# Đồ thị 1: Actual vs Predicted (So sánh với đường chéo y = x)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axes[0].scatter(y_test, y_pred, color='blue', s=80, alpha=0.7)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axes[0].plot([y.min(), y.max()], [y.min(), y.max()], 'r--', linewidth=2)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axes[0].set_title('Thực tế vs Dự đoán (Actual vs Predicted)', fontweight='bold')</a:t>
            </a:r>
          </a:p>
          <a:p>
            <a:pPr>
              <a:spcAft>
                <a:spcPts val="3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axes[0].set_xlabel('Lợi nhuận Thực tế ($)'); axes[0].set_ylabel('Lợi nhuận Dự đoán ($)')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# Đồ thị 2: Trọng số của các đặc trưng (Feature Coefficients)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colors = ['green' if c &gt; 0 else 'red' for c in regressor.coef_]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axes[1].barh(feature_names, regressor.coef_, color=colors, alpha=0.8)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axes[1].axvline(0, color='black', linewidth=0.8)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axes[1].set_title('Trọng số Hệ số của Đặc trưng (Feature Coefficients)', fontweight='bold')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axes[1].set_xlabel('Hệ số w_i'); plt.tight_layout(); plt.show()</a:t>
            </a:r>
          </a:p>
        </p:txBody>
      </p:sp>
    </p:spTree>
    <p:extLst>
      <p:ext uri="{BB962C8B-B14F-4D97-AF65-F5344CB8AC3E}">
        <p14:creationId xmlns:p14="http://schemas.microsoft.com/office/powerpoint/2010/main" val="2523262726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03797-227E-466F-8121-1D2A2AC30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Kiểm tra kết quả mô hình: Tổng Kết &amp; Kết Luận Bài Toán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303931A-9BC5-45A6-94F8-34AC3ACCB13F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09550" y="1981200"/>
              <a:ext cx="11906250" cy="35356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90600">
                      <a:extLst>
                        <a:ext uri="{9D8B030D-6E8A-4147-A177-3AD203B41FA5}">
                          <a16:colId xmlns:a16="http://schemas.microsoft.com/office/drawing/2014/main" val="3604901671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3484273267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305645979"/>
                        </a:ext>
                      </a:extLst>
                    </a:gridCol>
                    <a:gridCol w="2387523">
                      <a:extLst>
                        <a:ext uri="{9D8B030D-6E8A-4147-A177-3AD203B41FA5}">
                          <a16:colId xmlns:a16="http://schemas.microsoft.com/office/drawing/2014/main" val="166604950"/>
                        </a:ext>
                      </a:extLst>
                    </a:gridCol>
                    <a:gridCol w="1894123">
                      <a:extLst>
                        <a:ext uri="{9D8B030D-6E8A-4147-A177-3AD203B41FA5}">
                          <a16:colId xmlns:a16="http://schemas.microsoft.com/office/drawing/2014/main" val="737814028"/>
                        </a:ext>
                      </a:extLst>
                    </a:gridCol>
                    <a:gridCol w="1452404">
                      <a:extLst>
                        <a:ext uri="{9D8B030D-6E8A-4147-A177-3AD203B41FA5}">
                          <a16:colId xmlns:a16="http://schemas.microsoft.com/office/drawing/2014/main" val="3449113555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1271999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R&amp;D </a:t>
                          </a:r>
                          <a:r>
                            <a:rPr lang="vi-VN" sz="2800" dirty="0" err="1"/>
                            <a:t>Spending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Administrator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Marketing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Spending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State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Profit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Predicted</a:t>
                          </a:r>
                          <a:r>
                            <a:rPr lang="vi-VN" sz="28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Profit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69762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754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118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546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172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795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New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York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78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239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79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786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47707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27,892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84,710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164,470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California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77,798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78,474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80595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23,640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96,189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148,001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Florida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71,498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76,185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948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15,505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127,382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35,534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New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York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69,758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61,898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69594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22,177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154,806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28,334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Florida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65,200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68,900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80981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303931A-9BC5-45A6-94F8-34AC3ACCB13F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09550" y="1981200"/>
              <a:ext cx="11906250" cy="35356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90600">
                      <a:extLst>
                        <a:ext uri="{9D8B030D-6E8A-4147-A177-3AD203B41FA5}">
                          <a16:colId xmlns:a16="http://schemas.microsoft.com/office/drawing/2014/main" val="3604901671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3484273267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305645979"/>
                        </a:ext>
                      </a:extLst>
                    </a:gridCol>
                    <a:gridCol w="2387523">
                      <a:extLst>
                        <a:ext uri="{9D8B030D-6E8A-4147-A177-3AD203B41FA5}">
                          <a16:colId xmlns:a16="http://schemas.microsoft.com/office/drawing/2014/main" val="166604950"/>
                        </a:ext>
                      </a:extLst>
                    </a:gridCol>
                    <a:gridCol w="1894123">
                      <a:extLst>
                        <a:ext uri="{9D8B030D-6E8A-4147-A177-3AD203B41FA5}">
                          <a16:colId xmlns:a16="http://schemas.microsoft.com/office/drawing/2014/main" val="737814028"/>
                        </a:ext>
                      </a:extLst>
                    </a:gridCol>
                    <a:gridCol w="1452404">
                      <a:extLst>
                        <a:ext uri="{9D8B030D-6E8A-4147-A177-3AD203B41FA5}">
                          <a16:colId xmlns:a16="http://schemas.microsoft.com/office/drawing/2014/main" val="3449113555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127199995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R&amp;D </a:t>
                          </a:r>
                          <a:r>
                            <a:rPr lang="vi-VN" sz="2800" dirty="0" err="1"/>
                            <a:t>Spending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Administrator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Marketing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Spending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State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Profit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Predicted</a:t>
                          </a:r>
                          <a:r>
                            <a:rPr lang="vi-VN" sz="28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Profit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697628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13" t="-194118" r="-1101227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67" t="-194118" r="-498333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5600" t="-194118" r="-498000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2143" t="-194118" r="-217602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New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York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5378" t="-194118" r="-127731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1667" t="-194118" r="-1333" b="-4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477076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13" t="-294118" r="-1101227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67" t="-294118" r="-498333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5600" t="-294118" r="-498000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2143" t="-294118" r="-217602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California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5378" t="-294118" r="-127731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1667" t="-294118" r="-1333" b="-3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805956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13" t="-394118" r="-1101227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67" t="-394118" r="-498333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5600" t="-394118" r="-498000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2143" t="-394118" r="-217602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Florida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5378" t="-394118" r="-127731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1667" t="-394118" r="-1333" b="-2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9488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13" t="-494118" r="-1101227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67" t="-494118" r="-498333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5600" t="-494118" r="-498000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2143" t="-494118" r="-217602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New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York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5378" t="-494118" r="-127731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1667" t="-494118" r="-1333" b="-1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695948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13" t="-594118" r="-1101227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67" t="-594118" r="-498333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5600" t="-594118" r="-498000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2143" t="-594118" r="-217602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Florida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5378" t="-594118" r="-127731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1667" t="-594118" r="-1333" b="-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80981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612648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1. Tổng hợp Chỉ số Đo lường Hiệu năng (Model Evaluation Metrics):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R² Score (Hệ số xác định) = 0.9347: Mô hình giải thích được 93.47% sự phân tán lợi nhuận thực tế.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RMSE (Căn bậc hai sai số bình phương) = $9,137.99: Sai lệch trung bình của các dự đoán kiểm tra.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2. Kết luận Thống kê &amp; Bài học Kinh doanh cho Startup:</a:t>
            </a:r>
          </a:p>
          <a:p>
            <a:pPr>
              <a:spcAft>
                <a:spcPts val="300"/>
              </a:spcAft>
              <a:defRPr sz="1500" b="1">
                <a:solidFill>
                  <a:srgbClr val="282828"/>
                </a:solidFill>
                <a:latin typeface="Calibri"/>
              </a:defRPr>
            </a:pPr>
            <a:r>
              <a:t>• R&amp;D Spend (Nghiên cứu &amp; Phát triển) là yếu tố quyết định hàng đầu (hệ số dương lớn nhất, p = 0.000).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Administration (Quản trị) và State (Vị trí địa lý: NY, CA, FL) không có tác động đáng kể (p &gt; 0.05).</a:t>
            </a:r>
          </a:p>
          <a:p>
            <a:pPr>
              <a:spcAft>
                <a:spcPts val="300"/>
              </a:spcAft>
              <a:defRPr sz="1500" b="1">
                <a:solidFill>
                  <a:srgbClr val="282828"/>
                </a:solidFill>
                <a:latin typeface="Calibri"/>
              </a:defRPr>
            </a:pPr>
            <a:r>
              <a:t>• Quy tắc chuẩn: Khi huấn luyện Hồi quy Đa biến với dữ liệu Categorical, luôn áp dụng drop='first' để ngăn ngừa Bẫy biến giả (Dummy Variable Trap).</a:t>
            </a:r>
          </a:p>
        </p:txBody>
      </p:sp>
    </p:spTree>
    <p:extLst>
      <p:ext uri="{BB962C8B-B14F-4D97-AF65-F5344CB8AC3E}">
        <p14:creationId xmlns:p14="http://schemas.microsoft.com/office/powerpoint/2010/main" val="898522131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03797-227E-466F-8121-1D2A2AC30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Kiểm tra kết quả mô hình: Câu Hỏi Thảo Luận Mở Rộng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303931A-9BC5-45A6-94F8-34AC3ACCB13F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09550" y="1981200"/>
              <a:ext cx="11906250" cy="35356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90600">
                      <a:extLst>
                        <a:ext uri="{9D8B030D-6E8A-4147-A177-3AD203B41FA5}">
                          <a16:colId xmlns:a16="http://schemas.microsoft.com/office/drawing/2014/main" val="3604901671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3484273267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305645979"/>
                        </a:ext>
                      </a:extLst>
                    </a:gridCol>
                    <a:gridCol w="2387523">
                      <a:extLst>
                        <a:ext uri="{9D8B030D-6E8A-4147-A177-3AD203B41FA5}">
                          <a16:colId xmlns:a16="http://schemas.microsoft.com/office/drawing/2014/main" val="166604950"/>
                        </a:ext>
                      </a:extLst>
                    </a:gridCol>
                    <a:gridCol w="1894123">
                      <a:extLst>
                        <a:ext uri="{9D8B030D-6E8A-4147-A177-3AD203B41FA5}">
                          <a16:colId xmlns:a16="http://schemas.microsoft.com/office/drawing/2014/main" val="737814028"/>
                        </a:ext>
                      </a:extLst>
                    </a:gridCol>
                    <a:gridCol w="1452404">
                      <a:extLst>
                        <a:ext uri="{9D8B030D-6E8A-4147-A177-3AD203B41FA5}">
                          <a16:colId xmlns:a16="http://schemas.microsoft.com/office/drawing/2014/main" val="3449113555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1271999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R&amp;D </a:t>
                          </a:r>
                          <a:r>
                            <a:rPr lang="vi-VN" sz="2800" dirty="0" err="1"/>
                            <a:t>Spending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Administrator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Marketing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Spending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State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Profit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Predicted</a:t>
                          </a:r>
                          <a:r>
                            <a:rPr lang="vi-VN" sz="28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Profit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69762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,000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24,153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,903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New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York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4,926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vi-VN" sz="2800" b="0" i="1" dirty="0" smtClean="0">
                                    <a:latin typeface="Cambria Math" panose="02040503050406030204" pitchFamily="18" charset="0"/>
                                  </a:rPr>
                                  <m:t>9,996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47707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1,315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115,816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297,114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California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49,490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60,628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80595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135,426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Florida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42,559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52,036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948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542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51,743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New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York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35,673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52,906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69594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116,983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45,173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California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14,681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54,195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80981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303931A-9BC5-45A6-94F8-34AC3ACCB13F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09550" y="1981200"/>
              <a:ext cx="11906250" cy="35356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90600">
                      <a:extLst>
                        <a:ext uri="{9D8B030D-6E8A-4147-A177-3AD203B41FA5}">
                          <a16:colId xmlns:a16="http://schemas.microsoft.com/office/drawing/2014/main" val="3604901671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3484273267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305645979"/>
                        </a:ext>
                      </a:extLst>
                    </a:gridCol>
                    <a:gridCol w="2387523">
                      <a:extLst>
                        <a:ext uri="{9D8B030D-6E8A-4147-A177-3AD203B41FA5}">
                          <a16:colId xmlns:a16="http://schemas.microsoft.com/office/drawing/2014/main" val="166604950"/>
                        </a:ext>
                      </a:extLst>
                    </a:gridCol>
                    <a:gridCol w="1894123">
                      <a:extLst>
                        <a:ext uri="{9D8B030D-6E8A-4147-A177-3AD203B41FA5}">
                          <a16:colId xmlns:a16="http://schemas.microsoft.com/office/drawing/2014/main" val="737814028"/>
                        </a:ext>
                      </a:extLst>
                    </a:gridCol>
                    <a:gridCol w="1452404">
                      <a:extLst>
                        <a:ext uri="{9D8B030D-6E8A-4147-A177-3AD203B41FA5}">
                          <a16:colId xmlns:a16="http://schemas.microsoft.com/office/drawing/2014/main" val="3449113555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127199995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R&amp;D </a:t>
                          </a:r>
                          <a:r>
                            <a:rPr lang="vi-VN" sz="2800" dirty="0" err="1"/>
                            <a:t>Spending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Administrator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Marketing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Spending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State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Profit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Predicted</a:t>
                          </a:r>
                          <a:r>
                            <a:rPr lang="vi-VN" sz="28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Profit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697628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13" t="-194118" r="-1101227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67" t="-194118" r="-498333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5600" t="-194118" r="-498000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2143" t="-194118" r="-217602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New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York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5378" t="-194118" r="-127731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1667" t="-194118" r="-1333" b="-4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477076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13" t="-294118" r="-1101227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67" t="-294118" r="-498333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5600" t="-294118" r="-498000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2143" t="-294118" r="-217602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California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5378" t="-294118" r="-127731" b="-3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1667" t="-294118" r="-1333" b="-3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805956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13" t="-394118" r="-1101227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67" t="-394118" r="-498333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5600" t="-394118" r="-498000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2143" t="-394118" r="-217602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Florida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5378" t="-394118" r="-127731" b="-2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1667" t="-394118" r="-1333" b="-2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9488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13" t="-494118" r="-1101227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67" t="-494118" r="-498333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5600" t="-494118" r="-498000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2143" t="-494118" r="-217602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New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York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5378" t="-494118" r="-127731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1667" t="-494118" r="-1333" b="-1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695948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13" t="-594118" r="-1101227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67" t="-594118" r="-498333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5600" t="-594118" r="-498000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2143" t="-594118" r="-217602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vi-VN" sz="2800" dirty="0" err="1"/>
                            <a:t>California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5378" t="-594118" r="-127731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1667" t="-594118" r="-1333" b="-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80981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612648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💡 Câu hỏi Tư duy &amp; Thảo luận Thực hành dành cho Học viên: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Câu hỏi 1: Cơ chế toán học của Dummy Variable Trap?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Tại sao nếu không loại bỏ 1 cột dummy khi One-Hot Encoding thì ma trận (X^T * X) lại không khả nghịch?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Gợi ý: Xét vector hằng số bias [1, 1, ..., 1]^T và tổng các vector dummy D_1 + D_2 + ... + D_k.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Câu hỏi 2: So sánh Phương pháp Lựa chọn Đặc trưng (Feature Selection):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Hãy so sánh ưu và nhược điểm giữa Thuật toán Loại bỏ ngược (Backward Elimination dựa trên p-value) và Hồi quy Co rút Lasso Regression (Chuẩn hóa L1 Penalty)?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• Trong trường hợp số chiều đặc trưng d &gt;&gt; số lượng mẫu n, phương pháp nào khả thi hơn?</a:t>
            </a:r>
          </a:p>
        </p:txBody>
      </p:sp>
    </p:spTree>
    <p:extLst>
      <p:ext uri="{BB962C8B-B14F-4D97-AF65-F5344CB8AC3E}">
        <p14:creationId xmlns:p14="http://schemas.microsoft.com/office/powerpoint/2010/main" val="112548181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3052A5-5CA0-4756-A24B-71350923D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Multiple</a:t>
            </a:r>
            <a:r>
              <a:rPr lang="vi-VN" dirty="0"/>
              <a:t> </a:t>
            </a:r>
            <a:r>
              <a:rPr lang="vi-VN" dirty="0" err="1"/>
              <a:t>Linear</a:t>
            </a:r>
            <a:r>
              <a:rPr lang="vi-VN" dirty="0"/>
              <a:t> </a:t>
            </a:r>
            <a:r>
              <a:rPr lang="vi-VN" dirty="0" err="1"/>
              <a:t>Regression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618AD4-5524-47FC-B0B7-408C336C16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92125603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3052A5-5CA0-4756-A24B-71350923D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Multiple</a:t>
            </a:r>
            <a:r>
              <a:rPr lang="vi-VN" dirty="0"/>
              <a:t> </a:t>
            </a:r>
            <a:r>
              <a:rPr lang="vi-VN" dirty="0" err="1"/>
              <a:t>Linear</a:t>
            </a:r>
            <a:r>
              <a:rPr lang="vi-VN" dirty="0"/>
              <a:t> </a:t>
            </a:r>
            <a:r>
              <a:rPr lang="vi-VN" dirty="0" err="1"/>
              <a:t>Regression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A6A6BD5-8E0B-4A26-91ED-B995F56570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vi-VN" sz="2800" dirty="0">
                    <a:solidFill>
                      <a:srgbClr val="0066FF"/>
                    </a:solidFill>
                  </a:rPr>
                  <a:t>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hồi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quy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tuyến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đa </a:t>
                </a:r>
                <a:r>
                  <a:rPr lang="vi-VN" sz="2800" err="1">
                    <a:solidFill>
                      <a:srgbClr val="0066FF"/>
                    </a:solidFill>
                  </a:rPr>
                  <a:t>biến</a:t>
                </a:r>
                <a:r>
                  <a:rPr lang="vi-VN" sz="2800">
                    <a:solidFill>
                      <a:srgbClr val="0066FF"/>
                    </a:solidFill>
                  </a:rPr>
                  <a:t> </a:t>
                </a:r>
                <a:r>
                  <a:rPr lang="en-US" sz="2800">
                    <a:solidFill>
                      <a:srgbClr val="0066FF"/>
                    </a:solidFill>
                  </a:rPr>
                  <a:t>– </a:t>
                </a:r>
                <a:r>
                  <a:rPr lang="vi-VN" sz="2800">
                    <a:solidFill>
                      <a:srgbClr val="0066FF"/>
                    </a:solidFill>
                  </a:rPr>
                  <a:t>Multiple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Linear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Regression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marL="457200" lvl="1" indent="0" algn="just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vi-VN" sz="2800" dirty="0">
                  <a:solidFill>
                    <a:srgbClr val="FF0000"/>
                  </a:solidFill>
                </a:endParaRPr>
              </a:p>
              <a:p>
                <a:pPr algn="just">
                  <a:spcBef>
                    <a:spcPts val="600"/>
                  </a:spcBef>
                </a:pPr>
                <a:r>
                  <a:rPr lang="vi-VN" sz="2800" dirty="0">
                    <a:solidFill>
                      <a:srgbClr val="0066FF"/>
                    </a:solidFill>
                  </a:rPr>
                  <a:t>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biến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phụ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thuộc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dependent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err="1">
                    <a:solidFill>
                      <a:srgbClr val="FF0000"/>
                    </a:solidFill>
                  </a:rPr>
                  <a:t>variable</a:t>
                </a:r>
                <a:r>
                  <a:rPr lang="vi-VN" sz="2800">
                    <a:solidFill>
                      <a:srgbClr val="FF0000"/>
                    </a:solidFill>
                  </a:rPr>
                  <a:t>).</a:t>
                </a:r>
                <a:endParaRPr lang="vi-VN" sz="2800" dirty="0">
                  <a:solidFill>
                    <a:srgbClr val="FF0000"/>
                  </a:solidFill>
                </a:endParaRP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vi-VN" sz="2800" b="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các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biến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độc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indenpendent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err="1">
                    <a:solidFill>
                      <a:srgbClr val="0066FF"/>
                    </a:solidFill>
                  </a:rPr>
                  <a:t>variable</a:t>
                </a:r>
                <a:r>
                  <a:rPr lang="vi-VN" sz="2800">
                    <a:solidFill>
                      <a:srgbClr val="0066FF"/>
                    </a:solidFill>
                  </a:rPr>
                  <a:t>).</a:t>
                </a:r>
                <a:endParaRPr lang="vi-VN" sz="2800" dirty="0">
                  <a:solidFill>
                    <a:srgbClr val="0066FF"/>
                  </a:solidFill>
                </a:endParaRP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những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tham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A6A6BD5-8E0B-4A26-91ED-B995F56570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7076189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1A1E3B-52AC-4848-9A3B-814D413CE4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/>
              <a:t>Chúc các bạn học tốt</a:t>
            </a:r>
            <a:br>
              <a:rPr lang="en-US" sz="4000">
                <a:solidFill>
                  <a:srgbClr val="0066FF"/>
                </a:solidFill>
              </a:rPr>
            </a:br>
            <a:r>
              <a:rPr lang="en-US" sz="3200">
                <a:solidFill>
                  <a:srgbClr val="0066FF"/>
                </a:solidFill>
              </a:rPr>
              <a:t>TRƯỜNG ĐẠI HỌC CÔNG NGHỆ THÔNG TIN TP.HCM</a:t>
            </a:r>
            <a:br>
              <a:rPr lang="en-US" sz="3200">
                <a:solidFill>
                  <a:srgbClr val="0066FF"/>
                </a:solidFill>
              </a:rPr>
            </a:br>
            <a:br>
              <a:rPr lang="en-US" sz="3200">
                <a:solidFill>
                  <a:srgbClr val="0066FF"/>
                </a:solidFill>
              </a:rPr>
            </a:br>
            <a:r>
              <a:rPr lang="en-US" sz="4000"/>
              <a:t>Nhóm UIT-Together</a:t>
            </a:r>
            <a:br>
              <a:rPr lang="en-US" sz="4000">
                <a:solidFill>
                  <a:srgbClr val="0066FF"/>
                </a:solidFill>
              </a:rPr>
            </a:br>
            <a:r>
              <a:rPr lang="en-US" sz="4000">
                <a:solidFill>
                  <a:srgbClr val="0066FF"/>
                </a:solidFill>
              </a:rPr>
              <a:t>Nguyễn Tấn Trần Minh Khang</a:t>
            </a:r>
          </a:p>
        </p:txBody>
      </p:sp>
    </p:spTree>
    <p:extLst>
      <p:ext uri="{BB962C8B-B14F-4D97-AF65-F5344CB8AC3E}">
        <p14:creationId xmlns:p14="http://schemas.microsoft.com/office/powerpoint/2010/main" val="265189452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14700</TotalTime>
  <Words>1984</Words>
  <Application>Microsoft Office PowerPoint</Application>
  <PresentationFormat>Widescreen</PresentationFormat>
  <Paragraphs>376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Cambria Math</vt:lpstr>
      <vt:lpstr>Consolas</vt:lpstr>
      <vt:lpstr>Courier New</vt:lpstr>
      <vt:lpstr>Wingdings</vt:lpstr>
      <vt:lpstr>Default Design</vt:lpstr>
      <vt:lpstr>MULTIPLE LINEAR REGRESSION</vt:lpstr>
      <vt:lpstr>HỒI QUI TUYẾN TÍNH ĐA BIẾN</vt:lpstr>
      <vt:lpstr>Multiple Linear Regression</vt:lpstr>
      <vt:lpstr>Multiple Linear Regression</vt:lpstr>
      <vt:lpstr>Dataset</vt:lpstr>
      <vt:lpstr>Dataset</vt:lpstr>
      <vt:lpstr>Dataset</vt:lpstr>
      <vt:lpstr>Dataset</vt:lpstr>
      <vt:lpstr>Dataset</vt:lpstr>
      <vt:lpstr>Multiple Linear Regression</vt:lpstr>
      <vt:lpstr>Multiple Linear Regression</vt:lpstr>
      <vt:lpstr>Tiền xử lý dữ liệu</vt:lpstr>
      <vt:lpstr>Tiền xử lý dữ liệu</vt:lpstr>
      <vt:lpstr>Tiền xử lý dữ liệu</vt:lpstr>
      <vt:lpstr>Tiền xử lý dữ liệu</vt:lpstr>
      <vt:lpstr>Tiền xử lý dữ liệu</vt:lpstr>
      <vt:lpstr>Tiền xử lý dữ liệu</vt:lpstr>
      <vt:lpstr>Tiền xử lý dữ liệu</vt:lpstr>
      <vt:lpstr>Tiền xử lý dữ liệu</vt:lpstr>
      <vt:lpstr>Tiền xử lý dữ liệu</vt:lpstr>
      <vt:lpstr>Huấn luyện dữ liệu</vt:lpstr>
      <vt:lpstr>Huấn luyện dữ liệu</vt:lpstr>
      <vt:lpstr>Kiểm tra kết quả mô hình</vt:lpstr>
      <vt:lpstr>Kiểm tra kết quả mô hình</vt:lpstr>
      <vt:lpstr>Kiểm tra kết quả mô hình</vt:lpstr>
      <vt:lpstr>Kiểm tra kết quả mô hình</vt:lpstr>
      <vt:lpstr>Kiểm tra kết quả mô hình</vt:lpstr>
      <vt:lpstr>Kiểm tra kết quả mô hình</vt:lpstr>
      <vt:lpstr>Kiểm tra kết quả mô hình</vt:lpstr>
      <vt:lpstr>Kiểm tra kết quả mô hình</vt:lpstr>
      <vt:lpstr>Kiểm tra kết quả mô hình</vt:lpstr>
      <vt:lpstr>Multiple Linear Regression</vt:lpstr>
      <vt:lpstr>Multiple Linear Regression</vt:lpstr>
      <vt:lpstr>Chúc các bạn học tốt TRƯỜNG ĐẠI HỌC CÔNG NGHỆ THÔNG TIN TP.HCM  Nhóm UIT-Together Nguyễn Tấn Trần Minh Khang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 cc</dc:title>
  <dc:creator>Hong</dc:creator>
  <cp:lastModifiedBy>Vũ Ngọc Tú</cp:lastModifiedBy>
  <cp:revision>1325</cp:revision>
  <cp:lastPrinted>2013-08-30T01:32:34Z</cp:lastPrinted>
  <dcterms:created xsi:type="dcterms:W3CDTF">2008-06-14T04:13:27Z</dcterms:created>
  <dcterms:modified xsi:type="dcterms:W3CDTF">2022-07-21T02:22:35Z</dcterms:modified>
</cp:coreProperties>
</file>