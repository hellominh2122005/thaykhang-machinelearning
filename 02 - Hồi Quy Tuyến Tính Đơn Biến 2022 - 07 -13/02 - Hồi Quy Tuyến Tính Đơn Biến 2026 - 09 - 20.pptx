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7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1704" r:id="rId2"/>
    <p:sldId id="347" r:id="rId3"/>
    <p:sldId id="1648" r:id="rId4"/>
    <p:sldId id="337" r:id="rId5"/>
    <p:sldId id="356" r:id="rId6"/>
    <p:sldId id="357" r:id="rId7"/>
    <p:sldId id="1649" r:id="rId8"/>
    <p:sldId id="348" r:id="rId9"/>
    <p:sldId id="1650" r:id="rId10"/>
    <p:sldId id="349" r:id="rId11"/>
    <p:sldId id="367" r:id="rId12"/>
    <p:sldId id="368" r:id="rId13"/>
    <p:sldId id="351" r:id="rId14"/>
    <p:sldId id="339" r:id="rId15"/>
    <p:sldId id="1739" r:id="rId16"/>
    <p:sldId id="1738" r:id="rId17"/>
    <p:sldId id="338" r:id="rId18"/>
    <p:sldId id="352" r:id="rId19"/>
    <p:sldId id="334" r:id="rId20"/>
    <p:sldId id="362" r:id="rId21"/>
    <p:sldId id="1652" r:id="rId22"/>
    <p:sldId id="340" r:id="rId23"/>
    <p:sldId id="353" r:id="rId24"/>
    <p:sldId id="1653" r:id="rId25"/>
    <p:sldId id="1740" r:id="rId26"/>
    <p:sldId id="354" r:id="rId27"/>
    <p:sldId id="360" r:id="rId28"/>
    <p:sldId id="1654" r:id="rId29"/>
    <p:sldId id="1655" r:id="rId30"/>
    <p:sldId id="355" r:id="rId31"/>
    <p:sldId id="361" r:id="rId32"/>
    <p:sldId id="1656" r:id="rId33"/>
    <p:sldId id="1657" r:id="rId34"/>
    <p:sldId id="1741" r:id="rId35"/>
    <p:sldId id="1742" r:id="rId36"/>
    <p:sldId id="365" r:id="rId37"/>
    <p:sldId id="1662" r:id="rId38"/>
    <p:sldId id="1698" r:id="rId39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66FFFF"/>
    <a:srgbClr val="0066FF"/>
    <a:srgbClr val="FF9933"/>
    <a:srgbClr val="FF0000"/>
    <a:srgbClr val="FF3399"/>
    <a:srgbClr val="000099"/>
    <a:srgbClr val="FF6600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637" autoAdjust="0"/>
    <p:restoredTop sz="87366" autoAdjust="0"/>
  </p:normalViewPr>
  <p:slideViewPr>
    <p:cSldViewPr>
      <p:cViewPr varScale="1">
        <p:scale>
          <a:sx n="72" d="100"/>
          <a:sy n="72" d="100"/>
        </p:scale>
        <p:origin x="566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9E2CB30-4184-4C1B-912F-A6AED0718E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4866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5859DDC-9015-4B39-98F8-9F9A698DFE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8628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859DDC-9015-4B39-98F8-9F9A698DFEA6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066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TIÊU ĐỀ SLIDE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6454966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1_Title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1470025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027E77-6012-42D7-99B0-1D322EEAFE5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086803" y="3886200"/>
            <a:ext cx="3999344" cy="1752600"/>
          </a:xfrm>
        </p:spPr>
        <p:txBody>
          <a:bodyPr/>
          <a:lstStyle>
            <a:lvl1pPr>
              <a:spcBef>
                <a:spcPts val="30"/>
              </a:spcBef>
              <a:defRPr sz="14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597A347-30EE-4B72-93DA-C4CBE7049AF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0" y="3886200"/>
            <a:ext cx="3999344" cy="1752600"/>
          </a:xfrm>
        </p:spPr>
        <p:txBody>
          <a:bodyPr/>
          <a:lstStyle>
            <a:lvl1pPr>
              <a:spcBef>
                <a:spcPts val="30"/>
              </a:spcBef>
              <a:defRPr sz="14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CF626F4-8319-BB9A-3962-FB52D8DEB45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92656" y="3886200"/>
            <a:ext cx="3999344" cy="1752600"/>
          </a:xfrm>
        </p:spPr>
        <p:txBody>
          <a:bodyPr/>
          <a:lstStyle>
            <a:lvl1pPr>
              <a:spcBef>
                <a:spcPts val="30"/>
              </a:spcBef>
              <a:defRPr sz="14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838081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1_Title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1470025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514350" indent="-514350" algn="l">
              <a:buFont typeface="+mj-lt"/>
              <a:buAutoNum type="arabicPeriod"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5615748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1_Title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1470025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3886200"/>
            <a:ext cx="11582400" cy="1752600"/>
          </a:xfrm>
        </p:spPr>
        <p:txBody>
          <a:bodyPr/>
          <a:lstStyle>
            <a:lvl1pPr marL="514350" indent="-514350" algn="l">
              <a:buFont typeface="+mj-lt"/>
              <a:buAutoNum type="arabicPeriod"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4747701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01_Title Slid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2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127187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3508374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44479366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2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CHUẨN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9471252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02_Standard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6553698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4286862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601710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380999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631001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02_Standard Slid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4998215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E9201-BB7C-7361-D15B-554D97FD494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96438770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F2D223-6151-F61A-0F95-44A484E45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0"/>
            <a:ext cx="10972800" cy="6096000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578480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F2D223-6151-F61A-0F95-44A484E45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096000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15321983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02_Standard Slide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5260759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3_Progr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PROGRAM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90381629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03_Program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14350" indent="-514350">
              <a:buFont typeface="+mj-lt"/>
              <a:buAutoNum type="arabicPeriod"/>
              <a:defRPr sz="280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defRPr>
            </a:lvl1pPr>
            <a:lvl2pPr>
              <a:defRPr sz="28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8752364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rogram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4286862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80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defRPr>
            </a:lvl1pPr>
            <a:lvl2pPr marL="971550" indent="-514350">
              <a:buFont typeface="+mj-lt"/>
              <a:buAutoNum type="arabicPeriod"/>
              <a:defRPr sz="2800"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 marL="1371600" indent="-457200">
              <a:buFont typeface="+mj-lt"/>
              <a:buAutoNum type="arabicPeriod"/>
              <a:defRPr sz="2400">
                <a:latin typeface="Courier New" panose="02070309020205020404" pitchFamily="49" charset="0"/>
                <a:cs typeface="Courier New" panose="02070309020205020404" pitchFamily="49" charset="0"/>
              </a:defRPr>
            </a:lvl3pPr>
            <a:lvl4pPr marL="1828800" indent="-457200">
              <a:buFont typeface="+mj-lt"/>
              <a:buAutoNum type="arabicPeriod"/>
              <a:defRPr sz="2000">
                <a:latin typeface="Courier New" panose="02070309020205020404" pitchFamily="49" charset="0"/>
                <a:cs typeface="Courier New" panose="02070309020205020404" pitchFamily="49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72760244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rogram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380999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80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defRPr>
            </a:lvl1pPr>
            <a:lvl2pPr marL="971550" indent="-514350">
              <a:buFont typeface="+mj-lt"/>
              <a:buAutoNum type="arabicPeriod"/>
              <a:defRPr sz="2800"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 marL="1371600" indent="-457200">
              <a:buFont typeface="+mj-lt"/>
              <a:buAutoNum type="arabicPeriod"/>
              <a:defRPr sz="2400">
                <a:latin typeface="Courier New" panose="02070309020205020404" pitchFamily="49" charset="0"/>
                <a:cs typeface="Courier New" panose="02070309020205020404" pitchFamily="49" charset="0"/>
              </a:defRPr>
            </a:lvl3pPr>
            <a:lvl4pPr marL="1828800" indent="-457200">
              <a:buFont typeface="+mj-lt"/>
              <a:buAutoNum type="arabicPeriod"/>
              <a:defRPr sz="2000">
                <a:latin typeface="Courier New" panose="02070309020205020404" pitchFamily="49" charset="0"/>
                <a:cs typeface="Courier New" panose="02070309020205020404" pitchFamily="49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0BF5967-6241-0E40-D844-CD2FB96F118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15129890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4_Slide Up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HAI PHẦN TRÊN DƯỚI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54379166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Slide Up Dow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33527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4953001"/>
            <a:ext cx="10972800" cy="1172495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toa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570494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Slide Up Dow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2514598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4114801"/>
            <a:ext cx="10972800" cy="2010695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toa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9190481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Slide Up Down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1371597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09600" y="2971801"/>
            <a:ext cx="10972800" cy="3153696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+"/>
              <a:tabLst/>
              <a:defRPr/>
            </a:pPr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5415433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5_Slide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HAI CỘT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1238762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05_Slide Two Colum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10254237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A5C2EBD-EF57-4343-AF38-1F0DEC4C0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8AC06C03-737D-475A-93EF-E21A1FC9A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93367181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A5C2EBD-EF57-4343-AF38-1F0DEC4C0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8AC06C03-737D-475A-93EF-E21A1FC9A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8716980-92B1-EFAB-E559-9C67E7C615B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0755685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6553200" cy="4525963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162800" y="1600200"/>
            <a:ext cx="4419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24642175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6553200" cy="4286864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162800" y="1600201"/>
            <a:ext cx="4419600" cy="42868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7B267FE-1A4A-FC5A-B1BF-212E21F3C20F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39912957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6553200" cy="3810000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162800" y="1600201"/>
            <a:ext cx="4419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C8D0DD-B54D-81D5-B7D4-10338B1E328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92304489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8610600" cy="4525963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20200" y="1600200"/>
            <a:ext cx="2362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22547086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8610600" cy="4286863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20200" y="1600200"/>
            <a:ext cx="2362200" cy="4286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A1A5BA2-D508-AFA2-E487-FE996D715498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60895333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8610600" cy="3809999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20200" y="1600200"/>
            <a:ext cx="2362200" cy="380999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108584-BFF3-2406-377A-3236D4DB99A3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5069774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05_Slide Two Column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94170472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1640B4C-4BB4-59DC-6FB5-BE2BEAB17DC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15824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9277816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01540FF-506E-C951-CCC4-F2846A5D1DE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161288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4517489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05_Slide Two Column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99894408"/>
      </p:ext>
    </p:extLst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39BE0C1-77A6-4A1D-2879-D18D2A15649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0" y="5887064"/>
            <a:ext cx="121920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4376779"/>
      </p:ext>
    </p:extLst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7836774-98E2-8399-1A89-B989AAE076F4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0" y="5410200"/>
            <a:ext cx="1222248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8600537"/>
      </p:ext>
    </p:extLst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05_Slide Two Column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3858627"/>
      </p:ext>
    </p:extLst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05_Slide Two Column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998632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998632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24388919"/>
      </p:ext>
    </p:extLst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10972800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46338631"/>
      </p:ext>
    </p:extLst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11582400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998632" cy="3951288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1696371"/>
      </p:ext>
    </p:extLst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-2114" y="1535113"/>
            <a:ext cx="12194114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-2114" y="2174875"/>
            <a:ext cx="5998632" cy="3951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998632" cy="3951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55509956"/>
      </p:ext>
    </p:extLst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05_Slide Two Column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3200"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2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16488560"/>
      </p:ext>
    </p:extLst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6_Slide Three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BA CỘT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76098984"/>
      </p:ext>
    </p:extLst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2"/>
            <a:ext cx="3962400" cy="4495800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FCB7F62-31CE-479A-B75D-E680BBC27871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229600" y="1600200"/>
            <a:ext cx="3962400" cy="4495800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0AFCEF9-0FFB-4670-A771-DA310A1C55BF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114800" y="1600200"/>
            <a:ext cx="3962400" cy="4495800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3865494"/>
      </p:ext>
    </p:extLst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2"/>
            <a:ext cx="3962400" cy="4286862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0" y="5887064"/>
            <a:ext cx="121920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FCB7F62-31CE-479A-B75D-E680BBC27871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229600" y="1600200"/>
            <a:ext cx="3962400" cy="4286862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0AFCEF9-0FFB-4670-A771-DA310A1C55BF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114800" y="1600200"/>
            <a:ext cx="3962400" cy="4286862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70198783"/>
      </p:ext>
    </p:extLst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7_Slide Four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BỐN CỘT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94009430"/>
      </p:ext>
    </p:extLst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586163-080C-4D92-9FF5-83B9A124C31B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3098800" y="1600200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0879BDB-29CC-404E-9DCA-E89C7B9070D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10300" y="1600200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494B703-5983-4A4F-B197-D2C64EAA9F6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347200" y="1600200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06970055"/>
      </p:ext>
    </p:extLst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8_Slide Four P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BỐN PHẦN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52302994"/>
      </p:ext>
    </p:extLst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4EA549A-C581-4C37-B257-ACE55CAD4DF6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0" y="3886200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0016720-4FC2-4205-9886-7838EB04433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97600" y="1608826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E828636-495F-44E0-8340-BCE2B3F4716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197600" y="3894825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01676564"/>
      </p:ext>
    </p:extLst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80772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63000" y="1600201"/>
            <a:ext cx="28194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4A1A4A6-69C0-4EC3-B5CC-CC08837714D4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09600" y="2680855"/>
            <a:ext cx="80772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3E39D719-3B3B-4F96-BE3F-4E767D23D3D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763000" y="2680855"/>
            <a:ext cx="28194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D7791AFD-E53B-48D7-8A3C-24F9B931493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9600" y="3733801"/>
            <a:ext cx="80772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7784060D-E07A-4765-948A-FC9071F8DDC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763000" y="3733801"/>
            <a:ext cx="28194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A67EFF06-2483-4600-B6B9-3D1CE50220D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09600" y="4814455"/>
            <a:ext cx="80772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22FA758-800C-4200-9C64-1F16B8C51CA7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763000" y="4814455"/>
            <a:ext cx="28194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09676352"/>
      </p:ext>
    </p:extLst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9_Flow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LƯU ĐỒ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82140233"/>
      </p:ext>
    </p:extLst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066801"/>
            <a:ext cx="5994400" cy="5059363"/>
          </a:xfrm>
        </p:spPr>
        <p:txBody>
          <a:bodyPr/>
          <a:lstStyle>
            <a:lvl1pPr>
              <a:defRPr sz="2800"/>
            </a:lvl1pPr>
            <a:lvl2pPr>
              <a:defRPr sz="2800">
                <a:solidFill>
                  <a:srgbClr val="FF0000"/>
                </a:solidFill>
              </a:defRPr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B49A9FAE-4758-4C46-8541-F381798C5CD5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197600" y="0"/>
            <a:ext cx="5994400" cy="914401"/>
          </a:xfrm>
          <a:solidFill>
            <a:srgbClr val="00B0F0"/>
          </a:solidFill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91959533"/>
      </p:ext>
    </p:extLst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4854" y="1066801"/>
            <a:ext cx="3022600" cy="5059363"/>
          </a:xfrm>
        </p:spPr>
        <p:txBody>
          <a:bodyPr/>
          <a:lstStyle>
            <a:lvl1pPr>
              <a:defRPr sz="2800"/>
            </a:lvl1pPr>
            <a:lvl2pPr>
              <a:defRPr sz="2800">
                <a:solidFill>
                  <a:srgbClr val="FF0000"/>
                </a:solidFill>
              </a:defRPr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B49A9FAE-4758-4C46-8541-F381798C5CD5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114854" y="0"/>
            <a:ext cx="6077146" cy="914401"/>
          </a:xfrm>
          <a:solidFill>
            <a:srgbClr val="00B0F0"/>
          </a:solidFill>
        </p:spPr>
        <p:txBody>
          <a:bodyPr/>
          <a:lstStyle>
            <a:lvl1pPr marL="0" indent="0">
              <a:buNone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vi-VN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41B544BE-4259-4202-9EEF-29A5F771B6E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9157118" y="1066800"/>
            <a:ext cx="3022600" cy="5059363"/>
          </a:xfrm>
        </p:spPr>
        <p:txBody>
          <a:bodyPr/>
          <a:lstStyle>
            <a:lvl1pPr>
              <a:defRPr sz="2800"/>
            </a:lvl1pPr>
            <a:lvl2pPr>
              <a:defRPr sz="2800">
                <a:solidFill>
                  <a:srgbClr val="FF0000"/>
                </a:solidFill>
              </a:defRPr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138711408"/>
      </p:ext>
    </p:extLst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994400" cy="5211764"/>
          </a:xfrm>
          <a:solidFill>
            <a:schemeClr val="bg1"/>
          </a:solidFill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01840984"/>
      </p:ext>
    </p:extLst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173" y="0"/>
            <a:ext cx="5994400" cy="6096000"/>
          </a:xfrm>
          <a:solidFill>
            <a:schemeClr val="bg1"/>
          </a:solidFill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34309164"/>
      </p:ext>
    </p:extLst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2130426"/>
            <a:ext cx="11811000" cy="350837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6228A5-DE51-45EB-A51E-AC7C60465EA1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Trang</a:t>
            </a:r>
          </a:p>
        </p:txBody>
      </p:sp>
    </p:spTree>
    <p:extLst>
      <p:ext uri="{BB962C8B-B14F-4D97-AF65-F5344CB8AC3E}">
        <p14:creationId xmlns:p14="http://schemas.microsoft.com/office/powerpoint/2010/main" val="393112372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image" Target="../media/image1.png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1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11379200" y="6324600"/>
            <a:ext cx="81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A916C17-A3B0-4CE4-88CA-9129F443D2C0}" type="slidenum">
              <a:rPr lang="en-US" smtClean="0"/>
              <a:pPr algn="ctr"/>
              <a:t>‹#›</a:t>
            </a:fld>
            <a:endParaRPr lang="en-US"/>
          </a:p>
        </p:txBody>
      </p:sp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B82A81E1-3619-4A2C-AB88-C7D0762594CD}"/>
              </a:ext>
            </a:extLst>
          </p:cNvPr>
          <p:cNvPicPr>
            <a:picLocks noChangeAspect="1"/>
          </p:cNvPicPr>
          <p:nvPr userDrawn="1"/>
        </p:nvPicPr>
        <p:blipFill>
          <a:blip r:embed="rId6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0" y="103160"/>
            <a:ext cx="1375575" cy="567426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0B594A5E-2439-4755-BAA8-30F12FADD3C7}"/>
              </a:ext>
            </a:extLst>
          </p:cNvPr>
          <p:cNvPicPr>
            <a:picLocks noChangeAspect="1"/>
          </p:cNvPicPr>
          <p:nvPr userDrawn="1"/>
        </p:nvPicPr>
        <p:blipFill>
          <a:blip r:embed="rId6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4908" y="70999"/>
            <a:ext cx="843402" cy="84340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649" r:id="rId3"/>
    <p:sldLayoutId id="2147483720" r:id="rId4"/>
    <p:sldLayoutId id="2147483652" r:id="rId5"/>
    <p:sldLayoutId id="2147483750" r:id="rId6"/>
    <p:sldLayoutId id="2147483718" r:id="rId7"/>
    <p:sldLayoutId id="2147483650" r:id="rId8"/>
    <p:sldLayoutId id="2147483721" r:id="rId9"/>
    <p:sldLayoutId id="2147483723" r:id="rId10"/>
    <p:sldLayoutId id="2147483716" r:id="rId11"/>
    <p:sldLayoutId id="2147483722" r:id="rId12"/>
    <p:sldLayoutId id="2147483748" r:id="rId13"/>
    <p:sldLayoutId id="2147483749" r:id="rId14"/>
    <p:sldLayoutId id="2147483717" r:id="rId15"/>
    <p:sldLayoutId id="2147483719" r:id="rId16"/>
    <p:sldLayoutId id="2147483725" r:id="rId17"/>
    <p:sldLayoutId id="2147483726" r:id="rId18"/>
    <p:sldLayoutId id="2147483727" r:id="rId19"/>
    <p:sldLayoutId id="2147483724" r:id="rId20"/>
    <p:sldLayoutId id="2147483651" r:id="rId21"/>
    <p:sldLayoutId id="2147483712" r:id="rId22"/>
    <p:sldLayoutId id="2147483713" r:id="rId23"/>
    <p:sldLayoutId id="2147483728" r:id="rId24"/>
    <p:sldLayoutId id="2147483707" r:id="rId25"/>
    <p:sldLayoutId id="2147483709" r:id="rId26"/>
    <p:sldLayoutId id="2147483730" r:id="rId27"/>
    <p:sldLayoutId id="2147483700" r:id="rId28"/>
    <p:sldLayoutId id="2147483731" r:id="rId29"/>
    <p:sldLayoutId id="2147483732" r:id="rId30"/>
    <p:sldLayoutId id="2147483689" r:id="rId31"/>
    <p:sldLayoutId id="2147483733" r:id="rId32"/>
    <p:sldLayoutId id="2147483734" r:id="rId33"/>
    <p:sldLayoutId id="2147483679" r:id="rId34"/>
    <p:sldLayoutId id="2147483735" r:id="rId35"/>
    <p:sldLayoutId id="2147483736" r:id="rId36"/>
    <p:sldLayoutId id="2147483684" r:id="rId37"/>
    <p:sldLayoutId id="2147483737" r:id="rId38"/>
    <p:sldLayoutId id="2147483738" r:id="rId39"/>
    <p:sldLayoutId id="2147483741" r:id="rId40"/>
    <p:sldLayoutId id="2147483742" r:id="rId41"/>
    <p:sldLayoutId id="2147483743" r:id="rId42"/>
    <p:sldLayoutId id="2147483744" r:id="rId43"/>
    <p:sldLayoutId id="2147483745" r:id="rId44"/>
    <p:sldLayoutId id="2147483747" r:id="rId45"/>
    <p:sldLayoutId id="2147483729" r:id="rId46"/>
    <p:sldLayoutId id="2147483686" r:id="rId47"/>
    <p:sldLayoutId id="2147483711" r:id="rId48"/>
    <p:sldLayoutId id="2147483739" r:id="rId49"/>
    <p:sldLayoutId id="2147483688" r:id="rId50"/>
    <p:sldLayoutId id="2147483740" r:id="rId51"/>
    <p:sldLayoutId id="2147483694" r:id="rId52"/>
    <p:sldLayoutId id="2147483687" r:id="rId53"/>
    <p:sldLayoutId id="2147483746" r:id="rId54"/>
    <p:sldLayoutId id="2147483701" r:id="rId55"/>
    <p:sldLayoutId id="2147483702" r:id="rId56"/>
    <p:sldLayoutId id="2147483703" r:id="rId57"/>
    <p:sldLayoutId id="2147483704" r:id="rId58"/>
    <p:sldLayoutId id="2147483753" r:id="rId59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just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─"/>
        <a:defRPr sz="2800">
          <a:solidFill>
            <a:srgbClr val="0066FF"/>
          </a:solidFill>
          <a:latin typeface="+mn-lt"/>
          <a:ea typeface="+mn-ea"/>
          <a:cs typeface="+mn-cs"/>
        </a:defRPr>
      </a:lvl1pPr>
      <a:lvl2pPr marL="742950" indent="-285750" algn="just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+"/>
        <a:defRPr sz="2800">
          <a:solidFill>
            <a:srgbClr val="0066FF"/>
          </a:solidFill>
          <a:latin typeface="+mn-lt"/>
        </a:defRPr>
      </a:lvl2pPr>
      <a:lvl3pPr marL="1143000" indent="-228600" algn="just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rgbClr val="0066FF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hyperlink" Target="https://www.superdatascience.com/pages/machine-learning" TargetMode="Externa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E3612-16D3-622A-7FFF-F636EC5E52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solidFill>
                  <a:srgbClr val="0066FF"/>
                </a:solidFill>
              </a:rPr>
              <a:t>THỰC HÀNH</a:t>
            </a:r>
            <a:br>
              <a:rPr lang="en-US"/>
            </a:br>
            <a:r>
              <a:rPr lang="en-US"/>
              <a:t>HỒI QUI TUYẾN TÍNH Đ</a:t>
            </a:r>
            <a:r>
              <a:rPr lang="vi-VN"/>
              <a:t>Ơ</a:t>
            </a:r>
            <a:r>
              <a:rPr lang="en-US"/>
              <a:t>N BIẾN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9D9C513-AD71-9FA8-DCD3-EF6738328A0A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KS. Quan Chí Khánh An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KS. Lê Ngọc Huy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CN. Bùi Cao Doanh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CN. Nguyễn Trọng Thuận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KS. Phan Vĩnh Long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KS. Nguyễn Cường Phát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ThS. Nguyễn Hoàng Ngân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KS. Hồ Thái Ngọc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ThS. Đỗ Văn Tiến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46475D-F6A4-3080-6B47-C6E6C22C81F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/>
              <a:t>Nguyễn Hoàng Yến Như</a:t>
            </a:r>
          </a:p>
          <a:p>
            <a:r>
              <a:rPr lang="en-US">
                <a:solidFill>
                  <a:srgbClr val="FF0000"/>
                </a:solidFill>
              </a:rPr>
              <a:t>Nguyễn Trần Phúc Nghi</a:t>
            </a:r>
          </a:p>
          <a:p>
            <a:r>
              <a:rPr lang="en-US"/>
              <a:t>Nguyễn Trần Phúc An</a:t>
            </a:r>
          </a:p>
          <a:p>
            <a:r>
              <a:rPr lang="en-US">
                <a:solidFill>
                  <a:srgbClr val="FF0000"/>
                </a:solidFill>
              </a:rPr>
              <a:t>Nguyễn Đức Anh Phúc</a:t>
            </a:r>
          </a:p>
          <a:p>
            <a:r>
              <a:rPr lang="en-US"/>
              <a:t>Trịnh Thị Thanh Trúc</a:t>
            </a:r>
          </a:p>
          <a:p>
            <a:r>
              <a:rPr lang="en-US"/>
              <a:t>KS. Cao Bá Kiệt</a:t>
            </a:r>
          </a:p>
          <a:p>
            <a:endParaRPr lang="en-US">
              <a:solidFill>
                <a:srgbClr val="FF0000"/>
              </a:solidFill>
            </a:endParaRP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D686E-4114-4A0E-1FEE-7584196A67B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/>
              <a:t>ThS. Nguyễn Hoàn Mỹ</a:t>
            </a:r>
          </a:p>
          <a:p>
            <a:r>
              <a:rPr lang="en-US">
                <a:solidFill>
                  <a:srgbClr val="FF0000"/>
                </a:solidFill>
              </a:rPr>
              <a:t>ThS. Dương Phi Long</a:t>
            </a:r>
          </a:p>
          <a:p>
            <a:r>
              <a:rPr lang="en-US"/>
              <a:t>ThS. Trương Quốc Dũng </a:t>
            </a:r>
          </a:p>
          <a:p>
            <a:r>
              <a:rPr lang="en-US">
                <a:solidFill>
                  <a:srgbClr val="FF0000"/>
                </a:solidFill>
              </a:rPr>
              <a:t>ThS. Nguyễn Thành Hiệp</a:t>
            </a:r>
          </a:p>
          <a:p>
            <a:r>
              <a:rPr lang="en-US"/>
              <a:t>ThS. Nguyễn Võ Đăng Khoa</a:t>
            </a:r>
          </a:p>
          <a:p>
            <a:r>
              <a:rPr lang="en-US">
                <a:solidFill>
                  <a:srgbClr val="FF0000"/>
                </a:solidFill>
              </a:rPr>
              <a:t>ThS. Võ Duy Nguyên</a:t>
            </a:r>
          </a:p>
          <a:p>
            <a:r>
              <a:rPr lang="en-US"/>
              <a:t>TS. Nguyễn Văn Tâm</a:t>
            </a:r>
          </a:p>
          <a:p>
            <a:r>
              <a:rPr lang="en-US">
                <a:solidFill>
                  <a:srgbClr val="FF0000"/>
                </a:solidFill>
              </a:rPr>
              <a:t>ThS. Trần Việt Thu Phương</a:t>
            </a:r>
          </a:p>
          <a:p>
            <a:r>
              <a:rPr lang="en-US"/>
              <a:t>TS. Nguyễn Tấn Trần Minh Khang</a:t>
            </a:r>
            <a:endParaRPr lang="en-US" sz="700"/>
          </a:p>
        </p:txBody>
      </p:sp>
    </p:spTree>
    <p:extLst>
      <p:ext uri="{BB962C8B-B14F-4D97-AF65-F5344CB8AC3E}">
        <p14:creationId xmlns:p14="http://schemas.microsoft.com/office/powerpoint/2010/main" val="421134044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153F291-37A6-4FAA-B800-C65880925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Tập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– </a:t>
            </a:r>
            <a:r>
              <a:rPr lang="vi-VN" dirty="0" err="1"/>
              <a:t>Dataset</a:t>
            </a:r>
            <a:endParaRPr lang="vi-V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BDACDB-C6D8-4923-855E-BCBB1ADB8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2644891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9740DDC-20E6-4802-96BD-D304351F1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Tập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– </a:t>
            </a:r>
            <a:r>
              <a:rPr lang="vi-VN" dirty="0" err="1"/>
              <a:t>Dataset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AEB34750-1015-4488-A36B-0784928403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en-US" sz="2800">
                    <a:solidFill>
                      <a:srgbClr val="0066FF"/>
                    </a:solidFill>
                  </a:rPr>
                  <a:t>Tên tập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en-US" sz="2800" dirty="0">
                    <a:solidFill>
                      <a:srgbClr val="0066FF"/>
                    </a:solidFill>
                  </a:rPr>
                  <a:t>: Salary Data.</a:t>
                </a:r>
              </a:p>
              <a:p>
                <a:pPr algn="just"/>
                <a:r>
                  <a:rPr lang="en-US" sz="2800" dirty="0">
                    <a:solidFill>
                      <a:srgbClr val="FF0000"/>
                    </a:solidFill>
                  </a:rPr>
                  <a:t>Ng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uồn</a:t>
                </a:r>
                <a:r>
                  <a:rPr lang="vi-VN" sz="2800" dirty="0">
                    <a:solidFill>
                      <a:srgbClr val="FF0000"/>
                    </a:solidFill>
                  </a:rPr>
                  <a:t>: </a:t>
                </a:r>
                <a:r>
                  <a:rPr lang="vi-VN" sz="2800" dirty="0">
                    <a:solidFill>
                      <a:srgbClr val="008000"/>
                    </a:solidFill>
                    <a:hlinkClick r:id="rId2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https://www.superdatascience.com/pages/machine-learning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Tập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gồm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algn="just"/>
                <a:r>
                  <a:rPr lang="vi-VN" sz="2800" dirty="0" err="1">
                    <a:solidFill>
                      <a:srgbClr val="FF0000"/>
                    </a:solidFill>
                  </a:rPr>
                  <a:t>Mỗi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hai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thuộc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tính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:</a:t>
                </a:r>
              </a:p>
              <a:p>
                <a:pPr lvl="1" algn="just"/>
                <a:r>
                  <a:rPr lang="vi-VN" sz="2800" dirty="0" err="1">
                    <a:solidFill>
                      <a:srgbClr val="0066FF"/>
                    </a:solidFill>
                  </a:rPr>
                  <a:t>Số</a:t>
                </a:r>
                <a:r>
                  <a:rPr lang="vi-VN" sz="2800" dirty="0">
                    <a:solidFill>
                      <a:srgbClr val="0066FF"/>
                    </a:solidFill>
                  </a:rPr>
                  <a:t> năm kinh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nghiệm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(năm).</a:t>
                </a:r>
              </a:p>
              <a:p>
                <a:pPr lvl="1" algn="just"/>
                <a:r>
                  <a:rPr lang="vi-VN" sz="2800" dirty="0" err="1">
                    <a:solidFill>
                      <a:srgbClr val="FF0000"/>
                    </a:solidFill>
                  </a:rPr>
                  <a:t>Mức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lương (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dollar</a:t>
                </a:r>
                <a:r>
                  <a:rPr lang="en-US" sz="2800" dirty="0">
                    <a:solidFill>
                      <a:srgbClr val="FF0000"/>
                    </a:solidFill>
                  </a:rPr>
                  <a:t>s</a:t>
                </a:r>
                <a:r>
                  <a:rPr lang="vi-VN" sz="2800" dirty="0">
                    <a:solidFill>
                      <a:srgbClr val="FF0000"/>
                    </a:solidFill>
                  </a:rPr>
                  <a:t>/năm).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AEB34750-1015-4488-A36B-0784928403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00" t="-1482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399339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9740DDC-20E6-4802-96BD-D304351F1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Tập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– </a:t>
            </a:r>
            <a:r>
              <a:rPr lang="vi-VN" dirty="0" err="1"/>
              <a:t>Dataset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AEB34750-1015-4488-A36B-0784928403C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Tập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gồm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algn="just"/>
                <a:r>
                  <a:rPr lang="vi-VN" sz="2800" dirty="0" err="1">
                    <a:solidFill>
                      <a:srgbClr val="FF0000"/>
                    </a:solidFill>
                  </a:rPr>
                  <a:t>Mỗi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hai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thuộc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tính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:</a:t>
                </a:r>
              </a:p>
              <a:p>
                <a:pPr lvl="1" algn="just"/>
                <a:r>
                  <a:rPr lang="vi-VN" sz="2800" dirty="0" err="1">
                    <a:solidFill>
                      <a:srgbClr val="0066FF"/>
                    </a:solidFill>
                  </a:rPr>
                  <a:t>Số</a:t>
                </a:r>
                <a:r>
                  <a:rPr lang="vi-VN" sz="2800" dirty="0">
                    <a:solidFill>
                      <a:srgbClr val="0066FF"/>
                    </a:solidFill>
                  </a:rPr>
                  <a:t> năm kinh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nghiệm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(năm).</a:t>
                </a:r>
              </a:p>
              <a:p>
                <a:pPr lvl="1" algn="just"/>
                <a:r>
                  <a:rPr lang="vi-VN" sz="2800" dirty="0" err="1">
                    <a:solidFill>
                      <a:srgbClr val="FF0000"/>
                    </a:solidFill>
                  </a:rPr>
                  <a:t>Mức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lương (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dollar</a:t>
                </a:r>
                <a:r>
                  <a:rPr lang="en-US" sz="2800" dirty="0">
                    <a:solidFill>
                      <a:srgbClr val="FF0000"/>
                    </a:solidFill>
                  </a:rPr>
                  <a:t>s</a:t>
                </a:r>
                <a:r>
                  <a:rPr lang="vi-VN" sz="2800" dirty="0">
                    <a:solidFill>
                      <a:srgbClr val="FF0000"/>
                    </a:solidFill>
                  </a:rPr>
                  <a:t>/năm).</a:t>
                </a:r>
                <a:endParaRPr lang="en-US" sz="2800">
                  <a:solidFill>
                    <a:srgbClr val="0066FF"/>
                  </a:solidFill>
                </a:endParaRPr>
              </a:p>
              <a:p>
                <a:pPr algn="just"/>
                <a:r>
                  <a:rPr lang="vi-VN" sz="280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Mỗi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điểm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dữ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liệu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mô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tả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mức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lương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của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một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người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khi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biết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số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năm kinh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nghiệm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của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họ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.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AEB34750-1015-4488-A36B-0784928403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039" t="-1482" r="-4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7">
                <a:extLst>
                  <a:ext uri="{FF2B5EF4-FFF2-40B4-BE49-F238E27FC236}">
                    <a16:creationId xmlns:a16="http://schemas.microsoft.com/office/drawing/2014/main" id="{10A5864B-AD7C-9913-BE77-DBD31C900D9A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</p:nvPr>
            </p:nvGraphicFramePr>
            <p:xfrm>
              <a:off x="6197600" y="1600200"/>
              <a:ext cx="5754222" cy="43434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952818">
                      <a:extLst>
                        <a:ext uri="{9D8B030D-6E8A-4147-A177-3AD203B41FA5}">
                          <a16:colId xmlns:a16="http://schemas.microsoft.com/office/drawing/2014/main" val="3545908674"/>
                        </a:ext>
                      </a:extLst>
                    </a:gridCol>
                    <a:gridCol w="3031871">
                      <a:extLst>
                        <a:ext uri="{9D8B030D-6E8A-4147-A177-3AD203B41FA5}">
                          <a16:colId xmlns:a16="http://schemas.microsoft.com/office/drawing/2014/main" val="1970252747"/>
                        </a:ext>
                      </a:extLst>
                    </a:gridCol>
                    <a:gridCol w="1769533">
                      <a:extLst>
                        <a:ext uri="{9D8B030D-6E8A-4147-A177-3AD203B41FA5}">
                          <a16:colId xmlns:a16="http://schemas.microsoft.com/office/drawing/2014/main" val="1541393048"/>
                        </a:ext>
                      </a:extLst>
                    </a:gridCol>
                  </a:tblGrid>
                  <a:tr h="5429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STT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Year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Experience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Salary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15318080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1.1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39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343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36905326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1.3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46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205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5714470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1.5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37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731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5306893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43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525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7244157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2.2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39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891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7353352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2.9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56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642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89173775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150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629501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7">
                <a:extLst>
                  <a:ext uri="{FF2B5EF4-FFF2-40B4-BE49-F238E27FC236}">
                    <a16:creationId xmlns:a16="http://schemas.microsoft.com/office/drawing/2014/main" id="{10A5864B-AD7C-9913-BE77-DBD31C900D9A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</p:nvPr>
            </p:nvGraphicFramePr>
            <p:xfrm>
              <a:off x="6197600" y="1600200"/>
              <a:ext cx="5754222" cy="43434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952818">
                      <a:extLst>
                        <a:ext uri="{9D8B030D-6E8A-4147-A177-3AD203B41FA5}">
                          <a16:colId xmlns:a16="http://schemas.microsoft.com/office/drawing/2014/main" val="3545908674"/>
                        </a:ext>
                      </a:extLst>
                    </a:gridCol>
                    <a:gridCol w="3031871">
                      <a:extLst>
                        <a:ext uri="{9D8B030D-6E8A-4147-A177-3AD203B41FA5}">
                          <a16:colId xmlns:a16="http://schemas.microsoft.com/office/drawing/2014/main" val="1970252747"/>
                        </a:ext>
                      </a:extLst>
                    </a:gridCol>
                    <a:gridCol w="1769533">
                      <a:extLst>
                        <a:ext uri="{9D8B030D-6E8A-4147-A177-3AD203B41FA5}">
                          <a16:colId xmlns:a16="http://schemas.microsoft.com/office/drawing/2014/main" val="1541393048"/>
                        </a:ext>
                      </a:extLst>
                    </a:gridCol>
                  </a:tblGrid>
                  <a:tr h="5429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STT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Year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Experience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Salary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15318080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41" t="-108989" r="-508333" b="-6044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526" t="-108989" r="-59237" b="-6044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5086" t="-108989" r="-1375" b="-6044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6905326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41" t="-208989" r="-508333" b="-5044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526" t="-208989" r="-59237" b="-5044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5086" t="-208989" r="-1375" b="-5044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5714470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41" t="-305556" r="-508333" b="-39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526" t="-305556" r="-59237" b="-39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5086" t="-305556" r="-1375" b="-398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306893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41" t="-410112" r="-508333" b="-3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526" t="-410112" r="-59237" b="-3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5086" t="-410112" r="-1375" b="-3033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7244157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41" t="-510112" r="-508333" b="-2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526" t="-510112" r="-59237" b="-2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5086" t="-510112" r="-1375" b="-2033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7353352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41" t="-610112" r="-508333" b="-1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526" t="-610112" r="-59237" b="-1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5086" t="-610112" r="-1375" b="-1033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9173775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41" t="-710112" r="-508333" b="-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526" t="-710112" r="-59237" b="-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5086" t="-710112" r="-1375" b="-33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295018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0219809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9740DDC-20E6-4802-96BD-D304351F1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Tập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– </a:t>
            </a:r>
            <a:r>
              <a:rPr lang="vi-VN" dirty="0" err="1"/>
              <a:t>Dataset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7">
                <a:extLst>
                  <a:ext uri="{FF2B5EF4-FFF2-40B4-BE49-F238E27FC236}">
                    <a16:creationId xmlns:a16="http://schemas.microsoft.com/office/drawing/2014/main" id="{5DA045E9-F133-0951-B474-615609F5CBE8}"/>
                  </a:ext>
                </a:extLst>
              </p:cNvPr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2160272676"/>
                  </p:ext>
                </p:extLst>
              </p:nvPr>
            </p:nvGraphicFramePr>
            <p:xfrm>
              <a:off x="609600" y="1600200"/>
              <a:ext cx="4953000" cy="43434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952818">
                      <a:extLst>
                        <a:ext uri="{9D8B030D-6E8A-4147-A177-3AD203B41FA5}">
                          <a16:colId xmlns:a16="http://schemas.microsoft.com/office/drawing/2014/main" val="3545908674"/>
                        </a:ext>
                      </a:extLst>
                    </a:gridCol>
                    <a:gridCol w="1942782">
                      <a:extLst>
                        <a:ext uri="{9D8B030D-6E8A-4147-A177-3AD203B41FA5}">
                          <a16:colId xmlns:a16="http://schemas.microsoft.com/office/drawing/2014/main" val="1970252747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1541393048"/>
                        </a:ext>
                      </a:extLst>
                    </a:gridCol>
                  </a:tblGrid>
                  <a:tr h="5429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/>
                            <a:t>STT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/>
                            <a:t>YE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/>
                            <a:t>Salary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15318080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1.1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39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343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36905326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1.3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46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205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5714470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1.5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37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731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306893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43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525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7244157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2.2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39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891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67353352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2.9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56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642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89173775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150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629501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7">
                <a:extLst>
                  <a:ext uri="{FF2B5EF4-FFF2-40B4-BE49-F238E27FC236}">
                    <a16:creationId xmlns:a16="http://schemas.microsoft.com/office/drawing/2014/main" id="{5DA045E9-F133-0951-B474-615609F5CBE8}"/>
                  </a:ext>
                </a:extLst>
              </p:cNvPr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2160272676"/>
                  </p:ext>
                </p:extLst>
              </p:nvPr>
            </p:nvGraphicFramePr>
            <p:xfrm>
              <a:off x="609600" y="1600200"/>
              <a:ext cx="4953000" cy="43434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952818">
                      <a:extLst>
                        <a:ext uri="{9D8B030D-6E8A-4147-A177-3AD203B41FA5}">
                          <a16:colId xmlns:a16="http://schemas.microsoft.com/office/drawing/2014/main" val="3545908674"/>
                        </a:ext>
                      </a:extLst>
                    </a:gridCol>
                    <a:gridCol w="1942782">
                      <a:extLst>
                        <a:ext uri="{9D8B030D-6E8A-4147-A177-3AD203B41FA5}">
                          <a16:colId xmlns:a16="http://schemas.microsoft.com/office/drawing/2014/main" val="1970252747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1541393048"/>
                        </a:ext>
                      </a:extLst>
                    </a:gridCol>
                  </a:tblGrid>
                  <a:tr h="5429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/>
                            <a:t>STT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/>
                            <a:t>YE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/>
                            <a:t>Salary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15318080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82" t="-108989" r="-423718" b="-6044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530" t="-108989" r="-107210" b="-6044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1124" t="-108989" r="-1183" b="-6044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6905326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82" t="-208989" r="-423718" b="-5044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530" t="-208989" r="-107210" b="-5044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1124" t="-208989" r="-1183" b="-5044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5714470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82" t="-305556" r="-423718" b="-39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530" t="-305556" r="-107210" b="-39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1124" t="-305556" r="-1183" b="-398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306893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82" t="-410112" r="-423718" b="-3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530" t="-410112" r="-107210" b="-3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1124" t="-410112" r="-1183" b="-3033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7244157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82" t="-510112" r="-423718" b="-2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530" t="-510112" r="-107210" b="-2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1124" t="-510112" r="-1183" b="-2033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7353352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82" t="-610112" r="-423718" b="-1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530" t="-610112" r="-107210" b="-1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1124" t="-610112" r="-1183" b="-1033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9173775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82" t="-710112" r="-423718" b="-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530" t="-710112" r="-107210" b="-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1124" t="-710112" r="-1183" b="-33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295018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Content Placeholder 7">
                <a:extLst>
                  <a:ext uri="{FF2B5EF4-FFF2-40B4-BE49-F238E27FC236}">
                    <a16:creationId xmlns:a16="http://schemas.microsoft.com/office/drawing/2014/main" id="{54E2D59D-8F71-FE60-EAB0-429BAC06552E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</p:nvPr>
            </p:nvGraphicFramePr>
            <p:xfrm>
              <a:off x="6197600" y="1600200"/>
              <a:ext cx="4953000" cy="43434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952818">
                      <a:extLst>
                        <a:ext uri="{9D8B030D-6E8A-4147-A177-3AD203B41FA5}">
                          <a16:colId xmlns:a16="http://schemas.microsoft.com/office/drawing/2014/main" val="3545908674"/>
                        </a:ext>
                      </a:extLst>
                    </a:gridCol>
                    <a:gridCol w="1942782">
                      <a:extLst>
                        <a:ext uri="{9D8B030D-6E8A-4147-A177-3AD203B41FA5}">
                          <a16:colId xmlns:a16="http://schemas.microsoft.com/office/drawing/2014/main" val="1970252747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1541393048"/>
                        </a:ext>
                      </a:extLst>
                    </a:gridCol>
                  </a:tblGrid>
                  <a:tr h="5429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STT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YE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Salary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15318080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3.2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54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445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36905326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3.2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64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445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5714470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3.7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57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189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5306893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3.9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63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218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7244157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55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794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67353352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56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957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89173775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14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4.1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57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081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629501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Content Placeholder 7">
                <a:extLst>
                  <a:ext uri="{FF2B5EF4-FFF2-40B4-BE49-F238E27FC236}">
                    <a16:creationId xmlns:a16="http://schemas.microsoft.com/office/drawing/2014/main" id="{54E2D59D-8F71-FE60-EAB0-429BAC06552E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</p:nvPr>
            </p:nvGraphicFramePr>
            <p:xfrm>
              <a:off x="6197600" y="1600200"/>
              <a:ext cx="4953000" cy="43434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952818">
                      <a:extLst>
                        <a:ext uri="{9D8B030D-6E8A-4147-A177-3AD203B41FA5}">
                          <a16:colId xmlns:a16="http://schemas.microsoft.com/office/drawing/2014/main" val="3545908674"/>
                        </a:ext>
                      </a:extLst>
                    </a:gridCol>
                    <a:gridCol w="1942782">
                      <a:extLst>
                        <a:ext uri="{9D8B030D-6E8A-4147-A177-3AD203B41FA5}">
                          <a16:colId xmlns:a16="http://schemas.microsoft.com/office/drawing/2014/main" val="1970252747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1541393048"/>
                        </a:ext>
                      </a:extLst>
                    </a:gridCol>
                  </a:tblGrid>
                  <a:tr h="5429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STT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YE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Salary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15318080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7" t="-108989" r="-421019" b="-6044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530" t="-108989" r="-107210" b="-6044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1124" t="-108989" r="-1183" b="-6044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6905326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7" t="-208989" r="-421019" b="-5044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530" t="-208989" r="-107210" b="-5044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1124" t="-208989" r="-1183" b="-5044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5714470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7" t="-305556" r="-421019" b="-39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530" t="-305556" r="-107210" b="-39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1124" t="-305556" r="-1183" b="-398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306893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7" t="-410112" r="-421019" b="-3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530" t="-410112" r="-107210" b="-3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1124" t="-410112" r="-1183" b="-3033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7244157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7" t="-510112" r="-421019" b="-2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530" t="-510112" r="-107210" b="-2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1124" t="-510112" r="-1183" b="-2033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7353352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7" t="-610112" r="-421019" b="-1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530" t="-610112" r="-107210" b="-1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1124" t="-610112" r="-1183" b="-1033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9173775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7" t="-710112" r="-421019" b="-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530" t="-710112" r="-107210" b="-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1124" t="-710112" r="-1183" b="-33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295018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3092423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9740DDC-20E6-4802-96BD-D304351F1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Tập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– </a:t>
            </a:r>
            <a:r>
              <a:rPr lang="vi-VN" dirty="0" err="1"/>
              <a:t>Dataset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7">
                <a:extLst>
                  <a:ext uri="{FF2B5EF4-FFF2-40B4-BE49-F238E27FC236}">
                    <a16:creationId xmlns:a16="http://schemas.microsoft.com/office/drawing/2014/main" id="{972F6D78-8342-C9A5-FA5E-9E984FDA0356}"/>
                  </a:ext>
                </a:extLst>
              </p:cNvPr>
              <p:cNvGraphicFramePr>
                <a:graphicFrameLocks noGrp="1"/>
              </p:cNvGraphicFramePr>
              <p:nvPr>
                <p:ph sz="half" idx="1"/>
              </p:nvPr>
            </p:nvGraphicFramePr>
            <p:xfrm>
              <a:off x="609600" y="1600200"/>
              <a:ext cx="4953000" cy="4886325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952818">
                      <a:extLst>
                        <a:ext uri="{9D8B030D-6E8A-4147-A177-3AD203B41FA5}">
                          <a16:colId xmlns:a16="http://schemas.microsoft.com/office/drawing/2014/main" val="3545908674"/>
                        </a:ext>
                      </a:extLst>
                    </a:gridCol>
                    <a:gridCol w="1942782">
                      <a:extLst>
                        <a:ext uri="{9D8B030D-6E8A-4147-A177-3AD203B41FA5}">
                          <a16:colId xmlns:a16="http://schemas.microsoft.com/office/drawing/2014/main" val="1970252747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1541393048"/>
                        </a:ext>
                      </a:extLst>
                    </a:gridCol>
                  </a:tblGrid>
                  <a:tr h="5429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STT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YE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Salary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15318080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4.5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61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111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36905326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4.9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67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938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5714470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5.1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66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029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5306893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5.3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83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088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7244157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19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5.9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81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363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67353352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93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940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89173775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6.8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91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738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62950183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7.1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98</m:t>
                                </m:r>
                                <m:r>
                                  <a:rPr lang="en-US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273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05189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7">
                <a:extLst>
                  <a:ext uri="{FF2B5EF4-FFF2-40B4-BE49-F238E27FC236}">
                    <a16:creationId xmlns:a16="http://schemas.microsoft.com/office/drawing/2014/main" id="{972F6D78-8342-C9A5-FA5E-9E984FDA0356}"/>
                  </a:ext>
                </a:extLst>
              </p:cNvPr>
              <p:cNvGraphicFramePr>
                <a:graphicFrameLocks noGrp="1"/>
              </p:cNvGraphicFramePr>
              <p:nvPr>
                <p:ph sz="half" idx="1"/>
              </p:nvPr>
            </p:nvGraphicFramePr>
            <p:xfrm>
              <a:off x="609600" y="1600200"/>
              <a:ext cx="4953000" cy="4886325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952818">
                      <a:extLst>
                        <a:ext uri="{9D8B030D-6E8A-4147-A177-3AD203B41FA5}">
                          <a16:colId xmlns:a16="http://schemas.microsoft.com/office/drawing/2014/main" val="3545908674"/>
                        </a:ext>
                      </a:extLst>
                    </a:gridCol>
                    <a:gridCol w="1942782">
                      <a:extLst>
                        <a:ext uri="{9D8B030D-6E8A-4147-A177-3AD203B41FA5}">
                          <a16:colId xmlns:a16="http://schemas.microsoft.com/office/drawing/2014/main" val="1970252747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1541393048"/>
                        </a:ext>
                      </a:extLst>
                    </a:gridCol>
                  </a:tblGrid>
                  <a:tr h="5429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STT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YE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Salary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15318080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82" t="-108989" r="-423718" b="-7044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530" t="-108989" r="-107210" b="-7044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1124" t="-108989" r="-1183" b="-7044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6905326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82" t="-206667" r="-423718" b="-59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530" t="-206667" r="-107210" b="-59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1124" t="-206667" r="-1183" b="-59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5714470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82" t="-310112" r="-423718" b="-5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530" t="-310112" r="-107210" b="-5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1124" t="-310112" r="-1183" b="-5033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306893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82" t="-410112" r="-423718" b="-4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530" t="-410112" r="-107210" b="-4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1124" t="-410112" r="-1183" b="-4033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7244157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82" t="-510112" r="-423718" b="-3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530" t="-510112" r="-107210" b="-3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1124" t="-510112" r="-1183" b="-3033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7353352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82" t="-603333" r="-423718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530" t="-603333" r="-10721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1124" t="-603333" r="-1183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9173775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82" t="-711236" r="-423718" b="-10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530" t="-711236" r="-107210" b="-10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1124" t="-711236" r="-1183" b="-1022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2950183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82" t="-811236" r="-423718" b="-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530" t="-811236" r="-107210" b="-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1124" t="-811236" r="-1183" b="-22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051896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Content Placeholder 7">
                <a:extLst>
                  <a:ext uri="{FF2B5EF4-FFF2-40B4-BE49-F238E27FC236}">
                    <a16:creationId xmlns:a16="http://schemas.microsoft.com/office/drawing/2014/main" id="{A8D82A44-5CAF-6D8B-8D26-AED3F827F94F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</p:nvPr>
            </p:nvGraphicFramePr>
            <p:xfrm>
              <a:off x="6197600" y="1600200"/>
              <a:ext cx="4953000" cy="4886325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952818">
                      <a:extLst>
                        <a:ext uri="{9D8B030D-6E8A-4147-A177-3AD203B41FA5}">
                          <a16:colId xmlns:a16="http://schemas.microsoft.com/office/drawing/2014/main" val="3545908674"/>
                        </a:ext>
                      </a:extLst>
                    </a:gridCol>
                    <a:gridCol w="1942782">
                      <a:extLst>
                        <a:ext uri="{9D8B030D-6E8A-4147-A177-3AD203B41FA5}">
                          <a16:colId xmlns:a16="http://schemas.microsoft.com/office/drawing/2014/main" val="1970252747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1541393048"/>
                        </a:ext>
                      </a:extLst>
                    </a:gridCol>
                  </a:tblGrid>
                  <a:tr h="5429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STT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YE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Salary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15318080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23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0" i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7.9</a:t>
                          </a:r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101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302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36905326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8.2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113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812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5714470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8.7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109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431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5306893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26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105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582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7244157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27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9.5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116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969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67353352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28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9.6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112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635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89173775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29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10.3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122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391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2950183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10.5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121</m:t>
                                </m:r>
                                <m:r>
                                  <a:rPr lang="en-US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872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236583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Content Placeholder 7">
                <a:extLst>
                  <a:ext uri="{FF2B5EF4-FFF2-40B4-BE49-F238E27FC236}">
                    <a16:creationId xmlns:a16="http://schemas.microsoft.com/office/drawing/2014/main" id="{A8D82A44-5CAF-6D8B-8D26-AED3F827F94F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</p:nvPr>
            </p:nvGraphicFramePr>
            <p:xfrm>
              <a:off x="6197600" y="1600200"/>
              <a:ext cx="4953000" cy="4886325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952818">
                      <a:extLst>
                        <a:ext uri="{9D8B030D-6E8A-4147-A177-3AD203B41FA5}">
                          <a16:colId xmlns:a16="http://schemas.microsoft.com/office/drawing/2014/main" val="3545908674"/>
                        </a:ext>
                      </a:extLst>
                    </a:gridCol>
                    <a:gridCol w="1942782">
                      <a:extLst>
                        <a:ext uri="{9D8B030D-6E8A-4147-A177-3AD203B41FA5}">
                          <a16:colId xmlns:a16="http://schemas.microsoft.com/office/drawing/2014/main" val="1970252747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1541393048"/>
                        </a:ext>
                      </a:extLst>
                    </a:gridCol>
                  </a:tblGrid>
                  <a:tr h="5429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STT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YE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Salary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15318080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7" t="-108989" r="-421019" b="-7044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0" i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7.9</a:t>
                          </a:r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1124" t="-108989" r="-1183" b="-7044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6905326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7" t="-206667" r="-421019" b="-59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530" t="-206667" r="-107210" b="-59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1124" t="-206667" r="-1183" b="-59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5714470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7" t="-310112" r="-421019" b="-5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530" t="-310112" r="-107210" b="-5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1124" t="-310112" r="-1183" b="-5033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306893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7" t="-410112" r="-421019" b="-4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530" t="-410112" r="-107210" b="-4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1124" t="-410112" r="-1183" b="-4033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7244157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7" t="-510112" r="-421019" b="-3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530" t="-510112" r="-107210" b="-3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1124" t="-510112" r="-1183" b="-3033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7353352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7" t="-603333" r="-42101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530" t="-603333" r="-10721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1124" t="-603333" r="-1183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9173775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7" t="-711236" r="-421019" b="-10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530" t="-711236" r="-107210" b="-10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1124" t="-711236" r="-1183" b="-1022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2950183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7" t="-811236" r="-421019" b="-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530" t="-811236" r="-107210" b="-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1124" t="-811236" r="-1183" b="-22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2365833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1843185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9740DDC-20E6-4802-96BD-D304351F1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Tập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– </a:t>
            </a:r>
            <a:r>
              <a:rPr lang="vi-VN" dirty="0" err="1"/>
              <a:t>Dataset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35548CB-6591-4093-BFA9-A7555ACF96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4400" dirty="0" err="1">
                    <a:solidFill>
                      <a:srgbClr val="0066FF"/>
                    </a:solidFill>
                  </a:rPr>
                  <a:t>Bài</a:t>
                </a:r>
                <a:r>
                  <a:rPr lang="vi-VN" sz="4400" dirty="0">
                    <a:solidFill>
                      <a:srgbClr val="0066FF"/>
                    </a:solidFill>
                  </a:rPr>
                  <a:t> </a:t>
                </a:r>
                <a:r>
                  <a:rPr lang="vi-VN" sz="4400" dirty="0" err="1">
                    <a:solidFill>
                      <a:srgbClr val="0066FF"/>
                    </a:solidFill>
                  </a:rPr>
                  <a:t>toán</a:t>
                </a:r>
                <a:r>
                  <a:rPr lang="vi-VN" sz="4400" dirty="0">
                    <a:solidFill>
                      <a:srgbClr val="0066FF"/>
                    </a:solidFill>
                  </a:rPr>
                  <a:t> </a:t>
                </a:r>
                <a:r>
                  <a:rPr lang="vi-VN" sz="4400" dirty="0" err="1">
                    <a:solidFill>
                      <a:srgbClr val="0066FF"/>
                    </a:solidFill>
                  </a:rPr>
                  <a:t>đặt</a:t>
                </a:r>
                <a:r>
                  <a:rPr lang="vi-VN" sz="4400" dirty="0">
                    <a:solidFill>
                      <a:srgbClr val="0066FF"/>
                    </a:solidFill>
                  </a:rPr>
                  <a:t> ra </a:t>
                </a:r>
                <a:r>
                  <a:rPr lang="vi-VN" sz="44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4400" dirty="0">
                    <a:solidFill>
                      <a:srgbClr val="0066FF"/>
                    </a:solidFill>
                  </a:rPr>
                  <a:t> </a:t>
                </a:r>
                <a:r>
                  <a:rPr lang="vi-VN" sz="4400" dirty="0" err="1">
                    <a:solidFill>
                      <a:srgbClr val="0066FF"/>
                    </a:solidFill>
                  </a:rPr>
                  <a:t>dựa</a:t>
                </a:r>
                <a:r>
                  <a:rPr lang="vi-VN" sz="4400" dirty="0">
                    <a:solidFill>
                      <a:srgbClr val="0066FF"/>
                    </a:solidFill>
                  </a:rPr>
                  <a:t> trên </a:t>
                </a:r>
                <a:r>
                  <a:rPr lang="vi-VN" sz="4400" dirty="0" err="1">
                    <a:solidFill>
                      <a:srgbClr val="0066FF"/>
                    </a:solidFill>
                  </a:rPr>
                  <a:t>tập</a:t>
                </a:r>
                <a:r>
                  <a:rPr lang="vi-VN" sz="44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US" sz="4400" dirty="0">
                    <a:solidFill>
                      <a:srgbClr val="0066FF"/>
                    </a:solidFill>
                  </a:rPr>
                  <a:t> </a:t>
                </a:r>
                <a:r>
                  <a:rPr lang="vi-VN" sz="44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4400" dirty="0">
                    <a:solidFill>
                      <a:srgbClr val="0066FF"/>
                    </a:solidFill>
                  </a:rPr>
                  <a:t> </a:t>
                </a:r>
                <a:r>
                  <a:rPr lang="vi-VN" sz="44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4400" dirty="0">
                    <a:solidFill>
                      <a:srgbClr val="0066FF"/>
                    </a:solidFill>
                  </a:rPr>
                  <a:t> </a:t>
                </a:r>
                <a:r>
                  <a:rPr lang="vi-VN" sz="44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4400" dirty="0">
                    <a:solidFill>
                      <a:srgbClr val="0066FF"/>
                    </a:solidFill>
                  </a:rPr>
                  <a:t> </a:t>
                </a:r>
                <a:r>
                  <a:rPr lang="vi-VN" sz="4400" dirty="0" err="1">
                    <a:solidFill>
                      <a:srgbClr val="0066FF"/>
                    </a:solidFill>
                  </a:rPr>
                  <a:t>đã</a:t>
                </a:r>
                <a:r>
                  <a:rPr lang="vi-VN" sz="4400" dirty="0">
                    <a:solidFill>
                      <a:srgbClr val="0066FF"/>
                    </a:solidFill>
                  </a:rPr>
                  <a:t> cho, </a:t>
                </a:r>
                <a:r>
                  <a:rPr lang="vi-VN" sz="4400" dirty="0" err="1">
                    <a:solidFill>
                      <a:srgbClr val="0066FF"/>
                    </a:solidFill>
                  </a:rPr>
                  <a:t>dự</a:t>
                </a:r>
                <a:r>
                  <a:rPr lang="vi-VN" sz="4400" dirty="0">
                    <a:solidFill>
                      <a:srgbClr val="0066FF"/>
                    </a:solidFill>
                  </a:rPr>
                  <a:t> </a:t>
                </a:r>
                <a:r>
                  <a:rPr lang="vi-VN" sz="4400" dirty="0" err="1">
                    <a:solidFill>
                      <a:srgbClr val="0066FF"/>
                    </a:solidFill>
                  </a:rPr>
                  <a:t>đoán</a:t>
                </a:r>
                <a:r>
                  <a:rPr lang="vi-VN" sz="4400" dirty="0">
                    <a:solidFill>
                      <a:srgbClr val="0066FF"/>
                    </a:solidFill>
                  </a:rPr>
                  <a:t> </a:t>
                </a:r>
                <a:r>
                  <a:rPr lang="vi-VN" sz="4400" dirty="0" err="1">
                    <a:solidFill>
                      <a:srgbClr val="0066FF"/>
                    </a:solidFill>
                  </a:rPr>
                  <a:t>mức</a:t>
                </a:r>
                <a:r>
                  <a:rPr lang="vi-VN" sz="4400" dirty="0">
                    <a:solidFill>
                      <a:srgbClr val="0066FF"/>
                    </a:solidFill>
                  </a:rPr>
                  <a:t> lương </a:t>
                </a:r>
                <a:r>
                  <a:rPr lang="vi-VN" sz="4400" dirty="0" err="1">
                    <a:solidFill>
                      <a:srgbClr val="0066FF"/>
                    </a:solidFill>
                  </a:rPr>
                  <a:t>của</a:t>
                </a:r>
                <a:r>
                  <a:rPr lang="vi-VN" sz="4400" dirty="0">
                    <a:solidFill>
                      <a:srgbClr val="0066FF"/>
                    </a:solidFill>
                  </a:rPr>
                  <a:t> </a:t>
                </a:r>
                <a:r>
                  <a:rPr lang="vi-VN" sz="4400" dirty="0" err="1">
                    <a:solidFill>
                      <a:srgbClr val="0066FF"/>
                    </a:solidFill>
                  </a:rPr>
                  <a:t>một</a:t>
                </a:r>
                <a:r>
                  <a:rPr lang="vi-VN" sz="4400" dirty="0">
                    <a:solidFill>
                      <a:srgbClr val="0066FF"/>
                    </a:solidFill>
                  </a:rPr>
                  <a:t> </a:t>
                </a:r>
                <a:r>
                  <a:rPr lang="vi-VN" sz="4400" dirty="0" err="1">
                    <a:solidFill>
                      <a:srgbClr val="0066FF"/>
                    </a:solidFill>
                  </a:rPr>
                  <a:t>người</a:t>
                </a:r>
                <a:r>
                  <a:rPr lang="vi-VN" sz="4400" dirty="0">
                    <a:solidFill>
                      <a:srgbClr val="0066FF"/>
                    </a:solidFill>
                  </a:rPr>
                  <a:t> khi </a:t>
                </a:r>
                <a:r>
                  <a:rPr lang="vi-VN" sz="4400" dirty="0" err="1">
                    <a:solidFill>
                      <a:srgbClr val="0066FF"/>
                    </a:solidFill>
                  </a:rPr>
                  <a:t>đã</a:t>
                </a:r>
                <a:r>
                  <a:rPr lang="vi-VN" sz="4400" dirty="0">
                    <a:solidFill>
                      <a:srgbClr val="0066FF"/>
                    </a:solidFill>
                  </a:rPr>
                  <a:t> </a:t>
                </a:r>
                <a:r>
                  <a:rPr lang="vi-VN" sz="4400" dirty="0" err="1">
                    <a:solidFill>
                      <a:srgbClr val="0066FF"/>
                    </a:solidFill>
                  </a:rPr>
                  <a:t>biết</a:t>
                </a:r>
                <a:r>
                  <a:rPr lang="vi-VN" sz="4400" dirty="0">
                    <a:solidFill>
                      <a:srgbClr val="0066FF"/>
                    </a:solidFill>
                  </a:rPr>
                  <a:t> </a:t>
                </a:r>
                <a:r>
                  <a:rPr lang="vi-VN" sz="4400" dirty="0" err="1">
                    <a:solidFill>
                      <a:srgbClr val="0066FF"/>
                    </a:solidFill>
                  </a:rPr>
                  <a:t>số</a:t>
                </a:r>
                <a:r>
                  <a:rPr lang="vi-VN" sz="4400" dirty="0">
                    <a:solidFill>
                      <a:srgbClr val="0066FF"/>
                    </a:solidFill>
                  </a:rPr>
                  <a:t> năm kinh </a:t>
                </a:r>
                <a:r>
                  <a:rPr lang="vi-VN" sz="4400" dirty="0" err="1">
                    <a:solidFill>
                      <a:srgbClr val="0066FF"/>
                    </a:solidFill>
                  </a:rPr>
                  <a:t>nghiệm</a:t>
                </a:r>
                <a:r>
                  <a:rPr lang="vi-VN" sz="4400" dirty="0">
                    <a:solidFill>
                      <a:srgbClr val="0066FF"/>
                    </a:solidFill>
                  </a:rPr>
                  <a:t> </a:t>
                </a:r>
                <a:r>
                  <a:rPr lang="vi-VN" sz="4400" dirty="0" err="1">
                    <a:solidFill>
                      <a:srgbClr val="0066FF"/>
                    </a:solidFill>
                  </a:rPr>
                  <a:t>của</a:t>
                </a:r>
                <a:r>
                  <a:rPr lang="vi-VN" sz="4400" dirty="0">
                    <a:solidFill>
                      <a:srgbClr val="0066FF"/>
                    </a:solidFill>
                  </a:rPr>
                  <a:t> </a:t>
                </a:r>
                <a:r>
                  <a:rPr lang="vi-VN" sz="4400" dirty="0" err="1">
                    <a:solidFill>
                      <a:srgbClr val="0066FF"/>
                    </a:solidFill>
                  </a:rPr>
                  <a:t>người</a:t>
                </a:r>
                <a:r>
                  <a:rPr lang="vi-VN" sz="4400" dirty="0">
                    <a:solidFill>
                      <a:srgbClr val="0066FF"/>
                    </a:solidFill>
                  </a:rPr>
                  <a:t> </a:t>
                </a:r>
                <a:r>
                  <a:rPr lang="vi-VN" sz="4400" dirty="0" err="1">
                    <a:solidFill>
                      <a:srgbClr val="0066FF"/>
                    </a:solidFill>
                  </a:rPr>
                  <a:t>đó</a:t>
                </a:r>
                <a:r>
                  <a:rPr lang="vi-VN" sz="4400" dirty="0">
                    <a:solidFill>
                      <a:srgbClr val="0066FF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35548CB-6591-4093-BFA9-A7555ACF96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000" t="-2965" r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140265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153F291-37A6-4FAA-B800-C65880925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Hồi</a:t>
            </a:r>
            <a:r>
              <a:rPr lang="vi-VN" dirty="0"/>
              <a:t> </a:t>
            </a:r>
            <a:r>
              <a:rPr lang="vi-VN"/>
              <a:t>quy – Regression</a:t>
            </a:r>
            <a:endParaRPr lang="vi-V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BDACDB-C6D8-4923-855E-BCBB1ADB8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0195840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AA70F-BAC9-413B-ACF7-B106735DB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Hồi</a:t>
            </a:r>
            <a:r>
              <a:rPr lang="vi-VN" dirty="0"/>
              <a:t> </a:t>
            </a:r>
            <a:r>
              <a:rPr lang="vi-VN"/>
              <a:t>quy – Regression</a:t>
            </a:r>
            <a:endParaRPr lang="vi-V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CF10DC7-01FB-49AF-BFA9-1F8A839C7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 err="1">
                <a:solidFill>
                  <a:srgbClr val="0066FF"/>
                </a:solidFill>
              </a:rPr>
              <a:t>Bài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toán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của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chúng</a:t>
            </a:r>
            <a:r>
              <a:rPr lang="vi-VN" sz="2800" dirty="0">
                <a:solidFill>
                  <a:srgbClr val="0066FF"/>
                </a:solidFill>
              </a:rPr>
              <a:t> ta </a:t>
            </a:r>
            <a:r>
              <a:rPr lang="vi-VN" sz="2800" dirty="0" err="1">
                <a:solidFill>
                  <a:srgbClr val="0066FF"/>
                </a:solidFill>
              </a:rPr>
              <a:t>thuộc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dạng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hồi</a:t>
            </a:r>
            <a:r>
              <a:rPr lang="vi-VN" sz="2800" dirty="0">
                <a:solidFill>
                  <a:srgbClr val="0066FF"/>
                </a:solidFill>
              </a:rPr>
              <a:t> quy.</a:t>
            </a:r>
          </a:p>
          <a:p>
            <a:pPr algn="just"/>
            <a:r>
              <a:rPr lang="vi-VN" sz="2800" dirty="0" err="1">
                <a:solidFill>
                  <a:srgbClr val="FF0000"/>
                </a:solidFill>
              </a:rPr>
              <a:t>Hồi</a:t>
            </a:r>
            <a:r>
              <a:rPr lang="vi-VN" sz="2800" dirty="0">
                <a:solidFill>
                  <a:srgbClr val="FF0000"/>
                </a:solidFill>
              </a:rPr>
              <a:t> quy </a:t>
            </a:r>
            <a:r>
              <a:rPr lang="vi-VN" sz="2800" dirty="0" err="1">
                <a:solidFill>
                  <a:srgbClr val="FF0000"/>
                </a:solidFill>
              </a:rPr>
              <a:t>là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một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loại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bài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toán</a:t>
            </a:r>
            <a:r>
              <a:rPr lang="vi-VN" sz="2800" dirty="0">
                <a:solidFill>
                  <a:srgbClr val="FF0000"/>
                </a:solidFill>
              </a:rPr>
              <a:t> trong </a:t>
            </a:r>
            <a:r>
              <a:rPr lang="vi-VN" sz="2800" dirty="0" err="1">
                <a:solidFill>
                  <a:srgbClr val="FF0000"/>
                </a:solidFill>
              </a:rPr>
              <a:t>machine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learning</a:t>
            </a:r>
            <a:r>
              <a:rPr lang="vi-VN" sz="2800" dirty="0">
                <a:solidFill>
                  <a:srgbClr val="FF0000"/>
                </a:solidFill>
              </a:rPr>
              <a:t>:</a:t>
            </a:r>
          </a:p>
          <a:p>
            <a:pPr lvl="1" algn="just"/>
            <a:r>
              <a:rPr lang="vi-VN" sz="2800" dirty="0" err="1">
                <a:solidFill>
                  <a:srgbClr val="0066FF"/>
                </a:solidFill>
              </a:rPr>
              <a:t>Thuộc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nhóm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học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có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giám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sát</a:t>
            </a:r>
            <a:r>
              <a:rPr lang="vi-VN" sz="2800" dirty="0">
                <a:solidFill>
                  <a:srgbClr val="0066FF"/>
                </a:solidFill>
              </a:rPr>
              <a:t> (</a:t>
            </a:r>
            <a:r>
              <a:rPr lang="vi-VN" sz="2800" dirty="0" err="1">
                <a:solidFill>
                  <a:srgbClr val="0066FF"/>
                </a:solidFill>
              </a:rPr>
              <a:t>supervised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learning</a:t>
            </a:r>
            <a:r>
              <a:rPr lang="vi-VN" sz="2800" dirty="0">
                <a:solidFill>
                  <a:srgbClr val="0066FF"/>
                </a:solidFill>
              </a:rPr>
              <a:t>).</a:t>
            </a:r>
          </a:p>
          <a:p>
            <a:pPr lvl="1" algn="just"/>
            <a:r>
              <a:rPr lang="vi-VN" sz="2800" dirty="0" err="1">
                <a:solidFill>
                  <a:srgbClr val="FF0000"/>
                </a:solidFill>
              </a:rPr>
              <a:t>Dữ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liệu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đầu</a:t>
            </a:r>
            <a:r>
              <a:rPr lang="vi-VN" sz="2800" dirty="0">
                <a:solidFill>
                  <a:srgbClr val="FF0000"/>
                </a:solidFill>
              </a:rPr>
              <a:t> ra </a:t>
            </a:r>
            <a:r>
              <a:rPr lang="vi-VN" sz="2800" dirty="0" err="1">
                <a:solidFill>
                  <a:srgbClr val="FF0000"/>
                </a:solidFill>
              </a:rPr>
              <a:t>là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một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số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thực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bất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kỳ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và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nằm</a:t>
            </a:r>
            <a:r>
              <a:rPr lang="vi-VN" sz="2800" dirty="0">
                <a:solidFill>
                  <a:srgbClr val="FF0000"/>
                </a:solidFill>
              </a:rPr>
              <a:t> trong </a:t>
            </a:r>
            <a:r>
              <a:rPr lang="vi-VN" sz="2800" dirty="0" err="1">
                <a:solidFill>
                  <a:srgbClr val="FF0000"/>
                </a:solidFill>
              </a:rPr>
              <a:t>một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đoạn</a:t>
            </a:r>
            <a:r>
              <a:rPr lang="vi-VN" sz="2800" dirty="0">
                <a:solidFill>
                  <a:srgbClr val="FF0000"/>
                </a:solidFill>
              </a:rPr>
              <a:t> liên </a:t>
            </a:r>
            <a:r>
              <a:rPr lang="vi-VN" sz="2800" dirty="0" err="1">
                <a:solidFill>
                  <a:srgbClr val="FF0000"/>
                </a:solidFill>
              </a:rPr>
              <a:t>tục</a:t>
            </a:r>
            <a:r>
              <a:rPr lang="vi-VN" sz="2800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848337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153F291-37A6-4FAA-B800-C65880925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Simple</a:t>
            </a:r>
            <a:r>
              <a:rPr lang="vi-VN" dirty="0"/>
              <a:t> </a:t>
            </a:r>
            <a:r>
              <a:rPr lang="vi-VN" dirty="0" err="1"/>
              <a:t>Linear</a:t>
            </a:r>
            <a:r>
              <a:rPr lang="vi-VN" dirty="0"/>
              <a:t> </a:t>
            </a:r>
            <a:r>
              <a:rPr lang="vi-VN" dirty="0" err="1"/>
              <a:t>Regression</a:t>
            </a:r>
            <a:endParaRPr lang="vi-V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BDACDB-C6D8-4923-855E-BCBB1ADB8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6296305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209EC-2754-4FFA-AF21-4EB77767F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Simple</a:t>
            </a:r>
            <a:r>
              <a:rPr lang="vi-VN" dirty="0"/>
              <a:t> </a:t>
            </a:r>
            <a:r>
              <a:rPr lang="vi-VN" dirty="0" err="1"/>
              <a:t>Linear</a:t>
            </a:r>
            <a:r>
              <a:rPr lang="vi-VN" dirty="0"/>
              <a:t> </a:t>
            </a:r>
            <a:r>
              <a:rPr lang="vi-VN" dirty="0" err="1"/>
              <a:t>Regression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5CDB7F-DE1E-47A4-8B8D-3455EB16E2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Mô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hình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đơn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giản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của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hồi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quy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tuyến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tính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:</a:t>
                </a:r>
              </a:p>
              <a:p>
                <a:pPr marL="457200" lvl="1" indent="0" algn="just">
                  <a:buNone/>
                </a:pPr>
                <a14:m>
                  <m:oMathPara xmlns:m="http://schemas.openxmlformats.org/officeDocument/2006/math">
                    <m:oMath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vi-V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vi-VN" sz="2800" dirty="0">
                  <a:solidFill>
                    <a:srgbClr val="FF0000"/>
                  </a:solidFill>
                </a:endParaRPr>
              </a:p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đó</a:t>
                </a:r>
                <a:endParaRPr lang="vi-VN" sz="2800" dirty="0">
                  <a:solidFill>
                    <a:srgbClr val="0066FF"/>
                  </a:solidFill>
                </a:endParaRPr>
              </a:p>
              <a:p>
                <a:pPr lvl="1" algn="just"/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đầu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vào</a:t>
                </a:r>
                <a:r>
                  <a:rPr lang="vi-VN" sz="2800" dirty="0">
                    <a:solidFill>
                      <a:srgbClr val="FF0000"/>
                    </a:solidFill>
                  </a:rPr>
                  <a:t> hay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biến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độc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lập</a:t>
                </a:r>
                <a:r>
                  <a:rPr lang="vi-VN" sz="2800" dirty="0">
                    <a:solidFill>
                      <a:srgbClr val="FF0000"/>
                    </a:solidFill>
                  </a:rPr>
                  <a:t> (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năm kinh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nghiệm</a:t>
                </a:r>
                <a:r>
                  <a:rPr lang="vi-VN" sz="2800" dirty="0">
                    <a:solidFill>
                      <a:srgbClr val="FF0000"/>
                    </a:solidFill>
                  </a:rPr>
                  <a:t>).</a:t>
                </a:r>
              </a:p>
              <a:p>
                <a:pPr lvl="1" algn="just"/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đầu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ra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dự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đoán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hay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biến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phụ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thuộc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(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mức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lương).</a:t>
                </a:r>
              </a:p>
              <a:p>
                <a:pPr lvl="1" algn="just"/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vi-V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800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vi-VN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vi-V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vi-V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là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những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tham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mô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hình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(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model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parameters</a:t>
                </a:r>
                <a:r>
                  <a:rPr lang="vi-VN" sz="2800" dirty="0">
                    <a:solidFill>
                      <a:srgbClr val="FF0000"/>
                    </a:solidFill>
                  </a:rPr>
                  <a:t>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5CDB7F-DE1E-47A4-8B8D-3455EB16E2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712918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209EC-2754-4FFA-AF21-4EB77767F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Simple</a:t>
            </a:r>
            <a:r>
              <a:rPr lang="vi-VN" dirty="0"/>
              <a:t> </a:t>
            </a:r>
            <a:r>
              <a:rPr lang="vi-VN" dirty="0" err="1"/>
              <a:t>Linear</a:t>
            </a:r>
            <a:r>
              <a:rPr lang="vi-VN" dirty="0"/>
              <a:t> </a:t>
            </a:r>
            <a:r>
              <a:rPr lang="vi-VN" dirty="0" err="1"/>
              <a:t>Regression</a:t>
            </a:r>
            <a:endParaRPr lang="vi-V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71215A0-59D9-4DA8-9B3C-ED9371A5463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just"/>
            <a:r>
              <a:rPr lang="vi-VN" dirty="0">
                <a:solidFill>
                  <a:srgbClr val="0066FF"/>
                </a:solidFill>
              </a:rPr>
              <a:t>Mô </a:t>
            </a:r>
            <a:r>
              <a:rPr lang="vi-VN" dirty="0" err="1">
                <a:solidFill>
                  <a:srgbClr val="0066FF"/>
                </a:solidFill>
              </a:rPr>
              <a:t>hình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hồi</a:t>
            </a:r>
            <a:r>
              <a:rPr lang="vi-VN" dirty="0">
                <a:solidFill>
                  <a:srgbClr val="0066FF"/>
                </a:solidFill>
              </a:rPr>
              <a:t> quy </a:t>
            </a:r>
            <a:r>
              <a:rPr lang="vi-VN" dirty="0" err="1">
                <a:solidFill>
                  <a:srgbClr val="0066FF"/>
                </a:solidFill>
              </a:rPr>
              <a:t>tuyến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tính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thực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chất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là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một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đường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thẳng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mà</a:t>
            </a:r>
            <a:r>
              <a:rPr lang="vi-VN" dirty="0">
                <a:solidFill>
                  <a:srgbClr val="0066FF"/>
                </a:solidFill>
              </a:rPr>
              <a:t> chênh </a:t>
            </a:r>
            <a:r>
              <a:rPr lang="vi-VN" dirty="0" err="1">
                <a:solidFill>
                  <a:srgbClr val="0066FF"/>
                </a:solidFill>
              </a:rPr>
              <a:t>lệch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giữa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đường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thẳng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này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và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các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điểm</a:t>
            </a:r>
            <a:r>
              <a:rPr lang="vi-VN" dirty="0">
                <a:solidFill>
                  <a:srgbClr val="0066FF"/>
                </a:solidFill>
              </a:rPr>
              <a:t> trong </a:t>
            </a:r>
            <a:r>
              <a:rPr lang="vi-VN" dirty="0" err="1">
                <a:solidFill>
                  <a:srgbClr val="0066FF"/>
                </a:solidFill>
              </a:rPr>
              <a:t>tập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dữ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liệu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là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nhỏ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nhất</a:t>
            </a:r>
            <a:r>
              <a:rPr lang="vi-VN" dirty="0">
                <a:solidFill>
                  <a:srgbClr val="0066FF"/>
                </a:solidFill>
              </a:rPr>
              <a:t>.</a:t>
            </a:r>
          </a:p>
          <a:p>
            <a:pPr algn="just"/>
            <a:r>
              <a:rPr lang="vi-VN" dirty="0" err="1">
                <a:solidFill>
                  <a:srgbClr val="FF0000"/>
                </a:solidFill>
              </a:rPr>
              <a:t>Giải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bài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toán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hồi</a:t>
            </a:r>
            <a:r>
              <a:rPr lang="vi-VN" dirty="0">
                <a:solidFill>
                  <a:srgbClr val="FF0000"/>
                </a:solidFill>
              </a:rPr>
              <a:t> quy </a:t>
            </a:r>
            <a:r>
              <a:rPr lang="vi-VN" dirty="0" err="1">
                <a:solidFill>
                  <a:srgbClr val="FF0000"/>
                </a:solidFill>
              </a:rPr>
              <a:t>tuyến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tính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chính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là</a:t>
            </a:r>
            <a:r>
              <a:rPr lang="vi-VN" dirty="0">
                <a:solidFill>
                  <a:srgbClr val="FF0000"/>
                </a:solidFill>
              </a:rPr>
              <a:t> đi </a:t>
            </a:r>
            <a:r>
              <a:rPr lang="vi-VN" dirty="0" err="1">
                <a:solidFill>
                  <a:srgbClr val="FF0000"/>
                </a:solidFill>
              </a:rPr>
              <a:t>tìm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đường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thẳng</a:t>
            </a:r>
            <a:r>
              <a:rPr lang="vi-VN" dirty="0">
                <a:solidFill>
                  <a:srgbClr val="FF0000"/>
                </a:solidFill>
              </a:rPr>
              <a:t> nêu trên.</a:t>
            </a:r>
          </a:p>
        </p:txBody>
      </p:sp>
      <p:pic>
        <p:nvPicPr>
          <p:cNvPr id="9" name="Content Placeholder 23">
            <a:extLst>
              <a:ext uri="{FF2B5EF4-FFF2-40B4-BE49-F238E27FC236}">
                <a16:creationId xmlns:a16="http://schemas.microsoft.com/office/drawing/2014/main" id="{344DC3CB-9D25-4479-A6D6-E20E84CA89E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97600" y="1877267"/>
            <a:ext cx="5384800" cy="3971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48055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153F291-37A6-4FAA-B800-C65880925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Tiền</a:t>
            </a:r>
            <a:r>
              <a:rPr lang="vi-VN" dirty="0"/>
              <a:t> </a:t>
            </a:r>
            <a:r>
              <a:rPr lang="vi-VN" dirty="0" err="1"/>
              <a:t>xử</a:t>
            </a:r>
            <a:r>
              <a:rPr lang="vi-VN" dirty="0"/>
              <a:t> </a:t>
            </a:r>
            <a:r>
              <a:rPr lang="vi-VN" dirty="0" err="1"/>
              <a:t>lý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endParaRPr lang="vi-V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BDACDB-C6D8-4923-855E-BCBB1ADB8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0957865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BAC3A-38A9-44E2-B005-7F48893DC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Tiền</a:t>
            </a:r>
            <a:r>
              <a:rPr lang="vi-VN" dirty="0"/>
              <a:t> </a:t>
            </a:r>
            <a:r>
              <a:rPr lang="vi-VN" dirty="0" err="1"/>
              <a:t>xử</a:t>
            </a:r>
            <a:r>
              <a:rPr lang="vi-VN" dirty="0"/>
              <a:t> </a:t>
            </a:r>
            <a:r>
              <a:rPr lang="vi-VN" dirty="0" err="1"/>
              <a:t>lý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38467-A0B8-46CA-BF05-B5015D69D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1582400" cy="4525963"/>
          </a:xfrm>
        </p:spPr>
        <p:txBody>
          <a:bodyPr/>
          <a:lstStyle/>
          <a:p>
            <a:pPr algn="just"/>
            <a:r>
              <a:rPr lang="en-US" sz="2800" dirty="0" err="1">
                <a:solidFill>
                  <a:srgbClr val="0066FF"/>
                </a:solidFill>
              </a:rPr>
              <a:t>Nạp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cá</a:t>
            </a:r>
            <a:r>
              <a:rPr lang="en-US" dirty="0" err="1"/>
              <a:t>c</a:t>
            </a:r>
            <a:r>
              <a:rPr lang="en-US" dirty="0"/>
              <a:t> </a:t>
            </a:r>
            <a:r>
              <a:rPr lang="en-US" sz="2800" dirty="0" err="1">
                <a:solidFill>
                  <a:srgbClr val="0066FF"/>
                </a:solidFill>
              </a:rPr>
              <a:t>thư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viện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cần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thiết</a:t>
            </a:r>
            <a:endParaRPr lang="en-US" sz="24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400" dirty="0">
                <a:solidFill>
                  <a:srgbClr val="AF00D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AF00D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267F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endParaRPr lang="en-US" sz="2400" kern="100" dirty="0"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400" dirty="0">
                <a:solidFill>
                  <a:srgbClr val="AF00D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267F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AF00D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267F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endParaRPr lang="en-US" sz="2400" kern="100" dirty="0"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400" dirty="0">
                <a:solidFill>
                  <a:srgbClr val="AF00D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AF00D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US" sz="2400" kern="100" dirty="0"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400" dirty="0">
                <a:solidFill>
                  <a:srgbClr val="AF00D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sklearn.model_selection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AF00D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endParaRPr lang="en-US" sz="2400" kern="100" dirty="0"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400" dirty="0">
                <a:solidFill>
                  <a:srgbClr val="AF00D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sklearn.linear_model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AF00D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LinearRegression</a:t>
            </a:r>
            <a:endParaRPr lang="en-US" sz="2400" kern="100" dirty="0"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400" dirty="0">
                <a:solidFill>
                  <a:srgbClr val="AF00D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sklearn.metrics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AF00D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mean_absolute_error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root_mean_squared_error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r2_score</a:t>
            </a:r>
            <a:endParaRPr lang="en-US" sz="2400" kern="100" dirty="0"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vi-VN" sz="2800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2156952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3E310-1A5F-7294-8DFF-E9A8DE015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34FA7-F5E8-1132-0461-53BD6AF89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Tiền</a:t>
            </a:r>
            <a:r>
              <a:rPr lang="vi-VN" dirty="0"/>
              <a:t> </a:t>
            </a:r>
            <a:r>
              <a:rPr lang="vi-VN" dirty="0" err="1"/>
              <a:t>xử</a:t>
            </a:r>
            <a:r>
              <a:rPr lang="vi-VN" dirty="0"/>
              <a:t> </a:t>
            </a:r>
            <a:r>
              <a:rPr lang="vi-VN" dirty="0" err="1"/>
              <a:t>lý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59775-12B2-2B51-74A5-2326ECECC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1582400" cy="4525963"/>
          </a:xfrm>
        </p:spPr>
        <p:txBody>
          <a:bodyPr/>
          <a:lstStyle/>
          <a:p>
            <a:pPr algn="just"/>
            <a:r>
              <a:rPr lang="en-US" dirty="0" err="1"/>
              <a:t>Đ</a:t>
            </a:r>
            <a:r>
              <a:rPr lang="en-US" sz="2800" dirty="0" err="1">
                <a:solidFill>
                  <a:srgbClr val="0066FF"/>
                </a:solidFill>
              </a:rPr>
              <a:t>ọc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dữ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liệu</a:t>
            </a:r>
            <a:endParaRPr lang="vi-VN" sz="2800" dirty="0">
              <a:solidFill>
                <a:srgbClr val="FF0000"/>
              </a:solidFill>
            </a:endParaRPr>
          </a:p>
          <a:p>
            <a:pPr>
              <a:lnSpc>
                <a:spcPct val="98958"/>
              </a:lnSpc>
              <a:spcAft>
                <a:spcPts val="800"/>
              </a:spcAft>
              <a:buNone/>
            </a:pPr>
            <a:endParaRPr lang="en-US" sz="2400" dirty="0">
              <a:solidFill>
                <a:srgbClr val="001080"/>
              </a:solidFill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7"/>
            </a:pP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read_csv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Salary_Data.csv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kern="100" dirty="0"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vi-VN" sz="2800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145506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D0233-9ACA-4C15-A481-6D36FAAC6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A71F5-180F-3B4F-1754-B3AC5FA03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Tiền</a:t>
            </a:r>
            <a:r>
              <a:rPr lang="vi-VN" dirty="0"/>
              <a:t> </a:t>
            </a:r>
            <a:r>
              <a:rPr lang="vi-VN" dirty="0" err="1"/>
              <a:t>xử</a:t>
            </a:r>
            <a:r>
              <a:rPr lang="vi-VN" dirty="0"/>
              <a:t> </a:t>
            </a:r>
            <a:r>
              <a:rPr lang="vi-VN" dirty="0" err="1"/>
              <a:t>lý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endParaRPr lang="vi-V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5ED4C7-822E-0DDF-6BC2-200B9BF7B2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1"/>
                <a:ext cx="11582400" cy="4525963"/>
              </a:xfrm>
            </p:spPr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Đọc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từ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file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csv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algn="just"/>
                <a:r>
                  <a:rPr lang="vi-VN" sz="2800" dirty="0">
                    <a:solidFill>
                      <a:srgbClr val="FF0000"/>
                    </a:solidFill>
                  </a:rPr>
                  <a:t>Chuyển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đã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đọc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về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dạng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mảng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các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dữ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liệu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đầu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vào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(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input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data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) –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ký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hiệu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là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dữ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liệu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đầu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ra (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outcome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data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) –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ký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hiệu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là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  <a:endParaRPr lang="en-US" sz="2800" dirty="0">
                  <a:solidFill>
                    <a:srgbClr val="FF0000"/>
                  </a:solidFill>
                </a:endParaRPr>
              </a:p>
              <a:p>
                <a:pPr marL="0" indent="0" algn="just">
                  <a:buNone/>
                </a:pPr>
                <a:endParaRPr lang="vi-VN" sz="2800" dirty="0">
                  <a:solidFill>
                    <a:srgbClr val="FF0000"/>
                  </a:solidFill>
                </a:endParaRPr>
              </a:p>
              <a:p>
                <a:pPr marL="457200" indent="-457200">
                  <a:lnSpc>
                    <a:spcPct val="98958"/>
                  </a:lnSpc>
                  <a:spcAft>
                    <a:spcPts val="800"/>
                  </a:spcAft>
                  <a:buFont typeface="+mj-lt"/>
                  <a:buAutoNum type="arabicPeriod" startAt="8"/>
                </a:pPr>
                <a:r>
                  <a:rPr lang="en-US" sz="2400" b="1" dirty="0">
                    <a:solidFill>
                      <a:srgbClr val="0070C1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sz="2400" dirty="0" err="1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dataset</a:t>
                </a:r>
                <a:r>
                  <a:rPr lang="en-US" sz="2400" dirty="0" err="1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sz="2400" dirty="0" err="1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iloc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[:, </a:t>
                </a:r>
                <a:r>
                  <a:rPr lang="en-US" sz="2400" dirty="0">
                    <a:solidFill>
                      <a:srgbClr val="098658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en-US" sz="2400" dirty="0">
                    <a:solidFill>
                      <a:srgbClr val="098658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].</a:t>
                </a:r>
                <a:r>
                  <a:rPr lang="en-US" sz="2400" dirty="0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values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 </a:t>
                </a:r>
                <a:r>
                  <a:rPr lang="en-US" sz="2400" dirty="0">
                    <a:solidFill>
                      <a:srgbClr val="008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# </a:t>
                </a:r>
                <a:r>
                  <a:rPr lang="en-US" sz="2400" dirty="0" err="1">
                    <a:solidFill>
                      <a:srgbClr val="008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2D</a:t>
                </a:r>
                <a:r>
                  <a:rPr lang="en-US" sz="2400" dirty="0">
                    <a:solidFill>
                      <a:srgbClr val="008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array shape (30, 1)</a:t>
                </a:r>
                <a:endParaRPr lang="en-US" sz="2400" kern="100" dirty="0">
                  <a:latin typeface="Consolas" panose="020B0609020204030204" pitchFamily="49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98958"/>
                  </a:lnSpc>
                  <a:spcAft>
                    <a:spcPts val="800"/>
                  </a:spcAft>
                  <a:buFont typeface="+mj-lt"/>
                  <a:buAutoNum type="arabicPeriod" startAt="8"/>
                </a:pPr>
                <a:r>
                  <a:rPr lang="en-US" sz="2400" dirty="0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sz="2400" dirty="0" err="1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dataset</a:t>
                </a:r>
                <a:r>
                  <a:rPr lang="en-US" sz="2400" dirty="0" err="1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sz="2400" dirty="0" err="1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iloc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[:, </a:t>
                </a:r>
                <a:r>
                  <a:rPr lang="en-US" sz="2400" dirty="0">
                    <a:solidFill>
                      <a:srgbClr val="098658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].</a:t>
                </a:r>
                <a:r>
                  <a:rPr lang="en-US" sz="2400" dirty="0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values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   </a:t>
                </a:r>
                <a:r>
                  <a:rPr lang="en-US" sz="2400" dirty="0">
                    <a:solidFill>
                      <a:srgbClr val="008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# </a:t>
                </a:r>
                <a:r>
                  <a:rPr lang="en-US" sz="2400" dirty="0" err="1">
                    <a:solidFill>
                      <a:srgbClr val="008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1D</a:t>
                </a:r>
                <a:r>
                  <a:rPr lang="en-US" sz="2400" dirty="0">
                    <a:solidFill>
                      <a:srgbClr val="008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array shape (30,)</a:t>
                </a:r>
                <a:endParaRPr lang="en-US" sz="2400" kern="100" dirty="0">
                  <a:latin typeface="Consolas" panose="020B0609020204030204" pitchFamily="49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vi-VN" sz="2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5ED4C7-822E-0DDF-6BC2-200B9BF7B2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1"/>
                <a:ext cx="11582400" cy="4525963"/>
              </a:xfrm>
              <a:blipFill>
                <a:blip r:embed="rId2"/>
                <a:stretch>
                  <a:fillRect l="-947" t="-1482" r="-1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1544037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BAC3A-38A9-44E2-B005-7F48893DC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Tiền</a:t>
            </a:r>
            <a:r>
              <a:rPr lang="vi-VN" dirty="0"/>
              <a:t> </a:t>
            </a:r>
            <a:r>
              <a:rPr lang="vi-VN" dirty="0" err="1"/>
              <a:t>xử</a:t>
            </a:r>
            <a:r>
              <a:rPr lang="vi-VN" dirty="0"/>
              <a:t> </a:t>
            </a:r>
            <a:r>
              <a:rPr lang="vi-VN" dirty="0" err="1"/>
              <a:t>lý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endParaRPr lang="vi-V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338467-A0B8-46CA-BF05-B5015D69D7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Import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train_test_split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từ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sklearn.model_selection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để phân chia tập dữ liệu</a:t>
                </a:r>
              </a:p>
              <a:p>
                <a:pPr algn="just"/>
                <a:r>
                  <a:rPr lang="vi-VN" sz="2800" dirty="0">
                    <a:solidFill>
                      <a:srgbClr val="FF0000"/>
                    </a:solidFill>
                  </a:rPr>
                  <a:t>Chia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nhỏ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các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mảng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thành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2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phần</a:t>
                </a:r>
                <a:r>
                  <a:rPr lang="vi-VN" sz="2800" dirty="0">
                    <a:solidFill>
                      <a:srgbClr val="FF0000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một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phần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tập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huấn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luyện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(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training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set</a:t>
                </a:r>
                <a:r>
                  <a:rPr lang="vi-VN" sz="2800" dirty="0">
                    <a:solidFill>
                      <a:srgbClr val="FF0000"/>
                    </a:solidFill>
                  </a:rPr>
                  <a:t>),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phần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còn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lại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tập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kiểm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thử</a:t>
                </a:r>
                <a:r>
                  <a:rPr lang="vi-VN" sz="2800" dirty="0">
                    <a:solidFill>
                      <a:srgbClr val="FF0000"/>
                    </a:solidFill>
                  </a:rPr>
                  <a:t> (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test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set</a:t>
                </a:r>
                <a:r>
                  <a:rPr lang="vi-VN" sz="2800" dirty="0">
                    <a:solidFill>
                      <a:srgbClr val="FF0000"/>
                    </a:solidFill>
                  </a:rPr>
                  <a:t>).</a:t>
                </a:r>
              </a:p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tỉ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lệ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giữa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tập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huấn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luyện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và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tập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kiểm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thử</a:t>
                </a:r>
                <a:r>
                  <a:rPr lang="vi-VN" sz="2800" dirty="0">
                    <a:solidFill>
                      <a:srgbClr val="0066FF"/>
                    </a:solidFill>
                  </a:rPr>
                  <a:t> ở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bài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này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0.8/0.2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  <a:endParaRPr lang="en-US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en-US" sz="240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pPr marL="457200" indent="-457200">
                  <a:buFont typeface="+mj-lt"/>
                  <a:buAutoNum type="arabicPeriod" startAt="10"/>
                </a:pPr>
                <a:r>
                  <a:rPr lang="en-US" sz="2400" dirty="0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X_train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400" dirty="0" err="1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X_test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400" dirty="0" err="1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y_train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400" dirty="0" err="1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y_test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sz="2400" dirty="0" err="1">
                    <a:solidFill>
                      <a:schemeClr val="tx1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train_test_split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400" b="1" dirty="0">
                    <a:solidFill>
                      <a:srgbClr val="0070C1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400" dirty="0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400" dirty="0" err="1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train_size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2400" dirty="0">
                    <a:solidFill>
                      <a:srgbClr val="098658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0.8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400" dirty="0" err="1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random_state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2400" dirty="0">
                    <a:solidFill>
                      <a:srgbClr val="098658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sz="2400" kern="100" dirty="0">
                  <a:latin typeface="Consolas" panose="020B0609020204030204" pitchFamily="49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338467-A0B8-46CA-BF05-B5015D69D7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752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1673270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153F291-37A6-4FAA-B800-C65880925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TRỰC QUAN HÓA DỮ LIỆU</a:t>
            </a:r>
            <a:r>
              <a:rPr lang="en-US" dirty="0"/>
              <a:t> HUẤN LUYỆN</a:t>
            </a:r>
            <a:endParaRPr lang="vi-V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BDACDB-C6D8-4923-855E-BCBB1ADB8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130390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ECB94-2920-49AD-8074-A1370CC10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</a:t>
            </a:r>
            <a:r>
              <a:rPr lang="vi-VN" dirty="0" err="1"/>
              <a:t>huấn</a:t>
            </a:r>
            <a:r>
              <a:rPr lang="vi-VN" dirty="0"/>
              <a:t> </a:t>
            </a:r>
            <a:r>
              <a:rPr lang="vi-VN" dirty="0" err="1"/>
              <a:t>luyện</a:t>
            </a:r>
            <a:endParaRPr lang="vi-VN" dirty="0"/>
          </a:p>
        </p:txBody>
      </p:sp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7CC8F520-5C9A-4CEF-A288-BF48222294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38487" y="1753394"/>
            <a:ext cx="5915025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707710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ECB94-2920-49AD-8074-A1370CC10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</a:t>
            </a:r>
            <a:r>
              <a:rPr lang="vi-VN" dirty="0" err="1"/>
              <a:t>huấn</a:t>
            </a:r>
            <a:r>
              <a:rPr lang="vi-VN" dirty="0"/>
              <a:t> </a:t>
            </a:r>
            <a:r>
              <a:rPr lang="vi-VN" dirty="0" err="1"/>
              <a:t>luyện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3EC19A-6571-4F7C-8ADD-9A9FDDEC1B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Để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trực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quan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hóa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, ta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sử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dụng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các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hàm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của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thư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viện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matplotlib.pyplot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algn="just"/>
                <a:r>
                  <a:rPr lang="vi-VN" sz="2800" dirty="0">
                    <a:solidFill>
                      <a:srgbClr val="FF0000"/>
                    </a:solidFill>
                  </a:rPr>
                  <a:t>Ở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bài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này</a:t>
                </a:r>
                <a:r>
                  <a:rPr lang="vi-VN" sz="2800" dirty="0">
                    <a:solidFill>
                      <a:srgbClr val="FF0000"/>
                    </a:solidFill>
                  </a:rPr>
                  <a:t>, ta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sẽ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trực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quan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hóa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bằng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cách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vẽ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các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vi-VN" sz="2800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vi-VN" sz="2800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800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trong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tập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huấn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luyện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lên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mặt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phẳng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tọa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err="1">
                    <a:solidFill>
                      <a:srgbClr val="FF0000"/>
                    </a:solidFill>
                  </a:rPr>
                  <a:t>độ</a:t>
                </a:r>
                <a:r>
                  <a:rPr lang="vi-VN" sz="2800">
                    <a:solidFill>
                      <a:srgbClr val="FF0000"/>
                    </a:solidFill>
                  </a:rPr>
                  <a:t>.</a:t>
                </a:r>
                <a:endParaRPr lang="en-US" sz="2800">
                  <a:solidFill>
                    <a:srgbClr val="FF0000"/>
                  </a:solidFill>
                </a:endParaRPr>
              </a:p>
              <a:p>
                <a:pPr algn="just"/>
                <a:r>
                  <a:rPr lang="en-US"/>
                  <a:t>L</a:t>
                </a:r>
                <a:r>
                  <a:rPr lang="vi-VN"/>
                  <a:t>ư</a:t>
                </a:r>
                <a:r>
                  <a:rPr lang="en-US"/>
                  <a:t>u ý: Tập dữ liệu ban đầu có 30 điểm dữ liệu đ</a:t>
                </a:r>
                <a:r>
                  <a:rPr lang="vi-VN"/>
                  <a:t>ư</a:t>
                </a:r>
                <a:r>
                  <a:rPr lang="en-US"/>
                  <a:t>ợc chia thành hai tập dữ liệu X_train, Y_train, X_test, Y_test theo tỉ lệ 80-20.</a:t>
                </a:r>
              </a:p>
              <a:p>
                <a:pPr lvl="1" algn="just"/>
                <a:r>
                  <a:rPr lang="en-US">
                    <a:solidFill>
                      <a:srgbClr val="FF0000"/>
                    </a:solidFill>
                  </a:rPr>
                  <a:t>Tập dữ liệu train chiếm 80%: 24 điểm dữ liệu.</a:t>
                </a:r>
              </a:p>
              <a:p>
                <a:pPr lvl="1" algn="just"/>
                <a:r>
                  <a:rPr lang="en-US"/>
                  <a:t>Tập dữ liệu test chiếm 20%: 6 điểm dữ liệu. </a:t>
                </a:r>
                <a:endParaRPr lang="vi-VN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3EC19A-6571-4F7C-8ADD-9A9FDDEC1B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1063113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ECB94-2920-49AD-8074-A1370CC10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</a:t>
            </a:r>
            <a:r>
              <a:rPr lang="vi-VN" dirty="0" err="1"/>
              <a:t>huấn</a:t>
            </a:r>
            <a:r>
              <a:rPr lang="vi-VN" dirty="0"/>
              <a:t> </a:t>
            </a:r>
            <a:r>
              <a:rPr lang="vi-VN" dirty="0" err="1"/>
              <a:t>luyện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EC19A-6571-4F7C-8ADD-9A9FDDEC1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11"/>
            </a:pPr>
            <a:r>
              <a:rPr lang="en-US" sz="2400" dirty="0">
                <a:solidFill>
                  <a:srgbClr val="AF00D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AF00D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US" sz="2400" kern="100" dirty="0"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11"/>
            </a:pP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2400" dirty="0" err="1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huấn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(Training Set)</a:t>
            </a:r>
            <a:endParaRPr lang="en-US" sz="2400" kern="100" dirty="0"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11"/>
            </a:pP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scatter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'red'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kern="100" dirty="0"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11"/>
            </a:pP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'Salary vs Experience (Training Set)'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kern="100" dirty="0"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11"/>
            </a:pP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xlabel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kinh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nghiệm'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kern="100" dirty="0"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11"/>
            </a:pP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ylabel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lương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($)'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kern="100" dirty="0"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11"/>
            </a:pP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2400" kern="100" dirty="0"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6995536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ECB94-2920-49AD-8074-A1370CC10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</a:t>
            </a:r>
            <a:r>
              <a:rPr lang="vi-VN" dirty="0" err="1"/>
              <a:t>huấn</a:t>
            </a:r>
            <a:r>
              <a:rPr lang="vi-VN" dirty="0"/>
              <a:t> </a:t>
            </a:r>
            <a:r>
              <a:rPr lang="vi-VN" dirty="0" err="1"/>
              <a:t>luyện</a:t>
            </a:r>
            <a:endParaRPr lang="vi-VN" dirty="0"/>
          </a:p>
        </p:txBody>
      </p:sp>
      <p:pic>
        <p:nvPicPr>
          <p:cNvPr id="10" name="Content Placeholder 7">
            <a:extLst>
              <a:ext uri="{FF2B5EF4-FFF2-40B4-BE49-F238E27FC236}">
                <a16:creationId xmlns:a16="http://schemas.microsoft.com/office/drawing/2014/main" id="{6A977B88-481A-4CA6-9B7E-C018CB61203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09600" y="1942516"/>
            <a:ext cx="5384800" cy="3841330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2702A4-C02F-4BB6-8E21-9098AB01EB1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just"/>
            <a:r>
              <a:rPr lang="vi-VN" dirty="0">
                <a:solidFill>
                  <a:srgbClr val="0066FF"/>
                </a:solidFill>
              </a:rPr>
              <a:t>Ta </a:t>
            </a:r>
            <a:r>
              <a:rPr lang="vi-VN" dirty="0" err="1">
                <a:solidFill>
                  <a:srgbClr val="0066FF"/>
                </a:solidFill>
              </a:rPr>
              <a:t>thấy</a:t>
            </a:r>
            <a:r>
              <a:rPr lang="vi-VN" dirty="0">
                <a:solidFill>
                  <a:srgbClr val="0066FF"/>
                </a:solidFill>
              </a:rPr>
              <a:t>, </a:t>
            </a:r>
            <a:r>
              <a:rPr lang="vi-VN" dirty="0" err="1">
                <a:solidFill>
                  <a:srgbClr val="0066FF"/>
                </a:solidFill>
              </a:rPr>
              <a:t>các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điểm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dữ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liệu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của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tập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huấn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luyện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có</a:t>
            </a:r>
            <a:r>
              <a:rPr lang="vi-VN" dirty="0">
                <a:solidFill>
                  <a:srgbClr val="0066FF"/>
                </a:solidFill>
              </a:rPr>
              <a:t> quan </a:t>
            </a:r>
            <a:r>
              <a:rPr lang="vi-VN" dirty="0" err="1">
                <a:solidFill>
                  <a:srgbClr val="0066FF"/>
                </a:solidFill>
              </a:rPr>
              <a:t>hệ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gần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tuyến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tính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với</a:t>
            </a:r>
            <a:r>
              <a:rPr lang="vi-VN" dirty="0">
                <a:solidFill>
                  <a:srgbClr val="0066FF"/>
                </a:solidFill>
              </a:rPr>
              <a:t> nhau.</a:t>
            </a:r>
          </a:p>
          <a:p>
            <a:pPr algn="just"/>
            <a:r>
              <a:rPr lang="vi-VN">
                <a:solidFill>
                  <a:srgbClr val="FF0000"/>
                </a:solidFill>
              </a:rPr>
              <a:t>Do đó</a:t>
            </a:r>
            <a:r>
              <a:rPr lang="en-US">
                <a:solidFill>
                  <a:srgbClr val="FF0000"/>
                </a:solidFill>
              </a:rPr>
              <a:t>,</a:t>
            </a:r>
            <a:r>
              <a:rPr lang="vi-VN">
                <a:solidFill>
                  <a:srgbClr val="FF0000"/>
                </a:solidFill>
              </a:rPr>
              <a:t> </a:t>
            </a:r>
            <a:r>
              <a:rPr lang="vi-VN" dirty="0">
                <a:solidFill>
                  <a:srgbClr val="FF0000"/>
                </a:solidFill>
              </a:rPr>
              <a:t>mô </a:t>
            </a:r>
            <a:r>
              <a:rPr lang="vi-VN" dirty="0" err="1">
                <a:solidFill>
                  <a:srgbClr val="FF0000"/>
                </a:solidFill>
              </a:rPr>
              <a:t>hình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hồi</a:t>
            </a:r>
            <a:r>
              <a:rPr lang="vi-VN" dirty="0">
                <a:solidFill>
                  <a:srgbClr val="FF0000"/>
                </a:solidFill>
              </a:rPr>
              <a:t> quy </a:t>
            </a:r>
            <a:r>
              <a:rPr lang="vi-VN" dirty="0" err="1">
                <a:solidFill>
                  <a:srgbClr val="FF0000"/>
                </a:solidFill>
              </a:rPr>
              <a:t>tuyến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tính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phù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hợp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với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bài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toán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err="1">
                <a:solidFill>
                  <a:srgbClr val="FF0000"/>
                </a:solidFill>
              </a:rPr>
              <a:t>này</a:t>
            </a:r>
            <a:r>
              <a:rPr lang="vi-VN">
                <a:solidFill>
                  <a:srgbClr val="FF0000"/>
                </a:solidFill>
              </a:rPr>
              <a:t>.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73168415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153F291-37A6-4FAA-B800-C65880925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Huấn</a:t>
            </a:r>
            <a:r>
              <a:rPr lang="vi-VN" dirty="0"/>
              <a:t> </a:t>
            </a:r>
            <a:r>
              <a:rPr lang="vi-VN" dirty="0" err="1"/>
              <a:t>luyện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BDACDB-C6D8-4923-855E-BCBB1ADB8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34158648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D38C5-959E-48F3-A33B-FF372D686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Huấn</a:t>
            </a:r>
            <a:r>
              <a:rPr lang="vi-VN" dirty="0"/>
              <a:t> </a:t>
            </a:r>
            <a:r>
              <a:rPr lang="vi-VN" dirty="0" err="1"/>
              <a:t>luyện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655693E-7C43-4CAC-8171-766DA29591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Cách tìm các hệ số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vi-V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vi-V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vi-V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66FF"/>
                    </a:solidFill>
                  </a:rPr>
                  <a:t>,</a:t>
                </a:r>
                <a:r>
                  <a:rPr lang="vi-VN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vi-V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vi-V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của mô hình hồi quy tuyến tính đã có sẵn trong lớp 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LinearRegression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ở module 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linear_model</a:t>
                </a:r>
                <a:r>
                  <a:rPr lang="vi-VN" sz="2800" dirty="0">
                    <a:solidFill>
                      <a:srgbClr val="0066FF"/>
                    </a:solidFill>
                  </a:rPr>
                  <a:t>, package 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sklearn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algn="just"/>
                <a:r>
                  <a:rPr lang="vi-VN" sz="2800" dirty="0" err="1">
                    <a:solidFill>
                      <a:srgbClr val="FF0000"/>
                    </a:solidFill>
                  </a:rPr>
                  <a:t>Quá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trình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tìm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các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hệ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này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dựa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trên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một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tập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gọi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huấn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luyện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(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training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).</a:t>
                </a:r>
              </a:p>
              <a:p>
                <a:pPr algn="just"/>
                <a:endParaRPr lang="vi-VN" sz="2800" dirty="0"/>
              </a:p>
              <a:p>
                <a:pPr marL="514350" indent="-514350">
                  <a:lnSpc>
                    <a:spcPct val="98958"/>
                  </a:lnSpc>
                  <a:spcAft>
                    <a:spcPts val="800"/>
                  </a:spcAft>
                  <a:buFont typeface="+mj-lt"/>
                  <a:buAutoNum type="arabicPeriod" startAt="17"/>
                </a:pPr>
                <a:r>
                  <a:rPr lang="en-US" dirty="0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regressor</a:t>
                </a:r>
                <a:r>
                  <a:rPr lang="en-US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dirty="0" err="1">
                    <a:solidFill>
                      <a:srgbClr val="267F99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LinearRegression</a:t>
                </a:r>
                <a:r>
                  <a:rPr lang="en-US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()</a:t>
                </a:r>
                <a:endParaRPr lang="en-US" sz="3600" kern="100" dirty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514350" indent="-514350">
                  <a:lnSpc>
                    <a:spcPct val="98958"/>
                  </a:lnSpc>
                  <a:spcAft>
                    <a:spcPts val="800"/>
                  </a:spcAft>
                  <a:buFont typeface="+mj-lt"/>
                  <a:buAutoNum type="arabicPeriod" startAt="17"/>
                </a:pPr>
                <a:r>
                  <a:rPr lang="en-US" dirty="0" err="1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regressor</a:t>
                </a:r>
                <a:r>
                  <a:rPr lang="en-US" dirty="0" err="1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dirty="0" err="1">
                    <a:solidFill>
                      <a:srgbClr val="795E26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fit</a:t>
                </a:r>
                <a:r>
                  <a:rPr lang="en-US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dirty="0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X_train</a:t>
                </a:r>
                <a:r>
                  <a:rPr lang="en-US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dirty="0" err="1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y_train</a:t>
                </a:r>
                <a:r>
                  <a:rPr lang="en-US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sz="3600" kern="100" dirty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655693E-7C43-4CAC-8171-766DA29591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56" t="-1482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3678376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EAAAA-315B-AF12-56F7-0393C5DCB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B5FF6-49F5-B972-78DE-CA3C89E6A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Huấn</a:t>
            </a:r>
            <a:r>
              <a:rPr lang="vi-VN" dirty="0"/>
              <a:t> </a:t>
            </a:r>
            <a:r>
              <a:rPr lang="vi-VN" dirty="0" err="1"/>
              <a:t>luyện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9C8AC7F-A8CC-1F2E-AE2D-CC2DC0D73A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Sau </a:t>
                </a:r>
                <a:r>
                  <a:rPr lang="en-US" dirty="0" err="1"/>
                  <a:t>khi</a:t>
                </a:r>
                <a:r>
                  <a:rPr lang="en-US" dirty="0"/>
                  <a:t> </a:t>
                </a:r>
                <a:r>
                  <a:rPr lang="en-US" dirty="0" err="1"/>
                  <a:t>huấn</a:t>
                </a:r>
                <a:r>
                  <a:rPr lang="en-US" dirty="0"/>
                  <a:t> </a:t>
                </a:r>
                <a:r>
                  <a:rPr lang="en-US" dirty="0" err="1"/>
                  <a:t>luyện</a:t>
                </a:r>
                <a:r>
                  <a:rPr lang="en-US" dirty="0"/>
                  <a:t>, ta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thể</a:t>
                </a:r>
                <a:r>
                  <a:rPr lang="en-US" dirty="0"/>
                  <a:t> in </a:t>
                </a:r>
                <a:r>
                  <a:rPr lang="en-US" dirty="0" err="1"/>
                  <a:t>ra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giá </a:t>
                </a:r>
                <a:r>
                  <a:rPr lang="en-US" dirty="0" err="1"/>
                  <a:t>trị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vi-VN" dirty="0"/>
                  <a:t>số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vi-V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vi-V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vi-V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vi-V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  <a:r>
                  <a:rPr lang="vi-VN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vi-V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vi-V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vi-VN" dirty="0"/>
                  <a:t> của mô hình hồi quy tuyến tính</a:t>
                </a:r>
                <a:r>
                  <a:rPr lang="en-US" dirty="0"/>
                  <a:t>.</a:t>
                </a:r>
                <a:endParaRPr lang="vi-VN" sz="2800" dirty="0"/>
              </a:p>
              <a:p>
                <a:pPr marL="457200" indent="-457200">
                  <a:lnSpc>
                    <a:spcPct val="98958"/>
                  </a:lnSpc>
                  <a:spcAft>
                    <a:spcPts val="800"/>
                  </a:spcAft>
                  <a:buFont typeface="+mj-lt"/>
                  <a:buAutoNum type="arabicPeriod" startAt="19"/>
                </a:pPr>
                <a:r>
                  <a:rPr lang="en-US" sz="2400" dirty="0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w1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sz="2400" dirty="0" err="1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regressor</a:t>
                </a:r>
                <a:r>
                  <a:rPr lang="en-US" sz="2400" dirty="0" err="1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sz="2400" dirty="0" err="1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coef</a:t>
                </a:r>
                <a:r>
                  <a:rPr lang="en-US" sz="2400" dirty="0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_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sz="2400" dirty="0">
                    <a:solidFill>
                      <a:srgbClr val="098658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endParaRPr lang="en-US" sz="2400" kern="100" dirty="0">
                  <a:latin typeface="Consolas" panose="020B0609020204030204" pitchFamily="49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98958"/>
                  </a:lnSpc>
                  <a:spcAft>
                    <a:spcPts val="800"/>
                  </a:spcAft>
                  <a:buFont typeface="+mj-lt"/>
                  <a:buAutoNum type="arabicPeriod" startAt="19"/>
                </a:pPr>
                <a:r>
                  <a:rPr lang="en-US" sz="2400" dirty="0" err="1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w0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sz="2400" dirty="0" err="1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regressor</a:t>
                </a:r>
                <a:r>
                  <a:rPr lang="en-US" sz="2400" dirty="0" err="1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sz="2400" dirty="0" err="1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intercept</a:t>
                </a:r>
                <a:r>
                  <a:rPr lang="en-US" sz="2400" dirty="0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_</a:t>
                </a:r>
                <a:endParaRPr lang="en-US" sz="2400" kern="100" dirty="0">
                  <a:latin typeface="Consolas" panose="020B0609020204030204" pitchFamily="49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98958"/>
                  </a:lnSpc>
                  <a:spcAft>
                    <a:spcPts val="800"/>
                  </a:spcAft>
                  <a:buFont typeface="+mj-lt"/>
                  <a:buAutoNum type="arabicPeriod" startAt="19"/>
                </a:pPr>
                <a:r>
                  <a:rPr lang="en-US" sz="2400" dirty="0">
                    <a:solidFill>
                      <a:srgbClr val="795E26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print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400" dirty="0" err="1">
                    <a:solidFill>
                      <a:srgbClr val="0000FF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sz="2400" dirty="0" err="1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'Phương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hồi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quy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y = </a:t>
                </a:r>
                <a:r>
                  <a:rPr lang="en-US" sz="2400" dirty="0">
                    <a:solidFill>
                      <a:srgbClr val="0000FF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sz="2400" dirty="0" err="1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w0</a:t>
                </a:r>
                <a:r>
                  <a:rPr lang="en-US" sz="2400" dirty="0">
                    <a:solidFill>
                      <a:srgbClr val="0000FF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:,.</a:t>
                </a:r>
                <a:r>
                  <a:rPr lang="en-US" sz="2400" dirty="0" err="1">
                    <a:solidFill>
                      <a:srgbClr val="0000FF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2f</a:t>
                </a:r>
                <a:r>
                  <a:rPr lang="en-US" sz="2400" dirty="0">
                    <a:solidFill>
                      <a:srgbClr val="0000FF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US" sz="2400" dirty="0">
                    <a:solidFill>
                      <a:srgbClr val="0000FF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sz="2400" dirty="0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w1</a:t>
                </a:r>
                <a:r>
                  <a:rPr lang="en-US" sz="2400" dirty="0">
                    <a:solidFill>
                      <a:srgbClr val="0000FF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:,.</a:t>
                </a:r>
                <a:r>
                  <a:rPr lang="en-US" sz="2400" dirty="0" err="1">
                    <a:solidFill>
                      <a:srgbClr val="0000FF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2f</a:t>
                </a:r>
                <a:r>
                  <a:rPr lang="en-US" sz="2400" dirty="0">
                    <a:solidFill>
                      <a:srgbClr val="0000FF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* x'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sz="2400" kern="100" dirty="0">
                  <a:latin typeface="Consolas" panose="020B0609020204030204" pitchFamily="49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98958"/>
                  </a:lnSpc>
                  <a:spcAft>
                    <a:spcPts val="800"/>
                  </a:spcAft>
                  <a:buFont typeface="+mj-lt"/>
                  <a:buAutoNum type="arabicPeriod" startAt="19"/>
                </a:pPr>
                <a:r>
                  <a:rPr lang="en-US" sz="2400" dirty="0">
                    <a:solidFill>
                      <a:srgbClr val="795E26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print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400" dirty="0" err="1">
                    <a:solidFill>
                      <a:srgbClr val="0000FF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sz="2400" dirty="0" err="1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'Ý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400" dirty="0" err="1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Mức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lương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cơ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bản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khởi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$</a:t>
                </a:r>
                <a:r>
                  <a:rPr lang="en-US" sz="2400" dirty="0">
                    <a:solidFill>
                      <a:srgbClr val="0000FF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sz="2400" dirty="0" err="1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w0</a:t>
                </a:r>
                <a:r>
                  <a:rPr lang="en-US" sz="2400" dirty="0">
                    <a:solidFill>
                      <a:srgbClr val="0000FF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:,.</a:t>
                </a:r>
                <a:r>
                  <a:rPr lang="en-US" sz="2400" dirty="0" err="1">
                    <a:solidFill>
                      <a:srgbClr val="0000FF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2f</a:t>
                </a:r>
                <a:r>
                  <a:rPr lang="en-US" sz="2400" dirty="0">
                    <a:solidFill>
                      <a:srgbClr val="0000FF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400" dirty="0" err="1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mỗi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năm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kinh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nghiệm </a:t>
                </a:r>
                <a:r>
                  <a:rPr lang="en-US" sz="2400" dirty="0" err="1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giúp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tăng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trung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bình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$</a:t>
                </a:r>
                <a:r>
                  <a:rPr lang="en-US" sz="2400" dirty="0">
                    <a:solidFill>
                      <a:srgbClr val="0000FF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sz="2400" dirty="0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w1</a:t>
                </a:r>
                <a:r>
                  <a:rPr lang="en-US" sz="2400" dirty="0">
                    <a:solidFill>
                      <a:srgbClr val="0000FF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:,.</a:t>
                </a:r>
                <a:r>
                  <a:rPr lang="en-US" sz="2400" dirty="0" err="1">
                    <a:solidFill>
                      <a:srgbClr val="0000FF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2f</a:t>
                </a:r>
                <a:r>
                  <a:rPr lang="en-US" sz="2400" dirty="0">
                    <a:solidFill>
                      <a:srgbClr val="0000FF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.'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sz="2400" kern="100" dirty="0">
                  <a:latin typeface="Consolas" panose="020B0609020204030204" pitchFamily="49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9C8AC7F-A8CC-1F2E-AE2D-CC2DC0D73A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r="-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855358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153F291-37A6-4FAA-B800-C65880925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endParaRPr lang="vi-V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BDACDB-C6D8-4923-855E-BCBB1ADB8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56556262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153F291-37A6-4FAA-B800-C65880925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vi-VN"/>
              <a:t>Trực quan hóa kết quả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FC9DB-4368-4713-A53C-5CDDE40FB8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algn="just"/>
            <a:r>
              <a:rPr lang="vi-VN" sz="2800">
                <a:solidFill>
                  <a:srgbClr val="0066FF"/>
                </a:solidFill>
              </a:rPr>
              <a:t>Ban đầu, ta sẽ vẽ đường thẳng thu được sau khi huấn luyện mô hình dựa trên tập dữ liệu huấn luyện.</a:t>
            </a:r>
            <a:endParaRPr lang="vi-VN" sz="2800" dirty="0">
              <a:solidFill>
                <a:srgbClr val="0066FF"/>
              </a:solidFill>
            </a:endParaRPr>
          </a:p>
        </p:txBody>
      </p:sp>
      <p:pic>
        <p:nvPicPr>
          <p:cNvPr id="12" name="Content Placeholder 4">
            <a:extLst>
              <a:ext uri="{FF2B5EF4-FFF2-40B4-BE49-F238E27FC236}">
                <a16:creationId xmlns:a16="http://schemas.microsoft.com/office/drawing/2014/main" id="{6645B7C6-80F6-480E-B0AD-AEA4A71A7E5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5964599" y="1447800"/>
            <a:ext cx="6159756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5849790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92FB7-556A-42E2-A987-2FF225AA1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endParaRPr lang="vi-V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563EE0-F8F9-41AE-BBE8-2BDADCBBC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23"/>
            </a:pPr>
            <a:r>
              <a:rPr lang="en-US" sz="2400" kern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scatter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'red'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'Train Data'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23"/>
            </a:pPr>
            <a:r>
              <a:rPr lang="en-US" sz="2400" kern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r>
              <a:rPr lang="en-US" sz="24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plot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regressor</a:t>
            </a:r>
            <a:r>
              <a:rPr lang="en-US" sz="24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'blue'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linewidth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'Fit Line'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23"/>
            </a:pPr>
            <a:r>
              <a:rPr lang="en-US" sz="2400" kern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r>
              <a:rPr lang="en-US" sz="24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'Salary vs Experience (Training Set)'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23"/>
            </a:pPr>
            <a:r>
              <a:rPr lang="en-US" sz="2400" kern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r>
              <a:rPr lang="en-US" sz="24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xlabel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24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4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kinh</a:t>
            </a:r>
            <a:r>
              <a:rPr lang="en-US" sz="24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nghiệm'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23"/>
            </a:pPr>
            <a:r>
              <a:rPr lang="en-US" sz="2400" kern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r>
              <a:rPr lang="en-US" sz="24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ylabel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24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sz="24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lương</a:t>
            </a:r>
            <a:r>
              <a:rPr lang="en-US" sz="24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($)'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23"/>
            </a:pPr>
            <a:r>
              <a:rPr lang="en-US" sz="2400" kern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r>
              <a:rPr lang="en-US" sz="24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legend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24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23"/>
            </a:pPr>
            <a:r>
              <a:rPr lang="en-US" sz="2400" kern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r>
              <a:rPr lang="en-US" sz="24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show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24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819876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92FB7-556A-42E2-A987-2FF225AA1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endParaRPr lang="vi-V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E74DD9-638A-4E30-978A-2D48B30A43B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09600" y="1931395"/>
            <a:ext cx="5384800" cy="386357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66656-AA38-4B15-8694-0E452B5A57D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just"/>
            <a:r>
              <a:rPr lang="vi-VN" dirty="0">
                <a:solidFill>
                  <a:srgbClr val="0066FF"/>
                </a:solidFill>
              </a:rPr>
              <a:t>Như </a:t>
            </a:r>
            <a:r>
              <a:rPr lang="vi-VN" dirty="0" err="1">
                <a:solidFill>
                  <a:srgbClr val="0066FF"/>
                </a:solidFill>
              </a:rPr>
              <a:t>đã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thấy</a:t>
            </a:r>
            <a:r>
              <a:rPr lang="vi-VN" dirty="0">
                <a:solidFill>
                  <a:srgbClr val="0066FF"/>
                </a:solidFill>
              </a:rPr>
              <a:t>, </a:t>
            </a:r>
            <a:r>
              <a:rPr lang="vi-VN" dirty="0" err="1">
                <a:solidFill>
                  <a:srgbClr val="0066FF"/>
                </a:solidFill>
              </a:rPr>
              <a:t>đường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thẳng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này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rất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gần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với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các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điểm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dữ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liệu</a:t>
            </a:r>
            <a:r>
              <a:rPr lang="vi-VN" dirty="0">
                <a:solidFill>
                  <a:srgbClr val="0066FF"/>
                </a:solidFill>
              </a:rPr>
              <a:t>, ta </a:t>
            </a:r>
            <a:r>
              <a:rPr lang="vi-VN" dirty="0" err="1">
                <a:solidFill>
                  <a:srgbClr val="0066FF"/>
                </a:solidFill>
              </a:rPr>
              <a:t>có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thể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nói</a:t>
            </a:r>
            <a:r>
              <a:rPr lang="vi-VN" dirty="0">
                <a:solidFill>
                  <a:srgbClr val="0066FF"/>
                </a:solidFill>
              </a:rPr>
              <a:t> mô </a:t>
            </a:r>
            <a:r>
              <a:rPr lang="vi-VN" dirty="0" err="1">
                <a:solidFill>
                  <a:srgbClr val="0066FF"/>
                </a:solidFill>
              </a:rPr>
              <a:t>hình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này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có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độ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chính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xác</a:t>
            </a:r>
            <a:r>
              <a:rPr lang="vi-VN" dirty="0">
                <a:solidFill>
                  <a:srgbClr val="0066FF"/>
                </a:solidFill>
              </a:rPr>
              <a:t> tương </a:t>
            </a:r>
            <a:r>
              <a:rPr lang="vi-VN" dirty="0" err="1">
                <a:solidFill>
                  <a:srgbClr val="0066FF"/>
                </a:solidFill>
              </a:rPr>
              <a:t>đối</a:t>
            </a:r>
            <a:r>
              <a:rPr lang="vi-VN" dirty="0">
                <a:solidFill>
                  <a:srgbClr val="0066FF"/>
                </a:solidFill>
              </a:rPr>
              <a:t> trên </a:t>
            </a:r>
            <a:r>
              <a:rPr lang="vi-VN" dirty="0" err="1">
                <a:solidFill>
                  <a:srgbClr val="0066FF"/>
                </a:solidFill>
              </a:rPr>
              <a:t>tập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dữ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liệu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của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chúng</a:t>
            </a:r>
            <a:r>
              <a:rPr lang="vi-VN" dirty="0">
                <a:solidFill>
                  <a:srgbClr val="0066FF"/>
                </a:solidFill>
              </a:rPr>
              <a:t> ta.</a:t>
            </a:r>
          </a:p>
        </p:txBody>
      </p:sp>
    </p:spTree>
    <p:extLst>
      <p:ext uri="{BB962C8B-B14F-4D97-AF65-F5344CB8AC3E}">
        <p14:creationId xmlns:p14="http://schemas.microsoft.com/office/powerpoint/2010/main" val="174254512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153F291-37A6-4FAA-B800-C65880925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Kiểm</a:t>
            </a:r>
            <a:r>
              <a:rPr lang="vi-VN" dirty="0"/>
              <a:t> tra mô </a:t>
            </a:r>
            <a:r>
              <a:rPr lang="vi-VN" dirty="0" err="1"/>
              <a:t>hình</a:t>
            </a:r>
            <a:r>
              <a:rPr lang="vi-VN" dirty="0"/>
              <a:t> trên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</a:t>
            </a:r>
            <a:r>
              <a:rPr lang="vi-VN" dirty="0" err="1"/>
              <a:t>test</a:t>
            </a:r>
            <a:endParaRPr lang="vi-V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BDACDB-C6D8-4923-855E-BCBB1ADB8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1641689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153F291-37A6-4FAA-B800-C65880925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Kiểm tra mô hình trên dữ liệu test</a:t>
            </a:r>
            <a:endParaRPr lang="vi-VN" dirty="0"/>
          </a:p>
        </p:txBody>
      </p:sp>
      <p:pic>
        <p:nvPicPr>
          <p:cNvPr id="13" name="Content Placeholder 7">
            <a:extLst>
              <a:ext uri="{FF2B5EF4-FFF2-40B4-BE49-F238E27FC236}">
                <a16:creationId xmlns:a16="http://schemas.microsoft.com/office/drawing/2014/main" id="{7012B0F4-8D2A-4612-AB43-BB1480C439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4200" y="1634331"/>
            <a:ext cx="594360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806707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92FB7-556A-42E2-A987-2FF225AA1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Kiểm</a:t>
            </a:r>
            <a:r>
              <a:rPr lang="vi-VN" dirty="0"/>
              <a:t> tra mô </a:t>
            </a:r>
            <a:r>
              <a:rPr lang="vi-VN" dirty="0" err="1"/>
              <a:t>hình</a:t>
            </a:r>
            <a:r>
              <a:rPr lang="vi-VN" dirty="0"/>
              <a:t> trên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</a:t>
            </a:r>
            <a:r>
              <a:rPr lang="vi-VN" dirty="0" err="1"/>
              <a:t>test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E39E3-1B39-4AA5-8310-4A0C9EE3D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30"/>
            </a:pPr>
            <a:r>
              <a:rPr lang="en-US" sz="23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y_pred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3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regressor</a:t>
            </a:r>
            <a:r>
              <a:rPr lang="en-US" sz="23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3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3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3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30"/>
            </a:pPr>
            <a:r>
              <a:rPr lang="en-US" sz="2300" kern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3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scatter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3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3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3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3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'red'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3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3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'Test Data'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3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30"/>
            </a:pPr>
            <a:r>
              <a:rPr lang="en-US" sz="2300" kern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r>
              <a:rPr lang="en-US" sz="23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3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plot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3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3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regressor</a:t>
            </a:r>
            <a:r>
              <a:rPr lang="en-US" sz="23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3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3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3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3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'blue'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3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linewidth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3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3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3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'Fit Line'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3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30"/>
            </a:pPr>
            <a:r>
              <a:rPr lang="en-US" sz="2300" kern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r>
              <a:rPr lang="en-US" sz="23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3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3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'Salary vs Experience (Test Set)'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3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30"/>
            </a:pPr>
            <a:r>
              <a:rPr lang="en-US" sz="2300" kern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r>
              <a:rPr lang="en-US" sz="23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3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xlabel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3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23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3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3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kinh</a:t>
            </a:r>
            <a:r>
              <a:rPr lang="en-US" sz="23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nghiệm'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3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30"/>
            </a:pPr>
            <a:r>
              <a:rPr lang="en-US" sz="2300" kern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r>
              <a:rPr lang="en-US" sz="23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3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ylabel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3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23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sz="23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lương</a:t>
            </a:r>
            <a:r>
              <a:rPr lang="en-US" sz="23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($)'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3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30"/>
            </a:pPr>
            <a:r>
              <a:rPr lang="en-US" sz="2300" kern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r>
              <a:rPr lang="en-US" sz="23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3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legend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23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30"/>
            </a:pPr>
            <a:r>
              <a:rPr lang="en-US" sz="2300" kern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r>
              <a:rPr lang="en-US" sz="23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3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show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sz="23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64964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92FB7-556A-42E2-A987-2FF225AA1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Kiểm</a:t>
            </a:r>
            <a:r>
              <a:rPr lang="vi-VN" dirty="0"/>
              <a:t> tra mô </a:t>
            </a:r>
            <a:r>
              <a:rPr lang="vi-VN" dirty="0" err="1"/>
              <a:t>hình</a:t>
            </a:r>
            <a:r>
              <a:rPr lang="vi-VN" dirty="0"/>
              <a:t> trên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</a:t>
            </a:r>
            <a:r>
              <a:rPr lang="vi-VN" dirty="0" err="1"/>
              <a:t>test</a:t>
            </a:r>
            <a:endParaRPr lang="vi-V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7523B80-4DC1-4BA5-96FD-9605490DED8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09600" y="1888755"/>
            <a:ext cx="5384800" cy="3948853"/>
          </a:xfrm>
          <a:prstGeom prst="rect">
            <a:avLst/>
          </a:prstGeom>
        </p:spPr>
      </p:pic>
      <p:pic>
        <p:nvPicPr>
          <p:cNvPr id="10" name="Content Placeholder 7">
            <a:extLst>
              <a:ext uri="{FF2B5EF4-FFF2-40B4-BE49-F238E27FC236}">
                <a16:creationId xmlns:a16="http://schemas.microsoft.com/office/drawing/2014/main" id="{4AB29711-EB22-4E02-AC83-0B600B1501D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97600" y="1843881"/>
            <a:ext cx="538480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377224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F2CCA-684E-9F20-8672-FE2C0033C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58BAB-CE9C-0EEF-0DC7-8D7449521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Huấn</a:t>
            </a:r>
            <a:r>
              <a:rPr lang="vi-VN" dirty="0"/>
              <a:t> </a:t>
            </a:r>
            <a:r>
              <a:rPr lang="vi-VN" dirty="0" err="1"/>
              <a:t>luyện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C5BD77-D57F-A478-2C3E-D1CE7A778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Đo</a:t>
            </a:r>
            <a:r>
              <a:rPr lang="en-US" dirty="0"/>
              <a:t> </a:t>
            </a:r>
            <a:r>
              <a:rPr lang="en-US" dirty="0" err="1"/>
              <a:t>lường</a:t>
            </a:r>
            <a:r>
              <a:rPr lang="en-US" dirty="0"/>
              <a:t> </a:t>
            </a:r>
            <a:r>
              <a:rPr lang="en-US" dirty="0" err="1"/>
              <a:t>sai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và đánh giá </a:t>
            </a:r>
            <a:r>
              <a:rPr lang="en-US" dirty="0" err="1"/>
              <a:t>chất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.</a:t>
            </a:r>
          </a:p>
          <a:p>
            <a:pPr lvl="1"/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MAE</a:t>
            </a:r>
            <a:r>
              <a:rPr lang="vi-VN" dirty="0">
                <a:solidFill>
                  <a:srgbClr val="FF0000"/>
                </a:solidFill>
              </a:rPr>
              <a:t> – </a:t>
            </a:r>
            <a:r>
              <a:rPr lang="vi-VN" dirty="0" err="1">
                <a:solidFill>
                  <a:srgbClr val="FF0000"/>
                </a:solidFill>
              </a:rPr>
              <a:t>Mean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Absolute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Error</a:t>
            </a:r>
            <a:r>
              <a:rPr lang="vi-VN" dirty="0">
                <a:solidFill>
                  <a:srgbClr val="FF0000"/>
                </a:solidFill>
              </a:rPr>
              <a:t> (Sai số tuyệt đối trung bình).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vi-VN" dirty="0" err="1"/>
              <a:t>RMSE</a:t>
            </a:r>
            <a:r>
              <a:rPr lang="vi-VN" dirty="0"/>
              <a:t> – </a:t>
            </a:r>
            <a:r>
              <a:rPr lang="vi-VN" dirty="0" err="1"/>
              <a:t>Root</a:t>
            </a:r>
            <a:r>
              <a:rPr lang="vi-VN" dirty="0"/>
              <a:t> </a:t>
            </a:r>
            <a:r>
              <a:rPr lang="vi-VN" dirty="0" err="1"/>
              <a:t>Mean</a:t>
            </a:r>
            <a:r>
              <a:rPr lang="vi-VN" dirty="0"/>
              <a:t> </a:t>
            </a:r>
            <a:r>
              <a:rPr lang="vi-VN" dirty="0" err="1"/>
              <a:t>Squared</a:t>
            </a:r>
            <a:r>
              <a:rPr lang="vi-VN" dirty="0"/>
              <a:t> </a:t>
            </a:r>
            <a:r>
              <a:rPr lang="vi-VN" dirty="0" err="1"/>
              <a:t>Error</a:t>
            </a:r>
            <a:r>
              <a:rPr lang="vi-VN" dirty="0"/>
              <a:t> (Căn bậc hai của sai số bình phương trung bình).</a:t>
            </a:r>
            <a:endParaRPr lang="en-US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P</a:t>
            </a:r>
            <a:r>
              <a:rPr lang="vi-VN" dirty="0" err="1">
                <a:solidFill>
                  <a:srgbClr val="FF0000"/>
                </a:solidFill>
              </a:rPr>
              <a:t>hần</a:t>
            </a:r>
            <a:r>
              <a:rPr lang="vi-VN" dirty="0">
                <a:solidFill>
                  <a:srgbClr val="FF0000"/>
                </a:solidFill>
              </a:rPr>
              <a:t> trăm (%) sự biến thiên của dữ liệu.</a:t>
            </a: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38"/>
            </a:pPr>
            <a:r>
              <a:rPr lang="en-US" sz="24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mae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mean_absolute_error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y_pred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32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38"/>
            </a:pPr>
            <a:r>
              <a:rPr lang="en-US" sz="24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rmse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root_mean_squared_error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y_pred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32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38"/>
            </a:pPr>
            <a:r>
              <a:rPr lang="en-US" sz="24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r2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r2_score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y_pred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32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5552022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18A43-8F8D-919A-DB45-70BD39EA2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C06B7-9121-7700-59FD-A063D2A15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Huấn</a:t>
            </a:r>
            <a:r>
              <a:rPr lang="vi-VN" dirty="0"/>
              <a:t> </a:t>
            </a:r>
            <a:r>
              <a:rPr lang="vi-VN" dirty="0" err="1"/>
              <a:t>luyện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54391D-8008-D96C-C55F-F4E0E849D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ra</a:t>
            </a:r>
            <a:r>
              <a:rPr lang="en-US" dirty="0"/>
              <a:t> kết quả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endParaRPr lang="en-US" dirty="0"/>
          </a:p>
          <a:p>
            <a:pPr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41"/>
            </a:pPr>
            <a:r>
              <a:rPr lang="en-US" sz="15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df_compare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500" kern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r>
              <a:rPr lang="en-US" sz="15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500" kern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({</a:t>
            </a:r>
            <a:endParaRPr lang="en-US" sz="15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41"/>
            </a:pP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'Kinh nghiệm (</a:t>
            </a:r>
            <a:r>
              <a:rPr lang="en-US" sz="15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)'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5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US" sz="15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5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ravel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(),</a:t>
            </a:r>
            <a:endParaRPr lang="en-US" sz="15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41"/>
            </a:pP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'Lương Thực </a:t>
            </a:r>
            <a:r>
              <a:rPr lang="en-US" sz="15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($)'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5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US" sz="15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41"/>
            </a:pP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'Lương </a:t>
            </a:r>
            <a:r>
              <a:rPr lang="en-US" sz="15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đoán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($)'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500" kern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en-US" sz="15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5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round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5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y_pred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endParaRPr lang="en-US" sz="15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41"/>
            </a:pP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5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Chênh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lệch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($)'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500" kern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en-US" sz="15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5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round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500" kern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en-US" sz="15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5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abs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5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5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y_pred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15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5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41"/>
            </a:pP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})</a:t>
            </a:r>
            <a:endParaRPr lang="en-US" sz="15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41"/>
            </a:pPr>
            <a:r>
              <a:rPr lang="en-US" sz="1500" kern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5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df_compare</a:t>
            </a:r>
            <a:r>
              <a:rPr lang="en-US" sz="15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5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to_string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5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5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en-US" sz="15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41"/>
            </a:pPr>
            <a:r>
              <a:rPr lang="en-US" sz="1500" kern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'-'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15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5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41"/>
            </a:pPr>
            <a:r>
              <a:rPr lang="en-US" sz="1500" kern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500" kern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5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'MAE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 $</a:t>
            </a:r>
            <a:r>
              <a:rPr lang="en-US" sz="15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5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mae</a:t>
            </a:r>
            <a:r>
              <a:rPr lang="en-US" sz="15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:,.</a:t>
            </a:r>
            <a:r>
              <a:rPr lang="en-US" sz="1500" kern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2f</a:t>
            </a:r>
            <a:r>
              <a:rPr lang="en-US" sz="15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5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41"/>
            </a:pPr>
            <a:r>
              <a:rPr lang="en-US" sz="1500" kern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500" kern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5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'RMSE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$</a:t>
            </a:r>
            <a:r>
              <a:rPr lang="en-US" sz="15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5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rmse</a:t>
            </a:r>
            <a:r>
              <a:rPr lang="en-US" sz="15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:,.</a:t>
            </a:r>
            <a:r>
              <a:rPr lang="en-US" sz="1500" kern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2f</a:t>
            </a:r>
            <a:r>
              <a:rPr lang="en-US" sz="15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5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41"/>
            </a:pPr>
            <a:r>
              <a:rPr lang="en-US" sz="1500" kern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500" kern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5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'R²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  </a:t>
            </a:r>
            <a:r>
              <a:rPr lang="en-US" sz="15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5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r2</a:t>
            </a:r>
            <a:r>
              <a:rPr lang="en-US" sz="15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:.</a:t>
            </a:r>
            <a:r>
              <a:rPr lang="en-US" sz="1500" kern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4f</a:t>
            </a:r>
            <a:r>
              <a:rPr lang="en-US" sz="15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5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5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r2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15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en-US" sz="15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:.</a:t>
            </a:r>
            <a:r>
              <a:rPr lang="en-US" sz="1500" kern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2f</a:t>
            </a:r>
            <a:r>
              <a:rPr lang="en-US" sz="15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</a:t>
            </a:r>
            <a:r>
              <a:rPr lang="en-US" sz="15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sai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)'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5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139212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01224-1A5A-45B9-823E-184E5CE7F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Kiểm</a:t>
            </a:r>
            <a:r>
              <a:rPr lang="vi-VN" dirty="0"/>
              <a:t> tra mô </a:t>
            </a:r>
            <a:r>
              <a:rPr lang="vi-VN" dirty="0" err="1"/>
              <a:t>hình</a:t>
            </a:r>
            <a:r>
              <a:rPr lang="vi-VN" dirty="0"/>
              <a:t> trên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</a:t>
            </a:r>
            <a:r>
              <a:rPr lang="vi-VN" dirty="0" err="1"/>
              <a:t>test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E68C36B3-46CF-4B7C-BEC8-2959C1ACACAD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609600" y="1600200"/>
              <a:ext cx="10972800" cy="362712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295400">
                      <a:extLst>
                        <a:ext uri="{9D8B030D-6E8A-4147-A177-3AD203B41FA5}">
                          <a16:colId xmlns:a16="http://schemas.microsoft.com/office/drawing/2014/main" val="67763243"/>
                        </a:ext>
                      </a:extLst>
                    </a:gridCol>
                    <a:gridCol w="3581400">
                      <a:extLst>
                        <a:ext uri="{9D8B030D-6E8A-4147-A177-3AD203B41FA5}">
                          <a16:colId xmlns:a16="http://schemas.microsoft.com/office/drawing/2014/main" val="28664203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3055513742"/>
                        </a:ext>
                      </a:extLst>
                    </a:gridCol>
                    <a:gridCol w="3352800">
                      <a:extLst>
                        <a:ext uri="{9D8B030D-6E8A-4147-A177-3AD203B41FA5}">
                          <a16:colId xmlns:a16="http://schemas.microsoft.com/office/drawing/2014/main" val="1402487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STT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Year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Experiment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Salary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Predicted</a:t>
                          </a:r>
                          <a:r>
                            <a:rPr lang="vi-VN" sz="28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Salary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00191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1.5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37,731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40,748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77561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10.3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122,391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122,699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70303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4.1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57,081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64,961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75506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3.9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63,218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63,099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80696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9.5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116,969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115,249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275219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8.7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109,431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107,799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54665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E68C36B3-46CF-4B7C-BEC8-2959C1ACACAD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609600" y="1600200"/>
              <a:ext cx="10972800" cy="362712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295400">
                      <a:extLst>
                        <a:ext uri="{9D8B030D-6E8A-4147-A177-3AD203B41FA5}">
                          <a16:colId xmlns:a16="http://schemas.microsoft.com/office/drawing/2014/main" val="67763243"/>
                        </a:ext>
                      </a:extLst>
                    </a:gridCol>
                    <a:gridCol w="3581400">
                      <a:extLst>
                        <a:ext uri="{9D8B030D-6E8A-4147-A177-3AD203B41FA5}">
                          <a16:colId xmlns:a16="http://schemas.microsoft.com/office/drawing/2014/main" val="28664203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3055513742"/>
                        </a:ext>
                      </a:extLst>
                    </a:gridCol>
                    <a:gridCol w="3352800">
                      <a:extLst>
                        <a:ext uri="{9D8B030D-6E8A-4147-A177-3AD203B41FA5}">
                          <a16:colId xmlns:a16="http://schemas.microsoft.com/office/drawing/2014/main" val="1402487547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STT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Year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Experiment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Salary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Predicted</a:t>
                          </a:r>
                          <a:r>
                            <a:rPr lang="vi-VN" sz="28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Salary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001915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39" t="-111765" r="-747418" b="-5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6627" t="-111765" r="-171210" b="-5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8222" t="-111765" r="-123333" b="-5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7636" t="-111765" r="-909" b="-50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775612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39" t="-211765" r="-747418" b="-4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6627" t="-211765" r="-171210" b="-4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8222" t="-211765" r="-123333" b="-4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7636" t="-211765" r="-909" b="-40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703034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39" t="-308140" r="-747418" b="-2988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6627" t="-308140" r="-171210" b="-2988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8222" t="-308140" r="-123333" b="-2988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7636" t="-308140" r="-909" b="-2988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755066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39" t="-412941" r="-747418" b="-2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6627" t="-412941" r="-171210" b="-2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8222" t="-412941" r="-123333" b="-2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7636" t="-412941" r="-909" b="-20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8069666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39" t="-512941" r="-747418" b="-1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6627" t="-512941" r="-171210" b="-1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8222" t="-512941" r="-123333" b="-1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7636" t="-512941" r="-909" b="-10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2752192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39" t="-612941" r="-747418" b="-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6627" t="-612941" r="-171210" b="-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8222" t="-612941" r="-123333" b="-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7636" t="-612941" r="-909" b="-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54665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6101782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92FB7-556A-42E2-A987-2FF225AA1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Kiểm</a:t>
            </a:r>
            <a:r>
              <a:rPr lang="vi-VN" dirty="0"/>
              <a:t> tra mô </a:t>
            </a:r>
            <a:r>
              <a:rPr lang="vi-VN" dirty="0" err="1"/>
              <a:t>hình</a:t>
            </a:r>
            <a:r>
              <a:rPr lang="vi-VN" dirty="0"/>
              <a:t> trên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</a:t>
            </a:r>
            <a:r>
              <a:rPr lang="vi-VN" dirty="0" err="1"/>
              <a:t>test</a:t>
            </a:r>
            <a:endParaRPr lang="vi-V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7523B80-4DC1-4BA5-96FD-9605490DED8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09600" y="1888755"/>
            <a:ext cx="5384800" cy="3948853"/>
          </a:xfrm>
          <a:prstGeom prst="rect">
            <a:avLst/>
          </a:prstGeom>
        </p:spPr>
      </p:pic>
      <p:pic>
        <p:nvPicPr>
          <p:cNvPr id="10" name="Content Placeholder 7">
            <a:extLst>
              <a:ext uri="{FF2B5EF4-FFF2-40B4-BE49-F238E27FC236}">
                <a16:creationId xmlns:a16="http://schemas.microsoft.com/office/drawing/2014/main" id="{4AB29711-EB22-4E02-AC83-0B600B1501D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97600" y="1843881"/>
            <a:ext cx="538480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482968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1A1E3B-52AC-4848-9A3B-814D413CE4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>
                <a:solidFill>
                  <a:srgbClr val="0066FF"/>
                </a:solidFill>
              </a:rPr>
              <a:t>Chúc các bạn học tốt</a:t>
            </a:r>
            <a:br>
              <a:rPr lang="en-US" sz="4000">
                <a:solidFill>
                  <a:srgbClr val="0066FF"/>
                </a:solidFill>
              </a:rPr>
            </a:br>
            <a:r>
              <a:rPr lang="en-US" sz="4000">
                <a:solidFill>
                  <a:srgbClr val="FF0000"/>
                </a:solidFill>
              </a:rPr>
              <a:t>Thân ái chào tạm biệt các bạn</a:t>
            </a:r>
            <a:br>
              <a:rPr lang="en-US" sz="4000">
                <a:solidFill>
                  <a:srgbClr val="FF0000"/>
                </a:solidFill>
              </a:rPr>
            </a:br>
            <a:br>
              <a:rPr lang="en-US" sz="4000">
                <a:solidFill>
                  <a:srgbClr val="FF0000"/>
                </a:solidFill>
              </a:rPr>
            </a:br>
            <a:r>
              <a:rPr lang="en-US" sz="4000">
                <a:solidFill>
                  <a:srgbClr val="0066FF"/>
                </a:solidFill>
              </a:rPr>
              <a:t>ĐẠI HỌC QUỐC GIA TP.HCM</a:t>
            </a:r>
            <a:br>
              <a:rPr lang="en-US" sz="4000"/>
            </a:br>
            <a:r>
              <a:rPr lang="en-US" sz="3600">
                <a:solidFill>
                  <a:srgbClr val="FF0000"/>
                </a:solidFill>
              </a:rPr>
              <a:t>TR</a:t>
            </a:r>
            <a:r>
              <a:rPr lang="vi-VN" sz="3600">
                <a:solidFill>
                  <a:srgbClr val="FF0000"/>
                </a:solidFill>
              </a:rPr>
              <a:t>Ư</a:t>
            </a:r>
            <a:r>
              <a:rPr lang="en-US" sz="3600">
                <a:solidFill>
                  <a:srgbClr val="FF0000"/>
                </a:solidFill>
              </a:rPr>
              <a:t>ỜNG ĐẠI HỌC CÔNG NGHỆ THÔNG TIN TP.HCM</a:t>
            </a:r>
            <a:br>
              <a:rPr lang="en-US" sz="3600">
                <a:solidFill>
                  <a:srgbClr val="FF0000"/>
                </a:solidFill>
              </a:rPr>
            </a:br>
            <a:r>
              <a:rPr lang="en-US" sz="3600">
                <a:solidFill>
                  <a:srgbClr val="0066FF"/>
                </a:solidFill>
              </a:rPr>
              <a:t>TOÀN DIỆN – SÁNG TẠO – PHỤNG SỰ</a:t>
            </a:r>
            <a:r>
              <a:rPr lang="en-US" sz="3600"/>
              <a:t> </a:t>
            </a:r>
            <a:endParaRPr lang="en-US" sz="4000"/>
          </a:p>
        </p:txBody>
      </p:sp>
    </p:spTree>
    <p:extLst>
      <p:ext uri="{BB962C8B-B14F-4D97-AF65-F5344CB8AC3E}">
        <p14:creationId xmlns:p14="http://schemas.microsoft.com/office/powerpoint/2010/main" val="93951974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15076</TotalTime>
  <Words>2042</Words>
  <Application>Microsoft Office PowerPoint</Application>
  <PresentationFormat>Widescreen</PresentationFormat>
  <Paragraphs>321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Aptos</vt:lpstr>
      <vt:lpstr>Arial</vt:lpstr>
      <vt:lpstr>Cambria Math</vt:lpstr>
      <vt:lpstr>Consolas</vt:lpstr>
      <vt:lpstr>Courier New</vt:lpstr>
      <vt:lpstr>Default Design</vt:lpstr>
      <vt:lpstr>THỰC HÀNH HỒI QUI TUYẾN TÍNH ĐƠN BIẾN</vt:lpstr>
      <vt:lpstr>Tập dữ liệu – Dataset</vt:lpstr>
      <vt:lpstr>Tập dữ liệu – Dataset</vt:lpstr>
      <vt:lpstr>Tập dữ liệu – Dataset</vt:lpstr>
      <vt:lpstr>Tập dữ liệu – Dataset</vt:lpstr>
      <vt:lpstr>Tập dữ liệu – Dataset</vt:lpstr>
      <vt:lpstr>Tập dữ liệu – Dataset</vt:lpstr>
      <vt:lpstr>Hồi quy – Regression</vt:lpstr>
      <vt:lpstr>Hồi quy – Regression</vt:lpstr>
      <vt:lpstr>Simple Linear Regression</vt:lpstr>
      <vt:lpstr>Simple Linear Regression</vt:lpstr>
      <vt:lpstr>Simple Linear Regression</vt:lpstr>
      <vt:lpstr>Tiền xử lý dữ liệu</vt:lpstr>
      <vt:lpstr>Tiền xử lý dữ liệu</vt:lpstr>
      <vt:lpstr>Tiền xử lý dữ liệu</vt:lpstr>
      <vt:lpstr>Tiền xử lý dữ liệu</vt:lpstr>
      <vt:lpstr>Tiền xử lý dữ liệu</vt:lpstr>
      <vt:lpstr>TRỰC QUAN HÓA DỮ LIỆU HUẤN LUYỆN</vt:lpstr>
      <vt:lpstr>Trực quan hóa dữ liệu huấn luyện</vt:lpstr>
      <vt:lpstr>Trực quan hóa dữ liệu huấn luyện</vt:lpstr>
      <vt:lpstr>Trực quan hóa dữ liệu huấn luyện</vt:lpstr>
      <vt:lpstr>Trực quan hóa dữ liệu huấn luyện</vt:lpstr>
      <vt:lpstr>Huấn luyện mô hình</vt:lpstr>
      <vt:lpstr>Huấn luyện mô hình</vt:lpstr>
      <vt:lpstr>Huấn luyện mô hình</vt:lpstr>
      <vt:lpstr>Trực quan hóa kết quả</vt:lpstr>
      <vt:lpstr>Trực quan hóa kết quả</vt:lpstr>
      <vt:lpstr>Trực quan hóa kết quả</vt:lpstr>
      <vt:lpstr>Trực quan hóa kết quả</vt:lpstr>
      <vt:lpstr>Kiểm tra mô hình trên dữ liệu test</vt:lpstr>
      <vt:lpstr>Kiểm tra mô hình trên dữ liệu test</vt:lpstr>
      <vt:lpstr>Kiểm tra mô hình trên dữ liệu test</vt:lpstr>
      <vt:lpstr>Kiểm tra mô hình trên dữ liệu test</vt:lpstr>
      <vt:lpstr>Huấn luyện mô hình</vt:lpstr>
      <vt:lpstr>Huấn luyện mô hình</vt:lpstr>
      <vt:lpstr>Kiểm tra mô hình trên dữ liệu test</vt:lpstr>
      <vt:lpstr>Kiểm tra mô hình trên dữ liệu test</vt:lpstr>
      <vt:lpstr>Chúc các bạn học tốt Thân ái chào tạm biệt các bạn  ĐẠI HỌC QUỐC GIA TP.HCM TRƯỜNG ĐẠI HỌC CÔNG NGHỆ THÔNG TIN TP.HCM TOÀN DIỆN – SÁNG TẠO – PHỤNG SỰ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Sectio cc</dc:title>
  <dc:creator>Hong</dc:creator>
  <cp:lastModifiedBy>Minh Phan Dinh</cp:lastModifiedBy>
  <cp:revision>1353</cp:revision>
  <cp:lastPrinted>2013-08-30T01:32:34Z</cp:lastPrinted>
  <dcterms:created xsi:type="dcterms:W3CDTF">2008-06-14T04:13:27Z</dcterms:created>
  <dcterms:modified xsi:type="dcterms:W3CDTF">2026-09-25T16:07:17Z</dcterms:modified>
</cp:coreProperties>
</file>