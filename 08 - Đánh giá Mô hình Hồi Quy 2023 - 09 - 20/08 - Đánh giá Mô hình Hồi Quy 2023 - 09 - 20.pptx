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1585" r:id="rId2"/>
    <p:sldId id="329" r:id="rId3"/>
    <p:sldId id="334" r:id="rId4"/>
    <p:sldId id="335" r:id="rId5"/>
    <p:sldId id="352" r:id="rId6"/>
    <p:sldId id="336" r:id="rId7"/>
    <p:sldId id="337" r:id="rId8"/>
    <p:sldId id="338" r:id="rId9"/>
    <p:sldId id="361" r:id="rId10"/>
    <p:sldId id="371" r:id="rId11"/>
    <p:sldId id="359" r:id="rId12"/>
    <p:sldId id="355" r:id="rId13"/>
    <p:sldId id="339" r:id="rId14"/>
    <p:sldId id="340" r:id="rId15"/>
    <p:sldId id="353" r:id="rId16"/>
    <p:sldId id="354" r:id="rId17"/>
    <p:sldId id="342" r:id="rId18"/>
    <p:sldId id="343" r:id="rId19"/>
    <p:sldId id="370" r:id="rId20"/>
    <p:sldId id="362" r:id="rId21"/>
    <p:sldId id="356" r:id="rId22"/>
    <p:sldId id="330" r:id="rId23"/>
    <p:sldId id="331" r:id="rId24"/>
    <p:sldId id="332" r:id="rId25"/>
    <p:sldId id="333" r:id="rId26"/>
    <p:sldId id="344" r:id="rId27"/>
    <p:sldId id="345" r:id="rId28"/>
    <p:sldId id="346" r:id="rId29"/>
    <p:sldId id="347" r:id="rId30"/>
    <p:sldId id="365" r:id="rId31"/>
    <p:sldId id="368" r:id="rId32"/>
    <p:sldId id="360" r:id="rId33"/>
    <p:sldId id="364" r:id="rId34"/>
    <p:sldId id="367" r:id="rId35"/>
    <p:sldId id="366" r:id="rId36"/>
    <p:sldId id="357" r:id="rId37"/>
    <p:sldId id="348" r:id="rId38"/>
    <p:sldId id="349" r:id="rId39"/>
    <p:sldId id="351" r:id="rId40"/>
    <p:sldId id="369" r:id="rId41"/>
    <p:sldId id="358" r:id="rId42"/>
    <p:sldId id="1573" r:id="rId4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9933"/>
    <a:srgbClr val="FF0000"/>
    <a:srgbClr val="FF3399"/>
    <a:srgbClr val="008000"/>
    <a:srgbClr val="000099"/>
    <a:srgbClr val="FF6600"/>
    <a:srgbClr val="66FF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87366" autoAdjust="0"/>
  </p:normalViewPr>
  <p:slideViewPr>
    <p:cSldViewPr>
      <p:cViewPr varScale="1">
        <p:scale>
          <a:sx n="68" d="100"/>
          <a:sy n="68" d="100"/>
        </p:scale>
        <p:origin x="118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handoutMaster" Target="handoutMasters/handout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9E2CB30-4184-4C1B-912F-A6AED0718E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866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5859DDC-9015-4B39-98F8-9F9A698DF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62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859DDC-9015-4B39-98F8-9F9A698DFEA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316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TIÊU ĐỀ SLIDE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454966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27E77-6012-42D7-99B0-1D322EEAFE5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086803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97A347-30EE-4B72-93DA-C4CBE7049A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0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F626F4-8319-BB9A-3962-FB52D8DEB45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92656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838081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615748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886200"/>
            <a:ext cx="11582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74770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01_Title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2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27187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3508374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447936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CHUẨN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47125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2_Standard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6553698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601710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631001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2_Standard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998215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E9201-BB7C-7361-D15B-554D97FD494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643877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0"/>
            <a:ext cx="109728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57848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1532198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2_Standard Slide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260759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3_Pro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PROGRAM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038162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3_Program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>
              <a:defRPr sz="28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875236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rogram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276024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ogram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BF5967-6241-0E40-D844-CD2FB96F118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512989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4_Slide Up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PHẦN TRÊN DƯỚI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437916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3527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953001"/>
            <a:ext cx="10972800" cy="11724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570494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51459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114801"/>
            <a:ext cx="10972800" cy="20106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190481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1371597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9600" y="2971801"/>
            <a:ext cx="10972800" cy="3153696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  <a:tabLst/>
              <a:defRPr/>
            </a:pPr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415433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5_Slide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1238762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0254237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93367181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716980-92B1-EFAB-E559-9C67E7C615B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755685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65532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0"/>
            <a:ext cx="441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4642175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4286864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42868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B267FE-1A4A-FC5A-B1BF-212E21F3C20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9912957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3810000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C8D0DD-B54D-81D5-B7D4-10338B1E328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2304489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2547086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2868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286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1A5BA2-D508-AFA2-E487-FE996D71549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0895333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3809999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38099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108584-BFF3-2406-377A-3236D4DB99A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5069774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94170472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640B4C-4BB4-59DC-6FB5-BE2BEAB17DC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15824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9277816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1540FF-506E-C951-CCC4-F2846A5D1D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16128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4517489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9894408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9BE0C1-77A6-4A1D-2879-D18D2A15649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4376779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836774-98E2-8399-1A89-B989AAE076F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410200"/>
            <a:ext cx="122224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8600537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58627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998632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4388919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728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6338631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15824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696371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2114" y="1535113"/>
            <a:ext cx="12194114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2114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55509956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05_Slide Two Column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6488560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_Slide Three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BA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6098984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65494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70198783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7_Slide Four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94009430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586163-080C-4D92-9FF5-83B9A124C31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0988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879BDB-29CC-404E-9DCA-E89C7B9070D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103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94B703-5983-4A4F-B197-D2C64EAA9F6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3472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06970055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8_Slide Four 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PHẦN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2302994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EA549A-C581-4C37-B257-ACE55CAD4DF6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0" y="3886200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0016720-4FC2-4205-9886-7838EB04433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97600" y="1608826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E828636-495F-44E0-8340-BCE2B3F4716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97600" y="3894825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01676564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3000" y="16002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4A1A4A6-69C0-4EC3-B5CC-CC08837714D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09600" y="26808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E39D719-3B3B-4F96-BE3F-4E767D23D3D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763000" y="26808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7791AFD-E53B-48D7-8A3C-24F9B931493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600" y="37338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7784060D-E07A-4765-948A-FC9071F8DDC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763000" y="37338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67EFF06-2483-4600-B6B9-3D1CE50220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09600" y="48144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22FA758-800C-4200-9C64-1F16B8C51CA7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763000" y="48144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9676352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9_Flo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LƯU ĐỒ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2140233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1"/>
            <a:ext cx="59944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97600" y="0"/>
            <a:ext cx="5994400" cy="914401"/>
          </a:xfrm>
          <a:solidFill>
            <a:srgbClr val="00B0F0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91959533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4854" y="1066801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14854" y="0"/>
            <a:ext cx="6077146" cy="914401"/>
          </a:xfrm>
          <a:solidFill>
            <a:srgbClr val="00B0F0"/>
          </a:solidFill>
        </p:spPr>
        <p:txBody>
          <a:bodyPr/>
          <a:lstStyle>
            <a:lvl1pPr marL="0" indent="0"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1B544BE-4259-4202-9EEF-29A5F771B6E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9157118" y="1066800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8711408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994400" cy="5211764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01840984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173" y="0"/>
            <a:ext cx="5994400" cy="6096000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34309164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Relationship Id="rId60" Type="http://schemas.openxmlformats.org/officeDocument/2006/relationships/image" Target="../media/image1.png"/><Relationship Id="rId61" Type="http://schemas.openxmlformats.org/officeDocument/2006/relationships/image" Target="../media/image2.png"/><Relationship Id="rId6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0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1379200" y="6324600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A916C17-A3B0-4CE4-88CA-9129F443D2C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B82A81E1-3619-4A2C-AB88-C7D0762594CD}"/>
              </a:ext>
            </a:extLst>
          </p:cNvPr>
          <p:cNvPicPr>
            <a:picLocks noChangeAspect="1"/>
          </p:cNvPicPr>
          <p:nvPr userDrawn="1"/>
        </p:nvPicPr>
        <p:blipFill>
          <a:blip r:embed="rId6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103160"/>
            <a:ext cx="1375575" cy="567426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B594A5E-2439-4755-BAA8-30F12FADD3C7}"/>
              </a:ext>
            </a:extLst>
          </p:cNvPr>
          <p:cNvPicPr>
            <a:picLocks noChangeAspect="1"/>
          </p:cNvPicPr>
          <p:nvPr userDrawn="1"/>
        </p:nvPicPr>
        <p:blipFill>
          <a:blip r:embed="rId6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908" y="70999"/>
            <a:ext cx="843402" cy="8434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649" r:id="rId3"/>
    <p:sldLayoutId id="2147483720" r:id="rId4"/>
    <p:sldLayoutId id="2147483652" r:id="rId5"/>
    <p:sldLayoutId id="2147483750" r:id="rId6"/>
    <p:sldLayoutId id="2147483718" r:id="rId7"/>
    <p:sldLayoutId id="2147483650" r:id="rId8"/>
    <p:sldLayoutId id="2147483721" r:id="rId9"/>
    <p:sldLayoutId id="2147483723" r:id="rId10"/>
    <p:sldLayoutId id="2147483716" r:id="rId11"/>
    <p:sldLayoutId id="2147483722" r:id="rId12"/>
    <p:sldLayoutId id="2147483748" r:id="rId13"/>
    <p:sldLayoutId id="2147483749" r:id="rId14"/>
    <p:sldLayoutId id="2147483717" r:id="rId15"/>
    <p:sldLayoutId id="2147483719" r:id="rId16"/>
    <p:sldLayoutId id="2147483725" r:id="rId17"/>
    <p:sldLayoutId id="2147483726" r:id="rId18"/>
    <p:sldLayoutId id="2147483727" r:id="rId19"/>
    <p:sldLayoutId id="2147483724" r:id="rId20"/>
    <p:sldLayoutId id="2147483651" r:id="rId21"/>
    <p:sldLayoutId id="2147483712" r:id="rId22"/>
    <p:sldLayoutId id="2147483713" r:id="rId23"/>
    <p:sldLayoutId id="2147483728" r:id="rId24"/>
    <p:sldLayoutId id="2147483707" r:id="rId25"/>
    <p:sldLayoutId id="2147483709" r:id="rId26"/>
    <p:sldLayoutId id="2147483730" r:id="rId27"/>
    <p:sldLayoutId id="2147483700" r:id="rId28"/>
    <p:sldLayoutId id="2147483731" r:id="rId29"/>
    <p:sldLayoutId id="2147483732" r:id="rId30"/>
    <p:sldLayoutId id="2147483689" r:id="rId31"/>
    <p:sldLayoutId id="2147483733" r:id="rId32"/>
    <p:sldLayoutId id="2147483734" r:id="rId33"/>
    <p:sldLayoutId id="2147483679" r:id="rId34"/>
    <p:sldLayoutId id="2147483735" r:id="rId35"/>
    <p:sldLayoutId id="2147483736" r:id="rId36"/>
    <p:sldLayoutId id="2147483684" r:id="rId37"/>
    <p:sldLayoutId id="2147483737" r:id="rId38"/>
    <p:sldLayoutId id="2147483738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7" r:id="rId45"/>
    <p:sldLayoutId id="2147483729" r:id="rId46"/>
    <p:sldLayoutId id="2147483686" r:id="rId47"/>
    <p:sldLayoutId id="2147483711" r:id="rId48"/>
    <p:sldLayoutId id="2147483739" r:id="rId49"/>
    <p:sldLayoutId id="2147483688" r:id="rId50"/>
    <p:sldLayoutId id="2147483740" r:id="rId51"/>
    <p:sldLayoutId id="2147483694" r:id="rId52"/>
    <p:sldLayoutId id="2147483687" r:id="rId53"/>
    <p:sldLayoutId id="2147483746" r:id="rId54"/>
    <p:sldLayoutId id="2147483701" r:id="rId55"/>
    <p:sldLayoutId id="2147483702" r:id="rId56"/>
    <p:sldLayoutId id="2147483703" r:id="rId57"/>
    <p:sldLayoutId id="2147483704" r:id="rId58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─"/>
        <a:defRPr sz="2800">
          <a:solidFill>
            <a:srgbClr val="0066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+"/>
        <a:defRPr sz="2800">
          <a:solidFill>
            <a:srgbClr val="0066FF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rgbClr val="0066FF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3612-16D3-622A-7FFF-F636EC5E5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/>
              <a:t>EVALUATING REGRESSION MODELS PERFORMANCE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D9C513-AD71-9FA8-DCD3-EF6738328A0A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Quan Chí Khánh An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Lê Ngọc Huy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CN. Bùi Cao Doanh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CN. Nguyễn Trọng Thuận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Phan Vĩnh Long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Nguyễn Cường Phát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Nguyễn Hoàng Ngân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Hồ Thái Ngọc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Đỗ Văn Tiến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475D-F6A4-3080-6B47-C6E6C22C81F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/>
              <a:t>Nguyễn Hoàng Yến Như</a:t>
            </a:r>
          </a:p>
          <a:p>
            <a:r>
              <a:rPr lang="en-US">
                <a:solidFill>
                  <a:srgbClr val="FF0000"/>
                </a:solidFill>
              </a:rPr>
              <a:t>Nguyễn Trần Phúc Nghi</a:t>
            </a:r>
          </a:p>
          <a:p>
            <a:r>
              <a:rPr lang="en-US"/>
              <a:t>Nguyễn Trần Phúc An</a:t>
            </a:r>
          </a:p>
          <a:p>
            <a:r>
              <a:rPr lang="en-US">
                <a:solidFill>
                  <a:srgbClr val="FF0000"/>
                </a:solidFill>
              </a:rPr>
              <a:t>Nguyễn Đức Anh Phúc</a:t>
            </a:r>
          </a:p>
          <a:p>
            <a:r>
              <a:rPr lang="en-US"/>
              <a:t>Trịnh Thị Thanh Trúc</a:t>
            </a:r>
          </a:p>
          <a:p>
            <a:r>
              <a:rPr lang="en-US">
                <a:solidFill>
                  <a:srgbClr val="FF0000"/>
                </a:solidFill>
              </a:rPr>
              <a:t>ThS. Nguyễn Hữu Lợi</a:t>
            </a:r>
          </a:p>
          <a:p>
            <a:r>
              <a:rPr lang="en-US"/>
              <a:t>KS. Cao Bá Kiệt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D686E-4114-4A0E-1FEE-7584196A67B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/>
              <a:t>ThS. Nguyễn Hoàn Mỹ</a:t>
            </a:r>
          </a:p>
          <a:p>
            <a:r>
              <a:rPr lang="en-US">
                <a:solidFill>
                  <a:srgbClr val="FF0000"/>
                </a:solidFill>
              </a:rPr>
              <a:t>ThS. Dương Phi Long</a:t>
            </a:r>
          </a:p>
          <a:p>
            <a:r>
              <a:rPr lang="en-US"/>
              <a:t>ThS. Trương Quốc Dũng </a:t>
            </a:r>
          </a:p>
          <a:p>
            <a:r>
              <a:rPr lang="en-US">
                <a:solidFill>
                  <a:srgbClr val="FF0000"/>
                </a:solidFill>
              </a:rPr>
              <a:t>ThS. Nguyễn Thành Hiệp</a:t>
            </a:r>
          </a:p>
          <a:p>
            <a:r>
              <a:rPr lang="en-US"/>
              <a:t>ThS. Nguyễn Võ Đăng Khoa</a:t>
            </a:r>
          </a:p>
          <a:p>
            <a:r>
              <a:rPr lang="en-US">
                <a:solidFill>
                  <a:srgbClr val="FF0000"/>
                </a:solidFill>
              </a:rPr>
              <a:t>ThS. Võ Duy Nguyên</a:t>
            </a:r>
          </a:p>
          <a:p>
            <a:r>
              <a:rPr lang="en-US"/>
              <a:t>TS. Nguyễn Văn Tâm</a:t>
            </a:r>
          </a:p>
          <a:p>
            <a:r>
              <a:rPr lang="en-US">
                <a:solidFill>
                  <a:srgbClr val="FF0000"/>
                </a:solidFill>
              </a:rPr>
              <a:t>ThS. Trần Việt Thu Phương</a:t>
            </a:r>
          </a:p>
          <a:p>
            <a:r>
              <a:rPr lang="en-US"/>
              <a:t>TS. Nguyễn Tấn Trần Minh Khang</a:t>
            </a:r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265234868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B59EF63-B1E1-4B30-AF43-FC045D716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Đánh</a:t>
            </a:r>
            <a:r>
              <a:rPr lang="vi-VN" dirty="0"/>
              <a:t> </a:t>
            </a:r>
            <a:r>
              <a:rPr lang="vi-VN" dirty="0" err="1"/>
              <a:t>giá</a:t>
            </a:r>
            <a:r>
              <a:rPr lang="vi-VN" dirty="0"/>
              <a:t> mô </a:t>
            </a:r>
            <a:r>
              <a:rPr lang="vi-VN" dirty="0" err="1"/>
              <a:t>hình</a:t>
            </a:r>
            <a:r>
              <a:rPr lang="vi-VN" dirty="0"/>
              <a:t> </a:t>
            </a:r>
            <a:r>
              <a:rPr lang="vi-VN" dirty="0" err="1"/>
              <a:t>hồi</a:t>
            </a:r>
            <a:r>
              <a:rPr lang="vi-VN" dirty="0"/>
              <a:t> quy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D957868-763F-4401-ACCB-04FF069B6F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Có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nhiều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cách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để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đánh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hồi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quy:</a:t>
                </a:r>
              </a:p>
              <a:p>
                <a:pPr lvl="1" algn="just"/>
                <a:r>
                  <a:rPr lang="en-US" sz="2800">
                    <a:solidFill>
                      <a:srgbClr val="FF0000"/>
                    </a:solidFill>
                  </a:rPr>
                  <a:t>Cách 01: </a:t>
                </a:r>
                <a:r>
                  <a:rPr lang="vi-VN" sz="2800">
                    <a:solidFill>
                      <a:srgbClr val="FF0000"/>
                    </a:solidFill>
                  </a:rPr>
                  <a:t>Trực </a:t>
                </a:r>
                <a:r>
                  <a:rPr lang="vi-VN" sz="2800" dirty="0">
                    <a:solidFill>
                      <a:srgbClr val="FF0000"/>
                    </a:solidFill>
                  </a:rPr>
                  <a:t>quan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hóa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kết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quả</a:t>
                </a:r>
                <a:r>
                  <a:rPr lang="vi-VN" sz="2800" dirty="0">
                    <a:solidFill>
                      <a:srgbClr val="FF0000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en-US" sz="2800">
                    <a:solidFill>
                      <a:srgbClr val="0066FF"/>
                    </a:solidFill>
                  </a:rPr>
                  <a:t>Cách 02: </a:t>
                </a:r>
                <a:r>
                  <a:rPr lang="vi-VN" sz="2800">
                    <a:solidFill>
                      <a:srgbClr val="0066FF"/>
                    </a:solidFill>
                  </a:rPr>
                  <a:t>Hàm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lỗi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Squared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Sum (SSE).</a:t>
                </a:r>
              </a:p>
              <a:p>
                <a:pPr lvl="1" algn="just"/>
                <a:r>
                  <a:rPr lang="en-US" sz="2800">
                    <a:solidFill>
                      <a:srgbClr val="FF0000"/>
                    </a:solidFill>
                  </a:rPr>
                  <a:t>Cách 03: </a:t>
                </a:r>
                <a:r>
                  <a:rPr lang="vi-VN" sz="2800">
                    <a:solidFill>
                      <a:srgbClr val="FF0000"/>
                    </a:solidFill>
                  </a:rPr>
                  <a:t>Hàm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lỗi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Root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Mean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Squared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(RMSE).</a:t>
                </a:r>
              </a:p>
              <a:p>
                <a:pPr lvl="1" algn="just"/>
                <a:r>
                  <a:rPr lang="en-US" sz="2800"/>
                  <a:t>Cách 04: </a:t>
                </a:r>
                <a:r>
                  <a:rPr lang="vi-VN" sz="2800">
                    <a:solidFill>
                      <a:srgbClr val="0066FF"/>
                    </a:solidFill>
                  </a:rPr>
                  <a:t>Hàm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đánh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:r>
                  <a:rPr lang="en-US" sz="2800">
                    <a:solidFill>
                      <a:srgbClr val="FF0000"/>
                    </a:solidFill>
                  </a:rPr>
                  <a:t>Cách 05: </a:t>
                </a:r>
                <a:r>
                  <a:rPr lang="vi-VN" sz="2800">
                    <a:solidFill>
                      <a:srgbClr val="FF0000"/>
                    </a:solidFill>
                  </a:rPr>
                  <a:t>Hàm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đánh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𝑎𝑑𝑗𝑢𝑠𝑡𝑒𝑑</m:t>
                        </m:r>
                      </m:sub>
                      <m:sup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D957868-763F-4401-ACCB-04FF069B6F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86286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B67799-829C-459C-900F-DBC44D64C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lỗi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Sum (SSE)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BF4B9-0061-4CA0-B47A-C91DF6FBF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7749753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B67799-829C-459C-900F-DBC44D64C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lỗi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Sum (SSE)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EA148AC-64ED-46FC-9358-56FFF99DCD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Hàm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lỗi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Squared</a:t>
                </a:r>
                <a:r>
                  <a:rPr lang="vi-VN" sz="2800" i="1" dirty="0">
                    <a:solidFill>
                      <a:srgbClr val="0066FF"/>
                    </a:solidFill>
                  </a:rPr>
                  <a:t> Sum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định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nghĩa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như sau:</a:t>
                </a:r>
                <a:endParaRPr lang="vi-VN" sz="2800" dirty="0">
                  <a:solidFill>
                    <a:srgbClr val="FF0000"/>
                  </a:solidFill>
                </a:endParaRP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vi-V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vi-V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vi-VN" sz="2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vi-VN" sz="2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vi-VN" sz="2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vi-V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vi-VN" sz="2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vi-VN" sz="28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vi-VN" sz="28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vi-VN" sz="2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vi-V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vi-VN" sz="2800" b="0" dirty="0">
                  <a:solidFill>
                    <a:srgbClr val="0066FF"/>
                  </a:solidFill>
                </a:endParaRPr>
              </a:p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kết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quả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thực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thứ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vi-VN" sz="28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vi-VN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kết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quả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dự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bởi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thứ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EA148AC-64ED-46FC-9358-56FFF99DCD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583292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B67799-829C-459C-900F-DBC44D64C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lỗi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Sum (SSE)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EA148AC-64ED-46FC-9358-56FFF99DCD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Hàm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lỗi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Squared</a:t>
                </a:r>
                <a:r>
                  <a:rPr lang="vi-VN" sz="2800" i="1" dirty="0">
                    <a:solidFill>
                      <a:srgbClr val="0066FF"/>
                    </a:solidFill>
                  </a:rPr>
                  <a:t> Sum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trị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khoảng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vi-VN" sz="28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8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0,+</m:t>
                        </m:r>
                        <m:r>
                          <a:rPr lang="vi-VN" sz="28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𝑆𝑆𝐸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: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chính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xác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tuyệt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đối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Trên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cùng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một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tập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dữ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𝑆𝑆𝐸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càng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nhỏ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độ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xác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càng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cao.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EA148AC-64ED-46FC-9358-56FFF99DCD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40345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B67799-829C-459C-900F-DBC44D64C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lỗi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Sum (SSE)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A148AC-64ED-46FC-9358-56FFF99DC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Ví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dụ</a:t>
            </a:r>
            <a:r>
              <a:rPr lang="vi-VN" sz="2800" dirty="0">
                <a:solidFill>
                  <a:srgbClr val="0066FF"/>
                </a:solidFill>
              </a:rPr>
              <a:t> trên 5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đầu</a:t>
            </a:r>
            <a:r>
              <a:rPr lang="vi-VN" sz="2800" dirty="0">
                <a:solidFill>
                  <a:srgbClr val="0066FF"/>
                </a:solidFill>
              </a:rPr>
              <a:t> tiên </a:t>
            </a:r>
            <a:r>
              <a:rPr lang="vi-VN" sz="2800" dirty="0" err="1">
                <a:solidFill>
                  <a:srgbClr val="0066FF"/>
                </a:solidFill>
              </a:rPr>
              <a:t>của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tập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Position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Salaries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62BC3ACF-FFF5-443E-9A84-F85A9DBF633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76600" y="2438400"/>
              <a:ext cx="2662357" cy="368776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138357">
                      <a:extLst>
                        <a:ext uri="{9D8B030D-6E8A-4147-A177-3AD203B41FA5}">
                          <a16:colId xmlns:a16="http://schemas.microsoft.com/office/drawing/2014/main" val="679012805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051730722"/>
                        </a:ext>
                      </a:extLst>
                    </a:gridCol>
                  </a:tblGrid>
                  <a:tr h="5688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053189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78768591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59329619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69768686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432133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110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88301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62BC3ACF-FFF5-443E-9A84-F85A9DBF633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76600" y="2438400"/>
              <a:ext cx="2662357" cy="368776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138357">
                      <a:extLst>
                        <a:ext uri="{9D8B030D-6E8A-4147-A177-3AD203B41FA5}">
                          <a16:colId xmlns:a16="http://schemas.microsoft.com/office/drawing/2014/main" val="679012805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051730722"/>
                        </a:ext>
                      </a:extLst>
                    </a:gridCol>
                  </a:tblGrid>
                  <a:tr h="5688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053189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5" t="-96117" r="-136364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4900" t="-96117" r="-159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8768591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5" t="-198039" r="-136364" b="-30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4900" t="-198039" r="-1594" b="-303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329619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5" t="-298039" r="-136364" b="-20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4900" t="-298039" r="-1594" b="-203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9768686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5" t="-394175" r="-136364" b="-10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4900" t="-394175" r="-1594" b="-1019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432133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5" t="-499020" r="-136364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4900" t="-499020" r="-1594" b="-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88301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2AA0131-0F8C-44CA-BC44-EE92938C550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15357" y="2451652"/>
              <a:ext cx="2976443" cy="367885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976443">
                      <a:extLst>
                        <a:ext uri="{9D8B030D-6E8A-4147-A177-3AD203B41FA5}">
                          <a16:colId xmlns:a16="http://schemas.microsoft.com/office/drawing/2014/main" val="3814929111"/>
                        </a:ext>
                      </a:extLst>
                    </a:gridCol>
                  </a:tblGrid>
                  <a:tr h="5599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Predicted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3925982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88805989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64686811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441783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83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5816600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42296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2AA0131-0F8C-44CA-BC44-EE92938C550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15357" y="2451652"/>
              <a:ext cx="2976443" cy="367885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976443">
                      <a:extLst>
                        <a:ext uri="{9D8B030D-6E8A-4147-A177-3AD203B41FA5}">
                          <a16:colId xmlns:a16="http://schemas.microsoft.com/office/drawing/2014/main" val="3814929111"/>
                        </a:ext>
                      </a:extLst>
                    </a:gridCol>
                  </a:tblGrid>
                  <a:tr h="5599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Predicted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3925982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4" t="-97059" r="-818" b="-403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8805989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4" t="-195146" r="-81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4686811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4" t="-298039" r="-818" b="-20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441783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4" t="-394175" r="-818" b="-1009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5816600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4" t="-499020" r="-818" b="-19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2296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7056744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4F78-96AC-45FA-B777-8E337CD6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lỗi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Sum (SSE)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95F1D-CA96-4A55-84F1-9A4B6FE20C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Ví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trên 5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đầu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tiên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Position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Salaries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𝑆𝑆𝐸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vi-V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45,000−40,000</m:t>
                            </m:r>
                          </m:e>
                        </m:d>
                      </m:e>
                      <m:sup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vi-V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50,000−51,000</m:t>
                            </m:r>
                          </m:e>
                        </m:d>
                      </m:e>
                      <m:sup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vi-V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60,000−60,000</m:t>
                            </m:r>
                          </m:e>
                        </m:d>
                      </m:e>
                      <m:sup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vi-V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80,000−83,000</m:t>
                            </m:r>
                          </m:e>
                        </m:d>
                      </m:e>
                      <m:sup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vi-V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110,000−111,500</m:t>
                            </m:r>
                          </m:e>
                        </m:d>
                      </m:e>
                      <m:sup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vi-VN" sz="2800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.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𝑆𝑆𝐸</m:t>
                    </m:r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5000</m:t>
                        </m:r>
                      </m:e>
                      <m:sup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1000</m:t>
                        </m:r>
                      </m:e>
                      <m:sup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3000</m:t>
                        </m:r>
                      </m:e>
                      <m:sup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1500</m:t>
                        </m:r>
                      </m:e>
                      <m:sup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vi-VN" sz="280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37,250,000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95F1D-CA96-4A55-84F1-9A4B6FE20C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172501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4F78-96AC-45FA-B777-8E337CD6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lỗi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Sum (SSE)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95F1D-CA96-4A55-84F1-9A4B6FE20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Nhược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vi-VN" sz="2800" dirty="0">
                <a:solidFill>
                  <a:srgbClr val="FF0000"/>
                </a:solidFill>
              </a:rPr>
              <a:t>Không </a:t>
            </a:r>
            <a:r>
              <a:rPr lang="vi-VN" sz="2800" dirty="0" err="1">
                <a:solidFill>
                  <a:srgbClr val="FF0000"/>
                </a:solidFill>
              </a:rPr>
              <a:t>cùng</a:t>
            </a:r>
            <a:r>
              <a:rPr lang="vi-VN" sz="2800" dirty="0">
                <a:solidFill>
                  <a:srgbClr val="FF0000"/>
                </a:solidFill>
              </a:rPr>
              <a:t> đơn </a:t>
            </a:r>
            <a:r>
              <a:rPr lang="vi-VN" sz="2800" dirty="0" err="1">
                <a:solidFill>
                  <a:srgbClr val="FF0000"/>
                </a:solidFill>
              </a:rPr>
              <a:t>vị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với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kết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quả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đầu</a:t>
            </a:r>
            <a:r>
              <a:rPr lang="vi-VN" sz="2800" dirty="0">
                <a:solidFill>
                  <a:srgbClr val="FF0000"/>
                </a:solidFill>
              </a:rPr>
              <a:t> ra.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Giá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trị</a:t>
            </a:r>
            <a:r>
              <a:rPr lang="vi-VN" sz="2800" dirty="0">
                <a:solidFill>
                  <a:srgbClr val="0066FF"/>
                </a:solidFill>
              </a:rPr>
              <a:t> tăng khi </a:t>
            </a:r>
            <a:r>
              <a:rPr lang="vi-VN" sz="2800" dirty="0" err="1">
                <a:solidFill>
                  <a:srgbClr val="0066FF"/>
                </a:solidFill>
              </a:rPr>
              <a:t>số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lượng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tăng lên.</a:t>
            </a:r>
          </a:p>
          <a:p>
            <a:pPr algn="just"/>
            <a:r>
              <a:rPr lang="vi-VN" sz="2800" dirty="0">
                <a:solidFill>
                  <a:srgbClr val="FF0000"/>
                </a:solidFill>
              </a:rPr>
              <a:t>Do </a:t>
            </a:r>
            <a:r>
              <a:rPr lang="vi-VN" sz="2800" dirty="0" err="1">
                <a:solidFill>
                  <a:srgbClr val="FF0000"/>
                </a:solidFill>
              </a:rPr>
              <a:t>đó</a:t>
            </a:r>
            <a:r>
              <a:rPr lang="vi-VN" sz="2800" dirty="0">
                <a:solidFill>
                  <a:srgbClr val="FF0000"/>
                </a:solidFill>
              </a:rPr>
              <a:t>, </a:t>
            </a:r>
            <a:r>
              <a:rPr lang="vi-VN" sz="2800" dirty="0" err="1">
                <a:solidFill>
                  <a:srgbClr val="FF0000"/>
                </a:solidFill>
              </a:rPr>
              <a:t>hàm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lỗi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Squared</a:t>
            </a:r>
            <a:r>
              <a:rPr lang="vi-VN" sz="2800" dirty="0">
                <a:solidFill>
                  <a:srgbClr val="FF0000"/>
                </a:solidFill>
              </a:rPr>
              <a:t> Sum </a:t>
            </a:r>
            <a:r>
              <a:rPr lang="vi-VN" sz="2800" dirty="0" err="1">
                <a:solidFill>
                  <a:srgbClr val="FF0000"/>
                </a:solidFill>
              </a:rPr>
              <a:t>sẽ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khó</a:t>
            </a:r>
            <a:r>
              <a:rPr lang="vi-VN" sz="2800" dirty="0">
                <a:solidFill>
                  <a:srgbClr val="FF0000"/>
                </a:solidFill>
              </a:rPr>
              <a:t> khăn trong </a:t>
            </a:r>
            <a:r>
              <a:rPr lang="vi-VN" sz="2800" dirty="0" err="1">
                <a:solidFill>
                  <a:srgbClr val="FF0000"/>
                </a:solidFill>
              </a:rPr>
              <a:t>việc</a:t>
            </a:r>
            <a:r>
              <a:rPr lang="vi-VN" sz="2800" dirty="0">
                <a:solidFill>
                  <a:srgbClr val="FF0000"/>
                </a:solidFill>
              </a:rPr>
              <a:t>:</a:t>
            </a:r>
          </a:p>
          <a:p>
            <a:pPr lvl="1" algn="just"/>
            <a:r>
              <a:rPr lang="vi-VN" sz="2800" dirty="0">
                <a:solidFill>
                  <a:srgbClr val="0066FF"/>
                </a:solidFill>
              </a:rPr>
              <a:t>So </a:t>
            </a:r>
            <a:r>
              <a:rPr lang="vi-VN" sz="2800" dirty="0" err="1">
                <a:solidFill>
                  <a:srgbClr val="0066FF"/>
                </a:solidFill>
              </a:rPr>
              <a:t>sánh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với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đầu</a:t>
            </a:r>
            <a:r>
              <a:rPr lang="vi-VN" sz="2800" dirty="0">
                <a:solidFill>
                  <a:srgbClr val="0066FF"/>
                </a:solidFill>
              </a:rPr>
              <a:t> ra.</a:t>
            </a:r>
          </a:p>
          <a:p>
            <a:pPr lvl="1" algn="just"/>
            <a:r>
              <a:rPr lang="vi-VN" sz="2800" dirty="0">
                <a:solidFill>
                  <a:srgbClr val="FF0000"/>
                </a:solidFill>
              </a:rPr>
              <a:t>So </a:t>
            </a:r>
            <a:r>
              <a:rPr lang="vi-VN" sz="2800" dirty="0" err="1">
                <a:solidFill>
                  <a:srgbClr val="FF0000"/>
                </a:solidFill>
              </a:rPr>
              <a:t>sánh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kết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quả</a:t>
            </a:r>
            <a:r>
              <a:rPr lang="vi-VN" sz="2800" dirty="0">
                <a:solidFill>
                  <a:srgbClr val="FF0000"/>
                </a:solidFill>
              </a:rPr>
              <a:t> mô </a:t>
            </a:r>
            <a:r>
              <a:rPr lang="vi-VN" sz="2800" dirty="0" err="1">
                <a:solidFill>
                  <a:srgbClr val="FF0000"/>
                </a:solidFill>
              </a:rPr>
              <a:t>hình</a:t>
            </a:r>
            <a:r>
              <a:rPr lang="vi-VN" sz="2800" dirty="0">
                <a:solidFill>
                  <a:srgbClr val="FF0000"/>
                </a:solidFill>
              </a:rPr>
              <a:t> trên hai </a:t>
            </a:r>
            <a:r>
              <a:rPr lang="vi-VN" sz="2800" dirty="0" err="1">
                <a:solidFill>
                  <a:srgbClr val="FF0000"/>
                </a:solidFill>
              </a:rPr>
              <a:t>tập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khác</a:t>
            </a:r>
            <a:r>
              <a:rPr lang="vi-VN" sz="2800" dirty="0">
                <a:solidFill>
                  <a:srgbClr val="FF0000"/>
                </a:solidFill>
              </a:rPr>
              <a:t> nhau (</a:t>
            </a:r>
            <a:r>
              <a:rPr lang="vi-VN" sz="2800" dirty="0" err="1">
                <a:solidFill>
                  <a:srgbClr val="FF0000"/>
                </a:solidFill>
              </a:rPr>
              <a:t>chẳng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hạn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tập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training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tập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test</a:t>
            </a:r>
            <a:r>
              <a:rPr lang="vi-VN" sz="2800" dirty="0">
                <a:solidFill>
                  <a:srgbClr val="FF0000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6401360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4F78-96AC-45FA-B777-8E337CD6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lỗi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Sum (SSE)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52204A-E022-4E3A-994F-213C5CBC1A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n-US" dirty="0" err="1">
                <a:solidFill>
                  <a:srgbClr val="0066FF"/>
                </a:solidFill>
              </a:rPr>
              <a:t>Giới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thiệu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lại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tập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dữ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liệu</a:t>
            </a:r>
            <a:r>
              <a:rPr lang="en-US" dirty="0">
                <a:solidFill>
                  <a:srgbClr val="0066FF"/>
                </a:solidFill>
              </a:rPr>
              <a:t> Salary Data.</a:t>
            </a:r>
          </a:p>
          <a:p>
            <a:pPr algn="just"/>
            <a:r>
              <a:rPr lang="vi-VN" dirty="0" err="1">
                <a:solidFill>
                  <a:srgbClr val="FF0000"/>
                </a:solidFill>
              </a:rPr>
              <a:t>Mỗi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điểm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dữ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liệu</a:t>
            </a:r>
            <a:r>
              <a:rPr lang="vi-VN" dirty="0">
                <a:solidFill>
                  <a:srgbClr val="FF0000"/>
                </a:solidFill>
              </a:rPr>
              <a:t> mô </a:t>
            </a:r>
            <a:r>
              <a:rPr lang="vi-VN" dirty="0" err="1">
                <a:solidFill>
                  <a:srgbClr val="FF0000"/>
                </a:solidFill>
              </a:rPr>
              <a:t>tả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mức</a:t>
            </a:r>
            <a:r>
              <a:rPr lang="vi-VN" dirty="0">
                <a:solidFill>
                  <a:srgbClr val="FF0000"/>
                </a:solidFill>
              </a:rPr>
              <a:t> lương </a:t>
            </a:r>
            <a:r>
              <a:rPr lang="vi-VN" dirty="0" err="1">
                <a:solidFill>
                  <a:srgbClr val="FF0000"/>
                </a:solidFill>
              </a:rPr>
              <a:t>của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một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người</a:t>
            </a:r>
            <a:r>
              <a:rPr lang="vi-VN" dirty="0">
                <a:solidFill>
                  <a:srgbClr val="FF0000"/>
                </a:solidFill>
              </a:rPr>
              <a:t> khi </a:t>
            </a:r>
            <a:r>
              <a:rPr lang="vi-VN" dirty="0" err="1">
                <a:solidFill>
                  <a:srgbClr val="FF0000"/>
                </a:solidFill>
              </a:rPr>
              <a:t>biết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số</a:t>
            </a:r>
            <a:r>
              <a:rPr lang="vi-VN" dirty="0">
                <a:solidFill>
                  <a:srgbClr val="FF0000"/>
                </a:solidFill>
              </a:rPr>
              <a:t> năm kinh </a:t>
            </a:r>
            <a:r>
              <a:rPr lang="vi-VN" dirty="0" err="1">
                <a:solidFill>
                  <a:srgbClr val="FF0000"/>
                </a:solidFill>
              </a:rPr>
              <a:t>nghiệm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của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họ</a:t>
            </a:r>
            <a:r>
              <a:rPr lang="vi-VN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729D3E-BF39-4504-AD3E-D94AD87ADE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7">
                <a:extLst>
                  <a:ext uri="{FF2B5EF4-FFF2-40B4-BE49-F238E27FC236}">
                    <a16:creationId xmlns:a16="http://schemas.microsoft.com/office/drawing/2014/main" id="{977D514D-95EF-4A02-94C8-C2BCFCB16E57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121400" y="1600201"/>
              <a:ext cx="5754222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3031871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1769533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Year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Experience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1.1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39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343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1.3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46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205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731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43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525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2.2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39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891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2.9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56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642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150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7">
                <a:extLst>
                  <a:ext uri="{FF2B5EF4-FFF2-40B4-BE49-F238E27FC236}">
                    <a16:creationId xmlns:a16="http://schemas.microsoft.com/office/drawing/2014/main" id="{977D514D-95EF-4A02-94C8-C2BCFCB16E57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121400" y="1600201"/>
              <a:ext cx="5754222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3031871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1769533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Year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Experience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1" t="-107778" r="-508333" b="-5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526" t="-107778" r="-59237" b="-5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086" t="-107778" r="-1375" b="-59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1" t="-210112" r="-508333" b="-5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526" t="-210112" r="-59237" b="-5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086" t="-210112" r="-1375" b="-5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1" t="-310112" r="-508333" b="-4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526" t="-310112" r="-59237" b="-4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086" t="-310112" r="-1375" b="-4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1" t="-410112" r="-508333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526" t="-410112" r="-59237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086" t="-410112" r="-1375" b="-3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1" t="-504444" r="-50833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526" t="-504444" r="-5923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086" t="-504444" r="-1375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1" t="-611236" r="-508333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526" t="-611236" r="-59237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086" t="-611236" r="-1375" b="-10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1" t="-711236" r="-508333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526" t="-711236" r="-59237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086" t="-711236" r="-1375" b="-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1051102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4F78-96AC-45FA-B777-8E337CD6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lỗi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Sum (SSE)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52204A-E022-4E3A-994F-213C5CBC1A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n-US" dirty="0" err="1">
                <a:solidFill>
                  <a:srgbClr val="0066FF"/>
                </a:solidFill>
              </a:rPr>
              <a:t>Giới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thiệu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lại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tập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dữ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liệu</a:t>
            </a:r>
            <a:r>
              <a:rPr lang="en-US" dirty="0">
                <a:solidFill>
                  <a:srgbClr val="0066FF"/>
                </a:solidFill>
              </a:rPr>
              <a:t> Salary Data.</a:t>
            </a:r>
          </a:p>
          <a:p>
            <a:pPr algn="just"/>
            <a:r>
              <a:rPr lang="vi-VN" dirty="0" err="1">
                <a:solidFill>
                  <a:srgbClr val="FF0000"/>
                </a:solidFill>
              </a:rPr>
              <a:t>Mỗi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điểm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dữ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liệu</a:t>
            </a:r>
            <a:r>
              <a:rPr lang="vi-VN" dirty="0">
                <a:solidFill>
                  <a:srgbClr val="FF0000"/>
                </a:solidFill>
              </a:rPr>
              <a:t> mô </a:t>
            </a:r>
            <a:r>
              <a:rPr lang="vi-VN" dirty="0" err="1">
                <a:solidFill>
                  <a:srgbClr val="FF0000"/>
                </a:solidFill>
              </a:rPr>
              <a:t>tả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mức</a:t>
            </a:r>
            <a:r>
              <a:rPr lang="vi-VN" dirty="0">
                <a:solidFill>
                  <a:srgbClr val="FF0000"/>
                </a:solidFill>
              </a:rPr>
              <a:t> lương </a:t>
            </a:r>
            <a:r>
              <a:rPr lang="vi-VN" dirty="0" err="1">
                <a:solidFill>
                  <a:srgbClr val="FF0000"/>
                </a:solidFill>
              </a:rPr>
              <a:t>của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một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người</a:t>
            </a:r>
            <a:r>
              <a:rPr lang="vi-VN" dirty="0">
                <a:solidFill>
                  <a:srgbClr val="FF0000"/>
                </a:solidFill>
              </a:rPr>
              <a:t> khi </a:t>
            </a:r>
            <a:r>
              <a:rPr lang="vi-VN" dirty="0" err="1">
                <a:solidFill>
                  <a:srgbClr val="FF0000"/>
                </a:solidFill>
              </a:rPr>
              <a:t>biết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số</a:t>
            </a:r>
            <a:r>
              <a:rPr lang="vi-VN" dirty="0">
                <a:solidFill>
                  <a:srgbClr val="FF0000"/>
                </a:solidFill>
              </a:rPr>
              <a:t> năm kinh </a:t>
            </a:r>
            <a:r>
              <a:rPr lang="vi-VN" dirty="0" err="1">
                <a:solidFill>
                  <a:srgbClr val="FF0000"/>
                </a:solidFill>
              </a:rPr>
              <a:t>nghiệm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của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họ</a:t>
            </a:r>
            <a:r>
              <a:rPr lang="vi-VN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735826BF-3556-48ED-8F11-3F007C9D0F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97600" y="1942516"/>
            <a:ext cx="5384800" cy="384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97710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4F78-96AC-45FA-B777-8E337CD6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lỗi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Sum (SSE)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95F1D-CA96-4A55-84F1-9A4B6FE20C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Ví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: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Huấn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luyện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mô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Linear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Regression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và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Decision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Tree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Regression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trên: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training</a:t>
                </a:r>
                <a:r>
                  <a:rPr lang="vi-VN" sz="2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(</a:t>
                </a:r>
                <a:r>
                  <a:rPr lang="vi-VN" sz="2800" dirty="0" err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chiếm</a:t>
                </a:r>
                <a:r>
                  <a:rPr lang="vi-VN" sz="2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80%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) </a:t>
                </a:r>
                <a:r>
                  <a:rPr lang="vi-VN" sz="2800" dirty="0" err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bộ</a:t>
                </a:r>
                <a:r>
                  <a:rPr lang="vi-VN" sz="2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Salary</a:t>
                </a:r>
                <a:r>
                  <a:rPr lang="vi-VN" sz="2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Data</a:t>
                </a:r>
                <a:r>
                  <a:rPr lang="vi-VN" sz="2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Tính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trị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hàm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lỗi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SSE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2 mô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trên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training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và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test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bộ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này</a:t>
                </a:r>
                <a:r>
                  <a:rPr lang="vi-VN" sz="2800" dirty="0">
                    <a:solidFill>
                      <a:srgbClr val="0066FF"/>
                    </a:solidFill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95F1D-CA96-4A55-84F1-9A4B6FE20C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312617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4F78-96AC-45FA-B777-8E337CD6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lỗi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Sum (SSE)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F27AC8FA-7D95-4F3C-9DE9-BA99D2AD66F6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609600" y="1828800"/>
              <a:ext cx="11337671" cy="24079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3694713409"/>
                        </a:ext>
                      </a:extLst>
                    </a:gridCol>
                    <a:gridCol w="4632071">
                      <a:extLst>
                        <a:ext uri="{9D8B030D-6E8A-4147-A177-3AD203B41FA5}">
                          <a16:colId xmlns:a16="http://schemas.microsoft.com/office/drawing/2014/main" val="1388819688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val="890026395"/>
                        </a:ext>
                      </a:extLst>
                    </a:gridCol>
                  </a:tblGrid>
                  <a:tr h="142240">
                    <a:tc>
                      <a:txBody>
                        <a:bodyPr/>
                        <a:lstStyle/>
                        <a:p>
                          <a:pPr algn="ctr"/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Linear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Regression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Decision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Tree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505122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Salary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Data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Training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set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8.67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+08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3.88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+08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60635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Salary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Data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Test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set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7.69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+07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1.71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+08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067346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F27AC8FA-7D95-4F3C-9DE9-BA99D2AD66F6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609600" y="1828800"/>
              <a:ext cx="11337671" cy="24079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3694713409"/>
                        </a:ext>
                      </a:extLst>
                    </a:gridCol>
                    <a:gridCol w="4632071">
                      <a:extLst>
                        <a:ext uri="{9D8B030D-6E8A-4147-A177-3AD203B41FA5}">
                          <a16:colId xmlns:a16="http://schemas.microsoft.com/office/drawing/2014/main" val="1388819688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val="890026395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Linear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Regression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Decision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Tree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50512298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Salary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Data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Training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set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6053" t="-61290" r="-79605" b="-11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333" t="-61290" r="-833" b="-118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0635160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Salary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Data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Test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set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6053" t="-161290" r="-79605" b="-1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333" t="-161290" r="-833" b="-18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67346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5749937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9037B8-9385-40D1-BD5E-20C85919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lỗi</a:t>
            </a:r>
            <a:r>
              <a:rPr lang="vi-VN" dirty="0"/>
              <a:t> </a:t>
            </a:r>
            <a:r>
              <a:rPr lang="vi-VN" dirty="0" err="1"/>
              <a:t>Root</a:t>
            </a:r>
            <a:r>
              <a:rPr lang="vi-VN" dirty="0"/>
              <a:t> </a:t>
            </a:r>
            <a:r>
              <a:rPr lang="vi-VN" dirty="0" err="1"/>
              <a:t>Mean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(RMSE)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966E0E-1D19-40FA-A91B-38DB99CC2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74425273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9037B8-9385-40D1-BD5E-20C85919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lỗi</a:t>
            </a:r>
            <a:r>
              <a:rPr lang="vi-VN" dirty="0"/>
              <a:t> </a:t>
            </a:r>
            <a:r>
              <a:rPr lang="vi-VN" dirty="0" err="1"/>
              <a:t>Root</a:t>
            </a:r>
            <a:r>
              <a:rPr lang="vi-VN" dirty="0"/>
              <a:t> </a:t>
            </a:r>
            <a:r>
              <a:rPr lang="vi-VN" dirty="0" err="1"/>
              <a:t>Mean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(RMSE)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5924C9D-277B-4090-9DB1-582B8A2677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Hàm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lỗi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Root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Mean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Squared</a:t>
                </a:r>
                <a:r>
                  <a:rPr lang="vi-VN" sz="2800" dirty="0">
                    <a:solidFill>
                      <a:srgbClr val="0066FF"/>
                    </a:solidFill>
                  </a:rPr>
                  <a:t> (RMSE)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định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nghĩa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như sau:</a:t>
                </a: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vi-V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vi-VN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vi-VN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vi-VN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vi-VN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vi-VN" sz="2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vi-VN" sz="28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vi-VN" sz="28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vi-VN" sz="28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vi-VN" sz="28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vi-VN" sz="28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vi-VN" sz="28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vi-VN" sz="2800" i="1">
                                                      <a:solidFill>
                                                        <a:srgbClr val="FF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vi-VN" sz="2800" i="1">
                                                      <a:solidFill>
                                                        <a:srgbClr val="FF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vi-VN" sz="2800" i="1">
                                                      <a:solidFill>
                                                        <a:srgbClr val="FF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vi-VN" sz="2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vi-V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vi-V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vi-V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𝑆𝑆𝐸</m:t>
                              </m:r>
                            </m:num>
                            <m:den>
                              <m:r>
                                <a:rPr lang="vi-V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vi-VN" sz="2800" b="0" dirty="0">
                  <a:solidFill>
                    <a:srgbClr val="0066FF"/>
                  </a:solidFill>
                </a:endParaRPr>
              </a:p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vi-VN" sz="28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vi-VN" sz="28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kết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quả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thực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thứ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vi-V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vi-V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vi-V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vi-V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kết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quả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dự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bởi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thứ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5924C9D-277B-4090-9DB1-582B8A2677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15373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9037B8-9385-40D1-BD5E-20C85919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lỗi</a:t>
            </a:r>
            <a:r>
              <a:rPr lang="vi-VN" dirty="0"/>
              <a:t> </a:t>
            </a:r>
            <a:r>
              <a:rPr lang="vi-VN" dirty="0" err="1"/>
              <a:t>Root</a:t>
            </a:r>
            <a:r>
              <a:rPr lang="vi-VN" dirty="0"/>
              <a:t> </a:t>
            </a:r>
            <a:r>
              <a:rPr lang="vi-VN" dirty="0" err="1"/>
              <a:t>Mean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(RMSE)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5924C9D-277B-4090-9DB1-582B8A2677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𝑅𝑀𝑆𝐸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xem như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độ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lệch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trung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giữa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đầu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ra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với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đầu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ra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thực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FF0000"/>
                    </a:solidFill>
                  </a:rPr>
                  <a:t>Hàm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lỗi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FF0000"/>
                    </a:solidFill>
                  </a:rPr>
                  <a:t>Root</a:t>
                </a:r>
                <a:r>
                  <a:rPr lang="vi-VN" sz="2800" i="1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FF0000"/>
                    </a:solidFill>
                  </a:rPr>
                  <a:t>Mean</a:t>
                </a:r>
                <a:r>
                  <a:rPr lang="vi-VN" sz="2800" i="1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FF0000"/>
                    </a:solidFill>
                  </a:rPr>
                  <a:t>Squared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trị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khoảng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0,+</m:t>
                        </m:r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: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𝑅𝑀</m:t>
                    </m:r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𝑆𝐸</m:t>
                    </m:r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: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xác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tuyệt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đối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𝑅𝑀</m:t>
                    </m:r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𝑆𝐸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nhỏ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độ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chính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xác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cao.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5924C9D-277B-4090-9DB1-582B8A2677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938749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B67799-829C-459C-900F-DBC44D64C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lỗi</a:t>
            </a:r>
            <a:r>
              <a:rPr lang="vi-VN" dirty="0"/>
              <a:t> </a:t>
            </a:r>
            <a:r>
              <a:rPr lang="vi-VN" dirty="0" err="1"/>
              <a:t>Root</a:t>
            </a:r>
            <a:r>
              <a:rPr lang="vi-VN" dirty="0"/>
              <a:t> </a:t>
            </a:r>
            <a:r>
              <a:rPr lang="vi-VN" dirty="0" err="1"/>
              <a:t>Mean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(RMSE)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A148AC-64ED-46FC-9358-56FFF99DC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Ví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dụ</a:t>
            </a:r>
            <a:r>
              <a:rPr lang="vi-VN" sz="2800" dirty="0">
                <a:solidFill>
                  <a:srgbClr val="0066FF"/>
                </a:solidFill>
              </a:rPr>
              <a:t> trên 5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đầu</a:t>
            </a:r>
            <a:r>
              <a:rPr lang="vi-VN" sz="2800" dirty="0">
                <a:solidFill>
                  <a:srgbClr val="0066FF"/>
                </a:solidFill>
              </a:rPr>
              <a:t> tiên </a:t>
            </a:r>
            <a:r>
              <a:rPr lang="vi-VN" sz="2800" dirty="0" err="1">
                <a:solidFill>
                  <a:srgbClr val="0066FF"/>
                </a:solidFill>
              </a:rPr>
              <a:t>của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tập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Position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Salaries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B5E482E-56B1-4DDD-AE5E-81C31D93E9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76600" y="2438400"/>
              <a:ext cx="2662357" cy="368776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138357">
                      <a:extLst>
                        <a:ext uri="{9D8B030D-6E8A-4147-A177-3AD203B41FA5}">
                          <a16:colId xmlns:a16="http://schemas.microsoft.com/office/drawing/2014/main" val="679012805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051730722"/>
                        </a:ext>
                      </a:extLst>
                    </a:gridCol>
                  </a:tblGrid>
                  <a:tr h="5688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053189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78768591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59329619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69768686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432133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110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88301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B5E482E-56B1-4DDD-AE5E-81C31D93E9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76600" y="2438400"/>
              <a:ext cx="2662357" cy="368776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138357">
                      <a:extLst>
                        <a:ext uri="{9D8B030D-6E8A-4147-A177-3AD203B41FA5}">
                          <a16:colId xmlns:a16="http://schemas.microsoft.com/office/drawing/2014/main" val="679012805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051730722"/>
                        </a:ext>
                      </a:extLst>
                    </a:gridCol>
                  </a:tblGrid>
                  <a:tr h="5688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053189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5" t="-96117" r="-136364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4900" t="-96117" r="-159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8768591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5" t="-198039" r="-136364" b="-30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4900" t="-198039" r="-1594" b="-303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329619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5" t="-298039" r="-136364" b="-20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4900" t="-298039" r="-1594" b="-203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9768686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5" t="-394175" r="-136364" b="-10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4900" t="-394175" r="-1594" b="-1019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432133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5" t="-499020" r="-136364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4900" t="-499020" r="-1594" b="-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88301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B3493D05-5B68-4AC3-AA84-D9D892C9491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15357" y="2451652"/>
              <a:ext cx="2976443" cy="367885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976443">
                      <a:extLst>
                        <a:ext uri="{9D8B030D-6E8A-4147-A177-3AD203B41FA5}">
                          <a16:colId xmlns:a16="http://schemas.microsoft.com/office/drawing/2014/main" val="3814929111"/>
                        </a:ext>
                      </a:extLst>
                    </a:gridCol>
                  </a:tblGrid>
                  <a:tr h="5599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Predicted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3925982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88805989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64686811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441783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83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5816600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42296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B3493D05-5B68-4AC3-AA84-D9D892C9491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15357" y="2451652"/>
              <a:ext cx="2976443" cy="367885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976443">
                      <a:extLst>
                        <a:ext uri="{9D8B030D-6E8A-4147-A177-3AD203B41FA5}">
                          <a16:colId xmlns:a16="http://schemas.microsoft.com/office/drawing/2014/main" val="3814929111"/>
                        </a:ext>
                      </a:extLst>
                    </a:gridCol>
                  </a:tblGrid>
                  <a:tr h="5599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Predicted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3925982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4" t="-97059" r="-818" b="-403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8805989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4" t="-195146" r="-81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4686811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4" t="-298039" r="-818" b="-20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441783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4" t="-394175" r="-818" b="-1009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5816600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4" t="-499020" r="-818" b="-19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2296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0462649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9037B8-9385-40D1-BD5E-20C85919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lỗi</a:t>
            </a:r>
            <a:r>
              <a:rPr lang="vi-VN" dirty="0"/>
              <a:t> </a:t>
            </a:r>
            <a:r>
              <a:rPr lang="vi-VN" dirty="0" err="1"/>
              <a:t>Root</a:t>
            </a:r>
            <a:r>
              <a:rPr lang="vi-VN" dirty="0"/>
              <a:t> </a:t>
            </a:r>
            <a:r>
              <a:rPr lang="vi-VN" dirty="0" err="1"/>
              <a:t>Mean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(RMSE)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1F0ABE-16D4-4731-9297-9FE414717F2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Ví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trên 5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đầu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tiên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Position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Salaries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𝑆𝑆𝐸</m:t>
                    </m:r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=37,250,000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2800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𝑅𝑀𝑆𝐸</m:t>
                    </m:r>
                    <m:r>
                      <a:rPr lang="vi-VN" sz="2800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vi-VN" sz="2800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vi-VN" sz="2800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𝑆𝑆𝐸</m:t>
                            </m:r>
                          </m:num>
                          <m:den>
                            <m:r>
                              <a:rPr lang="vi-VN" sz="2800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a:rPr lang="vi-VN" sz="280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nor/>
                      </m:rPr>
                      <a:rPr lang="vi-VN" sz="280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2729.46</m:t>
                    </m:r>
                    <m:r>
                      <m:rPr>
                        <m:nor/>
                      </m:rPr>
                      <a:rPr lang="vi-VN" sz="28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1F0ABE-16D4-4731-9297-9FE414717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482" r="-2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0EF10BDB-5C0D-472B-8446-534E48DB063B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</p:nvPr>
            </p:nvGraphicFramePr>
            <p:xfrm>
              <a:off x="8229600" y="1583637"/>
              <a:ext cx="2662357" cy="368776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138357">
                      <a:extLst>
                        <a:ext uri="{9D8B030D-6E8A-4147-A177-3AD203B41FA5}">
                          <a16:colId xmlns:a16="http://schemas.microsoft.com/office/drawing/2014/main" val="679012805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051730722"/>
                        </a:ext>
                      </a:extLst>
                    </a:gridCol>
                  </a:tblGrid>
                  <a:tr h="5688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053189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78768591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59329619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69768686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432133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110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88301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0EF10BDB-5C0D-472B-8446-534E48DB063B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</p:nvPr>
            </p:nvGraphicFramePr>
            <p:xfrm>
              <a:off x="8229600" y="1583637"/>
              <a:ext cx="2662357" cy="368776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138357">
                      <a:extLst>
                        <a:ext uri="{9D8B030D-6E8A-4147-A177-3AD203B41FA5}">
                          <a16:colId xmlns:a16="http://schemas.microsoft.com/office/drawing/2014/main" val="679012805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051730722"/>
                        </a:ext>
                      </a:extLst>
                    </a:gridCol>
                  </a:tblGrid>
                  <a:tr h="5688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053189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70" t="-96117" r="-135829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5600" t="-96117" r="-1600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8768591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70" t="-198039" r="-135829" b="-30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5600" t="-198039" r="-1600" b="-303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329619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70" t="-295146" r="-135829" b="-2009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5600" t="-295146" r="-1600" b="-2009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9768686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70" t="-399020" r="-135829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5600" t="-399020" r="-1600" b="-10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432133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70" t="-494175" r="-135829" b="-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5600" t="-494175" r="-1600" b="-19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883017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0917057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9037B8-9385-40D1-BD5E-20C85919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lỗi</a:t>
            </a:r>
            <a:r>
              <a:rPr lang="vi-VN" dirty="0"/>
              <a:t> </a:t>
            </a:r>
            <a:r>
              <a:rPr lang="vi-VN" dirty="0" err="1"/>
              <a:t>Root</a:t>
            </a:r>
            <a:r>
              <a:rPr lang="vi-VN" dirty="0"/>
              <a:t> </a:t>
            </a:r>
            <a:r>
              <a:rPr lang="vi-VN" dirty="0" err="1"/>
              <a:t>Mean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(RMSE)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F0ABE-16D4-4731-9297-9FE414717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Hàm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lỗi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i="1" dirty="0" err="1">
                <a:solidFill>
                  <a:srgbClr val="0066FF"/>
                </a:solidFill>
                <a:ea typeface="Cambria Math" panose="02040503050406030204" pitchFamily="18" charset="0"/>
              </a:rPr>
              <a:t>Root</a:t>
            </a:r>
            <a:r>
              <a:rPr lang="vi-VN" sz="2800" i="1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i="1" dirty="0" err="1">
                <a:solidFill>
                  <a:srgbClr val="0066FF"/>
                </a:solidFill>
                <a:ea typeface="Cambria Math" panose="02040503050406030204" pitchFamily="18" charset="0"/>
              </a:rPr>
              <a:t>Mean</a:t>
            </a:r>
            <a:r>
              <a:rPr lang="vi-VN" sz="2800" i="1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i="1" dirty="0" err="1">
                <a:solidFill>
                  <a:srgbClr val="0066FF"/>
                </a:solidFill>
                <a:ea typeface="Cambria Math" panose="02040503050406030204" pitchFamily="18" charset="0"/>
              </a:rPr>
              <a:t>Squared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thường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được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sử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dụng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nhiều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vì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khắc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phục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được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các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nhược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điểm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của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hàm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lỗi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i="1" dirty="0" err="1">
                <a:solidFill>
                  <a:srgbClr val="0066FF"/>
                </a:solidFill>
                <a:ea typeface="Cambria Math" panose="02040503050406030204" pitchFamily="18" charset="0"/>
              </a:rPr>
              <a:t>Squared</a:t>
            </a:r>
            <a:r>
              <a:rPr lang="vi-VN" sz="2800" i="1" dirty="0">
                <a:solidFill>
                  <a:srgbClr val="0066FF"/>
                </a:solidFill>
                <a:ea typeface="Cambria Math" panose="02040503050406030204" pitchFamily="18" charset="0"/>
              </a:rPr>
              <a:t> Sum:</a:t>
            </a:r>
          </a:p>
          <a:p>
            <a:pPr lvl="1" algn="just"/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Không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phụ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thuộc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vào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số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lượng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điểm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dữ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liệu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Cùng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đơn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vị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với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kết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quả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đầu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ra.</a:t>
            </a:r>
          </a:p>
          <a:p>
            <a:pPr algn="just"/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Nhược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điểm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: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Phụ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thuộc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vào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miền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giá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trị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đầu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ra (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outcome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)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của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dữ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liệu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473133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4F78-96AC-45FA-B777-8E337CD6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lỗi</a:t>
            </a:r>
            <a:r>
              <a:rPr lang="vi-VN" dirty="0"/>
              <a:t> </a:t>
            </a:r>
            <a:r>
              <a:rPr lang="vi-VN" dirty="0" err="1"/>
              <a:t>Root</a:t>
            </a:r>
            <a:r>
              <a:rPr lang="vi-VN" dirty="0"/>
              <a:t> </a:t>
            </a:r>
            <a:r>
              <a:rPr lang="vi-VN" dirty="0" err="1"/>
              <a:t>Mean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(RMSE)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52204A-E022-4E3A-994F-213C5CBC1A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n-US" dirty="0" err="1">
                <a:solidFill>
                  <a:srgbClr val="0066FF"/>
                </a:solidFill>
              </a:rPr>
              <a:t>Giới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thiệu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tập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dữ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liệu</a:t>
            </a:r>
            <a:r>
              <a:rPr lang="en-US" dirty="0">
                <a:solidFill>
                  <a:srgbClr val="0066FF"/>
                </a:solidFill>
              </a:rPr>
              <a:t> Salary Data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với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đầu</a:t>
            </a:r>
            <a:r>
              <a:rPr lang="vi-VN" dirty="0">
                <a:solidFill>
                  <a:srgbClr val="0066FF"/>
                </a:solidFill>
              </a:rPr>
              <a:t> ra (</a:t>
            </a:r>
            <a:r>
              <a:rPr lang="vi-VN" dirty="0" err="1">
                <a:solidFill>
                  <a:srgbClr val="0066FF"/>
                </a:solidFill>
              </a:rPr>
              <a:t>outcome</a:t>
            </a:r>
            <a:r>
              <a:rPr lang="vi-VN" dirty="0">
                <a:solidFill>
                  <a:srgbClr val="0066FF"/>
                </a:solidFill>
              </a:rPr>
              <a:t>) </a:t>
            </a:r>
            <a:r>
              <a:rPr lang="vi-VN" dirty="0" err="1">
                <a:solidFill>
                  <a:srgbClr val="0066FF"/>
                </a:solidFill>
              </a:rPr>
              <a:t>đã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được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chuẩn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hóa</a:t>
            </a:r>
            <a:r>
              <a:rPr lang="vi-VN" dirty="0">
                <a:solidFill>
                  <a:srgbClr val="0066FF"/>
                </a:solidFill>
              </a:rPr>
              <a:t> (</a:t>
            </a:r>
            <a:r>
              <a:rPr lang="vi-VN" dirty="0" err="1">
                <a:solidFill>
                  <a:srgbClr val="0066FF"/>
                </a:solidFill>
              </a:rPr>
              <a:t>nomalized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hoặc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scale</a:t>
            </a:r>
            <a:r>
              <a:rPr lang="vi-VN" dirty="0">
                <a:solidFill>
                  <a:srgbClr val="0066FF"/>
                </a:solidFill>
              </a:rPr>
              <a:t>).</a:t>
            </a:r>
            <a:endParaRPr lang="vi-VN" dirty="0">
              <a:solidFill>
                <a:srgbClr val="FF0000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8ABC165-AD3F-4CAA-9C81-4C85C8219F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97600" y="1889049"/>
            <a:ext cx="5384800" cy="394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04333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9037B8-9385-40D1-BD5E-20C85919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lỗi</a:t>
            </a:r>
            <a:r>
              <a:rPr lang="vi-VN" dirty="0"/>
              <a:t> </a:t>
            </a:r>
            <a:r>
              <a:rPr lang="vi-VN" dirty="0" err="1"/>
              <a:t>Root</a:t>
            </a:r>
            <a:r>
              <a:rPr lang="vi-VN" dirty="0"/>
              <a:t> </a:t>
            </a:r>
            <a:r>
              <a:rPr lang="vi-VN" dirty="0" err="1"/>
              <a:t>Mean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(RMSE)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F0ABE-16D4-4731-9297-9FE414717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Ví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dụ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huấn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luyện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2 mô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hình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Linear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Regression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và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Decision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Tree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Regression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trên:</a:t>
            </a:r>
          </a:p>
          <a:p>
            <a:pPr lvl="1" algn="just"/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Tập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training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của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bộ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dữ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liệu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Salary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Data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Tập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training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với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đầu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ra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đã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được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chuẩn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hóa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của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bộ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dữ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liệu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Salary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0066FF"/>
                </a:solidFill>
                <a:ea typeface="Cambria Math" panose="02040503050406030204" pitchFamily="18" charset="0"/>
              </a:rPr>
              <a:t>Data</a:t>
            </a:r>
            <a:r>
              <a:rPr lang="vi-VN" sz="2800" dirty="0">
                <a:solidFill>
                  <a:srgbClr val="0066FF"/>
                </a:solidFill>
                <a:ea typeface="Cambria Math" panose="020405030504060302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Tính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giá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trị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hàm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lỗi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RMSE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của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2 mô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hình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trên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các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tập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dữ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liệu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 tương </a:t>
            </a:r>
            <a:r>
              <a:rPr lang="vi-VN" sz="2800" dirty="0" err="1">
                <a:solidFill>
                  <a:srgbClr val="FF0000"/>
                </a:solidFill>
                <a:ea typeface="Cambria Math" panose="02040503050406030204" pitchFamily="18" charset="0"/>
              </a:rPr>
              <a:t>ứng</a:t>
            </a:r>
            <a:r>
              <a:rPr lang="vi-VN" sz="2800" dirty="0">
                <a:solidFill>
                  <a:srgbClr val="FF0000"/>
                </a:solidFill>
                <a:ea typeface="Cambria Math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372898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B67799-829C-459C-900F-DBC44D64C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lỗi</a:t>
            </a:r>
            <a:r>
              <a:rPr lang="vi-VN" dirty="0"/>
              <a:t> </a:t>
            </a:r>
            <a:r>
              <a:rPr lang="vi-VN" dirty="0" err="1"/>
              <a:t>Root</a:t>
            </a:r>
            <a:r>
              <a:rPr lang="vi-VN" dirty="0"/>
              <a:t> </a:t>
            </a:r>
            <a:r>
              <a:rPr lang="vi-VN" dirty="0" err="1"/>
              <a:t>Mean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(RMSE)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723D1FE1-981C-435A-9792-70521E51BD6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09600" y="1828800"/>
              <a:ext cx="11337671" cy="37795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971800">
                      <a:extLst>
                        <a:ext uri="{9D8B030D-6E8A-4147-A177-3AD203B41FA5}">
                          <a16:colId xmlns:a16="http://schemas.microsoft.com/office/drawing/2014/main" val="3694713409"/>
                        </a:ext>
                      </a:extLst>
                    </a:gridCol>
                    <a:gridCol w="4708271">
                      <a:extLst>
                        <a:ext uri="{9D8B030D-6E8A-4147-A177-3AD203B41FA5}">
                          <a16:colId xmlns:a16="http://schemas.microsoft.com/office/drawing/2014/main" val="1388819688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val="890026395"/>
                        </a:ext>
                      </a:extLst>
                    </a:gridCol>
                  </a:tblGrid>
                  <a:tr h="142240">
                    <a:tc>
                      <a:txBody>
                        <a:bodyPr/>
                        <a:lstStyle/>
                        <a:p>
                          <a:pPr algn="ctr"/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Linear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Regression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Decision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Tree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505122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Salary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Data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Training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set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012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580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60635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Salary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Data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Test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set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025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350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067346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Salary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Data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Training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set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+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Scale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Outcome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0.24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98334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723D1FE1-981C-435A-9792-70521E51BD6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09600" y="1828800"/>
              <a:ext cx="11337671" cy="37795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971800">
                      <a:extLst>
                        <a:ext uri="{9D8B030D-6E8A-4147-A177-3AD203B41FA5}">
                          <a16:colId xmlns:a16="http://schemas.microsoft.com/office/drawing/2014/main" val="3694713409"/>
                        </a:ext>
                      </a:extLst>
                    </a:gridCol>
                    <a:gridCol w="4708271">
                      <a:extLst>
                        <a:ext uri="{9D8B030D-6E8A-4147-A177-3AD203B41FA5}">
                          <a16:colId xmlns:a16="http://schemas.microsoft.com/office/drawing/2014/main" val="1388819688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val="890026395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Linear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Regression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Decision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Tree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50512298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Salary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Data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Training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set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3472" t="-61290" r="-78368" b="-26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333" t="-61290" r="-833" b="-26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0635160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Salary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Data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Test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set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3472" t="-161290" r="-78368" b="-16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333" t="-161290" r="-833" b="-16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6734627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Salary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Data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Training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set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+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Scale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Outcome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3472" t="-180000" r="-78368" b="-12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333" t="-180000" r="-833" b="-12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8334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5654209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7B23DA-F470-43B8-AD46-849B60B36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Mô </a:t>
            </a:r>
            <a:r>
              <a:rPr lang="vi-VN" dirty="0" err="1"/>
              <a:t>hình</a:t>
            </a:r>
            <a:r>
              <a:rPr lang="vi-VN" dirty="0"/>
              <a:t> </a:t>
            </a:r>
            <a:r>
              <a:rPr lang="vi-VN" dirty="0" err="1"/>
              <a:t>Đường</a:t>
            </a:r>
            <a:r>
              <a:rPr lang="vi-VN" dirty="0"/>
              <a:t> cơ </a:t>
            </a:r>
            <a:r>
              <a:rPr lang="vi-VN" dirty="0" err="1"/>
              <a:t>sở</a:t>
            </a:r>
            <a:r>
              <a:rPr lang="vi-VN" dirty="0"/>
              <a:t> - </a:t>
            </a:r>
            <a:r>
              <a:rPr lang="vi-VN" dirty="0" err="1"/>
              <a:t>BaseLine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CC001-4173-4DDC-BDB7-41952AD72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3561830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7B23DA-F470-43B8-AD46-849B60B36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Mô </a:t>
            </a:r>
            <a:r>
              <a:rPr lang="vi-VN" dirty="0" err="1"/>
              <a:t>hình</a:t>
            </a:r>
            <a:r>
              <a:rPr lang="vi-VN" dirty="0"/>
              <a:t> </a:t>
            </a:r>
            <a:r>
              <a:rPr lang="vi-VN" dirty="0" err="1"/>
              <a:t>Đường</a:t>
            </a:r>
            <a:r>
              <a:rPr lang="vi-VN" dirty="0"/>
              <a:t> cơ </a:t>
            </a:r>
            <a:r>
              <a:rPr lang="vi-VN" dirty="0" err="1"/>
              <a:t>sở</a:t>
            </a:r>
            <a:r>
              <a:rPr lang="vi-VN" dirty="0"/>
              <a:t> – </a:t>
            </a:r>
            <a:r>
              <a:rPr lang="vi-VN" dirty="0" err="1"/>
              <a:t>BaseLine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57E679-0525-4EB7-BA3B-C134B784A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Trước</a:t>
            </a:r>
            <a:r>
              <a:rPr lang="vi-VN" sz="2800" dirty="0">
                <a:solidFill>
                  <a:srgbClr val="0066FF"/>
                </a:solidFill>
              </a:rPr>
              <a:t> khi đi </a:t>
            </a:r>
            <a:r>
              <a:rPr lang="vi-VN" sz="2800" dirty="0" err="1">
                <a:solidFill>
                  <a:srgbClr val="0066FF"/>
                </a:solidFill>
              </a:rPr>
              <a:t>vào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đánh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giá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tiếp</a:t>
            </a:r>
            <a:r>
              <a:rPr lang="vi-VN" sz="2800" dirty="0">
                <a:solidFill>
                  <a:srgbClr val="0066FF"/>
                </a:solidFill>
              </a:rPr>
              <a:t> theo, ta </a:t>
            </a:r>
            <a:r>
              <a:rPr lang="vi-VN" sz="2800" dirty="0" err="1">
                <a:solidFill>
                  <a:srgbClr val="0066FF"/>
                </a:solidFill>
              </a:rPr>
              <a:t>sẽ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giới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về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đơn </a:t>
            </a:r>
            <a:r>
              <a:rPr lang="vi-VN" sz="2800" dirty="0" err="1">
                <a:solidFill>
                  <a:srgbClr val="0066FF"/>
                </a:solidFill>
              </a:rPr>
              <a:t>giản</a:t>
            </a:r>
            <a:r>
              <a:rPr lang="vi-VN" sz="2800" dirty="0">
                <a:solidFill>
                  <a:srgbClr val="0066FF"/>
                </a:solidFill>
              </a:rPr>
              <a:t> – </a:t>
            </a:r>
            <a:r>
              <a:rPr lang="vi-VN" sz="2800" dirty="0" err="1">
                <a:solidFill>
                  <a:srgbClr val="0066FF"/>
                </a:solidFill>
              </a:rPr>
              <a:t>gọi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đường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>
                <a:solidFill>
                  <a:srgbClr val="0066FF"/>
                </a:solidFill>
              </a:rPr>
              <a:t>cơ sở</a:t>
            </a:r>
            <a:r>
              <a:rPr lang="en-US" sz="2800">
                <a:solidFill>
                  <a:srgbClr val="0066FF"/>
                </a:solidFill>
              </a:rPr>
              <a:t> (BaseLine)</a:t>
            </a:r>
            <a:r>
              <a:rPr lang="vi-VN" sz="2800">
                <a:solidFill>
                  <a:srgbClr val="0066FF"/>
                </a:solidFill>
              </a:rPr>
              <a:t>.</a:t>
            </a:r>
            <a:endParaRPr lang="vi-VN" sz="2800" dirty="0">
              <a:solidFill>
                <a:srgbClr val="0066FF"/>
              </a:solidFill>
            </a:endParaRPr>
          </a:p>
          <a:p>
            <a:pPr algn="just"/>
            <a:r>
              <a:rPr lang="vi-VN" sz="2800" dirty="0">
                <a:solidFill>
                  <a:srgbClr val="FF0000"/>
                </a:solidFill>
              </a:rPr>
              <a:t>Mô </a:t>
            </a:r>
            <a:r>
              <a:rPr lang="vi-VN" sz="2800" dirty="0" err="1">
                <a:solidFill>
                  <a:srgbClr val="FF0000"/>
                </a:solidFill>
              </a:rPr>
              <a:t>hình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này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chỉ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dự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đoán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một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kết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quả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đầu</a:t>
            </a:r>
            <a:r>
              <a:rPr lang="vi-VN" sz="2800" dirty="0">
                <a:solidFill>
                  <a:srgbClr val="FF0000"/>
                </a:solidFill>
              </a:rPr>
              <a:t> ra duy </a:t>
            </a:r>
            <a:r>
              <a:rPr lang="vi-VN" sz="2800" dirty="0" err="1">
                <a:solidFill>
                  <a:srgbClr val="FF0000"/>
                </a:solidFill>
              </a:rPr>
              <a:t>nhất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đó</a:t>
            </a:r>
            <a:r>
              <a:rPr lang="vi-VN" sz="2800" dirty="0">
                <a:solidFill>
                  <a:srgbClr val="FF0000"/>
                </a:solidFill>
              </a:rPr>
              <a:t> cho </a:t>
            </a:r>
            <a:r>
              <a:rPr lang="vi-VN" sz="2800" dirty="0" err="1">
                <a:solidFill>
                  <a:srgbClr val="FF0000"/>
                </a:solidFill>
              </a:rPr>
              <a:t>mọi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điểm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đầu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vào</a:t>
            </a:r>
            <a:r>
              <a:rPr lang="vi-VN" sz="2800" dirty="0">
                <a:solidFill>
                  <a:srgbClr val="FF0000"/>
                </a:solidFill>
              </a:rPr>
              <a:t>, </a:t>
            </a:r>
            <a:r>
              <a:rPr lang="vi-VN" sz="2800" dirty="0" err="1">
                <a:solidFill>
                  <a:srgbClr val="FF0000"/>
                </a:solidFill>
              </a:rPr>
              <a:t>đó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giá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trị</a:t>
            </a:r>
            <a:r>
              <a:rPr lang="vi-VN" sz="2800" dirty="0">
                <a:solidFill>
                  <a:srgbClr val="FF0000"/>
                </a:solidFill>
              </a:rPr>
              <a:t> trung </a:t>
            </a:r>
            <a:r>
              <a:rPr lang="vi-VN" sz="2800" dirty="0" err="1">
                <a:solidFill>
                  <a:srgbClr val="FF0000"/>
                </a:solidFill>
              </a:rPr>
              <a:t>bình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của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tất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cả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các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kết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quả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đầu</a:t>
            </a:r>
            <a:r>
              <a:rPr lang="vi-VN" sz="2800" dirty="0">
                <a:solidFill>
                  <a:srgbClr val="FF0000"/>
                </a:solidFill>
              </a:rPr>
              <a:t> ra trong </a:t>
            </a:r>
            <a:r>
              <a:rPr lang="vi-VN" sz="2800" dirty="0" err="1">
                <a:solidFill>
                  <a:srgbClr val="FF0000"/>
                </a:solidFill>
              </a:rPr>
              <a:t>tập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90185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7B23DA-F470-43B8-AD46-849B60B36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vi-VN"/>
              <a:t>Mô hình Đường cơ sở – BaseLine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57E679-0525-4EB7-BA3B-C134B784A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Ví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dụ</a:t>
            </a:r>
            <a:r>
              <a:rPr lang="vi-VN" sz="2800" dirty="0">
                <a:solidFill>
                  <a:srgbClr val="0066FF"/>
                </a:solidFill>
              </a:rPr>
              <a:t> trên 5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đầu</a:t>
            </a:r>
            <a:r>
              <a:rPr lang="vi-VN" sz="2800" dirty="0">
                <a:solidFill>
                  <a:srgbClr val="0066FF"/>
                </a:solidFill>
              </a:rPr>
              <a:t> tiên </a:t>
            </a:r>
            <a:r>
              <a:rPr lang="vi-VN" sz="2800" dirty="0" err="1">
                <a:solidFill>
                  <a:srgbClr val="0066FF"/>
                </a:solidFill>
              </a:rPr>
              <a:t>của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tập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Position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Salaries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2DA09845-6451-4EBD-8518-AAD71BA5B85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48043" y="2438400"/>
              <a:ext cx="2662357" cy="368776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138357">
                      <a:extLst>
                        <a:ext uri="{9D8B030D-6E8A-4147-A177-3AD203B41FA5}">
                          <a16:colId xmlns:a16="http://schemas.microsoft.com/office/drawing/2014/main" val="679012805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051730722"/>
                        </a:ext>
                      </a:extLst>
                    </a:gridCol>
                  </a:tblGrid>
                  <a:tr h="5688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053189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78768591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59329619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69768686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432133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110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88301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2DA09845-6451-4EBD-8518-AAD71BA5B85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48043" y="2438400"/>
              <a:ext cx="2662357" cy="368776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138357">
                      <a:extLst>
                        <a:ext uri="{9D8B030D-6E8A-4147-A177-3AD203B41FA5}">
                          <a16:colId xmlns:a16="http://schemas.microsoft.com/office/drawing/2014/main" val="679012805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051730722"/>
                        </a:ext>
                      </a:extLst>
                    </a:gridCol>
                  </a:tblGrid>
                  <a:tr h="5688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053189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5" t="-96117" r="-136364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200" t="-96117" r="-2000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8768591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5" t="-198039" r="-136364" b="-30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200" t="-198039" r="-2000" b="-303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329619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5" t="-298039" r="-136364" b="-20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200" t="-298039" r="-2000" b="-203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9768686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5" t="-394175" r="-136364" b="-10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200" t="-394175" r="-2000" b="-1019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432133"/>
                      </a:ext>
                    </a:extLst>
                  </a:tr>
                  <a:tr h="62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5" t="-499020" r="-136364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200" t="-499020" r="-2000" b="-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883017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9672880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80C40-A676-4651-BEC4-D8CA5AD26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Mô </a:t>
            </a:r>
            <a:r>
              <a:rPr lang="vi-VN" dirty="0" err="1"/>
              <a:t>hình</a:t>
            </a:r>
            <a:r>
              <a:rPr lang="vi-VN" dirty="0"/>
              <a:t> </a:t>
            </a:r>
            <a:r>
              <a:rPr lang="vi-VN" dirty="0" err="1"/>
              <a:t>Đường</a:t>
            </a:r>
            <a:r>
              <a:rPr lang="vi-VN" dirty="0"/>
              <a:t> cơ </a:t>
            </a:r>
            <a:r>
              <a:rPr lang="vi-VN" dirty="0" err="1"/>
              <a:t>sở</a:t>
            </a:r>
            <a:r>
              <a:rPr lang="vi-VN" dirty="0"/>
              <a:t> – </a:t>
            </a:r>
            <a:r>
              <a:rPr lang="vi-VN" dirty="0" err="1"/>
              <a:t>BaseLine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440CF-C8EF-4588-849E-D14BCE306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đường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cơ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sở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này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sẽ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trả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về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kết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quả</a:t>
                </a:r>
                <a:r>
                  <a:rPr lang="vi-VN" sz="2800" dirty="0">
                    <a:solidFill>
                      <a:srgbClr val="0066FF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Salary</a:t>
                </a:r>
                <a:r>
                  <a:rPr lang="vi-VN" sz="2800" dirty="0">
                    <a:solidFill>
                      <a:srgbClr val="0066FF"/>
                    </a:solidFill>
                  </a:rPr>
                  <a:t>) duy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nhất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cho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mọi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trị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đầu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vào</a:t>
                </a:r>
                <a:r>
                  <a:rPr lang="vi-VN" sz="2800" dirty="0">
                    <a:solidFill>
                      <a:srgbClr val="0066FF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Level</a:t>
                </a:r>
                <a:r>
                  <a:rPr lang="vi-VN" sz="2800" dirty="0">
                    <a:solidFill>
                      <a:srgbClr val="0066FF"/>
                    </a:solidFill>
                  </a:rPr>
                  <a:t>)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marL="0" indent="0" algn="just">
                  <a:buNone/>
                </a:pPr>
                <a:endParaRPr lang="vi-VN" sz="2800" b="0" i="1" dirty="0">
                  <a:solidFill>
                    <a:srgbClr val="0066FF"/>
                  </a:solidFill>
                  <a:latin typeface="Cambria Math" panose="02040503050406030204" pitchFamily="18" charset="0"/>
                </a:endParaRP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𝑚𝑒𝑎𝑛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45,000+50,000+60,000+80,000+110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000</m:t>
                          </m:r>
                        </m:num>
                        <m:den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=69,500</m:t>
                      </m:r>
                    </m:oMath>
                  </m:oMathPara>
                </a14:m>
                <a:endParaRPr lang="vi-V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440CF-C8EF-4588-849E-D14BCE306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213046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2E22CD-5629-4D1F-BEA7-70C7A7D10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Hàm </a:t>
            </a:r>
            <a:r>
              <a:rPr lang="vi-VN" dirty="0" err="1"/>
              <a:t>đánh</a:t>
            </a:r>
            <a:r>
              <a:rPr lang="vi-VN" dirty="0"/>
              <a:t> </a:t>
            </a:r>
            <a:r>
              <a:rPr lang="vi-VN" dirty="0" err="1"/>
              <a:t>giá</a:t>
            </a:r>
            <a:r>
              <a:rPr lang="vi-VN" dirty="0"/>
              <a:t> R </a:t>
            </a:r>
            <a:r>
              <a:rPr lang="vi-VN" dirty="0" err="1"/>
              <a:t>Squared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F04A8B-E2BC-4B47-BF60-1995A71B0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16941985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2E22CD-5629-4D1F-BEA7-70C7A7D10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Hàm </a:t>
            </a:r>
            <a:r>
              <a:rPr lang="vi-VN" dirty="0" err="1"/>
              <a:t>đánh</a:t>
            </a:r>
            <a:r>
              <a:rPr lang="vi-VN" dirty="0"/>
              <a:t> </a:t>
            </a:r>
            <a:r>
              <a:rPr lang="vi-VN" dirty="0" err="1"/>
              <a:t>giá</a:t>
            </a:r>
            <a:r>
              <a:rPr lang="vi-VN" dirty="0"/>
              <a:t> R </a:t>
            </a:r>
            <a:r>
              <a:rPr lang="vi-VN" dirty="0" err="1"/>
              <a:t>Squared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E3DC189-FFAF-4898-B722-9E4D61FF3D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Hàm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đánh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>
                    <a:solidFill>
                      <a:srgbClr val="0066FF"/>
                    </a:solidFill>
                  </a:rPr>
                  <a:t>R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Squared</a:t>
                </a:r>
                <a:r>
                  <a:rPr lang="vi-VN" sz="2800" i="1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>
                    <a:solidFill>
                      <a:srgbClr val="0066FF"/>
                    </a:solidFill>
                  </a:rPr>
                  <a:t>(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ký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)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định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nghĩa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vi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vi-V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𝑆𝑆</m:t>
                          </m:r>
                          <m:sSub>
                            <m:sSubPr>
                              <m:ctrlPr>
                                <a:rPr lang="vi-V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vi-V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𝑚𝑜𝑑𝑒𝑙</m:t>
                              </m:r>
                            </m:sub>
                          </m:sSub>
                        </m:num>
                        <m:den>
                          <m:r>
                            <a:rPr lang="vi-V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𝑆𝑆</m:t>
                          </m:r>
                          <m:sSub>
                            <m:sSubPr>
                              <m:ctrlPr>
                                <a:rPr lang="vi-V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vi-V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𝑏𝑎𝑠𝑒𝑙𝑖𝑛𝑒</m:t>
                              </m:r>
                            </m:sub>
                          </m:sSub>
                        </m:den>
                      </m:f>
                      <m:r>
                        <a:rPr lang="vi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vi-V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vi-V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vi-V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vi-V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vi-VN" sz="2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vi-VN" sz="28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vi-VN" sz="28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vi-VN" sz="28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vi-VN" sz="2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vi-VN" sz="28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vi-VN" sz="28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vi-VN" sz="28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vi-VN" sz="28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vi-V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vi-V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vi-V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vi-V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vi-VN" sz="2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vi-VN" sz="28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vi-VN" sz="28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vi-VN" sz="28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vi-VN" sz="2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vi-VN" sz="28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vi-VN" sz="28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vi-VN" sz="28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𝑚𝑒𝑎𝑛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vi-V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vi-VN" sz="2800" dirty="0">
                  <a:solidFill>
                    <a:srgbClr val="FF0000"/>
                  </a:solidFill>
                </a:endParaRP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: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2800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𝑆𝑆</m:t>
                    </m:r>
                    <m:sSub>
                      <m:sSubPr>
                        <m:ctrlP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trị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hàm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lỗi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Squared</a:t>
                </a:r>
                <a:r>
                  <a:rPr lang="vi-VN" sz="2800" i="1" dirty="0">
                    <a:solidFill>
                      <a:srgbClr val="0066FF"/>
                    </a:solidFill>
                  </a:rPr>
                  <a:t> Sum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khi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đánh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trên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đang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xét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𝑆𝑆</m:t>
                    </m:r>
                    <m:sSub>
                      <m:sSub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𝑏𝑎𝑠𝑒𝑙𝑖𝑛𝑒</m:t>
                        </m:r>
                      </m:sub>
                    </m:sSub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trị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hàm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lỗi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FF0000"/>
                    </a:solidFill>
                  </a:rPr>
                  <a:t>Squared</a:t>
                </a:r>
                <a:r>
                  <a:rPr lang="vi-VN" sz="2800" i="1" dirty="0">
                    <a:solidFill>
                      <a:srgbClr val="FF0000"/>
                    </a:solidFill>
                  </a:rPr>
                  <a:t> Sum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khi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đánh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trên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đường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cơ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sở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E3DC189-FFAF-4898-B722-9E4D61FF3D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485670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2E22CD-5629-4D1F-BEA7-70C7A7D10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Hàm </a:t>
            </a:r>
            <a:r>
              <a:rPr lang="vi-VN" dirty="0" err="1"/>
              <a:t>đánh</a:t>
            </a:r>
            <a:r>
              <a:rPr lang="vi-VN" dirty="0"/>
              <a:t> </a:t>
            </a:r>
            <a:r>
              <a:rPr lang="vi-VN" dirty="0" err="1"/>
              <a:t>giá</a:t>
            </a:r>
            <a:r>
              <a:rPr lang="vi-VN" dirty="0"/>
              <a:t> R </a:t>
            </a:r>
            <a:r>
              <a:rPr lang="vi-VN" dirty="0" err="1"/>
              <a:t>Squared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E3DC189-FFAF-4898-B722-9E4D61FF3D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Giá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trị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hệ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luôn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nằm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đoạn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m:rPr>
                        <m:lit/>
                      </m:rP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1]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Nếu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: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tệ</a:t>
                </a:r>
                <a:r>
                  <a:rPr lang="vi-VN" sz="2800" dirty="0">
                    <a:solidFill>
                      <a:srgbClr val="FF0000"/>
                    </a:solidFill>
                  </a:rPr>
                  <a:t> hơn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đường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cơ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sở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  <a:endParaRPr lang="vi-VN" sz="2800" dirty="0">
                  <a:solidFill>
                    <a:srgbClr val="0066FF"/>
                  </a:solidFill>
                </a:endParaRP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Nếu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: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giống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như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cơ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sở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Nếu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: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chính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xác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tuyệt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đối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càng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càng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gần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1)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thì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độ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xác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với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đang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xét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càng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cao.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Một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xem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tốt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nếu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vi-V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&gt;0.8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E3DC189-FFAF-4898-B722-9E4D61FF3D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046667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2E22CD-5629-4D1F-BEA7-70C7A7D10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Hàm </a:t>
            </a:r>
            <a:r>
              <a:rPr lang="vi-VN" dirty="0" err="1"/>
              <a:t>đánh</a:t>
            </a:r>
            <a:r>
              <a:rPr lang="vi-VN" dirty="0"/>
              <a:t> </a:t>
            </a:r>
            <a:r>
              <a:rPr lang="vi-VN" dirty="0" err="1"/>
              <a:t>giá</a:t>
            </a:r>
            <a:r>
              <a:rPr lang="vi-VN" dirty="0"/>
              <a:t> R </a:t>
            </a:r>
            <a:r>
              <a:rPr lang="vi-VN" dirty="0" err="1"/>
              <a:t>Squared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3DC189-FFAF-4898-B722-9E4D61FF3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FF0000"/>
                </a:solidFill>
              </a:rPr>
              <a:t>Nhược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điểm</a:t>
            </a:r>
            <a:r>
              <a:rPr lang="vi-VN" sz="2800" dirty="0">
                <a:solidFill>
                  <a:srgbClr val="FF0000"/>
                </a:solidFill>
              </a:rPr>
              <a:t>: Khi </a:t>
            </a:r>
            <a:r>
              <a:rPr lang="vi-VN" sz="2800" dirty="0" err="1">
                <a:solidFill>
                  <a:srgbClr val="FF0000"/>
                </a:solidFill>
              </a:rPr>
              <a:t>sử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dụng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hàm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đánh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giá</a:t>
            </a:r>
            <a:r>
              <a:rPr lang="vi-VN" sz="2800" dirty="0">
                <a:solidFill>
                  <a:srgbClr val="FF0000"/>
                </a:solidFill>
              </a:rPr>
              <a:t> R </a:t>
            </a:r>
            <a:r>
              <a:rPr lang="vi-VN" sz="2800" dirty="0" err="1">
                <a:solidFill>
                  <a:srgbClr val="FF0000"/>
                </a:solidFill>
              </a:rPr>
              <a:t>Squared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để</a:t>
            </a:r>
            <a:r>
              <a:rPr lang="vi-VN" sz="2800" dirty="0">
                <a:solidFill>
                  <a:srgbClr val="FF0000"/>
                </a:solidFill>
              </a:rPr>
              <a:t> so </a:t>
            </a:r>
            <a:r>
              <a:rPr lang="vi-VN" sz="2800" dirty="0" err="1">
                <a:solidFill>
                  <a:srgbClr val="FF0000"/>
                </a:solidFill>
              </a:rPr>
              <a:t>sánh</a:t>
            </a:r>
            <a:r>
              <a:rPr lang="vi-VN" sz="2800" dirty="0">
                <a:solidFill>
                  <a:srgbClr val="FF0000"/>
                </a:solidFill>
              </a:rPr>
              <a:t> hai mô </a:t>
            </a:r>
            <a:r>
              <a:rPr lang="vi-VN" sz="2800" dirty="0" err="1">
                <a:solidFill>
                  <a:srgbClr val="FF0000"/>
                </a:solidFill>
              </a:rPr>
              <a:t>hình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với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số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lượng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đặc</a:t>
            </a:r>
            <a:r>
              <a:rPr lang="vi-VN" sz="2800" dirty="0">
                <a:solidFill>
                  <a:srgbClr val="FF0000"/>
                </a:solidFill>
              </a:rPr>
              <a:t> trưng </a:t>
            </a:r>
            <a:r>
              <a:rPr lang="vi-VN" sz="2800" dirty="0" err="1">
                <a:solidFill>
                  <a:srgbClr val="FF0000"/>
                </a:solidFill>
              </a:rPr>
              <a:t>đầu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vào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khác</a:t>
            </a:r>
            <a:r>
              <a:rPr lang="vi-VN" sz="2800" dirty="0">
                <a:solidFill>
                  <a:srgbClr val="FF0000"/>
                </a:solidFill>
              </a:rPr>
              <a:t> nhau, </a:t>
            </a:r>
            <a:r>
              <a:rPr lang="vi-VN" sz="2800" dirty="0" err="1">
                <a:solidFill>
                  <a:srgbClr val="FF0000"/>
                </a:solidFill>
              </a:rPr>
              <a:t>thì</a:t>
            </a:r>
            <a:r>
              <a:rPr lang="vi-VN" sz="2800" dirty="0">
                <a:solidFill>
                  <a:srgbClr val="FF0000"/>
                </a:solidFill>
              </a:rPr>
              <a:t> mô </a:t>
            </a:r>
            <a:r>
              <a:rPr lang="vi-VN" sz="2800" dirty="0" err="1">
                <a:solidFill>
                  <a:srgbClr val="FF0000"/>
                </a:solidFill>
              </a:rPr>
              <a:t>hình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với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số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lượng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đặc</a:t>
            </a:r>
            <a:r>
              <a:rPr lang="vi-VN" sz="2800" dirty="0">
                <a:solidFill>
                  <a:srgbClr val="FF0000"/>
                </a:solidFill>
              </a:rPr>
              <a:t> trưng </a:t>
            </a:r>
            <a:r>
              <a:rPr lang="vi-VN" sz="2800" dirty="0" err="1">
                <a:solidFill>
                  <a:srgbClr val="FF0000"/>
                </a:solidFill>
              </a:rPr>
              <a:t>đầu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vào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lớn</a:t>
            </a:r>
            <a:r>
              <a:rPr lang="vi-VN" sz="2800" dirty="0">
                <a:solidFill>
                  <a:srgbClr val="FF0000"/>
                </a:solidFill>
              </a:rPr>
              <a:t> hơn (</a:t>
            </a:r>
            <a:r>
              <a:rPr lang="vi-VN" sz="2800" dirty="0" err="1">
                <a:solidFill>
                  <a:srgbClr val="FF0000"/>
                </a:solidFill>
              </a:rPr>
              <a:t>gần</a:t>
            </a:r>
            <a:r>
              <a:rPr lang="vi-VN" sz="2800" dirty="0">
                <a:solidFill>
                  <a:srgbClr val="FF0000"/>
                </a:solidFill>
              </a:rPr>
              <a:t> như luôn luôn) cho </a:t>
            </a:r>
            <a:r>
              <a:rPr lang="vi-VN" sz="2800" dirty="0" err="1">
                <a:solidFill>
                  <a:srgbClr val="FF0000"/>
                </a:solidFill>
              </a:rPr>
              <a:t>giá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trị</a:t>
            </a:r>
            <a:r>
              <a:rPr lang="vi-VN" sz="2800" dirty="0">
                <a:solidFill>
                  <a:srgbClr val="FF0000"/>
                </a:solidFill>
              </a:rPr>
              <a:t> R </a:t>
            </a:r>
            <a:r>
              <a:rPr lang="vi-VN" sz="2800" dirty="0" err="1">
                <a:solidFill>
                  <a:srgbClr val="FF0000"/>
                </a:solidFill>
              </a:rPr>
              <a:t>Squared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lớn</a:t>
            </a:r>
            <a:r>
              <a:rPr lang="vi-VN" sz="2800" dirty="0">
                <a:solidFill>
                  <a:srgbClr val="FF0000"/>
                </a:solidFill>
              </a:rPr>
              <a:t> hơn.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vi-VN" sz="2800" dirty="0" err="1">
                <a:solidFill>
                  <a:srgbClr val="0066FF"/>
                </a:solidFill>
              </a:rPr>
              <a:t>Vì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vậy</a:t>
            </a:r>
            <a:r>
              <a:rPr lang="vi-VN" sz="2800" dirty="0">
                <a:solidFill>
                  <a:srgbClr val="0066FF"/>
                </a:solidFill>
              </a:rPr>
              <a:t>, </a:t>
            </a:r>
            <a:r>
              <a:rPr lang="vi-VN" sz="2800" dirty="0" err="1">
                <a:solidFill>
                  <a:srgbClr val="0066FF"/>
                </a:solidFill>
              </a:rPr>
              <a:t>hàm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đánh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giá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>
                <a:solidFill>
                  <a:srgbClr val="0066FF"/>
                </a:solidFill>
              </a:rPr>
              <a:t>R </a:t>
            </a:r>
            <a:r>
              <a:rPr lang="vi-VN" sz="2800" i="1" dirty="0" err="1">
                <a:solidFill>
                  <a:srgbClr val="0066FF"/>
                </a:solidFill>
              </a:rPr>
              <a:t>squared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sẽ</a:t>
            </a:r>
            <a:r>
              <a:rPr lang="vi-VN" sz="2800" dirty="0">
                <a:solidFill>
                  <a:srgbClr val="0066FF"/>
                </a:solidFill>
              </a:rPr>
              <a:t> (</a:t>
            </a:r>
            <a:r>
              <a:rPr lang="vi-VN" sz="2800" dirty="0" err="1">
                <a:solidFill>
                  <a:srgbClr val="0066FF"/>
                </a:solidFill>
              </a:rPr>
              <a:t>gần</a:t>
            </a:r>
            <a:r>
              <a:rPr lang="vi-VN" sz="2800" dirty="0">
                <a:solidFill>
                  <a:srgbClr val="0066FF"/>
                </a:solidFill>
              </a:rPr>
              <a:t> như luôn luôn) </a:t>
            </a:r>
            <a:r>
              <a:rPr lang="vi-VN" sz="2800" dirty="0" err="1">
                <a:solidFill>
                  <a:srgbClr val="0066FF"/>
                </a:solidFill>
              </a:rPr>
              <a:t>nói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rằng</a:t>
            </a:r>
            <a:r>
              <a:rPr lang="vi-VN" sz="2800" dirty="0">
                <a:solidFill>
                  <a:srgbClr val="0066FF"/>
                </a:solidFill>
              </a:rPr>
              <a:t>,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nhận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nhiều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đặc</a:t>
            </a:r>
            <a:r>
              <a:rPr lang="vi-VN" sz="2800" dirty="0">
                <a:solidFill>
                  <a:srgbClr val="0066FF"/>
                </a:solidFill>
              </a:rPr>
              <a:t> trưng </a:t>
            </a:r>
            <a:r>
              <a:rPr lang="vi-VN" sz="2800" dirty="0" err="1">
                <a:solidFill>
                  <a:srgbClr val="0066FF"/>
                </a:solidFill>
              </a:rPr>
              <a:t>đầu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vào</a:t>
            </a:r>
            <a:r>
              <a:rPr lang="vi-VN" sz="2800" dirty="0">
                <a:solidFill>
                  <a:srgbClr val="0066FF"/>
                </a:solidFill>
              </a:rPr>
              <a:t> hơn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tốt</a:t>
            </a:r>
            <a:r>
              <a:rPr lang="vi-VN" sz="2800" dirty="0">
                <a:solidFill>
                  <a:srgbClr val="0066FF"/>
                </a:solidFill>
              </a:rPr>
              <a:t> hơn, cho </a:t>
            </a:r>
            <a:r>
              <a:rPr lang="vi-VN" sz="2800" dirty="0" err="1">
                <a:solidFill>
                  <a:srgbClr val="0066FF"/>
                </a:solidFill>
              </a:rPr>
              <a:t>dù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số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đặc</a:t>
            </a:r>
            <a:r>
              <a:rPr lang="vi-VN" sz="2800" dirty="0">
                <a:solidFill>
                  <a:srgbClr val="0066FF"/>
                </a:solidFill>
              </a:rPr>
              <a:t> trưng không tương quan </a:t>
            </a:r>
            <a:r>
              <a:rPr lang="vi-VN" sz="2800" dirty="0" err="1">
                <a:solidFill>
                  <a:srgbClr val="0066FF"/>
                </a:solidFill>
              </a:rPr>
              <a:t>với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đầu</a:t>
            </a:r>
            <a:r>
              <a:rPr lang="vi-VN" sz="2800" dirty="0">
                <a:solidFill>
                  <a:srgbClr val="0066FF"/>
                </a:solidFill>
              </a:rPr>
              <a:t> ra (</a:t>
            </a:r>
            <a:r>
              <a:rPr lang="vi-VN" sz="2800" dirty="0" err="1">
                <a:solidFill>
                  <a:srgbClr val="0066FF"/>
                </a:solidFill>
              </a:rPr>
              <a:t>chẳng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hạn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đặc</a:t>
            </a:r>
            <a:r>
              <a:rPr lang="vi-VN" sz="2800" dirty="0">
                <a:solidFill>
                  <a:srgbClr val="0066FF"/>
                </a:solidFill>
              </a:rPr>
              <a:t> trưng </a:t>
            </a:r>
            <a:r>
              <a:rPr lang="vi-VN" sz="2800" i="1" dirty="0">
                <a:solidFill>
                  <a:srgbClr val="0066FF"/>
                </a:solidFill>
              </a:rPr>
              <a:t>tên </a:t>
            </a:r>
            <a:r>
              <a:rPr lang="vi-VN" sz="2800" dirty="0">
                <a:solidFill>
                  <a:srgbClr val="0066FF"/>
                </a:solidFill>
              </a:rPr>
              <a:t>không tương quan </a:t>
            </a:r>
            <a:r>
              <a:rPr lang="vi-VN" sz="2800" dirty="0" err="1">
                <a:solidFill>
                  <a:srgbClr val="0066FF"/>
                </a:solidFill>
              </a:rPr>
              <a:t>với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mức</a:t>
            </a:r>
            <a:r>
              <a:rPr lang="vi-VN" sz="2800" i="1" dirty="0">
                <a:solidFill>
                  <a:srgbClr val="0066FF"/>
                </a:solidFill>
              </a:rPr>
              <a:t> lương</a:t>
            </a:r>
            <a:r>
              <a:rPr lang="vi-VN" sz="2800" dirty="0">
                <a:solidFill>
                  <a:srgbClr val="0066FF"/>
                </a:solidFill>
              </a:rPr>
              <a:t>).</a:t>
            </a:r>
          </a:p>
          <a:p>
            <a:pPr algn="just"/>
            <a:r>
              <a:rPr lang="vi-VN" sz="2800" dirty="0">
                <a:solidFill>
                  <a:srgbClr val="FF0000"/>
                </a:solidFill>
              </a:rPr>
              <a:t>Khi </a:t>
            </a:r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quá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ít</a:t>
            </a:r>
            <a:r>
              <a:rPr lang="vi-VN" sz="2800" dirty="0">
                <a:solidFill>
                  <a:srgbClr val="FF0000"/>
                </a:solidFill>
              </a:rPr>
              <a:t>, </a:t>
            </a:r>
            <a:r>
              <a:rPr lang="vi-VN" sz="2800" dirty="0" err="1">
                <a:solidFill>
                  <a:srgbClr val="FF0000"/>
                </a:solidFill>
              </a:rPr>
              <a:t>giá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trị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của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hàm</a:t>
            </a:r>
            <a:r>
              <a:rPr lang="vi-VN" sz="2800" dirty="0">
                <a:solidFill>
                  <a:srgbClr val="FF0000"/>
                </a:solidFill>
              </a:rPr>
              <a:t> R </a:t>
            </a:r>
            <a:r>
              <a:rPr lang="vi-VN" sz="2800" dirty="0" err="1">
                <a:solidFill>
                  <a:srgbClr val="FF0000"/>
                </a:solidFill>
              </a:rPr>
              <a:t>Squared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sẽ</a:t>
            </a:r>
            <a:r>
              <a:rPr lang="vi-VN" sz="2800" dirty="0">
                <a:solidFill>
                  <a:srgbClr val="FF0000"/>
                </a:solidFill>
              </a:rPr>
              <a:t> không </a:t>
            </a:r>
            <a:r>
              <a:rPr lang="vi-VN" sz="2800" dirty="0" err="1">
                <a:solidFill>
                  <a:srgbClr val="FF0000"/>
                </a:solidFill>
              </a:rPr>
              <a:t>ổn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định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và</a:t>
            </a:r>
            <a:r>
              <a:rPr lang="vi-VN" sz="2800" dirty="0">
                <a:solidFill>
                  <a:srgbClr val="FF0000"/>
                </a:solidFill>
              </a:rPr>
              <a:t> không </a:t>
            </a:r>
            <a:r>
              <a:rPr lang="vi-VN" sz="2800" dirty="0" err="1">
                <a:solidFill>
                  <a:srgbClr val="FF0000"/>
                </a:solidFill>
              </a:rPr>
              <a:t>đáng</a:t>
            </a:r>
            <a:r>
              <a:rPr lang="vi-VN" sz="2800" dirty="0">
                <a:solidFill>
                  <a:srgbClr val="FF0000"/>
                </a:solidFill>
              </a:rPr>
              <a:t> tin </a:t>
            </a:r>
            <a:r>
              <a:rPr lang="vi-VN" sz="2800" dirty="0" err="1">
                <a:solidFill>
                  <a:srgbClr val="FF0000"/>
                </a:solidFill>
              </a:rPr>
              <a:t>cậy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590903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9037B8-9385-40D1-BD5E-20C85919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đánh</a:t>
            </a:r>
            <a:r>
              <a:rPr lang="vi-VN" dirty="0"/>
              <a:t> </a:t>
            </a:r>
            <a:r>
              <a:rPr lang="vi-VN" dirty="0" err="1"/>
              <a:t>giá</a:t>
            </a:r>
            <a:r>
              <a:rPr lang="vi-VN" dirty="0"/>
              <a:t> R </a:t>
            </a:r>
            <a:r>
              <a:rPr lang="vi-VN" dirty="0" err="1"/>
              <a:t>Squared</a:t>
            </a:r>
            <a:endParaRPr lang="vi-V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90E0E27-C653-4014-8043-51A5AC0DE2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Ví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01: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Huấn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luyện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Linear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Regression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Decision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Tree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Regression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trên: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Salary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Data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training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set</a:t>
                </a:r>
                <a:r>
                  <a:rPr lang="vi-VN" sz="2800" dirty="0">
                    <a:solidFill>
                      <a:srgbClr val="FF0000"/>
                    </a:solidFill>
                  </a:rPr>
                  <a:t>).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Salary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Data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training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set</a:t>
                </a:r>
                <a:r>
                  <a:rPr lang="vi-VN" sz="2800" dirty="0">
                    <a:solidFill>
                      <a:srgbClr val="0066FF"/>
                    </a:solidFill>
                  </a:rPr>
                  <a:t>)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với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outcome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đã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chuẩn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hóa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vi-VN" sz="3200" dirty="0">
                    <a:solidFill>
                      <a:srgbClr val="FF0000"/>
                    </a:solidFill>
                  </a:rPr>
                  <a:t>Tính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trị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hàm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đánh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3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vi-VN" sz="3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3200" dirty="0">
                    <a:solidFill>
                      <a:srgbClr val="FF0000"/>
                    </a:solidFill>
                  </a:rPr>
                  <a:t> 2 mô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3200" dirty="0">
                    <a:solidFill>
                      <a:srgbClr val="FF0000"/>
                    </a:solidFill>
                  </a:rPr>
                  <a:t> trên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các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3200" dirty="0">
                    <a:solidFill>
                      <a:srgbClr val="FF0000"/>
                    </a:solidFill>
                  </a:rPr>
                  <a:t> tương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ứng</a:t>
                </a:r>
                <a:r>
                  <a:rPr lang="vi-VN" sz="32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90E0E27-C653-4014-8043-51A5AC0DE2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482" r="-2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005298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9037B8-9385-40D1-BD5E-20C85919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đánh</a:t>
            </a:r>
            <a:r>
              <a:rPr lang="vi-VN" dirty="0"/>
              <a:t> </a:t>
            </a:r>
            <a:r>
              <a:rPr lang="vi-VN" dirty="0" err="1"/>
              <a:t>giá</a:t>
            </a:r>
            <a:r>
              <a:rPr lang="vi-VN" dirty="0"/>
              <a:t> R </a:t>
            </a:r>
            <a:r>
              <a:rPr lang="vi-VN" dirty="0" err="1"/>
              <a:t>Squared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0E5277E2-B1AC-441C-8904-9D185C63ED15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809889" y="1798320"/>
              <a:ext cx="8572222" cy="326136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78036">
                      <a:extLst>
                        <a:ext uri="{9D8B030D-6E8A-4147-A177-3AD203B41FA5}">
                          <a16:colId xmlns:a16="http://schemas.microsoft.com/office/drawing/2014/main" val="1062958312"/>
                        </a:ext>
                      </a:extLst>
                    </a:gridCol>
                    <a:gridCol w="2728736">
                      <a:extLst>
                        <a:ext uri="{9D8B030D-6E8A-4147-A177-3AD203B41FA5}">
                          <a16:colId xmlns:a16="http://schemas.microsoft.com/office/drawing/2014/main" val="3809856037"/>
                        </a:ext>
                      </a:extLst>
                    </a:gridCol>
                    <a:gridCol w="2765450">
                      <a:extLst>
                        <a:ext uri="{9D8B030D-6E8A-4147-A177-3AD203B41FA5}">
                          <a16:colId xmlns:a16="http://schemas.microsoft.com/office/drawing/2014/main" val="4158506186"/>
                        </a:ext>
                      </a:extLst>
                    </a:gridCol>
                  </a:tblGrid>
                  <a:tr h="142240">
                    <a:tc>
                      <a:txBody>
                        <a:bodyPr/>
                        <a:lstStyle/>
                        <a:p>
                          <a:pPr algn="ctr"/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Linear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Regression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Decision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Tree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26178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Salary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Data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Training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set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0.94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0.97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19387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Salary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Data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Training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set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+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Scale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Outcome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0.94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0.97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56924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0E5277E2-B1AC-441C-8904-9D185C63ED15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809889" y="1798320"/>
              <a:ext cx="8572222" cy="326136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78036">
                      <a:extLst>
                        <a:ext uri="{9D8B030D-6E8A-4147-A177-3AD203B41FA5}">
                          <a16:colId xmlns:a16="http://schemas.microsoft.com/office/drawing/2014/main" val="1062958312"/>
                        </a:ext>
                      </a:extLst>
                    </a:gridCol>
                    <a:gridCol w="2728736">
                      <a:extLst>
                        <a:ext uri="{9D8B030D-6E8A-4147-A177-3AD203B41FA5}">
                          <a16:colId xmlns:a16="http://schemas.microsoft.com/office/drawing/2014/main" val="3809856037"/>
                        </a:ext>
                      </a:extLst>
                    </a:gridCol>
                    <a:gridCol w="2765450">
                      <a:extLst>
                        <a:ext uri="{9D8B030D-6E8A-4147-A177-3AD203B41FA5}">
                          <a16:colId xmlns:a16="http://schemas.microsoft.com/office/drawing/2014/main" val="4158506186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Linear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Regression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Decision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Tree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2617844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Salary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Data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Training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set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3170" t="-106452" r="-102232" b="-16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352" t="-106452" r="-881" b="-16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9387855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Salary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Data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Training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set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+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Scale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Outcome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3170" t="-142222" r="-102232" b="-12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352" t="-142222" r="-881" b="-12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69249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4702431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9037B8-9385-40D1-BD5E-20C85919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đánh</a:t>
            </a:r>
            <a:r>
              <a:rPr lang="vi-VN" dirty="0"/>
              <a:t> </a:t>
            </a:r>
            <a:r>
              <a:rPr lang="vi-VN" dirty="0" err="1"/>
              <a:t>giá</a:t>
            </a:r>
            <a:r>
              <a:rPr lang="vi-VN" dirty="0"/>
              <a:t> R </a:t>
            </a:r>
            <a:r>
              <a:rPr lang="vi-VN" dirty="0" err="1"/>
              <a:t>Squared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0E0E27-C653-4014-8043-51A5AC0DE2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vi-VN" dirty="0" err="1">
                <a:solidFill>
                  <a:srgbClr val="0066FF"/>
                </a:solidFill>
              </a:rPr>
              <a:t>Giới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thiệu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lại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tập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dữ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liệu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Position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Salaries</a:t>
            </a:r>
            <a:r>
              <a:rPr lang="vi-VN" dirty="0">
                <a:solidFill>
                  <a:srgbClr val="0066FF"/>
                </a:solidFill>
              </a:rPr>
              <a:t>.</a:t>
            </a:r>
          </a:p>
          <a:p>
            <a:pPr algn="just"/>
            <a:r>
              <a:rPr lang="vi-VN" dirty="0" err="1">
                <a:solidFill>
                  <a:srgbClr val="FF0000"/>
                </a:solidFill>
              </a:rPr>
              <a:t>Mỗi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điểm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dữ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liệu</a:t>
            </a:r>
            <a:r>
              <a:rPr lang="vi-VN" dirty="0">
                <a:solidFill>
                  <a:srgbClr val="FF0000"/>
                </a:solidFill>
              </a:rPr>
              <a:t> mô </a:t>
            </a:r>
            <a:r>
              <a:rPr lang="vi-VN" dirty="0" err="1">
                <a:solidFill>
                  <a:srgbClr val="FF0000"/>
                </a:solidFill>
              </a:rPr>
              <a:t>tả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mức</a:t>
            </a:r>
            <a:r>
              <a:rPr lang="vi-VN" dirty="0">
                <a:solidFill>
                  <a:srgbClr val="FF0000"/>
                </a:solidFill>
              </a:rPr>
              <a:t> lương khi </a:t>
            </a:r>
            <a:r>
              <a:rPr lang="vi-VN" dirty="0" err="1">
                <a:solidFill>
                  <a:srgbClr val="FF0000"/>
                </a:solidFill>
              </a:rPr>
              <a:t>biết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cấp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độ</a:t>
            </a:r>
            <a:r>
              <a:rPr lang="vi-VN" dirty="0">
                <a:solidFill>
                  <a:srgbClr val="FF0000"/>
                </a:solidFill>
              </a:rPr>
              <a:t>/</a:t>
            </a:r>
            <a:r>
              <a:rPr lang="vi-VN" dirty="0" err="1">
                <a:solidFill>
                  <a:srgbClr val="FF0000"/>
                </a:solidFill>
              </a:rPr>
              <a:t>vị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trí</a:t>
            </a:r>
            <a:r>
              <a:rPr lang="vi-VN" dirty="0">
                <a:solidFill>
                  <a:srgbClr val="FF0000"/>
                </a:solidFill>
              </a:rPr>
              <a:t> công </a:t>
            </a:r>
            <a:r>
              <a:rPr lang="vi-VN" dirty="0" err="1">
                <a:solidFill>
                  <a:srgbClr val="FF0000"/>
                </a:solidFill>
              </a:rPr>
              <a:t>việc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của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một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người</a:t>
            </a:r>
            <a:r>
              <a:rPr lang="vi-VN" dirty="0">
                <a:solidFill>
                  <a:srgbClr val="FF0000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2F82C2FB-0A06-4D47-8910-C4729661094F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171096" y="1600201"/>
              <a:ext cx="552831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54668">
                      <a:extLst>
                        <a:ext uri="{9D8B030D-6E8A-4147-A177-3AD203B41FA5}">
                          <a16:colId xmlns:a16="http://schemas.microsoft.com/office/drawing/2014/main" val="3920745078"/>
                        </a:ext>
                      </a:extLst>
                    </a:gridCol>
                    <a:gridCol w="1123950">
                      <a:extLst>
                        <a:ext uri="{9D8B030D-6E8A-4147-A177-3AD203B41FA5}">
                          <a16:colId xmlns:a16="http://schemas.microsoft.com/office/drawing/2014/main" val="94436033"/>
                        </a:ext>
                      </a:extLst>
                    </a:gridCol>
                    <a:gridCol w="1349692">
                      <a:extLst>
                        <a:ext uri="{9D8B030D-6E8A-4147-A177-3AD203B41FA5}">
                          <a16:colId xmlns:a16="http://schemas.microsoft.com/office/drawing/2014/main" val="4165097083"/>
                        </a:ext>
                      </a:extLst>
                    </a:gridCol>
                  </a:tblGrid>
                  <a:tr h="723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Position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369637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Business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Analyst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496185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Junior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Consultant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762752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Senior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Consultant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72467125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72396851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Country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110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635612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2F82C2FB-0A06-4D47-8910-C4729661094F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171096" y="1600201"/>
              <a:ext cx="552831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54668">
                      <a:extLst>
                        <a:ext uri="{9D8B030D-6E8A-4147-A177-3AD203B41FA5}">
                          <a16:colId xmlns:a16="http://schemas.microsoft.com/office/drawing/2014/main" val="3920745078"/>
                        </a:ext>
                      </a:extLst>
                    </a:gridCol>
                    <a:gridCol w="1123950">
                      <a:extLst>
                        <a:ext uri="{9D8B030D-6E8A-4147-A177-3AD203B41FA5}">
                          <a16:colId xmlns:a16="http://schemas.microsoft.com/office/drawing/2014/main" val="94436033"/>
                        </a:ext>
                      </a:extLst>
                    </a:gridCol>
                    <a:gridCol w="1349692">
                      <a:extLst>
                        <a:ext uri="{9D8B030D-6E8A-4147-A177-3AD203B41FA5}">
                          <a16:colId xmlns:a16="http://schemas.microsoft.com/office/drawing/2014/main" val="4165097083"/>
                        </a:ext>
                      </a:extLst>
                    </a:gridCol>
                  </a:tblGrid>
                  <a:tr h="723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Position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369637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Business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Analyst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3370" t="-100840" r="-122826" b="-4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9459" t="-100840" r="-1802" b="-408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96185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Junior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Consultant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3370" t="-200840" r="-122826" b="-3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9459" t="-200840" r="-1802" b="-308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762752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Senior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Consultant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3370" t="-300840" r="-122826" b="-2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9459" t="-300840" r="-1802" b="-208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467125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3370" t="-400840" r="-122826" b="-1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9459" t="-400840" r="-1802" b="-108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2396851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Country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3370" t="-500840" r="-122826" b="-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9459" t="-500840" r="-1802" b="-8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35612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4343847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9037B8-9385-40D1-BD5E-20C85919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đánh</a:t>
            </a:r>
            <a:r>
              <a:rPr lang="vi-VN" dirty="0"/>
              <a:t> </a:t>
            </a:r>
            <a:r>
              <a:rPr lang="vi-VN" dirty="0" err="1"/>
              <a:t>giá</a:t>
            </a:r>
            <a:r>
              <a:rPr lang="vi-VN" dirty="0"/>
              <a:t> R </a:t>
            </a:r>
            <a:r>
              <a:rPr lang="vi-VN" dirty="0" err="1"/>
              <a:t>Squared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0E0E27-C653-4014-8043-51A5AC0DE2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vi-VN" dirty="0" err="1">
                <a:solidFill>
                  <a:srgbClr val="0066FF"/>
                </a:solidFill>
              </a:rPr>
              <a:t>Tập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dữ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liệu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Position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Salaries</a:t>
            </a:r>
            <a:r>
              <a:rPr lang="vi-VN" dirty="0">
                <a:solidFill>
                  <a:srgbClr val="0066FF"/>
                </a:solidFill>
              </a:rPr>
              <a:t>.</a:t>
            </a:r>
          </a:p>
          <a:p>
            <a:pPr algn="just"/>
            <a:r>
              <a:rPr lang="vi-VN" dirty="0" err="1">
                <a:solidFill>
                  <a:srgbClr val="FF0000"/>
                </a:solidFill>
              </a:rPr>
              <a:t>Mỗi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điểm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dữ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liệu</a:t>
            </a:r>
            <a:r>
              <a:rPr lang="vi-VN" dirty="0">
                <a:solidFill>
                  <a:srgbClr val="FF0000"/>
                </a:solidFill>
              </a:rPr>
              <a:t> mô </a:t>
            </a:r>
            <a:r>
              <a:rPr lang="vi-VN" dirty="0" err="1">
                <a:solidFill>
                  <a:srgbClr val="FF0000"/>
                </a:solidFill>
              </a:rPr>
              <a:t>tả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mức</a:t>
            </a:r>
            <a:r>
              <a:rPr lang="vi-VN" dirty="0">
                <a:solidFill>
                  <a:srgbClr val="FF0000"/>
                </a:solidFill>
              </a:rPr>
              <a:t> lương khi </a:t>
            </a:r>
            <a:r>
              <a:rPr lang="vi-VN" dirty="0" err="1">
                <a:solidFill>
                  <a:srgbClr val="FF0000"/>
                </a:solidFill>
              </a:rPr>
              <a:t>biết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cấp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độ</a:t>
            </a:r>
            <a:r>
              <a:rPr lang="vi-VN" dirty="0">
                <a:solidFill>
                  <a:srgbClr val="FF0000"/>
                </a:solidFill>
              </a:rPr>
              <a:t>/</a:t>
            </a:r>
            <a:r>
              <a:rPr lang="vi-VN" dirty="0" err="1">
                <a:solidFill>
                  <a:srgbClr val="FF0000"/>
                </a:solidFill>
              </a:rPr>
              <a:t>vị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trí</a:t>
            </a:r>
            <a:r>
              <a:rPr lang="vi-VN" dirty="0">
                <a:solidFill>
                  <a:srgbClr val="FF0000"/>
                </a:solidFill>
              </a:rPr>
              <a:t> công </a:t>
            </a:r>
            <a:r>
              <a:rPr lang="vi-VN" dirty="0" err="1">
                <a:solidFill>
                  <a:srgbClr val="FF0000"/>
                </a:solidFill>
              </a:rPr>
              <a:t>việc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của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một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người</a:t>
            </a:r>
            <a:r>
              <a:rPr lang="vi-VN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669052D6-4642-4617-ABEA-E7E69517424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97600" y="1923961"/>
            <a:ext cx="5384800" cy="387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427400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9037B8-9385-40D1-BD5E-20C85919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Đánh giá mô hình: Benchmark Toàn Diện 5 Mô Hình Hồi Quy (In [2])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198A7-FA6B-4C50-9271-9FAAF16506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Thử nghiệm so sánh 5 thuật toán hồi quy trên tập 50_Startups.csv: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• Multiple Linear Regression:     MAE = $6,915  | RMSE = $9,056  | R² = 0.9347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• Random Forest (100 trees):       MAE = $6,530  | RMSE = $8,980  | R² = 0.9358 (Dẫn đầu!)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• Support Vector Regression (RBF): MAE = $8,200  | RMSE = $11,250 | R² = 0.8820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• Decision Tree Regressor:         MAE = $9,120  | RMSE = $12,450 | R² = 0.8510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• Polynomial Regression (deg=2):   MAE = $7,840  | RMSE = $10,120 | R² = 0.9025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📌 Tiêu chuẩn xếp hạng: Đánh giá bằng K-Fold Cross Validation (5-Fold CV RMSE) để bảo đảm tính khách quan.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4">
                <a:extLst>
                  <a:ext uri="{FF2B5EF4-FFF2-40B4-BE49-F238E27FC236}">
                    <a16:creationId xmlns:a16="http://schemas.microsoft.com/office/drawing/2014/main" id="{367FB689-E81A-4B14-8968-E43AF8446CFF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</p:nvPr>
            </p:nvGraphicFramePr>
            <p:xfrm>
              <a:off x="6197600" y="1600200"/>
              <a:ext cx="5384799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94933">
                      <a:extLst>
                        <a:ext uri="{9D8B030D-6E8A-4147-A177-3AD203B41FA5}">
                          <a16:colId xmlns:a16="http://schemas.microsoft.com/office/drawing/2014/main" val="2772260648"/>
                        </a:ext>
                      </a:extLst>
                    </a:gridCol>
                    <a:gridCol w="1794933">
                      <a:extLst>
                        <a:ext uri="{9D8B030D-6E8A-4147-A177-3AD203B41FA5}">
                          <a16:colId xmlns:a16="http://schemas.microsoft.com/office/drawing/2014/main" val="3760057148"/>
                        </a:ext>
                      </a:extLst>
                    </a:gridCol>
                    <a:gridCol w="1794933">
                      <a:extLst>
                        <a:ext uri="{9D8B030D-6E8A-4147-A177-3AD203B41FA5}">
                          <a16:colId xmlns:a16="http://schemas.microsoft.com/office/drawing/2014/main" val="3474233232"/>
                        </a:ext>
                      </a:extLst>
                    </a:gridCol>
                  </a:tblGrid>
                  <a:tr h="723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Noise</a:t>
                          </a:r>
                          <a:endParaRPr lang="vi-VN" sz="2800" dirty="0"/>
                        </a:p>
                      </a:txBody>
                      <a:tcPr marL="94103" marR="9410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Level</a:t>
                          </a:r>
                          <a:endParaRPr lang="vi-VN" sz="2800" dirty="0"/>
                        </a:p>
                      </a:txBody>
                      <a:tcPr marL="94103" marR="9410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marL="94103" marR="94103" anchor="ctr"/>
                    </a:tc>
                    <a:extLst>
                      <a:ext uri="{0D108BD9-81ED-4DB2-BD59-A6C34878D82A}">
                        <a16:rowId xmlns:a16="http://schemas.microsoft.com/office/drawing/2014/main" val="6827927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marL="94103" marR="9410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marL="94103" marR="9410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marL="94103" marR="94103" anchor="ctr"/>
                    </a:tc>
                    <a:extLst>
                      <a:ext uri="{0D108BD9-81ED-4DB2-BD59-A6C34878D82A}">
                        <a16:rowId xmlns:a16="http://schemas.microsoft.com/office/drawing/2014/main" val="3786198063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marL="94103" marR="9410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marL="94103" marR="9410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marL="94103" marR="94103" anchor="ctr"/>
                    </a:tc>
                    <a:extLst>
                      <a:ext uri="{0D108BD9-81ED-4DB2-BD59-A6C34878D82A}">
                        <a16:rowId xmlns:a16="http://schemas.microsoft.com/office/drawing/2014/main" val="28781492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marL="94103" marR="9410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marL="94103" marR="9410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marL="94103" marR="94103" anchor="ctr"/>
                    </a:tc>
                    <a:extLst>
                      <a:ext uri="{0D108BD9-81ED-4DB2-BD59-A6C34878D82A}">
                        <a16:rowId xmlns:a16="http://schemas.microsoft.com/office/drawing/2014/main" val="1752845463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marL="94103" marR="9410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marL="94103" marR="9410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marL="94103" marR="94103" anchor="ctr"/>
                    </a:tc>
                    <a:extLst>
                      <a:ext uri="{0D108BD9-81ED-4DB2-BD59-A6C34878D82A}">
                        <a16:rowId xmlns:a16="http://schemas.microsoft.com/office/drawing/2014/main" val="18521775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marL="94103" marR="9410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marL="94103" marR="9410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110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marL="94103" marR="94103" anchor="ctr"/>
                    </a:tc>
                    <a:extLst>
                      <a:ext uri="{0D108BD9-81ED-4DB2-BD59-A6C34878D82A}">
                        <a16:rowId xmlns:a16="http://schemas.microsoft.com/office/drawing/2014/main" val="26854160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4">
                <a:extLst>
                  <a:ext uri="{FF2B5EF4-FFF2-40B4-BE49-F238E27FC236}">
                    <a16:creationId xmlns:a16="http://schemas.microsoft.com/office/drawing/2014/main" id="{367FB689-E81A-4B14-8968-E43AF8446CFF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</p:nvPr>
            </p:nvGraphicFramePr>
            <p:xfrm>
              <a:off x="6197600" y="1600200"/>
              <a:ext cx="5384799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94933">
                      <a:extLst>
                        <a:ext uri="{9D8B030D-6E8A-4147-A177-3AD203B41FA5}">
                          <a16:colId xmlns:a16="http://schemas.microsoft.com/office/drawing/2014/main" val="2772260648"/>
                        </a:ext>
                      </a:extLst>
                    </a:gridCol>
                    <a:gridCol w="1794933">
                      <a:extLst>
                        <a:ext uri="{9D8B030D-6E8A-4147-A177-3AD203B41FA5}">
                          <a16:colId xmlns:a16="http://schemas.microsoft.com/office/drawing/2014/main" val="3760057148"/>
                        </a:ext>
                      </a:extLst>
                    </a:gridCol>
                    <a:gridCol w="1794933">
                      <a:extLst>
                        <a:ext uri="{9D8B030D-6E8A-4147-A177-3AD203B41FA5}">
                          <a16:colId xmlns:a16="http://schemas.microsoft.com/office/drawing/2014/main" val="3474233232"/>
                        </a:ext>
                      </a:extLst>
                    </a:gridCol>
                  </a:tblGrid>
                  <a:tr h="723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Noise</a:t>
                          </a:r>
                          <a:endParaRPr lang="vi-VN" sz="2800" dirty="0"/>
                        </a:p>
                      </a:txBody>
                      <a:tcPr marL="94103" marR="9410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Level</a:t>
                          </a:r>
                          <a:endParaRPr lang="vi-VN" sz="2800" dirty="0"/>
                        </a:p>
                      </a:txBody>
                      <a:tcPr marL="94103" marR="9410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marL="94103" marR="94103" anchor="ctr"/>
                    </a:tc>
                    <a:extLst>
                      <a:ext uri="{0D108BD9-81ED-4DB2-BD59-A6C34878D82A}">
                        <a16:rowId xmlns:a16="http://schemas.microsoft.com/office/drawing/2014/main" val="6827927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103" marR="94103" anchor="ctr">
                        <a:blipFill>
                          <a:blip r:embed="rId2"/>
                          <a:stretch>
                            <a:fillRect l="-339" t="-100840" r="-201356" b="-4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103" marR="94103" anchor="ctr">
                        <a:blipFill>
                          <a:blip r:embed="rId2"/>
                          <a:stretch>
                            <a:fillRect l="-100680" t="-100840" r="-102041" b="-4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103" marR="94103" anchor="ctr">
                        <a:blipFill>
                          <a:blip r:embed="rId2"/>
                          <a:stretch>
                            <a:fillRect l="-200000" t="-100840" r="-1695" b="-401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6198063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103" marR="94103" anchor="ctr">
                        <a:blipFill>
                          <a:blip r:embed="rId2"/>
                          <a:stretch>
                            <a:fillRect l="-339" t="-200840" r="-201356" b="-3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103" marR="94103" anchor="ctr">
                        <a:blipFill>
                          <a:blip r:embed="rId2"/>
                          <a:stretch>
                            <a:fillRect l="-100680" t="-200840" r="-102041" b="-3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103" marR="94103" anchor="ctr">
                        <a:blipFill>
                          <a:blip r:embed="rId2"/>
                          <a:stretch>
                            <a:fillRect l="-200000" t="-200840" r="-1695" b="-301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81492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103" marR="94103" anchor="ctr">
                        <a:blipFill>
                          <a:blip r:embed="rId2"/>
                          <a:stretch>
                            <a:fillRect l="-339" t="-303390" r="-201356" b="-204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103" marR="94103" anchor="ctr">
                        <a:blipFill>
                          <a:blip r:embed="rId2"/>
                          <a:stretch>
                            <a:fillRect l="-100680" t="-303390" r="-102041" b="-204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103" marR="94103" anchor="ctr">
                        <a:blipFill>
                          <a:blip r:embed="rId2"/>
                          <a:stretch>
                            <a:fillRect l="-200000" t="-303390" r="-1695" b="-204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2845463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103" marR="94103" anchor="ctr">
                        <a:blipFill>
                          <a:blip r:embed="rId2"/>
                          <a:stretch>
                            <a:fillRect l="-339" t="-400000" r="-201356" b="-1025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103" marR="94103" anchor="ctr">
                        <a:blipFill>
                          <a:blip r:embed="rId2"/>
                          <a:stretch>
                            <a:fillRect l="-100680" t="-400000" r="-102041" b="-1025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103" marR="94103" anchor="ctr">
                        <a:blipFill>
                          <a:blip r:embed="rId2"/>
                          <a:stretch>
                            <a:fillRect l="-200000" t="-400000" r="-1695" b="-1025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21775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103" marR="94103" anchor="ctr">
                        <a:blipFill>
                          <a:blip r:embed="rId2"/>
                          <a:stretch>
                            <a:fillRect l="-339" t="-500000" r="-201356" b="-25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103" marR="94103" anchor="ctr">
                        <a:blipFill>
                          <a:blip r:embed="rId2"/>
                          <a:stretch>
                            <a:fillRect l="-100680" t="-500000" r="-102041" b="-25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103" marR="94103" anchor="ctr">
                        <a:blipFill>
                          <a:blip r:embed="rId2"/>
                          <a:stretch>
                            <a:fillRect l="-200000" t="-500000" r="-1695" b="-25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54160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19308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9037B8-9385-40D1-BD5E-20C85919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Đánh giá mô hình: Phân Tích Phần Dư (Residual Analysis) (In [3])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90E0E27-C653-4014-8043-51A5AC0DE2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Ví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02: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Huấn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luyện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Linear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Regression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Polynomial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Linear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Regression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trên: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Position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Salaries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Position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Salaries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thêm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đặc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trưng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nhiễu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vi-VN" sz="3200" dirty="0">
                    <a:solidFill>
                      <a:srgbClr val="FF0000"/>
                    </a:solidFill>
                  </a:rPr>
                  <a:t>Tính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trị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hàm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đánh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vi-VN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3200" dirty="0">
                    <a:solidFill>
                      <a:srgbClr val="FF0000"/>
                    </a:solidFill>
                  </a:rPr>
                  <a:t> 2 mô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3200" dirty="0">
                    <a:solidFill>
                      <a:srgbClr val="FF0000"/>
                    </a:solidFill>
                  </a:rPr>
                  <a:t> trên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các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3200" dirty="0">
                    <a:solidFill>
                      <a:srgbClr val="FF0000"/>
                    </a:solidFill>
                  </a:rPr>
                  <a:t> tương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ứng</a:t>
                </a:r>
                <a:r>
                  <a:rPr lang="vi-VN" sz="32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90E0E27-C653-4014-8043-51A5AC0DE2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482" r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12648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Kiểm tra giả định phần dư của mô hình tối ưu (In [3]):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# Tính toán phần dư: residuals = y_test - y_pred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residuals = y_test - best_pred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plt.scatter(best_pred, residuals, color='crimson', s=70, edgecolors='black')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plt.axhline(0, color='navy', linestyle='--')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plt.title('Residual Plot (y_test - y_pred)', fontweight='bold')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plt.xlabel('Predicted Profit ($)'); plt.ylabel('Residual ($)'); plt.show()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📌 Các tiêu chí đạt chuẩn của đồ thị phần dư: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Điểm số phân tán ngẫu nhiên đồng đều quanh đường ngang 0 (Homoscedasticity - Đẳng phương sai).</a:t>
            </a:r>
          </a:p>
          <a:p>
            <a:pPr>
              <a:spcAft>
                <a:spcPts val="300"/>
              </a:spcAft>
              <a:defRPr sz="1500" b="1">
                <a:solidFill>
                  <a:srgbClr val="282828"/>
                </a:solidFill>
                <a:latin typeface="Calibri"/>
              </a:defRPr>
            </a:pPr>
            <a:r>
              <a:t>• Không xuất hiện dạng phễu (Heteroscedasticity) hay đường cong hình chữ U (bỏ sót phi tuyến).</a:t>
            </a:r>
          </a:p>
        </p:txBody>
      </p:sp>
    </p:spTree>
    <p:extLst>
      <p:ext uri="{BB962C8B-B14F-4D97-AF65-F5344CB8AC3E}">
        <p14:creationId xmlns:p14="http://schemas.microsoft.com/office/powerpoint/2010/main" val="235890145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B67799-829C-459C-900F-DBC44D64C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Tổng kết: Bộ Chỉ Số Đo Lường Hiệu Năng Hồi Quy (Cheat Sheet)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723D1FE1-981C-435A-9792-70521E51BD6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809889" y="2225040"/>
              <a:ext cx="8572222" cy="24079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78036">
                      <a:extLst>
                        <a:ext uri="{9D8B030D-6E8A-4147-A177-3AD203B41FA5}">
                          <a16:colId xmlns:a16="http://schemas.microsoft.com/office/drawing/2014/main" val="3694713409"/>
                        </a:ext>
                      </a:extLst>
                    </a:gridCol>
                    <a:gridCol w="2728736">
                      <a:extLst>
                        <a:ext uri="{9D8B030D-6E8A-4147-A177-3AD203B41FA5}">
                          <a16:colId xmlns:a16="http://schemas.microsoft.com/office/drawing/2014/main" val="1388819688"/>
                        </a:ext>
                      </a:extLst>
                    </a:gridCol>
                    <a:gridCol w="2765450">
                      <a:extLst>
                        <a:ext uri="{9D8B030D-6E8A-4147-A177-3AD203B41FA5}">
                          <a16:colId xmlns:a16="http://schemas.microsoft.com/office/drawing/2014/main" val="159368471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Linear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Regression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Polynomial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Regression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505122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Position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Salaries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0.67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0.91621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437482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Position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Salaries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with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noise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0.68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0.91624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431738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723D1FE1-981C-435A-9792-70521E51BD6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809889" y="2225040"/>
              <a:ext cx="8572222" cy="24079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78036">
                      <a:extLst>
                        <a:ext uri="{9D8B030D-6E8A-4147-A177-3AD203B41FA5}">
                          <a16:colId xmlns:a16="http://schemas.microsoft.com/office/drawing/2014/main" val="3694713409"/>
                        </a:ext>
                      </a:extLst>
                    </a:gridCol>
                    <a:gridCol w="2728736">
                      <a:extLst>
                        <a:ext uri="{9D8B030D-6E8A-4147-A177-3AD203B41FA5}">
                          <a16:colId xmlns:a16="http://schemas.microsoft.com/office/drawing/2014/main" val="1388819688"/>
                        </a:ext>
                      </a:extLst>
                    </a:gridCol>
                    <a:gridCol w="2765450">
                      <a:extLst>
                        <a:ext uri="{9D8B030D-6E8A-4147-A177-3AD203B41FA5}">
                          <a16:colId xmlns:a16="http://schemas.microsoft.com/office/drawing/2014/main" val="1593684711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Linear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Regression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Polynomial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Regression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5051229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Position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Salaries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3170" t="-194118" r="-102232" b="-21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352" t="-194118" r="-881" b="-21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3748228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Position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Salaries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with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noise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3170" t="-161290" r="-102232" b="-1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352" t="-161290" r="-881" b="-18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317385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612648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Hướng dẫn lựa chọn chỉ số đánh giá cho từng bài toán thực tế: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MAE (Mean Absolute Error): Đơn vị tiền tệ trực quan, không phạt quá nặng điểm ngoại lai.</a:t>
            </a:r>
          </a:p>
          <a:p>
            <a:pPr>
              <a:spcAft>
                <a:spcPts val="300"/>
              </a:spcAft>
              <a:defRPr sz="1500" b="1">
                <a:solidFill>
                  <a:srgbClr val="282828"/>
                </a:solidFill>
                <a:latin typeface="Calibri"/>
              </a:defRPr>
            </a:pPr>
            <a:r>
              <a:t>• RMSE (Root Mean Squared Error): Phạt nặng các sai số lớn, là hàm mục tiêu chuẩn trong tối ưu hóa.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R² Score (Hệ số xác định): Đo tỷ lệ phương sai giải thích được, chuẩn hóa trong khoảng (-vô cùng, 1.0].</a:t>
            </a:r>
          </a:p>
          <a:p>
            <a:pPr>
              <a:spcAft>
                <a:spcPts val="300"/>
              </a:spcAft>
              <a:defRPr sz="1500" b="1">
                <a:solidFill>
                  <a:srgbClr val="282828"/>
                </a:solidFill>
                <a:latin typeface="Calibri"/>
              </a:defRPr>
            </a:pPr>
            <a:r>
              <a:t>• Adjusted R²: Bắt buộc dùng cho hồi quy đa biến để phạt việc thêm các đặc trưng rác/vô nghĩa.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Cross-Validation (K-Fold): Thước đo trung thực nhất về khả năng khái quát hóa trên dữ liệu chưa thấy.</a:t>
            </a:r>
          </a:p>
        </p:txBody>
      </p:sp>
    </p:spTree>
    <p:extLst>
      <p:ext uri="{BB962C8B-B14F-4D97-AF65-F5344CB8AC3E}">
        <p14:creationId xmlns:p14="http://schemas.microsoft.com/office/powerpoint/2010/main" val="223625829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3E45A4-43F7-4E7F-B145-F535D67C8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đánh</a:t>
            </a:r>
            <a:r>
              <a:rPr lang="vi-VN" dirty="0"/>
              <a:t> </a:t>
            </a:r>
            <a:r>
              <a:rPr lang="vi-VN" dirty="0" err="1"/>
              <a:t>giá</a:t>
            </a:r>
            <a:r>
              <a:rPr lang="vi-VN" dirty="0"/>
              <a:t> </a:t>
            </a:r>
            <a:r>
              <a:rPr lang="vi-VN" dirty="0" err="1"/>
              <a:t>Adjusted</a:t>
            </a:r>
            <a:r>
              <a:rPr lang="vi-VN" dirty="0"/>
              <a:t> R </a:t>
            </a:r>
            <a:r>
              <a:rPr lang="vi-VN" dirty="0" err="1"/>
              <a:t>Squared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96ACC-577C-4BEA-A0D4-AFF4BB766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81219529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3E45A4-43F7-4E7F-B145-F535D67C8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đánh</a:t>
            </a:r>
            <a:r>
              <a:rPr lang="vi-VN" dirty="0"/>
              <a:t> </a:t>
            </a:r>
            <a:r>
              <a:rPr lang="vi-VN" dirty="0" err="1"/>
              <a:t>giá</a:t>
            </a:r>
            <a:r>
              <a:rPr lang="vi-VN" dirty="0"/>
              <a:t> </a:t>
            </a:r>
            <a:r>
              <a:rPr lang="vi-VN" dirty="0" err="1"/>
              <a:t>Adjusted</a:t>
            </a:r>
            <a:r>
              <a:rPr lang="vi-VN" dirty="0"/>
              <a:t> R </a:t>
            </a:r>
            <a:r>
              <a:rPr lang="vi-VN" dirty="0" err="1"/>
              <a:t>Squared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75E07F7-3132-4C75-9416-0D6BEB349D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Hàm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đánh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Adjusted</a:t>
                </a:r>
                <a:r>
                  <a:rPr lang="vi-VN" sz="2800" i="1" dirty="0">
                    <a:solidFill>
                      <a:srgbClr val="0066FF"/>
                    </a:solidFill>
                  </a:rPr>
                  <a:t> R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Squared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ký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𝑎𝑑𝑗𝑢𝑠𝑡𝑒𝑑</m:t>
                        </m:r>
                      </m:sub>
                      <m:sup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định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nghĩa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như sau:</a:t>
                </a: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𝑎𝑑𝑗𝑢𝑠𝑡𝑒𝑑</m:t>
                          </m:r>
                        </m:sub>
                        <m:sup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=1−(1−</m:t>
                      </m:r>
                      <m:sSup>
                        <m:sSup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vi-VN" sz="2800" dirty="0">
                  <a:solidFill>
                    <a:srgbClr val="FF0000"/>
                  </a:solidFill>
                </a:endParaRPr>
              </a:p>
              <a:p>
                <a:pPr lvl="1" algn="just"/>
                <a:r>
                  <a:rPr lang="vi-VN" sz="2800" dirty="0">
                    <a:solidFill>
                      <a:srgbClr val="0066FF"/>
                    </a:solidFill>
                  </a:rPr>
                  <a:t>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2" algn="just"/>
                <a14:m>
                  <m:oMath xmlns:m="http://schemas.openxmlformats.org/officeDocument/2006/math">
                    <m:sSup>
                      <m:sSup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trị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hàm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đánh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i="1" dirty="0">
                    <a:solidFill>
                      <a:srgbClr val="FF0000"/>
                    </a:solidFill>
                  </a:rPr>
                  <a:t>R </a:t>
                </a:r>
                <a:r>
                  <a:rPr lang="vi-VN" sz="2800" i="1" dirty="0" err="1">
                    <a:solidFill>
                      <a:srgbClr val="FF0000"/>
                    </a:solidFill>
                  </a:rPr>
                  <a:t>Squared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trên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đang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xét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2" algn="just"/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đang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xét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2" algn="just"/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đặc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trưng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đầu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vào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75E07F7-3132-4C75-9416-0D6BEB349D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213" r="-1111" b="-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2197403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3E45A4-43F7-4E7F-B145-F535D67C8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đánh</a:t>
            </a:r>
            <a:r>
              <a:rPr lang="vi-VN" dirty="0"/>
              <a:t> </a:t>
            </a:r>
            <a:r>
              <a:rPr lang="vi-VN" dirty="0" err="1"/>
              <a:t>giá</a:t>
            </a:r>
            <a:r>
              <a:rPr lang="vi-VN" dirty="0"/>
              <a:t> </a:t>
            </a:r>
            <a:r>
              <a:rPr lang="vi-VN" dirty="0" err="1"/>
              <a:t>Adjusted</a:t>
            </a:r>
            <a:r>
              <a:rPr lang="vi-VN" dirty="0"/>
              <a:t> R </a:t>
            </a:r>
            <a:r>
              <a:rPr lang="vi-VN" dirty="0" err="1"/>
              <a:t>Squared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5E07F7-3132-4C75-9416-0D6BEB349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Hàm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đánh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giá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Adjusted</a:t>
            </a:r>
            <a:r>
              <a:rPr lang="vi-VN" sz="2800" i="1" dirty="0">
                <a:solidFill>
                  <a:srgbClr val="0066FF"/>
                </a:solidFill>
              </a:rPr>
              <a:t> R </a:t>
            </a:r>
            <a:r>
              <a:rPr lang="vi-VN" sz="2800" i="1" dirty="0" err="1">
                <a:solidFill>
                  <a:srgbClr val="0066FF"/>
                </a:solidFill>
              </a:rPr>
              <a:t>Squared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đã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giải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quyết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được</a:t>
            </a:r>
            <a:r>
              <a:rPr lang="vi-VN" sz="2800" dirty="0">
                <a:solidFill>
                  <a:srgbClr val="0066FF"/>
                </a:solidFill>
              </a:rPr>
              <a:t> hai </a:t>
            </a:r>
            <a:r>
              <a:rPr lang="vi-VN" sz="2800" dirty="0" err="1">
                <a:solidFill>
                  <a:srgbClr val="0066FF"/>
                </a:solidFill>
              </a:rPr>
              <a:t>nhược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của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>
                <a:solidFill>
                  <a:srgbClr val="0066FF"/>
                </a:solidFill>
              </a:rPr>
              <a:t>R </a:t>
            </a:r>
            <a:r>
              <a:rPr lang="vi-VN" sz="2800" i="1" dirty="0" err="1">
                <a:solidFill>
                  <a:srgbClr val="0066FF"/>
                </a:solidFill>
              </a:rPr>
              <a:t>Squared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vi-VN" sz="2800" dirty="0" err="1">
                <a:solidFill>
                  <a:srgbClr val="FF0000"/>
                </a:solidFill>
              </a:rPr>
              <a:t>Nếu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một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đặc</a:t>
            </a:r>
            <a:r>
              <a:rPr lang="vi-VN" sz="2800" dirty="0">
                <a:solidFill>
                  <a:srgbClr val="FF0000"/>
                </a:solidFill>
              </a:rPr>
              <a:t> trưng </a:t>
            </a:r>
            <a:r>
              <a:rPr lang="vi-VN" sz="2800" dirty="0" err="1">
                <a:solidFill>
                  <a:srgbClr val="FF0000"/>
                </a:solidFill>
              </a:rPr>
              <a:t>được</a:t>
            </a:r>
            <a:r>
              <a:rPr lang="vi-VN" sz="2800" dirty="0">
                <a:solidFill>
                  <a:srgbClr val="FF0000"/>
                </a:solidFill>
              </a:rPr>
              <a:t> thêm </a:t>
            </a:r>
            <a:r>
              <a:rPr lang="vi-VN" sz="2800" dirty="0" err="1">
                <a:solidFill>
                  <a:srgbClr val="FF0000"/>
                </a:solidFill>
              </a:rPr>
              <a:t>vào</a:t>
            </a:r>
            <a:r>
              <a:rPr lang="vi-VN" sz="2800" dirty="0">
                <a:solidFill>
                  <a:srgbClr val="FF0000"/>
                </a:solidFill>
              </a:rPr>
              <a:t> không </a:t>
            </a:r>
            <a:r>
              <a:rPr lang="vi-VN" sz="2800" dirty="0" err="1">
                <a:solidFill>
                  <a:srgbClr val="FF0000"/>
                </a:solidFill>
              </a:rPr>
              <a:t>cải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tiến</a:t>
            </a:r>
            <a:r>
              <a:rPr lang="vi-VN" sz="2800" dirty="0">
                <a:solidFill>
                  <a:srgbClr val="FF0000"/>
                </a:solidFill>
              </a:rPr>
              <a:t> mô </a:t>
            </a:r>
            <a:r>
              <a:rPr lang="vi-VN" sz="2800" dirty="0" err="1">
                <a:solidFill>
                  <a:srgbClr val="FF0000"/>
                </a:solidFill>
              </a:rPr>
              <a:t>hình</a:t>
            </a:r>
            <a:r>
              <a:rPr lang="vi-VN" sz="2800" dirty="0">
                <a:solidFill>
                  <a:srgbClr val="FF0000"/>
                </a:solidFill>
              </a:rPr>
              <a:t> ở </a:t>
            </a:r>
            <a:r>
              <a:rPr lang="vi-VN" sz="2800" dirty="0" err="1">
                <a:solidFill>
                  <a:srgbClr val="FF0000"/>
                </a:solidFill>
              </a:rPr>
              <a:t>mức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đáng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kể</a:t>
            </a:r>
            <a:r>
              <a:rPr lang="vi-VN" sz="2800" dirty="0">
                <a:solidFill>
                  <a:srgbClr val="FF0000"/>
                </a:solidFill>
              </a:rPr>
              <a:t>, </a:t>
            </a:r>
            <a:r>
              <a:rPr lang="vi-VN" sz="2800" dirty="0" err="1">
                <a:solidFill>
                  <a:srgbClr val="FF0000"/>
                </a:solidFill>
              </a:rPr>
              <a:t>giá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trị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hàm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đánh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giá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i="1" dirty="0" err="1">
                <a:solidFill>
                  <a:srgbClr val="FF0000"/>
                </a:solidFill>
              </a:rPr>
              <a:t>Adjusted</a:t>
            </a:r>
            <a:r>
              <a:rPr lang="vi-VN" sz="2800" i="1" dirty="0">
                <a:solidFill>
                  <a:srgbClr val="FF0000"/>
                </a:solidFill>
              </a:rPr>
              <a:t> R </a:t>
            </a:r>
            <a:r>
              <a:rPr lang="vi-VN" sz="2800" i="1" dirty="0" err="1">
                <a:solidFill>
                  <a:srgbClr val="FF0000"/>
                </a:solidFill>
              </a:rPr>
              <a:t>Squared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sẽ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giảm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Số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lượng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trong </a:t>
            </a:r>
            <a:r>
              <a:rPr lang="vi-VN" sz="2800" dirty="0" err="1">
                <a:solidFill>
                  <a:srgbClr val="0066FF"/>
                </a:solidFill>
              </a:rPr>
              <a:t>tập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càng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lớn</a:t>
            </a:r>
            <a:r>
              <a:rPr lang="vi-VN" sz="2800" dirty="0">
                <a:solidFill>
                  <a:srgbClr val="0066FF"/>
                </a:solidFill>
              </a:rPr>
              <a:t>, </a:t>
            </a:r>
            <a:r>
              <a:rPr lang="vi-VN" sz="2800" dirty="0" err="1">
                <a:solidFill>
                  <a:srgbClr val="0066FF"/>
                </a:solidFill>
              </a:rPr>
              <a:t>giá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trị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của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Adjusted</a:t>
            </a:r>
            <a:r>
              <a:rPr lang="vi-VN" sz="2800" i="1" dirty="0">
                <a:solidFill>
                  <a:srgbClr val="0066FF"/>
                </a:solidFill>
              </a:rPr>
              <a:t> R </a:t>
            </a:r>
            <a:r>
              <a:rPr lang="vi-VN" sz="2800" i="1" dirty="0" err="1">
                <a:solidFill>
                  <a:srgbClr val="0066FF"/>
                </a:solidFill>
              </a:rPr>
              <a:t>Squared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sẽ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càng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ổn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định</a:t>
            </a:r>
            <a:r>
              <a:rPr lang="vi-VN" sz="2800" dirty="0">
                <a:solidFill>
                  <a:srgbClr val="0066FF"/>
                </a:solidFill>
              </a:rPr>
              <a:t> hơn, </a:t>
            </a:r>
            <a:r>
              <a:rPr lang="vi-VN" sz="2800" dirty="0" err="1">
                <a:solidFill>
                  <a:srgbClr val="0066FF"/>
                </a:solidFill>
              </a:rPr>
              <a:t>dần</a:t>
            </a:r>
            <a:r>
              <a:rPr lang="vi-VN" sz="2800" dirty="0">
                <a:solidFill>
                  <a:srgbClr val="0066FF"/>
                </a:solidFill>
              </a:rPr>
              <a:t> không </a:t>
            </a:r>
            <a:r>
              <a:rPr lang="vi-VN" sz="2800" dirty="0" err="1">
                <a:solidFill>
                  <a:srgbClr val="0066FF"/>
                </a:solidFill>
              </a:rPr>
              <a:t>phụ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thuộc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vào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số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lượng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nữa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5216845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9037B8-9385-40D1-BD5E-20C85919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đánh</a:t>
            </a:r>
            <a:r>
              <a:rPr lang="vi-VN" dirty="0"/>
              <a:t> </a:t>
            </a:r>
            <a:r>
              <a:rPr lang="vi-VN" dirty="0" err="1"/>
              <a:t>giá</a:t>
            </a:r>
            <a:r>
              <a:rPr lang="vi-VN" dirty="0"/>
              <a:t> </a:t>
            </a:r>
            <a:r>
              <a:rPr lang="vi-VN" dirty="0" err="1"/>
              <a:t>Adjusted</a:t>
            </a:r>
            <a:r>
              <a:rPr lang="vi-VN" dirty="0"/>
              <a:t> R </a:t>
            </a:r>
            <a:r>
              <a:rPr lang="vi-VN" dirty="0" err="1"/>
              <a:t>Squared</a:t>
            </a:r>
            <a:endParaRPr lang="vi-V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90E0E27-C653-4014-8043-51A5AC0DE2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Ví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: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Huấn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luyện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Linear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Regression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Polynomial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Linear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Regression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trên: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Position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Salaries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Position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Salaries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thêm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đặc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trưng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nhiễu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vi-VN" sz="3200" dirty="0">
                    <a:solidFill>
                      <a:srgbClr val="FF0000"/>
                    </a:solidFill>
                  </a:rPr>
                  <a:t>Tính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trị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hàm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đánh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vi-VN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vi-VN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vi-VN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𝑎𝑑𝑗𝑢𝑠𝑡𝑒𝑑</m:t>
                        </m:r>
                      </m:sub>
                      <m:sup>
                        <m:r>
                          <a:rPr lang="vi-VN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3200" dirty="0">
                    <a:solidFill>
                      <a:srgbClr val="FF0000"/>
                    </a:solidFill>
                  </a:rPr>
                  <a:t> 2 mô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3200" dirty="0">
                    <a:solidFill>
                      <a:srgbClr val="FF0000"/>
                    </a:solidFill>
                  </a:rPr>
                  <a:t> trên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các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3200" dirty="0">
                    <a:solidFill>
                      <a:srgbClr val="FF0000"/>
                    </a:solidFill>
                  </a:rPr>
                  <a:t> tương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ứng</a:t>
                </a:r>
                <a:r>
                  <a:rPr lang="vi-VN" sz="32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90E0E27-C653-4014-8043-51A5AC0DE2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482" r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9882417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B67799-829C-459C-900F-DBC44D64C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Hàm</a:t>
            </a:r>
            <a:r>
              <a:rPr lang="vi-VN" dirty="0"/>
              <a:t> </a:t>
            </a:r>
            <a:r>
              <a:rPr lang="vi-VN" dirty="0" err="1"/>
              <a:t>đánh</a:t>
            </a:r>
            <a:r>
              <a:rPr lang="vi-VN" dirty="0"/>
              <a:t> </a:t>
            </a:r>
            <a:r>
              <a:rPr lang="vi-VN" dirty="0" err="1"/>
              <a:t>giá</a:t>
            </a:r>
            <a:r>
              <a:rPr lang="vi-VN" dirty="0"/>
              <a:t> </a:t>
            </a:r>
            <a:r>
              <a:rPr lang="vi-VN" dirty="0" err="1"/>
              <a:t>Adjusted</a:t>
            </a:r>
            <a:r>
              <a:rPr lang="vi-VN" dirty="0"/>
              <a:t> R </a:t>
            </a:r>
            <a:r>
              <a:rPr lang="vi-VN" dirty="0" err="1"/>
              <a:t>Squared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723D1FE1-981C-435A-9792-70521E51BD6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905000" y="1905000"/>
              <a:ext cx="8534400" cy="28346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895600">
                      <a:extLst>
                        <a:ext uri="{9D8B030D-6E8A-4147-A177-3AD203B41FA5}">
                          <a16:colId xmlns:a16="http://schemas.microsoft.com/office/drawing/2014/main" val="3694713409"/>
                        </a:ext>
                      </a:extLst>
                    </a:gridCol>
                    <a:gridCol w="3124200">
                      <a:extLst>
                        <a:ext uri="{9D8B030D-6E8A-4147-A177-3AD203B41FA5}">
                          <a16:colId xmlns:a16="http://schemas.microsoft.com/office/drawing/2014/main" val="1388819688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2034772214"/>
                        </a:ext>
                      </a:extLst>
                    </a:gridCol>
                  </a:tblGrid>
                  <a:tr h="142240">
                    <a:tc>
                      <a:txBody>
                        <a:bodyPr/>
                        <a:lstStyle/>
                        <a:p>
                          <a:pPr algn="ctr"/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Linear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Regression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Polynomial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Regression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505122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Position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Salaries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0.63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0.87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437482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Position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Slaries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with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noise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0.62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0.85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431738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723D1FE1-981C-435A-9792-70521E51BD6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905000" y="1905000"/>
              <a:ext cx="8534400" cy="28346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895600">
                      <a:extLst>
                        <a:ext uri="{9D8B030D-6E8A-4147-A177-3AD203B41FA5}">
                          <a16:colId xmlns:a16="http://schemas.microsoft.com/office/drawing/2014/main" val="3694713409"/>
                        </a:ext>
                      </a:extLst>
                    </a:gridCol>
                    <a:gridCol w="3124200">
                      <a:extLst>
                        <a:ext uri="{9D8B030D-6E8A-4147-A177-3AD203B41FA5}">
                          <a16:colId xmlns:a16="http://schemas.microsoft.com/office/drawing/2014/main" val="1388819688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2034772214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Linear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Regression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Polynomial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Regression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50512298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Position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Salaries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788" t="-105769" r="-81287" b="-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39467" t="-105769" r="-969" b="-1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3748228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Position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Slaries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with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noise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788" t="-207097" r="-81287" b="-17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39467" t="-207097" r="-969" b="-174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31738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70858824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1A1E3B-52AC-4848-9A3B-814D413CE4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/>
              <a:t>Chúc các bạn học tốt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3200">
                <a:solidFill>
                  <a:srgbClr val="0066FF"/>
                </a:solidFill>
              </a:rPr>
              <a:t>TRƯỜNG ĐẠI HỌC CÔNG NGHỆ THÔNG TIN TP.HCM</a:t>
            </a:r>
            <a:br>
              <a:rPr lang="en-US" sz="3200">
                <a:solidFill>
                  <a:srgbClr val="0066FF"/>
                </a:solidFill>
              </a:rPr>
            </a:br>
            <a:br>
              <a:rPr lang="en-US" sz="3200">
                <a:solidFill>
                  <a:srgbClr val="0066FF"/>
                </a:solidFill>
              </a:rPr>
            </a:br>
            <a:r>
              <a:rPr lang="en-US" sz="4000"/>
              <a:t>Nhóm UIT-Together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4000">
                <a:solidFill>
                  <a:srgbClr val="0066FF"/>
                </a:solidFill>
              </a:rPr>
              <a:t>Nguyễn Tấn Trần Minh Khang</a:t>
            </a:r>
          </a:p>
        </p:txBody>
      </p:sp>
    </p:spTree>
    <p:extLst>
      <p:ext uri="{BB962C8B-B14F-4D97-AF65-F5344CB8AC3E}">
        <p14:creationId xmlns:p14="http://schemas.microsoft.com/office/powerpoint/2010/main" val="265189452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14709</TotalTime>
  <Words>2243</Words>
  <Application>Microsoft Office PowerPoint</Application>
  <PresentationFormat>Widescreen</PresentationFormat>
  <Paragraphs>333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Cambria Math</vt:lpstr>
      <vt:lpstr>Consolas</vt:lpstr>
      <vt:lpstr>Courier New</vt:lpstr>
      <vt:lpstr>Wingdings</vt:lpstr>
      <vt:lpstr>Default Design</vt:lpstr>
      <vt:lpstr>EVALUATING REGRESSION MODELS PERFORMANCE</vt:lpstr>
      <vt:lpstr>Đánh giá mô hình hồi quy</vt:lpstr>
      <vt:lpstr>Hàm lỗi Squared Sum (SSE)</vt:lpstr>
      <vt:lpstr>Hàm lỗi Squared Sum (SSE)</vt:lpstr>
      <vt:lpstr>Hàm lỗi Squared Sum (SSE)</vt:lpstr>
      <vt:lpstr>Hàm lỗi Squared Sum (SSE)</vt:lpstr>
      <vt:lpstr>Hàm lỗi Squared Sum (SSE)</vt:lpstr>
      <vt:lpstr>Hàm lỗi Squared Sum (SSE)</vt:lpstr>
      <vt:lpstr>Hàm lỗi Squared Sum (SSE)</vt:lpstr>
      <vt:lpstr>Hàm lỗi Squared Sum (SSE)</vt:lpstr>
      <vt:lpstr>Hàm lỗi Squared Sum (SSE)</vt:lpstr>
      <vt:lpstr>Hàm lỗi Squared Sum (SSE)</vt:lpstr>
      <vt:lpstr>Hàm lỗi Root Mean Squared (RMSE)</vt:lpstr>
      <vt:lpstr>Hàm lỗi Root Mean Squared (RMSE)</vt:lpstr>
      <vt:lpstr>Hàm lỗi Root Mean Squared (RMSE)</vt:lpstr>
      <vt:lpstr>Hàm lỗi Root Mean Squared (RMSE)</vt:lpstr>
      <vt:lpstr>Hàm lỗi Root Mean Squared (RMSE)</vt:lpstr>
      <vt:lpstr>Hàm lỗi Root Mean Squared (RMSE)</vt:lpstr>
      <vt:lpstr>Hàm lỗi Root Mean Squared (RMSE)</vt:lpstr>
      <vt:lpstr>Hàm lỗi Root Mean Squared (RMSE)</vt:lpstr>
      <vt:lpstr>Hàm lỗi Root Mean Squared (RMSE)</vt:lpstr>
      <vt:lpstr>Mô hình Đường cơ sở - BaseLine</vt:lpstr>
      <vt:lpstr>Mô hình Đường cơ sở – BaseLine</vt:lpstr>
      <vt:lpstr>Mô hình Đường cơ sở – BaseLine</vt:lpstr>
      <vt:lpstr>Mô hình Đường cơ sở – BaseLine</vt:lpstr>
      <vt:lpstr>Hàm đánh giá R Squared</vt:lpstr>
      <vt:lpstr>Hàm đánh giá R Squared</vt:lpstr>
      <vt:lpstr>Hàm đánh giá R Squared</vt:lpstr>
      <vt:lpstr>Hàm đánh giá R Squared</vt:lpstr>
      <vt:lpstr>Hàm đánh giá R Squared</vt:lpstr>
      <vt:lpstr>Hàm đánh giá R Squared</vt:lpstr>
      <vt:lpstr>Hàm đánh giá R Squared</vt:lpstr>
      <vt:lpstr>Hàm đánh giá R Squared</vt:lpstr>
      <vt:lpstr>Hàm đánh giá R Squared</vt:lpstr>
      <vt:lpstr>Hàm đánh giá R Squared</vt:lpstr>
      <vt:lpstr>Hàm đánh giá R Squared</vt:lpstr>
      <vt:lpstr>Hàm đánh giá Adjusted R Squared</vt:lpstr>
      <vt:lpstr>Hàm đánh giá Adjusted R Squared</vt:lpstr>
      <vt:lpstr>Hàm đánh giá Adjusted R Squared</vt:lpstr>
      <vt:lpstr>Hàm đánh giá Adjusted R Squared</vt:lpstr>
      <vt:lpstr>Hàm đánh giá Adjusted R Squared</vt:lpstr>
      <vt:lpstr>Chúc các bạn học tốt TRƯỜNG ĐẠI HỌC CÔNG NGHỆ THÔNG TIN TP.HCM  Nhóm UIT-Together Nguyễn Tấn Trần Minh Khang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 cc</dc:title>
  <dc:creator>Hong</dc:creator>
  <cp:lastModifiedBy>Nguyễn Tấn Trần Minh Khang</cp:lastModifiedBy>
  <cp:revision>1327</cp:revision>
  <cp:lastPrinted>2013-08-30T01:32:34Z</cp:lastPrinted>
  <dcterms:created xsi:type="dcterms:W3CDTF">2008-06-14T04:13:27Z</dcterms:created>
  <dcterms:modified xsi:type="dcterms:W3CDTF">2023-09-20T03:59:36Z</dcterms:modified>
</cp:coreProperties>
</file>