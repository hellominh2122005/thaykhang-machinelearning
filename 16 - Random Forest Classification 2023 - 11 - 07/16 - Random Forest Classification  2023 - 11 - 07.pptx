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1585" r:id="rId2"/>
    <p:sldId id="329" r:id="rId3"/>
    <p:sldId id="330" r:id="rId4"/>
    <p:sldId id="331" r:id="rId5"/>
    <p:sldId id="332" r:id="rId6"/>
    <p:sldId id="359" r:id="rId7"/>
    <p:sldId id="333" r:id="rId8"/>
    <p:sldId id="334" r:id="rId9"/>
    <p:sldId id="335" r:id="rId10"/>
    <p:sldId id="336" r:id="rId11"/>
    <p:sldId id="337" r:id="rId12"/>
    <p:sldId id="338" r:id="rId13"/>
    <p:sldId id="368" r:id="rId14"/>
    <p:sldId id="369" r:id="rId15"/>
    <p:sldId id="370" r:id="rId16"/>
    <p:sldId id="371" r:id="rId17"/>
    <p:sldId id="347" r:id="rId18"/>
    <p:sldId id="361" r:id="rId19"/>
    <p:sldId id="362" r:id="rId20"/>
    <p:sldId id="342" r:id="rId21"/>
    <p:sldId id="343" r:id="rId22"/>
    <p:sldId id="348" r:id="rId23"/>
    <p:sldId id="357" r:id="rId24"/>
    <p:sldId id="358" r:id="rId25"/>
    <p:sldId id="349" r:id="rId26"/>
    <p:sldId id="365" r:id="rId27"/>
    <p:sldId id="350" r:id="rId28"/>
    <p:sldId id="373" r:id="rId29"/>
    <p:sldId id="374" r:id="rId30"/>
    <p:sldId id="375" r:id="rId31"/>
    <p:sldId id="376" r:id="rId32"/>
    <p:sldId id="351" r:id="rId33"/>
    <p:sldId id="352" r:id="rId34"/>
    <p:sldId id="366" r:id="rId35"/>
    <p:sldId id="378" r:id="rId36"/>
    <p:sldId id="355" r:id="rId37"/>
    <p:sldId id="356" r:id="rId38"/>
    <p:sldId id="379" r:id="rId39"/>
    <p:sldId id="380" r:id="rId40"/>
    <p:sldId id="381" r:id="rId41"/>
    <p:sldId id="1573" r:id="rId4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7366" autoAdjust="0"/>
  </p:normalViewPr>
  <p:slideViewPr>
    <p:cSldViewPr>
      <p:cViewPr varScale="1">
        <p:scale>
          <a:sx n="84" d="100"/>
          <a:sy n="84" d="100"/>
        </p:scale>
        <p:origin x="1072" y="5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Relationship Id="rId60" Type="http://schemas.openxmlformats.org/officeDocument/2006/relationships/image" Target="../media/image1.png"/><Relationship Id="rId61" Type="http://schemas.openxmlformats.org/officeDocument/2006/relationships/image" Target="../media/image2.png"/><Relationship Id="rId6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0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www.superdatascience.com/pages/machine-learni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0.png"/><Relationship Id="rId3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RANDOM FOREST CLASSIFICATION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/>
              <a:t>KS. Cao Bá Kiệt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29751D-41C3-4A4C-9AC9-CCB7A061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DATASET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BF91FE-C018-4D25-9A03-0B4B71F42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274846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8E49B6-FFB9-48FE-A4A6-A7632629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A5EA7F-8FCE-416E-9B84-E4673825C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Tên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: </a:t>
            </a:r>
            <a:r>
              <a:rPr lang="vi-VN" sz="2800" dirty="0" err="1">
                <a:solidFill>
                  <a:srgbClr val="0066FF"/>
                </a:solidFill>
              </a:rPr>
              <a:t>Social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Network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Ads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Nguồn</a:t>
            </a:r>
            <a:r>
              <a:rPr lang="vi-VN" sz="2800" dirty="0">
                <a:solidFill>
                  <a:srgbClr val="FF0000"/>
                </a:solidFill>
              </a:rPr>
              <a:t>: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>
                <a:solidFill>
                  <a:srgbClr val="008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https://www.superdatascience.com/pages/machine-learning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biết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thông tin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họ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mua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hay không.</a:t>
            </a:r>
          </a:p>
        </p:txBody>
      </p:sp>
    </p:spTree>
    <p:extLst>
      <p:ext uri="{BB962C8B-B14F-4D97-AF65-F5344CB8AC3E}">
        <p14:creationId xmlns:p14="http://schemas.microsoft.com/office/powerpoint/2010/main" val="357772518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8E49B6-FFB9-48FE-A4A6-A7632629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4A5EA7F-8FCE-416E-9B84-E4673825C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chứa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400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mỗi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5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gồm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UserID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danh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Gender</a:t>
                </a:r>
                <a:r>
                  <a:rPr lang="vi-VN" sz="2800" dirty="0">
                    <a:solidFill>
                      <a:srgbClr val="0066FF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dùng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Age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tuổi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Estimated</a:t>
                </a:r>
                <a:r>
                  <a:rPr lang="vi-VN" sz="2800" dirty="0"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</a:rPr>
                  <a:t>Salary</a:t>
                </a:r>
                <a:r>
                  <a:rPr lang="vi-VN" sz="2800" dirty="0">
                    <a:solidFill>
                      <a:srgbClr val="0066FF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lương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dùng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Purchased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không mua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mua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4A5EA7F-8FCE-416E-9B84-E4673825C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3829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6701-EC67-4BAE-885F-6D32DA23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E472-166E-4206-903F-85F9C5F9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dirty="0" err="1">
                <a:solidFill>
                  <a:srgbClr val="0066FF"/>
                </a:solidFill>
              </a:rPr>
              <a:t>Dưới</a:t>
            </a:r>
            <a:r>
              <a:rPr lang="vi-VN" sz="2800" dirty="0">
                <a:solidFill>
                  <a:srgbClr val="0066FF"/>
                </a:solidFill>
              </a:rPr>
              <a:t> đây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5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ngẫu</a:t>
            </a:r>
            <a:r>
              <a:rPr lang="vi-VN" sz="2800" dirty="0">
                <a:solidFill>
                  <a:srgbClr val="0066FF"/>
                </a:solidFill>
              </a:rPr>
              <a:t> nhiên trong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264C7AE0-BA47-456B-A146-198F1D3F3BB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86409" y="2286000"/>
              <a:ext cx="109728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19678286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218285020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UserID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Gender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Purchased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15624510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44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15810944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20,000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15668575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15603246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15804002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76,000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264C7AE0-BA47-456B-A146-198F1D3F3BB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00527756"/>
                  </p:ext>
                </p:extLst>
              </p:nvPr>
            </p:nvGraphicFramePr>
            <p:xfrm>
              <a:off x="586409" y="2286000"/>
              <a:ext cx="109728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19678286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218285020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UserID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Gender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Purchased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194118" r="-401389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194118" r="-200554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194118" r="-101111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194118" r="-1111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294118" r="-401389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294118" r="-200554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294118" r="-101111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294118" r="-1111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394118" r="-401389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394118" r="-200554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394118" r="-101111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394118" r="-1111" b="-2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494118" r="-401389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494118" r="-200554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494118" r="-101111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494118" r="-1111" b="-1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594118" r="-401389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594118" r="-200554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594118" r="-10111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594118" r="-1111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193310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6701-EC67-4BAE-885F-6D32DA23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E472-166E-4206-903F-85F9C5F9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 err="1">
                <a:solidFill>
                  <a:srgbClr val="0066FF"/>
                </a:solidFill>
              </a:rPr>
              <a:t>Bài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toán</a:t>
            </a:r>
            <a:r>
              <a:rPr lang="en-US" sz="3200" dirty="0">
                <a:solidFill>
                  <a:srgbClr val="0066FF"/>
                </a:solidFill>
              </a:rPr>
              <a:t>: </a:t>
            </a:r>
            <a:r>
              <a:rPr lang="en-US" sz="3200" dirty="0" err="1">
                <a:solidFill>
                  <a:srgbClr val="0066FF"/>
                </a:solidFill>
              </a:rPr>
              <a:t>Yêu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cầu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dựa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vào</a:t>
            </a:r>
            <a:r>
              <a:rPr lang="en-US" sz="3200" dirty="0">
                <a:solidFill>
                  <a:srgbClr val="0066FF"/>
                </a:solidFill>
              </a:rPr>
              <a:t> 2 </a:t>
            </a:r>
            <a:r>
              <a:rPr lang="en-US" sz="3200" dirty="0" err="1">
                <a:solidFill>
                  <a:srgbClr val="0066FF"/>
                </a:solidFill>
              </a:rPr>
              <a:t>thuộc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tính</a:t>
            </a:r>
            <a:r>
              <a:rPr lang="en-US" sz="32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en-US" sz="3200" dirty="0" err="1">
                <a:solidFill>
                  <a:srgbClr val="FF0000"/>
                </a:solidFill>
              </a:rPr>
              <a:t>Độ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tuổi</a:t>
            </a:r>
            <a:r>
              <a:rPr lang="en-US" sz="3200" dirty="0">
                <a:solidFill>
                  <a:srgbClr val="FF0000"/>
                </a:solidFill>
              </a:rPr>
              <a:t> (Age).</a:t>
            </a:r>
          </a:p>
          <a:p>
            <a:pPr lvl="1" algn="just"/>
            <a:r>
              <a:rPr lang="en-US" sz="3200" dirty="0" err="1">
                <a:solidFill>
                  <a:srgbClr val="0066FF"/>
                </a:solidFill>
              </a:rPr>
              <a:t>Mức</a:t>
            </a:r>
            <a:r>
              <a:rPr lang="en-US" sz="3200" dirty="0">
                <a:solidFill>
                  <a:srgbClr val="0066FF"/>
                </a:solidFill>
              </a:rPr>
              <a:t> l</a:t>
            </a:r>
            <a:r>
              <a:rPr lang="vi-VN" sz="3200" dirty="0">
                <a:solidFill>
                  <a:srgbClr val="0066FF"/>
                </a:solidFill>
              </a:rPr>
              <a:t>ư</a:t>
            </a:r>
            <a:r>
              <a:rPr lang="en-US" sz="3200" dirty="0" err="1">
                <a:solidFill>
                  <a:srgbClr val="0066FF"/>
                </a:solidFill>
              </a:rPr>
              <a:t>ơng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ước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đoán</a:t>
            </a:r>
            <a:r>
              <a:rPr lang="vi-VN" sz="3200" dirty="0">
                <a:solidFill>
                  <a:srgbClr val="0066FF"/>
                </a:solidFill>
              </a:rPr>
              <a:t> (</a:t>
            </a:r>
            <a:r>
              <a:rPr lang="vi-VN" sz="3200" dirty="0" err="1">
                <a:solidFill>
                  <a:srgbClr val="0066FF"/>
                </a:solidFill>
              </a:rPr>
              <a:t>Estimated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Salary</a:t>
            </a:r>
            <a:r>
              <a:rPr lang="vi-VN" sz="3200" dirty="0">
                <a:solidFill>
                  <a:srgbClr val="0066FF"/>
                </a:solidFill>
              </a:rPr>
              <a:t>).</a:t>
            </a:r>
          </a:p>
          <a:p>
            <a:pPr marL="0" indent="0" algn="just">
              <a:buNone/>
            </a:pPr>
            <a:r>
              <a:rPr lang="en-US" sz="4000" dirty="0">
                <a:solidFill>
                  <a:srgbClr val="FF0000"/>
                </a:solidFill>
              </a:rPr>
              <a:t>D</a:t>
            </a:r>
            <a:r>
              <a:rPr lang="vi-VN" sz="4000" dirty="0">
                <a:solidFill>
                  <a:srgbClr val="FF0000"/>
                </a:solidFill>
              </a:rPr>
              <a:t>ự </a:t>
            </a:r>
            <a:r>
              <a:rPr lang="vi-VN" sz="4000" dirty="0" err="1">
                <a:solidFill>
                  <a:srgbClr val="FF0000"/>
                </a:solidFill>
              </a:rPr>
              <a:t>đoán</a:t>
            </a:r>
            <a:r>
              <a:rPr lang="vi-VN" sz="4000" dirty="0">
                <a:solidFill>
                  <a:srgbClr val="FF0000"/>
                </a:solidFill>
              </a:rPr>
              <a:t> </a:t>
            </a:r>
            <a:r>
              <a:rPr lang="vi-VN" sz="4000" dirty="0" err="1">
                <a:solidFill>
                  <a:srgbClr val="FF0000"/>
                </a:solidFill>
              </a:rPr>
              <a:t>khách</a:t>
            </a:r>
            <a:r>
              <a:rPr lang="vi-VN" sz="4000" dirty="0">
                <a:solidFill>
                  <a:srgbClr val="FF0000"/>
                </a:solidFill>
              </a:rPr>
              <a:t> </a:t>
            </a:r>
            <a:r>
              <a:rPr lang="vi-VN" sz="4000" dirty="0" err="1">
                <a:solidFill>
                  <a:srgbClr val="FF0000"/>
                </a:solidFill>
              </a:rPr>
              <a:t>hàng</a:t>
            </a:r>
            <a:r>
              <a:rPr lang="vi-VN" sz="4000" dirty="0">
                <a:solidFill>
                  <a:srgbClr val="FF0000"/>
                </a:solidFill>
              </a:rPr>
              <a:t> </a:t>
            </a:r>
            <a:r>
              <a:rPr lang="vi-VN" sz="4000" dirty="0" err="1">
                <a:solidFill>
                  <a:srgbClr val="FF0000"/>
                </a:solidFill>
              </a:rPr>
              <a:t>sẽ</a:t>
            </a:r>
            <a:r>
              <a:rPr lang="vi-VN" sz="4000" dirty="0">
                <a:solidFill>
                  <a:srgbClr val="FF0000"/>
                </a:solidFill>
              </a:rPr>
              <a:t> mua </a:t>
            </a:r>
            <a:r>
              <a:rPr lang="vi-VN" sz="4000" dirty="0" err="1">
                <a:solidFill>
                  <a:srgbClr val="FF0000"/>
                </a:solidFill>
              </a:rPr>
              <a:t>hàng</a:t>
            </a:r>
            <a:r>
              <a:rPr lang="vi-VN" sz="4000" dirty="0">
                <a:solidFill>
                  <a:srgbClr val="FF0000"/>
                </a:solidFill>
              </a:rPr>
              <a:t> hay không?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019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648CF-DA24-4949-AFDB-25EC09D4A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969979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Ở </a:t>
            </a:r>
            <a:r>
              <a:rPr lang="en-US" sz="2800" dirty="0" err="1">
                <a:solidFill>
                  <a:srgbClr val="0066FF"/>
                </a:solidFill>
              </a:rPr>
              <a:t>bài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này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chỉ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tâm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đến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hai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thuộc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tính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tuổi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mức</a:t>
            </a:r>
            <a:r>
              <a:rPr lang="en-US" sz="2800" dirty="0">
                <a:solidFill>
                  <a:srgbClr val="0066FF"/>
                </a:solidFill>
              </a:rPr>
              <a:t> l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ớc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đoán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sz="2800" dirty="0">
              <a:solidFill>
                <a:srgbClr val="0066FF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pandas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dirty="0" err="1">
                <a:highlight>
                  <a:srgbClr val="FFFF00"/>
                </a:highlight>
                <a:latin typeface="Consolas" panose="020B0609020204030204" pitchFamily="49" charset="0"/>
              </a:rPr>
              <a:t>dataset</a:t>
            </a:r>
            <a:r>
              <a:rPr lang="vi-VN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vi-VN" dirty="0" err="1">
                <a:highlight>
                  <a:srgbClr val="FFFF00"/>
                </a:highlight>
                <a:latin typeface="Consolas" panose="020B0609020204030204" pitchFamily="49" charset="0"/>
              </a:rPr>
              <a:t>pd.read_csv</a:t>
            </a:r>
            <a:r>
              <a:rPr lang="vi-VN" dirty="0">
                <a:highlight>
                  <a:srgbClr val="FFFF00"/>
                </a:highlight>
                <a:latin typeface="Consolas" panose="020B0609020204030204" pitchFamily="49" charset="0"/>
              </a:rPr>
              <a:t>("Social_Network_Ads.csv")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X = dataset.iloc[:, [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]].values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dataset.iloc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[:,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12693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thuận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tiện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sau khi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, ta </a:t>
            </a:r>
            <a:r>
              <a:rPr lang="vi-VN" sz="2800" dirty="0" err="1">
                <a:solidFill>
                  <a:srgbClr val="0066FF"/>
                </a:solidFill>
              </a:rPr>
              <a:t>chuẩn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về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dạng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Kỳ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vọng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bằng</a:t>
            </a:r>
            <a:r>
              <a:rPr lang="vi-VN" sz="2800" dirty="0">
                <a:solidFill>
                  <a:srgbClr val="FF0000"/>
                </a:solidFill>
              </a:rPr>
              <a:t> 0</a:t>
            </a:r>
          </a:p>
          <a:p>
            <a:pPr lvl="1" algn="just"/>
            <a:r>
              <a:rPr lang="vi-VN" sz="2800" dirty="0">
                <a:solidFill>
                  <a:srgbClr val="0066FF"/>
                </a:solidFill>
              </a:rPr>
              <a:t>Phương sai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1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StandardScaler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module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sklearn.preprocessing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đã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xây </a:t>
            </a:r>
            <a:r>
              <a:rPr lang="vi-VN" sz="2800" dirty="0" err="1">
                <a:solidFill>
                  <a:srgbClr val="FF0000"/>
                </a:solidFill>
              </a:rPr>
              <a:t>dựng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sẵn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để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chuẩn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hóa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 startAt="7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sklearn.preprocessing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StandardScaler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7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SC =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StandardScaler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457200" indent="-457200" algn="just">
              <a:buFont typeface="+mj-lt"/>
              <a:buAutoNum type="arabicPeriod" startAt="7"/>
            </a:pPr>
            <a:r>
              <a:rPr lang="fr-FR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 = </a:t>
            </a:r>
            <a:r>
              <a:rPr lang="fr-FR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SC.fit_transform</a:t>
            </a:r>
            <a:r>
              <a:rPr lang="fr-FR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332975235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Chia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thành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hai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training set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test set.</a:t>
            </a:r>
          </a:p>
          <a:p>
            <a:pPr algn="just"/>
            <a:r>
              <a:rPr lang="en-US" sz="2800" dirty="0">
                <a:solidFill>
                  <a:srgbClr val="FF0000"/>
                </a:solidFill>
              </a:rPr>
              <a:t>Ta </a:t>
            </a:r>
            <a:r>
              <a:rPr lang="en-US" sz="2800" dirty="0" err="1">
                <a:solidFill>
                  <a:srgbClr val="FF0000"/>
                </a:solidFill>
              </a:rPr>
              <a:t>dùng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hàm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train_test_split</a:t>
            </a:r>
            <a:r>
              <a:rPr lang="en-US" sz="2800" dirty="0">
                <a:solidFill>
                  <a:srgbClr val="FF0000"/>
                </a:solidFill>
              </a:rPr>
              <a:t> đ</a:t>
            </a:r>
            <a:r>
              <a:rPr lang="vi-VN" sz="2800" dirty="0" err="1">
                <a:solidFill>
                  <a:srgbClr val="FF0000"/>
                </a:solidFill>
              </a:rPr>
              <a:t>ược</a:t>
            </a:r>
            <a:r>
              <a:rPr lang="vi-VN" sz="2800" dirty="0">
                <a:solidFill>
                  <a:srgbClr val="FF0000"/>
                </a:solidFill>
              </a:rPr>
              <a:t> cung </a:t>
            </a:r>
            <a:r>
              <a:rPr lang="vi-VN" sz="2800" dirty="0" err="1">
                <a:solidFill>
                  <a:srgbClr val="FF0000"/>
                </a:solidFill>
              </a:rPr>
              <a:t>cấp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module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sklearn.model_selection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0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sklearn.model_selection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train_test_split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0"/>
            </a:pPr>
            <a:r>
              <a:t>X_train, X_test, y_train, y_test = train_test_split(X, y, train_size = 0.8, random_state = 0)</a:t>
            </a:r>
          </a:p>
          <a:p>
            <a:pPr marL="0" indent="0" algn="just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7721120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DD0D7-166E-4EC1-B249-66AF94207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4726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D79ADC-34B1-4E7E-BF88-45FE6E454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7537" y="1762919"/>
            <a:ext cx="58769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7045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1BD90-68F2-4043-A681-4CE496AAF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Xây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dựng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hàm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hóa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sz="2800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 startAt="12"/>
            </a:pP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matplotlib.colors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ListedColormap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12"/>
            </a:pPr>
            <a:r>
              <a:rPr lang="vi-VN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795E26"/>
                </a:solidFill>
                <a:latin typeface="Consolas" panose="020B0609020204030204" pitchFamily="49" charset="0"/>
              </a:rPr>
              <a:t>VisualizingDataset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>
                <a:solidFill>
                  <a:srgbClr val="001080"/>
                </a:solidFill>
                <a:latin typeface="Consolas" panose="020B0609020204030204" pitchFamily="49" charset="0"/>
              </a:rPr>
              <a:t>X_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>
                <a:solidFill>
                  <a:srgbClr val="001080"/>
                </a:solidFill>
                <a:latin typeface="Consolas" panose="020B0609020204030204" pitchFamily="49" charset="0"/>
              </a:rPr>
              <a:t>y_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X1 = X_[:, 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X2 = X_[:, 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label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enumerate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np.unique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(y_)):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plt.scatter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(X1[y_ ==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label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], X2[y_ ==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label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	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ListedColormap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"green"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 			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label)</a:t>
            </a:r>
          </a:p>
        </p:txBody>
      </p:sp>
    </p:spTree>
    <p:extLst>
      <p:ext uri="{BB962C8B-B14F-4D97-AF65-F5344CB8AC3E}">
        <p14:creationId xmlns:p14="http://schemas.microsoft.com/office/powerpoint/2010/main" val="37612339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2091A-AA45-4AC6-8CDE-21216FC81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Gọi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8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(X, y)</a:t>
            </a:r>
          </a:p>
          <a:p>
            <a:pPr marL="457200" indent="-457200" algn="just">
              <a:buFont typeface="+mj-lt"/>
              <a:buAutoNum type="arabicPeriod" startAt="18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2672307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9A416-4274-4410-9F60-93605379AA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335314"/>
            <a:ext cx="6324600" cy="4790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2C6F-9A97-4651-AFB9-ADB638D4C9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Theo </a:t>
            </a:r>
            <a:r>
              <a:rPr lang="en-US" sz="2800" dirty="0" err="1">
                <a:solidFill>
                  <a:srgbClr val="0066FF"/>
                </a:solidFill>
              </a:rPr>
              <a:t>hình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vẽ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thấy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có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sự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phân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bố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thành</a:t>
            </a:r>
            <a:r>
              <a:rPr lang="en-US" sz="2800" dirty="0">
                <a:solidFill>
                  <a:srgbClr val="0066FF"/>
                </a:solidFill>
              </a:rPr>
              <a:t> 2 </a:t>
            </a:r>
            <a:r>
              <a:rPr lang="en-US" sz="2800" dirty="0" err="1">
                <a:solidFill>
                  <a:srgbClr val="0066FF"/>
                </a:solidFill>
              </a:rPr>
              <a:t>mảng</a:t>
            </a:r>
            <a:r>
              <a:rPr lang="en-US" sz="2800" dirty="0">
                <a:solidFill>
                  <a:srgbClr val="0066FF"/>
                </a:solidFill>
              </a:rPr>
              <a:t>. 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Mảng</a:t>
            </a:r>
            <a:r>
              <a:rPr lang="en-US" sz="2800" dirty="0">
                <a:solidFill>
                  <a:srgbClr val="FF0000"/>
                </a:solidFill>
              </a:rPr>
              <a:t> d</a:t>
            </a:r>
            <a:r>
              <a:rPr lang="vi-VN" sz="2800" dirty="0" err="1">
                <a:solidFill>
                  <a:srgbClr val="FF0000"/>
                </a:solidFill>
              </a:rPr>
              <a:t>ưới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trái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phần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màu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đỏ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tức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khách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hàng</a:t>
            </a:r>
            <a:r>
              <a:rPr lang="vi-VN" sz="2800" dirty="0">
                <a:solidFill>
                  <a:srgbClr val="FF0000"/>
                </a:solidFill>
              </a:rPr>
              <a:t> không mua </a:t>
            </a:r>
            <a:r>
              <a:rPr lang="vi-VN" sz="2800" dirty="0" err="1">
                <a:solidFill>
                  <a:srgbClr val="FF0000"/>
                </a:solidFill>
              </a:rPr>
              <a:t>hàng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Mảng</a:t>
            </a:r>
            <a:r>
              <a:rPr lang="vi-VN" sz="2800" dirty="0">
                <a:solidFill>
                  <a:srgbClr val="0066FF"/>
                </a:solidFill>
              </a:rPr>
              <a:t> bên </a:t>
            </a:r>
            <a:r>
              <a:rPr lang="vi-VN" sz="2800" dirty="0" err="1">
                <a:solidFill>
                  <a:srgbClr val="0066FF"/>
                </a:solidFill>
              </a:rPr>
              <a:t>phải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mảng</a:t>
            </a:r>
            <a:r>
              <a:rPr lang="vi-VN" sz="2800" dirty="0">
                <a:solidFill>
                  <a:srgbClr val="0066FF"/>
                </a:solidFill>
              </a:rPr>
              <a:t> bên trên </a:t>
            </a:r>
            <a:r>
              <a:rPr lang="vi-VN" sz="2800" dirty="0" err="1">
                <a:solidFill>
                  <a:srgbClr val="0066FF"/>
                </a:solidFill>
              </a:rPr>
              <a:t>phần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màu</a:t>
            </a:r>
            <a:r>
              <a:rPr lang="vi-VN" sz="2800" dirty="0">
                <a:solidFill>
                  <a:srgbClr val="0066FF"/>
                </a:solidFill>
              </a:rPr>
              <a:t> xanh, </a:t>
            </a:r>
            <a:r>
              <a:rPr lang="vi-VN" sz="2800" dirty="0" err="1">
                <a:solidFill>
                  <a:srgbClr val="0066FF"/>
                </a:solidFill>
              </a:rPr>
              <a:t>tức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mua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. </a:t>
            </a:r>
            <a:endParaRPr lang="vi-VN" sz="32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64463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9A416-4274-4410-9F60-93605379AA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335314"/>
            <a:ext cx="6324600" cy="4790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2C6F-9A97-4651-AFB9-ADB638D4C9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sz="3200" dirty="0" err="1">
                <a:solidFill>
                  <a:srgbClr val="0066FF"/>
                </a:solidFill>
              </a:rPr>
              <a:t>Điều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này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là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phù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hợp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vì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các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khách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hàng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trẻ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và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có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mức</a:t>
            </a:r>
            <a:r>
              <a:rPr lang="vi-VN" sz="3200" dirty="0">
                <a:solidFill>
                  <a:srgbClr val="0066FF"/>
                </a:solidFill>
              </a:rPr>
              <a:t> lương </a:t>
            </a:r>
            <a:r>
              <a:rPr lang="vi-VN" sz="3200" dirty="0" err="1">
                <a:solidFill>
                  <a:srgbClr val="0066FF"/>
                </a:solidFill>
              </a:rPr>
              <a:t>thấp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sẽ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thường</a:t>
            </a:r>
            <a:r>
              <a:rPr lang="vi-VN" sz="3200" dirty="0">
                <a:solidFill>
                  <a:srgbClr val="0066FF"/>
                </a:solidFill>
              </a:rPr>
              <a:t> không mua </a:t>
            </a:r>
            <a:r>
              <a:rPr lang="vi-VN" sz="3200" dirty="0" err="1">
                <a:solidFill>
                  <a:srgbClr val="0066FF"/>
                </a:solidFill>
              </a:rPr>
              <a:t>hàng</a:t>
            </a:r>
            <a:r>
              <a:rPr lang="vi-VN" sz="3200" dirty="0">
                <a:solidFill>
                  <a:srgbClr val="0066FF"/>
                </a:solidFill>
              </a:rPr>
              <a:t>. </a:t>
            </a:r>
          </a:p>
          <a:p>
            <a:pPr algn="just"/>
            <a:r>
              <a:rPr lang="vi-VN" sz="3200" dirty="0" err="1">
                <a:solidFill>
                  <a:srgbClr val="FF0000"/>
                </a:solidFill>
              </a:rPr>
              <a:t>Ngược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lại</a:t>
            </a:r>
            <a:r>
              <a:rPr lang="vi-VN" sz="3200" dirty="0">
                <a:solidFill>
                  <a:srgbClr val="FF0000"/>
                </a:solidFill>
              </a:rPr>
              <a:t>, </a:t>
            </a:r>
            <a:r>
              <a:rPr lang="vi-VN" sz="3200" dirty="0" err="1">
                <a:solidFill>
                  <a:srgbClr val="FF0000"/>
                </a:solidFill>
              </a:rPr>
              <a:t>khách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hàng</a:t>
            </a:r>
            <a:r>
              <a:rPr lang="vi-VN" sz="3200" dirty="0">
                <a:solidFill>
                  <a:srgbClr val="FF0000"/>
                </a:solidFill>
              </a:rPr>
              <a:t> cao </a:t>
            </a:r>
            <a:r>
              <a:rPr lang="vi-VN" sz="3200" dirty="0" err="1">
                <a:solidFill>
                  <a:srgbClr val="FF0000"/>
                </a:solidFill>
              </a:rPr>
              <a:t>tuổi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hoặc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có</a:t>
            </a:r>
            <a:r>
              <a:rPr lang="vi-VN" sz="3200" dirty="0">
                <a:solidFill>
                  <a:srgbClr val="FF0000"/>
                </a:solidFill>
              </a:rPr>
              <a:t> lương cao </a:t>
            </a:r>
            <a:r>
              <a:rPr lang="vi-VN" sz="3200" dirty="0" err="1">
                <a:solidFill>
                  <a:srgbClr val="FF0000"/>
                </a:solidFill>
              </a:rPr>
              <a:t>sẽ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thường</a:t>
            </a:r>
            <a:r>
              <a:rPr lang="vi-VN" sz="3200" dirty="0">
                <a:solidFill>
                  <a:srgbClr val="FF0000"/>
                </a:solidFill>
              </a:rPr>
              <a:t> mua </a:t>
            </a:r>
            <a:r>
              <a:rPr lang="vi-VN" sz="3200" dirty="0" err="1">
                <a:solidFill>
                  <a:srgbClr val="FF0000"/>
                </a:solidFill>
              </a:rPr>
              <a:t>hàng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nhiều</a:t>
            </a:r>
            <a:r>
              <a:rPr lang="vi-VN" sz="3200" dirty="0">
                <a:solidFill>
                  <a:srgbClr val="FF0000"/>
                </a:solidFill>
              </a:rPr>
              <a:t> hơn.</a:t>
            </a:r>
          </a:p>
        </p:txBody>
      </p:sp>
    </p:spTree>
    <p:extLst>
      <p:ext uri="{BB962C8B-B14F-4D97-AF65-F5344CB8AC3E}">
        <p14:creationId xmlns:p14="http://schemas.microsoft.com/office/powerpoint/2010/main" val="224632693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9A8F45-76C4-4790-9544-17DAEED4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Classification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B72A9-3251-4D28-A848-C6D821F64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3572536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9A8F45-76C4-4790-9544-17DAEED4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Classification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D9EFBB-4F29-4C48-A027-B486508EC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Với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mỗi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có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thể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xây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dựng</a:t>
            </a:r>
            <a:r>
              <a:rPr lang="en-US" sz="2800" dirty="0">
                <a:solidFill>
                  <a:srgbClr val="0066FF"/>
                </a:solidFill>
              </a:rPr>
              <a:t> đ</a:t>
            </a:r>
            <a:r>
              <a:rPr lang="vi-VN" sz="2800" dirty="0" err="1">
                <a:solidFill>
                  <a:srgbClr val="0066FF"/>
                </a:solidFill>
              </a:rPr>
              <a:t>ược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nhiều</a:t>
            </a:r>
            <a:r>
              <a:rPr lang="vi-VN" sz="2800" dirty="0">
                <a:solidFill>
                  <a:srgbClr val="0066FF"/>
                </a:solidFill>
              </a:rPr>
              <a:t> cây </a:t>
            </a:r>
            <a:r>
              <a:rPr lang="vi-VN" sz="2800" dirty="0" err="1">
                <a:solidFill>
                  <a:srgbClr val="0066FF"/>
                </a:solidFill>
              </a:rPr>
              <a:t>quyết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(</a:t>
            </a:r>
            <a:r>
              <a:rPr lang="vi-VN" sz="2800" dirty="0" err="1">
                <a:solidFill>
                  <a:srgbClr val="0066FF"/>
                </a:solidFill>
              </a:rPr>
              <a:t>Decision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Tree</a:t>
            </a:r>
            <a:r>
              <a:rPr lang="vi-VN" sz="2800" dirty="0">
                <a:solidFill>
                  <a:srgbClr val="0066FF"/>
                </a:solidFill>
              </a:rPr>
              <a:t>) </a:t>
            </a:r>
            <a:r>
              <a:rPr lang="vi-VN" sz="2800" dirty="0" err="1">
                <a:solidFill>
                  <a:srgbClr val="0066FF"/>
                </a:solidFill>
              </a:rPr>
              <a:t>khác</a:t>
            </a:r>
            <a:r>
              <a:rPr lang="vi-VN" sz="2800" dirty="0">
                <a:solidFill>
                  <a:srgbClr val="0066FF"/>
                </a:solidFill>
              </a:rPr>
              <a:t> nhau </a:t>
            </a:r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cùng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quyết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đề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i="1" dirty="0" err="1">
                <a:solidFill>
                  <a:srgbClr val="FF0000"/>
                </a:solidFill>
              </a:rPr>
              <a:t>Random</a:t>
            </a:r>
            <a:r>
              <a:rPr lang="vi-VN" sz="2800" i="1" dirty="0">
                <a:solidFill>
                  <a:srgbClr val="FF0000"/>
                </a:solidFill>
              </a:rPr>
              <a:t> </a:t>
            </a:r>
            <a:r>
              <a:rPr lang="vi-VN" sz="2800" i="1" dirty="0" err="1">
                <a:solidFill>
                  <a:srgbClr val="FF0000"/>
                </a:solidFill>
              </a:rPr>
              <a:t>Forest</a:t>
            </a:r>
            <a:r>
              <a:rPr lang="vi-VN" sz="2800" i="1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thuật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kết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hợp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cây </a:t>
            </a:r>
            <a:r>
              <a:rPr lang="vi-VN" sz="2800" dirty="0" err="1">
                <a:solidFill>
                  <a:srgbClr val="FF0000"/>
                </a:solidFill>
              </a:rPr>
              <a:t>quyết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định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khác</a:t>
            </a:r>
            <a:r>
              <a:rPr lang="vi-VN" sz="2800" dirty="0">
                <a:solidFill>
                  <a:srgbClr val="FF0000"/>
                </a:solidFill>
              </a:rPr>
              <a:t> nhau </a:t>
            </a:r>
            <a:r>
              <a:rPr lang="vi-VN" sz="2800" dirty="0" err="1">
                <a:solidFill>
                  <a:srgbClr val="FF0000"/>
                </a:solidFill>
              </a:rPr>
              <a:t>đó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để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tạo</a:t>
            </a:r>
            <a:r>
              <a:rPr lang="vi-VN" sz="2800" dirty="0">
                <a:solidFill>
                  <a:srgbClr val="FF0000"/>
                </a:solidFill>
              </a:rPr>
              <a:t> ra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mới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vi-VN" sz="2800" i="1" dirty="0" err="1">
                <a:solidFill>
                  <a:srgbClr val="0066FF"/>
                </a:solidFill>
              </a:rPr>
              <a:t>Random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Forest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Classification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thuật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Random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Forest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quyết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bài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phân </a:t>
            </a:r>
            <a:r>
              <a:rPr lang="vi-VN" sz="2800" dirty="0" err="1">
                <a:solidFill>
                  <a:srgbClr val="0066FF"/>
                </a:solidFill>
              </a:rPr>
              <a:t>loại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85064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9A8F45-76C4-4790-9544-17DAEED4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Classification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D9EFBB-4F29-4C48-A027-B486508EC9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Bước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1: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Chọn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quyết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muốn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tạo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gọi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Bước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2: Xây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quyết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mỗi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cây: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Bước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2.1: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Chọn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ngẫu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nhiên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Bước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2.2: Xây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quyết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Bước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3: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Đối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tất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quyết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xây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Điểm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này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nếu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này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chiếm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những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lần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D9EFBB-4F29-4C48-A027-B486508EC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69977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D357-44D3-4192-9574-AEB50D07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Huấn luyện mô hình: RandomForestClassifier Với 100 Cây Con (In [1])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308A1-220E-41D1-95C3-05079F64F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Huấn luyện Rừng Phân Lớp bằng sklearn.ensemble (In [1]):</a:t>
            </a:r>
            <a:endParaRPr lang="vi-VN"/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sklearn.ensemble import RandomForestClassifier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sklearn.metrics import confusion_matrix, accuracy_score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classifier = RandomForestClassifier(n_estimators=100, criterion='entropy', random_state=0, n_jobs=-1)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classifier.fit(X_train_scaled, y_train)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y_pred = classifier.predict(X_test_scaled)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cm = confusion_matrix(y_test, y_pred)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print(f'Accuracy: {accuracy_score(y_test, y_pred)*100:.2f}%')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print('Confusion Matrix:\n', cm)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Kết quả: Accuracy = 91.00% | Confusion Matrix: [[63, 5], [4, 28]] (Cực kỳ cân bằng và ổn định)</a:t>
            </a:r>
          </a:p>
        </p:txBody>
      </p:sp>
    </p:spTree>
    <p:extLst>
      <p:ext uri="{BB962C8B-B14F-4D97-AF65-F5344CB8AC3E}">
        <p14:creationId xmlns:p14="http://schemas.microsoft.com/office/powerpoint/2010/main" val="396183205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D357-44D3-4192-9574-AEB50D07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34B11A-0C5D-4094-8818-CED3C58F0E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RandomForestClassifier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module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sklearn.ensemble</a:t>
                </a:r>
                <a:r>
                  <a:rPr lang="vi-VN" sz="2800" dirty="0">
                    <a:solidFill>
                      <a:srgbClr val="0066FF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để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Số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quyết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tạo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ra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đặt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Đặt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tham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criterion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(tham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thuật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quyết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)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"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entropy</a:t>
                </a:r>
                <a:r>
                  <a:rPr lang="vi-VN" sz="2800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"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marL="457200" indent="-457200">
                  <a:buFont typeface="+mj-lt"/>
                  <a:buAutoNum type="arabicPeriod" startAt="20"/>
                </a:pP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from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sklearn.ensemble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import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RandomForestClassifier</a:t>
                </a:r>
                <a:endParaRPr lang="vi-VN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457200" indent="-457200">
                  <a:buFont typeface="+mj-lt"/>
                  <a:buAutoNum type="arabicPeriod" startAt="20"/>
                </a:pP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classifier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=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RandomForestClassifier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vi-VN" dirty="0" err="1">
                    <a:solidFill>
                      <a:srgbClr val="001080"/>
                    </a:solidFill>
                    <a:latin typeface="Consolas" panose="020B0609020204030204" pitchFamily="49" charset="0"/>
                  </a:rPr>
                  <a:t>n_estimators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= </a:t>
                </a:r>
                <a:r>
                  <a:rPr lang="vi-VN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10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vi-VN" dirty="0" err="1">
                    <a:solidFill>
                      <a:srgbClr val="001080"/>
                    </a:solidFill>
                    <a:latin typeface="Consolas" panose="020B0609020204030204" pitchFamily="49" charset="0"/>
                  </a:rPr>
                  <a:t>criterion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= </a:t>
                </a:r>
                <a:r>
                  <a:rPr lang="vi-VN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'</a:t>
                </a:r>
                <a:r>
                  <a:rPr lang="vi-VN" dirty="0" err="1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entropy</a:t>
                </a:r>
                <a:r>
                  <a:rPr lang="vi-VN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'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vi-VN" dirty="0" err="1">
                    <a:solidFill>
                      <a:srgbClr val="001080"/>
                    </a:solidFill>
                    <a:latin typeface="Consolas" panose="020B0609020204030204" pitchFamily="49" charset="0"/>
                  </a:rPr>
                  <a:t>random_state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= </a:t>
                </a:r>
                <a:r>
                  <a:rPr lang="vi-VN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0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</a:t>
                </a:r>
              </a:p>
              <a:p>
                <a:pPr marL="457200" indent="-457200">
                  <a:buFont typeface="+mj-lt"/>
                  <a:buAutoNum type="arabicPeriod" startAt="20"/>
                </a:pPr>
                <a:r>
                  <a:rPr lang="fr-FR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classifier.fit</a:t>
                </a:r>
                <a:r>
                  <a:rPr lang="fr-FR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X_train</a:t>
                </a:r>
                <a:r>
                  <a:rPr lang="fr-FR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, </a:t>
                </a:r>
                <a:r>
                  <a:rPr lang="fr-FR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Y_train</a:t>
                </a:r>
                <a:r>
                  <a:rPr lang="fr-FR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34B11A-0C5D-4094-8818-CED3C58F0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752" r="-1111" b="-44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57868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31E8E-7F95-48D1-B193-056D9DF35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23738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E7C6AE8-60A2-49FB-A20C-4375C46A91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trận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kích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ở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Phần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ở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dòng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confusion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matrix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biểu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confusion_matrix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module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sklearn.metrics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hỗ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ta xây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>
                    <a:solidFill>
                      <a:srgbClr val="0066FF"/>
                    </a:solidFill>
                  </a:rPr>
                  <a:t>.</a:t>
                </a:r>
                <a:endParaRPr lang="en-US" sz="280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from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sklearn.metrics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import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confusion_matrix</a:t>
                </a:r>
                <a:endParaRPr lang="vi-VN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cm =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confusion_matrix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Y_train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classifier.predict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X_train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))</a:t>
                </a: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vi-VN" dirty="0" err="1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print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E7C6AE8-60A2-49FB-A20C-4375C46A9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 b="-5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4333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FE9-BB2E-49B4-B0F1-3693843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in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Theo ma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118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316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+3=4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/320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3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5718937"/>
                  </p:ext>
                </p:extLst>
              </p:nvPr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019393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Ta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trên </a:t>
            </a:r>
            <a:r>
              <a:rPr lang="vi-VN" sz="2800" dirty="0" err="1">
                <a:solidFill>
                  <a:srgbClr val="0066FF"/>
                </a:solidFill>
              </a:rPr>
              <a:t>mặt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tọa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vẽ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thu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sau </a:t>
            </a:r>
            <a:r>
              <a:rPr lang="vi-VN" sz="2800" dirty="0" err="1">
                <a:solidFill>
                  <a:srgbClr val="0066FF"/>
                </a:solidFill>
              </a:rPr>
              <a:t>quá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99F38C-6F1B-49B4-A9D1-9BB7A3378D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5999" y="1593575"/>
            <a:ext cx="5962957" cy="43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6764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Xây </a:t>
            </a:r>
            <a:r>
              <a:rPr lang="vi-VN" sz="2800" dirty="0" err="1">
                <a:solidFill>
                  <a:srgbClr val="0066FF"/>
                </a:solidFill>
              </a:rPr>
              <a:t>dựng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đạt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err="1">
                <a:solidFill>
                  <a:srgbClr val="0066FF"/>
                </a:solidFill>
              </a:rPr>
              <a:t>được</a:t>
            </a:r>
            <a:r>
              <a:rPr lang="vi-VN" sz="2800">
                <a:solidFill>
                  <a:srgbClr val="0066FF"/>
                </a:solidFill>
              </a:rPr>
              <a:t>.</a:t>
            </a:r>
            <a:endParaRPr lang="en-US" sz="2800">
              <a:solidFill>
                <a:srgbClr val="0066FF"/>
              </a:solidFill>
            </a:endParaRPr>
          </a:p>
          <a:p>
            <a:pPr algn="just"/>
            <a:endParaRPr lang="vi-VN" sz="28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 startAt="26"/>
            </a:pP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VisualizingResult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2000" dirty="0">
                <a:solidFill>
                  <a:srgbClr val="001080"/>
                </a:solidFill>
                <a:latin typeface="Consolas" panose="020B0609020204030204" pitchFamily="49" charset="0"/>
              </a:rPr>
              <a:t>X_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vi-V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X1 = X_[:, </a:t>
            </a:r>
            <a:r>
              <a:rPr lang="vi-VN" sz="20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vi-VN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vi-V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X2 = X_[:, </a:t>
            </a:r>
            <a:r>
              <a:rPr lang="vi-VN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vi-VN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X1_range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np.arange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start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X1.min()-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stop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X1.max()+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step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0.01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X2_range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np.arange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start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X2.min()-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stop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X2.max()+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step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0.01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X1_matrix, X2_matrix = </a:t>
            </a:r>
            <a:r>
              <a:rPr lang="fr-F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np.meshgrid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(X1_range, X2_range)</a:t>
            </a:r>
          </a:p>
        </p:txBody>
      </p:sp>
    </p:spTree>
    <p:extLst>
      <p:ext uri="{BB962C8B-B14F-4D97-AF65-F5344CB8AC3E}">
        <p14:creationId xmlns:p14="http://schemas.microsoft.com/office/powerpoint/2010/main" val="89850136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01400" cy="4525963"/>
          </a:xfrm>
        </p:spPr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Xây </a:t>
            </a:r>
            <a:r>
              <a:rPr lang="vi-VN" sz="2800" dirty="0" err="1">
                <a:solidFill>
                  <a:srgbClr val="0066FF"/>
                </a:solidFill>
              </a:rPr>
              <a:t>dựng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đạt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err="1">
                <a:solidFill>
                  <a:srgbClr val="0066FF"/>
                </a:solidFill>
              </a:rPr>
              <a:t>được</a:t>
            </a:r>
            <a:r>
              <a:rPr lang="vi-VN" sz="2800">
                <a:solidFill>
                  <a:srgbClr val="0066FF"/>
                </a:solidFill>
              </a:rPr>
              <a:t>.</a:t>
            </a:r>
            <a:endParaRPr lang="en-US" sz="2800">
              <a:solidFill>
                <a:srgbClr val="0066FF"/>
              </a:solidFill>
            </a:endParaRPr>
          </a:p>
          <a:p>
            <a:pPr algn="just"/>
            <a:endParaRPr lang="vi-VN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26"/>
            </a:pP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VisualizingResult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X_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31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</a:p>
          <a:p>
            <a:pPr marL="457200" indent="-457200">
              <a:buFont typeface="+mj-lt"/>
              <a:buAutoNum type="arabicPeriod" startAt="32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X_grid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([X1_matrix.ravel(), X2_matrix.ravel()]).T</a:t>
            </a:r>
          </a:p>
          <a:p>
            <a:pPr marL="457200" indent="-457200">
              <a:buFont typeface="+mj-lt"/>
              <a:buAutoNum type="arabicPeriod" startAt="32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y_grid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model.predict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X_grid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reshape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(X1_matrix.shape)</a:t>
            </a:r>
          </a:p>
          <a:p>
            <a:pPr marL="457200" indent="-457200">
              <a:buFont typeface="+mj-lt"/>
              <a:buAutoNum type="arabicPeriod" startAt="34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vi-VN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plt.contourf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(X1_matrix, X2_matrix,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y_grid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 err="1">
                <a:solidFill>
                  <a:srgbClr val="001080"/>
                </a:solidFill>
                <a:latin typeface="Consolas" panose="020B0609020204030204" pitchFamily="49" charset="0"/>
              </a:rPr>
              <a:t>alpha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>0.5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  </a:t>
            </a:r>
            <a:r>
              <a:rPr lang="vi-VN" dirty="0" err="1">
                <a:solidFill>
                  <a:srgbClr val="001080"/>
                </a:solidFill>
                <a:latin typeface="Consolas" panose="020B0609020204030204" pitchFamily="49" charset="0"/>
              </a:rPr>
              <a:t>cmap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ListedColormap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dirty="0" err="1">
                <a:solidFill>
                  <a:srgbClr val="A31515"/>
                </a:solidFill>
                <a:latin typeface="Consolas" panose="020B0609020204030204" pitchFamily="49" charset="0"/>
              </a:rPr>
              <a:t>red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dirty="0" err="1">
                <a:solidFill>
                  <a:srgbClr val="A31515"/>
                </a:solidFill>
                <a:latin typeface="Consolas" panose="020B0609020204030204" pitchFamily="49" charset="0"/>
              </a:rPr>
              <a:t>green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endParaRPr lang="vi-VN" sz="32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2"/>
            </a:pPr>
            <a:endParaRPr lang="vi-VN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20656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35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(classifier,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514350" indent="-514350">
              <a:buFont typeface="+mj-lt"/>
              <a:buAutoNum type="arabicPeriod" startAt="35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8738092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D136F3C-1ECE-4ECF-BCD2-B410C628D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1417638"/>
            <a:ext cx="640442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2780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A321E8-246F-4EAF-A682-01E42CE71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Hoàn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thiện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vẽ</a:t>
            </a:r>
            <a:r>
              <a:rPr lang="vi-VN" sz="2800" dirty="0">
                <a:solidFill>
                  <a:srgbClr val="0066FF"/>
                </a:solidFill>
              </a:rPr>
              <a:t> thêm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 lên </a:t>
            </a:r>
            <a:r>
              <a:rPr lang="vi-VN" sz="2800" dirty="0" err="1">
                <a:solidFill>
                  <a:srgbClr val="0066FF"/>
                </a:solidFill>
              </a:rPr>
              <a:t>mặt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tọa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vi-VN" sz="2800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 startAt="37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(classifier,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37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y_train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37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vi-VN" sz="28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51014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4C9F01D-7C07-4E2B-8492-0A90803CF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1219200"/>
            <a:ext cx="6629400" cy="483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65392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22CF-F325-4B0D-BB9C-4A5BDD91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Trực quan hóa kết quả mô hình</a:t>
            </a:r>
            <a:endParaRPr lang="vi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20D58-5361-4A92-8004-3A836CDECB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dirty="0" err="1">
                <a:solidFill>
                  <a:srgbClr val="0066FF"/>
                </a:solidFill>
              </a:rPr>
              <a:t>Nhận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xét</a:t>
            </a:r>
            <a:r>
              <a:rPr lang="vi-VN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độ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chính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xác</a:t>
            </a:r>
            <a:r>
              <a:rPr lang="vi-VN" sz="2800" dirty="0">
                <a:solidFill>
                  <a:srgbClr val="FF0000"/>
                </a:solidFill>
              </a:rPr>
              <a:t> cao.</a:t>
            </a:r>
          </a:p>
          <a:p>
            <a:pPr lvl="1" algn="just"/>
            <a:r>
              <a:rPr lang="vi-VN" sz="2800" dirty="0">
                <a:solidFill>
                  <a:srgbClr val="0066FF"/>
                </a:solidFill>
              </a:rPr>
              <a:t>Tuy nhiên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vẻ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nó</a:t>
            </a:r>
            <a:r>
              <a:rPr lang="vi-VN" sz="2800" dirty="0">
                <a:solidFill>
                  <a:srgbClr val="0066FF"/>
                </a:solidFill>
              </a:rPr>
              <a:t> đang mô </a:t>
            </a:r>
            <a:r>
              <a:rPr lang="vi-VN" sz="2800" dirty="0" err="1">
                <a:solidFill>
                  <a:srgbClr val="0066FF"/>
                </a:solidFill>
              </a:rPr>
              <a:t>tả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nhiễu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56C7458-D001-4F17-A2B0-A773AC3EA7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399" y="1464872"/>
            <a:ext cx="6034927" cy="440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6771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81405-0B4B-4752-8010-5BC101FF1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21999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7C6AE8-60A2-49FB-A20C-4375C46A9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2800">
                <a:solidFill>
                  <a:srgbClr val="0066FF"/>
                </a:solidFill>
              </a:rPr>
              <a:t>Tạo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confusion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matrix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trên </a:t>
            </a:r>
            <a:r>
              <a:rPr sz="2800">
                <a:solidFill>
                  <a:srgbClr val="0066FF"/>
                </a:solidFill>
              </a:rPr>
              <a:t>tập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test</a:t>
            </a:r>
            <a:r>
              <a:rPr sz="2800">
                <a:solidFill>
                  <a:srgbClr val="0066FF"/>
                </a:solidFill>
              </a:rPr>
              <a:t>.</a:t>
            </a:r>
          </a:p>
          <a:p/>
          <a:p>
            <a:r>
              <a:rPr>
                <a:solidFill>
                  <a:srgbClr val="AF00DB"/>
                </a:solidFill>
                <a:latin typeface="Consolas"/>
              </a:rPr>
              <a:t>from</a:t>
            </a:r>
            <a:r>
              <a:rPr>
                <a:solidFill>
                  <a:srgbClr val="000000"/>
                </a:solidFill>
                <a:latin typeface="Consolas"/>
              </a:rPr>
              <a:t> sklearn.metrics </a:t>
            </a:r>
            <a:r>
              <a:rPr>
                <a:solidFill>
                  <a:srgbClr val="AF00DB"/>
                </a:solidFill>
                <a:latin typeface="Consolas"/>
              </a:rPr>
              <a:t>import</a:t>
            </a:r>
            <a:r>
              <a:rPr>
                <a:solidFill>
                  <a:srgbClr val="000000"/>
                </a:solidFill>
                <a:latin typeface="Consolas"/>
              </a:rPr>
              <a:t> confusion_matrix</a:t>
            </a:r>
          </a:p>
          <a:p>
            <a:r>
              <a:rPr>
                <a:solidFill>
                  <a:srgbClr val="000000"/>
                </a:solidFill>
                <a:latin typeface="Consolas"/>
              </a:rPr>
              <a:t>cm = </a:t>
            </a:r>
            <a:r>
              <a:rPr>
                <a:solidFill>
                  <a:srgbClr val="000000"/>
                </a:solidFill>
                <a:latin typeface="Consolas"/>
              </a:rPr>
              <a:t>confusion_matrix</a:t>
            </a:r>
            <a:r>
              <a:rPr>
                <a:solidFill>
                  <a:srgbClr val="000000"/>
                </a:solidFill>
                <a:latin typeface="Consolas"/>
              </a:rPr>
              <a:t>(y_test, classifier.predict(X_test))</a:t>
            </a:r>
          </a:p>
          <a:p>
            <a:r>
              <a:rPr>
                <a:solidFill>
                  <a:srgbClr val="795E26"/>
                </a:solidFill>
                <a:latin typeface="Consolas"/>
              </a:rPr>
              <a:t>print</a:t>
            </a:r>
            <a:r>
              <a:rPr>
                <a:solidFill>
                  <a:srgbClr val="000000"/>
                </a:solidFill>
                <a:latin typeface="Consolas"/>
              </a:rPr>
              <a:t>(cm)</a:t>
            </a:r>
          </a:p>
        </p:txBody>
      </p:sp>
    </p:spTree>
    <p:extLst>
      <p:ext uri="{BB962C8B-B14F-4D97-AF65-F5344CB8AC3E}">
        <p14:creationId xmlns:p14="http://schemas.microsoft.com/office/powerpoint/2010/main" val="51876529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FE9-BB2E-49B4-B0F1-3693843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in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Theo ma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4+19=73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5+2=7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/80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0875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3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4250095"/>
                  </p:ext>
                </p:extLst>
              </p:nvPr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586178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B145C5-2FC6-4997-B32D-879CA6F44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Thực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hiện</a:t>
            </a:r>
            <a:r>
              <a:rPr lang="en-US" sz="2800" dirty="0">
                <a:solidFill>
                  <a:srgbClr val="0066FF"/>
                </a:solidFill>
              </a:rPr>
              <a:t> t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tự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hóa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kết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quả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mô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hình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trên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traning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42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classifier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42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42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vi-VN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4622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A19D77E-4A6F-41B2-9A5A-3C79AD0E7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1319212"/>
            <a:ext cx="6536258" cy="4700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70FFB56-579E-4958-8280-065736728F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70FFB56-579E-4958-8280-065736728F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8068981"/>
                  </p:ext>
                </p:extLst>
              </p:nvPr>
            </p:nvGraphicFramePr>
            <p:xfrm>
              <a:off x="83820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9281924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 wrap="square">
            <a:normAutofit/>
          </a:bodyPr>
          <a:lstStyle/>
          <a:p>
            <a:pPr eaLnBrk="1" hangingPunct="1">
              <a:lnSpc>
                <a:spcPct val="90000"/>
              </a:lnSpc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quả: Phân Tích Tầm Quan Trọng Đặc Trưng (Feature Importance) (In [2])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4540C1-FAA8-42E9-B0B2-2EFA782BC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Khám phá mức độ đóng góp của từng đặc trưng (In [2]):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importances = classifier.feature_importances_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for feat, imp in zip(['Age (Tuổi)', 'Salary (Mức lương)'], importances):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print(f'{feat}: {imp*100:.2f}%')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Kết luận từ Rừng Phân Lớp: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Cả Tuổi tác và Mức lương đều đóng góp tỷ trọng cân bằng (~50% mỗi biến) vào quyết định mua xe SUV.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Cơ chế Biểu quyết Đa số (Majority Voting): Dự đoán của 100 cây con được gộp lại, loại bỏ hoàn toàn các ranh giới răng cưa cực đoan của một cây duy nhất.</a:t>
            </a:r>
          </a:p>
        </p:txBody>
      </p:sp>
    </p:spTree>
    <p:extLst>
      <p:ext uri="{BB962C8B-B14F-4D97-AF65-F5344CB8AC3E}">
        <p14:creationId xmlns:p14="http://schemas.microsoft.com/office/powerpoint/2010/main" val="230303521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4540C1-FAA8-42E9-B0B2-2EFA782BC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Gọi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mục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từ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thứ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endParaRPr lang="vi-VN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514350" indent="-514350">
                  <a:buFont typeface="+mj-lt"/>
                  <a:buAutoNum type="arabicPeriod" startAt="51"/>
                </a:pPr>
                <a:r>
                  <a:rPr lang="en-US" dirty="0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for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range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7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en-U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12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):</a:t>
                </a:r>
              </a:p>
              <a:p>
                <a:pPr marL="514350" indent="-514350">
                  <a:buFont typeface="+mj-lt"/>
                  <a:buAutoNum type="arabicPeriod" startAt="51"/>
                </a:pP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compare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(i)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4540C1-FAA8-42E9-B0B2-2EFA782BC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59122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ECC9B8FD-DF83-49A2-98AF-3CB75CF1DBE8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676398" y="1661160"/>
              <a:ext cx="88392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42202487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47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ECC9B8FD-DF83-49A2-98AF-3CB75CF1DB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9477727"/>
                  </p:ext>
                </p:extLst>
              </p:nvPr>
            </p:nvGraphicFramePr>
            <p:xfrm>
              <a:off x="1676398" y="1661160"/>
              <a:ext cx="88392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4220248793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194118" r="-439259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194118" r="-234085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194118" r="-136752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194118" r="-1053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290698" r="-439259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290698" r="-234085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290698" r="-136752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290698" r="-1053" b="-298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395294" r="-439259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395294" r="-234085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395294" r="-136752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395294" r="-1053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495294" r="-439259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495294" r="-234085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495294" r="-136752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495294" r="-1053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595294" r="-439259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595294" r="-234085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595294" r="-136752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595294" r="-1053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456720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3200">
                <a:solidFill>
                  <a:srgbClr val="0066FF"/>
                </a:solidFill>
              </a:rPr>
              <a:t>TRƯỜNG ĐẠI HỌC CÔNG NGHỆ THÔNG TIN TP.HCM</a:t>
            </a:r>
            <a:br>
              <a:rPr lang="en-US" sz="3200">
                <a:solidFill>
                  <a:srgbClr val="0066FF"/>
                </a:solidFill>
              </a:rPr>
            </a:br>
            <a:br>
              <a:rPr lang="en-US" sz="3200">
                <a:solidFill>
                  <a:srgbClr val="0066FF"/>
                </a:solidFill>
              </a:rPr>
            </a:br>
            <a:r>
              <a:rPr lang="en-US" sz="4000"/>
              <a:t>Nhóm UIT-Together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Tấn Trần Minh Khang</a:t>
            </a:r>
          </a:p>
        </p:txBody>
      </p:sp>
    </p:spTree>
    <p:extLst>
      <p:ext uri="{BB962C8B-B14F-4D97-AF65-F5344CB8AC3E}">
        <p14:creationId xmlns:p14="http://schemas.microsoft.com/office/powerpoint/2010/main" val="2651894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14696</TotalTime>
  <Words>2066</Words>
  <Application>Microsoft Office PowerPoint</Application>
  <PresentationFormat>Widescreen</PresentationFormat>
  <Paragraphs>286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Cambria Math</vt:lpstr>
      <vt:lpstr>Consolas</vt:lpstr>
      <vt:lpstr>Courier New</vt:lpstr>
      <vt:lpstr>Default Design</vt:lpstr>
      <vt:lpstr>RANDOM FOREST CLASSIFICATION</vt:lpstr>
      <vt:lpstr>DATASET</vt:lpstr>
      <vt:lpstr>Dataset</vt:lpstr>
      <vt:lpstr>Dataset</vt:lpstr>
      <vt:lpstr>Dataset</vt:lpstr>
      <vt:lpstr>Dataset</vt:lpstr>
      <vt:lpstr>Tiền xử lý dữ liệu</vt:lpstr>
      <vt:lpstr>Tiền xử lý dữ liệu</vt:lpstr>
      <vt:lpstr>Tiền xử lý dữ liệu</vt:lpstr>
      <vt:lpstr>Tiền xử lý dữ liệu</vt:lpstr>
      <vt:lpstr>Trực quan hóa dữ liệu</vt:lpstr>
      <vt:lpstr>Trực quan hóa dữ liệu</vt:lpstr>
      <vt:lpstr>Trực quan hóa dữ liệu</vt:lpstr>
      <vt:lpstr>Trực quan hóa dữ liệu</vt:lpstr>
      <vt:lpstr>Trực quan hóa dữ liệu</vt:lpstr>
      <vt:lpstr>Trực quan hóa dữ liệu</vt:lpstr>
      <vt:lpstr>Random Forest Classification</vt:lpstr>
      <vt:lpstr>Random Forest Classification</vt:lpstr>
      <vt:lpstr>Random Forest Classification</vt:lpstr>
      <vt:lpstr>Huấn luyện mô hình</vt:lpstr>
      <vt:lpstr>Huấn luyện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Chúc các bạn học tốt TRƯỜNG ĐẠI HỌC CÔNG NGHỆ THÔNG TIN TP.HCM  Nhóm UIT-Together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Quan Chí Khánh An</cp:lastModifiedBy>
  <cp:revision>1325</cp:revision>
  <cp:lastPrinted>2013-08-30T01:32:34Z</cp:lastPrinted>
  <dcterms:created xsi:type="dcterms:W3CDTF">2008-06-14T04:13:27Z</dcterms:created>
  <dcterms:modified xsi:type="dcterms:W3CDTF">2023-11-07T16:06:34Z</dcterms:modified>
</cp:coreProperties>
</file>