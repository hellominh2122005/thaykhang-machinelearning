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585" r:id="rId2"/>
    <p:sldId id="1581" r:id="rId3"/>
    <p:sldId id="1582" r:id="rId4"/>
    <p:sldId id="1583" r:id="rId5"/>
    <p:sldId id="331" r:id="rId6"/>
    <p:sldId id="334" r:id="rId7"/>
    <p:sldId id="361" r:id="rId8"/>
    <p:sldId id="343" r:id="rId9"/>
    <p:sldId id="345" r:id="rId10"/>
    <p:sldId id="344" r:id="rId11"/>
    <p:sldId id="360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4" r:id="rId20"/>
    <p:sldId id="353" r:id="rId21"/>
    <p:sldId id="355" r:id="rId22"/>
    <p:sldId id="359" r:id="rId23"/>
    <p:sldId id="356" r:id="rId24"/>
    <p:sldId id="357" r:id="rId25"/>
    <p:sldId id="363" r:id="rId26"/>
    <p:sldId id="364" r:id="rId27"/>
    <p:sldId id="358" r:id="rId28"/>
    <p:sldId id="362" r:id="rId29"/>
    <p:sldId id="1580" r:id="rId3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68" d="100"/>
          <a:sy n="68" d="100"/>
        </p:scale>
        <p:origin x="11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228A5-DE51-45EB-A51E-AC7C60465EA1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</p:spTree>
    <p:extLst>
      <p:ext uri="{BB962C8B-B14F-4D97-AF65-F5344CB8AC3E}">
        <p14:creationId xmlns:p14="http://schemas.microsoft.com/office/powerpoint/2010/main" val="188726356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image" Target="../media/image1.png"/><Relationship Id="rId62" Type="http://schemas.openxmlformats.org/officeDocument/2006/relationships/image" Target="../media/image2.png"/><Relationship Id="rId6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1" r:id="rId59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sds-platform-private.s3-us-east-2.amazonaws.com/uploads/P14-Polynomial-Regression.zi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DECISION TREE REGRESSION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>
                <a:solidFill>
                  <a:srgbClr val="FF0000"/>
                </a:solidFill>
              </a:rPr>
              <a:t>ThS. Nguyễn Hữu Lợi</a:t>
            </a:r>
          </a:p>
          <a:p>
            <a:r>
              <a:rPr lang="en-US"/>
              <a:t>KS. Cao Bá Kiệt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6245FF-8586-4FD3-AA10-1C3CFDBB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AB2436-AE32-4F97-9433-3C45DDE9A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53523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B7DD22-C6B4-4319-B28A-4C0FF1A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9D9001-EB26-4768-B1A1-F98ECEDB5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>
                <a:solidFill>
                  <a:srgbClr val="0066FF"/>
                </a:solidFill>
              </a:rPr>
              <a:t>Tên tập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: Position Salaries.</a:t>
            </a:r>
          </a:p>
          <a:p>
            <a:pPr algn="just"/>
            <a:r>
              <a:rPr lang="en-US" sz="2800" dirty="0" err="1">
                <a:solidFill>
                  <a:srgbClr val="FF0000"/>
                </a:solidFill>
              </a:rPr>
              <a:t>Nguồn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>
                <a:hlinkClick r:id="rId2"/>
              </a:rPr>
              <a:t>https://www.superdatascience.com/pages/machine-learning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 10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, </a:t>
            </a:r>
            <a:r>
              <a:rPr lang="en-US" sz="2800" dirty="0" err="1">
                <a:solidFill>
                  <a:srgbClr val="0066FF"/>
                </a:solidFill>
              </a:rPr>
              <a:t>mỗi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 3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, </a:t>
            </a:r>
            <a:r>
              <a:rPr lang="en-US" sz="2800" dirty="0" err="1">
                <a:solidFill>
                  <a:srgbClr val="0066FF"/>
                </a:solidFill>
              </a:rPr>
              <a:t>gồm</a:t>
            </a:r>
            <a:r>
              <a:rPr lang="en-US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Vị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trí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công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việc</a:t>
            </a:r>
            <a:r>
              <a:rPr lang="en-US" sz="2800" dirty="0">
                <a:solidFill>
                  <a:srgbClr val="FF0000"/>
                </a:solidFill>
              </a:rPr>
              <a:t> (Position): </a:t>
            </a:r>
            <a:r>
              <a:rPr lang="en-US" sz="2800" dirty="0" err="1">
                <a:solidFill>
                  <a:srgbClr val="FF0000"/>
                </a:solidFill>
              </a:rPr>
              <a:t>mô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tả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tên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công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việc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en-US" sz="2800" dirty="0" err="1">
                <a:solidFill>
                  <a:srgbClr val="0066FF"/>
                </a:solidFill>
              </a:rPr>
              <a:t>Cấp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bậc</a:t>
            </a:r>
            <a:r>
              <a:rPr lang="en-US" sz="2800" dirty="0">
                <a:solidFill>
                  <a:srgbClr val="0066FF"/>
                </a:solidFill>
              </a:rPr>
              <a:t> (Level): </a:t>
            </a:r>
            <a:r>
              <a:rPr lang="en-US" sz="2800" dirty="0" err="1">
                <a:solidFill>
                  <a:srgbClr val="0066FF"/>
                </a:solidFill>
              </a:rPr>
              <a:t>là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một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nguyên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trong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khoảng</a:t>
            </a:r>
            <a:r>
              <a:rPr lang="en-US" sz="2800" dirty="0">
                <a:solidFill>
                  <a:srgbClr val="0066FF"/>
                </a:solidFill>
              </a:rPr>
              <a:t> 1 – 10,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ứng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với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vị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trí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cao</a:t>
            </a:r>
            <a:r>
              <a:rPr lang="en-US" sz="2800" dirty="0">
                <a:solidFill>
                  <a:srgbClr val="0066FF"/>
                </a:solidFill>
              </a:rPr>
              <a:t> hay </a:t>
            </a:r>
            <a:r>
              <a:rPr lang="en-US" sz="2800" dirty="0" err="1">
                <a:solidFill>
                  <a:srgbClr val="0066FF"/>
                </a:solidFill>
              </a:rPr>
              <a:t>thấp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trong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một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công</a:t>
            </a:r>
            <a:r>
              <a:rPr lang="en-US" sz="2800" dirty="0">
                <a:solidFill>
                  <a:srgbClr val="0066FF"/>
                </a:solidFill>
              </a:rPr>
              <a:t> ty.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Mức</a:t>
            </a:r>
            <a:r>
              <a:rPr lang="en-US" sz="2800" dirty="0">
                <a:solidFill>
                  <a:srgbClr val="FF0000"/>
                </a:solidFill>
              </a:rPr>
              <a:t> l</a:t>
            </a:r>
            <a:r>
              <a:rPr lang="vi-VN" sz="2800" dirty="0">
                <a:solidFill>
                  <a:srgbClr val="FF0000"/>
                </a:solidFill>
              </a:rPr>
              <a:t>ư</a:t>
            </a:r>
            <a:r>
              <a:rPr lang="en-US" sz="2800" dirty="0" err="1">
                <a:solidFill>
                  <a:srgbClr val="FF0000"/>
                </a:solidFill>
              </a:rPr>
              <a:t>ơng</a:t>
            </a:r>
            <a:r>
              <a:rPr lang="en-US" sz="2800" dirty="0">
                <a:solidFill>
                  <a:srgbClr val="FF0000"/>
                </a:solidFill>
              </a:rPr>
              <a:t> (Salary): </a:t>
            </a:r>
            <a:r>
              <a:rPr lang="en-US" sz="2800" dirty="0" err="1">
                <a:solidFill>
                  <a:srgbClr val="FF0000"/>
                </a:solidFill>
              </a:rPr>
              <a:t>là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một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số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thực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>
                <a:solidFill>
                  <a:srgbClr val="FF0000"/>
                </a:solidFill>
              </a:rPr>
              <a:t>ư</a:t>
            </a:r>
            <a:r>
              <a:rPr lang="en-US" sz="2800" dirty="0" err="1">
                <a:solidFill>
                  <a:srgbClr val="FF0000"/>
                </a:solidFill>
              </a:rPr>
              <a:t>ơng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  <a:endParaRPr lang="vi-V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100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0677" y="1596887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0677" y="1596887"/>
              <a:ext cx="552831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349692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100840" r="-122826" b="-4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100840" r="-1802" b="-4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200840" r="-122826" b="-3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200840" r="-1802" b="-3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300840" r="-122826" b="-2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300840" r="-1802" b="-2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400840" r="-12282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400840" r="-180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3370" t="-500840" r="-122826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459" t="-500840" r="-180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id="{76BB3A3E-4B74-473E-A2D6-7732B109B3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343014" y="1596887"/>
              <a:ext cx="584898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670368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id="{76BB3A3E-4B74-473E-A2D6-7732B109B3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343014" y="1596887"/>
              <a:ext cx="584898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54668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12395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670368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100840" r="-150811" b="-4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100840" r="-1825" b="-4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200840" r="-150811" b="-3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200840" r="-1825" b="-3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300840" r="-150811" b="-2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300840" r="-1825" b="-2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400840" r="-15081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400840" r="-1825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351" t="-500840" r="-150811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730" t="-500840" r="-1825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0998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A5CF-B133-45B8-92E1-DFB15218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2BE34-1D49-4D84-A007-96C22B90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4000" dirty="0" err="1">
                <a:solidFill>
                  <a:srgbClr val="0066FF"/>
                </a:solidFill>
              </a:rPr>
              <a:t>Bài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toán</a:t>
            </a:r>
            <a:r>
              <a:rPr lang="en-US" sz="4000" dirty="0">
                <a:solidFill>
                  <a:srgbClr val="0066FF"/>
                </a:solidFill>
              </a:rPr>
              <a:t>: </a:t>
            </a:r>
            <a:r>
              <a:rPr lang="en-US" sz="4000" dirty="0" err="1">
                <a:solidFill>
                  <a:srgbClr val="0066FF"/>
                </a:solidFill>
              </a:rPr>
              <a:t>Dự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đoán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mức</a:t>
            </a:r>
            <a:r>
              <a:rPr lang="en-US" sz="4000" dirty="0">
                <a:solidFill>
                  <a:srgbClr val="0066FF"/>
                </a:solidFill>
              </a:rPr>
              <a:t> l</a:t>
            </a:r>
            <a:r>
              <a:rPr lang="vi-VN" sz="4000" dirty="0">
                <a:solidFill>
                  <a:srgbClr val="0066FF"/>
                </a:solidFill>
              </a:rPr>
              <a:t>ư</a:t>
            </a:r>
            <a:r>
              <a:rPr lang="en-US" sz="4000" dirty="0" err="1">
                <a:solidFill>
                  <a:srgbClr val="0066FF"/>
                </a:solidFill>
              </a:rPr>
              <a:t>ơng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của</a:t>
            </a:r>
            <a:r>
              <a:rPr lang="en-US" sz="4000" dirty="0">
                <a:solidFill>
                  <a:srgbClr val="0066FF"/>
                </a:solidFill>
              </a:rPr>
              <a:t> </a:t>
            </a:r>
            <a:r>
              <a:rPr lang="en-US" sz="4000" dirty="0" err="1">
                <a:solidFill>
                  <a:srgbClr val="0066FF"/>
                </a:solidFill>
              </a:rPr>
              <a:t>một</a:t>
            </a:r>
            <a:r>
              <a:rPr lang="en-US" sz="4000" dirty="0">
                <a:solidFill>
                  <a:srgbClr val="0066FF"/>
                </a:solidFill>
              </a:rPr>
              <a:t> ng</a:t>
            </a:r>
            <a:r>
              <a:rPr lang="vi-VN" sz="4000" dirty="0" err="1">
                <a:solidFill>
                  <a:srgbClr val="0066FF"/>
                </a:solidFill>
              </a:rPr>
              <a:t>ười</a:t>
            </a:r>
            <a:r>
              <a:rPr lang="vi-VN" sz="4000" dirty="0">
                <a:solidFill>
                  <a:srgbClr val="0066FF"/>
                </a:solidFill>
              </a:rPr>
              <a:t> khi </a:t>
            </a:r>
            <a:r>
              <a:rPr lang="vi-VN" sz="4000" dirty="0" err="1">
                <a:solidFill>
                  <a:srgbClr val="0066FF"/>
                </a:solidFill>
              </a:rPr>
              <a:t>biết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được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cấp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độ</a:t>
            </a:r>
            <a:r>
              <a:rPr lang="vi-VN" sz="4000" dirty="0">
                <a:solidFill>
                  <a:srgbClr val="0066FF"/>
                </a:solidFill>
              </a:rPr>
              <a:t> (</a:t>
            </a:r>
            <a:r>
              <a:rPr lang="vi-VN" sz="4000" dirty="0" err="1">
                <a:solidFill>
                  <a:srgbClr val="0066FF"/>
                </a:solidFill>
              </a:rPr>
              <a:t>vị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trí</a:t>
            </a:r>
            <a:r>
              <a:rPr lang="vi-VN" sz="4000" dirty="0">
                <a:solidFill>
                  <a:srgbClr val="0066FF"/>
                </a:solidFill>
              </a:rPr>
              <a:t>) công </a:t>
            </a:r>
            <a:r>
              <a:rPr lang="vi-VN" sz="4000" dirty="0" err="1">
                <a:solidFill>
                  <a:srgbClr val="0066FF"/>
                </a:solidFill>
              </a:rPr>
              <a:t>việc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dirty="0" err="1">
                <a:solidFill>
                  <a:srgbClr val="0066FF"/>
                </a:solidFill>
              </a:rPr>
              <a:t>của</a:t>
            </a:r>
            <a:r>
              <a:rPr lang="vi-VN" sz="4000" dirty="0">
                <a:solidFill>
                  <a:srgbClr val="0066FF"/>
                </a:solidFill>
              </a:rPr>
              <a:t> </a:t>
            </a:r>
            <a:r>
              <a:rPr lang="vi-VN" sz="4000" err="1">
                <a:solidFill>
                  <a:srgbClr val="0066FF"/>
                </a:solidFill>
              </a:rPr>
              <a:t>người</a:t>
            </a:r>
            <a:r>
              <a:rPr lang="vi-VN" sz="4000">
                <a:solidFill>
                  <a:srgbClr val="0066FF"/>
                </a:solidFill>
              </a:rPr>
              <a:t> đó</a:t>
            </a:r>
            <a:r>
              <a:rPr lang="en-US" sz="4000">
                <a:solidFill>
                  <a:srgbClr val="0066FF"/>
                </a:solidFill>
              </a:rPr>
              <a:t> bằng cách sử dụng thuật toán cây quyết định hồi quy – </a:t>
            </a:r>
            <a:r>
              <a:rPr lang="vi-VN" sz="4000"/>
              <a:t>decision tree regression</a:t>
            </a:r>
            <a:r>
              <a:rPr lang="vi-VN" sz="4000">
                <a:solidFill>
                  <a:srgbClr val="0066FF"/>
                </a:solidFill>
              </a:rPr>
              <a:t>.</a:t>
            </a:r>
            <a:endParaRPr lang="vi-V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14716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0B80F6-C754-4347-A3DD-1147B985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0BC81-DABB-45E0-B3FE-4876298D2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896937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10E0B-7938-4C48-BDBD-57A04B81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5E521-B5D3-4ED0-BC72-E24304E6B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0066FF"/>
                </a:solidFill>
              </a:rPr>
              <a:t>Đọc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từ</a:t>
            </a:r>
            <a:r>
              <a:rPr lang="en-US" sz="2800" dirty="0">
                <a:solidFill>
                  <a:srgbClr val="0066FF"/>
                </a:solidFill>
              </a:rPr>
              <a:t> file csv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phân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tách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giá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err="1">
                <a:solidFill>
                  <a:srgbClr val="0066FF"/>
                </a:solidFill>
              </a:rPr>
              <a:t>trị</a:t>
            </a:r>
            <a:r>
              <a:rPr lang="en-US" sz="2800">
                <a:solidFill>
                  <a:srgbClr val="0066FF"/>
                </a:solidFill>
              </a:rPr>
              <a:t> 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Giá trị đầu </a:t>
            </a:r>
            <a:r>
              <a:rPr lang="en-US" dirty="0" err="1">
                <a:solidFill>
                  <a:srgbClr val="FF0000"/>
                </a:solidFill>
              </a:rPr>
              <a:t>vào</a:t>
            </a:r>
            <a:r>
              <a:rPr lang="en-US" dirty="0">
                <a:solidFill>
                  <a:srgbClr val="FF0000"/>
                </a:solidFill>
              </a:rPr>
              <a:t> – </a:t>
            </a:r>
            <a:r>
              <a:rPr lang="en-US" dirty="0" err="1">
                <a:solidFill>
                  <a:srgbClr val="FF0000"/>
                </a:solidFill>
              </a:rPr>
              <a:t>ký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là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X.</a:t>
            </a:r>
          </a:p>
          <a:p>
            <a:pPr lvl="1"/>
            <a:r>
              <a:rPr lang="en-US">
                <a:solidFill>
                  <a:srgbClr val="0066FF"/>
                </a:solidFill>
              </a:rPr>
              <a:t>Giá trị </a:t>
            </a:r>
            <a:r>
              <a:rPr lang="en-US" dirty="0" err="1">
                <a:solidFill>
                  <a:srgbClr val="0066FF"/>
                </a:solidFill>
              </a:rPr>
              <a:t>đầu</a:t>
            </a:r>
            <a:r>
              <a:rPr lang="en-US" dirty="0">
                <a:solidFill>
                  <a:srgbClr val="0066FF"/>
                </a:solidFill>
              </a:rPr>
              <a:t> ra – </a:t>
            </a:r>
            <a:r>
              <a:rPr lang="en-US" dirty="0" err="1">
                <a:solidFill>
                  <a:srgbClr val="0066FF"/>
                </a:solidFill>
              </a:rPr>
              <a:t>ký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hiệu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 err="1">
                <a:solidFill>
                  <a:srgbClr val="0066FF"/>
                </a:solidFill>
              </a:rPr>
              <a:t>là</a:t>
            </a:r>
            <a:r>
              <a:rPr lang="en-US" dirty="0">
                <a:solidFill>
                  <a:srgbClr val="0066FF"/>
                </a:solidFill>
              </a:rPr>
              <a:t> </a:t>
            </a:r>
            <a:r>
              <a:rPr lang="en-US" dirty="0">
                <a:solidFill>
                  <a:srgbClr val="0066FF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66FF"/>
                </a:solidFill>
              </a:rPr>
              <a:t>.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pandas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endParaRPr lang="vi-V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dataset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pd.read_csv</a:t>
            </a:r>
            <a:r>
              <a:rPr lang="vi-VN" sz="2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("Position_Salaries.csv")</a:t>
            </a:r>
          </a:p>
          <a:p>
            <a:pPr marL="514350" indent="-514350">
              <a:buFont typeface="+mj-lt"/>
              <a:buAutoNum type="arabicPeriod"/>
            </a:pPr>
            <a:r>
              <a:rPr lang="fi-FI" sz="280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= dataset.iloc[:, </a:t>
            </a:r>
            <a:r>
              <a:rPr lang="fi-FI" sz="28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:-</a:t>
            </a:r>
            <a:r>
              <a:rPr lang="fi-FI" sz="28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fi-FI" sz="2800" dirty="0">
                <a:solidFill>
                  <a:srgbClr val="000000"/>
                </a:solidFill>
                <a:latin typeface="Consolas" panose="020B0609020204030204" pitchFamily="49" charset="0"/>
              </a:rPr>
              <a:t>].values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s-E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dataset.iloc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[:, -</a:t>
            </a:r>
            <a:r>
              <a:rPr lang="es-ES" sz="28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s-E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values.reshape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(-1,1)</a:t>
            </a:r>
          </a:p>
        </p:txBody>
      </p:sp>
    </p:spTree>
    <p:extLst>
      <p:ext uri="{BB962C8B-B14F-4D97-AF65-F5344CB8AC3E}">
        <p14:creationId xmlns:p14="http://schemas.microsoft.com/office/powerpoint/2010/main" val="7899940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10E0B-7938-4C48-BDBD-57A04B81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79A075-3658-4F3B-BD9F-6F50B7BE7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21136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E354-E15B-4710-81D7-005E1A37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Trực quan hóa dữ liệu</a:t>
            </a:r>
            <a:endParaRPr lang="vi-V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707FB7-5AF2-44DC-81B2-CABB39C13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112" y="1705769"/>
            <a:ext cx="58197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544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A5850-EC2D-436A-B0C2-CCF71C19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CEC87-E9EA-428E-87EC-557802235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Ta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(level, salary)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mặt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phẳng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tọa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độ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để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xem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xét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giữa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cấp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độ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công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việc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dirty="0"/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s-ES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.scatter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s-ES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"Position Level vs Salary"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plt.xlabel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Position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31515"/>
                </a:solidFill>
                <a:latin typeface="Consolas" panose="020B0609020204030204" pitchFamily="49" charset="0"/>
              </a:rPr>
              <a:t>Level</a:t>
            </a:r>
            <a:r>
              <a:rPr lang="vi-V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plt.ylabel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"Salary (dollars/year)"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6833837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E354-E15B-4710-81D7-005E1A37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6937B-AFF2-4E54-8A2E-326C1C1BA2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rgbClr val="0066FF"/>
                </a:solidFill>
              </a:rPr>
              <a:t>Nhận xét dữ liệu:</a:t>
            </a:r>
          </a:p>
          <a:p>
            <a:pPr lvl="1" algn="just"/>
            <a:r>
              <a:rPr lang="en-US">
                <a:solidFill>
                  <a:srgbClr val="FF0000"/>
                </a:solidFill>
              </a:rPr>
              <a:t>Tập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này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dạng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một</a:t>
            </a:r>
            <a:r>
              <a:rPr lang="en-US" dirty="0">
                <a:solidFill>
                  <a:srgbClr val="FF0000"/>
                </a:solidFill>
              </a:rPr>
              <a:t> đ</a:t>
            </a:r>
            <a:r>
              <a:rPr lang="vi-VN" dirty="0" err="1">
                <a:solidFill>
                  <a:srgbClr val="FF0000"/>
                </a:solidFill>
              </a:rPr>
              <a:t>ường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thẳng</a:t>
            </a:r>
            <a:r>
              <a:rPr lang="vi-VN" dirty="0">
                <a:solidFill>
                  <a:srgbClr val="FF0000"/>
                </a:solidFill>
              </a:rPr>
              <a:t>. </a:t>
            </a:r>
          </a:p>
          <a:p>
            <a:pPr lvl="1" algn="just"/>
            <a:r>
              <a:rPr lang="vi-VN" dirty="0"/>
              <a:t>Do </a:t>
            </a:r>
            <a:r>
              <a:rPr lang="vi-VN" dirty="0" err="1"/>
              <a:t>đó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r>
              <a:rPr lang="vi-VN" dirty="0"/>
              <a:t> </a:t>
            </a:r>
            <a:r>
              <a:rPr lang="vi-VN" dirty="0" err="1"/>
              <a:t>sẽ</a:t>
            </a:r>
            <a:r>
              <a:rPr lang="vi-VN" dirty="0"/>
              <a:t> không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tốt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E57378-1C58-46D1-9B70-0D6919028B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23961"/>
            <a:ext cx="5384800" cy="38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923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568D77-CC83-465A-92C4-A75DDA9F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 dữ liệu: Nạp Thư Viện &amp; Chuẩn Bị Dữ Liệu (In [1])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B7C16-F904-4B34-AE22-0DF00458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Nạp các thư viện Scikit-Learn và tập dữ liệu Position_Salaries.csv (In [1]):</a:t>
            </a:r>
            <a:endParaRPr lang="vi-VN"/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sklearn.tree import DecisionTreeRegressor, plot_tree, export_text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r2_score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 = pd.read_csv('Position_Salaries.csv')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 = dataset.iloc[:, 1:2].values  # Level (Ma trận 2D shape: 10, 1)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 = dataset.iloc[:, 2].values    # Salary (Mảng 1D)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dataset.head()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Lưu ý: Cây quyết định KHÔNG yêu cầu chuẩn hóa đặc trưng (Feature Scaling) vì thuật toán phân nhánh dựa trên các ngưỡng so sánh độc lập.</a:t>
            </a:r>
          </a:p>
        </p:txBody>
      </p:sp>
    </p:spTree>
    <p:extLst>
      <p:ext uri="{BB962C8B-B14F-4D97-AF65-F5344CB8AC3E}">
        <p14:creationId xmlns:p14="http://schemas.microsoft.com/office/powerpoint/2010/main" val="79848049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568D77-CC83-465A-92C4-A75DDA9F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AD45D-A25D-4067-946E-32DFADB29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mở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đầu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solidFill>
                  <a:srgbClr val="0066FF"/>
                </a:solidFill>
              </a:rPr>
              <a:t>Sắp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đến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kỳ</a:t>
            </a:r>
            <a:r>
              <a:rPr lang="vi-VN" sz="2800" dirty="0">
                <a:solidFill>
                  <a:srgbClr val="0066FF"/>
                </a:solidFill>
              </a:rPr>
              <a:t> thi,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cậu</a:t>
            </a:r>
            <a:r>
              <a:rPr lang="vi-VN" sz="2800" dirty="0">
                <a:solidFill>
                  <a:srgbClr val="0066FF"/>
                </a:solidFill>
              </a:rPr>
              <a:t> sinh viên </a:t>
            </a:r>
            <a:r>
              <a:rPr lang="vi-VN" sz="2800" dirty="0" err="1">
                <a:solidFill>
                  <a:srgbClr val="0066FF"/>
                </a:solidFill>
              </a:rPr>
              <a:t>tự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đặt</a:t>
            </a:r>
            <a:r>
              <a:rPr lang="vi-VN" sz="2800" dirty="0">
                <a:solidFill>
                  <a:srgbClr val="0066FF"/>
                </a:solidFill>
              </a:rPr>
              <a:t> ra quy </a:t>
            </a:r>
            <a:r>
              <a:rPr lang="vi-VN" sz="2800" dirty="0" err="1">
                <a:solidFill>
                  <a:srgbClr val="0066FF"/>
                </a:solidFill>
              </a:rPr>
              <a:t>tắc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i="1" dirty="0" err="1">
                <a:solidFill>
                  <a:schemeClr val="tx1"/>
                </a:solidFill>
                <a:highlight>
                  <a:srgbClr val="00FFFF"/>
                </a:highlight>
              </a:rPr>
              <a:t>học</a:t>
            </a:r>
            <a:r>
              <a:rPr lang="vi-VN" sz="2800" dirty="0">
                <a:solidFill>
                  <a:srgbClr val="0066FF"/>
                </a:solidFill>
              </a:rPr>
              <a:t> hay </a:t>
            </a:r>
            <a:r>
              <a:rPr lang="vi-VN" sz="2800" i="1" dirty="0">
                <a:solidFill>
                  <a:schemeClr val="tx1"/>
                </a:solidFill>
                <a:highlight>
                  <a:srgbClr val="00FFFF"/>
                </a:highlight>
              </a:rPr>
              <a:t>chơi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mình</a:t>
            </a:r>
            <a:r>
              <a:rPr lang="vi-VN" sz="2800" dirty="0">
                <a:solidFill>
                  <a:srgbClr val="0066FF"/>
                </a:solidFill>
              </a:rPr>
              <a:t> như sau: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Nếu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nhiều</a:t>
            </a:r>
            <a:r>
              <a:rPr lang="vi-VN" sz="2800" dirty="0">
                <a:solidFill>
                  <a:srgbClr val="FF0000"/>
                </a:solidFill>
              </a:rPr>
              <a:t> hơn hai </a:t>
            </a:r>
            <a:r>
              <a:rPr lang="vi-VN" sz="2800" dirty="0" err="1">
                <a:solidFill>
                  <a:srgbClr val="FF0000"/>
                </a:solidFill>
              </a:rPr>
              <a:t>ngày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ngày</a:t>
            </a:r>
            <a:r>
              <a:rPr lang="vi-VN" sz="2800" dirty="0">
                <a:solidFill>
                  <a:srgbClr val="FF0000"/>
                </a:solidFill>
              </a:rPr>
              <a:t> thi, </a:t>
            </a:r>
            <a:r>
              <a:rPr lang="vi-VN" sz="2800" dirty="0" err="1">
                <a:solidFill>
                  <a:srgbClr val="FF0000"/>
                </a:solidFill>
              </a:rPr>
              <a:t>cậu</a:t>
            </a:r>
            <a:r>
              <a:rPr lang="vi-VN" sz="2800" dirty="0">
                <a:solidFill>
                  <a:srgbClr val="FF0000"/>
                </a:solidFill>
              </a:rPr>
              <a:t> ta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đi chơi. 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Nếu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còn</a:t>
            </a:r>
            <a:r>
              <a:rPr lang="vi-VN" sz="2800" dirty="0">
                <a:solidFill>
                  <a:srgbClr val="0066FF"/>
                </a:solidFill>
              </a:rPr>
              <a:t> không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hai </a:t>
            </a:r>
            <a:r>
              <a:rPr lang="vi-VN" sz="2800" dirty="0" err="1">
                <a:solidFill>
                  <a:srgbClr val="0066FF"/>
                </a:solidFill>
              </a:rPr>
              <a:t>ngày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đêm hôm </a:t>
            </a:r>
            <a:r>
              <a:rPr lang="vi-VN" sz="2800" dirty="0" err="1">
                <a:solidFill>
                  <a:srgbClr val="0066FF"/>
                </a:solidFill>
              </a:rPr>
              <a:t>đó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một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đá</a:t>
            </a:r>
            <a:r>
              <a:rPr lang="vi-VN" sz="2800" dirty="0">
                <a:solidFill>
                  <a:srgbClr val="0066FF"/>
                </a:solidFill>
              </a:rPr>
              <a:t>, </a:t>
            </a:r>
            <a:r>
              <a:rPr lang="vi-VN" sz="2800" dirty="0" err="1">
                <a:solidFill>
                  <a:srgbClr val="0066FF"/>
                </a:solidFill>
              </a:rPr>
              <a:t>cậu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sẽ</a:t>
            </a:r>
            <a:r>
              <a:rPr lang="vi-VN" sz="2800" dirty="0">
                <a:solidFill>
                  <a:srgbClr val="0066FF"/>
                </a:solidFill>
              </a:rPr>
              <a:t> sang </a:t>
            </a:r>
            <a:r>
              <a:rPr lang="vi-VN" sz="2800" dirty="0" err="1">
                <a:solidFill>
                  <a:srgbClr val="0066FF"/>
                </a:solidFill>
              </a:rPr>
              <a:t>nhà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bạn</a:t>
            </a:r>
            <a:r>
              <a:rPr lang="vi-VN" sz="2800" dirty="0">
                <a:solidFill>
                  <a:srgbClr val="0066FF"/>
                </a:solidFill>
              </a:rPr>
              <a:t> chơi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cùng</a:t>
            </a:r>
            <a:r>
              <a:rPr lang="vi-VN" sz="2800" dirty="0">
                <a:solidFill>
                  <a:srgbClr val="0066FF"/>
                </a:solidFill>
              </a:rPr>
              <a:t> xem </a:t>
            </a:r>
            <a:r>
              <a:rPr lang="vi-VN" sz="2800" dirty="0" err="1">
                <a:solidFill>
                  <a:srgbClr val="0066FF"/>
                </a:solidFill>
              </a:rPr>
              <a:t>trận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bóng</a:t>
            </a:r>
            <a:r>
              <a:rPr lang="vi-VN" sz="2800" dirty="0">
                <a:solidFill>
                  <a:srgbClr val="0066FF"/>
                </a:solidFill>
              </a:rPr>
              <a:t> đêm </a:t>
            </a:r>
            <a:r>
              <a:rPr lang="vi-VN" sz="2800" dirty="0" err="1">
                <a:solidFill>
                  <a:srgbClr val="0066FF"/>
                </a:solidFill>
              </a:rPr>
              <a:t>đó</a:t>
            </a:r>
            <a:r>
              <a:rPr lang="vi-VN" sz="2800" dirty="0">
                <a:solidFill>
                  <a:srgbClr val="0066FF"/>
                </a:solidFill>
              </a:rPr>
              <a:t>. 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Cậu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sẽ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chỉ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học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các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trường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hợp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còn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lại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523676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568D77-CC83-465A-92C4-A75DDA9F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endParaRPr lang="vi-VN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D3704CB-E960-49D7-B279-6EBE71A3EC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Việc</a:t>
            </a:r>
            <a:r>
              <a:rPr lang="vi-VN" dirty="0">
                <a:solidFill>
                  <a:srgbClr val="0066FF"/>
                </a:solidFill>
              </a:rPr>
              <a:t> ra </a:t>
            </a:r>
            <a:r>
              <a:rPr lang="vi-VN" dirty="0" err="1">
                <a:solidFill>
                  <a:srgbClr val="0066FF"/>
                </a:solidFill>
              </a:rPr>
              <a:t>quyết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định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của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cậu</a:t>
            </a:r>
            <a:r>
              <a:rPr lang="vi-VN" dirty="0">
                <a:solidFill>
                  <a:srgbClr val="0066FF"/>
                </a:solidFill>
              </a:rPr>
              <a:t> sinh viên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thể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được</a:t>
            </a:r>
            <a:r>
              <a:rPr lang="vi-VN" dirty="0">
                <a:solidFill>
                  <a:srgbClr val="0066FF"/>
                </a:solidFill>
              </a:rPr>
              <a:t> mô </a:t>
            </a:r>
            <a:r>
              <a:rPr lang="vi-VN" dirty="0" err="1">
                <a:solidFill>
                  <a:srgbClr val="0066FF"/>
                </a:solidFill>
              </a:rPr>
              <a:t>tả</a:t>
            </a:r>
            <a:r>
              <a:rPr lang="vi-VN" dirty="0">
                <a:solidFill>
                  <a:srgbClr val="0066FF"/>
                </a:solidFill>
              </a:rPr>
              <a:t> trên sơ </a:t>
            </a:r>
            <a:r>
              <a:rPr lang="vi-VN" dirty="0" err="1">
                <a:solidFill>
                  <a:srgbClr val="0066FF"/>
                </a:solidFill>
              </a:rPr>
              <a:t>đồ</a:t>
            </a:r>
            <a:r>
              <a:rPr lang="vi-VN" dirty="0">
                <a:solidFill>
                  <a:srgbClr val="0066FF"/>
                </a:solidFill>
              </a:rPr>
              <a:t> sau.</a:t>
            </a:r>
          </a:p>
          <a:p>
            <a:pPr algn="just"/>
            <a:r>
              <a:rPr lang="vi-VN" dirty="0">
                <a:solidFill>
                  <a:srgbClr val="FF0000"/>
                </a:solidFill>
              </a:rPr>
              <a:t>Sơ </a:t>
            </a:r>
            <a:r>
              <a:rPr lang="vi-VN" dirty="0" err="1">
                <a:solidFill>
                  <a:srgbClr val="FF0000"/>
                </a:solidFill>
              </a:rPr>
              <a:t>đồ</a:t>
            </a:r>
            <a:r>
              <a:rPr lang="vi-VN" dirty="0">
                <a:solidFill>
                  <a:srgbClr val="FF0000"/>
                </a:solidFill>
              </a:rPr>
              <a:t> trong </a:t>
            </a:r>
            <a:r>
              <a:rPr lang="vi-VN" dirty="0" err="1">
                <a:solidFill>
                  <a:srgbClr val="FF0000"/>
                </a:solidFill>
              </a:rPr>
              <a:t>hình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được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gọi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là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một</a:t>
            </a:r>
            <a:r>
              <a:rPr lang="vi-VN" dirty="0">
                <a:solidFill>
                  <a:srgbClr val="FF0000"/>
                </a:solidFill>
              </a:rPr>
              <a:t> cây </a:t>
            </a:r>
            <a:r>
              <a:rPr lang="vi-VN" dirty="0" err="1">
                <a:solidFill>
                  <a:srgbClr val="FF0000"/>
                </a:solidFill>
              </a:rPr>
              <a:t>quyết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định</a:t>
            </a:r>
            <a:r>
              <a:rPr lang="vi-VN" dirty="0">
                <a:solidFill>
                  <a:srgbClr val="FF0000"/>
                </a:solidFill>
              </a:rPr>
              <a:t>. </a:t>
            </a:r>
            <a:r>
              <a:rPr lang="vi-VN" dirty="0" err="1">
                <a:solidFill>
                  <a:srgbClr val="FF0000"/>
                </a:solidFill>
              </a:rPr>
              <a:t>Cụ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thể</a:t>
            </a:r>
            <a:r>
              <a:rPr lang="vi-VN" dirty="0">
                <a:solidFill>
                  <a:srgbClr val="FF0000"/>
                </a:solidFill>
              </a:rPr>
              <a:t> hơn </a:t>
            </a:r>
            <a:r>
              <a:rPr lang="vi-VN" dirty="0" err="1">
                <a:solidFill>
                  <a:srgbClr val="FF0000"/>
                </a:solidFill>
              </a:rPr>
              <a:t>là</a:t>
            </a:r>
            <a:r>
              <a:rPr lang="vi-VN" dirty="0">
                <a:solidFill>
                  <a:srgbClr val="FF0000"/>
                </a:solidFill>
              </a:rPr>
              <a:t> cây </a:t>
            </a:r>
            <a:r>
              <a:rPr lang="vi-VN" dirty="0" err="1">
                <a:solidFill>
                  <a:srgbClr val="FF0000"/>
                </a:solidFill>
              </a:rPr>
              <a:t>quyết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định</a:t>
            </a:r>
            <a:r>
              <a:rPr lang="vi-VN" dirty="0">
                <a:solidFill>
                  <a:srgbClr val="FF0000"/>
                </a:solidFill>
              </a:rPr>
              <a:t> phân </a:t>
            </a:r>
            <a:r>
              <a:rPr lang="vi-VN" dirty="0" err="1">
                <a:solidFill>
                  <a:srgbClr val="FF0000"/>
                </a:solidFill>
              </a:rPr>
              <a:t>loại</a:t>
            </a:r>
            <a:r>
              <a:rPr lang="vi-VN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56ACBD-80B4-496E-9D2D-C3A5170305DD}"/>
              </a:ext>
            </a:extLst>
          </p:cNvPr>
          <p:cNvSpPr/>
          <p:nvPr/>
        </p:nvSpPr>
        <p:spPr>
          <a:xfrm>
            <a:off x="6282267" y="1236199"/>
            <a:ext cx="2819400" cy="1447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 err="1"/>
              <a:t>Thời</a:t>
            </a:r>
            <a:r>
              <a:rPr lang="vi-VN" sz="2800" dirty="0"/>
              <a:t> gian </a:t>
            </a:r>
            <a:r>
              <a:rPr lang="vi-VN" sz="2800" dirty="0" err="1"/>
              <a:t>đến</a:t>
            </a:r>
            <a:r>
              <a:rPr lang="vi-VN" sz="2800" dirty="0"/>
              <a:t> </a:t>
            </a:r>
            <a:r>
              <a:rPr lang="vi-VN" sz="2800" dirty="0" err="1"/>
              <a:t>ngày</a:t>
            </a:r>
            <a:r>
              <a:rPr lang="vi-VN" sz="2800" dirty="0"/>
              <a:t> thi </a:t>
            </a:r>
            <a:r>
              <a:rPr lang="vi-VN" sz="2800" dirty="0" err="1"/>
              <a:t>lớn</a:t>
            </a:r>
            <a:r>
              <a:rPr lang="vi-VN" sz="2800" dirty="0"/>
              <a:t> hơn 2 </a:t>
            </a:r>
            <a:r>
              <a:rPr lang="vi-VN" sz="2800" dirty="0" err="1"/>
              <a:t>ngày</a:t>
            </a:r>
            <a:r>
              <a:rPr lang="vi-VN" sz="2800" dirty="0"/>
              <a:t>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52C5B1-759B-4CBF-8653-731AEFD82494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6891867" y="2683999"/>
            <a:ext cx="800100" cy="68911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3BB54C-B6DE-4688-BFAF-923D62756A9F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691967" y="2683999"/>
            <a:ext cx="889000" cy="68911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9CD995B-2CCA-4024-BFFA-44C1FC11BD0E}"/>
              </a:ext>
            </a:extLst>
          </p:cNvPr>
          <p:cNvSpPr/>
          <p:nvPr/>
        </p:nvSpPr>
        <p:spPr>
          <a:xfrm>
            <a:off x="5971117" y="3373112"/>
            <a:ext cx="1428750" cy="10287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Chơi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91A0CEF-8A82-4049-BA33-4516BF64C344}"/>
              </a:ext>
            </a:extLst>
          </p:cNvPr>
          <p:cNvSpPr/>
          <p:nvPr/>
        </p:nvSpPr>
        <p:spPr>
          <a:xfrm>
            <a:off x="8536517" y="3260564"/>
            <a:ext cx="2362200" cy="125729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 err="1"/>
              <a:t>Có</a:t>
            </a:r>
            <a:r>
              <a:rPr lang="vi-VN" sz="2800" dirty="0"/>
              <a:t> </a:t>
            </a:r>
            <a:r>
              <a:rPr lang="vi-VN" sz="2800" dirty="0" err="1"/>
              <a:t>trận</a:t>
            </a:r>
            <a:r>
              <a:rPr lang="vi-VN" sz="2800" dirty="0"/>
              <a:t> </a:t>
            </a:r>
            <a:r>
              <a:rPr lang="vi-VN" sz="2800" dirty="0" err="1"/>
              <a:t>bóng</a:t>
            </a:r>
            <a:r>
              <a:rPr lang="vi-VN" sz="2800" dirty="0"/>
              <a:t> </a:t>
            </a:r>
            <a:r>
              <a:rPr lang="vi-VN" sz="2800" dirty="0" err="1"/>
              <a:t>đá</a:t>
            </a:r>
            <a:r>
              <a:rPr lang="vi-VN" sz="2800" dirty="0"/>
              <a:t> </a:t>
            </a:r>
            <a:r>
              <a:rPr lang="vi-VN" sz="2800" dirty="0" err="1"/>
              <a:t>vào</a:t>
            </a:r>
            <a:r>
              <a:rPr lang="vi-VN" sz="2800" dirty="0"/>
              <a:t> </a:t>
            </a:r>
            <a:r>
              <a:rPr lang="vi-VN" sz="2800" err="1"/>
              <a:t>tối</a:t>
            </a:r>
            <a:r>
              <a:rPr lang="vi-VN" sz="2800"/>
              <a:t> nay</a:t>
            </a:r>
            <a:r>
              <a:rPr lang="vi-VN" sz="2800" dirty="0"/>
              <a:t>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A29A28-0C5F-4E88-9990-ECF03BDCCAF4}"/>
              </a:ext>
            </a:extLst>
          </p:cNvPr>
          <p:cNvCxnSpPr>
            <a:cxnSpLocks/>
            <a:stCxn id="25" idx="2"/>
            <a:endCxn id="28" idx="7"/>
          </p:cNvCxnSpPr>
          <p:nvPr/>
        </p:nvCxnSpPr>
        <p:spPr>
          <a:xfrm flipH="1">
            <a:off x="9105982" y="4517863"/>
            <a:ext cx="611635" cy="775871"/>
          </a:xfrm>
          <a:prstGeom prst="straightConnector1">
            <a:avLst/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B25767-AF2C-4AD3-AC6C-9294C53935F7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717617" y="4517863"/>
            <a:ext cx="960967" cy="726748"/>
          </a:xfrm>
          <a:prstGeom prst="straightConnector1">
            <a:avLst/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0D44821-3729-49FE-8070-12E6AD850471}"/>
              </a:ext>
            </a:extLst>
          </p:cNvPr>
          <p:cNvSpPr/>
          <p:nvPr/>
        </p:nvSpPr>
        <p:spPr>
          <a:xfrm>
            <a:off x="7866594" y="5150912"/>
            <a:ext cx="1452033" cy="9752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Chơi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20013A6-8BE4-49C1-AF6A-F3D3287AC9CB}"/>
              </a:ext>
            </a:extLst>
          </p:cNvPr>
          <p:cNvSpPr/>
          <p:nvPr/>
        </p:nvSpPr>
        <p:spPr>
          <a:xfrm>
            <a:off x="10217943" y="5150913"/>
            <a:ext cx="1169724" cy="9752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 err="1"/>
              <a:t>Học</a:t>
            </a:r>
            <a:endParaRPr lang="vi-V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875DE7-CB92-46BD-80F7-F63A5AD336DB}"/>
              </a:ext>
            </a:extLst>
          </p:cNvPr>
          <p:cNvSpPr/>
          <p:nvPr/>
        </p:nvSpPr>
        <p:spPr>
          <a:xfrm>
            <a:off x="6587067" y="2799955"/>
            <a:ext cx="584200" cy="3810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Đ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4A073C-8EA0-4F71-9B71-9D255E519737}"/>
              </a:ext>
            </a:extLst>
          </p:cNvPr>
          <p:cNvSpPr/>
          <p:nvPr/>
        </p:nvSpPr>
        <p:spPr>
          <a:xfrm>
            <a:off x="8212667" y="2830350"/>
            <a:ext cx="584200" cy="3810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B30477-507B-47F6-9281-5691ED785F57}"/>
              </a:ext>
            </a:extLst>
          </p:cNvPr>
          <p:cNvSpPr/>
          <p:nvPr/>
        </p:nvSpPr>
        <p:spPr>
          <a:xfrm>
            <a:off x="8716434" y="4655450"/>
            <a:ext cx="584200" cy="3810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Đ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1571B8-E9FB-4103-9238-3E63CC3A7A96}"/>
              </a:ext>
            </a:extLst>
          </p:cNvPr>
          <p:cNvSpPr/>
          <p:nvPr/>
        </p:nvSpPr>
        <p:spPr>
          <a:xfrm>
            <a:off x="10156825" y="4649641"/>
            <a:ext cx="584200" cy="3810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378322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170C9E-C0CD-42F7-8E8B-6F3C2FD4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2D3300-B8A9-4F65-B8B9-162C6F439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099810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170C9E-C0CD-42F7-8E8B-6F3C2FD4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7288C7-A3BF-4104-A96F-ED7D36BEB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phần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hơn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Xét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sự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bên đây. </a:t>
                </a: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Bài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yêu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7288C7-A3BF-4104-A96F-ED7D36BEB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49AEA31-460C-462B-9D92-5E86183A08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1051" y="1828800"/>
            <a:ext cx="5477898" cy="40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0005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170C9E-C0CD-42F7-8E8B-6F3C2FD4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7288C7-A3BF-4104-A96F-ED7D36BEB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giải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quyết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định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như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bên.</a:t>
                </a:r>
              </a:p>
              <a:p>
                <a:pPr algn="just"/>
                <a:r>
                  <a:rPr lang="vi-VN" dirty="0">
                    <a:solidFill>
                      <a:srgbClr val="FF0000"/>
                    </a:solidFill>
                  </a:rPr>
                  <a:t>Chia </a:t>
                </a:r>
                <a:r>
                  <a:rPr lang="vi-VN" dirty="0" err="1">
                    <a:solidFill>
                      <a:srgbClr val="FF0000"/>
                    </a:solidFill>
                  </a:rPr>
                  <a:t>trục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hoành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thành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nhiều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đoạn</a:t>
                </a:r>
                <a:r>
                  <a:rPr lang="vi-VN" dirty="0">
                    <a:solidFill>
                      <a:srgbClr val="FF0000"/>
                    </a:solidFill>
                  </a:rPr>
                  <a:t>.</a:t>
                </a:r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Nếu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những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trên, 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trung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những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7288C7-A3BF-4104-A96F-ED7D36BEB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2265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BE5EB4E-A541-4EC7-8A22-17E4E5DDB4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12275"/>
            <a:ext cx="5384800" cy="41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2478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Content Placeholder 16">
            <a:extLst>
              <a:ext uri="{FF2B5EF4-FFF2-40B4-BE49-F238E27FC236}">
                <a16:creationId xmlns:a16="http://schemas.microsoft.com/office/drawing/2014/main" id="{EE0856D3-511D-40E2-ACF5-A783D56663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812275"/>
            <a:ext cx="5384800" cy="4101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65783F-7A5F-4E04-86B9-AE106653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Decision</a:t>
            </a:r>
            <a:r>
              <a:rPr lang="vi-VN" dirty="0"/>
              <a:t> </a:t>
            </a:r>
            <a:r>
              <a:rPr lang="vi-VN" dirty="0" err="1"/>
              <a:t>Tree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450038AA-A3C6-48DE-BADB-5149BD5DE167}"/>
                  </a:ext>
                </a:extLst>
              </p:cNvPr>
              <p:cNvSpPr/>
              <p:nvPr/>
            </p:nvSpPr>
            <p:spPr>
              <a:xfrm>
                <a:off x="7372810" y="1380772"/>
                <a:ext cx="1676308" cy="665185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&lt;0.75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450038AA-A3C6-48DE-BADB-5149BD5DE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810" y="1380772"/>
                <a:ext cx="1676308" cy="66518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ED206D-462A-48D2-8BDD-44DE5A2B8EA7}"/>
              </a:ext>
            </a:extLst>
          </p:cNvPr>
          <p:cNvCxnSpPr>
            <a:cxnSpLocks/>
            <a:stCxn id="45" idx="2"/>
            <a:endCxn id="52" idx="6"/>
          </p:cNvCxnSpPr>
          <p:nvPr/>
        </p:nvCxnSpPr>
        <p:spPr>
          <a:xfrm flipH="1">
            <a:off x="7790182" y="2045957"/>
            <a:ext cx="420782" cy="8160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B998F7-90F5-4CC2-863C-6ED359BE4525}"/>
              </a:ext>
            </a:extLst>
          </p:cNvPr>
          <p:cNvCxnSpPr>
            <a:cxnSpLocks/>
            <a:stCxn id="45" idx="2"/>
            <a:endCxn id="48" idx="1"/>
          </p:cNvCxnSpPr>
          <p:nvPr/>
        </p:nvCxnSpPr>
        <p:spPr>
          <a:xfrm>
            <a:off x="8210964" y="2045957"/>
            <a:ext cx="417372" cy="80860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E47B9817-948B-4B1B-B888-3F35EFEB1A13}"/>
                  </a:ext>
                </a:extLst>
              </p:cNvPr>
              <p:cNvSpPr/>
              <p:nvPr/>
            </p:nvSpPr>
            <p:spPr>
              <a:xfrm>
                <a:off x="8628336" y="2562312"/>
                <a:ext cx="1535923" cy="584505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1.15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E47B9817-948B-4B1B-B888-3F35EFEB1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6" y="2562312"/>
                <a:ext cx="1535923" cy="5845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0F4A06-18A5-40C7-AE61-9DBD974EBA51}"/>
              </a:ext>
            </a:extLst>
          </p:cNvPr>
          <p:cNvCxnSpPr>
            <a:cxnSpLocks/>
            <a:stCxn id="48" idx="2"/>
            <a:endCxn id="51" idx="7"/>
          </p:cNvCxnSpPr>
          <p:nvPr/>
        </p:nvCxnSpPr>
        <p:spPr>
          <a:xfrm flipH="1">
            <a:off x="8746110" y="3146817"/>
            <a:ext cx="650188" cy="82798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5B6C78-4BDC-469F-A320-24B10C04ABED}"/>
              </a:ext>
            </a:extLst>
          </p:cNvPr>
          <p:cNvCxnSpPr>
            <a:cxnSpLocks/>
            <a:stCxn id="48" idx="2"/>
            <a:endCxn id="53" idx="0"/>
          </p:cNvCxnSpPr>
          <p:nvPr/>
        </p:nvCxnSpPr>
        <p:spPr>
          <a:xfrm>
            <a:off x="9396298" y="3146817"/>
            <a:ext cx="694298" cy="82566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7E81369-D39C-4F83-B2CE-658AD67077E5}"/>
                  </a:ext>
                </a:extLst>
              </p:cNvPr>
              <p:cNvSpPr/>
              <p:nvPr/>
            </p:nvSpPr>
            <p:spPr>
              <a:xfrm>
                <a:off x="7315292" y="3861111"/>
                <a:ext cx="1676308" cy="776311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7E81369-D39C-4F83-B2CE-658AD6707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92" y="3861111"/>
                <a:ext cx="1676308" cy="77631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EB50C7E-D1A2-4C6D-8AFA-2458157FBC15}"/>
                  </a:ext>
                </a:extLst>
              </p:cNvPr>
              <p:cNvSpPr/>
              <p:nvPr/>
            </p:nvSpPr>
            <p:spPr>
              <a:xfrm>
                <a:off x="5874926" y="2473860"/>
                <a:ext cx="1915256" cy="776311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EB50C7E-D1A2-4C6D-8AFA-2458157FB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926" y="2473860"/>
                <a:ext cx="1915256" cy="77631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B3D765F9-6F6E-40FB-8C42-FED162798735}"/>
                  </a:ext>
                </a:extLst>
              </p:cNvPr>
              <p:cNvSpPr/>
              <p:nvPr/>
            </p:nvSpPr>
            <p:spPr>
              <a:xfrm>
                <a:off x="9313464" y="3972485"/>
                <a:ext cx="1554264" cy="648942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&lt;1.6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B3D765F9-6F6E-40FB-8C42-FED162798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464" y="3972485"/>
                <a:ext cx="1554264" cy="64894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32719A-3B07-4FEA-B49E-FEFF722E4EAD}"/>
              </a:ext>
            </a:extLst>
          </p:cNvPr>
          <p:cNvCxnSpPr>
            <a:cxnSpLocks/>
            <a:stCxn id="53" idx="2"/>
            <a:endCxn id="56" idx="7"/>
          </p:cNvCxnSpPr>
          <p:nvPr/>
        </p:nvCxnSpPr>
        <p:spPr>
          <a:xfrm flipH="1">
            <a:off x="9650679" y="4621427"/>
            <a:ext cx="439917" cy="78593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0D047A-9940-495E-8BEF-8BEB13C66A6B}"/>
              </a:ext>
            </a:extLst>
          </p:cNvPr>
          <p:cNvCxnSpPr>
            <a:cxnSpLocks/>
            <a:stCxn id="53" idx="2"/>
            <a:endCxn id="57" idx="1"/>
          </p:cNvCxnSpPr>
          <p:nvPr/>
        </p:nvCxnSpPr>
        <p:spPr>
          <a:xfrm>
            <a:off x="10090596" y="4621427"/>
            <a:ext cx="479155" cy="78593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71B2C52-6BCE-4066-AB64-5ED9E7889795}"/>
                  </a:ext>
                </a:extLst>
              </p:cNvPr>
              <p:cNvSpPr/>
              <p:nvPr/>
            </p:nvSpPr>
            <p:spPr>
              <a:xfrm>
                <a:off x="7950147" y="5289208"/>
                <a:ext cx="1992297" cy="80679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1.25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71B2C52-6BCE-4066-AB64-5ED9E7889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147" y="5289208"/>
                <a:ext cx="1992297" cy="80679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D4FBB2B-6754-43C1-AE13-8A268A300BD4}"/>
                  </a:ext>
                </a:extLst>
              </p:cNvPr>
              <p:cNvSpPr/>
              <p:nvPr/>
            </p:nvSpPr>
            <p:spPr>
              <a:xfrm>
                <a:off x="10291417" y="5289208"/>
                <a:ext cx="1900583" cy="80679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400" b="0" i="1" dirty="0" smtClean="0">
                          <a:latin typeface="Cambria Math" panose="02040503050406030204" pitchFamily="18" charset="0"/>
                        </a:rPr>
                        <m:t>0.35</m:t>
                      </m:r>
                    </m:oMath>
                  </m:oMathPara>
                </a14:m>
                <a:endParaRPr lang="vi-VN" sz="2400" dirty="0"/>
              </a:p>
            </p:txBody>
          </p:sp>
        </mc:Choice>
        <mc:Fallback xmlns="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D4FBB2B-6754-43C1-AE13-8A268A300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417" y="5289208"/>
                <a:ext cx="1900583" cy="80679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E0915FB9-83DE-4887-9E0F-BA46EC987DCF}"/>
              </a:ext>
            </a:extLst>
          </p:cNvPr>
          <p:cNvSpPr/>
          <p:nvPr/>
        </p:nvSpPr>
        <p:spPr>
          <a:xfrm>
            <a:off x="7672274" y="2105549"/>
            <a:ext cx="365393" cy="40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Đ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C6C8E46-5CB7-4D83-B68A-671F4DC2830E}"/>
              </a:ext>
            </a:extLst>
          </p:cNvPr>
          <p:cNvSpPr/>
          <p:nvPr/>
        </p:nvSpPr>
        <p:spPr>
          <a:xfrm>
            <a:off x="8415417" y="2082037"/>
            <a:ext cx="365393" cy="40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DB999F-1A87-438C-917B-8E7D6C75789D}"/>
              </a:ext>
            </a:extLst>
          </p:cNvPr>
          <p:cNvSpPr/>
          <p:nvPr/>
        </p:nvSpPr>
        <p:spPr>
          <a:xfrm>
            <a:off x="8629562" y="3245591"/>
            <a:ext cx="365393" cy="428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Đ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87C9ED-44BB-4726-AAB5-DCE20F9DE280}"/>
              </a:ext>
            </a:extLst>
          </p:cNvPr>
          <p:cNvSpPr/>
          <p:nvPr/>
        </p:nvSpPr>
        <p:spPr>
          <a:xfrm>
            <a:off x="9725203" y="3268118"/>
            <a:ext cx="365393" cy="40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5379DF-5538-4B2D-A6D7-80841FF3E4FC}"/>
              </a:ext>
            </a:extLst>
          </p:cNvPr>
          <p:cNvSpPr/>
          <p:nvPr/>
        </p:nvSpPr>
        <p:spPr>
          <a:xfrm>
            <a:off x="9475427" y="4794658"/>
            <a:ext cx="365393" cy="40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Đ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5CDD85F-B9CC-426E-830B-4B3F6BFE7FC0}"/>
              </a:ext>
            </a:extLst>
          </p:cNvPr>
          <p:cNvSpPr/>
          <p:nvPr/>
        </p:nvSpPr>
        <p:spPr>
          <a:xfrm>
            <a:off x="10368037" y="4789715"/>
            <a:ext cx="365393" cy="40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solidFill>
                  <a:schemeClr val="tx1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17472781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A0AB33-6109-4402-9267-E7A26596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39ACC2-3AD9-4E47-AEE6-9B973083A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2529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A0AB33-6109-4402-9267-E7A26596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DecisionTreeRegressor &amp; Dự Đoán Level 6.5 (In [2])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441E11-408E-44D8-85BA-9CA915E6A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Huấn luyện Cây Quyết Định với chuẩn scikit-learn mới nhất: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sklearn.tree import DecisionTreeRegressor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criterion='squared_error' thay thế cho criterion='mse' đã bị loại bỏ hoàn toàn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regressor = DecisionTreeRegressor(criterion='squared_error', random_state=0)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regressor.fit(X, y)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Dự đoán mức lương cho Level 6.5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pred_6_5 = regressor.predict([[6.5]])[0]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print(f'Dự đoán mức lương Level 6.5: ${pred_6_5:,.2f}')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Expected Output: Dự đoán mức lương Level 6.5: $150,000.00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Giải thích: Điểm 6.5 rơi vào khoảng lá [5.5, 6.5], cây trả về giá trị trung bình mức lương tại khoảng đó ($150,000 của Level 6).</a:t>
            </a:r>
          </a:p>
        </p:txBody>
      </p:sp>
    </p:spTree>
    <p:extLst>
      <p:ext uri="{BB962C8B-B14F-4D97-AF65-F5344CB8AC3E}">
        <p14:creationId xmlns:p14="http://schemas.microsoft.com/office/powerpoint/2010/main" val="13995693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B92DB-56F4-43DB-8D32-1D55C9985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888043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CD1382-B166-40D4-BD3F-CF776F10B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825" y="1767681"/>
            <a:ext cx="58483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517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 kết quả: Vẽ Đường Cong Bậc Thang Độ Phân Giải Cao (In [4])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EC860-8D84-497C-B2F4-FDB069761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Trực quan hóa hàm bậc thang (Step-Wise Constant Curve) trên lưới mịn: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X_grid = np.arange(min(X)[0], max(X)[0], 0.01).reshape(-1, 1)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plt.figure(figsize=(10, 6))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plt.scatter(X, y, color='red', s=80, label='Dữ liệu Thực tế')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plt.plot(X_grid, regressor.predict(X_grid), color='blue', linewidth=2, label='Đường Hồi quy Cây Quyết Định')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plt.scatter([6.5], [pred_6_5], color='purple', s=160, marker='*', zorder=6, label=f'Dự đoán 6.5 (${pred_6_5:,.0f})')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plt.title('Decision Tree Regression (Step-Wise Constant)', fontweight='bold')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plt.xlabel('Position Level'); plt.ylabel('Salary ($)'); plt.legend(); plt.show()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Đặc trưng cốt lõi: Đồ thị gồm các bậc thang nằm ngang nối nhau bởi các bước nhảy thẳng đứng tại các ngưỡng phân nhánh.</a:t>
            </a:r>
          </a:p>
        </p:txBody>
      </p:sp>
    </p:spTree>
    <p:extLst>
      <p:ext uri="{BB962C8B-B14F-4D97-AF65-F5344CB8AC3E}">
        <p14:creationId xmlns:p14="http://schemas.microsoft.com/office/powerpoint/2010/main" val="23645256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CD1382-B166-40D4-BD3F-CF776F10B7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33774"/>
            <a:ext cx="5384800" cy="385881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CAE0DC-E279-47DB-8D45-630DB46BCF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rgbClr val="0066FF"/>
                </a:solidFill>
              </a:rPr>
              <a:t>Nhận xét kết quả</a:t>
            </a:r>
          </a:p>
          <a:p>
            <a:pPr lvl="1" algn="just"/>
            <a:r>
              <a:rPr lang="vi-VN">
                <a:solidFill>
                  <a:srgbClr val="FF0000"/>
                </a:solidFill>
              </a:rPr>
              <a:t>Mô </a:t>
            </a:r>
            <a:r>
              <a:rPr lang="vi-VN" dirty="0" err="1">
                <a:solidFill>
                  <a:srgbClr val="FF0000"/>
                </a:solidFill>
              </a:rPr>
              <a:t>hình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có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dạng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bậc</a:t>
            </a:r>
            <a:r>
              <a:rPr lang="vi-VN" dirty="0">
                <a:solidFill>
                  <a:srgbClr val="FF0000"/>
                </a:solidFill>
              </a:rPr>
              <a:t> thang. </a:t>
            </a:r>
            <a:endParaRPr lang="en-US" dirty="0">
              <a:solidFill>
                <a:srgbClr val="FF0000"/>
              </a:solidFill>
            </a:endParaRPr>
          </a:p>
          <a:p>
            <a:pPr lvl="1" algn="just"/>
            <a:r>
              <a:rPr lang="vi-VN" dirty="0"/>
              <a:t>Đây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đặc</a:t>
            </a:r>
            <a:r>
              <a:rPr lang="vi-VN" dirty="0"/>
              <a:t> trưng </a:t>
            </a:r>
            <a:r>
              <a:rPr lang="vi-VN" dirty="0" err="1"/>
              <a:t>của</a:t>
            </a:r>
            <a:r>
              <a:rPr lang="vi-VN" dirty="0"/>
              <a:t> cây </a:t>
            </a:r>
            <a:r>
              <a:rPr lang="vi-VN" dirty="0" err="1"/>
              <a:t>quyết</a:t>
            </a:r>
            <a:r>
              <a:rPr lang="vi-VN" dirty="0"/>
              <a:t> </a:t>
            </a:r>
            <a:r>
              <a:rPr lang="vi-VN" dirty="0" err="1"/>
              <a:t>định</a:t>
            </a:r>
            <a:r>
              <a:rPr lang="vi-VN" dirty="0"/>
              <a:t> </a:t>
            </a:r>
            <a:r>
              <a:rPr lang="vi-VN" dirty="0" err="1"/>
              <a:t>hồi</a:t>
            </a:r>
            <a:r>
              <a:rPr lang="vi-VN" dirty="0"/>
              <a:t> quy.</a:t>
            </a:r>
          </a:p>
        </p:txBody>
      </p:sp>
    </p:spTree>
    <p:extLst>
      <p:ext uri="{BB962C8B-B14F-4D97-AF65-F5344CB8AC3E}">
        <p14:creationId xmlns:p14="http://schemas.microsoft.com/office/powerpoint/2010/main" val="241133511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 kết quả: Xuất Cấu Trúc Bộ Luật Phân Nhánh (In [3])</a:t>
            </a:r>
            <a:endParaRPr lang="vi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E3C39-D715-41AF-990C-F48BC1D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Xuất cấu trúc cây ra dạng văn bản IF-THEN bằng export_text (In [3]):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sklearn.tree import export_text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tree_text = export_text(regressor, feature_names=['Position_Level'])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print(tree_text)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Nguyên tắc phân vùng không gian của Cây Hồi Quy: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Cây liên tục cắt không gian đặc trưng thành các ô độc lập (Leaf nodes).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Giá trị dự đoán tại mỗi nút lá là TRUNG BÌNH CỘNG (Mean) của các mẫu rơi vào ô đó.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Do đó, mô hình không có khả năng ngoại suy (extrapolation) ngoài miền dữ liệu đã huấn luyện.</a:t>
            </a:r>
          </a:p>
        </p:txBody>
      </p:sp>
    </p:spTree>
    <p:extLst>
      <p:ext uri="{BB962C8B-B14F-4D97-AF65-F5344CB8AC3E}">
        <p14:creationId xmlns:p14="http://schemas.microsoft.com/office/powerpoint/2010/main" val="140948077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27514-A88B-4BAB-8756-D5785A86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 kết quả: Sơ Đồ Cây plot_tree Trong Scikit-Learn</a:t>
            </a:r>
            <a:endParaRPr lang="vi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E3C39-D715-41AF-990C-F48BC1D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Trực quan hóa sơ đồ hình học của Cây Quyết Định: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sklearn.tree import plot_tree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plt.figure(figsize=(16, 8))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plot_tree(regressor, feature_names=['Level'], filled=True, rounded=True, precision=2)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plt.title('Sơ đồ Cây Quyết Định (plot_tree)', fontweight='bold')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plt.show()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Ý nghĩa các thông số tại mỗi nút: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squared_error: Giá trị phương sai / hàm mất mát tại nút.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samples: Số lượng mẫu dữ liệu hiện diện tại nút.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value: Mức lương dự đoán trung bình tại nút đó.</a:t>
            </a:r>
          </a:p>
        </p:txBody>
      </p:sp>
    </p:spTree>
    <p:extLst>
      <p:ext uri="{BB962C8B-B14F-4D97-AF65-F5344CB8AC3E}">
        <p14:creationId xmlns:p14="http://schemas.microsoft.com/office/powerpoint/2010/main" val="242960408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Ưu/Nhược Điểm &amp; Câu Hỏi Thảo Luận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759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724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143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Business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Analyst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100840" r="-269968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100840" r="-168254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100840" r="-952" b="-4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Junior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200840" r="-269968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200840" r="-168254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200840" r="-952" b="-3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Consultant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303390" r="-269968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303390" r="-168254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303390" r="-952" b="-21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400000" r="-26996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400000" r="-16825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400000" r="-95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Country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500000" r="-269968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500000" r="-168254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500000" r="-95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1. Ưu điểm &amp; Nhược điểm của Decision Tree Regression: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Ưu điểm: Trực quan, dễ giải thích bằng các luật If-Else; không cần chuẩn hóa đặc trưng.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Nhược điểm: Rất dễ bị Overfitting nếu cây quá sâu; đồ thị bậc thang không mượt mà.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2. Câu hỏi tư duy dành cho học viên: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Tại sao đối với bài toán 1 chiều (Level -&gt; Salary), Decision Tree lại bị chê là không phù hợp bằng Polynomial hay SVR?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Gợi ý: Xét tính chất hàm bậc thang không liên tục và dự đoán cho Level 6.5 bị trùng với Level 6 ($150,000).</a:t>
            </a:r>
          </a:p>
        </p:txBody>
      </p:sp>
    </p:spTree>
    <p:extLst>
      <p:ext uri="{BB962C8B-B14F-4D97-AF65-F5344CB8AC3E}">
        <p14:creationId xmlns:p14="http://schemas.microsoft.com/office/powerpoint/2010/main" val="94125719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C25-55DF-41FD-9FF4-2DC27F2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003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289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994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528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694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988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2F0BB552-E557-45BF-9952-96B127A4B7D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9200" y="1600200"/>
              <a:ext cx="100584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032123">
                      <a:extLst>
                        <a:ext uri="{9D8B030D-6E8A-4147-A177-3AD203B41FA5}">
                          <a16:colId xmlns:a16="http://schemas.microsoft.com/office/drawing/2014/main" val="3920745078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94436033"/>
                        </a:ext>
                      </a:extLst>
                    </a:gridCol>
                    <a:gridCol w="1920877">
                      <a:extLst>
                        <a:ext uri="{9D8B030D-6E8A-4147-A177-3AD203B41FA5}">
                          <a16:colId xmlns:a16="http://schemas.microsoft.com/office/drawing/2014/main" val="4165097083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1649268837"/>
                        </a:ext>
                      </a:extLst>
                    </a:gridCol>
                  </a:tblGrid>
                  <a:tr h="723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Position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Predicted 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69637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Region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Manager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100840" r="-269968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100840" r="-168254" b="-4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100840" r="-952" b="-4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9618532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200840" r="-269968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200840" r="-168254" b="-3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200840" r="-952" b="-3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627527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Senior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Partner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303390" r="-269968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303390" r="-168254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303390" r="-952" b="-21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467125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C-</a:t>
                          </a:r>
                          <a:r>
                            <a:rPr lang="vi-VN" sz="2800" dirty="0" err="1"/>
                            <a:t>level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400000" r="-26996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400000" r="-16825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400000" r="-95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396851"/>
                      </a:ext>
                    </a:extLst>
                  </a:tr>
                  <a:tr h="723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/>
                            <a:t>CEO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425" t="-500000" r="-269968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7778" t="-500000" r="-168254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667" t="-500000" r="-952" b="-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561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655708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Cảm ơn quí vị đã lắng nghe</a:t>
            </a:r>
            <a:br>
              <a:rPr lang="en-US" sz="4000"/>
            </a:br>
            <a:br>
              <a:rPr lang="en-US" sz="4000"/>
            </a:br>
            <a:r>
              <a:rPr lang="en-US" sz="4000">
                <a:solidFill>
                  <a:srgbClr val="0066FF"/>
                </a:solidFill>
              </a:rPr>
              <a:t>Nhóm tác giả</a:t>
            </a:r>
            <a:br>
              <a:rPr lang="en-US" sz="4000"/>
            </a:br>
            <a:r>
              <a:rPr lang="en-US" sz="4000" b="0"/>
              <a:t>Hồ Thái Ngọc</a:t>
            </a:r>
            <a:br>
              <a:rPr lang="en-US" sz="4000" b="0"/>
            </a:br>
            <a:r>
              <a:rPr lang="en-US" sz="4000" b="0">
                <a:solidFill>
                  <a:srgbClr val="0066FF"/>
                </a:solidFill>
              </a:rPr>
              <a:t>ThS. Võ Duy Nguyên</a:t>
            </a:r>
            <a:br>
              <a:rPr lang="en-US" sz="4000" b="0">
                <a:solidFill>
                  <a:srgbClr val="0066FF"/>
                </a:solidFill>
              </a:rPr>
            </a:br>
            <a:r>
              <a:rPr lang="en-US" sz="4000" b="0"/>
              <a:t>TS. Nguyễn Tấn Trần Minh Khang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5846809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14701</TotalTime>
  <Words>1303</Words>
  <Application>Microsoft Office PowerPoint</Application>
  <PresentationFormat>Widescreen</PresentationFormat>
  <Paragraphs>229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Cambria Math</vt:lpstr>
      <vt:lpstr>Consolas</vt:lpstr>
      <vt:lpstr>Courier New</vt:lpstr>
      <vt:lpstr>Default Design</vt:lpstr>
      <vt:lpstr>DECISION TREE REGRESSION</vt:lpstr>
      <vt:lpstr>DATASET</vt:lpstr>
      <vt:lpstr>Dataset</vt:lpstr>
      <vt:lpstr>Dataset</vt:lpstr>
      <vt:lpstr>Dataset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Decision TreE</vt:lpstr>
      <vt:lpstr>Decision Tree</vt:lpstr>
      <vt:lpstr>Decision Tree</vt:lpstr>
      <vt:lpstr>Decision Tree Regression</vt:lpstr>
      <vt:lpstr>Decision Tree Regression</vt:lpstr>
      <vt:lpstr>Decision Tree Regression</vt:lpstr>
      <vt:lpstr>Decision Tree Regression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</vt:lpstr>
      <vt:lpstr>Trực quan hóa kết quả</vt:lpstr>
      <vt:lpstr>Cảm ơn quí vị đã lắng nghe  Nhóm tác giả Hồ Thái Ngọc ThS. Võ Duy Nguyên TS.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Nguyễn Tấn Trần Minh Khang</cp:lastModifiedBy>
  <cp:revision>1330</cp:revision>
  <cp:lastPrinted>2013-08-30T01:32:34Z</cp:lastPrinted>
  <dcterms:created xsi:type="dcterms:W3CDTF">2008-06-14T04:13:27Z</dcterms:created>
  <dcterms:modified xsi:type="dcterms:W3CDTF">2023-09-20T03:35:49Z</dcterms:modified>
</cp:coreProperties>
</file>