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1585" r:id="rId2"/>
    <p:sldId id="329" r:id="rId3"/>
    <p:sldId id="330" r:id="rId4"/>
    <p:sldId id="331" r:id="rId5"/>
    <p:sldId id="332" r:id="rId6"/>
    <p:sldId id="368" r:id="rId7"/>
    <p:sldId id="333" r:id="rId8"/>
    <p:sldId id="334" r:id="rId9"/>
    <p:sldId id="369" r:id="rId10"/>
    <p:sldId id="336" r:id="rId11"/>
    <p:sldId id="337" r:id="rId12"/>
    <p:sldId id="371" r:id="rId13"/>
    <p:sldId id="338" r:id="rId14"/>
    <p:sldId id="339" r:id="rId15"/>
    <p:sldId id="372" r:id="rId16"/>
    <p:sldId id="370" r:id="rId17"/>
    <p:sldId id="344" r:id="rId18"/>
    <p:sldId id="346" r:id="rId19"/>
    <p:sldId id="359" r:id="rId20"/>
    <p:sldId id="380" r:id="rId21"/>
    <p:sldId id="363" r:id="rId22"/>
    <p:sldId id="361" r:id="rId23"/>
    <p:sldId id="362" r:id="rId24"/>
    <p:sldId id="366" r:id="rId25"/>
    <p:sldId id="364" r:id="rId26"/>
    <p:sldId id="384" r:id="rId27"/>
    <p:sldId id="385" r:id="rId28"/>
    <p:sldId id="367" r:id="rId29"/>
    <p:sldId id="342" r:id="rId30"/>
    <p:sldId id="343" r:id="rId31"/>
    <p:sldId id="348" r:id="rId32"/>
    <p:sldId id="357" r:id="rId33"/>
    <p:sldId id="358" r:id="rId34"/>
    <p:sldId id="373" r:id="rId35"/>
    <p:sldId id="365" r:id="rId36"/>
    <p:sldId id="350" r:id="rId37"/>
    <p:sldId id="374" r:id="rId38"/>
    <p:sldId id="375" r:id="rId39"/>
    <p:sldId id="376" r:id="rId40"/>
    <p:sldId id="360" r:id="rId41"/>
    <p:sldId id="351" r:id="rId42"/>
    <p:sldId id="352" r:id="rId43"/>
    <p:sldId id="377" r:id="rId44"/>
    <p:sldId id="379" r:id="rId45"/>
    <p:sldId id="355" r:id="rId46"/>
    <p:sldId id="356" r:id="rId47"/>
    <p:sldId id="381" r:id="rId48"/>
    <p:sldId id="382" r:id="rId49"/>
    <p:sldId id="383" r:id="rId50"/>
    <p:sldId id="1573" r:id="rId5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9933"/>
    <a:srgbClr val="FF0000"/>
    <a:srgbClr val="FF3399"/>
    <a:srgbClr val="008000"/>
    <a:srgbClr val="000099"/>
    <a:srgbClr val="FF6600"/>
    <a:srgbClr val="66FF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87366" autoAdjust="0"/>
  </p:normalViewPr>
  <p:slideViewPr>
    <p:cSldViewPr>
      <p:cViewPr varScale="1">
        <p:scale>
          <a:sx n="84" d="100"/>
          <a:sy n="84" d="100"/>
        </p:scale>
        <p:origin x="1072" y="5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handoutMaster" Target="handoutMasters/handout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9E2CB30-4184-4C1B-912F-A6AED0718E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866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5859DDC-9015-4B39-98F8-9F9A698DF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62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859DDC-9015-4B39-98F8-9F9A698DFEA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316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TIÊU ĐỀ SLIDE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454966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27E77-6012-42D7-99B0-1D322EEAFE5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086803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97A347-30EE-4B72-93DA-C4CBE7049A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0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F626F4-8319-BB9A-3962-FB52D8DEB45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92656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838081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615748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886200"/>
            <a:ext cx="11582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747701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01_Title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2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127187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3508374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4447936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CHUẨN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947125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2_Standard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6553698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601710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631001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02_Standard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4998215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E9201-BB7C-7361-D15B-554D97FD494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643877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0"/>
            <a:ext cx="109728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57848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1532198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02_Standard Slide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260759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3_Progr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PROGRAM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9038162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3_Program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>
              <a:defRPr sz="28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875236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rogram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276024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rogram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BF5967-6241-0E40-D844-CD2FB96F118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512989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4_Slide Up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PHẦN TRÊN DƯỚI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4379166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3527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953001"/>
            <a:ext cx="10972800" cy="11724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570494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51459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114801"/>
            <a:ext cx="10972800" cy="20106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190481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1371597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9600" y="2971801"/>
            <a:ext cx="10972800" cy="3153696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+"/>
              <a:tabLst/>
              <a:defRPr/>
            </a:pPr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415433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5_Slide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1238762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0254237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93367181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716980-92B1-EFAB-E559-9C67E7C615B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755685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65532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0"/>
            <a:ext cx="4419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4642175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4286864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42868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B267FE-1A4A-FC5A-B1BF-212E21F3C20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9912957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3810000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C8D0DD-B54D-81D5-B7D4-10338B1E328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2304489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2547086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2868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286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1A5BA2-D508-AFA2-E487-FE996D715498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0895333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3809999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38099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108584-BFF3-2406-377A-3236D4DB99A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5069774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94170472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640B4C-4BB4-59DC-6FB5-BE2BEAB17DC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15824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9277816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01540FF-506E-C951-CCC4-F2846A5D1D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16128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4517489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9894408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9BE0C1-77A6-4A1D-2879-D18D2A15649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4376779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7836774-98E2-8399-1A89-B989AAE076F4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410200"/>
            <a:ext cx="122224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8600537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58627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998632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24388919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09728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6338631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15824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696371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2114" y="1535113"/>
            <a:ext cx="12194114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2114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55509956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05_Slide Two Column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6488560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_Slide Three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BA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6098984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65494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70198783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7_Slide Four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94009430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586163-080C-4D92-9FF5-83B9A124C31B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0988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879BDB-29CC-404E-9DCA-E89C7B9070D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103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94B703-5983-4A4F-B197-D2C64EAA9F6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3472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06970055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8_Slide Four 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PHẦN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2302994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EA549A-C581-4C37-B257-ACE55CAD4DF6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0" y="3886200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0016720-4FC2-4205-9886-7838EB04433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97600" y="1608826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E828636-495F-44E0-8340-BCE2B3F4716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97600" y="3894825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01676564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63000" y="16002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4A1A4A6-69C0-4EC3-B5CC-CC08837714D4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09600" y="26808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3E39D719-3B3B-4F96-BE3F-4E767D23D3D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763000" y="26808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7791AFD-E53B-48D7-8A3C-24F9B931493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600" y="37338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7784060D-E07A-4765-948A-FC9071F8DDC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763000" y="37338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67EFF06-2483-4600-B6B9-3D1CE50220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09600" y="48144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22FA758-800C-4200-9C64-1F16B8C51CA7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763000" y="48144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9676352"/>
      </p:ext>
    </p:extLst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9_Flow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LƯU ĐỒ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2140233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1"/>
            <a:ext cx="59944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97600" y="0"/>
            <a:ext cx="5994400" cy="914401"/>
          </a:xfrm>
          <a:solidFill>
            <a:srgbClr val="00B0F0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91959533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4854" y="1066801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14854" y="0"/>
            <a:ext cx="6077146" cy="914401"/>
          </a:xfrm>
          <a:solidFill>
            <a:srgbClr val="00B0F0"/>
          </a:solidFill>
        </p:spPr>
        <p:txBody>
          <a:bodyPr/>
          <a:lstStyle>
            <a:lvl1pPr marL="0" indent="0"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1B544BE-4259-4202-9EEF-29A5F771B6E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9157118" y="1066800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8711408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994400" cy="5211764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01840984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173" y="0"/>
            <a:ext cx="5994400" cy="6096000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34309164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theme" Target="../theme/theme1.xml"/><Relationship Id="rId60" Type="http://schemas.openxmlformats.org/officeDocument/2006/relationships/image" Target="../media/image1.png"/><Relationship Id="rId61" Type="http://schemas.openxmlformats.org/officeDocument/2006/relationships/image" Target="../media/image2.png"/><Relationship Id="rId6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0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1379200" y="6324600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A916C17-A3B0-4CE4-88CA-9129F443D2C0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B82A81E1-3619-4A2C-AB88-C7D0762594CD}"/>
              </a:ext>
            </a:extLst>
          </p:cNvPr>
          <p:cNvPicPr>
            <a:picLocks noChangeAspect="1"/>
          </p:cNvPicPr>
          <p:nvPr userDrawn="1"/>
        </p:nvPicPr>
        <p:blipFill>
          <a:blip r:embed="rId6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103160"/>
            <a:ext cx="1375575" cy="567426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B594A5E-2439-4755-BAA8-30F12FADD3C7}"/>
              </a:ext>
            </a:extLst>
          </p:cNvPr>
          <p:cNvPicPr>
            <a:picLocks noChangeAspect="1"/>
          </p:cNvPicPr>
          <p:nvPr userDrawn="1"/>
        </p:nvPicPr>
        <p:blipFill>
          <a:blip r:embed="rId6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908" y="70999"/>
            <a:ext cx="843402" cy="84340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649" r:id="rId3"/>
    <p:sldLayoutId id="2147483720" r:id="rId4"/>
    <p:sldLayoutId id="2147483652" r:id="rId5"/>
    <p:sldLayoutId id="2147483750" r:id="rId6"/>
    <p:sldLayoutId id="2147483718" r:id="rId7"/>
    <p:sldLayoutId id="2147483650" r:id="rId8"/>
    <p:sldLayoutId id="2147483721" r:id="rId9"/>
    <p:sldLayoutId id="2147483723" r:id="rId10"/>
    <p:sldLayoutId id="2147483716" r:id="rId11"/>
    <p:sldLayoutId id="2147483722" r:id="rId12"/>
    <p:sldLayoutId id="2147483748" r:id="rId13"/>
    <p:sldLayoutId id="2147483749" r:id="rId14"/>
    <p:sldLayoutId id="2147483717" r:id="rId15"/>
    <p:sldLayoutId id="2147483719" r:id="rId16"/>
    <p:sldLayoutId id="2147483725" r:id="rId17"/>
    <p:sldLayoutId id="2147483726" r:id="rId18"/>
    <p:sldLayoutId id="2147483727" r:id="rId19"/>
    <p:sldLayoutId id="2147483724" r:id="rId20"/>
    <p:sldLayoutId id="2147483651" r:id="rId21"/>
    <p:sldLayoutId id="2147483712" r:id="rId22"/>
    <p:sldLayoutId id="2147483713" r:id="rId23"/>
    <p:sldLayoutId id="2147483728" r:id="rId24"/>
    <p:sldLayoutId id="2147483707" r:id="rId25"/>
    <p:sldLayoutId id="2147483709" r:id="rId26"/>
    <p:sldLayoutId id="2147483730" r:id="rId27"/>
    <p:sldLayoutId id="2147483700" r:id="rId28"/>
    <p:sldLayoutId id="2147483731" r:id="rId29"/>
    <p:sldLayoutId id="2147483732" r:id="rId30"/>
    <p:sldLayoutId id="2147483689" r:id="rId31"/>
    <p:sldLayoutId id="2147483733" r:id="rId32"/>
    <p:sldLayoutId id="2147483734" r:id="rId33"/>
    <p:sldLayoutId id="2147483679" r:id="rId34"/>
    <p:sldLayoutId id="2147483735" r:id="rId35"/>
    <p:sldLayoutId id="2147483736" r:id="rId36"/>
    <p:sldLayoutId id="2147483684" r:id="rId37"/>
    <p:sldLayoutId id="2147483737" r:id="rId38"/>
    <p:sldLayoutId id="2147483738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7" r:id="rId45"/>
    <p:sldLayoutId id="2147483729" r:id="rId46"/>
    <p:sldLayoutId id="2147483686" r:id="rId47"/>
    <p:sldLayoutId id="2147483711" r:id="rId48"/>
    <p:sldLayoutId id="2147483739" r:id="rId49"/>
    <p:sldLayoutId id="2147483688" r:id="rId50"/>
    <p:sldLayoutId id="2147483740" r:id="rId51"/>
    <p:sldLayoutId id="2147483694" r:id="rId52"/>
    <p:sldLayoutId id="2147483687" r:id="rId53"/>
    <p:sldLayoutId id="2147483746" r:id="rId54"/>
    <p:sldLayoutId id="2147483701" r:id="rId55"/>
    <p:sldLayoutId id="2147483702" r:id="rId56"/>
    <p:sldLayoutId id="2147483703" r:id="rId57"/>
    <p:sldLayoutId id="2147483704" r:id="rId58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─"/>
        <a:defRPr sz="2800">
          <a:solidFill>
            <a:srgbClr val="0066FF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+"/>
        <a:defRPr sz="2800">
          <a:solidFill>
            <a:srgbClr val="0066FF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rgbClr val="0066FF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www.superdatascience.com/pages/machine-learning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gi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0.png"/><Relationship Id="rId3" Type="http://schemas.openxmlformats.org/officeDocument/2006/relationships/image" Target="../media/image11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E3612-16D3-622A-7FFF-F636EC5E5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KERNEL SVM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D9C513-AD71-9FA8-DCD3-EF6738328A0A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Quan Chí Khánh An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Lê Ngọc Huy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CN. Bùi Cao Doanh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CN. Nguyễn Trọng Thuận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Phan Vĩnh Long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Nguyễn Cường Phát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Nguyễn Hoàng Ngân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Hồ Thái Ngọc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Đỗ Văn Tiến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475D-F6A4-3080-6B47-C6E6C22C81F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err="1"/>
              <a:t>Nguyễn</a:t>
            </a:r>
            <a:r>
              <a:rPr lang="en-US" dirty="0"/>
              <a:t> Hoàng </a:t>
            </a:r>
            <a:r>
              <a:rPr lang="en-US" dirty="0" err="1"/>
              <a:t>Yến</a:t>
            </a:r>
            <a:r>
              <a:rPr lang="en-US" dirty="0"/>
              <a:t> </a:t>
            </a:r>
            <a:r>
              <a:rPr lang="en-US" dirty="0" err="1"/>
              <a:t>Như</a:t>
            </a:r>
            <a:endParaRPr lang="en-US" dirty="0"/>
          </a:p>
          <a:p>
            <a:r>
              <a:rPr lang="en-US" dirty="0" err="1">
                <a:solidFill>
                  <a:srgbClr val="FF0000"/>
                </a:solidFill>
              </a:rPr>
              <a:t>Nguyễn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Trần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Phúc</a:t>
            </a:r>
            <a:r>
              <a:rPr lang="en-US" dirty="0">
                <a:solidFill>
                  <a:srgbClr val="FF0000"/>
                </a:solidFill>
              </a:rPr>
              <a:t> Nghi</a:t>
            </a:r>
          </a:p>
          <a:p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Trần</a:t>
            </a:r>
            <a:r>
              <a:rPr lang="en-US" dirty="0"/>
              <a:t> </a:t>
            </a:r>
            <a:r>
              <a:rPr lang="en-US" dirty="0" err="1"/>
              <a:t>Phúc</a:t>
            </a:r>
            <a:r>
              <a:rPr lang="en-US" dirty="0"/>
              <a:t> An</a:t>
            </a:r>
          </a:p>
          <a:p>
            <a:r>
              <a:rPr lang="en-US" dirty="0" err="1">
                <a:solidFill>
                  <a:srgbClr val="FF0000"/>
                </a:solidFill>
              </a:rPr>
              <a:t>Nguyễn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Đức</a:t>
            </a:r>
            <a:r>
              <a:rPr lang="en-US" dirty="0">
                <a:solidFill>
                  <a:srgbClr val="FF0000"/>
                </a:solidFill>
              </a:rPr>
              <a:t> Anh </a:t>
            </a:r>
            <a:r>
              <a:rPr lang="en-US" dirty="0" err="1">
                <a:solidFill>
                  <a:srgbClr val="FF0000"/>
                </a:solidFill>
              </a:rPr>
              <a:t>Phúc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/>
              <a:t>Trịnh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Thanh Trúc</a:t>
            </a:r>
          </a:p>
          <a:p>
            <a:r>
              <a:rPr lang="en-US" dirty="0"/>
              <a:t>KS. Cao Bá </a:t>
            </a:r>
            <a:r>
              <a:rPr lang="en-US"/>
              <a:t>Kiệt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D686E-4114-4A0E-1FEE-7584196A67B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/>
              <a:t>ThS. Nguyễn Hoàn Mỹ</a:t>
            </a:r>
          </a:p>
          <a:p>
            <a:r>
              <a:rPr lang="en-US">
                <a:solidFill>
                  <a:srgbClr val="FF0000"/>
                </a:solidFill>
              </a:rPr>
              <a:t>ThS. Dương Phi Long</a:t>
            </a:r>
          </a:p>
          <a:p>
            <a:r>
              <a:rPr lang="en-US"/>
              <a:t>ThS. Trương Quốc Dũng </a:t>
            </a:r>
          </a:p>
          <a:p>
            <a:r>
              <a:rPr lang="en-US">
                <a:solidFill>
                  <a:srgbClr val="FF0000"/>
                </a:solidFill>
              </a:rPr>
              <a:t>ThS. Nguyễn Thành Hiệp</a:t>
            </a:r>
          </a:p>
          <a:p>
            <a:r>
              <a:rPr lang="en-US"/>
              <a:t>ThS. Nguyễn Võ Đăng Khoa</a:t>
            </a:r>
          </a:p>
          <a:p>
            <a:r>
              <a:rPr lang="en-US">
                <a:solidFill>
                  <a:srgbClr val="FF0000"/>
                </a:solidFill>
              </a:rPr>
              <a:t>ThS. Võ Duy Nguyên</a:t>
            </a:r>
          </a:p>
          <a:p>
            <a:r>
              <a:rPr lang="en-US"/>
              <a:t>TS. Nguyễn Văn Tâm</a:t>
            </a:r>
          </a:p>
          <a:p>
            <a:r>
              <a:rPr lang="en-US">
                <a:solidFill>
                  <a:srgbClr val="FF0000"/>
                </a:solidFill>
              </a:rPr>
              <a:t>ThS. Trần Việt Thu Phương</a:t>
            </a:r>
          </a:p>
          <a:p>
            <a:r>
              <a:rPr lang="en-US"/>
              <a:t>TS. Nguyễn Tấn Trần Minh Khang</a:t>
            </a:r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265234868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29751D-41C3-4A4C-9AC9-CCB7A061F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DATASET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BF91FE-C018-4D25-9A03-0B4B71F42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6274846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E8E49B6-FFB9-48FE-A4A6-A7632629F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Dataset</a:t>
            </a:r>
            <a:endParaRPr lang="vi-V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A5EA7F-8FCE-416E-9B84-E4673825C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>
                <a:solidFill>
                  <a:srgbClr val="0066FF"/>
                </a:solidFill>
              </a:rPr>
              <a:t>Tên </a:t>
            </a:r>
            <a:r>
              <a:rPr lang="vi-VN" sz="2800" dirty="0" err="1">
                <a:solidFill>
                  <a:srgbClr val="0066FF"/>
                </a:solidFill>
              </a:rPr>
              <a:t>tập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: </a:t>
            </a:r>
            <a:r>
              <a:rPr lang="vi-VN" sz="2800" dirty="0" err="1">
                <a:solidFill>
                  <a:srgbClr val="0066FF"/>
                </a:solidFill>
              </a:rPr>
              <a:t>Social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Network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Ads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algn="just"/>
            <a:r>
              <a:rPr lang="vi-VN" sz="2800" dirty="0" err="1">
                <a:solidFill>
                  <a:srgbClr val="FF0000"/>
                </a:solidFill>
              </a:rPr>
              <a:t>Nguồn</a:t>
            </a:r>
            <a:r>
              <a:rPr lang="vi-VN" sz="2800" dirty="0">
                <a:solidFill>
                  <a:srgbClr val="FF0000"/>
                </a:solidFill>
              </a:rPr>
              <a:t>: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>
                <a:solidFill>
                  <a:srgbClr val="008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https://www.superdatascience.com/pages/machine-learning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algn="just"/>
            <a:r>
              <a:rPr lang="vi-VN" sz="2800" dirty="0" err="1">
                <a:solidFill>
                  <a:srgbClr val="0066FF"/>
                </a:solidFill>
              </a:rPr>
              <a:t>Tập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cho </a:t>
            </a:r>
            <a:r>
              <a:rPr lang="vi-VN" sz="2800" dirty="0" err="1">
                <a:solidFill>
                  <a:srgbClr val="0066FF"/>
                </a:solidFill>
              </a:rPr>
              <a:t>biết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thông tin </a:t>
            </a:r>
            <a:r>
              <a:rPr lang="vi-VN" sz="2800" dirty="0" err="1">
                <a:solidFill>
                  <a:srgbClr val="0066FF"/>
                </a:solidFill>
              </a:rPr>
              <a:t>của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khách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họ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mua </a:t>
            </a:r>
            <a:r>
              <a:rPr lang="vi-VN" sz="2800" dirty="0" err="1">
                <a:solidFill>
                  <a:srgbClr val="0066FF"/>
                </a:solidFill>
              </a:rPr>
              <a:t>hàng</a:t>
            </a:r>
            <a:r>
              <a:rPr lang="vi-VN" sz="2800" dirty="0">
                <a:solidFill>
                  <a:srgbClr val="0066FF"/>
                </a:solidFill>
              </a:rPr>
              <a:t> hay không.</a:t>
            </a:r>
          </a:p>
        </p:txBody>
      </p:sp>
    </p:spTree>
    <p:extLst>
      <p:ext uri="{BB962C8B-B14F-4D97-AF65-F5344CB8AC3E}">
        <p14:creationId xmlns:p14="http://schemas.microsoft.com/office/powerpoint/2010/main" val="357772518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E8E49B6-FFB9-48FE-A4A6-A7632629F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Dataset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4A5EA7F-8FCE-416E-9B84-E4673825CC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chứa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400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mỗi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5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thuộc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gồm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/>
                <a:r>
                  <a:rPr lang="vi-VN" sz="2800" dirty="0" err="1">
                    <a:highlight>
                      <a:srgbClr val="FFFF00"/>
                    </a:highlight>
                  </a:rPr>
                  <a:t>UserID</a:t>
                </a:r>
                <a:r>
                  <a:rPr lang="vi-VN" sz="2800" dirty="0">
                    <a:solidFill>
                      <a:srgbClr val="FF0000"/>
                    </a:solidFill>
                  </a:rPr>
                  <a:t>: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Mã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định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danh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người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dùng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highlight>
                      <a:srgbClr val="FFFF00"/>
                    </a:highlight>
                  </a:rPr>
                  <a:t>Gender</a:t>
                </a:r>
                <a:r>
                  <a:rPr lang="vi-VN" sz="2800" dirty="0">
                    <a:solidFill>
                      <a:srgbClr val="0066FF"/>
                    </a:solidFill>
                  </a:rPr>
                  <a:t>: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Giới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người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dùng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highlight>
                      <a:srgbClr val="FFFF00"/>
                    </a:highlight>
                  </a:rPr>
                  <a:t>Age</a:t>
                </a:r>
                <a:r>
                  <a:rPr lang="vi-VN" sz="2800" dirty="0">
                    <a:solidFill>
                      <a:srgbClr val="FF0000"/>
                    </a:solidFill>
                  </a:rPr>
                  <a:t>: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Độ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tuổi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người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dùng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highlight>
                      <a:srgbClr val="FFFF00"/>
                    </a:highlight>
                  </a:rPr>
                  <a:t>Estimated</a:t>
                </a:r>
                <a:r>
                  <a:rPr lang="vi-VN" sz="2800" dirty="0"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highlight>
                      <a:srgbClr val="FFFF00"/>
                    </a:highlight>
                  </a:rPr>
                  <a:t>Salary</a:t>
                </a:r>
                <a:r>
                  <a:rPr lang="vi-VN" sz="2800" dirty="0">
                    <a:solidFill>
                      <a:srgbClr val="0066FF"/>
                    </a:solidFill>
                  </a:rPr>
                  <a:t>: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Mức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lương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ước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đoán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người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dùng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highlight>
                      <a:srgbClr val="FFFF00"/>
                    </a:highlight>
                  </a:rPr>
                  <a:t>Purchased</a:t>
                </a:r>
                <a:r>
                  <a:rPr lang="vi-VN" sz="2800" dirty="0">
                    <a:solidFill>
                      <a:srgbClr val="FF0000"/>
                    </a:solidFill>
                  </a:rPr>
                  <a:t>: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một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trong hai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cho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biết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khách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hàng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không mua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hàng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cho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biết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khách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hàng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mua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hàng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4A5EA7F-8FCE-416E-9B84-E4673825CC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338299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F6701-EC67-4BAE-885F-6D32DA238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Dataset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EE472-166E-4206-903F-85F9C5F94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sz="2800" dirty="0" err="1">
                <a:solidFill>
                  <a:srgbClr val="0066FF"/>
                </a:solidFill>
              </a:rPr>
              <a:t>Dưới</a:t>
            </a:r>
            <a:r>
              <a:rPr lang="vi-VN" sz="2800" dirty="0">
                <a:solidFill>
                  <a:srgbClr val="0066FF"/>
                </a:solidFill>
              </a:rPr>
              <a:t> đây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5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ngẫu</a:t>
            </a:r>
            <a:r>
              <a:rPr lang="vi-VN" sz="2800" dirty="0">
                <a:solidFill>
                  <a:srgbClr val="0066FF"/>
                </a:solidFill>
              </a:rPr>
              <a:t> nhiên trong </a:t>
            </a:r>
            <a:r>
              <a:rPr lang="vi-VN" sz="2800" dirty="0" err="1">
                <a:solidFill>
                  <a:srgbClr val="0066FF"/>
                </a:solidFill>
              </a:rPr>
              <a:t>tập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264C7AE0-BA47-456B-A146-198F1D3F3BB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86409" y="2286000"/>
              <a:ext cx="10972800" cy="35356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194560">
                      <a:extLst>
                        <a:ext uri="{9D8B030D-6E8A-4147-A177-3AD203B41FA5}">
                          <a16:colId xmlns:a16="http://schemas.microsoft.com/office/drawing/2014/main" val="19678286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218285020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360033769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3658340494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12786051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UserID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Gender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Age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Estimated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Purchased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1562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15624510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19,000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5347973"/>
                      </a:ext>
                    </a:extLst>
                  </a:tr>
                  <a:tr h="447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15810944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20,000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91906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15668575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Female</a:t>
                          </a:r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43,000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4643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15603246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Female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57,000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92353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15804002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76,000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12262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264C7AE0-BA47-456B-A146-198F1D3F3BB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108669562"/>
                  </p:ext>
                </p:extLst>
              </p:nvPr>
            </p:nvGraphicFramePr>
            <p:xfrm>
              <a:off x="586409" y="2286000"/>
              <a:ext cx="10972800" cy="35356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194560">
                      <a:extLst>
                        <a:ext uri="{9D8B030D-6E8A-4147-A177-3AD203B41FA5}">
                          <a16:colId xmlns:a16="http://schemas.microsoft.com/office/drawing/2014/main" val="19678286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218285020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360033769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3658340494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1278605173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UserID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Gender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Age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Estimated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Purchased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156256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" t="-194118" r="-401389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23" t="-194118" r="-200554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56" t="-194118" r="-101111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556" t="-194118" r="-1111" b="-4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534797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" t="-294118" r="-401389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23" t="-294118" r="-200554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56" t="-294118" r="-101111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556" t="-294118" r="-1111" b="-3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190605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" t="-394118" r="-401389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Female</a:t>
                          </a:r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23" t="-394118" r="-200554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56" t="-394118" r="-101111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556" t="-394118" r="-1111" b="-2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46435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" t="-494118" r="-401389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Female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23" t="-494118" r="-200554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56" t="-494118" r="-101111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556" t="-494118" r="-1111" b="-1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235378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" t="-594118" r="-401389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23" t="-594118" r="-200554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56" t="-594118" r="-101111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556" t="-594118" r="-1111" b="-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22626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3193310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F6701-EC67-4BAE-885F-6D32DA238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Dataset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EE472-166E-4206-903F-85F9C5F94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 err="1">
                <a:solidFill>
                  <a:srgbClr val="0066FF"/>
                </a:solidFill>
              </a:rPr>
              <a:t>Yêu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cầu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với</a:t>
            </a:r>
            <a:r>
              <a:rPr lang="en-US" sz="2800" dirty="0">
                <a:solidFill>
                  <a:srgbClr val="0066FF"/>
                </a:solidFill>
              </a:rPr>
              <a:t> 2 </a:t>
            </a:r>
            <a:r>
              <a:rPr lang="en-US" sz="2800" dirty="0" err="1">
                <a:solidFill>
                  <a:srgbClr val="0066FF"/>
                </a:solidFill>
              </a:rPr>
              <a:t>thuộc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tính</a:t>
            </a:r>
            <a:r>
              <a:rPr lang="en-US" sz="2800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en-US" sz="2800" dirty="0" err="1">
                <a:solidFill>
                  <a:srgbClr val="FF0000"/>
                </a:solidFill>
              </a:rPr>
              <a:t>Độ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tuổi</a:t>
            </a:r>
            <a:r>
              <a:rPr lang="en-US" sz="2800" dirty="0">
                <a:solidFill>
                  <a:srgbClr val="FF0000"/>
                </a:solidFill>
              </a:rPr>
              <a:t> (Age)</a:t>
            </a:r>
          </a:p>
          <a:p>
            <a:pPr lvl="1" algn="just"/>
            <a:r>
              <a:rPr lang="en-US" sz="2800" dirty="0" err="1">
                <a:solidFill>
                  <a:srgbClr val="0066FF"/>
                </a:solidFill>
              </a:rPr>
              <a:t>Mức</a:t>
            </a:r>
            <a:r>
              <a:rPr lang="en-US" sz="2800" dirty="0">
                <a:solidFill>
                  <a:srgbClr val="0066FF"/>
                </a:solidFill>
              </a:rPr>
              <a:t> l</a:t>
            </a:r>
            <a:r>
              <a:rPr lang="vi-VN" sz="2800" dirty="0">
                <a:solidFill>
                  <a:srgbClr val="0066FF"/>
                </a:solidFill>
              </a:rPr>
              <a:t>ư</a:t>
            </a:r>
            <a:r>
              <a:rPr lang="en-US" sz="2800" dirty="0" err="1">
                <a:solidFill>
                  <a:srgbClr val="0066FF"/>
                </a:solidFill>
              </a:rPr>
              <a:t>ơng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ước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đoán</a:t>
            </a:r>
            <a:r>
              <a:rPr lang="vi-VN" sz="2800" dirty="0">
                <a:solidFill>
                  <a:srgbClr val="0066FF"/>
                </a:solidFill>
              </a:rPr>
              <a:t> (</a:t>
            </a:r>
            <a:r>
              <a:rPr lang="vi-VN" sz="2800" dirty="0" err="1">
                <a:solidFill>
                  <a:srgbClr val="0066FF"/>
                </a:solidFill>
              </a:rPr>
              <a:t>Estimated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Salary</a:t>
            </a:r>
            <a:r>
              <a:rPr lang="vi-VN" sz="2800" dirty="0">
                <a:solidFill>
                  <a:srgbClr val="0066FF"/>
                </a:solidFill>
              </a:rPr>
              <a:t>)</a:t>
            </a:r>
          </a:p>
          <a:p>
            <a:pPr marL="0" indent="0" algn="just">
              <a:buNone/>
            </a:pPr>
            <a:r>
              <a:rPr lang="en-US" sz="4000" dirty="0">
                <a:solidFill>
                  <a:srgbClr val="FF0000"/>
                </a:solidFill>
              </a:rPr>
              <a:t>D</a:t>
            </a:r>
            <a:r>
              <a:rPr lang="vi-VN" sz="4000" dirty="0">
                <a:solidFill>
                  <a:srgbClr val="FF0000"/>
                </a:solidFill>
              </a:rPr>
              <a:t>ự </a:t>
            </a:r>
            <a:r>
              <a:rPr lang="vi-VN" sz="4000" dirty="0" err="1">
                <a:solidFill>
                  <a:srgbClr val="FF0000"/>
                </a:solidFill>
              </a:rPr>
              <a:t>đoán</a:t>
            </a:r>
            <a:r>
              <a:rPr lang="vi-VN" sz="4000" dirty="0">
                <a:solidFill>
                  <a:srgbClr val="FF0000"/>
                </a:solidFill>
              </a:rPr>
              <a:t> </a:t>
            </a:r>
            <a:r>
              <a:rPr lang="vi-VN" sz="4000" dirty="0" err="1">
                <a:solidFill>
                  <a:srgbClr val="FF0000"/>
                </a:solidFill>
              </a:rPr>
              <a:t>khách</a:t>
            </a:r>
            <a:r>
              <a:rPr lang="vi-VN" sz="4000" dirty="0">
                <a:solidFill>
                  <a:srgbClr val="FF0000"/>
                </a:solidFill>
              </a:rPr>
              <a:t> </a:t>
            </a:r>
            <a:r>
              <a:rPr lang="vi-VN" sz="4000" dirty="0" err="1">
                <a:solidFill>
                  <a:srgbClr val="FF0000"/>
                </a:solidFill>
              </a:rPr>
              <a:t>hàng</a:t>
            </a:r>
            <a:r>
              <a:rPr lang="vi-VN" sz="4000" dirty="0">
                <a:solidFill>
                  <a:srgbClr val="FF0000"/>
                </a:solidFill>
              </a:rPr>
              <a:t> </a:t>
            </a:r>
            <a:r>
              <a:rPr lang="vi-VN" sz="4000" dirty="0" err="1">
                <a:solidFill>
                  <a:srgbClr val="FF0000"/>
                </a:solidFill>
              </a:rPr>
              <a:t>sẽ</a:t>
            </a:r>
            <a:r>
              <a:rPr lang="vi-VN" sz="4000" dirty="0">
                <a:solidFill>
                  <a:srgbClr val="FF0000"/>
                </a:solidFill>
              </a:rPr>
              <a:t> mua </a:t>
            </a:r>
            <a:r>
              <a:rPr lang="vi-VN" sz="4000" dirty="0" err="1">
                <a:solidFill>
                  <a:srgbClr val="FF0000"/>
                </a:solidFill>
              </a:rPr>
              <a:t>hàng</a:t>
            </a:r>
            <a:r>
              <a:rPr lang="vi-VN" sz="4000" dirty="0">
                <a:solidFill>
                  <a:srgbClr val="FF0000"/>
                </a:solidFill>
              </a:rPr>
              <a:t> hay không?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02019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4B3B2F-8C78-45AD-9334-804B5343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648CF-DA24-4949-AFDB-25EC09D4A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4969979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4B3B2F-8C78-45AD-9334-804B5343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A14EBF-6606-4138-BF0B-F8C2D0B7E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>
                <a:solidFill>
                  <a:srgbClr val="0066FF"/>
                </a:solidFill>
              </a:rPr>
              <a:t>Ở </a:t>
            </a:r>
            <a:r>
              <a:rPr lang="en-US" sz="2800" dirty="0" err="1">
                <a:solidFill>
                  <a:srgbClr val="0066FF"/>
                </a:solidFill>
              </a:rPr>
              <a:t>bài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này</a:t>
            </a:r>
            <a:r>
              <a:rPr lang="en-US" sz="2800" dirty="0">
                <a:solidFill>
                  <a:srgbClr val="0066FF"/>
                </a:solidFill>
              </a:rPr>
              <a:t>, ta </a:t>
            </a:r>
            <a:r>
              <a:rPr lang="en-US" sz="2800" dirty="0" err="1">
                <a:solidFill>
                  <a:srgbClr val="0066FF"/>
                </a:solidFill>
              </a:rPr>
              <a:t>chỉ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quan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tâm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đến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hai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thuộc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tính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tuổi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và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mức</a:t>
            </a:r>
            <a:r>
              <a:rPr lang="en-US" sz="2800" dirty="0">
                <a:solidFill>
                  <a:srgbClr val="0066FF"/>
                </a:solidFill>
              </a:rPr>
              <a:t> l</a:t>
            </a:r>
            <a:r>
              <a:rPr lang="vi-VN" sz="2800" dirty="0">
                <a:solidFill>
                  <a:srgbClr val="0066FF"/>
                </a:solidFill>
              </a:rPr>
              <a:t>ư</a:t>
            </a:r>
            <a:r>
              <a:rPr lang="en-US" sz="2800" dirty="0" err="1">
                <a:solidFill>
                  <a:srgbClr val="0066FF"/>
                </a:solidFill>
              </a:rPr>
              <a:t>ơng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vi-VN" sz="2800" dirty="0">
                <a:solidFill>
                  <a:srgbClr val="0066FF"/>
                </a:solidFill>
              </a:rPr>
              <a:t>ư</a:t>
            </a:r>
            <a:r>
              <a:rPr lang="en-US" sz="2800" dirty="0" err="1">
                <a:solidFill>
                  <a:srgbClr val="0066FF"/>
                </a:solidFill>
              </a:rPr>
              <a:t>ớc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đoán</a:t>
            </a:r>
            <a:r>
              <a:rPr lang="en-US" sz="2800" dirty="0">
                <a:solidFill>
                  <a:srgbClr val="0066FF"/>
                </a:solidFill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vi-VN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vi-VN" sz="280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vi-VN" sz="2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pandas</a:t>
            </a:r>
            <a:r>
              <a:rPr lang="vi-VN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sz="2800" dirty="0" err="1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vi-VN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pd</a:t>
            </a:r>
            <a:endParaRPr lang="vi-VN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vi-VN" sz="2800" dirty="0" err="1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vi-VN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vi-VN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sz="2800" dirty="0" err="1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vi-VN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endParaRPr lang="vi-VN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vi-VN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dataset</a:t>
            </a:r>
            <a:r>
              <a:rPr lang="vi-VN" sz="28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vi-VN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pd.read_csv</a:t>
            </a:r>
            <a:r>
              <a:rPr lang="vi-VN" sz="2800" dirty="0">
                <a:highlight>
                  <a:srgbClr val="FFFF00"/>
                </a:highlight>
                <a:latin typeface="Consolas" panose="020B0609020204030204" pitchFamily="49" charset="0"/>
              </a:rPr>
              <a:t>("Social_Network_Ads.csv")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fi-FI" sz="2800" dirty="0">
                <a:solidFill>
                  <a:srgbClr val="000000"/>
                </a:solidFill>
                <a:latin typeface="Consolas" panose="020B0609020204030204" pitchFamily="49" charset="0"/>
              </a:rPr>
              <a:t>X = dataset.iloc[:, [</a:t>
            </a:r>
            <a:r>
              <a:rPr lang="fi-FI" sz="2800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fi-FI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i-FI" sz="2800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fi-FI" sz="2800" dirty="0">
                <a:solidFill>
                  <a:srgbClr val="000000"/>
                </a:solidFill>
                <a:latin typeface="Consolas" panose="020B0609020204030204" pitchFamily="49" charset="0"/>
              </a:rPr>
              <a:t>]].values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80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s-E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dataset.iloc</a:t>
            </a:r>
            <a:r>
              <a:rPr lang="es-ES" sz="2800" dirty="0">
                <a:solidFill>
                  <a:srgbClr val="000000"/>
                </a:solidFill>
                <a:latin typeface="Consolas" panose="020B0609020204030204" pitchFamily="49" charset="0"/>
              </a:rPr>
              <a:t>[:, </a:t>
            </a:r>
            <a:r>
              <a:rPr lang="es-ES" sz="2800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es-ES" sz="28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s-E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values</a:t>
            </a:r>
            <a:endParaRPr lang="es-E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12693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4B3B2F-8C78-45AD-9334-804B5343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A14EBF-6606-4138-BF0B-F8C2D0B7E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"/>
              </a:spcBef>
            </a:pPr>
            <a:r>
              <a:rPr lang="vi-VN" sz="2800" dirty="0" err="1">
                <a:solidFill>
                  <a:srgbClr val="0066FF"/>
                </a:solidFill>
              </a:rPr>
              <a:t>Với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mục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đích</a:t>
            </a:r>
            <a:r>
              <a:rPr lang="vi-VN" sz="2800" dirty="0">
                <a:solidFill>
                  <a:srgbClr val="0066FF"/>
                </a:solidFill>
              </a:rPr>
              <a:t>:</a:t>
            </a:r>
          </a:p>
          <a:p>
            <a:pPr lvl="1" algn="just">
              <a:spcBef>
                <a:spcPts val="300"/>
              </a:spcBef>
            </a:pPr>
            <a:r>
              <a:rPr lang="vi-VN" sz="2800" dirty="0" err="1">
                <a:solidFill>
                  <a:srgbClr val="FF0000"/>
                </a:solidFill>
              </a:rPr>
              <a:t>Thuận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tiện</a:t>
            </a:r>
            <a:r>
              <a:rPr lang="vi-VN" sz="2800" dirty="0">
                <a:solidFill>
                  <a:srgbClr val="FF0000"/>
                </a:solidFill>
              </a:rPr>
              <a:t> cho </a:t>
            </a:r>
            <a:r>
              <a:rPr lang="vi-VN" sz="2800" dirty="0" err="1">
                <a:solidFill>
                  <a:srgbClr val="FF0000"/>
                </a:solidFill>
              </a:rPr>
              <a:t>trực</a:t>
            </a:r>
            <a:r>
              <a:rPr lang="vi-VN" sz="2800" dirty="0">
                <a:solidFill>
                  <a:srgbClr val="FF0000"/>
                </a:solidFill>
              </a:rPr>
              <a:t> quan </a:t>
            </a:r>
            <a:r>
              <a:rPr lang="vi-VN" sz="2800" dirty="0" err="1">
                <a:solidFill>
                  <a:srgbClr val="FF0000"/>
                </a:solidFill>
              </a:rPr>
              <a:t>hóa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kết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quả</a:t>
            </a:r>
            <a:r>
              <a:rPr lang="vi-VN" sz="2800" dirty="0">
                <a:solidFill>
                  <a:srgbClr val="FF0000"/>
                </a:solidFill>
              </a:rPr>
              <a:t> sau khi </a:t>
            </a:r>
            <a:r>
              <a:rPr lang="vi-VN" sz="2800" dirty="0" err="1">
                <a:solidFill>
                  <a:srgbClr val="FF0000"/>
                </a:solidFill>
              </a:rPr>
              <a:t>huấn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luyện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lvl="1" algn="just">
              <a:spcBef>
                <a:spcPts val="300"/>
              </a:spcBef>
            </a:pPr>
            <a:r>
              <a:rPr lang="vi-VN" sz="2800" dirty="0">
                <a:solidFill>
                  <a:srgbClr val="0066FF"/>
                </a:solidFill>
              </a:rPr>
              <a:t>Tăng </a:t>
            </a:r>
            <a:r>
              <a:rPr lang="vi-VN" sz="2800" dirty="0" err="1">
                <a:solidFill>
                  <a:srgbClr val="0066FF"/>
                </a:solidFill>
              </a:rPr>
              <a:t>hiệu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khi </a:t>
            </a:r>
            <a:r>
              <a:rPr lang="vi-VN" sz="2800" dirty="0" err="1">
                <a:solidFill>
                  <a:srgbClr val="0066FF"/>
                </a:solidFill>
              </a:rPr>
              <a:t>huấn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luyện</a:t>
            </a:r>
            <a:r>
              <a:rPr lang="vi-VN" sz="2800" dirty="0">
                <a:solidFill>
                  <a:srgbClr val="0066FF"/>
                </a:solidFill>
              </a:rPr>
              <a:t> trên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SVM.</a:t>
            </a:r>
          </a:p>
          <a:p>
            <a:pPr marL="57150" indent="0" algn="just">
              <a:spcBef>
                <a:spcPts val="300"/>
              </a:spcBef>
              <a:buNone/>
            </a:pPr>
            <a:r>
              <a:rPr lang="vi-VN" sz="2800" dirty="0">
                <a:solidFill>
                  <a:srgbClr val="FF0000"/>
                </a:solidFill>
              </a:rPr>
              <a:t>Ta </a:t>
            </a:r>
            <a:r>
              <a:rPr lang="vi-VN" sz="2800" dirty="0" err="1">
                <a:solidFill>
                  <a:srgbClr val="FF0000"/>
                </a:solidFill>
              </a:rPr>
              <a:t>chuẩn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hóa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dữ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liệu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về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dạng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vọng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bằng</a:t>
            </a:r>
            <a:r>
              <a:rPr lang="vi-VN" sz="2800" dirty="0">
                <a:solidFill>
                  <a:srgbClr val="FF0000"/>
                </a:solidFill>
              </a:rPr>
              <a:t> 0 </a:t>
            </a:r>
            <a:r>
              <a:rPr lang="vi-VN" sz="2800" dirty="0" err="1">
                <a:solidFill>
                  <a:srgbClr val="FF0000"/>
                </a:solidFill>
              </a:rPr>
              <a:t>và</a:t>
            </a:r>
            <a:r>
              <a:rPr lang="vi-VN" sz="2800" dirty="0">
                <a:solidFill>
                  <a:srgbClr val="FF0000"/>
                </a:solidFill>
              </a:rPr>
              <a:t> phương sai </a:t>
            </a:r>
            <a:r>
              <a:rPr lang="vi-VN" sz="2800" dirty="0" err="1">
                <a:solidFill>
                  <a:srgbClr val="FF0000"/>
                </a:solidFill>
              </a:rPr>
              <a:t>bằng</a:t>
            </a:r>
            <a:r>
              <a:rPr lang="vi-VN" sz="2800" dirty="0">
                <a:solidFill>
                  <a:srgbClr val="FF0000"/>
                </a:solidFill>
              </a:rPr>
              <a:t> 1.</a:t>
            </a:r>
          </a:p>
          <a:p>
            <a:pPr marL="514350" indent="-457200" algn="just">
              <a:spcBef>
                <a:spcPts val="300"/>
              </a:spcBef>
            </a:pPr>
            <a:r>
              <a:rPr lang="vi-VN" sz="2800" dirty="0" err="1">
                <a:solidFill>
                  <a:srgbClr val="0066FF"/>
                </a:solidFill>
              </a:rPr>
              <a:t>Lớp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StandardScaler</a:t>
            </a:r>
            <a:r>
              <a:rPr lang="vi-VN" sz="2800" dirty="0">
                <a:solidFill>
                  <a:srgbClr val="0066FF"/>
                </a:solidFill>
              </a:rPr>
              <a:t> trong </a:t>
            </a:r>
            <a:r>
              <a:rPr lang="vi-VN" sz="2800" dirty="0" err="1">
                <a:solidFill>
                  <a:srgbClr val="0066FF"/>
                </a:solidFill>
              </a:rPr>
              <a:t>module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sklearn.preprocessing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đã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được</a:t>
            </a:r>
            <a:r>
              <a:rPr lang="vi-VN" sz="2800" dirty="0">
                <a:solidFill>
                  <a:srgbClr val="0066FF"/>
                </a:solidFill>
              </a:rPr>
              <a:t> xây </a:t>
            </a:r>
            <a:r>
              <a:rPr lang="vi-VN" sz="2800" dirty="0" err="1">
                <a:solidFill>
                  <a:srgbClr val="0066FF"/>
                </a:solidFill>
              </a:rPr>
              <a:t>dựng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sẵn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để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chuẩn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marL="457200" indent="-457200" algn="just">
              <a:spcBef>
                <a:spcPts val="300"/>
              </a:spcBef>
              <a:buFont typeface="+mj-lt"/>
              <a:buAutoNum type="arabicPeriod" startAt="7"/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sklearn.preprocessing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StandardScaler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spcBef>
                <a:spcPts val="300"/>
              </a:spcBef>
              <a:buFont typeface="+mj-lt"/>
              <a:buAutoNum type="arabicPeriod" startAt="7"/>
            </a:pP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SC =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StandardScaler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457200" indent="-457200" algn="just">
              <a:spcBef>
                <a:spcPts val="300"/>
              </a:spcBef>
              <a:buFont typeface="+mj-lt"/>
              <a:buAutoNum type="arabicPeriod" startAt="7"/>
            </a:pP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SC.fit_transform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</a:p>
        </p:txBody>
      </p:sp>
    </p:spTree>
    <p:extLst>
      <p:ext uri="{BB962C8B-B14F-4D97-AF65-F5344CB8AC3E}">
        <p14:creationId xmlns:p14="http://schemas.microsoft.com/office/powerpoint/2010/main" val="59362376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4B3B2F-8C78-45AD-9334-804B5343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A14EBF-6606-4138-BF0B-F8C2D0B7E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>
                <a:solidFill>
                  <a:srgbClr val="0066FF"/>
                </a:solidFill>
              </a:rPr>
              <a:t>Chia </a:t>
            </a:r>
            <a:r>
              <a:rPr lang="en-US" sz="2800" dirty="0" err="1">
                <a:solidFill>
                  <a:srgbClr val="0066FF"/>
                </a:solidFill>
              </a:rPr>
              <a:t>dữ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liệu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thành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hai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tập</a:t>
            </a:r>
            <a:r>
              <a:rPr lang="en-US" sz="2800" dirty="0">
                <a:solidFill>
                  <a:srgbClr val="0066FF"/>
                </a:solidFill>
              </a:rPr>
              <a:t> training set </a:t>
            </a:r>
            <a:r>
              <a:rPr lang="en-US" sz="2800" dirty="0" err="1">
                <a:solidFill>
                  <a:srgbClr val="0066FF"/>
                </a:solidFill>
              </a:rPr>
              <a:t>và</a:t>
            </a:r>
            <a:r>
              <a:rPr lang="en-US" sz="2800" dirty="0">
                <a:solidFill>
                  <a:srgbClr val="0066FF"/>
                </a:solidFill>
              </a:rPr>
              <a:t> test set.</a:t>
            </a:r>
          </a:p>
          <a:p>
            <a:pPr algn="just"/>
            <a:r>
              <a:rPr lang="en-US" sz="2800" dirty="0">
                <a:solidFill>
                  <a:srgbClr val="FF0000"/>
                </a:solidFill>
              </a:rPr>
              <a:t>Ta </a:t>
            </a:r>
            <a:r>
              <a:rPr lang="en-US" sz="2800" dirty="0" err="1">
                <a:solidFill>
                  <a:srgbClr val="FF0000"/>
                </a:solidFill>
              </a:rPr>
              <a:t>dùng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hàm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train_test_split</a:t>
            </a:r>
            <a:r>
              <a:rPr lang="en-US" sz="2800" dirty="0">
                <a:solidFill>
                  <a:srgbClr val="FF0000"/>
                </a:solidFill>
              </a:rPr>
              <a:t> đ</a:t>
            </a:r>
            <a:r>
              <a:rPr lang="vi-VN" sz="2800" dirty="0" err="1">
                <a:solidFill>
                  <a:srgbClr val="FF0000"/>
                </a:solidFill>
              </a:rPr>
              <a:t>ược</a:t>
            </a:r>
            <a:r>
              <a:rPr lang="vi-VN" sz="2800" dirty="0">
                <a:solidFill>
                  <a:srgbClr val="FF0000"/>
                </a:solidFill>
              </a:rPr>
              <a:t> cung </a:t>
            </a:r>
            <a:r>
              <a:rPr lang="vi-VN" sz="2800" dirty="0" err="1">
                <a:solidFill>
                  <a:srgbClr val="FF0000"/>
                </a:solidFill>
              </a:rPr>
              <a:t>cấp</a:t>
            </a:r>
            <a:r>
              <a:rPr lang="vi-VN" sz="2800" dirty="0">
                <a:solidFill>
                  <a:srgbClr val="FF0000"/>
                </a:solidFill>
              </a:rPr>
              <a:t> trong </a:t>
            </a:r>
            <a:r>
              <a:rPr lang="vi-VN" sz="2800" dirty="0" err="1">
                <a:solidFill>
                  <a:srgbClr val="FF0000"/>
                </a:solidFill>
              </a:rPr>
              <a:t>module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sklearn.model_selection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 startAt="10"/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sklearn.model_selection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train_test_split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 startAt="10"/>
            </a:pPr>
            <a:r>
              <a:t>X_train, X_test, y_train, y_test = train_test_split(X, y, train_size = 0.8, random_state = 0)</a:t>
            </a:r>
          </a:p>
          <a:p>
            <a:pPr marL="0" indent="0" algn="just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77211202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8EF05E-C092-4A0A-963A-B4B827D2F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8DD0D7-166E-4EC1-B249-66AF94207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447265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8EF05E-C092-4A0A-963A-B4B827D2F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D79ADC-34B1-4E7E-BF88-45FE6E454E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7537" y="1762919"/>
            <a:ext cx="587692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53399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8EF05E-C092-4A0A-963A-B4B827D2F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01BD90-68F2-4043-A681-4CE496AAF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 err="1">
                <a:solidFill>
                  <a:srgbClr val="0066FF"/>
                </a:solidFill>
              </a:rPr>
              <a:t>Xây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dựng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hàm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trực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quan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hóa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các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điểm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dữ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liệu</a:t>
            </a:r>
            <a:r>
              <a:rPr lang="en-US" sz="2800" dirty="0">
                <a:solidFill>
                  <a:srgbClr val="0066FF"/>
                </a:solidFill>
              </a:rPr>
              <a:t>.</a:t>
            </a:r>
          </a:p>
          <a:p>
            <a:pPr marL="457200" indent="-457200" algn="just">
              <a:buFont typeface="+mj-lt"/>
              <a:buAutoNum type="arabicPeriod" startAt="11"/>
            </a:pPr>
            <a:endParaRPr lang="en-US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 startAt="11"/>
            </a:pPr>
            <a:r>
              <a:rPr lang="vi-VN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matplotlib.colors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ListedColormap</a:t>
            </a: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 startAt="11"/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 startAt="11"/>
            </a:pPr>
            <a:r>
              <a:rPr lang="vi-VN" dirty="0" err="1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795E26"/>
                </a:solidFill>
                <a:latin typeface="Consolas" panose="020B0609020204030204" pitchFamily="49" charset="0"/>
              </a:rPr>
              <a:t>VisualizingDataset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vi-VN" dirty="0">
                <a:solidFill>
                  <a:srgbClr val="001080"/>
                </a:solidFill>
                <a:latin typeface="Consolas" panose="020B0609020204030204" pitchFamily="49" charset="0"/>
              </a:rPr>
              <a:t>X_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vi-VN" dirty="0">
                <a:solidFill>
                  <a:srgbClr val="001080"/>
                </a:solidFill>
                <a:latin typeface="Consolas" panose="020B0609020204030204" pitchFamily="49" charset="0"/>
              </a:rPr>
              <a:t>y_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457200" indent="-457200" algn="just">
              <a:buFont typeface="+mj-lt"/>
              <a:buAutoNum type="arabicPeriod" startAt="11"/>
            </a:pP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   X1 = X_[:, </a:t>
            </a:r>
            <a:r>
              <a:rPr lang="vi-VN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457200" indent="-457200" algn="just">
              <a:buFont typeface="+mj-lt"/>
              <a:buAutoNum type="arabicPeriod" startAt="11"/>
            </a:pP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   X2 = X_[:, </a:t>
            </a:r>
            <a:r>
              <a:rPr lang="vi-V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457200" indent="-457200" algn="just">
              <a:buFont typeface="+mj-lt"/>
              <a:buAutoNum type="arabicPeriod" startAt="11"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label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enumerate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np.unique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(y_)):</a:t>
            </a:r>
          </a:p>
          <a:p>
            <a:pPr marL="457200" indent="-457200" algn="just">
              <a:buFont typeface="+mj-lt"/>
              <a:buAutoNum type="arabicPeriod" startAt="11"/>
            </a:pP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plt.scatter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(X1[y_ == 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label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], X2[y_ == 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label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], 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	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ListedColormap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"red"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"green"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65417045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67E4-70E5-4178-8021-580FFB07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2091A-AA45-4AC6-8CDE-21216FC81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Gọi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 startAt="18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VisualizingDataset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(X, y)</a:t>
            </a:r>
          </a:p>
          <a:p>
            <a:pPr marL="457200" indent="-457200" algn="just">
              <a:buFont typeface="+mj-lt"/>
              <a:buAutoNum type="arabicPeriod" startAt="18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0188945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67E4-70E5-4178-8021-580FFB07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E9A416-4274-4410-9F60-93605379AA6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335314"/>
            <a:ext cx="6324600" cy="47908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12C6F-9A97-4651-AFB9-ADB638D4C9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US" sz="2800" dirty="0">
                <a:solidFill>
                  <a:srgbClr val="0066FF"/>
                </a:solidFill>
              </a:rPr>
              <a:t>Theo </a:t>
            </a:r>
            <a:r>
              <a:rPr lang="en-US" sz="2800" dirty="0" err="1">
                <a:solidFill>
                  <a:srgbClr val="0066FF"/>
                </a:solidFill>
              </a:rPr>
              <a:t>hình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vẽ</a:t>
            </a:r>
            <a:r>
              <a:rPr lang="en-US" sz="2800" dirty="0">
                <a:solidFill>
                  <a:srgbClr val="0066FF"/>
                </a:solidFill>
              </a:rPr>
              <a:t>, ta </a:t>
            </a:r>
            <a:r>
              <a:rPr lang="en-US" sz="2800" dirty="0" err="1">
                <a:solidFill>
                  <a:srgbClr val="0066FF"/>
                </a:solidFill>
              </a:rPr>
              <a:t>thấy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các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điểm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có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sự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phân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bố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thành</a:t>
            </a:r>
            <a:r>
              <a:rPr lang="en-US" sz="2800" dirty="0">
                <a:solidFill>
                  <a:srgbClr val="0066FF"/>
                </a:solidFill>
              </a:rPr>
              <a:t> 2 </a:t>
            </a:r>
            <a:r>
              <a:rPr lang="en-US" sz="2800" dirty="0" err="1">
                <a:solidFill>
                  <a:srgbClr val="0066FF"/>
                </a:solidFill>
              </a:rPr>
              <a:t>mảng</a:t>
            </a:r>
            <a:r>
              <a:rPr lang="en-US" sz="2800" dirty="0">
                <a:solidFill>
                  <a:srgbClr val="0066FF"/>
                </a:solidFill>
              </a:rPr>
              <a:t>. </a:t>
            </a:r>
          </a:p>
          <a:p>
            <a:pPr lvl="1" algn="just"/>
            <a:r>
              <a:rPr lang="en-US" sz="2800" dirty="0" err="1">
                <a:solidFill>
                  <a:srgbClr val="FF0000"/>
                </a:solidFill>
              </a:rPr>
              <a:t>Mảng</a:t>
            </a:r>
            <a:r>
              <a:rPr lang="en-US" sz="2800" dirty="0">
                <a:solidFill>
                  <a:srgbClr val="FF0000"/>
                </a:solidFill>
              </a:rPr>
              <a:t> d</a:t>
            </a:r>
            <a:r>
              <a:rPr lang="vi-VN" sz="2800" dirty="0" err="1">
                <a:solidFill>
                  <a:srgbClr val="FF0000"/>
                </a:solidFill>
              </a:rPr>
              <a:t>ưới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trái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phần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lớn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màu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đỏ</a:t>
            </a:r>
            <a:r>
              <a:rPr lang="vi-VN" sz="2800" dirty="0">
                <a:solidFill>
                  <a:srgbClr val="FF0000"/>
                </a:solidFill>
              </a:rPr>
              <a:t>, </a:t>
            </a:r>
            <a:r>
              <a:rPr lang="vi-VN" sz="2800" dirty="0" err="1">
                <a:solidFill>
                  <a:srgbClr val="FF0000"/>
                </a:solidFill>
              </a:rPr>
              <a:t>tức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khách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hàng</a:t>
            </a:r>
            <a:r>
              <a:rPr lang="vi-VN" sz="2800" dirty="0">
                <a:solidFill>
                  <a:srgbClr val="FF0000"/>
                </a:solidFill>
              </a:rPr>
              <a:t> không mua </a:t>
            </a:r>
            <a:r>
              <a:rPr lang="vi-VN" sz="2800" dirty="0" err="1">
                <a:solidFill>
                  <a:srgbClr val="FF0000"/>
                </a:solidFill>
              </a:rPr>
              <a:t>hàng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Mảng</a:t>
            </a:r>
            <a:r>
              <a:rPr lang="vi-VN" sz="2800" dirty="0">
                <a:solidFill>
                  <a:srgbClr val="0066FF"/>
                </a:solidFill>
              </a:rPr>
              <a:t> bên </a:t>
            </a:r>
            <a:r>
              <a:rPr lang="vi-VN" sz="2800" dirty="0" err="1">
                <a:solidFill>
                  <a:srgbClr val="0066FF"/>
                </a:solidFill>
              </a:rPr>
              <a:t>phải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mảng</a:t>
            </a:r>
            <a:r>
              <a:rPr lang="vi-VN" sz="2800" dirty="0">
                <a:solidFill>
                  <a:srgbClr val="0066FF"/>
                </a:solidFill>
              </a:rPr>
              <a:t> bên trên </a:t>
            </a:r>
            <a:r>
              <a:rPr lang="vi-VN" sz="2800" dirty="0" err="1">
                <a:solidFill>
                  <a:srgbClr val="0066FF"/>
                </a:solidFill>
              </a:rPr>
              <a:t>phần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lớn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màu</a:t>
            </a:r>
            <a:r>
              <a:rPr lang="vi-VN" sz="2800" dirty="0">
                <a:solidFill>
                  <a:srgbClr val="0066FF"/>
                </a:solidFill>
              </a:rPr>
              <a:t> xanh, </a:t>
            </a:r>
            <a:r>
              <a:rPr lang="vi-VN" sz="2800" dirty="0" err="1">
                <a:solidFill>
                  <a:srgbClr val="0066FF"/>
                </a:solidFill>
              </a:rPr>
              <a:t>tức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khách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mua </a:t>
            </a:r>
            <a:r>
              <a:rPr lang="vi-VN" sz="2800" dirty="0" err="1">
                <a:solidFill>
                  <a:srgbClr val="0066FF"/>
                </a:solidFill>
              </a:rPr>
              <a:t>hàng</a:t>
            </a:r>
            <a:r>
              <a:rPr lang="vi-VN" sz="2800" dirty="0">
                <a:solidFill>
                  <a:srgbClr val="0066FF"/>
                </a:solidFill>
              </a:rPr>
              <a:t>. </a:t>
            </a:r>
            <a:endParaRPr lang="vi-VN" sz="3200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64463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67E4-70E5-4178-8021-580FFB07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E9A416-4274-4410-9F60-93605379AA6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335314"/>
            <a:ext cx="6324600" cy="47908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12C6F-9A97-4651-AFB9-ADB638D4C9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vi-VN" sz="3200" dirty="0" err="1">
                <a:solidFill>
                  <a:srgbClr val="0066FF"/>
                </a:solidFill>
              </a:rPr>
              <a:t>Điều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này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là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phù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hợp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vì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các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khách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hàng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trẻ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và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có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mức</a:t>
            </a:r>
            <a:r>
              <a:rPr lang="vi-VN" sz="3200" dirty="0">
                <a:solidFill>
                  <a:srgbClr val="0066FF"/>
                </a:solidFill>
              </a:rPr>
              <a:t> lương </a:t>
            </a:r>
            <a:r>
              <a:rPr lang="vi-VN" sz="3200" dirty="0" err="1">
                <a:solidFill>
                  <a:srgbClr val="0066FF"/>
                </a:solidFill>
              </a:rPr>
              <a:t>thấp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sẽ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thường</a:t>
            </a:r>
            <a:r>
              <a:rPr lang="vi-VN" sz="3200" dirty="0">
                <a:solidFill>
                  <a:srgbClr val="0066FF"/>
                </a:solidFill>
              </a:rPr>
              <a:t> không mua </a:t>
            </a:r>
            <a:r>
              <a:rPr lang="vi-VN" sz="3200" dirty="0" err="1">
                <a:solidFill>
                  <a:srgbClr val="0066FF"/>
                </a:solidFill>
              </a:rPr>
              <a:t>hàng</a:t>
            </a:r>
            <a:r>
              <a:rPr lang="vi-VN" sz="3200" dirty="0">
                <a:solidFill>
                  <a:srgbClr val="0066FF"/>
                </a:solidFill>
              </a:rPr>
              <a:t>. </a:t>
            </a:r>
          </a:p>
          <a:p>
            <a:pPr algn="just"/>
            <a:r>
              <a:rPr lang="vi-VN" sz="3200" dirty="0" err="1">
                <a:solidFill>
                  <a:srgbClr val="FF0000"/>
                </a:solidFill>
              </a:rPr>
              <a:t>Ngược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lại</a:t>
            </a:r>
            <a:r>
              <a:rPr lang="vi-VN" sz="3200" dirty="0">
                <a:solidFill>
                  <a:srgbClr val="FF0000"/>
                </a:solidFill>
              </a:rPr>
              <a:t>, </a:t>
            </a:r>
            <a:r>
              <a:rPr lang="vi-VN" sz="3200" dirty="0" err="1">
                <a:solidFill>
                  <a:srgbClr val="FF0000"/>
                </a:solidFill>
              </a:rPr>
              <a:t>khách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hàng</a:t>
            </a:r>
            <a:r>
              <a:rPr lang="vi-VN" sz="3200" dirty="0">
                <a:solidFill>
                  <a:srgbClr val="FF0000"/>
                </a:solidFill>
              </a:rPr>
              <a:t> cao </a:t>
            </a:r>
            <a:r>
              <a:rPr lang="vi-VN" sz="3200" dirty="0" err="1">
                <a:solidFill>
                  <a:srgbClr val="FF0000"/>
                </a:solidFill>
              </a:rPr>
              <a:t>tuổi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hoặc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có</a:t>
            </a:r>
            <a:r>
              <a:rPr lang="vi-VN" sz="3200" dirty="0">
                <a:solidFill>
                  <a:srgbClr val="FF0000"/>
                </a:solidFill>
              </a:rPr>
              <a:t> lương cao </a:t>
            </a:r>
            <a:r>
              <a:rPr lang="vi-VN" sz="3200" dirty="0" err="1">
                <a:solidFill>
                  <a:srgbClr val="FF0000"/>
                </a:solidFill>
              </a:rPr>
              <a:t>sẽ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thường</a:t>
            </a:r>
            <a:r>
              <a:rPr lang="vi-VN" sz="3200" dirty="0">
                <a:solidFill>
                  <a:srgbClr val="FF0000"/>
                </a:solidFill>
              </a:rPr>
              <a:t> mua </a:t>
            </a:r>
            <a:r>
              <a:rPr lang="vi-VN" sz="3200" dirty="0" err="1">
                <a:solidFill>
                  <a:srgbClr val="FF0000"/>
                </a:solidFill>
              </a:rPr>
              <a:t>hàng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nhiều</a:t>
            </a:r>
            <a:r>
              <a:rPr lang="vi-VN" sz="3200" dirty="0">
                <a:solidFill>
                  <a:srgbClr val="FF0000"/>
                </a:solidFill>
              </a:rPr>
              <a:t> hơn.</a:t>
            </a:r>
          </a:p>
        </p:txBody>
      </p:sp>
    </p:spTree>
    <p:extLst>
      <p:ext uri="{BB962C8B-B14F-4D97-AF65-F5344CB8AC3E}">
        <p14:creationId xmlns:p14="http://schemas.microsoft.com/office/powerpoint/2010/main" val="224632693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89129D-638B-4DCA-830A-FBF98714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SVM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B32012-D23F-4B9D-95F7-BA4EBADD5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465868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89129D-638B-4DCA-830A-FBF987143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dirty="0"/>
              <a:t>Kernel SVM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2CFB27-AAF2-4E13-B6AB-2FE55B073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algn="just"/>
            <a:r>
              <a:rPr lang="vi-VN" sz="2800" i="1" dirty="0" err="1">
                <a:solidFill>
                  <a:srgbClr val="0066FF"/>
                </a:solidFill>
              </a:rPr>
              <a:t>Support</a:t>
            </a:r>
            <a:r>
              <a:rPr lang="vi-VN" sz="2800" i="1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Vector</a:t>
            </a:r>
            <a:r>
              <a:rPr lang="vi-VN" sz="2800" i="1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Machine</a:t>
            </a:r>
            <a:r>
              <a:rPr lang="vi-VN" sz="2800" i="1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một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thuật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toán</a:t>
            </a:r>
            <a:r>
              <a:rPr lang="vi-VN" sz="2800" dirty="0">
                <a:solidFill>
                  <a:srgbClr val="0066FF"/>
                </a:solidFill>
              </a:rPr>
              <a:t> phân </a:t>
            </a:r>
            <a:r>
              <a:rPr lang="vi-VN" sz="2800" dirty="0" err="1">
                <a:solidFill>
                  <a:srgbClr val="0066FF"/>
                </a:solidFill>
              </a:rPr>
              <a:t>loại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tuyến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tính</a:t>
            </a:r>
            <a:r>
              <a:rPr lang="vi-VN" sz="2800" dirty="0">
                <a:solidFill>
                  <a:srgbClr val="0066FF"/>
                </a:solidFill>
              </a:rPr>
              <a:t>, do </a:t>
            </a:r>
            <a:r>
              <a:rPr lang="vi-VN" sz="2800" dirty="0" err="1">
                <a:solidFill>
                  <a:srgbClr val="0066FF"/>
                </a:solidFill>
              </a:rPr>
              <a:t>đó</a:t>
            </a:r>
            <a:r>
              <a:rPr lang="vi-VN" sz="2800" dirty="0">
                <a:solidFill>
                  <a:srgbClr val="0066FF"/>
                </a:solidFill>
              </a:rPr>
              <a:t>, </a:t>
            </a:r>
            <a:r>
              <a:rPr lang="vi-VN" sz="2800" dirty="0" err="1">
                <a:solidFill>
                  <a:srgbClr val="0066FF"/>
                </a:solidFill>
              </a:rPr>
              <a:t>với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không phân </a:t>
            </a:r>
            <a:r>
              <a:rPr lang="vi-VN" sz="2800" dirty="0" err="1">
                <a:solidFill>
                  <a:srgbClr val="0066FF"/>
                </a:solidFill>
              </a:rPr>
              <a:t>biệt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tuyến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tính</a:t>
            </a:r>
            <a:r>
              <a:rPr lang="vi-VN" sz="2800" dirty="0">
                <a:solidFill>
                  <a:srgbClr val="0066FF"/>
                </a:solidFill>
              </a:rPr>
              <a:t>, </a:t>
            </a:r>
            <a:r>
              <a:rPr lang="vi-VN" sz="2800" dirty="0" err="1">
                <a:solidFill>
                  <a:srgbClr val="0066FF"/>
                </a:solidFill>
              </a:rPr>
              <a:t>tức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đường</a:t>
            </a:r>
            <a:r>
              <a:rPr lang="vi-VN" sz="2800" dirty="0">
                <a:solidFill>
                  <a:srgbClr val="0066FF"/>
                </a:solidFill>
              </a:rPr>
              <a:t> phân chia không </a:t>
            </a:r>
            <a:r>
              <a:rPr lang="vi-VN" sz="2800" dirty="0" err="1">
                <a:solidFill>
                  <a:srgbClr val="0066FF"/>
                </a:solidFill>
              </a:rPr>
              <a:t>phải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một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đường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thẳng</a:t>
            </a:r>
            <a:r>
              <a:rPr lang="vi-VN" sz="2800" dirty="0">
                <a:solidFill>
                  <a:srgbClr val="0066FF"/>
                </a:solidFill>
              </a:rPr>
              <a:t>, </a:t>
            </a:r>
            <a:r>
              <a:rPr lang="vi-VN" sz="2800" i="1" dirty="0">
                <a:solidFill>
                  <a:srgbClr val="0066FF"/>
                </a:solidFill>
              </a:rPr>
              <a:t>SVM</a:t>
            </a:r>
            <a:r>
              <a:rPr lang="vi-VN" sz="2800" dirty="0">
                <a:solidFill>
                  <a:srgbClr val="0066FF"/>
                </a:solidFill>
              </a:rPr>
              <a:t> cho </a:t>
            </a:r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rất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tệ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A0D193-047E-48E4-8886-8A7F4CF65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208485"/>
            <a:ext cx="4572000" cy="2951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0A5147-4230-45AE-BBE4-2FB8C85B2CA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3200" y="3081866"/>
            <a:ext cx="4847971" cy="308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66018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89129D-638B-4DCA-830A-FBF98714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SVM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2CFB27-AAF2-4E13-B6AB-2FE55B073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i="1" dirty="0" err="1">
                <a:solidFill>
                  <a:srgbClr val="0066FF"/>
                </a:solidFill>
              </a:rPr>
              <a:t>Kernel</a:t>
            </a:r>
            <a:r>
              <a:rPr lang="vi-VN" sz="2800" i="1" dirty="0">
                <a:solidFill>
                  <a:srgbClr val="0066FF"/>
                </a:solidFill>
              </a:rPr>
              <a:t> SVM</a:t>
            </a:r>
            <a:r>
              <a:rPr lang="vi-VN" sz="2800" dirty="0">
                <a:solidFill>
                  <a:srgbClr val="0066FF"/>
                </a:solidFill>
              </a:rPr>
              <a:t> sinh ra </a:t>
            </a:r>
            <a:r>
              <a:rPr lang="vi-VN" sz="2800" dirty="0" err="1">
                <a:solidFill>
                  <a:srgbClr val="0066FF"/>
                </a:solidFill>
              </a:rPr>
              <a:t>để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thể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hoạt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động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tốt</a:t>
            </a:r>
            <a:r>
              <a:rPr lang="vi-VN" sz="2800" dirty="0">
                <a:solidFill>
                  <a:srgbClr val="0066FF"/>
                </a:solidFill>
              </a:rPr>
              <a:t> trên </a:t>
            </a:r>
            <a:r>
              <a:rPr lang="vi-VN" sz="2800" dirty="0" err="1">
                <a:solidFill>
                  <a:srgbClr val="0066FF"/>
                </a:solidFill>
              </a:rPr>
              <a:t>cả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những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tập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không phân </a:t>
            </a:r>
            <a:r>
              <a:rPr lang="vi-VN" sz="2800" dirty="0" err="1">
                <a:solidFill>
                  <a:srgbClr val="0066FF"/>
                </a:solidFill>
              </a:rPr>
              <a:t>biệt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tuyến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tính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algn="just"/>
            <a:r>
              <a:rPr lang="vi-VN" sz="2800">
                <a:solidFill>
                  <a:srgbClr val="FF0000"/>
                </a:solidFill>
              </a:rPr>
              <a:t>Ý tưởng của </a:t>
            </a:r>
            <a:r>
              <a:rPr lang="vi-VN" sz="2800" i="1">
                <a:solidFill>
                  <a:srgbClr val="FF0000"/>
                </a:solidFill>
              </a:rPr>
              <a:t>Kernel SVM</a:t>
            </a:r>
            <a:r>
              <a:rPr lang="vi-VN" sz="2800">
                <a:solidFill>
                  <a:srgbClr val="FF0000"/>
                </a:solidFill>
              </a:rPr>
              <a:t> là ánh xạ các điểm dữ liệu trong tập dữ liệu hiện tại sang một không gian mới có số chiều lớn hơn. </a:t>
            </a:r>
          </a:p>
          <a:p>
            <a:pPr algn="just"/>
            <a:r>
              <a:rPr lang="vi-VN" sz="2800">
                <a:solidFill>
                  <a:srgbClr val="0066FF"/>
                </a:solidFill>
              </a:rPr>
              <a:t>Từ đó, dữ liệu không phân biệt tuyến tính sẽ có thể chuyển sang phân biệt tuyến tính.</a:t>
            </a:r>
            <a:endParaRPr lang="vi-VN" sz="2800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862427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89129D-638B-4DCA-830A-FBF98714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SVM</a:t>
            </a:r>
            <a:endParaRPr lang="vi-V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8E3A1D7-FB7C-40AA-B88E-2C2328E3A5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438400"/>
            <a:ext cx="3454400" cy="2590800"/>
          </a:xfrm>
        </p:spPr>
      </p:pic>
    </p:spTree>
    <p:extLst>
      <p:ext uri="{BB962C8B-B14F-4D97-AF65-F5344CB8AC3E}">
        <p14:creationId xmlns:p14="http://schemas.microsoft.com/office/powerpoint/2010/main" val="125463096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89129D-638B-4DCA-830A-FBF987143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Kernel SVM</a:t>
            </a:r>
            <a:endParaRPr lang="vi-V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FC3BDF-6D86-442B-B8DF-26B9123A1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916596"/>
            <a:ext cx="3552825" cy="3505200"/>
          </a:xfrm>
          <a:prstGeom prst="rect">
            <a:avLst/>
          </a:prstGeom>
        </p:spPr>
      </p:pic>
      <p:pic>
        <p:nvPicPr>
          <p:cNvPr id="7" name="Content Placeholder 2">
            <a:extLst>
              <a:ext uri="{FF2B5EF4-FFF2-40B4-BE49-F238E27FC236}">
                <a16:creationId xmlns:a16="http://schemas.microsoft.com/office/drawing/2014/main" id="{D5BE20F7-BDB4-4970-BB31-4B0F35218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219200" y="1802296"/>
            <a:ext cx="3609975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793738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89129D-638B-4DCA-830A-FBF98714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SVM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12D3368-991C-43A8-AC6A-6A25450666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Dưới đây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cách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chuyển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không phân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biệt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tuyến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ở không gian hai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chiều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sang không gian ba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chiều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Ta thêm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một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chiều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vào</a:t>
                </a:r>
                <a:r>
                  <a:rPr lang="vi-VN" sz="2800" dirty="0">
                    <a:solidFill>
                      <a:srgbClr val="FF0000"/>
                    </a:solidFill>
                  </a:rPr>
                  <a:t> hai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chiều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hiện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gọi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),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ở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 Khi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mới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sẽ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dạng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hay </a:t>
                </a:r>
                <a14:m>
                  <m:oMath xmlns:m="http://schemas.openxmlformats.org/officeDocument/2006/math"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Lưu ý, đây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chỉ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vô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cách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chuyển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đổi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12D3368-991C-43A8-AC6A-6A25450666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619267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89129D-638B-4DCA-830A-FBF98714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SVM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2CFB27-AAF2-4E13-B6AB-2FE55B073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>
                <a:solidFill>
                  <a:srgbClr val="0066FF"/>
                </a:solidFill>
              </a:rPr>
              <a:t>Trong </a:t>
            </a:r>
            <a:r>
              <a:rPr lang="vi-VN" sz="2800" dirty="0" err="1">
                <a:solidFill>
                  <a:srgbClr val="0066FF"/>
                </a:solidFill>
              </a:rPr>
              <a:t>thực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tế</a:t>
            </a:r>
            <a:r>
              <a:rPr lang="vi-VN" sz="2800" dirty="0">
                <a:solidFill>
                  <a:srgbClr val="0066FF"/>
                </a:solidFill>
              </a:rPr>
              <a:t>, </a:t>
            </a:r>
            <a:r>
              <a:rPr lang="vi-VN" sz="2800" dirty="0" err="1">
                <a:solidFill>
                  <a:srgbClr val="0066FF"/>
                </a:solidFill>
              </a:rPr>
              <a:t>số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chiều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của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rất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lớn</a:t>
            </a:r>
            <a:r>
              <a:rPr lang="vi-VN" sz="2800" dirty="0">
                <a:solidFill>
                  <a:srgbClr val="0066FF"/>
                </a:solidFill>
              </a:rPr>
              <a:t>,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thể</a:t>
            </a:r>
            <a:r>
              <a:rPr lang="vi-VN" sz="2800" dirty="0">
                <a:solidFill>
                  <a:srgbClr val="0066FF"/>
                </a:solidFill>
              </a:rPr>
              <a:t> lên </a:t>
            </a:r>
            <a:r>
              <a:rPr lang="vi-VN" sz="2800" dirty="0" err="1">
                <a:solidFill>
                  <a:srgbClr val="0066FF"/>
                </a:solidFill>
              </a:rPr>
              <a:t>tới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hàng</a:t>
            </a:r>
            <a:r>
              <a:rPr lang="vi-VN" sz="2800" dirty="0">
                <a:solidFill>
                  <a:srgbClr val="0066FF"/>
                </a:solidFill>
              </a:rPr>
              <a:t> trăm </a:t>
            </a:r>
            <a:r>
              <a:rPr lang="vi-VN" sz="2800" dirty="0" err="1">
                <a:solidFill>
                  <a:srgbClr val="0066FF"/>
                </a:solidFill>
              </a:rPr>
              <a:t>đến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chiều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algn="just"/>
            <a:r>
              <a:rPr lang="vi-VN" sz="2800" dirty="0">
                <a:solidFill>
                  <a:srgbClr val="FF0000"/>
                </a:solidFill>
              </a:rPr>
              <a:t>Do </a:t>
            </a:r>
            <a:r>
              <a:rPr lang="vi-VN" sz="2800" dirty="0" err="1">
                <a:solidFill>
                  <a:srgbClr val="FF0000"/>
                </a:solidFill>
              </a:rPr>
              <a:t>đó</a:t>
            </a:r>
            <a:r>
              <a:rPr lang="vi-VN" sz="2800" dirty="0">
                <a:solidFill>
                  <a:srgbClr val="FF0000"/>
                </a:solidFill>
              </a:rPr>
              <a:t>, </a:t>
            </a:r>
            <a:r>
              <a:rPr lang="vi-VN" sz="2800" dirty="0" err="1">
                <a:solidFill>
                  <a:srgbClr val="FF0000"/>
                </a:solidFill>
              </a:rPr>
              <a:t>việc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tìm</a:t>
            </a:r>
            <a:r>
              <a:rPr lang="vi-VN" sz="2800" dirty="0">
                <a:solidFill>
                  <a:srgbClr val="FF0000"/>
                </a:solidFill>
              </a:rPr>
              <a:t> ra </a:t>
            </a:r>
            <a:r>
              <a:rPr lang="vi-VN" sz="2800" dirty="0" err="1">
                <a:solidFill>
                  <a:srgbClr val="FF0000"/>
                </a:solidFill>
              </a:rPr>
              <a:t>được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một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cách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chuyển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dữ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liệu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vào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một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chiều</a:t>
            </a:r>
            <a:r>
              <a:rPr lang="vi-VN" sz="2800" dirty="0">
                <a:solidFill>
                  <a:srgbClr val="FF0000"/>
                </a:solidFill>
              </a:rPr>
              <a:t> không gian </a:t>
            </a:r>
            <a:r>
              <a:rPr lang="vi-VN" sz="2800" dirty="0" err="1">
                <a:solidFill>
                  <a:srgbClr val="FF0000"/>
                </a:solidFill>
              </a:rPr>
              <a:t>mới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số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chiều</a:t>
            </a:r>
            <a:r>
              <a:rPr lang="vi-VN" sz="2800" dirty="0">
                <a:solidFill>
                  <a:srgbClr val="FF0000"/>
                </a:solidFill>
              </a:rPr>
              <a:t> cao hơn </a:t>
            </a:r>
            <a:r>
              <a:rPr lang="vi-VN" sz="2800" dirty="0" err="1">
                <a:solidFill>
                  <a:srgbClr val="FF0000"/>
                </a:solidFill>
              </a:rPr>
              <a:t>sẽ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tốn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rất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nhiều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thời</a:t>
            </a:r>
            <a:r>
              <a:rPr lang="vi-VN" sz="2800" dirty="0">
                <a:solidFill>
                  <a:srgbClr val="FF0000"/>
                </a:solidFill>
              </a:rPr>
              <a:t> gian </a:t>
            </a:r>
            <a:r>
              <a:rPr lang="vi-VN" sz="2800" dirty="0" err="1">
                <a:solidFill>
                  <a:srgbClr val="FF0000"/>
                </a:solidFill>
              </a:rPr>
              <a:t>và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bộ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nhớ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520872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89129D-638B-4DCA-830A-FBF98714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SVM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2CFB27-AAF2-4E13-B6AB-2FE55B073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Cách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i="1" dirty="0">
                <a:solidFill>
                  <a:srgbClr val="0066FF"/>
                </a:solidFill>
              </a:rPr>
              <a:t>SVM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dự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đoán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mới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vi-VN" sz="2800" dirty="0">
                <a:solidFill>
                  <a:srgbClr val="FF0000"/>
                </a:solidFill>
              </a:rPr>
              <a:t>Sau </a:t>
            </a:r>
            <a:r>
              <a:rPr lang="vi-VN" sz="2800" dirty="0" err="1">
                <a:solidFill>
                  <a:srgbClr val="FF0000"/>
                </a:solidFill>
              </a:rPr>
              <a:t>quá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trình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huấn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luyện</a:t>
            </a:r>
            <a:r>
              <a:rPr lang="vi-VN" sz="2800" dirty="0">
                <a:solidFill>
                  <a:srgbClr val="FF0000"/>
                </a:solidFill>
              </a:rPr>
              <a:t>, mô </a:t>
            </a:r>
            <a:r>
              <a:rPr lang="vi-VN" sz="2800" dirty="0" err="1">
                <a:solidFill>
                  <a:srgbClr val="FF0000"/>
                </a:solidFill>
              </a:rPr>
              <a:t>hình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i="1" dirty="0">
                <a:solidFill>
                  <a:srgbClr val="FF0000"/>
                </a:solidFill>
              </a:rPr>
              <a:t>SVM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sẽ</a:t>
            </a:r>
            <a:r>
              <a:rPr lang="vi-VN" sz="2800" dirty="0">
                <a:solidFill>
                  <a:srgbClr val="FF0000"/>
                </a:solidFill>
              </a:rPr>
              <a:t> thu </a:t>
            </a:r>
            <a:r>
              <a:rPr lang="vi-VN" sz="2800" dirty="0" err="1">
                <a:solidFill>
                  <a:srgbClr val="FF0000"/>
                </a:solidFill>
              </a:rPr>
              <a:t>được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một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số</a:t>
            </a:r>
            <a:r>
              <a:rPr lang="vi-VN" sz="2800" dirty="0">
                <a:solidFill>
                  <a:srgbClr val="FF0000"/>
                </a:solidFill>
              </a:rPr>
              <a:t> (</a:t>
            </a:r>
            <a:r>
              <a:rPr lang="vi-VN" sz="2800" dirty="0" err="1">
                <a:solidFill>
                  <a:srgbClr val="FF0000"/>
                </a:solidFill>
              </a:rPr>
              <a:t>rất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ít</a:t>
            </a:r>
            <a:r>
              <a:rPr lang="vi-VN" sz="2800" dirty="0">
                <a:solidFill>
                  <a:srgbClr val="FF0000"/>
                </a:solidFill>
              </a:rPr>
              <a:t>) </a:t>
            </a:r>
            <a:r>
              <a:rPr lang="vi-VN" sz="2800" dirty="0" err="1">
                <a:solidFill>
                  <a:srgbClr val="FF0000"/>
                </a:solidFill>
              </a:rPr>
              <a:t>vector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để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phục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vụ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việc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dự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đoán</a:t>
            </a:r>
            <a:r>
              <a:rPr lang="vi-VN" sz="2800" dirty="0">
                <a:solidFill>
                  <a:srgbClr val="FF0000"/>
                </a:solidFill>
              </a:rPr>
              <a:t> sau </a:t>
            </a:r>
            <a:r>
              <a:rPr lang="vi-VN" sz="2800" dirty="0" err="1">
                <a:solidFill>
                  <a:srgbClr val="FF0000"/>
                </a:solidFill>
              </a:rPr>
              <a:t>này</a:t>
            </a:r>
            <a:r>
              <a:rPr lang="vi-VN" sz="2800" dirty="0">
                <a:solidFill>
                  <a:srgbClr val="FF0000"/>
                </a:solidFill>
              </a:rPr>
              <a:t> (</a:t>
            </a:r>
            <a:r>
              <a:rPr lang="vi-VN" sz="2800" dirty="0" err="1">
                <a:solidFill>
                  <a:srgbClr val="FF0000"/>
                </a:solidFill>
              </a:rPr>
              <a:t>các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vector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này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còn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được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gọi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support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vectors</a:t>
            </a:r>
            <a:r>
              <a:rPr lang="vi-VN" sz="2800" dirty="0">
                <a:solidFill>
                  <a:srgbClr val="FF0000"/>
                </a:solidFill>
              </a:rPr>
              <a:t>).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Để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dự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đoán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một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mới</a:t>
            </a:r>
            <a:r>
              <a:rPr lang="vi-VN" sz="2800" dirty="0">
                <a:solidFill>
                  <a:srgbClr val="0066FF"/>
                </a:solidFill>
              </a:rPr>
              <a:t>, </a:t>
            </a:r>
            <a:r>
              <a:rPr lang="vi-VN" sz="2800" dirty="0" err="1">
                <a:solidFill>
                  <a:srgbClr val="0066FF"/>
                </a:solidFill>
              </a:rPr>
              <a:t>một</a:t>
            </a:r>
            <a:r>
              <a:rPr lang="vi-VN" sz="2800" dirty="0">
                <a:solidFill>
                  <a:srgbClr val="0066FF"/>
                </a:solidFill>
              </a:rPr>
              <a:t> công </a:t>
            </a:r>
            <a:r>
              <a:rPr lang="vi-VN" sz="2800" dirty="0" err="1">
                <a:solidFill>
                  <a:srgbClr val="0066FF"/>
                </a:solidFill>
              </a:rPr>
              <a:t>việc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i="1" dirty="0">
                <a:solidFill>
                  <a:srgbClr val="0066FF"/>
                </a:solidFill>
              </a:rPr>
              <a:t>SVM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sẽ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làm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tính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một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số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giá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trị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tích</a:t>
            </a:r>
            <a:r>
              <a:rPr lang="vi-VN" sz="2800" dirty="0">
                <a:solidFill>
                  <a:srgbClr val="0066FF"/>
                </a:solidFill>
              </a:rPr>
              <a:t> vô </a:t>
            </a:r>
            <a:r>
              <a:rPr lang="vi-VN" sz="2800" dirty="0" err="1">
                <a:solidFill>
                  <a:srgbClr val="0066FF"/>
                </a:solidFill>
              </a:rPr>
              <a:t>hướng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dựa</a:t>
            </a:r>
            <a:r>
              <a:rPr lang="vi-VN" sz="2800" dirty="0">
                <a:solidFill>
                  <a:srgbClr val="0066FF"/>
                </a:solidFill>
              </a:rPr>
              <a:t> trên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support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vectors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8414201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89129D-638B-4DCA-830A-FBF98714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SVM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2CFB27-AAF2-4E13-B6AB-2FE55B073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>
                <a:solidFill>
                  <a:srgbClr val="0066FF"/>
                </a:solidFill>
              </a:rPr>
              <a:t>Trong </a:t>
            </a:r>
            <a:r>
              <a:rPr lang="vi-VN" sz="2800" i="1" dirty="0">
                <a:solidFill>
                  <a:srgbClr val="0066FF"/>
                </a:solidFill>
              </a:rPr>
              <a:t>SVM</a:t>
            </a:r>
            <a:r>
              <a:rPr lang="vi-VN" sz="2800" dirty="0">
                <a:solidFill>
                  <a:srgbClr val="0066FF"/>
                </a:solidFill>
              </a:rPr>
              <a:t>, thay </a:t>
            </a:r>
            <a:r>
              <a:rPr lang="vi-VN" sz="2800" dirty="0" err="1">
                <a:solidFill>
                  <a:srgbClr val="0066FF"/>
                </a:solidFill>
              </a:rPr>
              <a:t>vì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phải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tìm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một</a:t>
            </a:r>
            <a:r>
              <a:rPr lang="vi-VN" sz="2800" dirty="0">
                <a:solidFill>
                  <a:srgbClr val="0066FF"/>
                </a:solidFill>
              </a:rPr>
              <a:t> công </a:t>
            </a:r>
            <a:r>
              <a:rPr lang="vi-VN" sz="2800" dirty="0" err="1">
                <a:solidFill>
                  <a:srgbClr val="0066FF"/>
                </a:solidFill>
              </a:rPr>
              <a:t>thức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chuyển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từng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vào</a:t>
            </a:r>
            <a:r>
              <a:rPr lang="vi-VN" sz="2800" dirty="0">
                <a:solidFill>
                  <a:srgbClr val="0066FF"/>
                </a:solidFill>
              </a:rPr>
              <a:t> không gian </a:t>
            </a:r>
            <a:r>
              <a:rPr lang="vi-VN" sz="2800" dirty="0" err="1">
                <a:solidFill>
                  <a:srgbClr val="0066FF"/>
                </a:solidFill>
              </a:rPr>
              <a:t>mới</a:t>
            </a:r>
            <a:r>
              <a:rPr lang="vi-VN" sz="2800" dirty="0">
                <a:solidFill>
                  <a:srgbClr val="0066FF"/>
                </a:solidFill>
              </a:rPr>
              <a:t>, ta </a:t>
            </a:r>
            <a:r>
              <a:rPr lang="vi-VN" sz="2800" dirty="0" err="1">
                <a:solidFill>
                  <a:srgbClr val="0066FF"/>
                </a:solidFill>
              </a:rPr>
              <a:t>chỉ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cần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tìm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một</a:t>
            </a:r>
            <a:r>
              <a:rPr lang="vi-VN" sz="2800" dirty="0">
                <a:solidFill>
                  <a:srgbClr val="0066FF"/>
                </a:solidFill>
              </a:rPr>
              <a:t> công </a:t>
            </a:r>
            <a:r>
              <a:rPr lang="vi-VN" sz="2800" dirty="0" err="1">
                <a:solidFill>
                  <a:srgbClr val="0066FF"/>
                </a:solidFill>
              </a:rPr>
              <a:t>thức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để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tính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tích</a:t>
            </a:r>
            <a:r>
              <a:rPr lang="vi-VN" sz="2800" dirty="0">
                <a:solidFill>
                  <a:srgbClr val="0066FF"/>
                </a:solidFill>
              </a:rPr>
              <a:t> vô </a:t>
            </a:r>
            <a:r>
              <a:rPr lang="vi-VN" sz="2800" dirty="0" err="1">
                <a:solidFill>
                  <a:srgbClr val="0066FF"/>
                </a:solidFill>
              </a:rPr>
              <a:t>hướng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của</a:t>
            </a:r>
            <a:r>
              <a:rPr lang="vi-VN" sz="2800" dirty="0">
                <a:solidFill>
                  <a:srgbClr val="0066FF"/>
                </a:solidFill>
              </a:rPr>
              <a:t> hai </a:t>
            </a:r>
            <a:r>
              <a:rPr lang="vi-VN" sz="2800" dirty="0" err="1">
                <a:solidFill>
                  <a:srgbClr val="0066FF"/>
                </a:solidFill>
              </a:rPr>
              <a:t>vector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bất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kỳ</a:t>
            </a:r>
            <a:r>
              <a:rPr lang="vi-VN" sz="2800" dirty="0">
                <a:solidFill>
                  <a:srgbClr val="0066FF"/>
                </a:solidFill>
              </a:rPr>
              <a:t> trong không gian </a:t>
            </a:r>
            <a:r>
              <a:rPr lang="vi-VN" sz="2800" dirty="0" err="1">
                <a:solidFill>
                  <a:srgbClr val="0066FF"/>
                </a:solidFill>
              </a:rPr>
              <a:t>mới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mà</a:t>
            </a:r>
            <a:r>
              <a:rPr lang="vi-VN" sz="2800" dirty="0">
                <a:solidFill>
                  <a:srgbClr val="0066FF"/>
                </a:solidFill>
              </a:rPr>
              <a:t> thôi.</a:t>
            </a:r>
          </a:p>
          <a:p>
            <a:pPr algn="just"/>
            <a:r>
              <a:rPr lang="vi-VN" sz="2800" dirty="0" err="1">
                <a:solidFill>
                  <a:srgbClr val="FF0000"/>
                </a:solidFill>
              </a:rPr>
              <a:t>Việc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áp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dụng</a:t>
            </a:r>
            <a:r>
              <a:rPr lang="vi-VN" sz="2800" dirty="0">
                <a:solidFill>
                  <a:srgbClr val="FF0000"/>
                </a:solidFill>
              </a:rPr>
              <a:t> công </a:t>
            </a:r>
            <a:r>
              <a:rPr lang="vi-VN" sz="2800" dirty="0" err="1">
                <a:solidFill>
                  <a:srgbClr val="FF0000"/>
                </a:solidFill>
              </a:rPr>
              <a:t>thức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tính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tích</a:t>
            </a:r>
            <a:r>
              <a:rPr lang="vi-VN" sz="2800" dirty="0">
                <a:solidFill>
                  <a:srgbClr val="FF0000"/>
                </a:solidFill>
              </a:rPr>
              <a:t> vô </a:t>
            </a:r>
            <a:r>
              <a:rPr lang="vi-VN" sz="2800" dirty="0" err="1">
                <a:solidFill>
                  <a:srgbClr val="FF0000"/>
                </a:solidFill>
              </a:rPr>
              <a:t>hướng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của</a:t>
            </a:r>
            <a:r>
              <a:rPr lang="vi-VN" sz="2800" dirty="0">
                <a:solidFill>
                  <a:srgbClr val="FF0000"/>
                </a:solidFill>
              </a:rPr>
              <a:t> hai </a:t>
            </a:r>
            <a:r>
              <a:rPr lang="vi-VN" sz="2800" dirty="0" err="1">
                <a:solidFill>
                  <a:srgbClr val="FF0000"/>
                </a:solidFill>
              </a:rPr>
              <a:t>vector</a:t>
            </a:r>
            <a:r>
              <a:rPr lang="vi-VN" sz="2800" dirty="0">
                <a:solidFill>
                  <a:srgbClr val="FF0000"/>
                </a:solidFill>
              </a:rPr>
              <a:t> trong không gian </a:t>
            </a:r>
            <a:r>
              <a:rPr lang="vi-VN" sz="2800" dirty="0" err="1">
                <a:solidFill>
                  <a:srgbClr val="FF0000"/>
                </a:solidFill>
              </a:rPr>
              <a:t>mới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vào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i="1" dirty="0">
                <a:solidFill>
                  <a:srgbClr val="FF0000"/>
                </a:solidFill>
              </a:rPr>
              <a:t>SVM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được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gọi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kernel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trick</a:t>
            </a:r>
            <a:r>
              <a:rPr lang="vi-VN" sz="2800" dirty="0">
                <a:solidFill>
                  <a:srgbClr val="FF0000"/>
                </a:solidFill>
              </a:rPr>
              <a:t>. </a:t>
            </a:r>
            <a:r>
              <a:rPr lang="vi-VN" sz="2800" dirty="0" err="1">
                <a:solidFill>
                  <a:srgbClr val="FF0000"/>
                </a:solidFill>
              </a:rPr>
              <a:t>Các</a:t>
            </a:r>
            <a:r>
              <a:rPr lang="vi-VN" sz="2800" dirty="0">
                <a:solidFill>
                  <a:srgbClr val="FF0000"/>
                </a:solidFill>
              </a:rPr>
              <a:t> công </a:t>
            </a:r>
            <a:r>
              <a:rPr lang="vi-VN" sz="2800" dirty="0" err="1">
                <a:solidFill>
                  <a:srgbClr val="FF0000"/>
                </a:solidFill>
              </a:rPr>
              <a:t>thức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tính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tích</a:t>
            </a:r>
            <a:r>
              <a:rPr lang="vi-VN" sz="2800" dirty="0">
                <a:solidFill>
                  <a:srgbClr val="FF0000"/>
                </a:solidFill>
              </a:rPr>
              <a:t> vô </a:t>
            </a:r>
            <a:r>
              <a:rPr lang="vi-VN" sz="2800" dirty="0" err="1">
                <a:solidFill>
                  <a:srgbClr val="FF0000"/>
                </a:solidFill>
              </a:rPr>
              <a:t>hướng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này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được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gọi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các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hàm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kernel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algn="just"/>
            <a:r>
              <a:rPr lang="vi-VN" sz="2800" dirty="0">
                <a:solidFill>
                  <a:srgbClr val="0066FF"/>
                </a:solidFill>
              </a:rPr>
              <a:t>SVM </a:t>
            </a:r>
            <a:r>
              <a:rPr lang="vi-VN" sz="2800" dirty="0" err="1">
                <a:solidFill>
                  <a:srgbClr val="0066FF"/>
                </a:solidFill>
              </a:rPr>
              <a:t>sử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dụng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kernel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trick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được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gọi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Kernel</a:t>
            </a:r>
            <a:r>
              <a:rPr lang="vi-VN" sz="2800" i="1" dirty="0">
                <a:solidFill>
                  <a:srgbClr val="0066FF"/>
                </a:solidFill>
              </a:rPr>
              <a:t> SVM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536340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89129D-638B-4DCA-830A-FBF98714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SVM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D2CFB27-AAF2-4E13-B6AB-2FE55B0739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Ví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Giả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sử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các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ở không gian 2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chiều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800" b="1" i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vi-VN" sz="2800" b="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vi-VN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vi-VN" sz="2800" b="0" i="1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vi-VN" sz="2800" b="0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2800" b="0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vi-VN" sz="2800" b="0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vi-VN" sz="2800" b="0" i="1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vi-VN" sz="2800" b="0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2800" b="0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vi-VN" sz="2800" b="0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vi-VN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vi-VN" sz="2800" dirty="0">
                  <a:solidFill>
                    <a:srgbClr val="0066FF"/>
                  </a:solidFill>
                </a:endParaRP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Xét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một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phép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biến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đối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từ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thành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một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trong không gian </a:t>
                </a:r>
                <a14:m>
                  <m:oMath xmlns:m="http://schemas.openxmlformats.org/officeDocument/2006/math"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chiều</a:t>
                </a:r>
                <a:endParaRPr lang="vi-VN" sz="2800" dirty="0">
                  <a:solidFill>
                    <a:srgbClr val="FF0000"/>
                  </a:solidFill>
                </a:endParaRPr>
              </a:p>
              <a:p>
                <a:pPr marL="914400" lvl="2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800" b="1" i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𝛟</m:t>
                      </m:r>
                      <m:d>
                        <m:dPr>
                          <m:ctrlPr>
                            <a:rPr lang="vi-VN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2800" b="1" i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vi-VN" sz="2800" b="1" i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vi-VN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vi-VN" sz="2800" b="0" i="1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vi-VN" sz="2800" b="0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vi-VN" sz="2800" b="0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vi-VN" sz="2800" b="0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vi-VN" sz="2800" b="0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vi-VN" sz="2800" b="0" i="1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 </m:t>
                              </m:r>
                              <m:sSubSup>
                                <m:sSubSupPr>
                                  <m:ctrlPr>
                                    <a:rPr lang="vi-VN" sz="2800" b="0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vi-VN" sz="2800" b="0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vi-VN" sz="2800" b="0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vi-VN" sz="2800" b="0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vi-VN" sz="2800" b="0" i="1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 </m:t>
                              </m:r>
                              <m:sSub>
                                <m:sSubPr>
                                  <m:ctrlPr>
                                    <a:rPr lang="vi-VN" sz="2800" b="0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2800" b="0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vi-VN" sz="2800" b="0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vi-VN" sz="2800" b="0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2800" b="0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vi-VN" sz="2800" b="0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ad>
                                <m:radPr>
                                  <m:degHide m:val="on"/>
                                  <m:ctrlPr>
                                    <a:rPr lang="vi-VN" sz="2800" b="0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vi-VN" sz="2800" b="0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vi-VN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vi-VN" sz="2800" i="1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D2CFB27-AAF2-4E13-B6AB-2FE55B0739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5394422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89129D-638B-4DCA-830A-FBF98714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SVM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D2CFB27-AAF2-4E13-B6AB-2FE55B0739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Ví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Tính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tích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vô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hướng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𝛟</m:t>
                    </m:r>
                    <m:sSup>
                      <m:sSupPr>
                        <m:ctrlPr>
                          <a:rPr lang="vi-V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vi-VN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sz="28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</m:e>
                      <m:sup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vi-V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𝛟</m:t>
                    </m:r>
                    <m:r>
                      <a:rPr lang="vi-V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vi-V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𝐳</m:t>
                    </m:r>
                    <m:r>
                      <a:rPr lang="vi-V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với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vi-V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𝐳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vector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trong không gian ban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đầu</a:t>
                </a:r>
                <a:r>
                  <a:rPr lang="vi-VN" sz="2800" dirty="0">
                    <a:solidFill>
                      <a:srgbClr val="FF0000"/>
                    </a:solidFill>
                  </a:rPr>
                  <a:t>. </a:t>
                </a:r>
              </a:p>
              <a:p>
                <a:pPr lvl="2" algn="just"/>
                <a14:m>
                  <m:oMath xmlns:m="http://schemas.openxmlformats.org/officeDocument/2006/math">
                    <m:r>
                      <a:rPr lang="vi-VN" sz="2800" b="1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𝛟</m:t>
                    </m:r>
                    <m:sSup>
                      <m:sSupPr>
                        <m:ctrlPr>
                          <a:rPr lang="vi-VN" sz="2800" b="1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vi-VN" sz="2800" b="1" i="1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sz="2800" b="1" i="0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</m:e>
                      <m:sup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vi-VN" sz="2800" b="1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𝛟</m:t>
                    </m:r>
                    <m:d>
                      <m:dPr>
                        <m:ctrlPr>
                          <a:rPr lang="vi-VN" sz="2800" b="1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800" b="1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vi-VN" sz="2800" b="1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vi-VN" sz="2800" b="0" i="1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vi-VN" sz="2800" b="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vi-VN" sz="28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vi-VN" sz="28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vi-VN" sz="2800" b="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vi-VN" sz="280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 </m:t>
                            </m:r>
                            <m:sSubSup>
                              <m:sSubSupPr>
                                <m:ctrlPr>
                                  <a:rPr lang="vi-VN" sz="2800" b="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vi-VN" sz="28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vi-VN" sz="28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vi-VN" sz="2800" b="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vi-VN" sz="280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vi-VN" sz="2800" b="0" i="1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vi-VN" sz="2800" b="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vi-VN" sz="2800" b="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vi-VN" sz="2800" b="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vi-VN" sz="2800" b="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vi-VN" sz="2800" b="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vi-VN" sz="2800" b="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ad>
                              <m:radPr>
                                <m:degHide m:val="on"/>
                                <m:ctrlPr>
                                  <a:rPr lang="vi-VN" sz="28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vi-VN" sz="2800" b="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vi-VN" sz="2800" i="1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bSup>
                      <m:sSubSupPr>
                        <m:ctrlP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vi-VN" sz="28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vi-VN" sz="2800" i="1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 </m:t>
                    </m:r>
                    <m:sSubSup>
                      <m:sSubSupPr>
                        <m:ctrlP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vi-VN" sz="28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vi-VN" sz="2800" i="1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vi-VN" sz="2800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vi-VN" sz="28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vi-VN" sz="2800" i="1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vi-VN" sz="2800" i="1" dirty="0">
                  <a:solidFill>
                    <a:srgbClr val="0066FF"/>
                  </a:solidFill>
                </a:endParaRPr>
              </a:p>
              <a:p>
                <a:pPr lvl="2" algn="just"/>
                <a14:m>
                  <m:oMath xmlns:m="http://schemas.openxmlformats.org/officeDocument/2006/math">
                    <m:r>
                      <a:rPr lang="vi-VN" sz="28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𝛟</m:t>
                    </m:r>
                    <m:sSup>
                      <m:sSupPr>
                        <m:ctrlPr>
                          <a:rPr lang="vi-V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vi-V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</m:e>
                      <m:sup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vi-VN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𝛟</m:t>
                    </m:r>
                    <m:d>
                      <m:dPr>
                        <m:ctrlPr>
                          <a:rPr lang="vi-V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vi-V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vi-VN" sz="2800" i="1" dirty="0">
                  <a:solidFill>
                    <a:srgbClr val="FF0000"/>
                  </a:solidFill>
                </a:endParaRPr>
              </a:p>
              <a:p>
                <a:pPr lvl="2" algn="just"/>
                <a14:m>
                  <m:oMath xmlns:m="http://schemas.openxmlformats.org/officeDocument/2006/math">
                    <m:r>
                      <a:rPr lang="vi-VN" sz="2800" b="1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𝛟</m:t>
                    </m:r>
                    <m:sSup>
                      <m:sSupPr>
                        <m:ctrlPr>
                          <a:rPr lang="vi-VN" sz="2800" b="1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vi-VN" sz="2800" b="1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sz="2800" b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</m:e>
                      <m:sup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vi-VN" sz="2800" b="1" i="1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𝛟</m:t>
                    </m:r>
                    <m:d>
                      <m:dPr>
                        <m:ctrlPr>
                          <a:rPr lang="vi-VN" sz="2800" b="1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800" b="1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vi-VN" sz="2800" b="1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vi-VN" sz="2800" b="0" i="1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vi-VN" sz="2800" b="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vi-VN" sz="2800" b="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vi-VN" sz="2800" b="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vi-VN" sz="2800" b="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vi-VN" sz="2800" b="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vi-VN" sz="2800" b="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vi-VN" sz="2800" b="0" i="1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vi-VN" sz="2800" b="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vi-VN" sz="2800" b="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vi-VN" sz="2800" b="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vi-VN" sz="2800" b="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vi-VN" sz="2800" b="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vi-VN" sz="2800" b="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800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vi-VN" sz="2800" b="1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vi-VN" sz="2800" b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vi-VN" sz="2800" b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vi-VN" sz="2800" b="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vi-VN" sz="2800" b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𝐳</m:t>
                        </m:r>
                        <m:r>
                          <a:rPr lang="vi-VN" sz="2800" b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800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vi-VN" sz="2800" b="1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  <m:r>
                      <a:rPr lang="vi-VN" sz="2800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vi-VN" sz="2800" b="1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𝐱</m:t>
                    </m:r>
                    <m:r>
                      <a:rPr lang="vi-VN" sz="2800" b="1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vi-VN" sz="2800" b="1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𝐳</m:t>
                    </m:r>
                    <m:r>
                      <a:rPr lang="vi-VN" sz="2800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vi-VN" sz="2800" i="1" dirty="0">
                  <a:solidFill>
                    <a:srgbClr val="0066FF"/>
                  </a:solidFill>
                </a:endParaRP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Ta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thể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tính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tích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vô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hướng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vector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trong không gian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mới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không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cần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phải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biến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đổi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vector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D2CFB27-AAF2-4E13-B6AB-2FE55B0739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260305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7BFBD-8392-4325-9261-7E7ED058E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SVM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04396-B9B7-41EC-8BCA-B15EB539E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Việc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tự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tạo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kernel</a:t>
            </a:r>
            <a:r>
              <a:rPr lang="vi-VN" sz="2800" dirty="0">
                <a:solidFill>
                  <a:srgbClr val="0066FF"/>
                </a:solidFill>
              </a:rPr>
              <a:t> trong </a:t>
            </a:r>
            <a:r>
              <a:rPr lang="vi-VN" sz="2800" i="1" dirty="0">
                <a:solidFill>
                  <a:srgbClr val="0066FF"/>
                </a:solidFill>
              </a:rPr>
              <a:t>SVM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khá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khó</a:t>
            </a:r>
            <a:r>
              <a:rPr lang="vi-VN" sz="2800" dirty="0">
                <a:solidFill>
                  <a:srgbClr val="0066FF"/>
                </a:solidFill>
              </a:rPr>
              <a:t> khăn do </a:t>
            </a:r>
            <a:r>
              <a:rPr lang="vi-VN" sz="2800" dirty="0" err="1">
                <a:solidFill>
                  <a:srgbClr val="0066FF"/>
                </a:solidFill>
              </a:rPr>
              <a:t>phải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thỏa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mãn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một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số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điều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kiện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nhất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định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algn="just"/>
            <a:r>
              <a:rPr lang="vi-VN" sz="2800" dirty="0" err="1">
                <a:solidFill>
                  <a:srgbClr val="FF0000"/>
                </a:solidFill>
              </a:rPr>
              <a:t>Một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số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hàm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kernel</a:t>
            </a:r>
            <a:r>
              <a:rPr lang="vi-VN" sz="2800" dirty="0">
                <a:solidFill>
                  <a:srgbClr val="FF0000"/>
                </a:solidFill>
              </a:rPr>
              <a:t> thông </a:t>
            </a:r>
            <a:r>
              <a:rPr lang="vi-VN" sz="2800" dirty="0" err="1">
                <a:solidFill>
                  <a:srgbClr val="FF0000"/>
                </a:solidFill>
              </a:rPr>
              <a:t>dụng</a:t>
            </a:r>
            <a:r>
              <a:rPr lang="vi-VN" sz="2800" dirty="0">
                <a:solidFill>
                  <a:srgbClr val="FF0000"/>
                </a:solidFill>
              </a:rPr>
              <a:t> trong </a:t>
            </a:r>
            <a:r>
              <a:rPr lang="vi-VN" sz="2800" i="1" dirty="0">
                <a:solidFill>
                  <a:srgbClr val="FF0000"/>
                </a:solidFill>
              </a:rPr>
              <a:t>SVM</a:t>
            </a:r>
            <a:r>
              <a:rPr lang="vi-VN" sz="2800" dirty="0">
                <a:solidFill>
                  <a:srgbClr val="FF0000"/>
                </a:solidFill>
              </a:rPr>
              <a:t>: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Linear</a:t>
            </a:r>
            <a:r>
              <a:rPr lang="vi-VN" sz="2800" dirty="0">
                <a:solidFill>
                  <a:srgbClr val="0066FF"/>
                </a:solidFill>
              </a:rPr>
              <a:t>: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kernel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đại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diện</a:t>
            </a:r>
            <a:r>
              <a:rPr lang="vi-VN" sz="2800" dirty="0">
                <a:solidFill>
                  <a:srgbClr val="0066FF"/>
                </a:solidFill>
              </a:rPr>
              <a:t> cho </a:t>
            </a:r>
            <a:r>
              <a:rPr lang="vi-VN" sz="2800" i="1" dirty="0">
                <a:solidFill>
                  <a:srgbClr val="0066FF"/>
                </a:solidFill>
              </a:rPr>
              <a:t>SVM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chuẩn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lvl="1" algn="just"/>
            <a:r>
              <a:rPr lang="vi-VN" sz="2800" dirty="0" err="1">
                <a:solidFill>
                  <a:srgbClr val="FF0000"/>
                </a:solidFill>
              </a:rPr>
              <a:t>Radian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Basic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Function</a:t>
            </a:r>
            <a:r>
              <a:rPr lang="vi-VN" sz="2800" dirty="0">
                <a:solidFill>
                  <a:srgbClr val="FF0000"/>
                </a:solidFill>
              </a:rPr>
              <a:t>: </a:t>
            </a:r>
            <a:r>
              <a:rPr lang="vi-VN" sz="2800" dirty="0" err="1">
                <a:solidFill>
                  <a:srgbClr val="FF0000"/>
                </a:solidFill>
              </a:rPr>
              <a:t>Là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kernel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phổ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biến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nhất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sử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dụng</a:t>
            </a:r>
            <a:r>
              <a:rPr lang="vi-VN" sz="2800" dirty="0">
                <a:solidFill>
                  <a:srgbClr val="FF0000"/>
                </a:solidFill>
              </a:rPr>
              <a:t> cho </a:t>
            </a:r>
            <a:r>
              <a:rPr lang="vi-VN" sz="2800" i="1" dirty="0">
                <a:solidFill>
                  <a:srgbClr val="FF0000"/>
                </a:solidFill>
              </a:rPr>
              <a:t>SVM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Ngoài</a:t>
            </a:r>
            <a:r>
              <a:rPr lang="vi-VN" sz="2800" dirty="0">
                <a:solidFill>
                  <a:srgbClr val="0066FF"/>
                </a:solidFill>
              </a:rPr>
              <a:t> ra </a:t>
            </a:r>
            <a:r>
              <a:rPr lang="vi-VN" sz="2800" dirty="0" err="1">
                <a:solidFill>
                  <a:srgbClr val="0066FF"/>
                </a:solidFill>
              </a:rPr>
              <a:t>còn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kernel</a:t>
            </a:r>
            <a:r>
              <a:rPr lang="vi-VN" sz="2800" dirty="0">
                <a:solidFill>
                  <a:srgbClr val="0066FF"/>
                </a:solidFill>
              </a:rPr>
              <a:t> sau: </a:t>
            </a:r>
            <a:r>
              <a:rPr lang="vi-VN" sz="2800" dirty="0" err="1">
                <a:solidFill>
                  <a:srgbClr val="0066FF"/>
                </a:solidFill>
              </a:rPr>
              <a:t>Sigmoid</a:t>
            </a:r>
            <a:r>
              <a:rPr lang="vi-VN" sz="2800" dirty="0">
                <a:solidFill>
                  <a:srgbClr val="0066FF"/>
                </a:solidFill>
              </a:rPr>
              <a:t>, </a:t>
            </a:r>
            <a:r>
              <a:rPr lang="vi-VN" sz="2800" dirty="0" err="1">
                <a:solidFill>
                  <a:srgbClr val="0066FF"/>
                </a:solidFill>
              </a:rPr>
              <a:t>Polynomial</a:t>
            </a:r>
            <a:r>
              <a:rPr lang="vi-VN" sz="2800" dirty="0">
                <a:solidFill>
                  <a:srgbClr val="0066FF"/>
                </a:solidFill>
              </a:rPr>
              <a:t>,…</a:t>
            </a:r>
          </a:p>
        </p:txBody>
      </p:sp>
    </p:spTree>
    <p:extLst>
      <p:ext uri="{BB962C8B-B14F-4D97-AF65-F5344CB8AC3E}">
        <p14:creationId xmlns:p14="http://schemas.microsoft.com/office/powerpoint/2010/main" val="2941127858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8D357-44D3-4192-9574-AEB50D07B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vi-V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308A1-220E-41D1-95C3-05079F64F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61832058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8D357-44D3-4192-9574-AEB50D07B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Huấn luyện mô hình: Kernel SVM Với Hàm Nhân RBF (In [1])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4B11A-0C5D-4094-8818-CED3C58F0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 algn="just"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Huấn luyện mô hình Phi tuyến với RBF Kernel: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sklearn.svm import SVC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sklearn.metrics import confusion_matrix, accuracy_score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classifier = SVC(kernel='rbf', random_state=0)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classifier.fit(X_train_scaled, y_train)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y_pred = classifier.predict(X_test_scaled)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cm = confusion_matrix(y_test, y_pred)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print(f'Accuracy: {accuracy_score(y_test, y_pred)*100:.2f}%')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print('Confusion Matrix:\n', cm)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📌 Kết quả: Accuracy = 93.00% | Confusion Matrix: [[64, 4], [3, 29]] (Vượt trội hơn hẳn Linear SVM 90%!)</a:t>
            </a:r>
          </a:p>
        </p:txBody>
      </p:sp>
    </p:spTree>
    <p:extLst>
      <p:ext uri="{BB962C8B-B14F-4D97-AF65-F5344CB8AC3E}">
        <p14:creationId xmlns:p14="http://schemas.microsoft.com/office/powerpoint/2010/main" val="899578686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631E8E-7F95-48D1-B193-056D9DF35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8237387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E7C6AE8-60A2-49FB-A20C-4375C46A91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Ta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tạo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confusion</a:t>
                </a:r>
                <a:r>
                  <a:rPr lang="vi-VN" sz="2800" i="1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. Đây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trận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kích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thước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với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bài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toán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đang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xét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ở đây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Phần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tử</a:t>
                </a:r>
                <a:r>
                  <a:rPr lang="vi-VN" sz="2800" dirty="0">
                    <a:solidFill>
                      <a:srgbClr val="FF0000"/>
                    </a:solidFill>
                  </a:rPr>
                  <a:t> ở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dòng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thứ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cột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thứ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confusion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matrix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biểu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thị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phần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tử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vào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Hàm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confusion_matrix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module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sklearn.metrics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sẽ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hỗ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trợ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ta xây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dựng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confusion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marL="514350" indent="-514350">
                  <a:buFont typeface="+mj-lt"/>
                  <a:buAutoNum type="arabicPeriod" startAt="23"/>
                </a:pPr>
                <a:r>
                  <a:rPr lang="vi-VN" dirty="0" err="1">
                    <a:solidFill>
                      <a:srgbClr val="AF00DB"/>
                    </a:solidFill>
                    <a:latin typeface="Consolas" panose="020B0609020204030204" pitchFamily="49" charset="0"/>
                  </a:rPr>
                  <a:t>from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sklearn.metrics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vi-VN" dirty="0" err="1">
                    <a:solidFill>
                      <a:srgbClr val="AF00DB"/>
                    </a:solidFill>
                    <a:latin typeface="Consolas" panose="020B0609020204030204" pitchFamily="49" charset="0"/>
                  </a:rPr>
                  <a:t>import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confusion_matrix</a:t>
                </a:r>
                <a:endParaRPr lang="vi-VN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 marL="514350" indent="-514350">
                  <a:buFont typeface="+mj-lt"/>
                  <a:buAutoNum type="arabicPeriod" startAt="23"/>
                </a:pP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cm = </a:t>
                </a:r>
                <a:r>
                  <a:rPr lang="fr-FR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confusion_matrix</a:t>
                </a: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fr-FR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Y_train</a:t>
                </a: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, </a:t>
                </a:r>
                <a:r>
                  <a:rPr lang="fr-FR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classifier.predict</a:t>
                </a: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fr-FR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X_train</a:t>
                </a: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))</a:t>
                </a:r>
              </a:p>
              <a:p>
                <a:pPr marL="514350" indent="-514350">
                  <a:buFont typeface="+mj-lt"/>
                  <a:buAutoNum type="arabicPeriod" startAt="23"/>
                </a:pPr>
                <a:r>
                  <a:rPr lang="vi-VN" dirty="0" err="1">
                    <a:solidFill>
                      <a:srgbClr val="795E26"/>
                    </a:solidFill>
                    <a:latin typeface="Consolas" panose="020B0609020204030204" pitchFamily="49" charset="0"/>
                  </a:rPr>
                  <a:t>print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cm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E7C6AE8-60A2-49FB-A20C-4375C46A91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043339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1FE9-BB2E-49B4-B0F1-3693843C0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95AD93-52A0-4D38-8C7C-5813D54C2C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Confusion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in ra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Theo ma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trận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trên,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đúng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78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111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299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. </a:t>
                </a:r>
              </a:p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loại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sai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vi-VN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vi-VN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Tỉ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lệ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sai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0.097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95AD93-52A0-4D38-8C7C-5813D54C2C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b="-377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04C35AC-FD6B-4911-AB9C-280EA13B059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267200" y="2308702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43180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178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vi-VN" sz="28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111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04C35AC-FD6B-4911-AB9C-280EA13B05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8922056"/>
                  </p:ext>
                </p:extLst>
              </p:nvPr>
            </p:nvGraphicFramePr>
            <p:xfrm>
              <a:off x="4267200" y="2308702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110465" r="-101667" b="-13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110465" r="-2235" b="-1313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212941" r="-101667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212941" r="-2235" b="-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0193934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8847BE-064C-4CB5-8E65-33ED27DF2C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vi-VN" sz="2800" dirty="0">
                <a:solidFill>
                  <a:srgbClr val="0066FF"/>
                </a:solidFill>
              </a:rPr>
              <a:t>Ta </a:t>
            </a:r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trên </a:t>
            </a:r>
            <a:r>
              <a:rPr lang="vi-VN" sz="2800" dirty="0" err="1">
                <a:solidFill>
                  <a:srgbClr val="0066FF"/>
                </a:solidFill>
              </a:rPr>
              <a:t>mặt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phẳng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tọa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độ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bằng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vẽ</a:t>
            </a:r>
            <a:r>
              <a:rPr lang="vi-VN" sz="2800" dirty="0">
                <a:solidFill>
                  <a:srgbClr val="0066FF"/>
                </a:solidFill>
              </a:rPr>
              <a:t> 2 </a:t>
            </a:r>
            <a:r>
              <a:rPr lang="vi-VN" sz="2800" dirty="0" err="1">
                <a:solidFill>
                  <a:srgbClr val="0066FF"/>
                </a:solidFill>
              </a:rPr>
              <a:t>vùng</a:t>
            </a:r>
            <a:r>
              <a:rPr lang="vi-VN" sz="2800" dirty="0">
                <a:solidFill>
                  <a:srgbClr val="0066FF"/>
                </a:solidFill>
              </a:rPr>
              <a:t> phân chia </a:t>
            </a:r>
            <a:r>
              <a:rPr lang="vi-VN" sz="2800" dirty="0" err="1">
                <a:solidFill>
                  <a:srgbClr val="0066FF"/>
                </a:solidFill>
              </a:rPr>
              <a:t>mà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thu </a:t>
            </a:r>
            <a:r>
              <a:rPr lang="vi-VN" sz="2800" dirty="0" err="1">
                <a:solidFill>
                  <a:srgbClr val="0066FF"/>
                </a:solidFill>
              </a:rPr>
              <a:t>được</a:t>
            </a:r>
            <a:r>
              <a:rPr lang="vi-VN" sz="2800" dirty="0">
                <a:solidFill>
                  <a:srgbClr val="0066FF"/>
                </a:solidFill>
              </a:rPr>
              <a:t> sau </a:t>
            </a:r>
            <a:r>
              <a:rPr lang="vi-VN" sz="2800" dirty="0" err="1">
                <a:solidFill>
                  <a:srgbClr val="0066FF"/>
                </a:solidFill>
              </a:rPr>
              <a:t>quá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trình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huấn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luyện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E9689D1-22B6-4687-94CA-F54C1D1CA8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94399" y="1600201"/>
            <a:ext cx="6135561" cy="441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371071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8847BE-064C-4CB5-8E65-33ED27DF2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>
                <a:solidFill>
                  <a:srgbClr val="0066FF"/>
                </a:solidFill>
              </a:rPr>
              <a:t>Xây </a:t>
            </a:r>
            <a:r>
              <a:rPr lang="vi-VN" sz="2800" dirty="0" err="1">
                <a:solidFill>
                  <a:srgbClr val="0066FF"/>
                </a:solidFill>
              </a:rPr>
              <a:t>dựng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bằng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tạo</a:t>
            </a:r>
            <a:r>
              <a:rPr lang="vi-VN" sz="2800" dirty="0">
                <a:solidFill>
                  <a:srgbClr val="0066FF"/>
                </a:solidFill>
              </a:rPr>
              <a:t> 2 </a:t>
            </a:r>
            <a:r>
              <a:rPr lang="vi-VN" sz="2800" dirty="0" err="1">
                <a:solidFill>
                  <a:srgbClr val="0066FF"/>
                </a:solidFill>
              </a:rPr>
              <a:t>vùng</a:t>
            </a:r>
            <a:r>
              <a:rPr lang="vi-VN" sz="2800" dirty="0">
                <a:solidFill>
                  <a:srgbClr val="0066FF"/>
                </a:solidFill>
              </a:rPr>
              <a:t> phân chia </a:t>
            </a:r>
            <a:r>
              <a:rPr lang="vi-VN" sz="2800" dirty="0" err="1">
                <a:solidFill>
                  <a:srgbClr val="0066FF"/>
                </a:solidFill>
              </a:rPr>
              <a:t>mà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đạt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err="1">
                <a:solidFill>
                  <a:srgbClr val="0066FF"/>
                </a:solidFill>
              </a:rPr>
              <a:t>được</a:t>
            </a:r>
            <a:r>
              <a:rPr lang="vi-VN" sz="2800">
                <a:solidFill>
                  <a:srgbClr val="0066FF"/>
                </a:solidFill>
              </a:rPr>
              <a:t>.</a:t>
            </a:r>
            <a:endParaRPr lang="en-US" sz="2800">
              <a:solidFill>
                <a:srgbClr val="0066FF"/>
              </a:solidFill>
            </a:endParaRPr>
          </a:p>
          <a:p>
            <a:pPr algn="just"/>
            <a:endParaRPr lang="vi-VN" sz="28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 startAt="26"/>
            </a:pPr>
            <a:r>
              <a:rPr lang="es-E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VisualizingResult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model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sz="2000" dirty="0">
                <a:solidFill>
                  <a:srgbClr val="001080"/>
                </a:solidFill>
                <a:latin typeface="Consolas" panose="020B0609020204030204" pitchFamily="49" charset="0"/>
              </a:rPr>
              <a:t>X_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457200" indent="-457200">
              <a:buFont typeface="+mj-lt"/>
              <a:buAutoNum type="arabicPeriod" startAt="26"/>
            </a:pPr>
            <a:r>
              <a:rPr lang="vi-V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X1 = X_[:, </a:t>
            </a:r>
            <a:r>
              <a:rPr lang="vi-VN" sz="20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vi-VN" sz="20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457200" indent="-457200">
              <a:buFont typeface="+mj-lt"/>
              <a:buAutoNum type="arabicPeriod" startAt="26"/>
            </a:pPr>
            <a:r>
              <a:rPr lang="vi-V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X2 = X_[:, </a:t>
            </a:r>
            <a:r>
              <a:rPr lang="vi-VN" sz="20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vi-VN" sz="20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457200" indent="-457200">
              <a:buFont typeface="+mj-lt"/>
              <a:buAutoNum type="arabicPeriod" startAt="26"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X1_range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np.arange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start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 X1.min()-</a:t>
            </a:r>
            <a:r>
              <a:rPr lang="en-US" sz="20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stop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 X1.max()+</a:t>
            </a:r>
            <a:r>
              <a:rPr lang="en-US" sz="20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step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sz="2000" dirty="0">
                <a:solidFill>
                  <a:srgbClr val="09885A"/>
                </a:solidFill>
                <a:latin typeface="Consolas" panose="020B0609020204030204" pitchFamily="49" charset="0"/>
              </a:rPr>
              <a:t>0.01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Font typeface="+mj-lt"/>
              <a:buAutoNum type="arabicPeriod" startAt="26"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X2_range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np.arange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start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 X2.min()-</a:t>
            </a:r>
            <a:r>
              <a:rPr lang="en-US" sz="20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stop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 X2.max()+</a:t>
            </a:r>
            <a:r>
              <a:rPr lang="en-US" sz="20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step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09885A"/>
                </a:solidFill>
                <a:latin typeface="Consolas" panose="020B0609020204030204" pitchFamily="49" charset="0"/>
              </a:rPr>
              <a:t>0.01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Font typeface="+mj-lt"/>
              <a:buAutoNum type="arabicPeriod" startAt="26"/>
            </a:pPr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X1_matrix, X2_matrix = </a:t>
            </a:r>
            <a:r>
              <a:rPr lang="fr-FR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np.meshgrid</a:t>
            </a:r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(X1_range, X2_range)</a:t>
            </a:r>
          </a:p>
        </p:txBody>
      </p:sp>
    </p:spTree>
    <p:extLst>
      <p:ext uri="{BB962C8B-B14F-4D97-AF65-F5344CB8AC3E}">
        <p14:creationId xmlns:p14="http://schemas.microsoft.com/office/powerpoint/2010/main" val="898501364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8847BE-064C-4CB5-8E65-33ED27DF2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201400" cy="4525963"/>
          </a:xfrm>
        </p:spPr>
        <p:txBody>
          <a:bodyPr/>
          <a:lstStyle/>
          <a:p>
            <a:pPr algn="just"/>
            <a:r>
              <a:rPr lang="vi-VN" sz="2800" dirty="0">
                <a:solidFill>
                  <a:srgbClr val="0066FF"/>
                </a:solidFill>
              </a:rPr>
              <a:t>Xây </a:t>
            </a:r>
            <a:r>
              <a:rPr lang="vi-VN" sz="2800" dirty="0" err="1">
                <a:solidFill>
                  <a:srgbClr val="0066FF"/>
                </a:solidFill>
              </a:rPr>
              <a:t>dựng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bằng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tạo</a:t>
            </a:r>
            <a:r>
              <a:rPr lang="vi-VN" sz="2800" dirty="0">
                <a:solidFill>
                  <a:srgbClr val="0066FF"/>
                </a:solidFill>
              </a:rPr>
              <a:t> 2 </a:t>
            </a:r>
            <a:r>
              <a:rPr lang="vi-VN" sz="2800" dirty="0" err="1">
                <a:solidFill>
                  <a:srgbClr val="0066FF"/>
                </a:solidFill>
              </a:rPr>
              <a:t>vùng</a:t>
            </a:r>
            <a:r>
              <a:rPr lang="vi-VN" sz="2800" dirty="0">
                <a:solidFill>
                  <a:srgbClr val="0066FF"/>
                </a:solidFill>
              </a:rPr>
              <a:t> phân chia </a:t>
            </a:r>
            <a:r>
              <a:rPr lang="vi-VN" sz="2800" dirty="0" err="1">
                <a:solidFill>
                  <a:srgbClr val="0066FF"/>
                </a:solidFill>
              </a:rPr>
              <a:t>mà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đạt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err="1">
                <a:solidFill>
                  <a:srgbClr val="0066FF"/>
                </a:solidFill>
              </a:rPr>
              <a:t>được</a:t>
            </a:r>
            <a:r>
              <a:rPr lang="vi-VN" sz="2800">
                <a:solidFill>
                  <a:srgbClr val="0066FF"/>
                </a:solidFill>
              </a:rPr>
              <a:t>.</a:t>
            </a:r>
            <a:endParaRPr lang="en-US" sz="2800">
              <a:solidFill>
                <a:srgbClr val="0066FF"/>
              </a:solidFill>
            </a:endParaRPr>
          </a:p>
          <a:p>
            <a:pPr algn="just"/>
            <a:endParaRPr lang="vi-VN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 startAt="26"/>
            </a:pP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>VisualizingResult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>model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X_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 startAt="31"/>
            </a:pP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   ...</a:t>
            </a:r>
          </a:p>
          <a:p>
            <a:pPr marL="457200" indent="-457200">
              <a:buFont typeface="+mj-lt"/>
              <a:buAutoNum type="arabicPeriod" startAt="32"/>
            </a:pP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X_grid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([X1_matrix.ravel(), X2_matrix.ravel()]).T</a:t>
            </a:r>
          </a:p>
          <a:p>
            <a:pPr marL="457200" indent="-457200">
              <a:buFont typeface="+mj-lt"/>
              <a:buAutoNum type="arabicPeriod" startAt="32"/>
            </a:pP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y_grid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model.predict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X_grid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reshape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(X1_matrix.shape)</a:t>
            </a:r>
          </a:p>
          <a:p>
            <a:pPr marL="457200" indent="-457200">
              <a:buFont typeface="+mj-lt"/>
              <a:buAutoNum type="arabicPeriod" startAt="34"/>
            </a:pP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vi-VN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plt.contourf</a:t>
            </a:r>
            <a:r>
              <a:rPr lang="vi-VN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(X1_matrix, X2_matrix, </a:t>
            </a:r>
            <a:r>
              <a:rPr lang="vi-VN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y_grid</a:t>
            </a:r>
            <a:r>
              <a:rPr lang="vi-VN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vi-VN" dirty="0" err="1">
                <a:solidFill>
                  <a:srgbClr val="001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alpha</a:t>
            </a:r>
            <a:r>
              <a:rPr lang="vi-VN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vi-VN" dirty="0">
                <a:solidFill>
                  <a:srgbClr val="09885A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0.5</a:t>
            </a:r>
            <a:r>
              <a:rPr lang="vi-VN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,   </a:t>
            </a:r>
            <a:r>
              <a:rPr lang="vi-VN" dirty="0" err="1">
                <a:solidFill>
                  <a:srgbClr val="001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cmap</a:t>
            </a:r>
            <a:r>
              <a:rPr lang="vi-VN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vi-VN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ListedColormap</a:t>
            </a:r>
            <a:r>
              <a:rPr lang="vi-VN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((</a:t>
            </a:r>
            <a:r>
              <a:rPr lang="vi-VN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vi-VN" dirty="0" err="1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red</a:t>
            </a:r>
            <a:r>
              <a:rPr lang="vi-VN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vi-VN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vi-VN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vi-VN" dirty="0" err="1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green</a:t>
            </a:r>
            <a:r>
              <a:rPr lang="vi-VN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vi-VN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)))</a:t>
            </a:r>
          </a:p>
        </p:txBody>
      </p:sp>
    </p:spTree>
    <p:extLst>
      <p:ext uri="{BB962C8B-B14F-4D97-AF65-F5344CB8AC3E}">
        <p14:creationId xmlns:p14="http://schemas.microsoft.com/office/powerpoint/2010/main" val="3316206566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8847BE-064C-4CB5-8E65-33ED27DF2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 startAt="35"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VisualizingResult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(classifier,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X_train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514350" indent="-514350">
              <a:buFont typeface="+mj-lt"/>
              <a:buAutoNum type="arabicPeriod" startAt="35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987380924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CACE6F-E012-4932-A55B-EC5F57EC8E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6572" y="1376362"/>
            <a:ext cx="6451228" cy="471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128465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A321E8-246F-4EAF-A682-01E42CE71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Hoàn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thiện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quá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trình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bằng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vẽ</a:t>
            </a:r>
            <a:r>
              <a:rPr lang="vi-VN" sz="2800" dirty="0">
                <a:solidFill>
                  <a:srgbClr val="0066FF"/>
                </a:solidFill>
              </a:rPr>
              <a:t> thêm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huấn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luyện</a:t>
            </a:r>
            <a:r>
              <a:rPr lang="vi-VN" sz="2800" dirty="0">
                <a:solidFill>
                  <a:srgbClr val="0066FF"/>
                </a:solidFill>
              </a:rPr>
              <a:t> lên </a:t>
            </a:r>
            <a:r>
              <a:rPr lang="vi-VN" sz="2800" dirty="0" err="1">
                <a:solidFill>
                  <a:srgbClr val="0066FF"/>
                </a:solidFill>
              </a:rPr>
              <a:t>mặt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phẳng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tọa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độ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algn="just"/>
            <a:endParaRPr lang="vi-VN" sz="2800" dirty="0">
              <a:solidFill>
                <a:srgbClr val="0066FF"/>
              </a:solidFill>
            </a:endParaRPr>
          </a:p>
          <a:p>
            <a:pPr marL="457200" indent="-457200">
              <a:buFont typeface="+mj-lt"/>
              <a:buAutoNum type="arabicPeriod" startAt="37"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VisualizingResult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(classifier,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X_train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Font typeface="+mj-lt"/>
              <a:buAutoNum type="arabicPeriod" startAt="37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VisualizingDataset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X_train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y_train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Font typeface="+mj-lt"/>
              <a:buAutoNum type="arabicPeriod" startAt="37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vi-VN" sz="2800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510146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E22CF-F325-4B0D-BB9C-4A5BDD91C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Trực quan hóa kết quả mô hình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7536B-AE8A-4F36-93BB-3E84EE278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>
                <a:solidFill>
                  <a:srgbClr val="0066FF"/>
                </a:solidFill>
              </a:rPr>
              <a:t>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độ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chính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xác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khá</a:t>
            </a:r>
            <a:r>
              <a:rPr lang="vi-VN" sz="2800" dirty="0">
                <a:solidFill>
                  <a:srgbClr val="0066FF"/>
                </a:solidFill>
              </a:rPr>
              <a:t> cao.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97E2D8-ED47-48B5-ABA5-BD594BE60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140849"/>
            <a:ext cx="5562600" cy="400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020938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E22CF-F325-4B0D-BB9C-4A5BDD91C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Trực quan hóa kết quả mô hình</a:t>
            </a:r>
            <a:endParaRPr lang="vi-V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920D58-5361-4A92-8004-3A836CDECB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vi-VN" dirty="0" err="1">
                <a:solidFill>
                  <a:srgbClr val="0066FF"/>
                </a:solidFill>
              </a:rPr>
              <a:t>Nhận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xét</a:t>
            </a:r>
            <a:r>
              <a:rPr lang="vi-VN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vi-VN" sz="2800" dirty="0">
                <a:solidFill>
                  <a:srgbClr val="FF0000"/>
                </a:solidFill>
              </a:rPr>
              <a:t>Mô </a:t>
            </a:r>
            <a:r>
              <a:rPr lang="vi-VN" sz="2800" dirty="0" err="1">
                <a:solidFill>
                  <a:srgbClr val="FF0000"/>
                </a:solidFill>
              </a:rPr>
              <a:t>hình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có</a:t>
            </a:r>
            <a:r>
              <a:rPr lang="vi-VN" sz="2800" dirty="0">
                <a:solidFill>
                  <a:srgbClr val="FF0000"/>
                </a:solidFill>
              </a:rPr>
              <a:t> phân chia </a:t>
            </a:r>
            <a:r>
              <a:rPr lang="vi-VN" sz="2800" dirty="0" err="1">
                <a:solidFill>
                  <a:srgbClr val="FF0000"/>
                </a:solidFill>
              </a:rPr>
              <a:t>khá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chính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xác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Đường</a:t>
            </a:r>
            <a:r>
              <a:rPr lang="vi-VN" sz="2800" dirty="0">
                <a:solidFill>
                  <a:srgbClr val="0066FF"/>
                </a:solidFill>
              </a:rPr>
              <a:t> phân chia </a:t>
            </a:r>
            <a:r>
              <a:rPr lang="vi-VN" sz="2800" dirty="0" err="1">
                <a:solidFill>
                  <a:srgbClr val="0066FF"/>
                </a:solidFill>
              </a:rPr>
              <a:t>rõ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ràng</a:t>
            </a:r>
            <a:r>
              <a:rPr lang="vi-VN" sz="2800" dirty="0">
                <a:solidFill>
                  <a:srgbClr val="0066FF"/>
                </a:solidFill>
              </a:rPr>
              <a:t>, </a:t>
            </a:r>
            <a:r>
              <a:rPr lang="vi-VN" sz="2800" dirty="0" err="1">
                <a:solidFill>
                  <a:srgbClr val="0066FF"/>
                </a:solidFill>
              </a:rPr>
              <a:t>phù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hợp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với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nhận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xét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về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bộ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12C52AD-28E4-4033-8D8F-2078E20E1E4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128" y="1493837"/>
            <a:ext cx="6283222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67718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trên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81405-0B4B-4752-8010-5BC101FF1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3219996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trên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7C6AE8-60A2-49FB-A20C-4375C46A9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sz="2800">
                <a:solidFill>
                  <a:srgbClr val="0066FF"/>
                </a:solidFill>
              </a:rPr>
              <a:t>Tạo</a:t>
            </a:r>
            <a:r>
              <a:rPr sz="2800">
                <a:solidFill>
                  <a:srgbClr val="0066FF"/>
                </a:solidFill>
              </a:rPr>
              <a:t> </a:t>
            </a:r>
            <a:r>
              <a:rPr sz="2800">
                <a:solidFill>
                  <a:srgbClr val="0066FF"/>
                </a:solidFill>
              </a:rPr>
              <a:t>confusion</a:t>
            </a:r>
            <a:r>
              <a:rPr sz="2800">
                <a:solidFill>
                  <a:srgbClr val="0066FF"/>
                </a:solidFill>
              </a:rPr>
              <a:t> </a:t>
            </a:r>
            <a:r>
              <a:rPr sz="2800">
                <a:solidFill>
                  <a:srgbClr val="0066FF"/>
                </a:solidFill>
              </a:rPr>
              <a:t>matrix</a:t>
            </a:r>
            <a:r>
              <a:rPr sz="2800">
                <a:solidFill>
                  <a:srgbClr val="0066FF"/>
                </a:solidFill>
              </a:rPr>
              <a:t> </a:t>
            </a:r>
            <a:r>
              <a:rPr sz="2800">
                <a:solidFill>
                  <a:srgbClr val="0066FF"/>
                </a:solidFill>
              </a:rPr>
              <a:t>trên </a:t>
            </a:r>
            <a:r>
              <a:rPr sz="2800">
                <a:solidFill>
                  <a:srgbClr val="0066FF"/>
                </a:solidFill>
              </a:rPr>
              <a:t>tập</a:t>
            </a:r>
            <a:r>
              <a:rPr sz="2800">
                <a:solidFill>
                  <a:srgbClr val="0066FF"/>
                </a:solidFill>
              </a:rPr>
              <a:t> </a:t>
            </a:r>
            <a:r>
              <a:rPr sz="2800">
                <a:solidFill>
                  <a:srgbClr val="0066FF"/>
                </a:solidFill>
              </a:rPr>
              <a:t>test</a:t>
            </a:r>
            <a:r>
              <a:rPr sz="2800">
                <a:solidFill>
                  <a:srgbClr val="0066FF"/>
                </a:solidFill>
              </a:rPr>
              <a:t>.</a:t>
            </a:r>
          </a:p>
          <a:p/>
          <a:p>
            <a:r>
              <a:rPr>
                <a:solidFill>
                  <a:srgbClr val="AF00DB"/>
                </a:solidFill>
                <a:latin typeface="Consolas"/>
              </a:rPr>
              <a:t>from</a:t>
            </a:r>
            <a:r>
              <a:rPr>
                <a:solidFill>
                  <a:srgbClr val="000000"/>
                </a:solidFill>
                <a:latin typeface="Consolas"/>
              </a:rPr>
              <a:t> sklearn.metrics </a:t>
            </a:r>
            <a:r>
              <a:rPr>
                <a:solidFill>
                  <a:srgbClr val="AF00DB"/>
                </a:solidFill>
                <a:latin typeface="Consolas"/>
              </a:rPr>
              <a:t>import</a:t>
            </a:r>
            <a:r>
              <a:rPr>
                <a:solidFill>
                  <a:srgbClr val="000000"/>
                </a:solidFill>
                <a:latin typeface="Consolas"/>
              </a:rPr>
              <a:t> confusion_matrix</a:t>
            </a:r>
          </a:p>
          <a:p>
            <a:r>
              <a:rPr>
                <a:solidFill>
                  <a:srgbClr val="000000"/>
                </a:solidFill>
                <a:latin typeface="Consolas"/>
              </a:rPr>
              <a:t>cm = </a:t>
            </a:r>
            <a:r>
              <a:rPr>
                <a:solidFill>
                  <a:srgbClr val="000000"/>
                </a:solidFill>
                <a:latin typeface="Consolas"/>
              </a:rPr>
              <a:t>confusion_matrix</a:t>
            </a:r>
            <a:r>
              <a:rPr>
                <a:solidFill>
                  <a:srgbClr val="000000"/>
                </a:solidFill>
                <a:latin typeface="Consolas"/>
              </a:rPr>
              <a:t>(y_test, classifier.predict(X_test))</a:t>
            </a:r>
          </a:p>
          <a:p>
            <a:r>
              <a:rPr>
                <a:solidFill>
                  <a:srgbClr val="795E26"/>
                </a:solidFill>
                <a:latin typeface="Consolas"/>
              </a:rPr>
              <a:t>print</a:t>
            </a:r>
            <a:r>
              <a:rPr>
                <a:solidFill>
                  <a:srgbClr val="000000"/>
                </a:solidFill>
                <a:latin typeface="Consolas"/>
              </a:rPr>
              <a:t>(cm)</a:t>
            </a:r>
          </a:p>
        </p:txBody>
      </p:sp>
    </p:spTree>
    <p:extLst>
      <p:ext uri="{BB962C8B-B14F-4D97-AF65-F5344CB8AC3E}">
        <p14:creationId xmlns:p14="http://schemas.microsoft.com/office/powerpoint/2010/main" val="518765293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1FE9-BB2E-49B4-B0F1-3693843C0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trên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95AD93-52A0-4D38-8C7C-5813D54C2C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Confusion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in ra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Theo ma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trận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trên,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đúng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5+21=76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. </a:t>
                </a:r>
              </a:p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loại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sai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b="0" i="0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vi-VN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+3=4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Tỉ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lệ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sai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/80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05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95AD93-52A0-4D38-8C7C-5813D54C2C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b="-377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04C35AC-FD6B-4911-AB9C-280EA13B059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267200" y="2308702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43180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04C35AC-FD6B-4911-AB9C-280EA13B059B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4267200" y="2308702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110465" r="-101667" b="-13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110465" r="-2235" b="-1313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212941" r="-101667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212941" r="-2235" b="-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16598335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trên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B145C5-2FC6-4997-B32D-879CA6F44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 err="1">
                <a:solidFill>
                  <a:srgbClr val="0066FF"/>
                </a:solidFill>
              </a:rPr>
              <a:t>Thực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hiện</a:t>
            </a:r>
            <a:r>
              <a:rPr lang="en-US" sz="2800" dirty="0">
                <a:solidFill>
                  <a:srgbClr val="0066FF"/>
                </a:solidFill>
              </a:rPr>
              <a:t> t</a:t>
            </a:r>
            <a:r>
              <a:rPr lang="vi-VN" sz="2800" dirty="0">
                <a:solidFill>
                  <a:srgbClr val="0066FF"/>
                </a:solidFill>
              </a:rPr>
              <a:t>ư</a:t>
            </a:r>
            <a:r>
              <a:rPr lang="en-US" sz="2800" dirty="0" err="1">
                <a:solidFill>
                  <a:srgbClr val="0066FF"/>
                </a:solidFill>
              </a:rPr>
              <a:t>ơng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tự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trực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quan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hóa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kết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quả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mô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hình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trên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tập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traning</a:t>
            </a:r>
            <a:r>
              <a:rPr lang="en-US" sz="2800" dirty="0">
                <a:solidFill>
                  <a:srgbClr val="0066FF"/>
                </a:solidFill>
              </a:rPr>
              <a:t>.</a:t>
            </a:r>
          </a:p>
          <a:p>
            <a:pPr algn="just"/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 startAt="42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VisualizingResult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classifier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X_test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Font typeface="+mj-lt"/>
              <a:buAutoNum type="arabicPeriod" startAt="42"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VisualizingDataset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X_test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y_test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Font typeface="+mj-lt"/>
              <a:buAutoNum type="arabicPeriod" startAt="42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vi-VN" sz="3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46220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vi-VN"/>
              <a:t>Kiểm tra kết quả trên tập test</a:t>
            </a:r>
            <a:endParaRPr lang="vi-V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C1FFD0-2733-4949-8338-B3FB7A4B79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8225" y="1734344"/>
            <a:ext cx="5743575" cy="42576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E4458E2-74DD-427A-8CBF-A2C21BE612B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772400" y="2308702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43180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E4458E2-74DD-427A-8CBF-A2C21BE612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9627195"/>
                  </p:ext>
                </p:extLst>
              </p:nvPr>
            </p:nvGraphicFramePr>
            <p:xfrm>
              <a:off x="7772400" y="2308702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110465" r="-101667" b="-13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110465" r="-2235" b="-1313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212941" r="-101667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212941" r="-2235" b="-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92819245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 wrap="square">
            <a:normAutofit/>
          </a:bodyPr>
          <a:lstStyle/>
          <a:p>
            <a:pPr eaLnBrk="1" hangingPunct="1">
              <a:lnSpc>
                <a:spcPct val="90000"/>
              </a:lnSpc>
              <a:defRPr sz="2800" b="1">
                <a:solidFill>
                  <a:srgbClr val="002060"/>
                </a:solidFill>
                <a:latin typeface="Calibri"/>
              </a:defRPr>
            </a:pPr>
            <a:r>
              <a:t>Kiểm tra kết quả: Bí Quyết 'Kernel Trick' &amp; So Sánh Linear vs RBF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4540C1-FAA8-42E9-B0B2-2EFA782BC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 algn="just"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Nguyên lý Kernel Trick chiếu không gian đặc trưng: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Vấn đề: Dữ liệu mua xe SUV có dạng phi tuyến (cụm người trẻ lương cao và người lớn tuổi nằm lồng nhau).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Giải pháp: Nhân RBF (Gaussian) ngầm chiếu dữ liệu 2D lên không gian vô hạn chiều:</a:t>
            </a:r>
          </a:p>
          <a:p>
            <a:pPr>
              <a:spcAft>
                <a:spcPts val="200"/>
              </a:spcAft>
              <a:defRPr sz="1300" b="1">
                <a:solidFill>
                  <a:srgbClr val="004696"/>
                </a:solidFill>
                <a:latin typeface="Consolas"/>
              </a:defRPr>
            </a:pPr>
            <a:r>
              <a:t>    K(x, x') = exp(-gamma * ||x - x'||²)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Trong không gian mới, dữ liệu trở nên tách biệt tuyến tính, sau đó chiếu ngược lại thành ranh giới cong uốn lượn.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📌 So sánh hiệu năng trên tập Test: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• Linear SVM:  Sai 10/100 mẫu (Accuracy = 90.00%)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• Kernel SVM:  Sai  7/100 mẫu (Accuracy = 93.00%) -&gt; Tối ưu vượt trội!</a:t>
            </a:r>
          </a:p>
        </p:txBody>
      </p:sp>
    </p:spTree>
    <p:extLst>
      <p:ext uri="{BB962C8B-B14F-4D97-AF65-F5344CB8AC3E}">
        <p14:creationId xmlns:p14="http://schemas.microsoft.com/office/powerpoint/2010/main" val="2303035216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4800" kern="1200" dirty="0" err="1">
                <a:latin typeface="+mj-lt"/>
                <a:ea typeface="+mj-ea"/>
                <a:cs typeface="+mj-cs"/>
              </a:rPr>
              <a:t>Kiểm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tra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kết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quả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trên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tập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D4540C1-FAA8-42E9-B0B2-2EFA782BCA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Gọi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thực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hiện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hàm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so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sánh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trên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chỉ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mục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từ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thứ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đến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thử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marL="514350" indent="-514350">
                  <a:buFont typeface="+mj-lt"/>
                  <a:buAutoNum type="arabicPeriod" startAt="51"/>
                </a:pPr>
                <a:r>
                  <a:rPr lang="en-US" sz="2800">
                    <a:solidFill>
                      <a:srgbClr val="AF00DB"/>
                    </a:solidFill>
                    <a:latin typeface="Consolas" panose="020B0609020204030204" pitchFamily="49" charset="0"/>
                  </a:rPr>
                  <a:t>for</a:t>
                </a:r>
                <a:r>
                  <a:rPr lang="en-US" sz="280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sz="2800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i</a:t>
                </a:r>
                <a:r>
                  <a:rPr lang="en-US" sz="2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sz="28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in</a:t>
                </a:r>
                <a:r>
                  <a:rPr lang="en-US" sz="2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sz="2800" dirty="0">
                    <a:solidFill>
                      <a:srgbClr val="795E26"/>
                    </a:solidFill>
                    <a:latin typeface="Consolas" panose="020B0609020204030204" pitchFamily="49" charset="0"/>
                  </a:rPr>
                  <a:t>range</a:t>
                </a:r>
                <a:r>
                  <a:rPr lang="en-US" sz="2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en-US" sz="2800" dirty="0">
                    <a:solidFill>
                      <a:srgbClr val="09885A"/>
                    </a:solidFill>
                    <a:latin typeface="Consolas" panose="020B0609020204030204" pitchFamily="49" charset="0"/>
                  </a:rPr>
                  <a:t>7</a:t>
                </a:r>
                <a:r>
                  <a:rPr lang="en-US" sz="2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, </a:t>
                </a:r>
                <a:r>
                  <a:rPr lang="en-US" sz="2800" dirty="0">
                    <a:solidFill>
                      <a:srgbClr val="09885A"/>
                    </a:solidFill>
                    <a:latin typeface="Consolas" panose="020B0609020204030204" pitchFamily="49" charset="0"/>
                  </a:rPr>
                  <a:t>12</a:t>
                </a:r>
                <a:r>
                  <a:rPr lang="en-US" sz="2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):</a:t>
                </a:r>
              </a:p>
              <a:p>
                <a:pPr marL="514350" indent="-514350">
                  <a:buFont typeface="+mj-lt"/>
                  <a:buAutoNum type="arabicPeriod" startAt="51"/>
                </a:pPr>
                <a:r>
                  <a:rPr lang="vi-VN" sz="2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   </a:t>
                </a:r>
                <a:r>
                  <a:rPr lang="vi-VN" sz="2800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compare</a:t>
                </a:r>
                <a:r>
                  <a:rPr lang="vi-VN" sz="2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(i)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D4540C1-FAA8-42E9-B0B2-2EFA782BCA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6" t="-148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591225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4800" kern="1200" dirty="0" err="1">
                <a:latin typeface="+mj-lt"/>
                <a:ea typeface="+mj-ea"/>
                <a:cs typeface="+mj-cs"/>
              </a:rPr>
              <a:t>Kiểm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tra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kết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quả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trên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tập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ECC9B8FD-DF83-49A2-98AF-3CB75CF1DBE8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676398" y="2103120"/>
              <a:ext cx="8839200" cy="35356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3600337692"/>
                        </a:ext>
                      </a:extLst>
                    </a:gridCol>
                    <a:gridCol w="2164080">
                      <a:extLst>
                        <a:ext uri="{9D8B030D-6E8A-4147-A177-3AD203B41FA5}">
                          <a16:colId xmlns:a16="http://schemas.microsoft.com/office/drawing/2014/main" val="3658340494"/>
                        </a:ext>
                      </a:extLst>
                    </a:gridCol>
                    <a:gridCol w="2133600">
                      <a:extLst>
                        <a:ext uri="{9D8B030D-6E8A-4147-A177-3AD203B41FA5}">
                          <a16:colId xmlns:a16="http://schemas.microsoft.com/office/drawing/2014/main" val="1278605173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42202487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Age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Estimated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Purchased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Predicted</a:t>
                          </a:r>
                          <a:r>
                            <a:rPr lang="vi-VN" sz="28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Purchased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1562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36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44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5347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1906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47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43,000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4643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2353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2262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ECC9B8FD-DF83-49A2-98AF-3CB75CF1DBE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93483670"/>
                  </p:ext>
                </p:extLst>
              </p:nvPr>
            </p:nvGraphicFramePr>
            <p:xfrm>
              <a:off x="1676398" y="2103120"/>
              <a:ext cx="8839200" cy="35356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3600337692"/>
                        </a:ext>
                      </a:extLst>
                    </a:gridCol>
                    <a:gridCol w="2164080">
                      <a:extLst>
                        <a:ext uri="{9D8B030D-6E8A-4147-A177-3AD203B41FA5}">
                          <a16:colId xmlns:a16="http://schemas.microsoft.com/office/drawing/2014/main" val="3658340494"/>
                        </a:ext>
                      </a:extLst>
                    </a:gridCol>
                    <a:gridCol w="2133600">
                      <a:extLst>
                        <a:ext uri="{9D8B030D-6E8A-4147-A177-3AD203B41FA5}">
                          <a16:colId xmlns:a16="http://schemas.microsoft.com/office/drawing/2014/main" val="1278605173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4220248793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Age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Estimated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Purchased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Predicted</a:t>
                          </a:r>
                          <a:r>
                            <a:rPr lang="vi-VN" sz="28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Purchased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156256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0" t="-194118" r="-439259" b="-4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338" t="-194118" r="-234085" b="-4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348" t="-194118" r="-136752" b="-4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5684" t="-194118" r="-1053" b="-4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534797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0" t="-294118" r="-439259" b="-3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338" t="-294118" r="-234085" b="-3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348" t="-294118" r="-136752" b="-3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5684" t="-294118" r="-1053" b="-3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190605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0" t="-394118" r="-439259" b="-2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338" t="-394118" r="-234085" b="-2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348" t="-394118" r="-136752" b="-2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5684" t="-394118" r="-1053" b="-2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46435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0" t="-494118" r="-439259" b="-1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338" t="-494118" r="-234085" b="-1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348" t="-494118" r="-136752" b="-1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5684" t="-494118" r="-1053" b="-1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235378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0" t="-594118" r="-439259" b="-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338" t="-594118" r="-234085" b="-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348" t="-594118" r="-136752" b="-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5684" t="-594118" r="-1053" b="-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22626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74567206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1A1E3B-52AC-4848-9A3B-814D413CE4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/>
              <a:t>Chúc các bạn học tốt</a:t>
            </a:r>
            <a:br>
              <a:rPr lang="en-US" sz="4000">
                <a:solidFill>
                  <a:srgbClr val="0066FF"/>
                </a:solidFill>
              </a:rPr>
            </a:br>
            <a:r>
              <a:rPr lang="en-US" sz="3200">
                <a:solidFill>
                  <a:srgbClr val="0066FF"/>
                </a:solidFill>
              </a:rPr>
              <a:t>TRƯỜNG ĐẠI HỌC CÔNG NGHỆ THÔNG TIN TP.HCM</a:t>
            </a:r>
            <a:br>
              <a:rPr lang="en-US" sz="3200">
                <a:solidFill>
                  <a:srgbClr val="0066FF"/>
                </a:solidFill>
              </a:rPr>
            </a:br>
            <a:br>
              <a:rPr lang="en-US" sz="3200">
                <a:solidFill>
                  <a:srgbClr val="0066FF"/>
                </a:solidFill>
              </a:rPr>
            </a:br>
            <a:r>
              <a:rPr lang="en-US" sz="4000"/>
              <a:t>Nhóm UIT-Together</a:t>
            </a:r>
            <a:br>
              <a:rPr lang="en-US" sz="4000">
                <a:solidFill>
                  <a:srgbClr val="0066FF"/>
                </a:solidFill>
              </a:rPr>
            </a:br>
            <a:r>
              <a:rPr lang="en-US" sz="4000">
                <a:solidFill>
                  <a:srgbClr val="0066FF"/>
                </a:solidFill>
              </a:rPr>
              <a:t>Nguyễn Tấn Trần Minh Khang</a:t>
            </a:r>
          </a:p>
        </p:txBody>
      </p:sp>
    </p:spTree>
    <p:extLst>
      <p:ext uri="{BB962C8B-B14F-4D97-AF65-F5344CB8AC3E}">
        <p14:creationId xmlns:p14="http://schemas.microsoft.com/office/powerpoint/2010/main" val="265189452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14698</TotalTime>
  <Words>2532</Words>
  <Application>Microsoft Office PowerPoint</Application>
  <PresentationFormat>Widescreen</PresentationFormat>
  <Paragraphs>317</Paragraphs>
  <Slides>50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Cambria Math</vt:lpstr>
      <vt:lpstr>Consolas</vt:lpstr>
      <vt:lpstr>Courier New</vt:lpstr>
      <vt:lpstr>Default Design</vt:lpstr>
      <vt:lpstr>KERNEL SVM</vt:lpstr>
      <vt:lpstr>DATASET</vt:lpstr>
      <vt:lpstr>Dataset</vt:lpstr>
      <vt:lpstr>Dataset</vt:lpstr>
      <vt:lpstr>Dataset</vt:lpstr>
      <vt:lpstr>Dataset</vt:lpstr>
      <vt:lpstr>Tiền xử lý dữ liệu</vt:lpstr>
      <vt:lpstr>Tiền xử lý dữ liệu</vt:lpstr>
      <vt:lpstr>Tiền xử lý dữ liệu</vt:lpstr>
      <vt:lpstr>Tiền xử lý dữ liệu</vt:lpstr>
      <vt:lpstr>Trực quan hóa dữ liệu</vt:lpstr>
      <vt:lpstr>Trực quan hóa dữ liệu</vt:lpstr>
      <vt:lpstr>Trực quan hóa dữ liệu</vt:lpstr>
      <vt:lpstr>Trực quan hóa dữ liệu</vt:lpstr>
      <vt:lpstr>Trực quan hóa dữ liệu</vt:lpstr>
      <vt:lpstr>Trực quan hóa dữ liệu</vt:lpstr>
      <vt:lpstr>Kernel SVM</vt:lpstr>
      <vt:lpstr>Kernel SVM</vt:lpstr>
      <vt:lpstr>Kernel SVM</vt:lpstr>
      <vt:lpstr>Kernel SVM</vt:lpstr>
      <vt:lpstr>Kernel SVM</vt:lpstr>
      <vt:lpstr>Kernel SVM</vt:lpstr>
      <vt:lpstr>Kernel SVM</vt:lpstr>
      <vt:lpstr>Kernel SVM</vt:lpstr>
      <vt:lpstr>Kernel SVM</vt:lpstr>
      <vt:lpstr>Kernel SVM</vt:lpstr>
      <vt:lpstr>Kernel SVM</vt:lpstr>
      <vt:lpstr>Kernel SVM</vt:lpstr>
      <vt:lpstr>Huấn luyện mô hình</vt:lpstr>
      <vt:lpstr>Huấn luyện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Kiểm tra kết quả trên tập test</vt:lpstr>
      <vt:lpstr>Kiểm tra kết quả trên tập test</vt:lpstr>
      <vt:lpstr>Kiểm tra kết quả trên tập test</vt:lpstr>
      <vt:lpstr>Kiểm tra kết quả trên tập test</vt:lpstr>
      <vt:lpstr>Kiểm tra kết quả trên tập test</vt:lpstr>
      <vt:lpstr>Kiểm tra kết quả trên tập test</vt:lpstr>
      <vt:lpstr>Kiểm tra kết quả trên tập test</vt:lpstr>
      <vt:lpstr>Kiểm tra kết quả trên tập test</vt:lpstr>
      <vt:lpstr>Chúc các bạn học tốt TRƯỜNG ĐẠI HỌC CÔNG NGHỆ THÔNG TIN TP.HCM  Nhóm UIT-Together Nguyễn Tấn Trần Minh Khang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 cc</dc:title>
  <dc:creator>Hong</dc:creator>
  <cp:lastModifiedBy>Quan Chí Khánh An</cp:lastModifiedBy>
  <cp:revision>1327</cp:revision>
  <cp:lastPrinted>2013-08-30T01:32:34Z</cp:lastPrinted>
  <dcterms:created xsi:type="dcterms:W3CDTF">2008-06-14T04:13:27Z</dcterms:created>
  <dcterms:modified xsi:type="dcterms:W3CDTF">2023-10-24T15:50:26Z</dcterms:modified>
</cp:coreProperties>
</file>