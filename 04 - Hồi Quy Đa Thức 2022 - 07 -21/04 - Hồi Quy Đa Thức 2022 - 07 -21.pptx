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648" r:id="rId1"/>
  </p:sldMasterIdLst>
  <p:notesMasterIdLst>
    <p:notesMasterId r:id="rId37"/>
  </p:notesMasterIdLst>
  <p:handoutMasterIdLst>
    <p:handoutMasterId r:id="rId38"/>
  </p:handoutMasterIdLst>
  <p:sldIdLst>
    <p:sldId id="1585" r:id="rId2"/>
    <p:sldId id="1587" r:id="rId3"/>
    <p:sldId id="1581" r:id="rId4"/>
    <p:sldId id="1582" r:id="rId5"/>
    <p:sldId id="1583" r:id="rId6"/>
    <p:sldId id="1586" r:id="rId7"/>
    <p:sldId id="330" r:id="rId8"/>
    <p:sldId id="335" r:id="rId9"/>
    <p:sldId id="331" r:id="rId10"/>
    <p:sldId id="343" r:id="rId11"/>
    <p:sldId id="352" r:id="rId12"/>
    <p:sldId id="351" r:id="rId13"/>
    <p:sldId id="344" r:id="rId14"/>
    <p:sldId id="345" r:id="rId15"/>
    <p:sldId id="332" r:id="rId16"/>
    <p:sldId id="333" r:id="rId17"/>
    <p:sldId id="353" r:id="rId18"/>
    <p:sldId id="334" r:id="rId19"/>
    <p:sldId id="342" r:id="rId20"/>
    <p:sldId id="337" r:id="rId21"/>
    <p:sldId id="338" r:id="rId22"/>
    <p:sldId id="339" r:id="rId23"/>
    <p:sldId id="340" r:id="rId24"/>
    <p:sldId id="362" r:id="rId25"/>
    <p:sldId id="341" r:id="rId26"/>
    <p:sldId id="346" r:id="rId27"/>
    <p:sldId id="347" r:id="rId28"/>
    <p:sldId id="348" r:id="rId29"/>
    <p:sldId id="349" r:id="rId30"/>
    <p:sldId id="350" r:id="rId31"/>
    <p:sldId id="355" r:id="rId32"/>
    <p:sldId id="356" r:id="rId33"/>
    <p:sldId id="358" r:id="rId34"/>
    <p:sldId id="361" r:id="rId35"/>
    <p:sldId id="1573" r:id="rId3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9933"/>
    <a:srgbClr val="FF0000"/>
    <a:srgbClr val="FF3399"/>
    <a:srgbClr val="008000"/>
    <a:srgbClr val="000099"/>
    <a:srgbClr val="FF6600"/>
    <a:srgbClr val="66FF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87366" autoAdjust="0"/>
  </p:normalViewPr>
  <p:slideViewPr>
    <p:cSldViewPr>
      <p:cViewPr varScale="1">
        <p:scale>
          <a:sx n="68" d="100"/>
          <a:sy n="68" d="100"/>
        </p:scale>
        <p:origin x="1186" y="72"/>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handoutMaster" Target="handoutMasters/handout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71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71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71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9E2CB30-4184-4C1B-912F-A6AED0718E53}" type="slidenum">
              <a:rPr lang="en-US"/>
              <a:pPr>
                <a:defRPr/>
              </a:pPr>
              <a:t>‹#›</a:t>
            </a:fld>
            <a:endParaRPr lang="en-US"/>
          </a:p>
        </p:txBody>
      </p:sp>
    </p:spTree>
    <p:extLst>
      <p:ext uri="{BB962C8B-B14F-4D97-AF65-F5344CB8AC3E}">
        <p14:creationId xmlns:p14="http://schemas.microsoft.com/office/powerpoint/2010/main" val="13484866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174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5859DDC-9015-4B39-98F8-9F9A698DFEA6}" type="slidenum">
              <a:rPr lang="en-US"/>
              <a:pPr>
                <a:defRPr/>
              </a:pPr>
              <a:t>‹#›</a:t>
            </a:fld>
            <a:endParaRPr lang="en-US"/>
          </a:p>
        </p:txBody>
      </p:sp>
    </p:spTree>
    <p:extLst>
      <p:ext uri="{BB962C8B-B14F-4D97-AF65-F5344CB8AC3E}">
        <p14:creationId xmlns:p14="http://schemas.microsoft.com/office/powerpoint/2010/main" val="39908628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5859DDC-9015-4B39-98F8-9F9A698DFEA6}" type="slidenum">
              <a:rPr lang="en-US" smtClean="0"/>
              <a:pPr>
                <a:defRPr/>
              </a:pPr>
              <a:t>1</a:t>
            </a:fld>
            <a:endParaRPr lang="en-US"/>
          </a:p>
        </p:txBody>
      </p:sp>
    </p:spTree>
    <p:extLst>
      <p:ext uri="{BB962C8B-B14F-4D97-AF65-F5344CB8AC3E}">
        <p14:creationId xmlns:p14="http://schemas.microsoft.com/office/powerpoint/2010/main" val="16061316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5859DDC-9015-4B39-98F8-9F9A698DFEA6}" type="slidenum">
              <a:rPr lang="en-US" smtClean="0"/>
              <a:pPr>
                <a:defRPr/>
              </a:pPr>
              <a:t>2</a:t>
            </a:fld>
            <a:endParaRPr lang="en-US"/>
          </a:p>
        </p:txBody>
      </p:sp>
    </p:spTree>
    <p:extLst>
      <p:ext uri="{BB962C8B-B14F-4D97-AF65-F5344CB8AC3E}">
        <p14:creationId xmlns:p14="http://schemas.microsoft.com/office/powerpoint/2010/main" val="37017843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0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TIÊU ĐỀ SLIDE</a:t>
            </a:r>
            <a:endParaRPr lang="vi-VN"/>
          </a:p>
        </p:txBody>
      </p:sp>
    </p:spTree>
    <p:extLst>
      <p:ext uri="{BB962C8B-B14F-4D97-AF65-F5344CB8AC3E}">
        <p14:creationId xmlns:p14="http://schemas.microsoft.com/office/powerpoint/2010/main" val="186454966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01_Title Slide 01">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7" name="Content Placeholder 2">
            <a:extLst>
              <a:ext uri="{FF2B5EF4-FFF2-40B4-BE49-F238E27FC236}">
                <a16:creationId xmlns:a16="http://schemas.microsoft.com/office/drawing/2014/main" id="{9C027E77-6012-42D7-99B0-1D322EEAFE5D}"/>
              </a:ext>
            </a:extLst>
          </p:cNvPr>
          <p:cNvSpPr>
            <a:spLocks noGrp="1"/>
          </p:cNvSpPr>
          <p:nvPr>
            <p:ph idx="12"/>
          </p:nvPr>
        </p:nvSpPr>
        <p:spPr>
          <a:xfrm>
            <a:off x="4086803" y="3886200"/>
            <a:ext cx="3999344" cy="1752600"/>
          </a:xfrm>
        </p:spPr>
        <p:txBody>
          <a:bodyPr/>
          <a:lstStyle>
            <a:lvl1pPr>
              <a:spcBef>
                <a:spcPts val="30"/>
              </a:spcBef>
              <a:defRPr sz="14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p:txBody>
      </p:sp>
      <p:sp>
        <p:nvSpPr>
          <p:cNvPr id="8" name="Content Placeholder 2">
            <a:extLst>
              <a:ext uri="{FF2B5EF4-FFF2-40B4-BE49-F238E27FC236}">
                <a16:creationId xmlns:a16="http://schemas.microsoft.com/office/drawing/2014/main" id="{F597A347-30EE-4B72-93DA-C4CBE7049AF0}"/>
              </a:ext>
            </a:extLst>
          </p:cNvPr>
          <p:cNvSpPr>
            <a:spLocks noGrp="1"/>
          </p:cNvSpPr>
          <p:nvPr>
            <p:ph idx="13"/>
          </p:nvPr>
        </p:nvSpPr>
        <p:spPr>
          <a:xfrm>
            <a:off x="0" y="3886200"/>
            <a:ext cx="3999344" cy="1752600"/>
          </a:xfrm>
        </p:spPr>
        <p:txBody>
          <a:bodyPr/>
          <a:lstStyle>
            <a:lvl1pPr>
              <a:spcBef>
                <a:spcPts val="30"/>
              </a:spcBef>
              <a:defRPr sz="14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p:txBody>
      </p:sp>
      <p:sp>
        <p:nvSpPr>
          <p:cNvPr id="9" name="Content Placeholder 2">
            <a:extLst>
              <a:ext uri="{FF2B5EF4-FFF2-40B4-BE49-F238E27FC236}">
                <a16:creationId xmlns:a16="http://schemas.microsoft.com/office/drawing/2014/main" id="{CCF626F4-8319-BB9A-3962-FB52D8DEB450}"/>
              </a:ext>
            </a:extLst>
          </p:cNvPr>
          <p:cNvSpPr>
            <a:spLocks noGrp="1"/>
          </p:cNvSpPr>
          <p:nvPr>
            <p:ph idx="14"/>
          </p:nvPr>
        </p:nvSpPr>
        <p:spPr>
          <a:xfrm>
            <a:off x="8192656" y="3886200"/>
            <a:ext cx="3999344" cy="1752600"/>
          </a:xfrm>
        </p:spPr>
        <p:txBody>
          <a:bodyPr/>
          <a:lstStyle>
            <a:lvl1pPr>
              <a:spcBef>
                <a:spcPts val="30"/>
              </a:spcBef>
              <a:defRPr sz="14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p:txBody>
      </p:sp>
    </p:spTree>
    <p:extLst>
      <p:ext uri="{BB962C8B-B14F-4D97-AF65-F5344CB8AC3E}">
        <p14:creationId xmlns:p14="http://schemas.microsoft.com/office/powerpoint/2010/main" val="299838081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01_Title Slide 02">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3" name="Subtitle 2"/>
          <p:cNvSpPr>
            <a:spLocks noGrp="1"/>
          </p:cNvSpPr>
          <p:nvPr>
            <p:ph type="subTitle" idx="1"/>
          </p:nvPr>
        </p:nvSpPr>
        <p:spPr>
          <a:xfrm>
            <a:off x="1828800" y="3886200"/>
            <a:ext cx="8534400" cy="1752600"/>
          </a:xfrm>
        </p:spPr>
        <p:txBody>
          <a:bodyPr/>
          <a:lstStyle>
            <a:lvl1pPr marL="514350" indent="-514350" algn="l">
              <a:buFont typeface="+mj-lt"/>
              <a:buAutoNum type="arabicPeriod"/>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vi-VN"/>
          </a:p>
        </p:txBody>
      </p:sp>
    </p:spTree>
    <p:extLst>
      <p:ext uri="{BB962C8B-B14F-4D97-AF65-F5344CB8AC3E}">
        <p14:creationId xmlns:p14="http://schemas.microsoft.com/office/powerpoint/2010/main" val="405615748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01_Title Slide 03">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3" name="Subtitle 2"/>
          <p:cNvSpPr>
            <a:spLocks noGrp="1"/>
          </p:cNvSpPr>
          <p:nvPr>
            <p:ph type="subTitle" idx="1"/>
          </p:nvPr>
        </p:nvSpPr>
        <p:spPr>
          <a:xfrm>
            <a:off x="304800" y="3886200"/>
            <a:ext cx="11582400" cy="1752600"/>
          </a:xfrm>
        </p:spPr>
        <p:txBody>
          <a:bodyPr/>
          <a:lstStyle>
            <a:lvl1pPr marL="514350" indent="-514350" algn="l">
              <a:buFont typeface="+mj-lt"/>
              <a:buAutoNum type="arabicPeriod"/>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vi-VN"/>
          </a:p>
        </p:txBody>
      </p:sp>
    </p:spTree>
    <p:extLst>
      <p:ext uri="{BB962C8B-B14F-4D97-AF65-F5344CB8AC3E}">
        <p14:creationId xmlns:p14="http://schemas.microsoft.com/office/powerpoint/2010/main" val="254747701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01_Title Slide 04">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vi-V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32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70127187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05">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3508374"/>
          </a:xfrm>
        </p:spPr>
        <p:txBody>
          <a:bodyPr/>
          <a:lstStyle>
            <a:lvl1pPr>
              <a:defRPr>
                <a:solidFill>
                  <a:srgbClr val="FF0000"/>
                </a:solidFill>
              </a:defRPr>
            </a:lvl1pPr>
          </a:lstStyle>
          <a:p>
            <a:r>
              <a:rPr lang="en-US"/>
              <a:t>Click to edit Master title style</a:t>
            </a:r>
            <a:endParaRPr lang="vi-VN"/>
          </a:p>
        </p:txBody>
      </p:sp>
    </p:spTree>
    <p:extLst>
      <p:ext uri="{BB962C8B-B14F-4D97-AF65-F5344CB8AC3E}">
        <p14:creationId xmlns:p14="http://schemas.microsoft.com/office/powerpoint/2010/main" val="194447936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02_Standard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CHUẨN</a:t>
            </a:r>
            <a:endParaRPr lang="vi-VN"/>
          </a:p>
        </p:txBody>
      </p:sp>
    </p:spTree>
    <p:extLst>
      <p:ext uri="{BB962C8B-B14F-4D97-AF65-F5344CB8AC3E}">
        <p14:creationId xmlns:p14="http://schemas.microsoft.com/office/powerpoint/2010/main" val="13947125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02_Standard Slide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6553698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2_Standard Slide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67601710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02_Standard Slide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380999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18631001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02_Standard Slide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Tree>
    <p:extLst>
      <p:ext uri="{BB962C8B-B14F-4D97-AF65-F5344CB8AC3E}">
        <p14:creationId xmlns:p14="http://schemas.microsoft.com/office/powerpoint/2010/main" val="374998215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02_Standard Slide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9C3E9201-BB7C-7361-D15B-554D97FD4941}"/>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59643877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02_Standard Slide 06">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CF2D223-6151-F61A-0F95-44A484E45C9E}"/>
              </a:ext>
            </a:extLst>
          </p:cNvPr>
          <p:cNvSpPr>
            <a:spLocks noGrp="1"/>
          </p:cNvSpPr>
          <p:nvPr>
            <p:ph idx="1"/>
          </p:nvPr>
        </p:nvSpPr>
        <p:spPr>
          <a:xfrm>
            <a:off x="609600" y="0"/>
            <a:ext cx="10972800" cy="6096000"/>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57848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02_Standard Slide 07">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CF2D223-6151-F61A-0F95-44A484E45C9E}"/>
              </a:ext>
            </a:extLst>
          </p:cNvPr>
          <p:cNvSpPr>
            <a:spLocks noGrp="1"/>
          </p:cNvSpPr>
          <p:nvPr>
            <p:ph idx="1"/>
          </p:nvPr>
        </p:nvSpPr>
        <p:spPr>
          <a:xfrm>
            <a:off x="0" y="0"/>
            <a:ext cx="12192000" cy="6096000"/>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15321983"/>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02_Standard Slide 08">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526075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03_Program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PROGRAM</a:t>
            </a:r>
            <a:endParaRPr lang="vi-VN"/>
          </a:p>
        </p:txBody>
      </p:sp>
    </p:spTree>
    <p:extLst>
      <p:ext uri="{BB962C8B-B14F-4D97-AF65-F5344CB8AC3E}">
        <p14:creationId xmlns:p14="http://schemas.microsoft.com/office/powerpoint/2010/main" val="379038162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03_Program Slide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Tree>
    <p:extLst>
      <p:ext uri="{BB962C8B-B14F-4D97-AF65-F5344CB8AC3E}">
        <p14:creationId xmlns:p14="http://schemas.microsoft.com/office/powerpoint/2010/main" val="199875236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03_Program Slide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marL="971550" indent="-514350">
              <a:buFont typeface="+mj-lt"/>
              <a:buAutoNum type="arabicPeriod"/>
              <a:defRPr sz="2800">
                <a:latin typeface="Courier New" panose="02070309020205020404" pitchFamily="49" charset="0"/>
                <a:cs typeface="Courier New" panose="02070309020205020404" pitchFamily="49" charset="0"/>
              </a:defRPr>
            </a:lvl2pPr>
            <a:lvl3pPr marL="1371600" indent="-457200">
              <a:buFont typeface="+mj-lt"/>
              <a:buAutoNum type="arabicPeriod"/>
              <a:defRPr sz="2400">
                <a:latin typeface="Courier New" panose="02070309020205020404" pitchFamily="49" charset="0"/>
                <a:cs typeface="Courier New" panose="02070309020205020404" pitchFamily="49" charset="0"/>
              </a:defRPr>
            </a:lvl3pPr>
            <a:lvl4pPr marL="1828800" indent="-457200">
              <a:buFont typeface="+mj-lt"/>
              <a:buAutoNum type="arabicPeriod"/>
              <a:defRPr sz="2000">
                <a:latin typeface="Courier New" panose="02070309020205020404" pitchFamily="49" charset="0"/>
                <a:cs typeface="Courier New" panose="02070309020205020404" pitchFamily="49" charset="0"/>
              </a:defRPr>
            </a:lvl4pPr>
          </a:lstStyle>
          <a:p>
            <a:pPr lvl="0"/>
            <a:r>
              <a:rPr lang="en-US"/>
              <a:t>Click to edit Master text styles</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77276024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Program Slide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3809998"/>
          </a:xfrm>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marL="971550" indent="-514350">
              <a:buFont typeface="+mj-lt"/>
              <a:buAutoNum type="arabicPeriod"/>
              <a:defRPr sz="2800">
                <a:latin typeface="Courier New" panose="02070309020205020404" pitchFamily="49" charset="0"/>
                <a:cs typeface="Courier New" panose="02070309020205020404" pitchFamily="49" charset="0"/>
              </a:defRPr>
            </a:lvl2pPr>
            <a:lvl3pPr marL="1371600" indent="-457200">
              <a:buFont typeface="+mj-lt"/>
              <a:buAutoNum type="arabicPeriod"/>
              <a:defRPr sz="2400">
                <a:latin typeface="Courier New" panose="02070309020205020404" pitchFamily="49" charset="0"/>
                <a:cs typeface="Courier New" panose="02070309020205020404" pitchFamily="49" charset="0"/>
              </a:defRPr>
            </a:lvl3pPr>
            <a:lvl4pPr marL="1828800" indent="-457200">
              <a:buFont typeface="+mj-lt"/>
              <a:buAutoNum type="arabicPeriod"/>
              <a:defRPr sz="2000">
                <a:latin typeface="Courier New" panose="02070309020205020404" pitchFamily="49" charset="0"/>
                <a:cs typeface="Courier New" panose="02070309020205020404" pitchFamily="49" charset="0"/>
              </a:defRPr>
            </a:lvl4pPr>
          </a:lstStyle>
          <a:p>
            <a:pPr lvl="0"/>
            <a:r>
              <a:rPr lang="en-US"/>
              <a:t>Click to edit Master text styles</a:t>
            </a:r>
          </a:p>
        </p:txBody>
      </p:sp>
      <p:sp>
        <p:nvSpPr>
          <p:cNvPr id="5" name="Content Placeholder 2">
            <a:extLst>
              <a:ext uri="{FF2B5EF4-FFF2-40B4-BE49-F238E27FC236}">
                <a16:creationId xmlns:a16="http://schemas.microsoft.com/office/drawing/2014/main" id="{20BF5967-6241-0E40-D844-CD2FB96F1181}"/>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21512989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04_Slide Up Dow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HAI PHẦN TRÊN DƯỚI</a:t>
            </a:r>
            <a:endParaRPr lang="vi-VN"/>
          </a:p>
        </p:txBody>
      </p:sp>
    </p:spTree>
    <p:extLst>
      <p:ext uri="{BB962C8B-B14F-4D97-AF65-F5344CB8AC3E}">
        <p14:creationId xmlns:p14="http://schemas.microsoft.com/office/powerpoint/2010/main" val="135437916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04 Slide Up Down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3352799"/>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4953001"/>
            <a:ext cx="10972800" cy="1172495"/>
          </a:xfrm>
        </p:spPr>
        <p:txBody>
          <a:bodyPr/>
          <a:lstStyle>
            <a:lvl1pPr>
              <a:defRPr sz="2800"/>
            </a:lvl1pPr>
            <a:lvl2pPr>
              <a:defRPr sz="2800"/>
            </a:lvl2pPr>
            <a:lvl3pPr>
              <a:defRPr sz="2000"/>
            </a:lvl3pPr>
            <a:lvl4pPr>
              <a:defRPr sz="1800"/>
            </a:lvl4pPr>
          </a:lstStyle>
          <a:p>
            <a:pPr lvl="0"/>
            <a:r>
              <a:rPr lang="en-US"/>
              <a:t>Click toa edit Master text styles</a:t>
            </a:r>
          </a:p>
        </p:txBody>
      </p:sp>
    </p:spTree>
    <p:extLst>
      <p:ext uri="{BB962C8B-B14F-4D97-AF65-F5344CB8AC3E}">
        <p14:creationId xmlns:p14="http://schemas.microsoft.com/office/powerpoint/2010/main" val="14957049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04 Slide Up Down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514598"/>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4114801"/>
            <a:ext cx="10972800" cy="2010695"/>
          </a:xfrm>
        </p:spPr>
        <p:txBody>
          <a:bodyPr/>
          <a:lstStyle>
            <a:lvl1pPr>
              <a:defRPr sz="2800"/>
            </a:lvl1pPr>
            <a:lvl2pPr>
              <a:defRPr sz="2800"/>
            </a:lvl2pPr>
            <a:lvl3pPr>
              <a:defRPr sz="2000"/>
            </a:lvl3pPr>
            <a:lvl4pPr>
              <a:defRPr sz="1800"/>
            </a:lvl4pPr>
          </a:lstStyle>
          <a:p>
            <a:pPr lvl="0"/>
            <a:r>
              <a:rPr lang="en-US"/>
              <a:t>Click toa edit Master text styles</a:t>
            </a:r>
          </a:p>
        </p:txBody>
      </p:sp>
    </p:spTree>
    <p:extLst>
      <p:ext uri="{BB962C8B-B14F-4D97-AF65-F5344CB8AC3E}">
        <p14:creationId xmlns:p14="http://schemas.microsoft.com/office/powerpoint/2010/main" val="691904815"/>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04 Slide Up Down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1371597"/>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2971801"/>
            <a:ext cx="10972800" cy="3153696"/>
          </a:xfrm>
        </p:spPr>
        <p:txBody>
          <a:bodyPr/>
          <a:lstStyle>
            <a:lvl1pPr>
              <a:defRPr sz="2800"/>
            </a:lvl1pPr>
            <a:lvl2pPr>
              <a:defRPr sz="2800"/>
            </a:lvl2pPr>
            <a:lvl3pPr>
              <a:defRPr sz="2000"/>
            </a:lvl3pPr>
            <a:lvl4pPr>
              <a:defRPr sz="1800"/>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Second level</a:t>
            </a:r>
          </a:p>
        </p:txBody>
      </p:sp>
    </p:spTree>
    <p:extLst>
      <p:ext uri="{BB962C8B-B14F-4D97-AF65-F5344CB8AC3E}">
        <p14:creationId xmlns:p14="http://schemas.microsoft.com/office/powerpoint/2010/main" val="254154339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05_Slide Two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HAI CỘT</a:t>
            </a:r>
            <a:endParaRPr lang="vi-VN"/>
          </a:p>
        </p:txBody>
      </p:sp>
    </p:spTree>
    <p:extLst>
      <p:ext uri="{BB962C8B-B14F-4D97-AF65-F5344CB8AC3E}">
        <p14:creationId xmlns:p14="http://schemas.microsoft.com/office/powerpoint/2010/main" val="2011238762"/>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05_Slide Two Column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0254237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05_Slide Two Column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
        <p:nvSpPr>
          <p:cNvPr id="10" name="Content Placeholder 2">
            <a:extLst>
              <a:ext uri="{FF2B5EF4-FFF2-40B4-BE49-F238E27FC236}">
                <a16:creationId xmlns:a16="http://schemas.microsoft.com/office/drawing/2014/main" id="{4A5C2EBD-EF57-4343-AF38-1F0DEC4C0994}"/>
              </a:ext>
            </a:extLst>
          </p:cNvPr>
          <p:cNvSpPr>
            <a:spLocks noGrp="1"/>
          </p:cNvSpPr>
          <p:nvPr>
            <p:ph sz="half" idx="1"/>
          </p:nvPr>
        </p:nvSpPr>
        <p:spPr>
          <a:xfrm>
            <a:off x="609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Content Placeholder 3">
            <a:extLst>
              <a:ext uri="{FF2B5EF4-FFF2-40B4-BE49-F238E27FC236}">
                <a16:creationId xmlns:a16="http://schemas.microsoft.com/office/drawing/2014/main" id="{8AC06C03-737D-475A-93EF-E21A1FC9ACF3}"/>
              </a:ext>
            </a:extLst>
          </p:cNvPr>
          <p:cNvSpPr>
            <a:spLocks noGrp="1"/>
          </p:cNvSpPr>
          <p:nvPr>
            <p:ph sz="half" idx="2"/>
          </p:nvPr>
        </p:nvSpPr>
        <p:spPr>
          <a:xfrm>
            <a:off x="6197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93367181"/>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05_Slide Two Column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10" name="Content Placeholder 2">
            <a:extLst>
              <a:ext uri="{FF2B5EF4-FFF2-40B4-BE49-F238E27FC236}">
                <a16:creationId xmlns:a16="http://schemas.microsoft.com/office/drawing/2014/main" id="{4A5C2EBD-EF57-4343-AF38-1F0DEC4C0994}"/>
              </a:ext>
            </a:extLst>
          </p:cNvPr>
          <p:cNvSpPr>
            <a:spLocks noGrp="1"/>
          </p:cNvSpPr>
          <p:nvPr>
            <p:ph sz="half" idx="1"/>
          </p:nvPr>
        </p:nvSpPr>
        <p:spPr>
          <a:xfrm>
            <a:off x="609600" y="1600201"/>
            <a:ext cx="53848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Content Placeholder 3">
            <a:extLst>
              <a:ext uri="{FF2B5EF4-FFF2-40B4-BE49-F238E27FC236}">
                <a16:creationId xmlns:a16="http://schemas.microsoft.com/office/drawing/2014/main" id="{8AC06C03-737D-475A-93EF-E21A1FC9ACF3}"/>
              </a:ext>
            </a:extLst>
          </p:cNvPr>
          <p:cNvSpPr>
            <a:spLocks noGrp="1"/>
          </p:cNvSpPr>
          <p:nvPr>
            <p:ph sz="half" idx="2"/>
          </p:nvPr>
        </p:nvSpPr>
        <p:spPr>
          <a:xfrm>
            <a:off x="6197600" y="1600201"/>
            <a:ext cx="53848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48716980-92B1-EFAB-E559-9C67E7C615BC}"/>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00755685"/>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05_Slide Two Column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6553200" cy="45259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7162800" y="1600200"/>
            <a:ext cx="4419600" cy="4525963"/>
          </a:xfrm>
        </p:spPr>
        <p:txBody>
          <a:bodyPr/>
          <a:lstStyle>
            <a:lvl1pPr>
              <a:defRPr sz="2800"/>
            </a:lvl1pPr>
            <a:lvl2pPr>
              <a:defRPr sz="2400"/>
            </a:lvl2pPr>
          </a:lstStyle>
          <a:p>
            <a:pPr lvl="0"/>
            <a:r>
              <a:rPr lang="en-US"/>
              <a:t>Click to edit Master text styles</a:t>
            </a:r>
          </a:p>
        </p:txBody>
      </p:sp>
    </p:spTree>
    <p:extLst>
      <p:ext uri="{BB962C8B-B14F-4D97-AF65-F5344CB8AC3E}">
        <p14:creationId xmlns:p14="http://schemas.microsoft.com/office/powerpoint/2010/main" val="3724642175"/>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05_Slide Two Column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2"/>
            <a:ext cx="6553200" cy="4286864"/>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7162800" y="1600201"/>
            <a:ext cx="4419600" cy="4286864"/>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17B267FE-1A4A-FC5A-B1BF-212E21F3C20F}"/>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239912957"/>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05_Slide Two Column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2"/>
            <a:ext cx="6553200" cy="3810000"/>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7162800" y="1600201"/>
            <a:ext cx="4419600" cy="3810000"/>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87C8D0DD-B54D-81D5-B7D4-10338B1E3280}"/>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9230448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05_Slide Two Column 0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610600" cy="45259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525963"/>
          </a:xfrm>
        </p:spPr>
        <p:txBody>
          <a:bodyPr/>
          <a:lstStyle>
            <a:lvl1pPr>
              <a:defRPr sz="2800"/>
            </a:lvl1pPr>
            <a:lvl2pPr>
              <a:defRPr sz="2400"/>
            </a:lvl2pPr>
          </a:lstStyle>
          <a:p>
            <a:pPr lvl="0"/>
            <a:r>
              <a:rPr lang="en-US"/>
              <a:t>Click to edit Master text styles</a:t>
            </a:r>
          </a:p>
        </p:txBody>
      </p:sp>
    </p:spTree>
    <p:extLst>
      <p:ext uri="{BB962C8B-B14F-4D97-AF65-F5344CB8AC3E}">
        <p14:creationId xmlns:p14="http://schemas.microsoft.com/office/powerpoint/2010/main" val="2322547086"/>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05_Slide Two Column 0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610600" cy="42868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286863"/>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DA1A5BA2-D508-AFA2-E487-FE996D715498}"/>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2160895333"/>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05_Slide Two Column 0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610600" cy="3809999"/>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3809999"/>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9B108584-BFF3-2406-377A-3236D4DB99A3}"/>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805069774"/>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05_Slide Two Column 1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94170472"/>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05_Slide Two Column 1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11640B4C-4BB4-59DC-6FB5-BE2BEAB17DCB}"/>
              </a:ext>
            </a:extLst>
          </p:cNvPr>
          <p:cNvSpPr>
            <a:spLocks noGrp="1"/>
          </p:cNvSpPr>
          <p:nvPr>
            <p:ph idx="16" hasCustomPrompt="1"/>
          </p:nvPr>
        </p:nvSpPr>
        <p:spPr>
          <a:xfrm>
            <a:off x="609600" y="5887064"/>
            <a:ext cx="115824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109277816"/>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05_Slide Two Column 1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501540FF-506E-C951-CCC4-F2846A5D1DE5}"/>
              </a:ext>
            </a:extLst>
          </p:cNvPr>
          <p:cNvSpPr>
            <a:spLocks noGrp="1"/>
          </p:cNvSpPr>
          <p:nvPr>
            <p:ph idx="16" hasCustomPrompt="1"/>
          </p:nvPr>
        </p:nvSpPr>
        <p:spPr>
          <a:xfrm>
            <a:off x="609600" y="5410200"/>
            <a:ext cx="1161288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204517489"/>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05_Slide Two Column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9894408"/>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05_Slide Two Column 1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739BE0C1-77A6-4A1D-2879-D18D2A156490}"/>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734376779"/>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05_Slide Two Column 1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B7836774-98E2-8399-1A89-B989AAE076F4}"/>
              </a:ext>
            </a:extLst>
          </p:cNvPr>
          <p:cNvSpPr>
            <a:spLocks noGrp="1"/>
          </p:cNvSpPr>
          <p:nvPr>
            <p:ph idx="16" hasCustomPrompt="1"/>
          </p:nvPr>
        </p:nvSpPr>
        <p:spPr>
          <a:xfrm>
            <a:off x="0" y="5410200"/>
            <a:ext cx="1222248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148600537"/>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05_Slide Two Column 1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3858627"/>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05_Slide Two Column 1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Text Placeholder 4"/>
          <p:cNvSpPr>
            <a:spLocks noGrp="1"/>
          </p:cNvSpPr>
          <p:nvPr>
            <p:ph type="body" sz="quarter" idx="3"/>
          </p:nvPr>
        </p:nvSpPr>
        <p:spPr>
          <a:xfrm>
            <a:off x="6193368" y="1535113"/>
            <a:ext cx="5998632"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998632"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124388919"/>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05_Slide Two Column 1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46338631"/>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05_Slide Two Column 1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1582400"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lvl1pPr>
            <a:lvl2pPr>
              <a:defRPr sz="2800"/>
            </a:lvl2pPr>
            <a:lvl3pPr>
              <a:defRPr sz="2800"/>
            </a:lvl3pPr>
            <a:lvl4pPr>
              <a:defRPr sz="2800"/>
            </a:lvl4pPr>
            <a:lvl5pPr>
              <a:defRPr sz="2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6193368" y="2174875"/>
            <a:ext cx="5998632" cy="3951288"/>
          </a:xfrm>
        </p:spPr>
        <p:txBody>
          <a:bodyPr/>
          <a:lstStyle>
            <a:lvl1pPr>
              <a:defRPr sz="2800"/>
            </a:lvl1pPr>
            <a:lvl2pPr>
              <a:defRPr sz="2800"/>
            </a:lvl2pPr>
            <a:lvl3pPr>
              <a:defRPr sz="2800"/>
            </a:lvl3pPr>
            <a:lvl4pPr>
              <a:defRPr sz="2800"/>
            </a:lvl4pPr>
            <a:lvl5pPr>
              <a:defRPr sz="2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1696371"/>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05_Slide Two Column 2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2114" y="1535113"/>
            <a:ext cx="12194114"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14" y="2174875"/>
            <a:ext cx="5998632" cy="3951288"/>
          </a:xfr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6193368" y="2174875"/>
            <a:ext cx="5998632" cy="3951288"/>
          </a:xfr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55509956"/>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05_Slide Two Column 21">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3200" b="1"/>
            </a:lvl1pPr>
          </a:lstStyle>
          <a:p>
            <a:r>
              <a:rPr lang="en-US"/>
              <a:t>Click to edit Master title style</a:t>
            </a:r>
            <a:endParaRPr lang="vi-VN"/>
          </a:p>
        </p:txBody>
      </p:sp>
      <p:sp>
        <p:nvSpPr>
          <p:cNvPr id="3" name="Content Placeholder 2"/>
          <p:cNvSpPr>
            <a:spLocks noGrp="1"/>
          </p:cNvSpPr>
          <p:nvPr>
            <p:ph idx="1"/>
          </p:nvPr>
        </p:nvSpPr>
        <p:spPr>
          <a:xfrm>
            <a:off x="4766733" y="273051"/>
            <a:ext cx="6815667" cy="5853113"/>
          </a:xfrm>
        </p:spPr>
        <p:txBody>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16488560"/>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06_Slide Three Column ">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BA CỘT</a:t>
            </a:r>
            <a:endParaRPr lang="vi-VN"/>
          </a:p>
        </p:txBody>
      </p:sp>
    </p:spTree>
    <p:extLst>
      <p:ext uri="{BB962C8B-B14F-4D97-AF65-F5344CB8AC3E}">
        <p14:creationId xmlns:p14="http://schemas.microsoft.com/office/powerpoint/2010/main" val="3876098984"/>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4958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4958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4958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3865494"/>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70198783"/>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07_Slide Four Column ">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BỐN CỘT</a:t>
            </a:r>
            <a:endParaRPr lang="vi-VN"/>
          </a:p>
        </p:txBody>
      </p:sp>
    </p:spTree>
    <p:extLst>
      <p:ext uri="{BB962C8B-B14F-4D97-AF65-F5344CB8AC3E}">
        <p14:creationId xmlns:p14="http://schemas.microsoft.com/office/powerpoint/2010/main" val="3094009430"/>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7" name="Content Placeholder 2">
            <a:extLst>
              <a:ext uri="{FF2B5EF4-FFF2-40B4-BE49-F238E27FC236}">
                <a16:creationId xmlns:a16="http://schemas.microsoft.com/office/drawing/2014/main" id="{1E586163-080C-4D92-9FF5-83B9A124C31B}"/>
              </a:ext>
            </a:extLst>
          </p:cNvPr>
          <p:cNvSpPr>
            <a:spLocks noGrp="1"/>
          </p:cNvSpPr>
          <p:nvPr>
            <p:ph sz="half" idx="12"/>
          </p:nvPr>
        </p:nvSpPr>
        <p:spPr>
          <a:xfrm>
            <a:off x="30988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60879BDB-29CC-404E-9DCA-E89C7B9070DD}"/>
              </a:ext>
            </a:extLst>
          </p:cNvPr>
          <p:cNvSpPr>
            <a:spLocks noGrp="1"/>
          </p:cNvSpPr>
          <p:nvPr>
            <p:ph sz="half" idx="13"/>
          </p:nvPr>
        </p:nvSpPr>
        <p:spPr>
          <a:xfrm>
            <a:off x="62103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2494B703-5983-4A4F-B197-D2C64EAA9F6A}"/>
              </a:ext>
            </a:extLst>
          </p:cNvPr>
          <p:cNvSpPr>
            <a:spLocks noGrp="1"/>
          </p:cNvSpPr>
          <p:nvPr>
            <p:ph sz="half" idx="14"/>
          </p:nvPr>
        </p:nvSpPr>
        <p:spPr>
          <a:xfrm>
            <a:off x="93472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06970055"/>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08_Slide Four Par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BỐN PHẦN</a:t>
            </a:r>
            <a:endParaRPr lang="vi-VN"/>
          </a:p>
        </p:txBody>
      </p:sp>
    </p:spTree>
    <p:extLst>
      <p:ext uri="{BB962C8B-B14F-4D97-AF65-F5344CB8AC3E}">
        <p14:creationId xmlns:p14="http://schemas.microsoft.com/office/powerpoint/2010/main" val="2052302994"/>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D4EA549A-C581-4C37-B257-ACE55CAD4DF6}"/>
              </a:ext>
            </a:extLst>
          </p:cNvPr>
          <p:cNvSpPr>
            <a:spLocks noGrp="1"/>
          </p:cNvSpPr>
          <p:nvPr>
            <p:ph sz="half" idx="12"/>
          </p:nvPr>
        </p:nvSpPr>
        <p:spPr>
          <a:xfrm>
            <a:off x="0" y="3886200"/>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00016720-4FC2-4205-9886-7838EB044331}"/>
              </a:ext>
            </a:extLst>
          </p:cNvPr>
          <p:cNvSpPr>
            <a:spLocks noGrp="1"/>
          </p:cNvSpPr>
          <p:nvPr>
            <p:ph sz="half" idx="13"/>
          </p:nvPr>
        </p:nvSpPr>
        <p:spPr>
          <a:xfrm>
            <a:off x="6197600" y="1608826"/>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0" name="Content Placeholder 2">
            <a:extLst>
              <a:ext uri="{FF2B5EF4-FFF2-40B4-BE49-F238E27FC236}">
                <a16:creationId xmlns:a16="http://schemas.microsoft.com/office/drawing/2014/main" id="{CE828636-495F-44E0-8340-BCE2B3F47166}"/>
              </a:ext>
            </a:extLst>
          </p:cNvPr>
          <p:cNvSpPr>
            <a:spLocks noGrp="1"/>
          </p:cNvSpPr>
          <p:nvPr>
            <p:ph sz="half" idx="14"/>
          </p:nvPr>
        </p:nvSpPr>
        <p:spPr>
          <a:xfrm>
            <a:off x="6197600" y="3894825"/>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01676564"/>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80772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4" name="Content Placeholder 3"/>
          <p:cNvSpPr>
            <a:spLocks noGrp="1"/>
          </p:cNvSpPr>
          <p:nvPr>
            <p:ph sz="half" idx="2"/>
          </p:nvPr>
        </p:nvSpPr>
        <p:spPr>
          <a:xfrm>
            <a:off x="8763000" y="1600201"/>
            <a:ext cx="28194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1" name="Content Placeholder 2">
            <a:extLst>
              <a:ext uri="{FF2B5EF4-FFF2-40B4-BE49-F238E27FC236}">
                <a16:creationId xmlns:a16="http://schemas.microsoft.com/office/drawing/2014/main" id="{E4A1A4A6-69C0-4EC3-B5CC-CC08837714D4}"/>
              </a:ext>
            </a:extLst>
          </p:cNvPr>
          <p:cNvSpPr>
            <a:spLocks noGrp="1"/>
          </p:cNvSpPr>
          <p:nvPr>
            <p:ph sz="half" idx="12"/>
          </p:nvPr>
        </p:nvSpPr>
        <p:spPr>
          <a:xfrm>
            <a:off x="609600" y="2680855"/>
            <a:ext cx="80772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2" name="Content Placeholder 3">
            <a:extLst>
              <a:ext uri="{FF2B5EF4-FFF2-40B4-BE49-F238E27FC236}">
                <a16:creationId xmlns:a16="http://schemas.microsoft.com/office/drawing/2014/main" id="{3E39D719-3B3B-4F96-BE3F-4E767D23D3DC}"/>
              </a:ext>
            </a:extLst>
          </p:cNvPr>
          <p:cNvSpPr>
            <a:spLocks noGrp="1"/>
          </p:cNvSpPr>
          <p:nvPr>
            <p:ph sz="half" idx="13"/>
          </p:nvPr>
        </p:nvSpPr>
        <p:spPr>
          <a:xfrm>
            <a:off x="8763000" y="2680855"/>
            <a:ext cx="28194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3" name="Content Placeholder 2">
            <a:extLst>
              <a:ext uri="{FF2B5EF4-FFF2-40B4-BE49-F238E27FC236}">
                <a16:creationId xmlns:a16="http://schemas.microsoft.com/office/drawing/2014/main" id="{D7791AFD-E53B-48D7-8A3C-24F9B9314932}"/>
              </a:ext>
            </a:extLst>
          </p:cNvPr>
          <p:cNvSpPr>
            <a:spLocks noGrp="1"/>
          </p:cNvSpPr>
          <p:nvPr>
            <p:ph sz="half" idx="14"/>
          </p:nvPr>
        </p:nvSpPr>
        <p:spPr>
          <a:xfrm>
            <a:off x="609600" y="3733801"/>
            <a:ext cx="80772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4" name="Content Placeholder 3">
            <a:extLst>
              <a:ext uri="{FF2B5EF4-FFF2-40B4-BE49-F238E27FC236}">
                <a16:creationId xmlns:a16="http://schemas.microsoft.com/office/drawing/2014/main" id="{7784060D-E07A-4765-948A-FC9071F8DDC5}"/>
              </a:ext>
            </a:extLst>
          </p:cNvPr>
          <p:cNvSpPr>
            <a:spLocks noGrp="1"/>
          </p:cNvSpPr>
          <p:nvPr>
            <p:ph sz="half" idx="15"/>
          </p:nvPr>
        </p:nvSpPr>
        <p:spPr>
          <a:xfrm>
            <a:off x="8763000" y="3733801"/>
            <a:ext cx="28194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5" name="Content Placeholder 2">
            <a:extLst>
              <a:ext uri="{FF2B5EF4-FFF2-40B4-BE49-F238E27FC236}">
                <a16:creationId xmlns:a16="http://schemas.microsoft.com/office/drawing/2014/main" id="{A67EFF06-2483-4600-B6B9-3D1CE50220DD}"/>
              </a:ext>
            </a:extLst>
          </p:cNvPr>
          <p:cNvSpPr>
            <a:spLocks noGrp="1"/>
          </p:cNvSpPr>
          <p:nvPr>
            <p:ph sz="half" idx="16"/>
          </p:nvPr>
        </p:nvSpPr>
        <p:spPr>
          <a:xfrm>
            <a:off x="609600" y="4814455"/>
            <a:ext cx="80772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6" name="Content Placeholder 3">
            <a:extLst>
              <a:ext uri="{FF2B5EF4-FFF2-40B4-BE49-F238E27FC236}">
                <a16:creationId xmlns:a16="http://schemas.microsoft.com/office/drawing/2014/main" id="{C22FA758-800C-4200-9C64-1F16B8C51CA7}"/>
              </a:ext>
            </a:extLst>
          </p:cNvPr>
          <p:cNvSpPr>
            <a:spLocks noGrp="1"/>
          </p:cNvSpPr>
          <p:nvPr>
            <p:ph sz="half" idx="17"/>
          </p:nvPr>
        </p:nvSpPr>
        <p:spPr>
          <a:xfrm>
            <a:off x="8763000" y="4814455"/>
            <a:ext cx="28194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Tree>
    <p:extLst>
      <p:ext uri="{BB962C8B-B14F-4D97-AF65-F5344CB8AC3E}">
        <p14:creationId xmlns:p14="http://schemas.microsoft.com/office/powerpoint/2010/main" val="1809676352"/>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09_Flow Char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LƯU ĐỒ</a:t>
            </a:r>
            <a:endParaRPr lang="vi-VN"/>
          </a:p>
        </p:txBody>
      </p:sp>
    </p:spTree>
    <p:extLst>
      <p:ext uri="{BB962C8B-B14F-4D97-AF65-F5344CB8AC3E}">
        <p14:creationId xmlns:p14="http://schemas.microsoft.com/office/powerpoint/2010/main" val="1782140233"/>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5994400" cy="5059363"/>
          </a:xfrm>
        </p:spPr>
        <p:txBody>
          <a:bodyPr/>
          <a:lstStyle>
            <a:lvl1pPr>
              <a:defRPr sz="2800"/>
            </a:lvl1pPr>
            <a:lvl2pPr>
              <a:defRPr sz="2800">
                <a:solidFill>
                  <a:srgbClr val="FF0000"/>
                </a:solidFill>
              </a:defRPr>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0"/>
            <a:ext cx="5994400" cy="914401"/>
          </a:xfrm>
          <a:solidFill>
            <a:srgbClr val="00B0F0"/>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Tree>
    <p:extLst>
      <p:ext uri="{BB962C8B-B14F-4D97-AF65-F5344CB8AC3E}">
        <p14:creationId xmlns:p14="http://schemas.microsoft.com/office/powerpoint/2010/main" val="791959533"/>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14854" y="1066801"/>
            <a:ext cx="3022600" cy="5059363"/>
          </a:xfrm>
        </p:spPr>
        <p:txBody>
          <a:bodyPr/>
          <a:lstStyle>
            <a:lvl1pPr>
              <a:defRPr sz="2800"/>
            </a:lvl1pPr>
            <a:lvl2pPr>
              <a:defRPr sz="2800">
                <a:solidFill>
                  <a:srgbClr val="FF0000"/>
                </a:solidFill>
              </a:defRPr>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14854" y="0"/>
            <a:ext cx="6077146" cy="914401"/>
          </a:xfrm>
          <a:solidFill>
            <a:srgbClr val="00B0F0"/>
          </a:solidFill>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
        <p:nvSpPr>
          <p:cNvPr id="7" name="Content Placeholder 3">
            <a:extLst>
              <a:ext uri="{FF2B5EF4-FFF2-40B4-BE49-F238E27FC236}">
                <a16:creationId xmlns:a16="http://schemas.microsoft.com/office/drawing/2014/main" id="{41B544BE-4259-4202-9EEF-29A5F771B6E3}"/>
              </a:ext>
            </a:extLst>
          </p:cNvPr>
          <p:cNvSpPr>
            <a:spLocks noGrp="1"/>
          </p:cNvSpPr>
          <p:nvPr>
            <p:ph sz="half" idx="13"/>
          </p:nvPr>
        </p:nvSpPr>
        <p:spPr>
          <a:xfrm>
            <a:off x="9157118" y="1066800"/>
            <a:ext cx="3022600" cy="5059363"/>
          </a:xfrm>
        </p:spPr>
        <p:txBody>
          <a:bodyPr/>
          <a:lstStyle>
            <a:lvl1pPr>
              <a:defRPr sz="2800"/>
            </a:lvl1pPr>
            <a:lvl2pPr>
              <a:defRPr sz="2800">
                <a:solidFill>
                  <a:srgbClr val="FF0000"/>
                </a:solidFill>
              </a:defRPr>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38711408"/>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914400"/>
            <a:ext cx="5994400" cy="5211764"/>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01840984"/>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88173" y="0"/>
            <a:ext cx="5994400" cy="6096000"/>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34309164"/>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theme" Target="../theme/theme1.xml"/><Relationship Id="rId60" Type="http://schemas.openxmlformats.org/officeDocument/2006/relationships/image" Target="../media/image1.png"/><Relationship Id="rId61" Type="http://schemas.openxmlformats.org/officeDocument/2006/relationships/image" Target="../media/image2.png"/><Relationship Id="rId6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0">
            <a:lum/>
          </a:blip>
          <a:srcRect/>
          <a:stretch>
            <a:fillRect l="-1000" r="-1000"/>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6" name="Rectangle 5"/>
          <p:cNvSpPr/>
          <p:nvPr userDrawn="1"/>
        </p:nvSpPr>
        <p:spPr>
          <a:xfrm>
            <a:off x="0" y="6172200"/>
            <a:ext cx="12192000" cy="685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11379200" y="6324600"/>
            <a:ext cx="812800" cy="369332"/>
          </a:xfrm>
          <a:prstGeom prst="rect">
            <a:avLst/>
          </a:prstGeom>
          <a:noFill/>
        </p:spPr>
        <p:txBody>
          <a:bodyPr wrap="square" rtlCol="0">
            <a:spAutoFit/>
          </a:bodyPr>
          <a:lstStyle/>
          <a:p>
            <a:pPr algn="ctr"/>
            <a:fld id="{4A916C17-A3B0-4CE4-88CA-9129F443D2C0}" type="slidenum">
              <a:rPr lang="en-US" smtClean="0"/>
              <a:pPr algn="ctr"/>
              <a:t>‹#›</a:t>
            </a:fld>
            <a:endParaRPr lang="en-US"/>
          </a:p>
        </p:txBody>
      </p:sp>
      <p:pic>
        <p:nvPicPr>
          <p:cNvPr id="7" name="Picture 6" descr="A picture containing text&#10;&#10;Description automatically generated">
            <a:extLst>
              <a:ext uri="{FF2B5EF4-FFF2-40B4-BE49-F238E27FC236}">
                <a16:creationId xmlns:a16="http://schemas.microsoft.com/office/drawing/2014/main" id="{B82A81E1-3619-4A2C-AB88-C7D0762594CD}"/>
              </a:ext>
            </a:extLst>
          </p:cNvPr>
          <p:cNvPicPr>
            <a:picLocks noChangeAspect="1"/>
          </p:cNvPicPr>
          <p:nvPr userDrawn="1"/>
        </p:nvPicPr>
        <p:blipFill>
          <a:blip r:embed="rId61" cstate="print">
            <a:extLst>
              <a:ext uri="{28A0092B-C50C-407E-A947-70E740481C1C}">
                <a14:useLocalDpi xmlns:a14="http://schemas.microsoft.com/office/drawing/2010/main" val="0"/>
              </a:ext>
            </a:extLst>
          </a:blip>
          <a:stretch>
            <a:fillRect/>
          </a:stretch>
        </p:blipFill>
        <p:spPr>
          <a:xfrm>
            <a:off x="9906000" y="103160"/>
            <a:ext cx="1375575" cy="567426"/>
          </a:xfrm>
          <a:prstGeom prst="rect">
            <a:avLst/>
          </a:prstGeom>
        </p:spPr>
      </p:pic>
      <p:pic>
        <p:nvPicPr>
          <p:cNvPr id="8" name="Picture 7" descr="Logo&#10;&#10;Description automatically generated">
            <a:extLst>
              <a:ext uri="{FF2B5EF4-FFF2-40B4-BE49-F238E27FC236}">
                <a16:creationId xmlns:a16="http://schemas.microsoft.com/office/drawing/2014/main" id="{0B594A5E-2439-4755-BAA8-30F12FADD3C7}"/>
              </a:ext>
            </a:extLst>
          </p:cNvPr>
          <p:cNvPicPr>
            <a:picLocks noChangeAspect="1"/>
          </p:cNvPicPr>
          <p:nvPr userDrawn="1"/>
        </p:nvPicPr>
        <p:blipFill>
          <a:blip r:embed="rId62" cstate="print">
            <a:extLst>
              <a:ext uri="{28A0092B-C50C-407E-A947-70E740481C1C}">
                <a14:useLocalDpi xmlns:a14="http://schemas.microsoft.com/office/drawing/2010/main" val="0"/>
              </a:ext>
            </a:extLst>
          </a:blip>
          <a:stretch>
            <a:fillRect/>
          </a:stretch>
        </p:blipFill>
        <p:spPr>
          <a:xfrm>
            <a:off x="11284908" y="70999"/>
            <a:ext cx="843402" cy="843402"/>
          </a:xfrm>
          <a:prstGeom prst="rect">
            <a:avLst/>
          </a:prstGeom>
        </p:spPr>
      </p:pic>
    </p:spTree>
  </p:cSld>
  <p:clrMap bg1="lt1" tx1="dk1" bg2="lt2" tx2="dk2" accent1="accent1" accent2="accent2" accent3="accent3" accent4="accent4" accent5="accent5" accent6="accent6" hlink="hlink" folHlink="folHlink"/>
  <p:sldLayoutIdLst>
    <p:sldLayoutId id="2147483714" r:id="rId1"/>
    <p:sldLayoutId id="2147483715" r:id="rId2"/>
    <p:sldLayoutId id="2147483649" r:id="rId3"/>
    <p:sldLayoutId id="2147483720" r:id="rId4"/>
    <p:sldLayoutId id="2147483652" r:id="rId5"/>
    <p:sldLayoutId id="2147483750" r:id="rId6"/>
    <p:sldLayoutId id="2147483718" r:id="rId7"/>
    <p:sldLayoutId id="2147483650" r:id="rId8"/>
    <p:sldLayoutId id="2147483721" r:id="rId9"/>
    <p:sldLayoutId id="2147483723" r:id="rId10"/>
    <p:sldLayoutId id="2147483716" r:id="rId11"/>
    <p:sldLayoutId id="2147483722" r:id="rId12"/>
    <p:sldLayoutId id="2147483748" r:id="rId13"/>
    <p:sldLayoutId id="2147483749" r:id="rId14"/>
    <p:sldLayoutId id="2147483717" r:id="rId15"/>
    <p:sldLayoutId id="2147483719" r:id="rId16"/>
    <p:sldLayoutId id="2147483725" r:id="rId17"/>
    <p:sldLayoutId id="2147483726" r:id="rId18"/>
    <p:sldLayoutId id="2147483727" r:id="rId19"/>
    <p:sldLayoutId id="2147483724" r:id="rId20"/>
    <p:sldLayoutId id="2147483651" r:id="rId21"/>
    <p:sldLayoutId id="2147483712" r:id="rId22"/>
    <p:sldLayoutId id="2147483713" r:id="rId23"/>
    <p:sldLayoutId id="2147483728" r:id="rId24"/>
    <p:sldLayoutId id="2147483707" r:id="rId25"/>
    <p:sldLayoutId id="2147483709" r:id="rId26"/>
    <p:sldLayoutId id="2147483730" r:id="rId27"/>
    <p:sldLayoutId id="2147483700" r:id="rId28"/>
    <p:sldLayoutId id="2147483731" r:id="rId29"/>
    <p:sldLayoutId id="2147483732" r:id="rId30"/>
    <p:sldLayoutId id="2147483689" r:id="rId31"/>
    <p:sldLayoutId id="2147483733" r:id="rId32"/>
    <p:sldLayoutId id="2147483734" r:id="rId33"/>
    <p:sldLayoutId id="2147483679" r:id="rId34"/>
    <p:sldLayoutId id="2147483735" r:id="rId35"/>
    <p:sldLayoutId id="2147483736" r:id="rId36"/>
    <p:sldLayoutId id="2147483684" r:id="rId37"/>
    <p:sldLayoutId id="2147483737" r:id="rId38"/>
    <p:sldLayoutId id="2147483738" r:id="rId39"/>
    <p:sldLayoutId id="2147483741" r:id="rId40"/>
    <p:sldLayoutId id="2147483742" r:id="rId41"/>
    <p:sldLayoutId id="2147483743" r:id="rId42"/>
    <p:sldLayoutId id="2147483744" r:id="rId43"/>
    <p:sldLayoutId id="2147483745" r:id="rId44"/>
    <p:sldLayoutId id="2147483747" r:id="rId45"/>
    <p:sldLayoutId id="2147483729" r:id="rId46"/>
    <p:sldLayoutId id="2147483686" r:id="rId47"/>
    <p:sldLayoutId id="2147483711" r:id="rId48"/>
    <p:sldLayoutId id="2147483739" r:id="rId49"/>
    <p:sldLayoutId id="2147483688" r:id="rId50"/>
    <p:sldLayoutId id="2147483740" r:id="rId51"/>
    <p:sldLayoutId id="2147483694" r:id="rId52"/>
    <p:sldLayoutId id="2147483687" r:id="rId53"/>
    <p:sldLayoutId id="2147483746" r:id="rId54"/>
    <p:sldLayoutId id="2147483701" r:id="rId55"/>
    <p:sldLayoutId id="2147483702" r:id="rId56"/>
    <p:sldLayoutId id="2147483703" r:id="rId57"/>
    <p:sldLayoutId id="2147483704" r:id="rId58"/>
  </p:sldLayoutIdLst>
  <p:transition/>
  <p:hf sldNum="0" hdr="0" ftr="0" dt="0"/>
  <p:txStyles>
    <p:titleStyle>
      <a:lvl1pPr algn="ctr" rtl="0" eaLnBrk="0" fontAlgn="base" hangingPunct="0">
        <a:spcBef>
          <a:spcPct val="0"/>
        </a:spcBef>
        <a:spcAft>
          <a:spcPct val="0"/>
        </a:spcAft>
        <a:defRPr sz="4400" b="1">
          <a:solidFill>
            <a:srgbClr val="FF0000"/>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0066FF"/>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rgbClr val="0066FF"/>
          </a:solidFill>
          <a:latin typeface="+mn-lt"/>
        </a:defRPr>
      </a:lvl2pPr>
      <a:lvl3pPr marL="1143000" indent="-228600" algn="l" rtl="0" eaLnBrk="0" fontAlgn="base" hangingPunct="0">
        <a:spcBef>
          <a:spcPct val="20000"/>
        </a:spcBef>
        <a:spcAft>
          <a:spcPct val="0"/>
        </a:spcAft>
        <a:buChar char="•"/>
        <a:defRPr sz="2800">
          <a:solidFill>
            <a:srgbClr val="0066FF"/>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sds-platform-private.s3-us-east-2.amazonaws.com/uploads/P14-Polynomial-Regression.zi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0.png"/><Relationship Id="rId3"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8.png"/><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E3612-16D3-622A-7FFF-F636EC5E525C}"/>
              </a:ext>
            </a:extLst>
          </p:cNvPr>
          <p:cNvSpPr>
            <a:spLocks noGrp="1"/>
          </p:cNvSpPr>
          <p:nvPr>
            <p:ph type="ctrTitle"/>
          </p:nvPr>
        </p:nvSpPr>
        <p:spPr/>
        <p:txBody>
          <a:bodyPr/>
          <a:lstStyle/>
          <a:p>
            <a:r>
              <a:rPr lang="en-US"/>
              <a:t>POLYNOMIAL REGRESSION</a:t>
            </a:r>
          </a:p>
        </p:txBody>
      </p:sp>
      <p:sp>
        <p:nvSpPr>
          <p:cNvPr id="7" name="Content Placeholder 6">
            <a:extLst>
              <a:ext uri="{FF2B5EF4-FFF2-40B4-BE49-F238E27FC236}">
                <a16:creationId xmlns:a16="http://schemas.microsoft.com/office/drawing/2014/main" id="{99D9C513-AD71-9FA8-DCD3-EF6738328A0A}"/>
              </a:ext>
            </a:extLst>
          </p:cNvPr>
          <p:cNvSpPr>
            <a:spLocks noGrp="1"/>
          </p:cNvSpPr>
          <p:nvPr>
            <p:ph idx="12"/>
          </p:nvPr>
        </p:nvSpPr>
        <p:spPr/>
        <p:txBody>
          <a:bodyPr/>
          <a:lstStyle/>
          <a:p>
            <a:pPr defTabSz="-13871574">
              <a:spcBef>
                <a:spcPts val="0"/>
              </a:spcBef>
              <a:spcAft>
                <a:spcPts val="0"/>
              </a:spcAft>
              <a:defRPr/>
            </a:pPr>
            <a:r>
              <a:rPr lang="en-US"/>
              <a:t>KS. Quan Chí Khánh An</a:t>
            </a:r>
          </a:p>
          <a:p>
            <a:pPr defTabSz="-13871574">
              <a:spcBef>
                <a:spcPts val="0"/>
              </a:spcBef>
              <a:spcAft>
                <a:spcPts val="0"/>
              </a:spcAft>
              <a:defRPr/>
            </a:pPr>
            <a:r>
              <a:rPr lang="en-US">
                <a:solidFill>
                  <a:srgbClr val="FF0000"/>
                </a:solidFill>
              </a:rPr>
              <a:t>KS. Lê Ngọc Huy</a:t>
            </a:r>
          </a:p>
          <a:p>
            <a:pPr defTabSz="-13871574">
              <a:spcBef>
                <a:spcPts val="0"/>
              </a:spcBef>
              <a:spcAft>
                <a:spcPts val="0"/>
              </a:spcAft>
              <a:defRPr/>
            </a:pPr>
            <a:r>
              <a:rPr lang="en-US"/>
              <a:t>CN. Bùi Cao Doanh</a:t>
            </a:r>
          </a:p>
          <a:p>
            <a:pPr defTabSz="-13871574">
              <a:spcBef>
                <a:spcPts val="0"/>
              </a:spcBef>
              <a:spcAft>
                <a:spcPts val="0"/>
              </a:spcAft>
              <a:defRPr/>
            </a:pPr>
            <a:r>
              <a:rPr lang="en-US">
                <a:solidFill>
                  <a:srgbClr val="FF0000"/>
                </a:solidFill>
              </a:rPr>
              <a:t>CN. Nguyễn Trọng Thuận</a:t>
            </a:r>
          </a:p>
          <a:p>
            <a:pPr defTabSz="-13871574">
              <a:spcBef>
                <a:spcPts val="0"/>
              </a:spcBef>
              <a:spcAft>
                <a:spcPts val="0"/>
              </a:spcAft>
              <a:defRPr/>
            </a:pPr>
            <a:r>
              <a:rPr lang="en-US"/>
              <a:t>KS. Phan Vĩnh Long</a:t>
            </a:r>
          </a:p>
          <a:p>
            <a:pPr defTabSz="-13871574">
              <a:spcBef>
                <a:spcPts val="0"/>
              </a:spcBef>
              <a:spcAft>
                <a:spcPts val="0"/>
              </a:spcAft>
              <a:defRPr/>
            </a:pPr>
            <a:r>
              <a:rPr lang="en-US">
                <a:solidFill>
                  <a:srgbClr val="FF0000"/>
                </a:solidFill>
              </a:rPr>
              <a:t>KS. Nguyễn Cường Phát</a:t>
            </a:r>
          </a:p>
          <a:p>
            <a:pPr defTabSz="-13871574">
              <a:spcBef>
                <a:spcPts val="0"/>
              </a:spcBef>
              <a:spcAft>
                <a:spcPts val="0"/>
              </a:spcAft>
              <a:defRPr/>
            </a:pPr>
            <a:r>
              <a:rPr lang="en-US"/>
              <a:t>ThS. Nguyễn Hoàng Ngân</a:t>
            </a:r>
          </a:p>
          <a:p>
            <a:pPr defTabSz="-13871574">
              <a:spcBef>
                <a:spcPts val="0"/>
              </a:spcBef>
              <a:spcAft>
                <a:spcPts val="0"/>
              </a:spcAft>
              <a:defRPr/>
            </a:pPr>
            <a:r>
              <a:rPr lang="en-US">
                <a:solidFill>
                  <a:srgbClr val="FF0000"/>
                </a:solidFill>
              </a:rPr>
              <a:t>KS. Hồ Thái Ngọc</a:t>
            </a:r>
          </a:p>
          <a:p>
            <a:pPr defTabSz="-13871574">
              <a:spcBef>
                <a:spcPts val="0"/>
              </a:spcBef>
              <a:spcAft>
                <a:spcPts val="0"/>
              </a:spcAft>
              <a:defRPr/>
            </a:pPr>
            <a:r>
              <a:rPr lang="en-US"/>
              <a:t>ThS. Đỗ Văn Tiến</a:t>
            </a:r>
          </a:p>
        </p:txBody>
      </p:sp>
      <p:sp>
        <p:nvSpPr>
          <p:cNvPr id="4" name="Content Placeholder 3">
            <a:extLst>
              <a:ext uri="{FF2B5EF4-FFF2-40B4-BE49-F238E27FC236}">
                <a16:creationId xmlns:a16="http://schemas.microsoft.com/office/drawing/2014/main" id="{8C46475D-F6A4-3080-6B47-C6E6C22C81FB}"/>
              </a:ext>
            </a:extLst>
          </p:cNvPr>
          <p:cNvSpPr>
            <a:spLocks noGrp="1"/>
          </p:cNvSpPr>
          <p:nvPr>
            <p:ph idx="13"/>
          </p:nvPr>
        </p:nvSpPr>
        <p:spPr/>
        <p:txBody>
          <a:bodyPr/>
          <a:lstStyle/>
          <a:p>
            <a:r>
              <a:rPr lang="en-US"/>
              <a:t>Nguyễn Hoàng Yến Như</a:t>
            </a:r>
          </a:p>
          <a:p>
            <a:r>
              <a:rPr lang="en-US">
                <a:solidFill>
                  <a:srgbClr val="FF0000"/>
                </a:solidFill>
              </a:rPr>
              <a:t>Nguyễn Trần Phúc Nghi</a:t>
            </a:r>
          </a:p>
          <a:p>
            <a:r>
              <a:rPr lang="en-US"/>
              <a:t>Nguyễn Trần Phúc An</a:t>
            </a:r>
          </a:p>
          <a:p>
            <a:r>
              <a:rPr lang="en-US">
                <a:solidFill>
                  <a:srgbClr val="FF0000"/>
                </a:solidFill>
              </a:rPr>
              <a:t>Nguyễn Đức Anh Phúc</a:t>
            </a:r>
          </a:p>
          <a:p>
            <a:r>
              <a:rPr lang="en-US"/>
              <a:t>Trịnh Thị Thanh Trúc</a:t>
            </a:r>
          </a:p>
          <a:p>
            <a:r>
              <a:rPr lang="en-US"/>
              <a:t>KS. Cao Bá Kiệt</a:t>
            </a:r>
          </a:p>
          <a:p>
            <a:endParaRPr lang="en-US">
              <a:solidFill>
                <a:srgbClr val="FF0000"/>
              </a:solidFill>
            </a:endParaRPr>
          </a:p>
          <a:p>
            <a:endParaRPr lang="en-US"/>
          </a:p>
        </p:txBody>
      </p:sp>
      <p:sp>
        <p:nvSpPr>
          <p:cNvPr id="3" name="Content Placeholder 2">
            <a:extLst>
              <a:ext uri="{FF2B5EF4-FFF2-40B4-BE49-F238E27FC236}">
                <a16:creationId xmlns:a16="http://schemas.microsoft.com/office/drawing/2014/main" id="{D3BD686E-4114-4A0E-1FEE-7584196A67B6}"/>
              </a:ext>
            </a:extLst>
          </p:cNvPr>
          <p:cNvSpPr>
            <a:spLocks noGrp="1"/>
          </p:cNvSpPr>
          <p:nvPr>
            <p:ph idx="14"/>
          </p:nvPr>
        </p:nvSpPr>
        <p:spPr/>
        <p:txBody>
          <a:bodyPr/>
          <a:lstStyle/>
          <a:p>
            <a:r>
              <a:rPr lang="en-US"/>
              <a:t>ThS. Nguyễn Hoàn Mỹ</a:t>
            </a:r>
          </a:p>
          <a:p>
            <a:r>
              <a:rPr lang="en-US">
                <a:solidFill>
                  <a:srgbClr val="FF0000"/>
                </a:solidFill>
              </a:rPr>
              <a:t>ThS. Dương Phi Long</a:t>
            </a:r>
          </a:p>
          <a:p>
            <a:r>
              <a:rPr lang="en-US"/>
              <a:t>ThS. Trương Quốc Dũng </a:t>
            </a:r>
          </a:p>
          <a:p>
            <a:r>
              <a:rPr lang="en-US">
                <a:solidFill>
                  <a:srgbClr val="FF0000"/>
                </a:solidFill>
              </a:rPr>
              <a:t>ThS. Nguyễn Thành Hiệp</a:t>
            </a:r>
          </a:p>
          <a:p>
            <a:r>
              <a:rPr lang="en-US"/>
              <a:t>ThS. Nguyễn Võ Đăng Khoa</a:t>
            </a:r>
          </a:p>
          <a:p>
            <a:r>
              <a:rPr lang="en-US">
                <a:solidFill>
                  <a:srgbClr val="FF0000"/>
                </a:solidFill>
              </a:rPr>
              <a:t>ThS. Võ Duy Nguyên</a:t>
            </a:r>
          </a:p>
          <a:p>
            <a:r>
              <a:rPr lang="en-US"/>
              <a:t>TS. Nguyễn Văn Tâm</a:t>
            </a:r>
          </a:p>
          <a:p>
            <a:r>
              <a:rPr lang="en-US">
                <a:solidFill>
                  <a:srgbClr val="FF0000"/>
                </a:solidFill>
              </a:rPr>
              <a:t>ThS. Trần Việt Thu Phương</a:t>
            </a:r>
          </a:p>
          <a:p>
            <a:r>
              <a:rPr lang="en-US"/>
              <a:t>TS. Nguyễn Tấn Trần Minh Khang</a:t>
            </a:r>
            <a:endParaRPr lang="en-US" sz="700"/>
          </a:p>
        </p:txBody>
      </p:sp>
    </p:spTree>
    <p:extLst>
      <p:ext uri="{BB962C8B-B14F-4D97-AF65-F5344CB8AC3E}">
        <p14:creationId xmlns:p14="http://schemas.microsoft.com/office/powerpoint/2010/main" val="265234868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E3612-16D3-622A-7FFF-F636EC5E525C}"/>
              </a:ext>
            </a:extLst>
          </p:cNvPr>
          <p:cNvSpPr>
            <a:spLocks noGrp="1"/>
          </p:cNvSpPr>
          <p:nvPr>
            <p:ph type="ctrTitle"/>
          </p:nvPr>
        </p:nvSpPr>
        <p:spPr/>
        <p:txBody>
          <a:bodyPr/>
          <a:lstStyle/>
          <a:p>
            <a:r>
              <a:rPr lang="en-US"/>
              <a:t>HỒI QUY ĐA THỨC</a:t>
            </a:r>
          </a:p>
        </p:txBody>
      </p:sp>
      <p:sp>
        <p:nvSpPr>
          <p:cNvPr id="7" name="Content Placeholder 6">
            <a:extLst>
              <a:ext uri="{FF2B5EF4-FFF2-40B4-BE49-F238E27FC236}">
                <a16:creationId xmlns:a16="http://schemas.microsoft.com/office/drawing/2014/main" id="{99D9C513-AD71-9FA8-DCD3-EF6738328A0A}"/>
              </a:ext>
            </a:extLst>
          </p:cNvPr>
          <p:cNvSpPr>
            <a:spLocks noGrp="1"/>
          </p:cNvSpPr>
          <p:nvPr>
            <p:ph idx="12"/>
          </p:nvPr>
        </p:nvSpPr>
        <p:spPr/>
        <p:txBody>
          <a:bodyPr/>
          <a:lstStyle/>
          <a:p>
            <a:pPr defTabSz="-13871574">
              <a:spcBef>
                <a:spcPts val="0"/>
              </a:spcBef>
              <a:spcAft>
                <a:spcPts val="0"/>
              </a:spcAft>
              <a:defRPr/>
            </a:pPr>
            <a:r>
              <a:rPr lang="en-US"/>
              <a:t>KS. Quan Chí Khánh An</a:t>
            </a:r>
          </a:p>
          <a:p>
            <a:pPr defTabSz="-13871574">
              <a:spcBef>
                <a:spcPts val="0"/>
              </a:spcBef>
              <a:spcAft>
                <a:spcPts val="0"/>
              </a:spcAft>
              <a:defRPr/>
            </a:pPr>
            <a:r>
              <a:rPr lang="en-US">
                <a:solidFill>
                  <a:srgbClr val="FF0000"/>
                </a:solidFill>
              </a:rPr>
              <a:t>KS. Lê Ngọc Huy</a:t>
            </a:r>
          </a:p>
          <a:p>
            <a:pPr defTabSz="-13871574">
              <a:spcBef>
                <a:spcPts val="0"/>
              </a:spcBef>
              <a:spcAft>
                <a:spcPts val="0"/>
              </a:spcAft>
              <a:defRPr/>
            </a:pPr>
            <a:r>
              <a:rPr lang="en-US"/>
              <a:t>CN. Bùi Cao Doanh</a:t>
            </a:r>
          </a:p>
          <a:p>
            <a:pPr defTabSz="-13871574">
              <a:spcBef>
                <a:spcPts val="0"/>
              </a:spcBef>
              <a:spcAft>
                <a:spcPts val="0"/>
              </a:spcAft>
              <a:defRPr/>
            </a:pPr>
            <a:r>
              <a:rPr lang="en-US">
                <a:solidFill>
                  <a:srgbClr val="FF0000"/>
                </a:solidFill>
              </a:rPr>
              <a:t>CN. Nguyễn Trọng Thuận</a:t>
            </a:r>
          </a:p>
          <a:p>
            <a:pPr defTabSz="-13871574">
              <a:spcBef>
                <a:spcPts val="0"/>
              </a:spcBef>
              <a:spcAft>
                <a:spcPts val="0"/>
              </a:spcAft>
              <a:defRPr/>
            </a:pPr>
            <a:r>
              <a:rPr lang="en-US"/>
              <a:t>KS. Phan Vĩnh Long</a:t>
            </a:r>
          </a:p>
          <a:p>
            <a:pPr defTabSz="-13871574">
              <a:spcBef>
                <a:spcPts val="0"/>
              </a:spcBef>
              <a:spcAft>
                <a:spcPts val="0"/>
              </a:spcAft>
              <a:defRPr/>
            </a:pPr>
            <a:r>
              <a:rPr lang="en-US">
                <a:solidFill>
                  <a:srgbClr val="FF0000"/>
                </a:solidFill>
              </a:rPr>
              <a:t>KS. Nguyễn Cường Phát</a:t>
            </a:r>
          </a:p>
          <a:p>
            <a:pPr defTabSz="-13871574">
              <a:spcBef>
                <a:spcPts val="0"/>
              </a:spcBef>
              <a:spcAft>
                <a:spcPts val="0"/>
              </a:spcAft>
              <a:defRPr/>
            </a:pPr>
            <a:r>
              <a:rPr lang="en-US"/>
              <a:t>ThS. Nguyễn Hoàng Ngân</a:t>
            </a:r>
          </a:p>
          <a:p>
            <a:pPr defTabSz="-13871574">
              <a:spcBef>
                <a:spcPts val="0"/>
              </a:spcBef>
              <a:spcAft>
                <a:spcPts val="0"/>
              </a:spcAft>
              <a:defRPr/>
            </a:pPr>
            <a:r>
              <a:rPr lang="en-US">
                <a:solidFill>
                  <a:srgbClr val="FF0000"/>
                </a:solidFill>
              </a:rPr>
              <a:t>KS. Hồ Thái Ngọc</a:t>
            </a:r>
          </a:p>
          <a:p>
            <a:pPr defTabSz="-13871574">
              <a:spcBef>
                <a:spcPts val="0"/>
              </a:spcBef>
              <a:spcAft>
                <a:spcPts val="0"/>
              </a:spcAft>
              <a:defRPr/>
            </a:pPr>
            <a:r>
              <a:rPr lang="en-US"/>
              <a:t>ThS. Đỗ Văn Tiến</a:t>
            </a:r>
          </a:p>
        </p:txBody>
      </p:sp>
      <p:sp>
        <p:nvSpPr>
          <p:cNvPr id="4" name="Content Placeholder 3">
            <a:extLst>
              <a:ext uri="{FF2B5EF4-FFF2-40B4-BE49-F238E27FC236}">
                <a16:creationId xmlns:a16="http://schemas.microsoft.com/office/drawing/2014/main" id="{8C46475D-F6A4-3080-6B47-C6E6C22C81FB}"/>
              </a:ext>
            </a:extLst>
          </p:cNvPr>
          <p:cNvSpPr>
            <a:spLocks noGrp="1"/>
          </p:cNvSpPr>
          <p:nvPr>
            <p:ph idx="13"/>
          </p:nvPr>
        </p:nvSpPr>
        <p:spPr/>
        <p:txBody>
          <a:bodyPr/>
          <a:lstStyle/>
          <a:p>
            <a:r>
              <a:rPr lang="en-US"/>
              <a:t>Nguyễn Hoàng Yến Như</a:t>
            </a:r>
          </a:p>
          <a:p>
            <a:r>
              <a:rPr lang="en-US">
                <a:solidFill>
                  <a:srgbClr val="FF0000"/>
                </a:solidFill>
              </a:rPr>
              <a:t>Nguyễn Trần Phúc Nghi</a:t>
            </a:r>
          </a:p>
          <a:p>
            <a:r>
              <a:rPr lang="en-US"/>
              <a:t>Nguyễn Trần Phúc An</a:t>
            </a:r>
          </a:p>
          <a:p>
            <a:r>
              <a:rPr lang="en-US">
                <a:solidFill>
                  <a:srgbClr val="FF0000"/>
                </a:solidFill>
              </a:rPr>
              <a:t>Nguyễn Đức Anh Phúc</a:t>
            </a:r>
          </a:p>
          <a:p>
            <a:r>
              <a:rPr lang="en-US"/>
              <a:t>Trịnh Thị Thanh Trúc</a:t>
            </a:r>
          </a:p>
          <a:p>
            <a:r>
              <a:rPr lang="en-US"/>
              <a:t>KS. Cao Bá Kiệt</a:t>
            </a:r>
          </a:p>
          <a:p>
            <a:endParaRPr lang="en-US">
              <a:solidFill>
                <a:srgbClr val="FF0000"/>
              </a:solidFill>
            </a:endParaRPr>
          </a:p>
          <a:p>
            <a:endParaRPr lang="en-US"/>
          </a:p>
        </p:txBody>
      </p:sp>
      <p:sp>
        <p:nvSpPr>
          <p:cNvPr id="3" name="Content Placeholder 2">
            <a:extLst>
              <a:ext uri="{FF2B5EF4-FFF2-40B4-BE49-F238E27FC236}">
                <a16:creationId xmlns:a16="http://schemas.microsoft.com/office/drawing/2014/main" id="{D3BD686E-4114-4A0E-1FEE-7584196A67B6}"/>
              </a:ext>
            </a:extLst>
          </p:cNvPr>
          <p:cNvSpPr>
            <a:spLocks noGrp="1"/>
          </p:cNvSpPr>
          <p:nvPr>
            <p:ph idx="14"/>
          </p:nvPr>
        </p:nvSpPr>
        <p:spPr/>
        <p:txBody>
          <a:bodyPr/>
          <a:lstStyle/>
          <a:p>
            <a:r>
              <a:rPr lang="en-US"/>
              <a:t>ThS. Nguyễn Hoàn Mỹ</a:t>
            </a:r>
          </a:p>
          <a:p>
            <a:r>
              <a:rPr lang="en-US">
                <a:solidFill>
                  <a:srgbClr val="FF0000"/>
                </a:solidFill>
              </a:rPr>
              <a:t>ThS. Dương Phi Long</a:t>
            </a:r>
          </a:p>
          <a:p>
            <a:r>
              <a:rPr lang="en-US"/>
              <a:t>ThS. Trương Quốc Dũng </a:t>
            </a:r>
          </a:p>
          <a:p>
            <a:r>
              <a:rPr lang="en-US">
                <a:solidFill>
                  <a:srgbClr val="FF0000"/>
                </a:solidFill>
              </a:rPr>
              <a:t>ThS. Nguyễn Thành Hiệp</a:t>
            </a:r>
          </a:p>
          <a:p>
            <a:r>
              <a:rPr lang="en-US"/>
              <a:t>ThS. Nguyễn Võ Đăng Khoa</a:t>
            </a:r>
          </a:p>
          <a:p>
            <a:r>
              <a:rPr lang="en-US">
                <a:solidFill>
                  <a:srgbClr val="FF0000"/>
                </a:solidFill>
              </a:rPr>
              <a:t>ThS. Võ Duy Nguyên</a:t>
            </a:r>
          </a:p>
          <a:p>
            <a:r>
              <a:rPr lang="en-US"/>
              <a:t>TS. Nguyễn Văn Tâm</a:t>
            </a:r>
          </a:p>
          <a:p>
            <a:r>
              <a:rPr lang="en-US">
                <a:solidFill>
                  <a:srgbClr val="FF0000"/>
                </a:solidFill>
              </a:rPr>
              <a:t>ThS. Trần Việt Thu Phương</a:t>
            </a:r>
          </a:p>
          <a:p>
            <a:r>
              <a:rPr lang="en-US"/>
              <a:t>TS. Nguyễn Tấn Trần Minh Khang</a:t>
            </a:r>
            <a:endParaRPr lang="en-US" sz="700"/>
          </a:p>
        </p:txBody>
      </p:sp>
    </p:spTree>
    <p:extLst>
      <p:ext uri="{BB962C8B-B14F-4D97-AF65-F5344CB8AC3E}">
        <p14:creationId xmlns:p14="http://schemas.microsoft.com/office/powerpoint/2010/main" val="159780781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2D2A78-956B-4E56-BCBA-038444F91A0D}"/>
              </a:ext>
            </a:extLst>
          </p:cNvPr>
          <p:cNvSpPr>
            <a:spLocks noGrp="1"/>
          </p:cNvSpPr>
          <p:nvPr>
            <p:ph type="title"/>
          </p:nvPr>
        </p:nvSpPr>
        <p:spPr/>
        <p:txBody>
          <a:bodyPr/>
          <a:lstStyle/>
          <a:p>
            <a:r>
              <a:rPr lang="en-US" dirty="0"/>
              <a:t>Polynomial Linear Regression</a:t>
            </a:r>
            <a:endParaRPr lang="vi-VN" dirty="0"/>
          </a:p>
        </p:txBody>
      </p:sp>
      <p:sp>
        <p:nvSpPr>
          <p:cNvPr id="5" name="Text Placeholder 4">
            <a:extLst>
              <a:ext uri="{FF2B5EF4-FFF2-40B4-BE49-F238E27FC236}">
                <a16:creationId xmlns:a16="http://schemas.microsoft.com/office/drawing/2014/main" id="{06CEF2BD-C5AB-450D-ABC0-548A2E616927}"/>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184585734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3921AA-1C5A-4686-B111-3B71E3AADD65}"/>
              </a:ext>
            </a:extLst>
          </p:cNvPr>
          <p:cNvSpPr>
            <a:spLocks noGrp="1"/>
          </p:cNvSpPr>
          <p:nvPr>
            <p:ph type="title"/>
          </p:nvPr>
        </p:nvSpPr>
        <p:spPr/>
        <p:txBody>
          <a:bodyPr/>
          <a:lstStyle/>
          <a:p>
            <a:r>
              <a:rPr lang="en-US" dirty="0"/>
              <a:t>Polynomial Linear Regression</a:t>
            </a:r>
            <a:endParaRPr lang="vi-V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E30D07AC-6477-48C8-AB77-C3A89A339D51}"/>
                  </a:ext>
                </a:extLst>
              </p:cNvPr>
              <p:cNvSpPr>
                <a:spLocks noGrp="1"/>
              </p:cNvSpPr>
              <p:nvPr>
                <p:ph idx="1"/>
              </p:nvPr>
            </p:nvSpPr>
            <p:spPr/>
            <p:txBody>
              <a:bodyPr/>
              <a:lstStyle/>
              <a:p>
                <a:pPr algn="just">
                  <a:spcBef>
                    <a:spcPts val="0"/>
                  </a:spcBef>
                </a:pPr>
                <a:r>
                  <a:rPr lang="en-US" sz="2800" dirty="0">
                    <a:solidFill>
                      <a:srgbClr val="0066FF"/>
                    </a:solidFill>
                  </a:rPr>
                  <a:t>Polynomial Regression (hay Polynomial Linear Regression) </a:t>
                </a:r>
                <a:r>
                  <a:rPr lang="en-US" sz="2800" err="1">
                    <a:solidFill>
                      <a:srgbClr val="0066FF"/>
                    </a:solidFill>
                  </a:rPr>
                  <a:t>là</a:t>
                </a:r>
                <a:r>
                  <a:rPr lang="en-US" sz="2800">
                    <a:solidFill>
                      <a:srgbClr val="0066FF"/>
                    </a:solidFill>
                  </a:rPr>
                  <a:t> hồi </a:t>
                </a:r>
                <a:r>
                  <a:rPr lang="en-US" sz="2800" dirty="0" err="1">
                    <a:solidFill>
                      <a:srgbClr val="0066FF"/>
                    </a:solidFill>
                  </a:rPr>
                  <a:t>quy</a:t>
                </a:r>
                <a:r>
                  <a:rPr lang="en-US" sz="2800" dirty="0">
                    <a:solidFill>
                      <a:srgbClr val="0066FF"/>
                    </a:solidFill>
                  </a:rPr>
                  <a:t> </a:t>
                </a:r>
                <a:r>
                  <a:rPr lang="en-US" sz="2800" dirty="0" err="1">
                    <a:solidFill>
                      <a:srgbClr val="0066FF"/>
                    </a:solidFill>
                  </a:rPr>
                  <a:t>đa</a:t>
                </a:r>
                <a:r>
                  <a:rPr lang="en-US" sz="2800" dirty="0">
                    <a:solidFill>
                      <a:srgbClr val="0066FF"/>
                    </a:solidFill>
                  </a:rPr>
                  <a:t> </a:t>
                </a:r>
                <a:r>
                  <a:rPr lang="en-US" sz="2800" dirty="0" err="1">
                    <a:solidFill>
                      <a:srgbClr val="0066FF"/>
                    </a:solidFill>
                  </a:rPr>
                  <a:t>thức</a:t>
                </a:r>
                <a:r>
                  <a:rPr lang="en-US" sz="2800" dirty="0">
                    <a:solidFill>
                      <a:srgbClr val="0066FF"/>
                    </a:solidFill>
                  </a:rPr>
                  <a:t>.</a:t>
                </a:r>
              </a:p>
              <a:p>
                <a:pPr algn="just">
                  <a:spcBef>
                    <a:spcPts val="0"/>
                  </a:spcBef>
                </a:pPr>
                <a:r>
                  <a:rPr lang="en-US" sz="2800">
                    <a:solidFill>
                      <a:srgbClr val="FF0000"/>
                    </a:solidFill>
                  </a:rPr>
                  <a:t>Mô </a:t>
                </a:r>
                <a:r>
                  <a:rPr lang="en-US" sz="2800" err="1">
                    <a:solidFill>
                      <a:srgbClr val="FF0000"/>
                    </a:solidFill>
                  </a:rPr>
                  <a:t>hình</a:t>
                </a:r>
                <a:r>
                  <a:rPr lang="en-US" sz="2800">
                    <a:solidFill>
                      <a:srgbClr val="FF0000"/>
                    </a:solidFill>
                  </a:rPr>
                  <a:t> hồi quy đa thức </a:t>
                </a:r>
                <a:r>
                  <a:rPr lang="en-US" sz="2800" dirty="0">
                    <a:solidFill>
                      <a:srgbClr val="FF0000"/>
                    </a:solidFill>
                  </a:rPr>
                  <a:t>đ</a:t>
                </a:r>
                <a:r>
                  <a:rPr lang="vi-VN" sz="2800" dirty="0">
                    <a:solidFill>
                      <a:srgbClr val="FF0000"/>
                    </a:solidFill>
                  </a:rPr>
                  <a:t>ơ</a:t>
                </a:r>
                <a:r>
                  <a:rPr lang="en-US" sz="2800" dirty="0">
                    <a:solidFill>
                      <a:srgbClr val="FF0000"/>
                    </a:solidFill>
                  </a:rPr>
                  <a:t>n </a:t>
                </a:r>
                <a:r>
                  <a:rPr lang="en-US" sz="2800" dirty="0" err="1">
                    <a:solidFill>
                      <a:srgbClr val="FF0000"/>
                    </a:solidFill>
                  </a:rPr>
                  <a:t>biến</a:t>
                </a:r>
                <a:r>
                  <a:rPr lang="en-US" sz="2800" dirty="0">
                    <a:solidFill>
                      <a:srgbClr val="FF0000"/>
                    </a:solidFill>
                  </a:rPr>
                  <a:t> </a:t>
                </a:r>
                <a:r>
                  <a:rPr lang="en-US" sz="2800" dirty="0" err="1">
                    <a:solidFill>
                      <a:srgbClr val="FF0000"/>
                    </a:solidFill>
                  </a:rPr>
                  <a:t>có</a:t>
                </a:r>
                <a:r>
                  <a:rPr lang="en-US" sz="2800" dirty="0">
                    <a:solidFill>
                      <a:srgbClr val="FF0000"/>
                    </a:solidFill>
                  </a:rPr>
                  <a:t> </a:t>
                </a:r>
                <a:r>
                  <a:rPr lang="en-US" sz="2800" dirty="0" err="1">
                    <a:solidFill>
                      <a:srgbClr val="FF0000"/>
                    </a:solidFill>
                  </a:rPr>
                  <a:t>dạng</a:t>
                </a:r>
                <a:r>
                  <a:rPr lang="en-US" sz="2800" dirty="0">
                    <a:solidFill>
                      <a:srgbClr val="FF0000"/>
                    </a:solidFill>
                  </a:rPr>
                  <a:t> </a:t>
                </a:r>
                <a:r>
                  <a:rPr lang="en-US" sz="2800" dirty="0" err="1">
                    <a:solidFill>
                      <a:srgbClr val="FF0000"/>
                    </a:solidFill>
                  </a:rPr>
                  <a:t>nh</a:t>
                </a:r>
                <a:r>
                  <a:rPr lang="vi-VN" sz="2800" dirty="0">
                    <a:solidFill>
                      <a:srgbClr val="FF0000"/>
                    </a:solidFill>
                  </a:rPr>
                  <a:t>ư</a:t>
                </a:r>
                <a:r>
                  <a:rPr lang="en-US" sz="2800" dirty="0">
                    <a:solidFill>
                      <a:srgbClr val="FF0000"/>
                    </a:solidFill>
                  </a:rPr>
                  <a:t> </a:t>
                </a:r>
                <a:r>
                  <a:rPr lang="en-US" sz="2800" dirty="0" err="1">
                    <a:solidFill>
                      <a:srgbClr val="FF0000"/>
                    </a:solidFill>
                  </a:rPr>
                  <a:t>sau</a:t>
                </a:r>
                <a:r>
                  <a:rPr lang="en-US" sz="2800" dirty="0">
                    <a:solidFill>
                      <a:srgbClr val="FF0000"/>
                    </a:solidFill>
                  </a:rPr>
                  <a:t>:</a:t>
                </a:r>
              </a:p>
              <a:p>
                <a:pPr marL="457200" lvl="1" indent="0" algn="just">
                  <a:spcBef>
                    <a:spcPts val="0"/>
                  </a:spcBef>
                  <a:buNone/>
                </a:pPr>
                <a14:m>
                  <m:oMathPara xmlns:m="http://schemas.openxmlformats.org/officeDocument/2006/math">
                    <m:oMathParaPr>
                      <m:jc m:val="centerGroup"/>
                    </m:oMathParaPr>
                    <m:oMath xmlns:m="http://schemas.openxmlformats.org/officeDocument/2006/math">
                      <m:r>
                        <a:rPr lang="en-US" sz="2800" b="0" i="1" smtClean="0">
                          <a:solidFill>
                            <a:srgbClr val="0066FF"/>
                          </a:solidFill>
                          <a:latin typeface="Cambria Math" panose="02040503050406030204" pitchFamily="18" charset="0"/>
                        </a:rPr>
                        <m:t>𝑦</m:t>
                      </m:r>
                      <m:r>
                        <a:rPr lang="en-US" sz="2800" b="0" i="1" smtClean="0">
                          <a:solidFill>
                            <a:srgbClr val="0066FF"/>
                          </a:solidFill>
                          <a:latin typeface="Cambria Math" panose="02040503050406030204" pitchFamily="18" charset="0"/>
                        </a:rPr>
                        <m:t>=</m:t>
                      </m:r>
                      <m:sSub>
                        <m:sSubPr>
                          <m:ctrlPr>
                            <a:rPr lang="en-US" sz="2800" b="0" i="1" smtClean="0">
                              <a:solidFill>
                                <a:srgbClr val="0066FF"/>
                              </a:solidFill>
                              <a:latin typeface="Cambria Math" panose="02040503050406030204" pitchFamily="18" charset="0"/>
                            </a:rPr>
                          </m:ctrlPr>
                        </m:sSubPr>
                        <m:e>
                          <m:r>
                            <a:rPr lang="en-US" sz="2800" b="0" i="1" smtClean="0">
                              <a:solidFill>
                                <a:srgbClr val="0066FF"/>
                              </a:solidFill>
                              <a:latin typeface="Cambria Math" panose="02040503050406030204" pitchFamily="18" charset="0"/>
                            </a:rPr>
                            <m:t>𝑤</m:t>
                          </m:r>
                        </m:e>
                        <m:sub>
                          <m:r>
                            <a:rPr lang="en-US" sz="2800" b="0" i="1" smtClean="0">
                              <a:solidFill>
                                <a:srgbClr val="0066FF"/>
                              </a:solidFill>
                              <a:latin typeface="Cambria Math" panose="02040503050406030204" pitchFamily="18" charset="0"/>
                            </a:rPr>
                            <m:t>0</m:t>
                          </m:r>
                        </m:sub>
                      </m:sSub>
                      <m:r>
                        <a:rPr lang="en-US" sz="2800" b="0" i="1" smtClean="0">
                          <a:solidFill>
                            <a:srgbClr val="0066FF"/>
                          </a:solidFill>
                          <a:latin typeface="Cambria Math" panose="02040503050406030204" pitchFamily="18" charset="0"/>
                        </a:rPr>
                        <m:t>+</m:t>
                      </m:r>
                      <m:sSub>
                        <m:sSubPr>
                          <m:ctrlPr>
                            <a:rPr lang="en-US" sz="2800" b="0" i="1" smtClean="0">
                              <a:solidFill>
                                <a:srgbClr val="0066FF"/>
                              </a:solidFill>
                              <a:latin typeface="Cambria Math" panose="02040503050406030204" pitchFamily="18" charset="0"/>
                            </a:rPr>
                          </m:ctrlPr>
                        </m:sSubPr>
                        <m:e>
                          <m:r>
                            <a:rPr lang="en-US" sz="2800" b="0" i="1" smtClean="0">
                              <a:solidFill>
                                <a:srgbClr val="0066FF"/>
                              </a:solidFill>
                              <a:latin typeface="Cambria Math" panose="02040503050406030204" pitchFamily="18" charset="0"/>
                            </a:rPr>
                            <m:t>𝑤</m:t>
                          </m:r>
                        </m:e>
                        <m:sub>
                          <m:r>
                            <a:rPr lang="en-US" sz="2800" b="0" i="1" smtClean="0">
                              <a:solidFill>
                                <a:srgbClr val="0066FF"/>
                              </a:solidFill>
                              <a:latin typeface="Cambria Math" panose="02040503050406030204" pitchFamily="18" charset="0"/>
                            </a:rPr>
                            <m:t>1</m:t>
                          </m:r>
                        </m:sub>
                      </m:sSub>
                      <m:r>
                        <a:rPr lang="en-US" sz="2800" b="0" i="1" smtClean="0">
                          <a:solidFill>
                            <a:srgbClr val="0066FF"/>
                          </a:solidFill>
                          <a:latin typeface="Cambria Math" panose="02040503050406030204" pitchFamily="18" charset="0"/>
                          <a:ea typeface="Cambria Math" panose="02040503050406030204" pitchFamily="18" charset="0"/>
                        </a:rPr>
                        <m:t>×</m:t>
                      </m:r>
                      <m:r>
                        <a:rPr lang="en-US" sz="2800" b="0" i="1" smtClean="0">
                          <a:solidFill>
                            <a:srgbClr val="0066FF"/>
                          </a:solidFill>
                          <a:latin typeface="Cambria Math" panose="02040503050406030204" pitchFamily="18" charset="0"/>
                          <a:ea typeface="Cambria Math" panose="02040503050406030204" pitchFamily="18" charset="0"/>
                        </a:rPr>
                        <m:t>𝑥</m:t>
                      </m:r>
                      <m:r>
                        <a:rPr lang="en-US" sz="2800" b="0" i="1" smtClean="0">
                          <a:solidFill>
                            <a:srgbClr val="0066FF"/>
                          </a:solidFill>
                          <a:latin typeface="Cambria Math" panose="02040503050406030204" pitchFamily="18" charset="0"/>
                          <a:ea typeface="Cambria Math" panose="02040503050406030204" pitchFamily="18" charset="0"/>
                        </a:rPr>
                        <m:t>+</m:t>
                      </m:r>
                      <m:sSub>
                        <m:sSubPr>
                          <m:ctrlPr>
                            <a:rPr lang="en-US" sz="2800" b="0" i="1" smtClean="0">
                              <a:solidFill>
                                <a:srgbClr val="0066FF"/>
                              </a:solidFill>
                              <a:latin typeface="Cambria Math" panose="02040503050406030204" pitchFamily="18" charset="0"/>
                              <a:ea typeface="Cambria Math" panose="02040503050406030204" pitchFamily="18" charset="0"/>
                            </a:rPr>
                          </m:ctrlPr>
                        </m:sSubPr>
                        <m:e>
                          <m:r>
                            <a:rPr lang="en-US" sz="2800" b="0" i="1" smtClean="0">
                              <a:solidFill>
                                <a:srgbClr val="0066FF"/>
                              </a:solidFill>
                              <a:latin typeface="Cambria Math" panose="02040503050406030204" pitchFamily="18" charset="0"/>
                              <a:ea typeface="Cambria Math" panose="02040503050406030204" pitchFamily="18" charset="0"/>
                            </a:rPr>
                            <m:t>𝑤</m:t>
                          </m:r>
                        </m:e>
                        <m:sub>
                          <m:r>
                            <a:rPr lang="en-US" sz="2800" b="0" i="1" smtClean="0">
                              <a:solidFill>
                                <a:srgbClr val="0066FF"/>
                              </a:solidFill>
                              <a:latin typeface="Cambria Math" panose="02040503050406030204" pitchFamily="18" charset="0"/>
                              <a:ea typeface="Cambria Math" panose="02040503050406030204" pitchFamily="18" charset="0"/>
                            </a:rPr>
                            <m:t>2</m:t>
                          </m:r>
                        </m:sub>
                      </m:sSub>
                      <m:r>
                        <a:rPr lang="en-US" sz="2800" b="0" i="1" smtClean="0">
                          <a:solidFill>
                            <a:srgbClr val="0066FF"/>
                          </a:solidFill>
                          <a:latin typeface="Cambria Math" panose="02040503050406030204" pitchFamily="18" charset="0"/>
                          <a:ea typeface="Cambria Math" panose="02040503050406030204" pitchFamily="18" charset="0"/>
                        </a:rPr>
                        <m:t>×</m:t>
                      </m:r>
                      <m:sSup>
                        <m:sSupPr>
                          <m:ctrlPr>
                            <a:rPr lang="en-US" sz="2800" b="0" i="1" smtClean="0">
                              <a:solidFill>
                                <a:srgbClr val="0066FF"/>
                              </a:solidFill>
                              <a:latin typeface="Cambria Math" panose="02040503050406030204" pitchFamily="18" charset="0"/>
                              <a:ea typeface="Cambria Math" panose="02040503050406030204" pitchFamily="18" charset="0"/>
                            </a:rPr>
                          </m:ctrlPr>
                        </m:sSupPr>
                        <m:e>
                          <m:r>
                            <a:rPr lang="en-US" sz="2800" b="0" i="1" smtClean="0">
                              <a:solidFill>
                                <a:srgbClr val="0066FF"/>
                              </a:solidFill>
                              <a:latin typeface="Cambria Math" panose="02040503050406030204" pitchFamily="18" charset="0"/>
                              <a:ea typeface="Cambria Math" panose="02040503050406030204" pitchFamily="18" charset="0"/>
                            </a:rPr>
                            <m:t>𝑥</m:t>
                          </m:r>
                        </m:e>
                        <m:sup>
                          <m:r>
                            <a:rPr lang="en-US" sz="2800" b="0" i="1" smtClean="0">
                              <a:solidFill>
                                <a:srgbClr val="0066FF"/>
                              </a:solidFill>
                              <a:latin typeface="Cambria Math" panose="02040503050406030204" pitchFamily="18" charset="0"/>
                              <a:ea typeface="Cambria Math" panose="02040503050406030204" pitchFamily="18" charset="0"/>
                            </a:rPr>
                            <m:t>2</m:t>
                          </m:r>
                        </m:sup>
                      </m:sSup>
                      <m:r>
                        <a:rPr lang="en-US" sz="2800" b="0" i="1" smtClean="0">
                          <a:solidFill>
                            <a:srgbClr val="0066FF"/>
                          </a:solidFill>
                          <a:latin typeface="Cambria Math" panose="02040503050406030204" pitchFamily="18" charset="0"/>
                          <a:ea typeface="Cambria Math" panose="02040503050406030204" pitchFamily="18" charset="0"/>
                        </a:rPr>
                        <m:t>+…+</m:t>
                      </m:r>
                      <m:sSub>
                        <m:sSubPr>
                          <m:ctrlPr>
                            <a:rPr lang="en-US" sz="2800" b="0" i="1" smtClean="0">
                              <a:solidFill>
                                <a:srgbClr val="0066FF"/>
                              </a:solidFill>
                              <a:latin typeface="Cambria Math" panose="02040503050406030204" pitchFamily="18" charset="0"/>
                              <a:ea typeface="Cambria Math" panose="02040503050406030204" pitchFamily="18" charset="0"/>
                            </a:rPr>
                          </m:ctrlPr>
                        </m:sSubPr>
                        <m:e>
                          <m:r>
                            <a:rPr lang="en-US" sz="2800" b="0" i="1" smtClean="0">
                              <a:solidFill>
                                <a:srgbClr val="0066FF"/>
                              </a:solidFill>
                              <a:latin typeface="Cambria Math" panose="02040503050406030204" pitchFamily="18" charset="0"/>
                              <a:ea typeface="Cambria Math" panose="02040503050406030204" pitchFamily="18" charset="0"/>
                            </a:rPr>
                            <m:t>𝑤</m:t>
                          </m:r>
                        </m:e>
                        <m:sub>
                          <m:r>
                            <a:rPr lang="en-US" sz="2800" b="0" i="1" smtClean="0">
                              <a:solidFill>
                                <a:srgbClr val="0066FF"/>
                              </a:solidFill>
                              <a:latin typeface="Cambria Math" panose="02040503050406030204" pitchFamily="18" charset="0"/>
                              <a:ea typeface="Cambria Math" panose="02040503050406030204" pitchFamily="18" charset="0"/>
                            </a:rPr>
                            <m:t>𝑛</m:t>
                          </m:r>
                        </m:sub>
                      </m:sSub>
                      <m:r>
                        <a:rPr lang="en-US" sz="2800" b="0" i="1" smtClean="0">
                          <a:solidFill>
                            <a:srgbClr val="0066FF"/>
                          </a:solidFill>
                          <a:latin typeface="Cambria Math" panose="02040503050406030204" pitchFamily="18" charset="0"/>
                          <a:ea typeface="Cambria Math" panose="02040503050406030204" pitchFamily="18" charset="0"/>
                        </a:rPr>
                        <m:t>×</m:t>
                      </m:r>
                      <m:sSup>
                        <m:sSupPr>
                          <m:ctrlPr>
                            <a:rPr lang="en-US" sz="2800" b="0" i="1" smtClean="0">
                              <a:solidFill>
                                <a:srgbClr val="0066FF"/>
                              </a:solidFill>
                              <a:latin typeface="Cambria Math" panose="02040503050406030204" pitchFamily="18" charset="0"/>
                              <a:ea typeface="Cambria Math" panose="02040503050406030204" pitchFamily="18" charset="0"/>
                            </a:rPr>
                          </m:ctrlPr>
                        </m:sSupPr>
                        <m:e>
                          <m:r>
                            <a:rPr lang="en-US" sz="2800" b="0" i="1" smtClean="0">
                              <a:solidFill>
                                <a:srgbClr val="0066FF"/>
                              </a:solidFill>
                              <a:latin typeface="Cambria Math" panose="02040503050406030204" pitchFamily="18" charset="0"/>
                              <a:ea typeface="Cambria Math" panose="02040503050406030204" pitchFamily="18" charset="0"/>
                            </a:rPr>
                            <m:t>𝑥</m:t>
                          </m:r>
                        </m:e>
                        <m:sup>
                          <m:r>
                            <a:rPr lang="en-US" sz="2800" b="0" i="1" smtClean="0">
                              <a:solidFill>
                                <a:srgbClr val="0066FF"/>
                              </a:solidFill>
                              <a:latin typeface="Cambria Math" panose="02040503050406030204" pitchFamily="18" charset="0"/>
                              <a:ea typeface="Cambria Math" panose="02040503050406030204" pitchFamily="18" charset="0"/>
                            </a:rPr>
                            <m:t>𝑛</m:t>
                          </m:r>
                        </m:sup>
                      </m:sSup>
                    </m:oMath>
                  </m:oMathPara>
                </a14:m>
                <a:endParaRPr lang="en-US" sz="2800" dirty="0">
                  <a:solidFill>
                    <a:srgbClr val="FF0000"/>
                  </a:solidFill>
                </a:endParaRPr>
              </a:p>
              <a:p>
                <a:pPr algn="just">
                  <a:spcBef>
                    <a:spcPts val="0"/>
                  </a:spcBef>
                </a:pPr>
                <a:r>
                  <a:rPr lang="en-US" sz="2800" dirty="0" err="1">
                    <a:solidFill>
                      <a:srgbClr val="FF0000"/>
                    </a:solidFill>
                  </a:rPr>
                  <a:t>Trong</a:t>
                </a:r>
                <a:r>
                  <a:rPr lang="en-US" sz="2800" dirty="0">
                    <a:solidFill>
                      <a:srgbClr val="FF0000"/>
                    </a:solidFill>
                  </a:rPr>
                  <a:t> </a:t>
                </a:r>
                <a:r>
                  <a:rPr lang="en-US" sz="2800" dirty="0" err="1">
                    <a:solidFill>
                      <a:srgbClr val="FF0000"/>
                    </a:solidFill>
                  </a:rPr>
                  <a:t>đó</a:t>
                </a:r>
                <a:r>
                  <a:rPr lang="en-US" sz="2800" dirty="0">
                    <a:solidFill>
                      <a:srgbClr val="FF0000"/>
                    </a:solidFill>
                  </a:rPr>
                  <a:t>:</a:t>
                </a:r>
              </a:p>
              <a:p>
                <a:pPr lvl="1" algn="just">
                  <a:spcBef>
                    <a:spcPts val="0"/>
                  </a:spcBef>
                </a:pPr>
                <a14:m>
                  <m:oMath xmlns:m="http://schemas.openxmlformats.org/officeDocument/2006/math">
                    <m:r>
                      <a:rPr lang="en-US" sz="2800" i="1" dirty="0" smtClean="0">
                        <a:solidFill>
                          <a:srgbClr val="0066FF"/>
                        </a:solidFill>
                        <a:latin typeface="Cambria Math" panose="02040503050406030204" pitchFamily="18" charset="0"/>
                      </a:rPr>
                      <m:t>𝑦</m:t>
                    </m:r>
                  </m:oMath>
                </a14:m>
                <a:r>
                  <a:rPr lang="en-US" sz="2800" dirty="0">
                    <a:solidFill>
                      <a:srgbClr val="0066FF"/>
                    </a:solidFill>
                  </a:rPr>
                  <a:t> </a:t>
                </a:r>
                <a:r>
                  <a:rPr lang="en-US" sz="2800" dirty="0" err="1">
                    <a:solidFill>
                      <a:srgbClr val="0066FF"/>
                    </a:solidFill>
                  </a:rPr>
                  <a:t>là</a:t>
                </a:r>
                <a:r>
                  <a:rPr lang="en-US" sz="2800" dirty="0">
                    <a:solidFill>
                      <a:srgbClr val="0066FF"/>
                    </a:solidFill>
                  </a:rPr>
                  <a:t> </a:t>
                </a:r>
                <a:r>
                  <a:rPr lang="en-US" sz="2800" dirty="0" err="1">
                    <a:solidFill>
                      <a:srgbClr val="0066FF"/>
                    </a:solidFill>
                  </a:rPr>
                  <a:t>kết</a:t>
                </a:r>
                <a:r>
                  <a:rPr lang="en-US" sz="2800" dirty="0">
                    <a:solidFill>
                      <a:srgbClr val="0066FF"/>
                    </a:solidFill>
                  </a:rPr>
                  <a:t> </a:t>
                </a:r>
                <a:r>
                  <a:rPr lang="en-US" sz="2800" dirty="0" err="1">
                    <a:solidFill>
                      <a:srgbClr val="0066FF"/>
                    </a:solidFill>
                  </a:rPr>
                  <a:t>quả</a:t>
                </a:r>
                <a:r>
                  <a:rPr lang="en-US" sz="2800" dirty="0">
                    <a:solidFill>
                      <a:srgbClr val="0066FF"/>
                    </a:solidFill>
                  </a:rPr>
                  <a:t> </a:t>
                </a:r>
                <a:r>
                  <a:rPr lang="en-US" sz="2800" dirty="0" err="1">
                    <a:solidFill>
                      <a:srgbClr val="0066FF"/>
                    </a:solidFill>
                  </a:rPr>
                  <a:t>đầu</a:t>
                </a:r>
                <a:r>
                  <a:rPr lang="en-US" sz="2800" dirty="0">
                    <a:solidFill>
                      <a:srgbClr val="0066FF"/>
                    </a:solidFill>
                  </a:rPr>
                  <a:t> ra (outcome) hay </a:t>
                </a:r>
                <a:r>
                  <a:rPr lang="en-US" sz="2800" dirty="0" err="1">
                    <a:solidFill>
                      <a:srgbClr val="0066FF"/>
                    </a:solidFill>
                  </a:rPr>
                  <a:t>biến</a:t>
                </a:r>
                <a:r>
                  <a:rPr lang="en-US" sz="2800" dirty="0">
                    <a:solidFill>
                      <a:srgbClr val="0066FF"/>
                    </a:solidFill>
                  </a:rPr>
                  <a:t> </a:t>
                </a:r>
                <a:r>
                  <a:rPr lang="en-US" sz="2800" dirty="0" err="1">
                    <a:solidFill>
                      <a:srgbClr val="0066FF"/>
                    </a:solidFill>
                  </a:rPr>
                  <a:t>phụ</a:t>
                </a:r>
                <a:r>
                  <a:rPr lang="en-US" sz="2800" dirty="0">
                    <a:solidFill>
                      <a:srgbClr val="0066FF"/>
                    </a:solidFill>
                  </a:rPr>
                  <a:t> </a:t>
                </a:r>
                <a:r>
                  <a:rPr lang="en-US" sz="2800" dirty="0" err="1">
                    <a:solidFill>
                      <a:srgbClr val="0066FF"/>
                    </a:solidFill>
                  </a:rPr>
                  <a:t>thuộc</a:t>
                </a:r>
                <a:r>
                  <a:rPr lang="en-US" sz="2800" dirty="0">
                    <a:solidFill>
                      <a:srgbClr val="0066FF"/>
                    </a:solidFill>
                  </a:rPr>
                  <a:t>.</a:t>
                </a:r>
              </a:p>
              <a:p>
                <a:pPr lvl="1" algn="just">
                  <a:spcBef>
                    <a:spcPts val="0"/>
                  </a:spcBef>
                </a:pPr>
                <a14:m>
                  <m:oMath xmlns:m="http://schemas.openxmlformats.org/officeDocument/2006/math">
                    <m:r>
                      <a:rPr lang="en-US" sz="2800" i="1" dirty="0" smtClean="0">
                        <a:solidFill>
                          <a:srgbClr val="FF0000"/>
                        </a:solidFill>
                        <a:latin typeface="Cambria Math" panose="02040503050406030204" pitchFamily="18" charset="0"/>
                      </a:rPr>
                      <m:t>𝑥</m:t>
                    </m:r>
                  </m:oMath>
                </a14:m>
                <a:r>
                  <a:rPr lang="en-US" sz="2800" dirty="0">
                    <a:solidFill>
                      <a:srgbClr val="FF0000"/>
                    </a:solidFill>
                  </a:rPr>
                  <a:t> </a:t>
                </a:r>
                <a:r>
                  <a:rPr lang="en-US" sz="2800" dirty="0" err="1">
                    <a:solidFill>
                      <a:srgbClr val="FF0000"/>
                    </a:solidFill>
                  </a:rPr>
                  <a:t>là</a:t>
                </a:r>
                <a:r>
                  <a:rPr lang="en-US" sz="2800" dirty="0">
                    <a:solidFill>
                      <a:srgbClr val="FF0000"/>
                    </a:solidFill>
                  </a:rPr>
                  <a:t> </a:t>
                </a:r>
                <a:r>
                  <a:rPr lang="en-US" sz="2800" dirty="0" err="1">
                    <a:solidFill>
                      <a:srgbClr val="FF0000"/>
                    </a:solidFill>
                  </a:rPr>
                  <a:t>đặc</a:t>
                </a:r>
                <a:r>
                  <a:rPr lang="en-US" sz="2800" dirty="0">
                    <a:solidFill>
                      <a:srgbClr val="FF0000"/>
                    </a:solidFill>
                  </a:rPr>
                  <a:t> tr</a:t>
                </a:r>
                <a:r>
                  <a:rPr lang="vi-VN" sz="2800" dirty="0">
                    <a:solidFill>
                      <a:srgbClr val="FF0000"/>
                    </a:solidFill>
                  </a:rPr>
                  <a:t>ư</a:t>
                </a:r>
                <a:r>
                  <a:rPr lang="en-US" sz="2800" dirty="0">
                    <a:solidFill>
                      <a:srgbClr val="FF0000"/>
                    </a:solidFill>
                  </a:rPr>
                  <a:t>ng </a:t>
                </a:r>
                <a:r>
                  <a:rPr lang="en-US" sz="2800" dirty="0" err="1">
                    <a:solidFill>
                      <a:srgbClr val="FF0000"/>
                    </a:solidFill>
                  </a:rPr>
                  <a:t>đầu</a:t>
                </a:r>
                <a:r>
                  <a:rPr lang="en-US" sz="2800" dirty="0">
                    <a:solidFill>
                      <a:srgbClr val="FF0000"/>
                    </a:solidFill>
                  </a:rPr>
                  <a:t> </a:t>
                </a:r>
                <a:r>
                  <a:rPr lang="en-US" sz="2800" dirty="0" err="1">
                    <a:solidFill>
                      <a:srgbClr val="FF0000"/>
                    </a:solidFill>
                  </a:rPr>
                  <a:t>vào</a:t>
                </a:r>
                <a:r>
                  <a:rPr lang="en-US" sz="2800" dirty="0">
                    <a:solidFill>
                      <a:srgbClr val="FF0000"/>
                    </a:solidFill>
                  </a:rPr>
                  <a:t> (input feature) hay </a:t>
                </a:r>
                <a:r>
                  <a:rPr lang="en-US" sz="2800" dirty="0" err="1">
                    <a:solidFill>
                      <a:srgbClr val="FF0000"/>
                    </a:solidFill>
                  </a:rPr>
                  <a:t>biến</a:t>
                </a:r>
                <a:r>
                  <a:rPr lang="en-US" sz="2800" dirty="0">
                    <a:solidFill>
                      <a:srgbClr val="FF0000"/>
                    </a:solidFill>
                  </a:rPr>
                  <a:t> </a:t>
                </a:r>
                <a:r>
                  <a:rPr lang="en-US" sz="2800" dirty="0" err="1">
                    <a:solidFill>
                      <a:srgbClr val="FF0000"/>
                    </a:solidFill>
                  </a:rPr>
                  <a:t>độc</a:t>
                </a:r>
                <a:r>
                  <a:rPr lang="en-US" sz="2800" dirty="0">
                    <a:solidFill>
                      <a:srgbClr val="FF0000"/>
                    </a:solidFill>
                  </a:rPr>
                  <a:t> </a:t>
                </a:r>
                <a:r>
                  <a:rPr lang="en-US" sz="2800" dirty="0" err="1">
                    <a:solidFill>
                      <a:srgbClr val="FF0000"/>
                    </a:solidFill>
                  </a:rPr>
                  <a:t>lập</a:t>
                </a:r>
                <a:r>
                  <a:rPr lang="en-US" sz="2800" dirty="0">
                    <a:solidFill>
                      <a:srgbClr val="FF0000"/>
                    </a:solidFill>
                  </a:rPr>
                  <a:t>.</a:t>
                </a:r>
              </a:p>
              <a:p>
                <a:pPr lvl="1" algn="just">
                  <a:spcBef>
                    <a:spcPts val="0"/>
                  </a:spcBef>
                </a:pPr>
                <a14:m>
                  <m:oMath xmlns:m="http://schemas.openxmlformats.org/officeDocument/2006/math">
                    <m:sSub>
                      <m:sSubPr>
                        <m:ctrlPr>
                          <a:rPr lang="en-US" sz="2800" i="1" dirty="0" smtClean="0">
                            <a:solidFill>
                              <a:srgbClr val="0066FF"/>
                            </a:solidFill>
                            <a:latin typeface="Cambria Math" panose="02040503050406030204" pitchFamily="18" charset="0"/>
                          </a:rPr>
                        </m:ctrlPr>
                      </m:sSubPr>
                      <m:e>
                        <m:r>
                          <a:rPr lang="en-US" sz="2800" i="1" dirty="0" smtClean="0">
                            <a:solidFill>
                              <a:srgbClr val="0066FF"/>
                            </a:solidFill>
                            <a:latin typeface="Cambria Math" panose="02040503050406030204" pitchFamily="18" charset="0"/>
                          </a:rPr>
                          <m:t>𝑤</m:t>
                        </m:r>
                      </m:e>
                      <m:sub>
                        <m:r>
                          <a:rPr lang="en-US" sz="2800" i="1" dirty="0" smtClean="0">
                            <a:solidFill>
                              <a:srgbClr val="0066FF"/>
                            </a:solidFill>
                            <a:latin typeface="Cambria Math" panose="02040503050406030204" pitchFamily="18" charset="0"/>
                          </a:rPr>
                          <m:t>0</m:t>
                        </m:r>
                      </m:sub>
                    </m:sSub>
                    <m:r>
                      <a:rPr lang="en-US" sz="2800" i="1" dirty="0" smtClean="0">
                        <a:solidFill>
                          <a:srgbClr val="0066FF"/>
                        </a:solidFill>
                        <a:latin typeface="Cambria Math" panose="02040503050406030204" pitchFamily="18" charset="0"/>
                      </a:rPr>
                      <m:t>,</m:t>
                    </m:r>
                    <m:sSub>
                      <m:sSubPr>
                        <m:ctrlPr>
                          <a:rPr lang="en-US" sz="2800" i="1" dirty="0" smtClean="0">
                            <a:solidFill>
                              <a:srgbClr val="0066FF"/>
                            </a:solidFill>
                            <a:latin typeface="Cambria Math" panose="02040503050406030204" pitchFamily="18" charset="0"/>
                          </a:rPr>
                        </m:ctrlPr>
                      </m:sSubPr>
                      <m:e>
                        <m:r>
                          <a:rPr lang="en-US" sz="2800" i="1" dirty="0" smtClean="0">
                            <a:solidFill>
                              <a:srgbClr val="0066FF"/>
                            </a:solidFill>
                            <a:latin typeface="Cambria Math" panose="02040503050406030204" pitchFamily="18" charset="0"/>
                          </a:rPr>
                          <m:t>𝑤</m:t>
                        </m:r>
                      </m:e>
                      <m:sub>
                        <m:r>
                          <a:rPr lang="en-US" sz="2800" i="1" dirty="0" smtClean="0">
                            <a:solidFill>
                              <a:srgbClr val="0066FF"/>
                            </a:solidFill>
                            <a:latin typeface="Cambria Math" panose="02040503050406030204" pitchFamily="18" charset="0"/>
                          </a:rPr>
                          <m:t>1</m:t>
                        </m:r>
                      </m:sub>
                    </m:sSub>
                    <m:r>
                      <a:rPr lang="en-US" sz="2800" i="1" dirty="0" smtClean="0">
                        <a:solidFill>
                          <a:srgbClr val="0066FF"/>
                        </a:solidFill>
                        <a:latin typeface="Cambria Math" panose="02040503050406030204" pitchFamily="18" charset="0"/>
                      </a:rPr>
                      <m:t>,…,</m:t>
                    </m:r>
                    <m:sSub>
                      <m:sSubPr>
                        <m:ctrlPr>
                          <a:rPr lang="en-US" sz="2800" i="1" dirty="0" err="1" smtClean="0">
                            <a:solidFill>
                              <a:srgbClr val="0066FF"/>
                            </a:solidFill>
                            <a:latin typeface="Cambria Math" panose="02040503050406030204" pitchFamily="18" charset="0"/>
                          </a:rPr>
                        </m:ctrlPr>
                      </m:sSubPr>
                      <m:e>
                        <m:r>
                          <a:rPr lang="en-US" sz="2800" i="1" dirty="0" err="1" smtClean="0">
                            <a:solidFill>
                              <a:srgbClr val="0066FF"/>
                            </a:solidFill>
                            <a:latin typeface="Cambria Math" panose="02040503050406030204" pitchFamily="18" charset="0"/>
                          </a:rPr>
                          <m:t>𝑤</m:t>
                        </m:r>
                      </m:e>
                      <m:sub>
                        <m:r>
                          <a:rPr lang="en-US" sz="2800" i="1" dirty="0" err="1" smtClean="0">
                            <a:solidFill>
                              <a:srgbClr val="0066FF"/>
                            </a:solidFill>
                            <a:latin typeface="Cambria Math" panose="02040503050406030204" pitchFamily="18" charset="0"/>
                          </a:rPr>
                          <m:t>𝑛</m:t>
                        </m:r>
                      </m:sub>
                    </m:sSub>
                  </m:oMath>
                </a14:m>
                <a:r>
                  <a:rPr lang="en-US" sz="2800" dirty="0">
                    <a:solidFill>
                      <a:srgbClr val="0066FF"/>
                    </a:solidFill>
                  </a:rPr>
                  <a:t> </a:t>
                </a:r>
                <a:r>
                  <a:rPr lang="en-US" sz="2800" dirty="0" err="1">
                    <a:solidFill>
                      <a:srgbClr val="0066FF"/>
                    </a:solidFill>
                  </a:rPr>
                  <a:t>là</a:t>
                </a:r>
                <a:r>
                  <a:rPr lang="en-US" sz="2800" dirty="0">
                    <a:solidFill>
                      <a:srgbClr val="0066FF"/>
                    </a:solidFill>
                  </a:rPr>
                  <a:t> </a:t>
                </a:r>
                <a:r>
                  <a:rPr lang="en-US" sz="2800" dirty="0" err="1">
                    <a:solidFill>
                      <a:srgbClr val="0066FF"/>
                    </a:solidFill>
                  </a:rPr>
                  <a:t>các</a:t>
                </a:r>
                <a:r>
                  <a:rPr lang="en-US" sz="2800" dirty="0">
                    <a:solidFill>
                      <a:srgbClr val="0066FF"/>
                    </a:solidFill>
                  </a:rPr>
                  <a:t> </a:t>
                </a:r>
                <a:r>
                  <a:rPr lang="en-US" sz="2800" dirty="0" err="1">
                    <a:solidFill>
                      <a:srgbClr val="0066FF"/>
                    </a:solidFill>
                  </a:rPr>
                  <a:t>tham</a:t>
                </a:r>
                <a:r>
                  <a:rPr lang="en-US" sz="2800" dirty="0">
                    <a:solidFill>
                      <a:srgbClr val="0066FF"/>
                    </a:solidFill>
                  </a:rPr>
                  <a:t> </a:t>
                </a:r>
                <a:r>
                  <a:rPr lang="en-US" sz="2800" dirty="0" err="1">
                    <a:solidFill>
                      <a:srgbClr val="0066FF"/>
                    </a:solidFill>
                  </a:rPr>
                  <a:t>số</a:t>
                </a:r>
                <a:r>
                  <a:rPr lang="en-US" sz="2800" dirty="0">
                    <a:solidFill>
                      <a:srgbClr val="0066FF"/>
                    </a:solidFill>
                  </a:rPr>
                  <a:t> (parameters) </a:t>
                </a:r>
                <a:r>
                  <a:rPr lang="en-US" sz="2800" dirty="0" err="1">
                    <a:solidFill>
                      <a:srgbClr val="0066FF"/>
                    </a:solidFill>
                  </a:rPr>
                  <a:t>mô</a:t>
                </a:r>
                <a:r>
                  <a:rPr lang="en-US" sz="2800" dirty="0">
                    <a:solidFill>
                      <a:srgbClr val="0066FF"/>
                    </a:solidFill>
                  </a:rPr>
                  <a:t> </a:t>
                </a:r>
                <a:r>
                  <a:rPr lang="en-US" sz="2800" dirty="0" err="1">
                    <a:solidFill>
                      <a:srgbClr val="0066FF"/>
                    </a:solidFill>
                  </a:rPr>
                  <a:t>hình</a:t>
                </a:r>
                <a:r>
                  <a:rPr lang="en-US" sz="2800" dirty="0">
                    <a:solidFill>
                      <a:srgbClr val="0066FF"/>
                    </a:solidFill>
                  </a:rPr>
                  <a:t>.</a:t>
                </a:r>
              </a:p>
              <a:p>
                <a:pPr lvl="1" algn="just">
                  <a:spcBef>
                    <a:spcPts val="0"/>
                  </a:spcBef>
                </a:pPr>
                <a14:m>
                  <m:oMath xmlns:m="http://schemas.openxmlformats.org/officeDocument/2006/math">
                    <m:r>
                      <a:rPr lang="en-US" sz="2800" i="1" dirty="0" smtClean="0">
                        <a:solidFill>
                          <a:srgbClr val="FF0000"/>
                        </a:solidFill>
                        <a:latin typeface="Cambria Math" panose="02040503050406030204" pitchFamily="18" charset="0"/>
                      </a:rPr>
                      <m:t>𝑛</m:t>
                    </m:r>
                  </m:oMath>
                </a14:m>
                <a:r>
                  <a:rPr lang="en-US" sz="2800" dirty="0">
                    <a:solidFill>
                      <a:srgbClr val="FF0000"/>
                    </a:solidFill>
                  </a:rPr>
                  <a:t> đ</a:t>
                </a:r>
                <a:r>
                  <a:rPr lang="vi-VN" sz="2800" dirty="0" err="1">
                    <a:solidFill>
                      <a:srgbClr val="FF0000"/>
                    </a:solidFill>
                  </a:rPr>
                  <a:t>ược</a:t>
                </a:r>
                <a:r>
                  <a:rPr lang="vi-VN" sz="2800" dirty="0">
                    <a:solidFill>
                      <a:srgbClr val="FF0000"/>
                    </a:solidFill>
                  </a:rPr>
                  <a:t> </a:t>
                </a:r>
                <a:r>
                  <a:rPr lang="vi-VN" sz="2800" dirty="0" err="1">
                    <a:solidFill>
                      <a:srgbClr val="FF0000"/>
                    </a:solidFill>
                  </a:rPr>
                  <a:t>gọi</a:t>
                </a:r>
                <a:r>
                  <a:rPr lang="vi-VN" sz="2800" dirty="0">
                    <a:solidFill>
                      <a:srgbClr val="FF0000"/>
                    </a:solidFill>
                  </a:rPr>
                  <a:t> </a:t>
                </a:r>
                <a:r>
                  <a:rPr lang="vi-VN" sz="2800" dirty="0" err="1">
                    <a:solidFill>
                      <a:srgbClr val="FF0000"/>
                    </a:solidFill>
                  </a:rPr>
                  <a:t>là</a:t>
                </a:r>
                <a:r>
                  <a:rPr lang="vi-VN" sz="2800" dirty="0">
                    <a:solidFill>
                      <a:srgbClr val="FF0000"/>
                    </a:solidFill>
                  </a:rPr>
                  <a:t> </a:t>
                </a:r>
                <a:r>
                  <a:rPr lang="vi-VN" sz="2800" dirty="0" err="1">
                    <a:solidFill>
                      <a:srgbClr val="FF0000"/>
                    </a:solidFill>
                  </a:rPr>
                  <a:t>bậc</a:t>
                </a:r>
                <a:r>
                  <a:rPr lang="vi-VN" sz="2800" dirty="0">
                    <a:solidFill>
                      <a:srgbClr val="FF0000"/>
                    </a:solidFill>
                  </a:rPr>
                  <a:t> (</a:t>
                </a:r>
                <a:r>
                  <a:rPr lang="vi-VN" sz="2800" dirty="0" err="1">
                    <a:solidFill>
                      <a:srgbClr val="FF0000"/>
                    </a:solidFill>
                  </a:rPr>
                  <a:t>degree</a:t>
                </a:r>
                <a:r>
                  <a:rPr lang="vi-VN" sz="2800" dirty="0">
                    <a:solidFill>
                      <a:srgbClr val="FF0000"/>
                    </a:solidFill>
                  </a:rPr>
                  <a:t>) </a:t>
                </a:r>
                <a:r>
                  <a:rPr lang="vi-VN" sz="2800" dirty="0" err="1">
                    <a:solidFill>
                      <a:srgbClr val="FF0000"/>
                    </a:solidFill>
                  </a:rPr>
                  <a:t>của</a:t>
                </a:r>
                <a:r>
                  <a:rPr lang="vi-VN" sz="2800" dirty="0">
                    <a:solidFill>
                      <a:srgbClr val="FF0000"/>
                    </a:solidFill>
                  </a:rPr>
                  <a:t> mô </a:t>
                </a:r>
                <a:r>
                  <a:rPr lang="vi-VN" sz="2800" dirty="0" err="1">
                    <a:solidFill>
                      <a:srgbClr val="FF0000"/>
                    </a:solidFill>
                  </a:rPr>
                  <a:t>hình</a:t>
                </a:r>
                <a:r>
                  <a:rPr lang="vi-VN" sz="2800" dirty="0">
                    <a:solidFill>
                      <a:srgbClr val="FF0000"/>
                    </a:solidFill>
                  </a:rPr>
                  <a:t>.</a:t>
                </a:r>
                <a:endParaRPr lang="en-US" sz="2800" dirty="0">
                  <a:solidFill>
                    <a:srgbClr val="FF0000"/>
                  </a:solidFill>
                </a:endParaRPr>
              </a:p>
            </p:txBody>
          </p:sp>
        </mc:Choice>
        <mc:Fallback xmlns="">
          <p:sp>
            <p:nvSpPr>
              <p:cNvPr id="5" name="Content Placeholder 4">
                <a:extLst>
                  <a:ext uri="{FF2B5EF4-FFF2-40B4-BE49-F238E27FC236}">
                    <a16:creationId xmlns:a16="http://schemas.microsoft.com/office/drawing/2014/main" id="{E30D07AC-6477-48C8-AB77-C3A89A339D51}"/>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en-US">
                    <a:noFill/>
                  </a:rPr>
                  <a:t> </a:t>
                </a:r>
              </a:p>
            </p:txBody>
          </p:sp>
        </mc:Fallback>
      </mc:AlternateContent>
    </p:spTree>
    <p:extLst>
      <p:ext uri="{BB962C8B-B14F-4D97-AF65-F5344CB8AC3E}">
        <p14:creationId xmlns:p14="http://schemas.microsoft.com/office/powerpoint/2010/main" val="43912881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3921AA-1C5A-4686-B111-3B71E3AADD65}"/>
              </a:ext>
            </a:extLst>
          </p:cNvPr>
          <p:cNvSpPr>
            <a:spLocks noGrp="1"/>
          </p:cNvSpPr>
          <p:nvPr>
            <p:ph type="title"/>
          </p:nvPr>
        </p:nvSpPr>
        <p:spPr/>
        <p:txBody>
          <a:bodyPr/>
          <a:lstStyle/>
          <a:p>
            <a:r>
              <a:rPr lang="en-US" dirty="0"/>
              <a:t>Polynomial Linear Regression</a:t>
            </a:r>
            <a:endParaRPr lang="vi-V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E30D07AC-6477-48C8-AB77-C3A89A339D51}"/>
                  </a:ext>
                </a:extLst>
              </p:cNvPr>
              <p:cNvSpPr>
                <a:spLocks noGrp="1"/>
              </p:cNvSpPr>
              <p:nvPr>
                <p:ph idx="1"/>
              </p:nvPr>
            </p:nvSpPr>
            <p:spPr/>
            <p:txBody>
              <a:bodyPr/>
              <a:lstStyle/>
              <a:p>
                <a:pPr algn="just">
                  <a:spcBef>
                    <a:spcPts val="0"/>
                  </a:spcBef>
                </a:pPr>
                <a:r>
                  <a:rPr lang="en-US" sz="2800" dirty="0">
                    <a:solidFill>
                      <a:srgbClr val="0066FF"/>
                    </a:solidFill>
                  </a:rPr>
                  <a:t>Mặc </a:t>
                </a:r>
                <a:r>
                  <a:rPr lang="en-US" sz="2800" dirty="0" err="1">
                    <a:solidFill>
                      <a:srgbClr val="0066FF"/>
                    </a:solidFill>
                  </a:rPr>
                  <a:t>dù</a:t>
                </a:r>
                <a:r>
                  <a:rPr lang="en-US" sz="2800" dirty="0">
                    <a:solidFill>
                      <a:srgbClr val="0066FF"/>
                    </a:solidFill>
                  </a:rPr>
                  <a:t> </a:t>
                </a:r>
                <a:r>
                  <a:rPr lang="en-US" sz="2800" dirty="0" err="1">
                    <a:solidFill>
                      <a:srgbClr val="0066FF"/>
                    </a:solidFill>
                  </a:rPr>
                  <a:t>về</a:t>
                </a:r>
                <a:r>
                  <a:rPr lang="en-US" sz="2800" dirty="0">
                    <a:solidFill>
                      <a:srgbClr val="0066FF"/>
                    </a:solidFill>
                  </a:rPr>
                  <a:t> </a:t>
                </a:r>
                <a:r>
                  <a:rPr lang="en-US" sz="2800" dirty="0" err="1">
                    <a:solidFill>
                      <a:srgbClr val="0066FF"/>
                    </a:solidFill>
                  </a:rPr>
                  <a:t>mặc</a:t>
                </a:r>
                <a:r>
                  <a:rPr lang="en-US" sz="2800" dirty="0">
                    <a:solidFill>
                      <a:srgbClr val="0066FF"/>
                    </a:solidFill>
                  </a:rPr>
                  <a:t> </a:t>
                </a:r>
                <a:r>
                  <a:rPr lang="en-US" sz="2800" dirty="0" err="1">
                    <a:solidFill>
                      <a:srgbClr val="0066FF"/>
                    </a:solidFill>
                  </a:rPr>
                  <a:t>trực</a:t>
                </a:r>
                <a:r>
                  <a:rPr lang="en-US" sz="2800" dirty="0">
                    <a:solidFill>
                      <a:srgbClr val="0066FF"/>
                    </a:solidFill>
                  </a:rPr>
                  <a:t> </a:t>
                </a:r>
                <a:r>
                  <a:rPr lang="en-US" sz="2800" dirty="0" err="1">
                    <a:solidFill>
                      <a:srgbClr val="0066FF"/>
                    </a:solidFill>
                  </a:rPr>
                  <a:t>quan</a:t>
                </a:r>
                <a:r>
                  <a:rPr lang="en-US" sz="2800" dirty="0">
                    <a:solidFill>
                      <a:srgbClr val="0066FF"/>
                    </a:solidFill>
                  </a:rPr>
                  <a:t>, </a:t>
                </a:r>
                <a:r>
                  <a:rPr lang="en-US" sz="2800" dirty="0" err="1">
                    <a:solidFill>
                      <a:srgbClr val="0066FF"/>
                    </a:solidFill>
                  </a:rPr>
                  <a:t>mô</a:t>
                </a:r>
                <a:r>
                  <a:rPr lang="en-US" sz="2800" dirty="0">
                    <a:solidFill>
                      <a:srgbClr val="0066FF"/>
                    </a:solidFill>
                  </a:rPr>
                  <a:t> </a:t>
                </a:r>
                <a:r>
                  <a:rPr lang="en-US" sz="2800" dirty="0" err="1">
                    <a:solidFill>
                      <a:srgbClr val="0066FF"/>
                    </a:solidFill>
                  </a:rPr>
                  <a:t>hình</a:t>
                </a:r>
                <a:r>
                  <a:rPr lang="en-US" sz="2800" dirty="0">
                    <a:solidFill>
                      <a:srgbClr val="0066FF"/>
                    </a:solidFill>
                  </a:rPr>
                  <a:t> </a:t>
                </a:r>
                <a:r>
                  <a:rPr lang="en-US" sz="2800" dirty="0" err="1">
                    <a:solidFill>
                      <a:srgbClr val="0066FF"/>
                    </a:solidFill>
                  </a:rPr>
                  <a:t>này</a:t>
                </a:r>
                <a:r>
                  <a:rPr lang="en-US" sz="2800" dirty="0">
                    <a:solidFill>
                      <a:srgbClr val="0066FF"/>
                    </a:solidFill>
                  </a:rPr>
                  <a:t> </a:t>
                </a:r>
                <a:r>
                  <a:rPr lang="en-US" sz="2800" dirty="0" err="1">
                    <a:solidFill>
                      <a:srgbClr val="0066FF"/>
                    </a:solidFill>
                  </a:rPr>
                  <a:t>biểu</a:t>
                </a:r>
                <a:r>
                  <a:rPr lang="en-US" sz="2800" dirty="0">
                    <a:solidFill>
                      <a:srgbClr val="0066FF"/>
                    </a:solidFill>
                  </a:rPr>
                  <a:t> </a:t>
                </a:r>
                <a:r>
                  <a:rPr lang="en-US" sz="2800" dirty="0" err="1">
                    <a:solidFill>
                      <a:srgbClr val="0066FF"/>
                    </a:solidFill>
                  </a:rPr>
                  <a:t>diễn</a:t>
                </a:r>
                <a:r>
                  <a:rPr lang="en-US" sz="2800" dirty="0">
                    <a:solidFill>
                      <a:srgbClr val="0066FF"/>
                    </a:solidFill>
                  </a:rPr>
                  <a:t> </a:t>
                </a:r>
                <a:r>
                  <a:rPr lang="en-US" sz="2800" dirty="0" err="1">
                    <a:solidFill>
                      <a:srgbClr val="0066FF"/>
                    </a:solidFill>
                  </a:rPr>
                  <a:t>một</a:t>
                </a:r>
                <a:r>
                  <a:rPr lang="en-US" sz="2800" dirty="0">
                    <a:solidFill>
                      <a:srgbClr val="0066FF"/>
                    </a:solidFill>
                  </a:rPr>
                  <a:t> đ</a:t>
                </a:r>
                <a:r>
                  <a:rPr lang="vi-VN" sz="2800" dirty="0" err="1">
                    <a:solidFill>
                      <a:srgbClr val="0066FF"/>
                    </a:solidFill>
                  </a:rPr>
                  <a:t>ường</a:t>
                </a:r>
                <a:r>
                  <a:rPr lang="vi-VN" sz="2800" dirty="0">
                    <a:solidFill>
                      <a:srgbClr val="0066FF"/>
                    </a:solidFill>
                  </a:rPr>
                  <a:t> cong (phi </a:t>
                </a:r>
                <a:r>
                  <a:rPr lang="vi-VN" sz="2800" dirty="0" err="1">
                    <a:solidFill>
                      <a:srgbClr val="0066FF"/>
                    </a:solidFill>
                  </a:rPr>
                  <a:t>tuyến</a:t>
                </a:r>
                <a:r>
                  <a:rPr lang="vi-VN" sz="2800" dirty="0">
                    <a:solidFill>
                      <a:srgbClr val="0066FF"/>
                    </a:solidFill>
                  </a:rPr>
                  <a:t>), nhưng </a:t>
                </a:r>
                <a:r>
                  <a:rPr lang="vi-VN" sz="2800" dirty="0" err="1">
                    <a:solidFill>
                      <a:srgbClr val="0066FF"/>
                    </a:solidFill>
                  </a:rPr>
                  <a:t>nó</a:t>
                </a:r>
                <a:r>
                  <a:rPr lang="vi-VN" sz="2800" dirty="0">
                    <a:solidFill>
                      <a:srgbClr val="0066FF"/>
                    </a:solidFill>
                  </a:rPr>
                  <a:t> </a:t>
                </a:r>
                <a:r>
                  <a:rPr lang="vi-VN" sz="2800" dirty="0" err="1">
                    <a:solidFill>
                      <a:srgbClr val="0066FF"/>
                    </a:solidFill>
                  </a:rPr>
                  <a:t>vẫn</a:t>
                </a:r>
                <a:r>
                  <a:rPr lang="vi-VN" sz="2800" dirty="0">
                    <a:solidFill>
                      <a:srgbClr val="0066FF"/>
                    </a:solidFill>
                  </a:rPr>
                  <a:t> </a:t>
                </a:r>
                <a:r>
                  <a:rPr lang="vi-VN" sz="2800" dirty="0" err="1">
                    <a:solidFill>
                      <a:srgbClr val="0066FF"/>
                    </a:solidFill>
                  </a:rPr>
                  <a:t>được</a:t>
                </a:r>
                <a:r>
                  <a:rPr lang="vi-VN" sz="2800" dirty="0">
                    <a:solidFill>
                      <a:srgbClr val="0066FF"/>
                    </a:solidFill>
                  </a:rPr>
                  <a:t> coi </a:t>
                </a:r>
                <a:r>
                  <a:rPr lang="vi-VN" sz="2800" dirty="0" err="1">
                    <a:solidFill>
                      <a:srgbClr val="0066FF"/>
                    </a:solidFill>
                  </a:rPr>
                  <a:t>là</a:t>
                </a:r>
                <a:r>
                  <a:rPr lang="vi-VN" sz="2800" dirty="0">
                    <a:solidFill>
                      <a:srgbClr val="0066FF"/>
                    </a:solidFill>
                  </a:rPr>
                  <a:t> </a:t>
                </a:r>
                <a:r>
                  <a:rPr lang="vi-VN" sz="2800" dirty="0" err="1">
                    <a:solidFill>
                      <a:srgbClr val="0066FF"/>
                    </a:solidFill>
                  </a:rPr>
                  <a:t>một</a:t>
                </a:r>
                <a:r>
                  <a:rPr lang="vi-VN" sz="2800" dirty="0">
                    <a:solidFill>
                      <a:srgbClr val="0066FF"/>
                    </a:solidFill>
                  </a:rPr>
                  <a:t> mô </a:t>
                </a:r>
                <a:r>
                  <a:rPr lang="vi-VN" sz="2800" dirty="0" err="1">
                    <a:solidFill>
                      <a:srgbClr val="0066FF"/>
                    </a:solidFill>
                  </a:rPr>
                  <a:t>hình</a:t>
                </a:r>
                <a:r>
                  <a:rPr lang="vi-VN" sz="2800" dirty="0">
                    <a:solidFill>
                      <a:srgbClr val="0066FF"/>
                    </a:solidFill>
                  </a:rPr>
                  <a:t> </a:t>
                </a:r>
                <a:r>
                  <a:rPr lang="vi-VN" sz="2800" dirty="0" err="1">
                    <a:solidFill>
                      <a:srgbClr val="0066FF"/>
                    </a:solidFill>
                  </a:rPr>
                  <a:t>hồi</a:t>
                </a:r>
                <a:r>
                  <a:rPr lang="vi-VN" sz="2800" dirty="0">
                    <a:solidFill>
                      <a:srgbClr val="0066FF"/>
                    </a:solidFill>
                  </a:rPr>
                  <a:t> quy </a:t>
                </a:r>
                <a:r>
                  <a:rPr lang="vi-VN" sz="2800" err="1">
                    <a:solidFill>
                      <a:srgbClr val="0066FF"/>
                    </a:solidFill>
                  </a:rPr>
                  <a:t>tuyến</a:t>
                </a:r>
                <a:r>
                  <a:rPr lang="vi-VN" sz="2800">
                    <a:solidFill>
                      <a:srgbClr val="0066FF"/>
                    </a:solidFill>
                  </a:rPr>
                  <a:t> tính</a:t>
                </a:r>
                <a:r>
                  <a:rPr lang="en-US" sz="2800">
                    <a:solidFill>
                      <a:srgbClr val="0066FF"/>
                    </a:solidFill>
                  </a:rPr>
                  <a:t> đa biến</a:t>
                </a:r>
                <a:r>
                  <a:rPr lang="vi-VN" sz="2800">
                    <a:solidFill>
                      <a:srgbClr val="0066FF"/>
                    </a:solidFill>
                  </a:rPr>
                  <a:t>. </a:t>
                </a:r>
                <a:endParaRPr lang="vi-VN" sz="2800" dirty="0">
                  <a:solidFill>
                    <a:srgbClr val="0066FF"/>
                  </a:solidFill>
                </a:endParaRPr>
              </a:p>
              <a:p>
                <a:pPr algn="just">
                  <a:spcBef>
                    <a:spcPts val="0"/>
                  </a:spcBef>
                </a:pPr>
                <a:r>
                  <a:rPr lang="vi-VN" sz="2800" dirty="0">
                    <a:solidFill>
                      <a:srgbClr val="FF0000"/>
                    </a:solidFill>
                  </a:rPr>
                  <a:t>T</a:t>
                </a:r>
                <a:r>
                  <a:rPr lang="vi-VN" sz="2800" dirty="0" err="1">
                    <a:solidFill>
                      <a:srgbClr val="FF0000"/>
                    </a:solidFill>
                  </a:rPr>
                  <a:t>ừ</a:t>
                </a:r>
                <a:r>
                  <a:rPr lang="vi-VN" sz="2800" dirty="0">
                    <a:solidFill>
                      <a:srgbClr val="FF0000"/>
                    </a:solidFill>
                  </a:rPr>
                  <a:t> “</a:t>
                </a:r>
                <a:r>
                  <a:rPr lang="vi-VN" sz="2800" dirty="0" err="1">
                    <a:solidFill>
                      <a:srgbClr val="FF0000"/>
                    </a:solidFill>
                  </a:rPr>
                  <a:t>tuyến</a:t>
                </a:r>
                <a:r>
                  <a:rPr lang="vi-VN" sz="2800" dirty="0">
                    <a:solidFill>
                      <a:srgbClr val="FF0000"/>
                    </a:solidFill>
                  </a:rPr>
                  <a:t> </a:t>
                </a:r>
                <a:r>
                  <a:rPr lang="vi-VN" sz="2800" dirty="0" err="1">
                    <a:solidFill>
                      <a:srgbClr val="FF0000"/>
                    </a:solidFill>
                  </a:rPr>
                  <a:t>tính</a:t>
                </a:r>
                <a:r>
                  <a:rPr lang="vi-VN" sz="2800" dirty="0">
                    <a:solidFill>
                      <a:srgbClr val="FF0000"/>
                    </a:solidFill>
                  </a:rPr>
                  <a:t>” </a:t>
                </a:r>
                <a:r>
                  <a:rPr lang="vi-VN" sz="2800" dirty="0" err="1">
                    <a:solidFill>
                      <a:srgbClr val="FF0000"/>
                    </a:solidFill>
                  </a:rPr>
                  <a:t>ám</a:t>
                </a:r>
                <a:r>
                  <a:rPr lang="vi-VN" sz="2800" dirty="0">
                    <a:solidFill>
                      <a:srgbClr val="FF0000"/>
                    </a:solidFill>
                  </a:rPr>
                  <a:t> </a:t>
                </a:r>
                <a:r>
                  <a:rPr lang="vi-VN" sz="2800" dirty="0" err="1">
                    <a:solidFill>
                      <a:srgbClr val="FF0000"/>
                    </a:solidFill>
                  </a:rPr>
                  <a:t>chỉ</a:t>
                </a:r>
                <a:r>
                  <a:rPr lang="vi-VN" sz="2800" dirty="0">
                    <a:solidFill>
                      <a:srgbClr val="FF0000"/>
                    </a:solidFill>
                  </a:rPr>
                  <a:t> </a:t>
                </a:r>
                <a:r>
                  <a:rPr lang="vi-VN" sz="2800" dirty="0" err="1">
                    <a:solidFill>
                      <a:srgbClr val="FF0000"/>
                    </a:solidFill>
                  </a:rPr>
                  <a:t>mối</a:t>
                </a:r>
                <a:r>
                  <a:rPr lang="vi-VN" sz="2800" dirty="0">
                    <a:solidFill>
                      <a:srgbClr val="FF0000"/>
                    </a:solidFill>
                  </a:rPr>
                  <a:t> quan </a:t>
                </a:r>
                <a:r>
                  <a:rPr lang="vi-VN" sz="2800" dirty="0" err="1">
                    <a:solidFill>
                      <a:srgbClr val="FF0000"/>
                    </a:solidFill>
                  </a:rPr>
                  <a:t>hệ</a:t>
                </a:r>
                <a:r>
                  <a:rPr lang="vi-VN" sz="2800" dirty="0">
                    <a:solidFill>
                      <a:srgbClr val="FF0000"/>
                    </a:solidFill>
                  </a:rPr>
                  <a:t> </a:t>
                </a:r>
                <a:r>
                  <a:rPr lang="vi-VN" sz="2800" dirty="0" err="1">
                    <a:solidFill>
                      <a:srgbClr val="FF0000"/>
                    </a:solidFill>
                  </a:rPr>
                  <a:t>giữa</a:t>
                </a:r>
                <a:r>
                  <a:rPr lang="vi-VN" sz="2800" dirty="0">
                    <a:solidFill>
                      <a:srgbClr val="FF0000"/>
                    </a:solidFill>
                  </a:rPr>
                  <a:t> </a:t>
                </a:r>
                <a:r>
                  <a:rPr lang="vi-VN" sz="2800" dirty="0" err="1">
                    <a:solidFill>
                      <a:srgbClr val="FF0000"/>
                    </a:solidFill>
                  </a:rPr>
                  <a:t>các</a:t>
                </a:r>
                <a:r>
                  <a:rPr lang="vi-VN" sz="2800" dirty="0">
                    <a:solidFill>
                      <a:srgbClr val="FF0000"/>
                    </a:solidFill>
                  </a:rPr>
                  <a:t> </a:t>
                </a:r>
                <a:r>
                  <a:rPr lang="vi-VN" sz="2800" dirty="0" err="1">
                    <a:solidFill>
                      <a:srgbClr val="FF0000"/>
                    </a:solidFill>
                  </a:rPr>
                  <a:t>trọng</a:t>
                </a:r>
                <a:r>
                  <a:rPr lang="vi-VN" sz="2800" dirty="0">
                    <a:solidFill>
                      <a:srgbClr val="FF0000"/>
                    </a:solidFill>
                  </a:rPr>
                  <a:t> </a:t>
                </a:r>
                <a:r>
                  <a:rPr lang="vi-VN" sz="2800" dirty="0" err="1">
                    <a:solidFill>
                      <a:srgbClr val="FF0000"/>
                    </a:solidFill>
                  </a:rPr>
                  <a:t>số</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𝑤</m:t>
                    </m:r>
                  </m:oMath>
                </a14:m>
                <a:r>
                  <a:rPr lang="vi-VN" sz="2800" dirty="0">
                    <a:solidFill>
                      <a:srgbClr val="FF0000"/>
                    </a:solidFill>
                  </a:rPr>
                  <a:t> </a:t>
                </a:r>
                <a:r>
                  <a:rPr lang="vi-VN" sz="2800" dirty="0" err="1">
                    <a:solidFill>
                      <a:srgbClr val="FF0000"/>
                    </a:solidFill>
                  </a:rPr>
                  <a:t>với</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𝑦</m:t>
                    </m:r>
                  </m:oMath>
                </a14:m>
                <a:r>
                  <a:rPr lang="vi-VN" sz="2800" dirty="0">
                    <a:solidFill>
                      <a:srgbClr val="FF0000"/>
                    </a:solidFill>
                  </a:rPr>
                  <a:t>, không </a:t>
                </a:r>
                <a:r>
                  <a:rPr lang="vi-VN" sz="2800" dirty="0" err="1">
                    <a:solidFill>
                      <a:srgbClr val="FF0000"/>
                    </a:solidFill>
                  </a:rPr>
                  <a:t>phải</a:t>
                </a:r>
                <a:r>
                  <a:rPr lang="vi-VN" sz="2800" dirty="0">
                    <a:solidFill>
                      <a:srgbClr val="FF0000"/>
                    </a:solidFill>
                  </a:rPr>
                  <a:t> </a:t>
                </a:r>
                <a:r>
                  <a:rPr lang="vi-VN" sz="2800" dirty="0" err="1">
                    <a:solidFill>
                      <a:srgbClr val="FF0000"/>
                    </a:solidFill>
                  </a:rPr>
                  <a:t>mối</a:t>
                </a:r>
                <a:r>
                  <a:rPr lang="vi-VN" sz="2800" dirty="0">
                    <a:solidFill>
                      <a:srgbClr val="FF0000"/>
                    </a:solidFill>
                  </a:rPr>
                  <a:t> quan </a:t>
                </a:r>
                <a:r>
                  <a:rPr lang="vi-VN" sz="2800" dirty="0" err="1">
                    <a:solidFill>
                      <a:srgbClr val="FF0000"/>
                    </a:solidFill>
                  </a:rPr>
                  <a:t>hệ</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𝑥</m:t>
                    </m:r>
                  </m:oMath>
                </a14:m>
                <a:r>
                  <a:rPr lang="vi-VN" sz="2800" dirty="0">
                    <a:solidFill>
                      <a:srgbClr val="FF0000"/>
                    </a:solidFill>
                  </a:rPr>
                  <a:t> </a:t>
                </a:r>
                <a:r>
                  <a:rPr lang="vi-VN" sz="2800" dirty="0" err="1">
                    <a:solidFill>
                      <a:srgbClr val="FF0000"/>
                    </a:solidFill>
                  </a:rPr>
                  <a:t>với</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𝑦</m:t>
                    </m:r>
                  </m:oMath>
                </a14:m>
                <a:r>
                  <a:rPr lang="vi-VN" sz="2800" dirty="0">
                    <a:solidFill>
                      <a:srgbClr val="FF0000"/>
                    </a:solidFill>
                  </a:rPr>
                  <a:t>.</a:t>
                </a:r>
                <a:endParaRPr lang="en-US" sz="2800" dirty="0">
                  <a:solidFill>
                    <a:srgbClr val="FF0000"/>
                  </a:solidFill>
                </a:endParaRPr>
              </a:p>
              <a:p>
                <a:pPr algn="just">
                  <a:spcBef>
                    <a:spcPts val="0"/>
                  </a:spcBef>
                </a:pPr>
                <a:r>
                  <a:rPr lang="en-US" sz="2800" dirty="0">
                    <a:solidFill>
                      <a:schemeClr val="tx1"/>
                    </a:solidFill>
                    <a:highlight>
                      <a:srgbClr val="FFFF00"/>
                    </a:highlight>
                  </a:rPr>
                  <a:t>Mô </a:t>
                </a:r>
                <a:r>
                  <a:rPr lang="en-US" sz="2800" dirty="0" err="1">
                    <a:solidFill>
                      <a:schemeClr val="tx1"/>
                    </a:solidFill>
                    <a:highlight>
                      <a:srgbClr val="FFFF00"/>
                    </a:highlight>
                  </a:rPr>
                  <a:t>hình</a:t>
                </a:r>
                <a:r>
                  <a:rPr lang="en-US" sz="2800" dirty="0">
                    <a:solidFill>
                      <a:schemeClr val="tx1"/>
                    </a:solidFill>
                    <a:highlight>
                      <a:srgbClr val="FFFF00"/>
                    </a:highlight>
                  </a:rPr>
                  <a:t> Polynomial Regression đ</a:t>
                </a:r>
                <a:r>
                  <a:rPr lang="vi-VN" sz="2800" dirty="0">
                    <a:solidFill>
                      <a:schemeClr val="tx1"/>
                    </a:solidFill>
                    <a:highlight>
                      <a:srgbClr val="FFFF00"/>
                    </a:highlight>
                  </a:rPr>
                  <a:t>ơ</a:t>
                </a:r>
                <a:r>
                  <a:rPr lang="en-US" sz="2800" dirty="0">
                    <a:solidFill>
                      <a:schemeClr val="tx1"/>
                    </a:solidFill>
                    <a:highlight>
                      <a:srgbClr val="FFFF00"/>
                    </a:highlight>
                  </a:rPr>
                  <a:t>n </a:t>
                </a:r>
                <a:r>
                  <a:rPr lang="en-US" sz="2800" dirty="0" err="1">
                    <a:solidFill>
                      <a:schemeClr val="tx1"/>
                    </a:solidFill>
                    <a:highlight>
                      <a:srgbClr val="FFFF00"/>
                    </a:highlight>
                  </a:rPr>
                  <a:t>biến</a:t>
                </a:r>
                <a:r>
                  <a:rPr lang="en-US" sz="2800" dirty="0">
                    <a:solidFill>
                      <a:schemeClr val="tx1"/>
                    </a:solidFill>
                    <a:highlight>
                      <a:srgbClr val="FFFF00"/>
                    </a:highlight>
                  </a:rPr>
                  <a:t> </a:t>
                </a:r>
                <a:r>
                  <a:rPr lang="en-US" sz="2800" dirty="0" err="1">
                    <a:solidFill>
                      <a:schemeClr val="tx1"/>
                    </a:solidFill>
                    <a:highlight>
                      <a:srgbClr val="FFFF00"/>
                    </a:highlight>
                  </a:rPr>
                  <a:t>có</a:t>
                </a:r>
                <a:r>
                  <a:rPr lang="en-US" sz="2800" dirty="0">
                    <a:solidFill>
                      <a:schemeClr val="tx1"/>
                    </a:solidFill>
                    <a:highlight>
                      <a:srgbClr val="FFFF00"/>
                    </a:highlight>
                  </a:rPr>
                  <a:t> </a:t>
                </a:r>
                <a:r>
                  <a:rPr lang="en-US" sz="2800" dirty="0" err="1">
                    <a:solidFill>
                      <a:schemeClr val="tx1"/>
                    </a:solidFill>
                    <a:highlight>
                      <a:srgbClr val="FFFF00"/>
                    </a:highlight>
                  </a:rPr>
                  <a:t>dạng</a:t>
                </a:r>
                <a:r>
                  <a:rPr lang="en-US" sz="2800" dirty="0">
                    <a:solidFill>
                      <a:schemeClr val="tx1"/>
                    </a:solidFill>
                    <a:highlight>
                      <a:srgbClr val="FFFF00"/>
                    </a:highlight>
                  </a:rPr>
                  <a:t> </a:t>
                </a:r>
                <a:r>
                  <a:rPr lang="en-US" sz="2800" dirty="0" err="1">
                    <a:solidFill>
                      <a:schemeClr val="tx1"/>
                    </a:solidFill>
                    <a:highlight>
                      <a:srgbClr val="FFFF00"/>
                    </a:highlight>
                  </a:rPr>
                  <a:t>nh</a:t>
                </a:r>
                <a:r>
                  <a:rPr lang="vi-VN" sz="2800" dirty="0">
                    <a:solidFill>
                      <a:schemeClr val="tx1"/>
                    </a:solidFill>
                    <a:highlight>
                      <a:srgbClr val="FFFF00"/>
                    </a:highlight>
                  </a:rPr>
                  <a:t>ư</a:t>
                </a:r>
                <a:r>
                  <a:rPr lang="en-US" sz="2800" dirty="0">
                    <a:solidFill>
                      <a:schemeClr val="tx1"/>
                    </a:solidFill>
                    <a:highlight>
                      <a:srgbClr val="FFFF00"/>
                    </a:highlight>
                  </a:rPr>
                  <a:t> </a:t>
                </a:r>
                <a:r>
                  <a:rPr lang="en-US" sz="2800" dirty="0" err="1">
                    <a:solidFill>
                      <a:schemeClr val="tx1"/>
                    </a:solidFill>
                    <a:highlight>
                      <a:srgbClr val="FFFF00"/>
                    </a:highlight>
                  </a:rPr>
                  <a:t>sau</a:t>
                </a:r>
                <a:r>
                  <a:rPr lang="en-US" sz="2800" dirty="0">
                    <a:solidFill>
                      <a:schemeClr val="tx1"/>
                    </a:solidFill>
                    <a:highlight>
                      <a:srgbClr val="FFFF00"/>
                    </a:highlight>
                  </a:rPr>
                  <a:t>:</a:t>
                </a:r>
              </a:p>
              <a:p>
                <a:pPr marL="457200" lvl="1" indent="0" algn="just">
                  <a:spcBef>
                    <a:spcPts val="0"/>
                  </a:spcBef>
                  <a:buNone/>
                </a:pPr>
                <a14:m>
                  <m:oMathPara xmlns:m="http://schemas.openxmlformats.org/officeDocument/2006/math">
                    <m:oMathParaPr>
                      <m:jc m:val="centerGroup"/>
                    </m:oMathParaPr>
                    <m:oMath xmlns:m="http://schemas.openxmlformats.org/officeDocument/2006/math">
                      <m:r>
                        <a:rPr lang="en-US" sz="2800" i="1">
                          <a:solidFill>
                            <a:srgbClr val="0066FF"/>
                          </a:solidFill>
                          <a:latin typeface="Cambria Math" panose="02040503050406030204" pitchFamily="18" charset="0"/>
                        </a:rPr>
                        <m:t>𝑦</m:t>
                      </m:r>
                      <m:r>
                        <a:rPr lang="en-US" sz="2800" i="1">
                          <a:solidFill>
                            <a:srgbClr val="0066FF"/>
                          </a:solidFill>
                          <a:latin typeface="Cambria Math" panose="02040503050406030204" pitchFamily="18" charset="0"/>
                        </a:rPr>
                        <m:t>=</m:t>
                      </m:r>
                      <m:sSub>
                        <m:sSubPr>
                          <m:ctrlPr>
                            <a:rPr lang="en-US" sz="2800" i="1">
                              <a:solidFill>
                                <a:srgbClr val="0066FF"/>
                              </a:solidFill>
                              <a:latin typeface="Cambria Math" panose="02040503050406030204" pitchFamily="18" charset="0"/>
                            </a:rPr>
                          </m:ctrlPr>
                        </m:sSubPr>
                        <m:e>
                          <m:r>
                            <a:rPr lang="en-US" sz="2800" i="1">
                              <a:solidFill>
                                <a:srgbClr val="0066FF"/>
                              </a:solidFill>
                              <a:latin typeface="Cambria Math" panose="02040503050406030204" pitchFamily="18" charset="0"/>
                            </a:rPr>
                            <m:t>𝑤</m:t>
                          </m:r>
                        </m:e>
                        <m:sub>
                          <m:r>
                            <a:rPr lang="en-US" sz="2800" i="1">
                              <a:solidFill>
                                <a:srgbClr val="0066FF"/>
                              </a:solidFill>
                              <a:latin typeface="Cambria Math" panose="02040503050406030204" pitchFamily="18" charset="0"/>
                            </a:rPr>
                            <m:t>0</m:t>
                          </m:r>
                        </m:sub>
                      </m:sSub>
                      <m:r>
                        <a:rPr lang="en-US" sz="2800" i="1">
                          <a:solidFill>
                            <a:srgbClr val="0066FF"/>
                          </a:solidFill>
                          <a:latin typeface="Cambria Math" panose="02040503050406030204" pitchFamily="18" charset="0"/>
                        </a:rPr>
                        <m:t>+</m:t>
                      </m:r>
                      <m:sSub>
                        <m:sSubPr>
                          <m:ctrlPr>
                            <a:rPr lang="en-US" sz="2800" i="1">
                              <a:solidFill>
                                <a:srgbClr val="0066FF"/>
                              </a:solidFill>
                              <a:latin typeface="Cambria Math" panose="02040503050406030204" pitchFamily="18" charset="0"/>
                            </a:rPr>
                          </m:ctrlPr>
                        </m:sSubPr>
                        <m:e>
                          <m:r>
                            <a:rPr lang="en-US" sz="2800" i="1">
                              <a:solidFill>
                                <a:srgbClr val="0066FF"/>
                              </a:solidFill>
                              <a:latin typeface="Cambria Math" panose="02040503050406030204" pitchFamily="18" charset="0"/>
                            </a:rPr>
                            <m:t>𝑤</m:t>
                          </m:r>
                        </m:e>
                        <m:sub>
                          <m:r>
                            <a:rPr lang="en-US" sz="2800" i="1">
                              <a:solidFill>
                                <a:srgbClr val="0066FF"/>
                              </a:solidFill>
                              <a:latin typeface="Cambria Math" panose="02040503050406030204" pitchFamily="18" charset="0"/>
                            </a:rPr>
                            <m:t>1</m:t>
                          </m:r>
                        </m:sub>
                      </m:sSub>
                      <m:r>
                        <a:rPr lang="en-US" sz="2800" i="1">
                          <a:solidFill>
                            <a:srgbClr val="0066FF"/>
                          </a:solidFill>
                          <a:latin typeface="Cambria Math" panose="02040503050406030204" pitchFamily="18" charset="0"/>
                          <a:ea typeface="Cambria Math" panose="02040503050406030204" pitchFamily="18" charset="0"/>
                        </a:rPr>
                        <m:t>×</m:t>
                      </m:r>
                      <m:r>
                        <a:rPr lang="en-US" sz="2800" i="1">
                          <a:solidFill>
                            <a:srgbClr val="0066FF"/>
                          </a:solidFill>
                          <a:latin typeface="Cambria Math" panose="02040503050406030204" pitchFamily="18" charset="0"/>
                          <a:ea typeface="Cambria Math" panose="02040503050406030204" pitchFamily="18" charset="0"/>
                        </a:rPr>
                        <m:t>𝑥</m:t>
                      </m:r>
                      <m:r>
                        <a:rPr lang="en-US" sz="2800" i="1">
                          <a:solidFill>
                            <a:srgbClr val="0066FF"/>
                          </a:solidFill>
                          <a:latin typeface="Cambria Math" panose="02040503050406030204" pitchFamily="18" charset="0"/>
                          <a:ea typeface="Cambria Math" panose="02040503050406030204" pitchFamily="18" charset="0"/>
                        </a:rPr>
                        <m:t>+</m:t>
                      </m:r>
                      <m:sSub>
                        <m:sSubPr>
                          <m:ctrlPr>
                            <a:rPr lang="en-US" sz="2800" i="1">
                              <a:solidFill>
                                <a:srgbClr val="0066FF"/>
                              </a:solidFill>
                              <a:latin typeface="Cambria Math" panose="02040503050406030204" pitchFamily="18" charset="0"/>
                              <a:ea typeface="Cambria Math" panose="02040503050406030204" pitchFamily="18" charset="0"/>
                            </a:rPr>
                          </m:ctrlPr>
                        </m:sSubPr>
                        <m:e>
                          <m:r>
                            <a:rPr lang="en-US" sz="2800" i="1">
                              <a:solidFill>
                                <a:srgbClr val="0066FF"/>
                              </a:solidFill>
                              <a:latin typeface="Cambria Math" panose="02040503050406030204" pitchFamily="18" charset="0"/>
                              <a:ea typeface="Cambria Math" panose="02040503050406030204" pitchFamily="18" charset="0"/>
                            </a:rPr>
                            <m:t>𝑤</m:t>
                          </m:r>
                        </m:e>
                        <m:sub>
                          <m:r>
                            <a:rPr lang="en-US" sz="2800" i="1">
                              <a:solidFill>
                                <a:srgbClr val="0066FF"/>
                              </a:solidFill>
                              <a:latin typeface="Cambria Math" panose="02040503050406030204" pitchFamily="18" charset="0"/>
                              <a:ea typeface="Cambria Math" panose="02040503050406030204" pitchFamily="18" charset="0"/>
                            </a:rPr>
                            <m:t>2</m:t>
                          </m:r>
                        </m:sub>
                      </m:sSub>
                      <m:r>
                        <a:rPr lang="en-US" sz="2800" i="1">
                          <a:solidFill>
                            <a:srgbClr val="0066FF"/>
                          </a:solidFill>
                          <a:latin typeface="Cambria Math" panose="02040503050406030204" pitchFamily="18" charset="0"/>
                          <a:ea typeface="Cambria Math" panose="02040503050406030204" pitchFamily="18" charset="0"/>
                        </a:rPr>
                        <m:t>×</m:t>
                      </m:r>
                      <m:sSup>
                        <m:sSupPr>
                          <m:ctrlPr>
                            <a:rPr lang="en-US" sz="2800" i="1">
                              <a:solidFill>
                                <a:srgbClr val="0066FF"/>
                              </a:solidFill>
                              <a:latin typeface="Cambria Math" panose="02040503050406030204" pitchFamily="18" charset="0"/>
                              <a:ea typeface="Cambria Math" panose="02040503050406030204" pitchFamily="18" charset="0"/>
                            </a:rPr>
                          </m:ctrlPr>
                        </m:sSupPr>
                        <m:e>
                          <m:r>
                            <a:rPr lang="en-US" sz="2800" i="1">
                              <a:solidFill>
                                <a:srgbClr val="0066FF"/>
                              </a:solidFill>
                              <a:latin typeface="Cambria Math" panose="02040503050406030204" pitchFamily="18" charset="0"/>
                              <a:ea typeface="Cambria Math" panose="02040503050406030204" pitchFamily="18" charset="0"/>
                            </a:rPr>
                            <m:t>𝑥</m:t>
                          </m:r>
                        </m:e>
                        <m:sup>
                          <m:r>
                            <a:rPr lang="en-US" sz="2800" i="1">
                              <a:solidFill>
                                <a:srgbClr val="0066FF"/>
                              </a:solidFill>
                              <a:latin typeface="Cambria Math" panose="02040503050406030204" pitchFamily="18" charset="0"/>
                              <a:ea typeface="Cambria Math" panose="02040503050406030204" pitchFamily="18" charset="0"/>
                            </a:rPr>
                            <m:t>2</m:t>
                          </m:r>
                        </m:sup>
                      </m:sSup>
                      <m:r>
                        <a:rPr lang="en-US" sz="2800" i="1">
                          <a:solidFill>
                            <a:srgbClr val="0066FF"/>
                          </a:solidFill>
                          <a:latin typeface="Cambria Math" panose="02040503050406030204" pitchFamily="18" charset="0"/>
                          <a:ea typeface="Cambria Math" panose="02040503050406030204" pitchFamily="18" charset="0"/>
                        </a:rPr>
                        <m:t>+…+</m:t>
                      </m:r>
                      <m:sSub>
                        <m:sSubPr>
                          <m:ctrlPr>
                            <a:rPr lang="en-US" sz="2800" i="1">
                              <a:solidFill>
                                <a:srgbClr val="0066FF"/>
                              </a:solidFill>
                              <a:latin typeface="Cambria Math" panose="02040503050406030204" pitchFamily="18" charset="0"/>
                              <a:ea typeface="Cambria Math" panose="02040503050406030204" pitchFamily="18" charset="0"/>
                            </a:rPr>
                          </m:ctrlPr>
                        </m:sSubPr>
                        <m:e>
                          <m:r>
                            <a:rPr lang="en-US" sz="2800" i="1">
                              <a:solidFill>
                                <a:srgbClr val="0066FF"/>
                              </a:solidFill>
                              <a:latin typeface="Cambria Math" panose="02040503050406030204" pitchFamily="18" charset="0"/>
                              <a:ea typeface="Cambria Math" panose="02040503050406030204" pitchFamily="18" charset="0"/>
                            </a:rPr>
                            <m:t>𝑤</m:t>
                          </m:r>
                        </m:e>
                        <m:sub>
                          <m:r>
                            <a:rPr lang="en-US" sz="2800" i="1">
                              <a:solidFill>
                                <a:srgbClr val="0066FF"/>
                              </a:solidFill>
                              <a:latin typeface="Cambria Math" panose="02040503050406030204" pitchFamily="18" charset="0"/>
                              <a:ea typeface="Cambria Math" panose="02040503050406030204" pitchFamily="18" charset="0"/>
                            </a:rPr>
                            <m:t>𝑛</m:t>
                          </m:r>
                        </m:sub>
                      </m:sSub>
                      <m:r>
                        <a:rPr lang="en-US" sz="2800" i="1">
                          <a:solidFill>
                            <a:srgbClr val="0066FF"/>
                          </a:solidFill>
                          <a:latin typeface="Cambria Math" panose="02040503050406030204" pitchFamily="18" charset="0"/>
                          <a:ea typeface="Cambria Math" panose="02040503050406030204" pitchFamily="18" charset="0"/>
                        </a:rPr>
                        <m:t>×</m:t>
                      </m:r>
                      <m:sSup>
                        <m:sSupPr>
                          <m:ctrlPr>
                            <a:rPr lang="en-US" sz="2800" i="1">
                              <a:solidFill>
                                <a:srgbClr val="0066FF"/>
                              </a:solidFill>
                              <a:latin typeface="Cambria Math" panose="02040503050406030204" pitchFamily="18" charset="0"/>
                              <a:ea typeface="Cambria Math" panose="02040503050406030204" pitchFamily="18" charset="0"/>
                            </a:rPr>
                          </m:ctrlPr>
                        </m:sSupPr>
                        <m:e>
                          <m:r>
                            <a:rPr lang="en-US" sz="2800" i="1">
                              <a:solidFill>
                                <a:srgbClr val="0066FF"/>
                              </a:solidFill>
                              <a:latin typeface="Cambria Math" panose="02040503050406030204" pitchFamily="18" charset="0"/>
                              <a:ea typeface="Cambria Math" panose="02040503050406030204" pitchFamily="18" charset="0"/>
                            </a:rPr>
                            <m:t>𝑥</m:t>
                          </m:r>
                        </m:e>
                        <m:sup>
                          <m:r>
                            <a:rPr lang="en-US" sz="2800" i="1">
                              <a:solidFill>
                                <a:srgbClr val="0066FF"/>
                              </a:solidFill>
                              <a:latin typeface="Cambria Math" panose="02040503050406030204" pitchFamily="18" charset="0"/>
                              <a:ea typeface="Cambria Math" panose="02040503050406030204" pitchFamily="18" charset="0"/>
                            </a:rPr>
                            <m:t>𝑛</m:t>
                          </m:r>
                        </m:sup>
                      </m:sSup>
                    </m:oMath>
                  </m:oMathPara>
                </a14:m>
                <a:endParaRPr lang="en-US" sz="2800" dirty="0">
                  <a:solidFill>
                    <a:srgbClr val="FF0000"/>
                  </a:solidFill>
                </a:endParaRPr>
              </a:p>
              <a:p>
                <a:pPr algn="just">
                  <a:spcBef>
                    <a:spcPts val="0"/>
                  </a:spcBef>
                </a:pPr>
                <a:endParaRPr lang="en-US" sz="2800" dirty="0">
                  <a:solidFill>
                    <a:srgbClr val="FF0000"/>
                  </a:solidFill>
                </a:endParaRPr>
              </a:p>
            </p:txBody>
          </p:sp>
        </mc:Choice>
        <mc:Fallback xmlns="">
          <p:sp>
            <p:nvSpPr>
              <p:cNvPr id="5" name="Content Placeholder 4">
                <a:extLst>
                  <a:ext uri="{FF2B5EF4-FFF2-40B4-BE49-F238E27FC236}">
                    <a16:creationId xmlns:a16="http://schemas.microsoft.com/office/drawing/2014/main" id="{E30D07AC-6477-48C8-AB77-C3A89A339D51}"/>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en-US">
                    <a:noFill/>
                  </a:rPr>
                  <a:t> </a:t>
                </a:r>
              </a:p>
            </p:txBody>
          </p:sp>
        </mc:Fallback>
      </mc:AlternateContent>
    </p:spTree>
    <p:extLst>
      <p:ext uri="{BB962C8B-B14F-4D97-AF65-F5344CB8AC3E}">
        <p14:creationId xmlns:p14="http://schemas.microsoft.com/office/powerpoint/2010/main" val="76795825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C6245FF-8586-4FD3-AA10-1C3CFDBBC7E7}"/>
              </a:ext>
            </a:extLst>
          </p:cNvPr>
          <p:cNvSpPr>
            <a:spLocks noGrp="1"/>
          </p:cNvSpPr>
          <p:nvPr>
            <p:ph type="title"/>
          </p:nvPr>
        </p:nvSpPr>
        <p:spPr/>
        <p:txBody>
          <a:bodyPr/>
          <a:lstStyle/>
          <a:p>
            <a:r>
              <a:rPr lang="en-US" dirty="0"/>
              <a:t>DATASET</a:t>
            </a:r>
            <a:endParaRPr lang="vi-VN" dirty="0"/>
          </a:p>
        </p:txBody>
      </p:sp>
      <p:sp>
        <p:nvSpPr>
          <p:cNvPr id="6" name="Text Placeholder 5">
            <a:extLst>
              <a:ext uri="{FF2B5EF4-FFF2-40B4-BE49-F238E27FC236}">
                <a16:creationId xmlns:a16="http://schemas.microsoft.com/office/drawing/2014/main" id="{66AB2436-AE32-4F97-9433-3C45DDE9AA5A}"/>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37322042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B7DD22-C6B4-4319-B28A-4C0FF1AB5A9F}"/>
              </a:ext>
            </a:extLst>
          </p:cNvPr>
          <p:cNvSpPr>
            <a:spLocks noGrp="1"/>
          </p:cNvSpPr>
          <p:nvPr>
            <p:ph type="title"/>
          </p:nvPr>
        </p:nvSpPr>
        <p:spPr/>
        <p:txBody>
          <a:bodyPr/>
          <a:lstStyle/>
          <a:p>
            <a:r>
              <a:rPr lang="en-US" dirty="0"/>
              <a:t>Dataset</a:t>
            </a:r>
            <a:endParaRPr lang="vi-VN" dirty="0"/>
          </a:p>
        </p:txBody>
      </p:sp>
      <p:sp>
        <p:nvSpPr>
          <p:cNvPr id="5" name="Content Placeholder 4">
            <a:extLst>
              <a:ext uri="{FF2B5EF4-FFF2-40B4-BE49-F238E27FC236}">
                <a16:creationId xmlns:a16="http://schemas.microsoft.com/office/drawing/2014/main" id="{AE9D9001-EB26-4768-B1A1-F98ECEDB5E7D}"/>
              </a:ext>
            </a:extLst>
          </p:cNvPr>
          <p:cNvSpPr>
            <a:spLocks noGrp="1"/>
          </p:cNvSpPr>
          <p:nvPr>
            <p:ph idx="1"/>
          </p:nvPr>
        </p:nvSpPr>
        <p:spPr/>
        <p:txBody>
          <a:bodyPr/>
          <a:lstStyle/>
          <a:p>
            <a:pPr algn="just"/>
            <a:r>
              <a:rPr lang="en-US" sz="2800">
                <a:solidFill>
                  <a:srgbClr val="0066FF"/>
                </a:solidFill>
              </a:rPr>
              <a:t>Tên tập </a:t>
            </a:r>
            <a:r>
              <a:rPr lang="en-US" sz="2800" dirty="0" err="1">
                <a:solidFill>
                  <a:srgbClr val="0066FF"/>
                </a:solidFill>
              </a:rPr>
              <a:t>dữ</a:t>
            </a:r>
            <a:r>
              <a:rPr lang="en-US" sz="2800" dirty="0">
                <a:solidFill>
                  <a:srgbClr val="0066FF"/>
                </a:solidFill>
              </a:rPr>
              <a:t> </a:t>
            </a:r>
            <a:r>
              <a:rPr lang="en-US" sz="2800" dirty="0" err="1">
                <a:solidFill>
                  <a:srgbClr val="0066FF"/>
                </a:solidFill>
              </a:rPr>
              <a:t>liệu</a:t>
            </a:r>
            <a:r>
              <a:rPr lang="en-US" sz="2800" dirty="0">
                <a:solidFill>
                  <a:srgbClr val="0066FF"/>
                </a:solidFill>
              </a:rPr>
              <a:t>: Position Salaries.</a:t>
            </a:r>
          </a:p>
          <a:p>
            <a:pPr algn="just"/>
            <a:r>
              <a:rPr lang="en-US" sz="2800" dirty="0" err="1">
                <a:solidFill>
                  <a:srgbClr val="FF0000"/>
                </a:solidFill>
              </a:rPr>
              <a:t>Nguồn</a:t>
            </a:r>
            <a:r>
              <a:rPr lang="en-US" sz="2800" dirty="0">
                <a:solidFill>
                  <a:srgbClr val="FF0000"/>
                </a:solidFill>
              </a:rPr>
              <a:t>: </a:t>
            </a:r>
            <a:r>
              <a:rPr lang="en-US" sz="2800" dirty="0">
                <a:hlinkClick r:id="rId2"/>
              </a:rPr>
              <a:t>https://www.superdatascience.com/pages/machine-learning</a:t>
            </a:r>
            <a:r>
              <a:rPr lang="en-US" sz="2800" dirty="0"/>
              <a:t>.</a:t>
            </a:r>
          </a:p>
          <a:p>
            <a:pPr algn="just"/>
            <a:r>
              <a:rPr lang="en-US" sz="2800" dirty="0" err="1">
                <a:solidFill>
                  <a:srgbClr val="0066FF"/>
                </a:solidFill>
              </a:rPr>
              <a:t>Tập</a:t>
            </a:r>
            <a:r>
              <a:rPr lang="en-US" sz="2800" dirty="0">
                <a:solidFill>
                  <a:srgbClr val="0066FF"/>
                </a:solidFill>
              </a:rPr>
              <a:t> </a:t>
            </a:r>
            <a:r>
              <a:rPr lang="en-US" sz="2800" dirty="0" err="1">
                <a:solidFill>
                  <a:srgbClr val="0066FF"/>
                </a:solidFill>
              </a:rPr>
              <a:t>dữ</a:t>
            </a:r>
            <a:r>
              <a:rPr lang="en-US" sz="2800" dirty="0">
                <a:solidFill>
                  <a:srgbClr val="0066FF"/>
                </a:solidFill>
              </a:rPr>
              <a:t> </a:t>
            </a:r>
            <a:r>
              <a:rPr lang="en-US" sz="2800" dirty="0" err="1">
                <a:solidFill>
                  <a:srgbClr val="0066FF"/>
                </a:solidFill>
              </a:rPr>
              <a:t>liệu</a:t>
            </a:r>
            <a:r>
              <a:rPr lang="en-US" sz="2800" dirty="0">
                <a:solidFill>
                  <a:srgbClr val="0066FF"/>
                </a:solidFill>
              </a:rPr>
              <a:t> </a:t>
            </a:r>
            <a:r>
              <a:rPr lang="en-US" sz="2800" dirty="0" err="1">
                <a:solidFill>
                  <a:srgbClr val="0066FF"/>
                </a:solidFill>
              </a:rPr>
              <a:t>gồm</a:t>
            </a:r>
            <a:r>
              <a:rPr lang="en-US" sz="2800" dirty="0">
                <a:solidFill>
                  <a:srgbClr val="0066FF"/>
                </a:solidFill>
              </a:rPr>
              <a:t> 10 </a:t>
            </a:r>
            <a:r>
              <a:rPr lang="en-US" sz="2800" dirty="0" err="1">
                <a:solidFill>
                  <a:srgbClr val="0066FF"/>
                </a:solidFill>
              </a:rPr>
              <a:t>điểm</a:t>
            </a:r>
            <a:r>
              <a:rPr lang="en-US" sz="2800" dirty="0">
                <a:solidFill>
                  <a:srgbClr val="0066FF"/>
                </a:solidFill>
              </a:rPr>
              <a:t> </a:t>
            </a:r>
            <a:r>
              <a:rPr lang="en-US" sz="2800" dirty="0" err="1">
                <a:solidFill>
                  <a:srgbClr val="0066FF"/>
                </a:solidFill>
              </a:rPr>
              <a:t>dữ</a:t>
            </a:r>
            <a:r>
              <a:rPr lang="en-US" sz="2800" dirty="0">
                <a:solidFill>
                  <a:srgbClr val="0066FF"/>
                </a:solidFill>
              </a:rPr>
              <a:t> </a:t>
            </a:r>
            <a:r>
              <a:rPr lang="en-US" sz="2800" dirty="0" err="1">
                <a:solidFill>
                  <a:srgbClr val="0066FF"/>
                </a:solidFill>
              </a:rPr>
              <a:t>liệu</a:t>
            </a:r>
            <a:r>
              <a:rPr lang="en-US" sz="2800" dirty="0">
                <a:solidFill>
                  <a:srgbClr val="0066FF"/>
                </a:solidFill>
              </a:rPr>
              <a:t>, </a:t>
            </a:r>
            <a:r>
              <a:rPr lang="en-US" sz="2800" dirty="0" err="1">
                <a:solidFill>
                  <a:srgbClr val="0066FF"/>
                </a:solidFill>
              </a:rPr>
              <a:t>mỗi</a:t>
            </a:r>
            <a:r>
              <a:rPr lang="en-US" sz="2800" dirty="0">
                <a:solidFill>
                  <a:srgbClr val="0066FF"/>
                </a:solidFill>
              </a:rPr>
              <a:t> </a:t>
            </a:r>
            <a:r>
              <a:rPr lang="en-US" sz="2800" dirty="0" err="1">
                <a:solidFill>
                  <a:srgbClr val="0066FF"/>
                </a:solidFill>
              </a:rPr>
              <a:t>điểm</a:t>
            </a:r>
            <a:r>
              <a:rPr lang="en-US" sz="2800" dirty="0">
                <a:solidFill>
                  <a:srgbClr val="0066FF"/>
                </a:solidFill>
              </a:rPr>
              <a:t> </a:t>
            </a:r>
            <a:r>
              <a:rPr lang="en-US" sz="2800" dirty="0" err="1">
                <a:solidFill>
                  <a:srgbClr val="0066FF"/>
                </a:solidFill>
              </a:rPr>
              <a:t>dữ</a:t>
            </a:r>
            <a:r>
              <a:rPr lang="en-US" sz="2800" dirty="0">
                <a:solidFill>
                  <a:srgbClr val="0066FF"/>
                </a:solidFill>
              </a:rPr>
              <a:t> </a:t>
            </a:r>
            <a:r>
              <a:rPr lang="en-US" sz="2800" dirty="0" err="1">
                <a:solidFill>
                  <a:srgbClr val="0066FF"/>
                </a:solidFill>
              </a:rPr>
              <a:t>liệu</a:t>
            </a:r>
            <a:r>
              <a:rPr lang="en-US" sz="2800" dirty="0">
                <a:solidFill>
                  <a:srgbClr val="0066FF"/>
                </a:solidFill>
              </a:rPr>
              <a:t> </a:t>
            </a:r>
            <a:r>
              <a:rPr lang="en-US" sz="2800" dirty="0" err="1">
                <a:solidFill>
                  <a:srgbClr val="0066FF"/>
                </a:solidFill>
              </a:rPr>
              <a:t>gồm</a:t>
            </a:r>
            <a:r>
              <a:rPr lang="en-US" sz="2800" dirty="0">
                <a:solidFill>
                  <a:srgbClr val="0066FF"/>
                </a:solidFill>
              </a:rPr>
              <a:t> 3 </a:t>
            </a:r>
            <a:r>
              <a:rPr lang="en-US" sz="2800" dirty="0" err="1">
                <a:solidFill>
                  <a:srgbClr val="0066FF"/>
                </a:solidFill>
              </a:rPr>
              <a:t>thuộc</a:t>
            </a:r>
            <a:r>
              <a:rPr lang="en-US" sz="2800" dirty="0">
                <a:solidFill>
                  <a:srgbClr val="0066FF"/>
                </a:solidFill>
              </a:rPr>
              <a:t> </a:t>
            </a:r>
            <a:r>
              <a:rPr lang="en-US" sz="2800" dirty="0" err="1">
                <a:solidFill>
                  <a:srgbClr val="0066FF"/>
                </a:solidFill>
              </a:rPr>
              <a:t>tính</a:t>
            </a:r>
            <a:r>
              <a:rPr lang="en-US" sz="2800" dirty="0">
                <a:solidFill>
                  <a:srgbClr val="0066FF"/>
                </a:solidFill>
              </a:rPr>
              <a:t>, </a:t>
            </a:r>
            <a:r>
              <a:rPr lang="en-US" sz="2800" dirty="0" err="1">
                <a:solidFill>
                  <a:srgbClr val="0066FF"/>
                </a:solidFill>
              </a:rPr>
              <a:t>gồm</a:t>
            </a:r>
            <a:r>
              <a:rPr lang="en-US" sz="2800" dirty="0">
                <a:solidFill>
                  <a:srgbClr val="0066FF"/>
                </a:solidFill>
              </a:rPr>
              <a:t>:</a:t>
            </a:r>
          </a:p>
          <a:p>
            <a:pPr lvl="1" algn="just"/>
            <a:r>
              <a:rPr lang="en-US" sz="2800" dirty="0" err="1">
                <a:solidFill>
                  <a:srgbClr val="FF0000"/>
                </a:solidFill>
              </a:rPr>
              <a:t>Vị</a:t>
            </a:r>
            <a:r>
              <a:rPr lang="en-US" sz="2800" dirty="0">
                <a:solidFill>
                  <a:srgbClr val="FF0000"/>
                </a:solidFill>
              </a:rPr>
              <a:t> </a:t>
            </a:r>
            <a:r>
              <a:rPr lang="en-US" sz="2800" dirty="0" err="1">
                <a:solidFill>
                  <a:srgbClr val="FF0000"/>
                </a:solidFill>
              </a:rPr>
              <a:t>trí</a:t>
            </a:r>
            <a:r>
              <a:rPr lang="en-US" sz="2800" dirty="0">
                <a:solidFill>
                  <a:srgbClr val="FF0000"/>
                </a:solidFill>
              </a:rPr>
              <a:t> </a:t>
            </a:r>
            <a:r>
              <a:rPr lang="en-US" sz="2800" dirty="0" err="1">
                <a:solidFill>
                  <a:srgbClr val="FF0000"/>
                </a:solidFill>
              </a:rPr>
              <a:t>công</a:t>
            </a:r>
            <a:r>
              <a:rPr lang="en-US" sz="2800" dirty="0">
                <a:solidFill>
                  <a:srgbClr val="FF0000"/>
                </a:solidFill>
              </a:rPr>
              <a:t> </a:t>
            </a:r>
            <a:r>
              <a:rPr lang="en-US" sz="2800" dirty="0" err="1">
                <a:solidFill>
                  <a:srgbClr val="FF0000"/>
                </a:solidFill>
              </a:rPr>
              <a:t>việc</a:t>
            </a:r>
            <a:r>
              <a:rPr lang="en-US" sz="2800" dirty="0">
                <a:solidFill>
                  <a:srgbClr val="FF0000"/>
                </a:solidFill>
              </a:rPr>
              <a:t> (Position): </a:t>
            </a:r>
            <a:r>
              <a:rPr lang="en-US" sz="2800" dirty="0" err="1">
                <a:solidFill>
                  <a:srgbClr val="FF0000"/>
                </a:solidFill>
              </a:rPr>
              <a:t>mô</a:t>
            </a:r>
            <a:r>
              <a:rPr lang="en-US" sz="2800" dirty="0">
                <a:solidFill>
                  <a:srgbClr val="FF0000"/>
                </a:solidFill>
              </a:rPr>
              <a:t> </a:t>
            </a:r>
            <a:r>
              <a:rPr lang="en-US" sz="2800" dirty="0" err="1">
                <a:solidFill>
                  <a:srgbClr val="FF0000"/>
                </a:solidFill>
              </a:rPr>
              <a:t>tả</a:t>
            </a:r>
            <a:r>
              <a:rPr lang="en-US" sz="2800" dirty="0">
                <a:solidFill>
                  <a:srgbClr val="FF0000"/>
                </a:solidFill>
              </a:rPr>
              <a:t> </a:t>
            </a:r>
            <a:r>
              <a:rPr lang="en-US" sz="2800" dirty="0" err="1">
                <a:solidFill>
                  <a:srgbClr val="FF0000"/>
                </a:solidFill>
              </a:rPr>
              <a:t>tên</a:t>
            </a:r>
            <a:r>
              <a:rPr lang="en-US" sz="2800" dirty="0">
                <a:solidFill>
                  <a:srgbClr val="FF0000"/>
                </a:solidFill>
              </a:rPr>
              <a:t> </a:t>
            </a:r>
            <a:r>
              <a:rPr lang="en-US" sz="2800" dirty="0" err="1">
                <a:solidFill>
                  <a:srgbClr val="FF0000"/>
                </a:solidFill>
              </a:rPr>
              <a:t>một</a:t>
            </a:r>
            <a:r>
              <a:rPr lang="en-US" sz="2800" dirty="0">
                <a:solidFill>
                  <a:srgbClr val="FF0000"/>
                </a:solidFill>
              </a:rPr>
              <a:t> </a:t>
            </a:r>
            <a:r>
              <a:rPr lang="en-US" sz="2800" dirty="0" err="1">
                <a:solidFill>
                  <a:srgbClr val="FF0000"/>
                </a:solidFill>
              </a:rPr>
              <a:t>công</a:t>
            </a:r>
            <a:r>
              <a:rPr lang="en-US" sz="2800" dirty="0">
                <a:solidFill>
                  <a:srgbClr val="FF0000"/>
                </a:solidFill>
              </a:rPr>
              <a:t> </a:t>
            </a:r>
            <a:r>
              <a:rPr lang="en-US" sz="2800" dirty="0" err="1">
                <a:solidFill>
                  <a:srgbClr val="FF0000"/>
                </a:solidFill>
              </a:rPr>
              <a:t>việc</a:t>
            </a:r>
            <a:r>
              <a:rPr lang="en-US" sz="2800" dirty="0">
                <a:solidFill>
                  <a:srgbClr val="FF0000"/>
                </a:solidFill>
              </a:rPr>
              <a:t>.</a:t>
            </a:r>
          </a:p>
          <a:p>
            <a:pPr lvl="1" algn="just"/>
            <a:r>
              <a:rPr lang="en-US" sz="2800" dirty="0" err="1">
                <a:solidFill>
                  <a:srgbClr val="0066FF"/>
                </a:solidFill>
              </a:rPr>
              <a:t>Cấp</a:t>
            </a:r>
            <a:r>
              <a:rPr lang="en-US" sz="2800" dirty="0">
                <a:solidFill>
                  <a:srgbClr val="0066FF"/>
                </a:solidFill>
              </a:rPr>
              <a:t> </a:t>
            </a:r>
            <a:r>
              <a:rPr lang="en-US" sz="2800" dirty="0" err="1">
                <a:solidFill>
                  <a:srgbClr val="0066FF"/>
                </a:solidFill>
              </a:rPr>
              <a:t>bậc</a:t>
            </a:r>
            <a:r>
              <a:rPr lang="en-US" sz="2800" dirty="0">
                <a:solidFill>
                  <a:srgbClr val="0066FF"/>
                </a:solidFill>
              </a:rPr>
              <a:t> (Level): </a:t>
            </a:r>
            <a:r>
              <a:rPr lang="en-US" sz="2800" dirty="0" err="1">
                <a:solidFill>
                  <a:srgbClr val="0066FF"/>
                </a:solidFill>
              </a:rPr>
              <a:t>là</a:t>
            </a:r>
            <a:r>
              <a:rPr lang="en-US" sz="2800" dirty="0">
                <a:solidFill>
                  <a:srgbClr val="0066FF"/>
                </a:solidFill>
              </a:rPr>
              <a:t> </a:t>
            </a:r>
            <a:r>
              <a:rPr lang="en-US" sz="2800" dirty="0" err="1">
                <a:solidFill>
                  <a:srgbClr val="0066FF"/>
                </a:solidFill>
              </a:rPr>
              <a:t>một</a:t>
            </a:r>
            <a:r>
              <a:rPr lang="en-US" sz="2800" dirty="0">
                <a:solidFill>
                  <a:srgbClr val="0066FF"/>
                </a:solidFill>
              </a:rPr>
              <a:t> </a:t>
            </a:r>
            <a:r>
              <a:rPr lang="en-US" sz="2800" dirty="0" err="1">
                <a:solidFill>
                  <a:srgbClr val="0066FF"/>
                </a:solidFill>
              </a:rPr>
              <a:t>số</a:t>
            </a:r>
            <a:r>
              <a:rPr lang="en-US" sz="2800" dirty="0">
                <a:solidFill>
                  <a:srgbClr val="0066FF"/>
                </a:solidFill>
              </a:rPr>
              <a:t> </a:t>
            </a:r>
            <a:r>
              <a:rPr lang="en-US" sz="2800" dirty="0" err="1">
                <a:solidFill>
                  <a:srgbClr val="0066FF"/>
                </a:solidFill>
              </a:rPr>
              <a:t>nguyên</a:t>
            </a:r>
            <a:r>
              <a:rPr lang="en-US" sz="2800" dirty="0">
                <a:solidFill>
                  <a:srgbClr val="0066FF"/>
                </a:solidFill>
              </a:rPr>
              <a:t> </a:t>
            </a:r>
            <a:r>
              <a:rPr lang="en-US" sz="2800" dirty="0" err="1">
                <a:solidFill>
                  <a:srgbClr val="0066FF"/>
                </a:solidFill>
              </a:rPr>
              <a:t>trong</a:t>
            </a:r>
            <a:r>
              <a:rPr lang="en-US" sz="2800" dirty="0">
                <a:solidFill>
                  <a:srgbClr val="0066FF"/>
                </a:solidFill>
              </a:rPr>
              <a:t> </a:t>
            </a:r>
            <a:r>
              <a:rPr lang="en-US" sz="2800" dirty="0" err="1">
                <a:solidFill>
                  <a:srgbClr val="0066FF"/>
                </a:solidFill>
              </a:rPr>
              <a:t>khoảng</a:t>
            </a:r>
            <a:r>
              <a:rPr lang="en-US" sz="2800" dirty="0">
                <a:solidFill>
                  <a:srgbClr val="0066FF"/>
                </a:solidFill>
              </a:rPr>
              <a:t> 1 – 10, t</a:t>
            </a:r>
            <a:r>
              <a:rPr lang="vi-VN" sz="2800" dirty="0">
                <a:solidFill>
                  <a:srgbClr val="0066FF"/>
                </a:solidFill>
              </a:rPr>
              <a:t>ư</a:t>
            </a:r>
            <a:r>
              <a:rPr lang="en-US" sz="2800" dirty="0" err="1">
                <a:solidFill>
                  <a:srgbClr val="0066FF"/>
                </a:solidFill>
              </a:rPr>
              <a:t>ơng</a:t>
            </a:r>
            <a:r>
              <a:rPr lang="en-US" sz="2800" dirty="0">
                <a:solidFill>
                  <a:srgbClr val="0066FF"/>
                </a:solidFill>
              </a:rPr>
              <a:t> </a:t>
            </a:r>
            <a:r>
              <a:rPr lang="en-US" sz="2800" dirty="0" err="1">
                <a:solidFill>
                  <a:srgbClr val="0066FF"/>
                </a:solidFill>
              </a:rPr>
              <a:t>ứng</a:t>
            </a:r>
            <a:r>
              <a:rPr lang="en-US" sz="2800" dirty="0">
                <a:solidFill>
                  <a:srgbClr val="0066FF"/>
                </a:solidFill>
              </a:rPr>
              <a:t> </a:t>
            </a:r>
            <a:r>
              <a:rPr lang="en-US" sz="2800" dirty="0" err="1">
                <a:solidFill>
                  <a:srgbClr val="0066FF"/>
                </a:solidFill>
              </a:rPr>
              <a:t>với</a:t>
            </a:r>
            <a:r>
              <a:rPr lang="en-US" sz="2800" dirty="0">
                <a:solidFill>
                  <a:srgbClr val="0066FF"/>
                </a:solidFill>
              </a:rPr>
              <a:t> </a:t>
            </a:r>
            <a:r>
              <a:rPr lang="en-US" sz="2800" dirty="0" err="1">
                <a:solidFill>
                  <a:srgbClr val="0066FF"/>
                </a:solidFill>
              </a:rPr>
              <a:t>vị</a:t>
            </a:r>
            <a:r>
              <a:rPr lang="en-US" sz="2800" dirty="0">
                <a:solidFill>
                  <a:srgbClr val="0066FF"/>
                </a:solidFill>
              </a:rPr>
              <a:t> </a:t>
            </a:r>
            <a:r>
              <a:rPr lang="en-US" sz="2800" dirty="0" err="1">
                <a:solidFill>
                  <a:srgbClr val="0066FF"/>
                </a:solidFill>
              </a:rPr>
              <a:t>trí</a:t>
            </a:r>
            <a:r>
              <a:rPr lang="en-US" sz="2800" dirty="0">
                <a:solidFill>
                  <a:srgbClr val="0066FF"/>
                </a:solidFill>
              </a:rPr>
              <a:t> </a:t>
            </a:r>
            <a:r>
              <a:rPr lang="en-US" sz="2800" dirty="0" err="1">
                <a:solidFill>
                  <a:srgbClr val="0066FF"/>
                </a:solidFill>
              </a:rPr>
              <a:t>cao</a:t>
            </a:r>
            <a:r>
              <a:rPr lang="en-US" sz="2800" dirty="0">
                <a:solidFill>
                  <a:srgbClr val="0066FF"/>
                </a:solidFill>
              </a:rPr>
              <a:t> hay </a:t>
            </a:r>
            <a:r>
              <a:rPr lang="en-US" sz="2800" dirty="0" err="1">
                <a:solidFill>
                  <a:srgbClr val="0066FF"/>
                </a:solidFill>
              </a:rPr>
              <a:t>thấp</a:t>
            </a:r>
            <a:r>
              <a:rPr lang="en-US" sz="2800" dirty="0">
                <a:solidFill>
                  <a:srgbClr val="0066FF"/>
                </a:solidFill>
              </a:rPr>
              <a:t> </a:t>
            </a:r>
            <a:r>
              <a:rPr lang="en-US" sz="2800" dirty="0" err="1">
                <a:solidFill>
                  <a:srgbClr val="0066FF"/>
                </a:solidFill>
              </a:rPr>
              <a:t>trong</a:t>
            </a:r>
            <a:r>
              <a:rPr lang="en-US" sz="2800" dirty="0">
                <a:solidFill>
                  <a:srgbClr val="0066FF"/>
                </a:solidFill>
              </a:rPr>
              <a:t> </a:t>
            </a:r>
            <a:r>
              <a:rPr lang="en-US" sz="2800" dirty="0" err="1">
                <a:solidFill>
                  <a:srgbClr val="0066FF"/>
                </a:solidFill>
              </a:rPr>
              <a:t>một</a:t>
            </a:r>
            <a:r>
              <a:rPr lang="en-US" sz="2800" dirty="0">
                <a:solidFill>
                  <a:srgbClr val="0066FF"/>
                </a:solidFill>
              </a:rPr>
              <a:t> </a:t>
            </a:r>
            <a:r>
              <a:rPr lang="en-US" sz="2800" dirty="0" err="1">
                <a:solidFill>
                  <a:srgbClr val="0066FF"/>
                </a:solidFill>
              </a:rPr>
              <a:t>công</a:t>
            </a:r>
            <a:r>
              <a:rPr lang="en-US" sz="2800" dirty="0">
                <a:solidFill>
                  <a:srgbClr val="0066FF"/>
                </a:solidFill>
              </a:rPr>
              <a:t> ty.</a:t>
            </a:r>
          </a:p>
          <a:p>
            <a:pPr lvl="1" algn="just"/>
            <a:r>
              <a:rPr lang="en-US" sz="2800" dirty="0" err="1">
                <a:solidFill>
                  <a:srgbClr val="FF0000"/>
                </a:solidFill>
              </a:rPr>
              <a:t>Mức</a:t>
            </a:r>
            <a:r>
              <a:rPr lang="en-US" sz="2800" dirty="0">
                <a:solidFill>
                  <a:srgbClr val="FF0000"/>
                </a:solidFill>
              </a:rPr>
              <a:t> l</a:t>
            </a:r>
            <a:r>
              <a:rPr lang="vi-VN" sz="2800" dirty="0">
                <a:solidFill>
                  <a:srgbClr val="FF0000"/>
                </a:solidFill>
              </a:rPr>
              <a:t>ư</a:t>
            </a:r>
            <a:r>
              <a:rPr lang="en-US" sz="2800" dirty="0" err="1">
                <a:solidFill>
                  <a:srgbClr val="FF0000"/>
                </a:solidFill>
              </a:rPr>
              <a:t>ơng</a:t>
            </a:r>
            <a:r>
              <a:rPr lang="en-US" sz="2800" dirty="0">
                <a:solidFill>
                  <a:srgbClr val="FF0000"/>
                </a:solidFill>
              </a:rPr>
              <a:t> (Salary): </a:t>
            </a:r>
            <a:r>
              <a:rPr lang="en-US" sz="2800" dirty="0" err="1">
                <a:solidFill>
                  <a:srgbClr val="FF0000"/>
                </a:solidFill>
              </a:rPr>
              <a:t>là</a:t>
            </a:r>
            <a:r>
              <a:rPr lang="en-US" sz="2800" dirty="0">
                <a:solidFill>
                  <a:srgbClr val="FF0000"/>
                </a:solidFill>
              </a:rPr>
              <a:t> </a:t>
            </a:r>
            <a:r>
              <a:rPr lang="en-US" sz="2800" dirty="0" err="1">
                <a:solidFill>
                  <a:srgbClr val="FF0000"/>
                </a:solidFill>
              </a:rPr>
              <a:t>một</a:t>
            </a:r>
            <a:r>
              <a:rPr lang="en-US" sz="2800" dirty="0">
                <a:solidFill>
                  <a:srgbClr val="FF0000"/>
                </a:solidFill>
              </a:rPr>
              <a:t> </a:t>
            </a:r>
            <a:r>
              <a:rPr lang="en-US" sz="2800" dirty="0" err="1">
                <a:solidFill>
                  <a:srgbClr val="FF0000"/>
                </a:solidFill>
              </a:rPr>
              <a:t>số</a:t>
            </a:r>
            <a:r>
              <a:rPr lang="en-US" sz="2800" dirty="0">
                <a:solidFill>
                  <a:srgbClr val="FF0000"/>
                </a:solidFill>
              </a:rPr>
              <a:t> </a:t>
            </a:r>
            <a:r>
              <a:rPr lang="en-US" sz="2800" dirty="0" err="1">
                <a:solidFill>
                  <a:srgbClr val="FF0000"/>
                </a:solidFill>
              </a:rPr>
              <a:t>thực</a:t>
            </a:r>
            <a:r>
              <a:rPr lang="en-US" sz="2800" dirty="0">
                <a:solidFill>
                  <a:srgbClr val="FF0000"/>
                </a:solidFill>
              </a:rPr>
              <a:t> d</a:t>
            </a:r>
            <a:r>
              <a:rPr lang="vi-VN" sz="2800" dirty="0">
                <a:solidFill>
                  <a:srgbClr val="FF0000"/>
                </a:solidFill>
              </a:rPr>
              <a:t>ư</a:t>
            </a:r>
            <a:r>
              <a:rPr lang="en-US" sz="2800" dirty="0" err="1">
                <a:solidFill>
                  <a:srgbClr val="FF0000"/>
                </a:solidFill>
              </a:rPr>
              <a:t>ơng</a:t>
            </a:r>
            <a:r>
              <a:rPr lang="en-US" sz="2800" dirty="0">
                <a:solidFill>
                  <a:srgbClr val="FF0000"/>
                </a:solidFill>
              </a:rPr>
              <a:t>.</a:t>
            </a:r>
            <a:endParaRPr lang="vi-VN" sz="2800" dirty="0">
              <a:solidFill>
                <a:srgbClr val="FF0000"/>
              </a:solidFill>
            </a:endParaRPr>
          </a:p>
        </p:txBody>
      </p:sp>
    </p:spTree>
    <p:extLst>
      <p:ext uri="{BB962C8B-B14F-4D97-AF65-F5344CB8AC3E}">
        <p14:creationId xmlns:p14="http://schemas.microsoft.com/office/powerpoint/2010/main" val="226765051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7C25-55DF-41FD-9FF4-2DC27F23DF48}"/>
              </a:ext>
            </a:extLst>
          </p:cNvPr>
          <p:cNvSpPr>
            <a:spLocks noGrp="1"/>
          </p:cNvSpPr>
          <p:nvPr>
            <p:ph type="title"/>
          </p:nvPr>
        </p:nvSpPr>
        <p:spPr/>
        <p:txBody>
          <a:bodyPr/>
          <a:lstStyle/>
          <a:p>
            <a:r>
              <a:rPr lang="en-US" dirty="0"/>
              <a:t>Dataset</a:t>
            </a:r>
            <a:endParaRPr lang="vi-VN" dirty="0"/>
          </a:p>
        </p:txBody>
      </p:sp>
      <mc:AlternateContent xmlns:mc="http://schemas.openxmlformats.org/markup-compatibility/2006" xmlns:a14="http://schemas.microsoft.com/office/drawing/2010/main">
        <mc:Choice Requires="a14">
          <p:graphicFrame>
            <p:nvGraphicFramePr>
              <p:cNvPr id="7" name="Content Placeholder 3">
                <a:extLst>
                  <a:ext uri="{FF2B5EF4-FFF2-40B4-BE49-F238E27FC236}">
                    <a16:creationId xmlns:a16="http://schemas.microsoft.com/office/drawing/2014/main" id="{2F0BB552-E557-45BF-9952-96B127A4B7D3}"/>
                  </a:ext>
                </a:extLst>
              </p:cNvPr>
              <p:cNvGraphicFramePr>
                <a:graphicFrameLocks/>
              </p:cNvGraphicFramePr>
              <p:nvPr/>
            </p:nvGraphicFramePr>
            <p:xfrm>
              <a:off x="320677" y="1596887"/>
              <a:ext cx="5528310" cy="4343400"/>
            </p:xfrm>
            <a:graphic>
              <a:graphicData uri="http://schemas.openxmlformats.org/drawingml/2006/table">
                <a:tbl>
                  <a:tblPr firstRow="1" bandRow="1">
                    <a:tableStyleId>{21E4AEA4-8DFA-4A89-87EB-49C32662AFE0}</a:tableStyleId>
                  </a:tblPr>
                  <a:tblGrid>
                    <a:gridCol w="3054668">
                      <a:extLst>
                        <a:ext uri="{9D8B030D-6E8A-4147-A177-3AD203B41FA5}">
                          <a16:colId xmlns:a16="http://schemas.microsoft.com/office/drawing/2014/main" val="3920745078"/>
                        </a:ext>
                      </a:extLst>
                    </a:gridCol>
                    <a:gridCol w="1123950">
                      <a:extLst>
                        <a:ext uri="{9D8B030D-6E8A-4147-A177-3AD203B41FA5}">
                          <a16:colId xmlns:a16="http://schemas.microsoft.com/office/drawing/2014/main" val="94436033"/>
                        </a:ext>
                      </a:extLst>
                    </a:gridCol>
                    <a:gridCol w="1349692">
                      <a:extLst>
                        <a:ext uri="{9D8B030D-6E8A-4147-A177-3AD203B41FA5}">
                          <a16:colId xmlns:a16="http://schemas.microsoft.com/office/drawing/2014/main" val="4165097083"/>
                        </a:ext>
                      </a:extLst>
                    </a:gridCol>
                  </a:tblGrid>
                  <a:tr h="723900">
                    <a:tc>
                      <a:txBody>
                        <a:bodyPr/>
                        <a:lstStyle/>
                        <a:p>
                          <a:pPr algn="ctr"/>
                          <a:r>
                            <a:rPr lang="en-US" sz="2800" dirty="0"/>
                            <a:t>Position</a:t>
                          </a:r>
                          <a:endParaRPr lang="vi-VN" sz="2800" dirty="0"/>
                        </a:p>
                      </a:txBody>
                      <a:tcPr anchor="ctr"/>
                    </a:tc>
                    <a:tc>
                      <a:txBody>
                        <a:bodyPr/>
                        <a:lstStyle/>
                        <a:p>
                          <a:pPr algn="ctr"/>
                          <a:r>
                            <a:rPr lang="en-US" sz="2800" dirty="0"/>
                            <a:t>Level</a:t>
                          </a:r>
                          <a:endParaRPr lang="vi-VN" sz="2800" dirty="0"/>
                        </a:p>
                      </a:txBody>
                      <a:tcPr anchor="ctr"/>
                    </a:tc>
                    <a:tc>
                      <a:txBody>
                        <a:bodyPr/>
                        <a:lstStyle/>
                        <a:p>
                          <a:pPr algn="ctr"/>
                          <a:r>
                            <a:rPr lang="en-US" sz="2800" dirty="0"/>
                            <a:t>Salary</a:t>
                          </a:r>
                          <a:endParaRPr lang="vi-VN" sz="2800" dirty="0"/>
                        </a:p>
                      </a:txBody>
                      <a:tcPr anchor="ctr"/>
                    </a:tc>
                    <a:extLst>
                      <a:ext uri="{0D108BD9-81ED-4DB2-BD59-A6C34878D82A}">
                        <a16:rowId xmlns:a16="http://schemas.microsoft.com/office/drawing/2014/main" val="3993696377"/>
                      </a:ext>
                    </a:extLst>
                  </a:tr>
                  <a:tr h="723900">
                    <a:tc>
                      <a:txBody>
                        <a:bodyPr/>
                        <a:lstStyle/>
                        <a:p>
                          <a:pPr algn="l"/>
                          <a:r>
                            <a:rPr lang="vi-VN" sz="2800" dirty="0" err="1"/>
                            <a:t>Business</a:t>
                          </a:r>
                          <a:r>
                            <a:rPr lang="vi-VN" sz="2800" dirty="0"/>
                            <a:t> </a:t>
                          </a:r>
                          <a:r>
                            <a:rPr lang="vi-VN" sz="2800" dirty="0" err="1"/>
                            <a:t>Analyst</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45</m:t>
                                </m:r>
                                <m:r>
                                  <a:rPr lang="vi-VN" sz="2800" b="0" i="1" dirty="0" smtClean="0">
                                    <a:latin typeface="Cambria Math" panose="02040503050406030204" pitchFamily="18" charset="0"/>
                                  </a:rPr>
                                  <m:t>,</m:t>
                                </m:r>
                                <m:r>
                                  <a:rPr lang="vi-VN"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1649618532"/>
                      </a:ext>
                    </a:extLst>
                  </a:tr>
                  <a:tr h="723900">
                    <a:tc>
                      <a:txBody>
                        <a:bodyPr/>
                        <a:lstStyle/>
                        <a:p>
                          <a:pPr algn="l"/>
                          <a:r>
                            <a:rPr lang="vi-VN" sz="2800" dirty="0" err="1"/>
                            <a:t>Junior</a:t>
                          </a:r>
                          <a:r>
                            <a:rPr lang="vi-VN" sz="2800" dirty="0"/>
                            <a:t> </a:t>
                          </a:r>
                          <a:r>
                            <a:rPr lang="vi-VN" sz="2800" dirty="0" err="1"/>
                            <a:t>Consultant</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50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547627527"/>
                      </a:ext>
                    </a:extLst>
                  </a:tr>
                  <a:tr h="723900">
                    <a:tc>
                      <a:txBody>
                        <a:bodyPr/>
                        <a:lstStyle/>
                        <a:p>
                          <a:pPr algn="l"/>
                          <a:r>
                            <a:rPr lang="vi-VN" sz="2800" dirty="0" err="1"/>
                            <a:t>Senior</a:t>
                          </a:r>
                          <a:r>
                            <a:rPr lang="vi-VN" sz="2800" dirty="0"/>
                            <a:t> </a:t>
                          </a:r>
                          <a:r>
                            <a:rPr lang="vi-VN" sz="2800" dirty="0" err="1"/>
                            <a:t>Consultant</a:t>
                          </a:r>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3</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60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extLst>
                      <a:ext uri="{0D108BD9-81ED-4DB2-BD59-A6C34878D82A}">
                        <a16:rowId xmlns:a16="http://schemas.microsoft.com/office/drawing/2014/main" val="4172467125"/>
                      </a:ext>
                    </a:extLst>
                  </a:tr>
                  <a:tr h="723900">
                    <a:tc>
                      <a:txBody>
                        <a:bodyPr/>
                        <a:lstStyle/>
                        <a:p>
                          <a:pPr algn="l"/>
                          <a:r>
                            <a:rPr lang="vi-VN" sz="2800" dirty="0" err="1"/>
                            <a:t>Manager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80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1572396851"/>
                      </a:ext>
                    </a:extLst>
                  </a:tr>
                  <a:tr h="723900">
                    <a:tc>
                      <a:txBody>
                        <a:bodyPr/>
                        <a:lstStyle/>
                        <a:p>
                          <a:pPr algn="l"/>
                          <a:r>
                            <a:rPr lang="vi-VN" sz="2800" dirty="0" err="1"/>
                            <a:t>Country</a:t>
                          </a:r>
                          <a:r>
                            <a:rPr lang="vi-VN" sz="2800" dirty="0"/>
                            <a:t> </a:t>
                          </a:r>
                          <a:r>
                            <a:rPr lang="vi-VN" sz="2800" dirty="0" err="1"/>
                            <a:t>Manager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110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2963561270"/>
                      </a:ext>
                    </a:extLst>
                  </a:tr>
                </a:tbl>
              </a:graphicData>
            </a:graphic>
          </p:graphicFrame>
        </mc:Choice>
        <mc:Fallback xmlns="">
          <p:graphicFrame>
            <p:nvGraphicFramePr>
              <p:cNvPr id="7" name="Content Placeholder 3">
                <a:extLst>
                  <a:ext uri="{FF2B5EF4-FFF2-40B4-BE49-F238E27FC236}">
                    <a16:creationId xmlns:a16="http://schemas.microsoft.com/office/drawing/2014/main" id="{2F0BB552-E557-45BF-9952-96B127A4B7D3}"/>
                  </a:ext>
                </a:extLst>
              </p:cNvPr>
              <p:cNvGraphicFramePr>
                <a:graphicFrameLocks/>
              </p:cNvGraphicFramePr>
              <p:nvPr/>
            </p:nvGraphicFramePr>
            <p:xfrm>
              <a:off x="320677" y="1596887"/>
              <a:ext cx="5528310" cy="4343400"/>
            </p:xfrm>
            <a:graphic>
              <a:graphicData uri="http://schemas.openxmlformats.org/drawingml/2006/table">
                <a:tbl>
                  <a:tblPr firstRow="1" bandRow="1">
                    <a:tableStyleId>{21E4AEA4-8DFA-4A89-87EB-49C32662AFE0}</a:tableStyleId>
                  </a:tblPr>
                  <a:tblGrid>
                    <a:gridCol w="3054668">
                      <a:extLst>
                        <a:ext uri="{9D8B030D-6E8A-4147-A177-3AD203B41FA5}">
                          <a16:colId xmlns:a16="http://schemas.microsoft.com/office/drawing/2014/main" val="3920745078"/>
                        </a:ext>
                      </a:extLst>
                    </a:gridCol>
                    <a:gridCol w="1123950">
                      <a:extLst>
                        <a:ext uri="{9D8B030D-6E8A-4147-A177-3AD203B41FA5}">
                          <a16:colId xmlns:a16="http://schemas.microsoft.com/office/drawing/2014/main" val="94436033"/>
                        </a:ext>
                      </a:extLst>
                    </a:gridCol>
                    <a:gridCol w="1349692">
                      <a:extLst>
                        <a:ext uri="{9D8B030D-6E8A-4147-A177-3AD203B41FA5}">
                          <a16:colId xmlns:a16="http://schemas.microsoft.com/office/drawing/2014/main" val="4165097083"/>
                        </a:ext>
                      </a:extLst>
                    </a:gridCol>
                  </a:tblGrid>
                  <a:tr h="723900">
                    <a:tc>
                      <a:txBody>
                        <a:bodyPr/>
                        <a:lstStyle/>
                        <a:p>
                          <a:pPr algn="ctr"/>
                          <a:r>
                            <a:rPr lang="en-US" sz="2800" dirty="0"/>
                            <a:t>Position</a:t>
                          </a:r>
                          <a:endParaRPr lang="vi-VN" sz="2800" dirty="0"/>
                        </a:p>
                      </a:txBody>
                      <a:tcPr anchor="ctr"/>
                    </a:tc>
                    <a:tc>
                      <a:txBody>
                        <a:bodyPr/>
                        <a:lstStyle/>
                        <a:p>
                          <a:pPr algn="ctr"/>
                          <a:r>
                            <a:rPr lang="en-US" sz="2800" dirty="0"/>
                            <a:t>Level</a:t>
                          </a:r>
                          <a:endParaRPr lang="vi-VN" sz="2800" dirty="0"/>
                        </a:p>
                      </a:txBody>
                      <a:tcPr anchor="ctr"/>
                    </a:tc>
                    <a:tc>
                      <a:txBody>
                        <a:bodyPr/>
                        <a:lstStyle/>
                        <a:p>
                          <a:pPr algn="ctr"/>
                          <a:r>
                            <a:rPr lang="en-US" sz="2800" dirty="0"/>
                            <a:t>Salary</a:t>
                          </a:r>
                          <a:endParaRPr lang="vi-VN" sz="2800" dirty="0"/>
                        </a:p>
                      </a:txBody>
                      <a:tcPr anchor="ctr"/>
                    </a:tc>
                    <a:extLst>
                      <a:ext uri="{0D108BD9-81ED-4DB2-BD59-A6C34878D82A}">
                        <a16:rowId xmlns:a16="http://schemas.microsoft.com/office/drawing/2014/main" val="3993696377"/>
                      </a:ext>
                    </a:extLst>
                  </a:tr>
                  <a:tr h="723900">
                    <a:tc>
                      <a:txBody>
                        <a:bodyPr/>
                        <a:lstStyle/>
                        <a:p>
                          <a:pPr algn="l"/>
                          <a:r>
                            <a:rPr lang="vi-VN" sz="2800" dirty="0" err="1"/>
                            <a:t>Business</a:t>
                          </a:r>
                          <a:r>
                            <a:rPr lang="vi-VN" sz="2800" dirty="0"/>
                            <a:t> </a:t>
                          </a:r>
                          <a:r>
                            <a:rPr lang="vi-VN" sz="2800" dirty="0" err="1"/>
                            <a:t>Analyst</a:t>
                          </a:r>
                          <a:endParaRPr lang="vi-VN" sz="2800" dirty="0"/>
                        </a:p>
                      </a:txBody>
                      <a:tcPr anchor="ctr"/>
                    </a:tc>
                    <a:tc>
                      <a:txBody>
                        <a:bodyPr/>
                        <a:lstStyle/>
                        <a:p>
                          <a:endParaRPr lang="en-US"/>
                        </a:p>
                      </a:txBody>
                      <a:tcPr anchor="ctr">
                        <a:blipFill>
                          <a:blip r:embed="rId2"/>
                          <a:stretch>
                            <a:fillRect l="-273370" t="-100840" r="-122826" b="-409244"/>
                          </a:stretch>
                        </a:blipFill>
                      </a:tcPr>
                    </a:tc>
                    <a:tc>
                      <a:txBody>
                        <a:bodyPr/>
                        <a:lstStyle/>
                        <a:p>
                          <a:endParaRPr lang="en-US"/>
                        </a:p>
                      </a:txBody>
                      <a:tcPr anchor="ctr">
                        <a:blipFill>
                          <a:blip r:embed="rId2"/>
                          <a:stretch>
                            <a:fillRect l="-309459" t="-100840" r="-1802" b="-409244"/>
                          </a:stretch>
                        </a:blipFill>
                      </a:tcPr>
                    </a:tc>
                    <a:extLst>
                      <a:ext uri="{0D108BD9-81ED-4DB2-BD59-A6C34878D82A}">
                        <a16:rowId xmlns:a16="http://schemas.microsoft.com/office/drawing/2014/main" val="1649618532"/>
                      </a:ext>
                    </a:extLst>
                  </a:tr>
                  <a:tr h="723900">
                    <a:tc>
                      <a:txBody>
                        <a:bodyPr/>
                        <a:lstStyle/>
                        <a:p>
                          <a:pPr algn="l"/>
                          <a:r>
                            <a:rPr lang="vi-VN" sz="2800" dirty="0" err="1"/>
                            <a:t>Junior</a:t>
                          </a:r>
                          <a:r>
                            <a:rPr lang="vi-VN" sz="2800" dirty="0"/>
                            <a:t> </a:t>
                          </a:r>
                          <a:r>
                            <a:rPr lang="vi-VN" sz="2800" dirty="0" err="1"/>
                            <a:t>Consultant</a:t>
                          </a:r>
                          <a:endParaRPr lang="vi-VN" sz="2800" dirty="0"/>
                        </a:p>
                      </a:txBody>
                      <a:tcPr anchor="ctr"/>
                    </a:tc>
                    <a:tc>
                      <a:txBody>
                        <a:bodyPr/>
                        <a:lstStyle/>
                        <a:p>
                          <a:endParaRPr lang="en-US"/>
                        </a:p>
                      </a:txBody>
                      <a:tcPr anchor="ctr">
                        <a:blipFill>
                          <a:blip r:embed="rId2"/>
                          <a:stretch>
                            <a:fillRect l="-273370" t="-200840" r="-122826" b="-309244"/>
                          </a:stretch>
                        </a:blipFill>
                      </a:tcPr>
                    </a:tc>
                    <a:tc>
                      <a:txBody>
                        <a:bodyPr/>
                        <a:lstStyle/>
                        <a:p>
                          <a:endParaRPr lang="en-US"/>
                        </a:p>
                      </a:txBody>
                      <a:tcPr anchor="ctr">
                        <a:blipFill>
                          <a:blip r:embed="rId2"/>
                          <a:stretch>
                            <a:fillRect l="-309459" t="-200840" r="-1802" b="-309244"/>
                          </a:stretch>
                        </a:blipFill>
                      </a:tcPr>
                    </a:tc>
                    <a:extLst>
                      <a:ext uri="{0D108BD9-81ED-4DB2-BD59-A6C34878D82A}">
                        <a16:rowId xmlns:a16="http://schemas.microsoft.com/office/drawing/2014/main" val="547627527"/>
                      </a:ext>
                    </a:extLst>
                  </a:tr>
                  <a:tr h="723900">
                    <a:tc>
                      <a:txBody>
                        <a:bodyPr/>
                        <a:lstStyle/>
                        <a:p>
                          <a:pPr algn="l"/>
                          <a:r>
                            <a:rPr lang="vi-VN" sz="2800" dirty="0" err="1"/>
                            <a:t>Senior</a:t>
                          </a:r>
                          <a:r>
                            <a:rPr lang="vi-VN" sz="2800" dirty="0"/>
                            <a:t> </a:t>
                          </a:r>
                          <a:r>
                            <a:rPr lang="vi-VN" sz="2800" dirty="0" err="1"/>
                            <a:t>Consultant</a:t>
                          </a:r>
                          <a:endParaRPr lang="vi-VN" sz="2800" dirty="0"/>
                        </a:p>
                      </a:txBody>
                      <a:tcPr anchor="ctr">
                        <a:solidFill>
                          <a:srgbClr val="FFC000"/>
                        </a:solidFill>
                      </a:tcPr>
                    </a:tc>
                    <a:tc>
                      <a:txBody>
                        <a:bodyPr/>
                        <a:lstStyle/>
                        <a:p>
                          <a:endParaRPr lang="en-US"/>
                        </a:p>
                      </a:txBody>
                      <a:tcPr anchor="ctr">
                        <a:blipFill>
                          <a:blip r:embed="rId2"/>
                          <a:stretch>
                            <a:fillRect l="-273370" t="-300840" r="-122826" b="-209244"/>
                          </a:stretch>
                        </a:blipFill>
                      </a:tcPr>
                    </a:tc>
                    <a:tc>
                      <a:txBody>
                        <a:bodyPr/>
                        <a:lstStyle/>
                        <a:p>
                          <a:endParaRPr lang="en-US"/>
                        </a:p>
                      </a:txBody>
                      <a:tcPr anchor="ctr">
                        <a:blipFill>
                          <a:blip r:embed="rId2"/>
                          <a:stretch>
                            <a:fillRect l="-309459" t="-300840" r="-1802" b="-209244"/>
                          </a:stretch>
                        </a:blipFill>
                      </a:tcPr>
                    </a:tc>
                    <a:extLst>
                      <a:ext uri="{0D108BD9-81ED-4DB2-BD59-A6C34878D82A}">
                        <a16:rowId xmlns:a16="http://schemas.microsoft.com/office/drawing/2014/main" val="4172467125"/>
                      </a:ext>
                    </a:extLst>
                  </a:tr>
                  <a:tr h="723900">
                    <a:tc>
                      <a:txBody>
                        <a:bodyPr/>
                        <a:lstStyle/>
                        <a:p>
                          <a:pPr algn="l"/>
                          <a:r>
                            <a:rPr lang="vi-VN" sz="2800" dirty="0" err="1"/>
                            <a:t>Manager</a:t>
                          </a:r>
                          <a:endParaRPr lang="vi-VN" sz="2800" dirty="0"/>
                        </a:p>
                      </a:txBody>
                      <a:tcPr anchor="ctr"/>
                    </a:tc>
                    <a:tc>
                      <a:txBody>
                        <a:bodyPr/>
                        <a:lstStyle/>
                        <a:p>
                          <a:endParaRPr lang="en-US"/>
                        </a:p>
                      </a:txBody>
                      <a:tcPr anchor="ctr">
                        <a:blipFill>
                          <a:blip r:embed="rId2"/>
                          <a:stretch>
                            <a:fillRect l="-273370" t="-400840" r="-122826" b="-109244"/>
                          </a:stretch>
                        </a:blipFill>
                      </a:tcPr>
                    </a:tc>
                    <a:tc>
                      <a:txBody>
                        <a:bodyPr/>
                        <a:lstStyle/>
                        <a:p>
                          <a:endParaRPr lang="en-US"/>
                        </a:p>
                      </a:txBody>
                      <a:tcPr anchor="ctr">
                        <a:blipFill>
                          <a:blip r:embed="rId2"/>
                          <a:stretch>
                            <a:fillRect l="-309459" t="-400840" r="-1802" b="-109244"/>
                          </a:stretch>
                        </a:blipFill>
                      </a:tcPr>
                    </a:tc>
                    <a:extLst>
                      <a:ext uri="{0D108BD9-81ED-4DB2-BD59-A6C34878D82A}">
                        <a16:rowId xmlns:a16="http://schemas.microsoft.com/office/drawing/2014/main" val="1572396851"/>
                      </a:ext>
                    </a:extLst>
                  </a:tr>
                  <a:tr h="723900">
                    <a:tc>
                      <a:txBody>
                        <a:bodyPr/>
                        <a:lstStyle/>
                        <a:p>
                          <a:pPr algn="l"/>
                          <a:r>
                            <a:rPr lang="vi-VN" sz="2800" dirty="0" err="1"/>
                            <a:t>Country</a:t>
                          </a:r>
                          <a:r>
                            <a:rPr lang="vi-VN" sz="2800" dirty="0"/>
                            <a:t> </a:t>
                          </a:r>
                          <a:r>
                            <a:rPr lang="vi-VN" sz="2800" dirty="0" err="1"/>
                            <a:t>Manager</a:t>
                          </a:r>
                          <a:endParaRPr lang="vi-VN" sz="2800" dirty="0"/>
                        </a:p>
                      </a:txBody>
                      <a:tcPr anchor="ctr"/>
                    </a:tc>
                    <a:tc>
                      <a:txBody>
                        <a:bodyPr/>
                        <a:lstStyle/>
                        <a:p>
                          <a:endParaRPr lang="en-US"/>
                        </a:p>
                      </a:txBody>
                      <a:tcPr anchor="ctr">
                        <a:blipFill>
                          <a:blip r:embed="rId2"/>
                          <a:stretch>
                            <a:fillRect l="-273370" t="-500840" r="-122826" b="-9244"/>
                          </a:stretch>
                        </a:blipFill>
                      </a:tcPr>
                    </a:tc>
                    <a:tc>
                      <a:txBody>
                        <a:bodyPr/>
                        <a:lstStyle/>
                        <a:p>
                          <a:endParaRPr lang="en-US"/>
                        </a:p>
                      </a:txBody>
                      <a:tcPr anchor="ctr">
                        <a:blipFill>
                          <a:blip r:embed="rId2"/>
                          <a:stretch>
                            <a:fillRect l="-309459" t="-500840" r="-1802" b="-9244"/>
                          </a:stretch>
                        </a:blipFill>
                      </a:tcPr>
                    </a:tc>
                    <a:extLst>
                      <a:ext uri="{0D108BD9-81ED-4DB2-BD59-A6C34878D82A}">
                        <a16:rowId xmlns:a16="http://schemas.microsoft.com/office/drawing/2014/main" val="296356127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Content Placeholder 3">
                <a:extLst>
                  <a:ext uri="{FF2B5EF4-FFF2-40B4-BE49-F238E27FC236}">
                    <a16:creationId xmlns:a16="http://schemas.microsoft.com/office/drawing/2014/main" id="{76BB3A3E-4B74-473E-A2D6-7732B109B350}"/>
                  </a:ext>
                </a:extLst>
              </p:cNvPr>
              <p:cNvGraphicFramePr>
                <a:graphicFrameLocks/>
              </p:cNvGraphicFramePr>
              <p:nvPr/>
            </p:nvGraphicFramePr>
            <p:xfrm>
              <a:off x="6343014" y="1596887"/>
              <a:ext cx="5848986" cy="4343400"/>
            </p:xfrm>
            <a:graphic>
              <a:graphicData uri="http://schemas.openxmlformats.org/drawingml/2006/table">
                <a:tbl>
                  <a:tblPr firstRow="1" bandRow="1">
                    <a:tableStyleId>{21E4AEA4-8DFA-4A89-87EB-49C32662AFE0}</a:tableStyleId>
                  </a:tblPr>
                  <a:tblGrid>
                    <a:gridCol w="3054668">
                      <a:extLst>
                        <a:ext uri="{9D8B030D-6E8A-4147-A177-3AD203B41FA5}">
                          <a16:colId xmlns:a16="http://schemas.microsoft.com/office/drawing/2014/main" val="3920745078"/>
                        </a:ext>
                      </a:extLst>
                    </a:gridCol>
                    <a:gridCol w="1123950">
                      <a:extLst>
                        <a:ext uri="{9D8B030D-6E8A-4147-A177-3AD203B41FA5}">
                          <a16:colId xmlns:a16="http://schemas.microsoft.com/office/drawing/2014/main" val="94436033"/>
                        </a:ext>
                      </a:extLst>
                    </a:gridCol>
                    <a:gridCol w="1670368">
                      <a:extLst>
                        <a:ext uri="{9D8B030D-6E8A-4147-A177-3AD203B41FA5}">
                          <a16:colId xmlns:a16="http://schemas.microsoft.com/office/drawing/2014/main" val="4165097083"/>
                        </a:ext>
                      </a:extLst>
                    </a:gridCol>
                  </a:tblGrid>
                  <a:tr h="723900">
                    <a:tc>
                      <a:txBody>
                        <a:bodyPr/>
                        <a:lstStyle/>
                        <a:p>
                          <a:pPr algn="ctr"/>
                          <a:r>
                            <a:rPr lang="en-US" sz="2800" dirty="0"/>
                            <a:t>Position</a:t>
                          </a:r>
                          <a:endParaRPr lang="vi-VN" sz="2800" dirty="0"/>
                        </a:p>
                      </a:txBody>
                      <a:tcPr anchor="ctr"/>
                    </a:tc>
                    <a:tc>
                      <a:txBody>
                        <a:bodyPr/>
                        <a:lstStyle/>
                        <a:p>
                          <a:pPr algn="ctr"/>
                          <a:r>
                            <a:rPr lang="en-US" sz="2800"/>
                            <a:t>Level</a:t>
                          </a:r>
                          <a:endParaRPr lang="vi-VN" sz="2800" dirty="0"/>
                        </a:p>
                      </a:txBody>
                      <a:tcPr anchor="ctr"/>
                    </a:tc>
                    <a:tc>
                      <a:txBody>
                        <a:bodyPr/>
                        <a:lstStyle/>
                        <a:p>
                          <a:pPr algn="ctr"/>
                          <a:r>
                            <a:rPr lang="en-US" sz="2800"/>
                            <a:t>Salary</a:t>
                          </a:r>
                          <a:endParaRPr lang="vi-VN" sz="2800" dirty="0"/>
                        </a:p>
                      </a:txBody>
                      <a:tcPr anchor="ctr"/>
                    </a:tc>
                    <a:extLst>
                      <a:ext uri="{0D108BD9-81ED-4DB2-BD59-A6C34878D82A}">
                        <a16:rowId xmlns:a16="http://schemas.microsoft.com/office/drawing/2014/main" val="3993696377"/>
                      </a:ext>
                    </a:extLst>
                  </a:tr>
                  <a:tr h="723900">
                    <a:tc>
                      <a:txBody>
                        <a:bodyPr/>
                        <a:lstStyle/>
                        <a:p>
                          <a:pPr algn="l"/>
                          <a:r>
                            <a:rPr lang="vi-VN" sz="2800" dirty="0" err="1"/>
                            <a:t>Region</a:t>
                          </a:r>
                          <a:r>
                            <a:rPr lang="vi-VN" sz="2800" dirty="0"/>
                            <a:t> </a:t>
                          </a:r>
                          <a:r>
                            <a:rPr lang="vi-VN" sz="2800" dirty="0" err="1"/>
                            <a:t>Manager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6</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150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1649618532"/>
                      </a:ext>
                    </a:extLst>
                  </a:tr>
                  <a:tr h="723900">
                    <a:tc>
                      <a:txBody>
                        <a:bodyPr/>
                        <a:lstStyle/>
                        <a:p>
                          <a:pPr algn="l"/>
                          <a:r>
                            <a:rPr lang="vi-VN" sz="2800" dirty="0" err="1"/>
                            <a:t>Partner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7</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200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547627527"/>
                      </a:ext>
                    </a:extLst>
                  </a:tr>
                  <a:tr h="723900">
                    <a:tc>
                      <a:txBody>
                        <a:bodyPr/>
                        <a:lstStyle/>
                        <a:p>
                          <a:pPr algn="l"/>
                          <a:r>
                            <a:rPr lang="vi-VN" sz="2800" dirty="0" err="1"/>
                            <a:t>Senior</a:t>
                          </a:r>
                          <a:r>
                            <a:rPr lang="vi-VN" sz="2800" dirty="0"/>
                            <a:t> </a:t>
                          </a:r>
                          <a:r>
                            <a:rPr lang="vi-VN" sz="2800" dirty="0" err="1"/>
                            <a:t>Partner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8</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300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4172467125"/>
                      </a:ext>
                    </a:extLst>
                  </a:tr>
                  <a:tr h="723900">
                    <a:tc>
                      <a:txBody>
                        <a:bodyPr/>
                        <a:lstStyle/>
                        <a:p>
                          <a:pPr algn="l"/>
                          <a:r>
                            <a:rPr lang="vi-VN" sz="2800" dirty="0"/>
                            <a:t>C-</a:t>
                          </a:r>
                          <a:r>
                            <a:rPr lang="vi-VN" sz="2800" dirty="0" err="1"/>
                            <a:t>level</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9</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500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1572396851"/>
                      </a:ext>
                    </a:extLst>
                  </a:tr>
                  <a:tr h="723900">
                    <a:tc>
                      <a:txBody>
                        <a:bodyPr/>
                        <a:lstStyle/>
                        <a:p>
                          <a:pPr algn="l"/>
                          <a:r>
                            <a:rPr lang="vi-VN" sz="2800" dirty="0"/>
                            <a:t>CEO</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10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1</m:t>
                                </m:r>
                                <m:r>
                                  <a:rPr lang="en-US" sz="2800" b="0" i="1" dirty="0" smtClean="0">
                                    <a:latin typeface="Cambria Math" panose="02040503050406030204" pitchFamily="18" charset="0"/>
                                  </a:rPr>
                                  <m:t>,</m:t>
                                </m:r>
                                <m:r>
                                  <a:rPr lang="en-US" sz="2800" i="1" dirty="0" smtClean="0">
                                    <a:latin typeface="Cambria Math" panose="02040503050406030204" pitchFamily="18" charset="0"/>
                                  </a:rPr>
                                  <m:t>000</m:t>
                                </m:r>
                                <m:r>
                                  <a:rPr lang="en-US"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tc>
                    <a:extLst>
                      <a:ext uri="{0D108BD9-81ED-4DB2-BD59-A6C34878D82A}">
                        <a16:rowId xmlns:a16="http://schemas.microsoft.com/office/drawing/2014/main" val="2963561270"/>
                      </a:ext>
                    </a:extLst>
                  </a:tr>
                </a:tbl>
              </a:graphicData>
            </a:graphic>
          </p:graphicFrame>
        </mc:Choice>
        <mc:Fallback xmlns="">
          <p:graphicFrame>
            <p:nvGraphicFramePr>
              <p:cNvPr id="8" name="Content Placeholder 3">
                <a:extLst>
                  <a:ext uri="{FF2B5EF4-FFF2-40B4-BE49-F238E27FC236}">
                    <a16:creationId xmlns:a16="http://schemas.microsoft.com/office/drawing/2014/main" id="{76BB3A3E-4B74-473E-A2D6-7732B109B350}"/>
                  </a:ext>
                </a:extLst>
              </p:cNvPr>
              <p:cNvGraphicFramePr>
                <a:graphicFrameLocks/>
              </p:cNvGraphicFramePr>
              <p:nvPr/>
            </p:nvGraphicFramePr>
            <p:xfrm>
              <a:off x="6343014" y="1596887"/>
              <a:ext cx="5848986" cy="4343400"/>
            </p:xfrm>
            <a:graphic>
              <a:graphicData uri="http://schemas.openxmlformats.org/drawingml/2006/table">
                <a:tbl>
                  <a:tblPr firstRow="1" bandRow="1">
                    <a:tableStyleId>{21E4AEA4-8DFA-4A89-87EB-49C32662AFE0}</a:tableStyleId>
                  </a:tblPr>
                  <a:tblGrid>
                    <a:gridCol w="3054668">
                      <a:extLst>
                        <a:ext uri="{9D8B030D-6E8A-4147-A177-3AD203B41FA5}">
                          <a16:colId xmlns:a16="http://schemas.microsoft.com/office/drawing/2014/main" val="3920745078"/>
                        </a:ext>
                      </a:extLst>
                    </a:gridCol>
                    <a:gridCol w="1123950">
                      <a:extLst>
                        <a:ext uri="{9D8B030D-6E8A-4147-A177-3AD203B41FA5}">
                          <a16:colId xmlns:a16="http://schemas.microsoft.com/office/drawing/2014/main" val="94436033"/>
                        </a:ext>
                      </a:extLst>
                    </a:gridCol>
                    <a:gridCol w="1670368">
                      <a:extLst>
                        <a:ext uri="{9D8B030D-6E8A-4147-A177-3AD203B41FA5}">
                          <a16:colId xmlns:a16="http://schemas.microsoft.com/office/drawing/2014/main" val="4165097083"/>
                        </a:ext>
                      </a:extLst>
                    </a:gridCol>
                  </a:tblGrid>
                  <a:tr h="723900">
                    <a:tc>
                      <a:txBody>
                        <a:bodyPr/>
                        <a:lstStyle/>
                        <a:p>
                          <a:pPr algn="ctr"/>
                          <a:r>
                            <a:rPr lang="en-US" sz="2800" dirty="0"/>
                            <a:t>Position</a:t>
                          </a:r>
                          <a:endParaRPr lang="vi-VN" sz="2800" dirty="0"/>
                        </a:p>
                      </a:txBody>
                      <a:tcPr anchor="ctr"/>
                    </a:tc>
                    <a:tc>
                      <a:txBody>
                        <a:bodyPr/>
                        <a:lstStyle/>
                        <a:p>
                          <a:pPr algn="ctr"/>
                          <a:r>
                            <a:rPr lang="en-US" sz="2800"/>
                            <a:t>Level</a:t>
                          </a:r>
                          <a:endParaRPr lang="vi-VN" sz="2800" dirty="0"/>
                        </a:p>
                      </a:txBody>
                      <a:tcPr anchor="ctr"/>
                    </a:tc>
                    <a:tc>
                      <a:txBody>
                        <a:bodyPr/>
                        <a:lstStyle/>
                        <a:p>
                          <a:pPr algn="ctr"/>
                          <a:r>
                            <a:rPr lang="en-US" sz="2800"/>
                            <a:t>Salary</a:t>
                          </a:r>
                          <a:endParaRPr lang="vi-VN" sz="2800" dirty="0"/>
                        </a:p>
                      </a:txBody>
                      <a:tcPr anchor="ctr"/>
                    </a:tc>
                    <a:extLst>
                      <a:ext uri="{0D108BD9-81ED-4DB2-BD59-A6C34878D82A}">
                        <a16:rowId xmlns:a16="http://schemas.microsoft.com/office/drawing/2014/main" val="3993696377"/>
                      </a:ext>
                    </a:extLst>
                  </a:tr>
                  <a:tr h="723900">
                    <a:tc>
                      <a:txBody>
                        <a:bodyPr/>
                        <a:lstStyle/>
                        <a:p>
                          <a:pPr algn="l"/>
                          <a:r>
                            <a:rPr lang="vi-VN" sz="2800" dirty="0" err="1"/>
                            <a:t>Region</a:t>
                          </a:r>
                          <a:r>
                            <a:rPr lang="vi-VN" sz="2800" dirty="0"/>
                            <a:t> </a:t>
                          </a:r>
                          <a:r>
                            <a:rPr lang="vi-VN" sz="2800" dirty="0" err="1"/>
                            <a:t>Manager</a:t>
                          </a:r>
                          <a:endParaRPr lang="vi-VN" sz="2800" dirty="0"/>
                        </a:p>
                      </a:txBody>
                      <a:tcPr anchor="ctr"/>
                    </a:tc>
                    <a:tc>
                      <a:txBody>
                        <a:bodyPr/>
                        <a:lstStyle/>
                        <a:p>
                          <a:endParaRPr lang="en-US"/>
                        </a:p>
                      </a:txBody>
                      <a:tcPr anchor="ctr">
                        <a:blipFill>
                          <a:blip r:embed="rId3"/>
                          <a:stretch>
                            <a:fillRect l="-271351" t="-100840" r="-150811" b="-409244"/>
                          </a:stretch>
                        </a:blipFill>
                      </a:tcPr>
                    </a:tc>
                    <a:tc>
                      <a:txBody>
                        <a:bodyPr/>
                        <a:lstStyle/>
                        <a:p>
                          <a:endParaRPr lang="en-US"/>
                        </a:p>
                      </a:txBody>
                      <a:tcPr anchor="ctr">
                        <a:blipFill>
                          <a:blip r:embed="rId3"/>
                          <a:stretch>
                            <a:fillRect l="-250730" t="-100840" r="-1825" b="-409244"/>
                          </a:stretch>
                        </a:blipFill>
                      </a:tcPr>
                    </a:tc>
                    <a:extLst>
                      <a:ext uri="{0D108BD9-81ED-4DB2-BD59-A6C34878D82A}">
                        <a16:rowId xmlns:a16="http://schemas.microsoft.com/office/drawing/2014/main" val="1649618532"/>
                      </a:ext>
                    </a:extLst>
                  </a:tr>
                  <a:tr h="723900">
                    <a:tc>
                      <a:txBody>
                        <a:bodyPr/>
                        <a:lstStyle/>
                        <a:p>
                          <a:pPr algn="l"/>
                          <a:r>
                            <a:rPr lang="vi-VN" sz="2800" dirty="0" err="1"/>
                            <a:t>Partner</a:t>
                          </a:r>
                          <a:endParaRPr lang="vi-VN" sz="2800" dirty="0"/>
                        </a:p>
                      </a:txBody>
                      <a:tcPr anchor="ctr"/>
                    </a:tc>
                    <a:tc>
                      <a:txBody>
                        <a:bodyPr/>
                        <a:lstStyle/>
                        <a:p>
                          <a:endParaRPr lang="en-US"/>
                        </a:p>
                      </a:txBody>
                      <a:tcPr anchor="ctr">
                        <a:blipFill>
                          <a:blip r:embed="rId3"/>
                          <a:stretch>
                            <a:fillRect l="-271351" t="-200840" r="-150811" b="-309244"/>
                          </a:stretch>
                        </a:blipFill>
                      </a:tcPr>
                    </a:tc>
                    <a:tc>
                      <a:txBody>
                        <a:bodyPr/>
                        <a:lstStyle/>
                        <a:p>
                          <a:endParaRPr lang="en-US"/>
                        </a:p>
                      </a:txBody>
                      <a:tcPr anchor="ctr">
                        <a:blipFill>
                          <a:blip r:embed="rId3"/>
                          <a:stretch>
                            <a:fillRect l="-250730" t="-200840" r="-1825" b="-309244"/>
                          </a:stretch>
                        </a:blipFill>
                      </a:tcPr>
                    </a:tc>
                    <a:extLst>
                      <a:ext uri="{0D108BD9-81ED-4DB2-BD59-A6C34878D82A}">
                        <a16:rowId xmlns:a16="http://schemas.microsoft.com/office/drawing/2014/main" val="547627527"/>
                      </a:ext>
                    </a:extLst>
                  </a:tr>
                  <a:tr h="723900">
                    <a:tc>
                      <a:txBody>
                        <a:bodyPr/>
                        <a:lstStyle/>
                        <a:p>
                          <a:pPr algn="l"/>
                          <a:r>
                            <a:rPr lang="vi-VN" sz="2800" dirty="0" err="1"/>
                            <a:t>Senior</a:t>
                          </a:r>
                          <a:r>
                            <a:rPr lang="vi-VN" sz="2800" dirty="0"/>
                            <a:t> </a:t>
                          </a:r>
                          <a:r>
                            <a:rPr lang="vi-VN" sz="2800" dirty="0" err="1"/>
                            <a:t>Partner</a:t>
                          </a:r>
                          <a:endParaRPr lang="vi-VN" sz="2800" dirty="0"/>
                        </a:p>
                      </a:txBody>
                      <a:tcPr anchor="ctr"/>
                    </a:tc>
                    <a:tc>
                      <a:txBody>
                        <a:bodyPr/>
                        <a:lstStyle/>
                        <a:p>
                          <a:endParaRPr lang="en-US"/>
                        </a:p>
                      </a:txBody>
                      <a:tcPr anchor="ctr">
                        <a:blipFill>
                          <a:blip r:embed="rId3"/>
                          <a:stretch>
                            <a:fillRect l="-271351" t="-300840" r="-150811" b="-209244"/>
                          </a:stretch>
                        </a:blipFill>
                      </a:tcPr>
                    </a:tc>
                    <a:tc>
                      <a:txBody>
                        <a:bodyPr/>
                        <a:lstStyle/>
                        <a:p>
                          <a:endParaRPr lang="en-US"/>
                        </a:p>
                      </a:txBody>
                      <a:tcPr anchor="ctr">
                        <a:blipFill>
                          <a:blip r:embed="rId3"/>
                          <a:stretch>
                            <a:fillRect l="-250730" t="-300840" r="-1825" b="-209244"/>
                          </a:stretch>
                        </a:blipFill>
                      </a:tcPr>
                    </a:tc>
                    <a:extLst>
                      <a:ext uri="{0D108BD9-81ED-4DB2-BD59-A6C34878D82A}">
                        <a16:rowId xmlns:a16="http://schemas.microsoft.com/office/drawing/2014/main" val="4172467125"/>
                      </a:ext>
                    </a:extLst>
                  </a:tr>
                  <a:tr h="723900">
                    <a:tc>
                      <a:txBody>
                        <a:bodyPr/>
                        <a:lstStyle/>
                        <a:p>
                          <a:pPr algn="l"/>
                          <a:r>
                            <a:rPr lang="vi-VN" sz="2800" dirty="0"/>
                            <a:t>C-</a:t>
                          </a:r>
                          <a:r>
                            <a:rPr lang="vi-VN" sz="2800" dirty="0" err="1"/>
                            <a:t>level</a:t>
                          </a:r>
                          <a:endParaRPr lang="vi-VN" sz="2800" dirty="0"/>
                        </a:p>
                      </a:txBody>
                      <a:tcPr anchor="ctr"/>
                    </a:tc>
                    <a:tc>
                      <a:txBody>
                        <a:bodyPr/>
                        <a:lstStyle/>
                        <a:p>
                          <a:endParaRPr lang="en-US"/>
                        </a:p>
                      </a:txBody>
                      <a:tcPr anchor="ctr">
                        <a:blipFill>
                          <a:blip r:embed="rId3"/>
                          <a:stretch>
                            <a:fillRect l="-271351" t="-400840" r="-150811" b="-109244"/>
                          </a:stretch>
                        </a:blipFill>
                      </a:tcPr>
                    </a:tc>
                    <a:tc>
                      <a:txBody>
                        <a:bodyPr/>
                        <a:lstStyle/>
                        <a:p>
                          <a:endParaRPr lang="en-US"/>
                        </a:p>
                      </a:txBody>
                      <a:tcPr anchor="ctr">
                        <a:blipFill>
                          <a:blip r:embed="rId3"/>
                          <a:stretch>
                            <a:fillRect l="-250730" t="-400840" r="-1825" b="-109244"/>
                          </a:stretch>
                        </a:blipFill>
                      </a:tcPr>
                    </a:tc>
                    <a:extLst>
                      <a:ext uri="{0D108BD9-81ED-4DB2-BD59-A6C34878D82A}">
                        <a16:rowId xmlns:a16="http://schemas.microsoft.com/office/drawing/2014/main" val="1572396851"/>
                      </a:ext>
                    </a:extLst>
                  </a:tr>
                  <a:tr h="723900">
                    <a:tc>
                      <a:txBody>
                        <a:bodyPr/>
                        <a:lstStyle/>
                        <a:p>
                          <a:pPr algn="l"/>
                          <a:r>
                            <a:rPr lang="vi-VN" sz="2800" dirty="0"/>
                            <a:t>CEO</a:t>
                          </a:r>
                        </a:p>
                      </a:txBody>
                      <a:tcPr anchor="ctr"/>
                    </a:tc>
                    <a:tc>
                      <a:txBody>
                        <a:bodyPr/>
                        <a:lstStyle/>
                        <a:p>
                          <a:endParaRPr lang="en-US"/>
                        </a:p>
                      </a:txBody>
                      <a:tcPr anchor="ctr">
                        <a:blipFill>
                          <a:blip r:embed="rId3"/>
                          <a:stretch>
                            <a:fillRect l="-271351" t="-500840" r="-150811" b="-9244"/>
                          </a:stretch>
                        </a:blipFill>
                      </a:tcPr>
                    </a:tc>
                    <a:tc>
                      <a:txBody>
                        <a:bodyPr/>
                        <a:lstStyle/>
                        <a:p>
                          <a:endParaRPr lang="en-US"/>
                        </a:p>
                      </a:txBody>
                      <a:tcPr anchor="ctr">
                        <a:blipFill>
                          <a:blip r:embed="rId3"/>
                          <a:stretch>
                            <a:fillRect l="-250730" t="-500840" r="-1825" b="-9244"/>
                          </a:stretch>
                        </a:blipFill>
                      </a:tcPr>
                    </a:tc>
                    <a:extLst>
                      <a:ext uri="{0D108BD9-81ED-4DB2-BD59-A6C34878D82A}">
                        <a16:rowId xmlns:a16="http://schemas.microsoft.com/office/drawing/2014/main" val="2963561270"/>
                      </a:ext>
                    </a:extLst>
                  </a:tr>
                </a:tbl>
              </a:graphicData>
            </a:graphic>
          </p:graphicFrame>
        </mc:Fallback>
      </mc:AlternateContent>
    </p:spTree>
    <p:extLst>
      <p:ext uri="{BB962C8B-B14F-4D97-AF65-F5344CB8AC3E}">
        <p14:creationId xmlns:p14="http://schemas.microsoft.com/office/powerpoint/2010/main" val="141065775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5A5CF-B133-45B8-92E1-DFB15218E94A}"/>
              </a:ext>
            </a:extLst>
          </p:cNvPr>
          <p:cNvSpPr>
            <a:spLocks noGrp="1"/>
          </p:cNvSpPr>
          <p:nvPr>
            <p:ph type="title"/>
          </p:nvPr>
        </p:nvSpPr>
        <p:spPr/>
        <p:txBody>
          <a:bodyPr/>
          <a:lstStyle/>
          <a:p>
            <a:r>
              <a:rPr lang="en-US" dirty="0"/>
              <a:t>Dataset</a:t>
            </a:r>
            <a:endParaRPr lang="vi-VN" dirty="0"/>
          </a:p>
        </p:txBody>
      </p:sp>
      <p:sp>
        <p:nvSpPr>
          <p:cNvPr id="3" name="Content Placeholder 2">
            <a:extLst>
              <a:ext uri="{FF2B5EF4-FFF2-40B4-BE49-F238E27FC236}">
                <a16:creationId xmlns:a16="http://schemas.microsoft.com/office/drawing/2014/main" id="{2B82BE34-1D49-4D84-A007-96C22B90DC3C}"/>
              </a:ext>
            </a:extLst>
          </p:cNvPr>
          <p:cNvSpPr>
            <a:spLocks noGrp="1"/>
          </p:cNvSpPr>
          <p:nvPr>
            <p:ph idx="1"/>
          </p:nvPr>
        </p:nvSpPr>
        <p:spPr/>
        <p:txBody>
          <a:bodyPr/>
          <a:lstStyle/>
          <a:p>
            <a:pPr algn="just"/>
            <a:r>
              <a:rPr lang="en-US" sz="3200" dirty="0" err="1">
                <a:solidFill>
                  <a:srgbClr val="0066FF"/>
                </a:solidFill>
              </a:rPr>
              <a:t>Bài</a:t>
            </a:r>
            <a:r>
              <a:rPr lang="en-US" sz="3200" dirty="0">
                <a:solidFill>
                  <a:srgbClr val="0066FF"/>
                </a:solidFill>
              </a:rPr>
              <a:t> </a:t>
            </a:r>
            <a:r>
              <a:rPr lang="en-US" sz="3200" dirty="0" err="1">
                <a:solidFill>
                  <a:srgbClr val="0066FF"/>
                </a:solidFill>
              </a:rPr>
              <a:t>toán</a:t>
            </a:r>
            <a:r>
              <a:rPr lang="en-US" sz="3200" dirty="0">
                <a:solidFill>
                  <a:srgbClr val="0066FF"/>
                </a:solidFill>
              </a:rPr>
              <a:t>: </a:t>
            </a:r>
            <a:r>
              <a:rPr lang="en-US" sz="3200" dirty="0" err="1">
                <a:solidFill>
                  <a:srgbClr val="0066FF"/>
                </a:solidFill>
              </a:rPr>
              <a:t>Dự</a:t>
            </a:r>
            <a:r>
              <a:rPr lang="en-US" sz="3200" dirty="0">
                <a:solidFill>
                  <a:srgbClr val="0066FF"/>
                </a:solidFill>
              </a:rPr>
              <a:t> </a:t>
            </a:r>
            <a:r>
              <a:rPr lang="en-US" sz="3200" dirty="0" err="1">
                <a:solidFill>
                  <a:srgbClr val="0066FF"/>
                </a:solidFill>
              </a:rPr>
              <a:t>đoán</a:t>
            </a:r>
            <a:r>
              <a:rPr lang="en-US" sz="3200" dirty="0">
                <a:solidFill>
                  <a:srgbClr val="0066FF"/>
                </a:solidFill>
              </a:rPr>
              <a:t> </a:t>
            </a:r>
            <a:r>
              <a:rPr lang="en-US" sz="3200" dirty="0" err="1">
                <a:solidFill>
                  <a:srgbClr val="0066FF"/>
                </a:solidFill>
              </a:rPr>
              <a:t>mức</a:t>
            </a:r>
            <a:r>
              <a:rPr lang="en-US" sz="3200" dirty="0">
                <a:solidFill>
                  <a:srgbClr val="0066FF"/>
                </a:solidFill>
              </a:rPr>
              <a:t> l</a:t>
            </a:r>
            <a:r>
              <a:rPr lang="vi-VN" sz="3200" dirty="0">
                <a:solidFill>
                  <a:srgbClr val="0066FF"/>
                </a:solidFill>
              </a:rPr>
              <a:t>ư</a:t>
            </a:r>
            <a:r>
              <a:rPr lang="en-US" sz="3200" dirty="0" err="1">
                <a:solidFill>
                  <a:srgbClr val="0066FF"/>
                </a:solidFill>
              </a:rPr>
              <a:t>ơng</a:t>
            </a:r>
            <a:r>
              <a:rPr lang="en-US" sz="3200" dirty="0">
                <a:solidFill>
                  <a:srgbClr val="0066FF"/>
                </a:solidFill>
              </a:rPr>
              <a:t> </a:t>
            </a:r>
            <a:r>
              <a:rPr lang="en-US" sz="3200" dirty="0" err="1">
                <a:solidFill>
                  <a:srgbClr val="0066FF"/>
                </a:solidFill>
              </a:rPr>
              <a:t>của</a:t>
            </a:r>
            <a:r>
              <a:rPr lang="en-US" sz="3200" dirty="0">
                <a:solidFill>
                  <a:srgbClr val="0066FF"/>
                </a:solidFill>
              </a:rPr>
              <a:t> </a:t>
            </a:r>
            <a:r>
              <a:rPr lang="en-US" sz="3200" dirty="0" err="1">
                <a:solidFill>
                  <a:srgbClr val="0066FF"/>
                </a:solidFill>
              </a:rPr>
              <a:t>một</a:t>
            </a:r>
            <a:r>
              <a:rPr lang="en-US" sz="3200" dirty="0">
                <a:solidFill>
                  <a:srgbClr val="0066FF"/>
                </a:solidFill>
              </a:rPr>
              <a:t> ng</a:t>
            </a:r>
            <a:r>
              <a:rPr lang="vi-VN" sz="3200" dirty="0" err="1">
                <a:solidFill>
                  <a:srgbClr val="0066FF"/>
                </a:solidFill>
              </a:rPr>
              <a:t>ười</a:t>
            </a:r>
            <a:r>
              <a:rPr lang="vi-VN" sz="3200" dirty="0">
                <a:solidFill>
                  <a:srgbClr val="0066FF"/>
                </a:solidFill>
              </a:rPr>
              <a:t> khi </a:t>
            </a:r>
            <a:r>
              <a:rPr lang="vi-VN" sz="3200" dirty="0" err="1">
                <a:solidFill>
                  <a:srgbClr val="0066FF"/>
                </a:solidFill>
              </a:rPr>
              <a:t>biết</a:t>
            </a:r>
            <a:r>
              <a:rPr lang="vi-VN" sz="3200" dirty="0">
                <a:solidFill>
                  <a:srgbClr val="0066FF"/>
                </a:solidFill>
              </a:rPr>
              <a:t> </a:t>
            </a:r>
            <a:r>
              <a:rPr lang="vi-VN" sz="3200" dirty="0" err="1">
                <a:solidFill>
                  <a:srgbClr val="0066FF"/>
                </a:solidFill>
              </a:rPr>
              <a:t>được</a:t>
            </a:r>
            <a:r>
              <a:rPr lang="vi-VN" sz="3200" dirty="0">
                <a:solidFill>
                  <a:srgbClr val="0066FF"/>
                </a:solidFill>
              </a:rPr>
              <a:t> </a:t>
            </a:r>
            <a:r>
              <a:rPr lang="vi-VN" sz="3200" dirty="0" err="1">
                <a:solidFill>
                  <a:srgbClr val="0066FF"/>
                </a:solidFill>
              </a:rPr>
              <a:t>cấp</a:t>
            </a:r>
            <a:r>
              <a:rPr lang="vi-VN" sz="3200" dirty="0">
                <a:solidFill>
                  <a:srgbClr val="0066FF"/>
                </a:solidFill>
              </a:rPr>
              <a:t> </a:t>
            </a:r>
            <a:r>
              <a:rPr lang="vi-VN" sz="3200" dirty="0" err="1">
                <a:solidFill>
                  <a:srgbClr val="0066FF"/>
                </a:solidFill>
              </a:rPr>
              <a:t>độ</a:t>
            </a:r>
            <a:r>
              <a:rPr lang="vi-VN" sz="3200" dirty="0">
                <a:solidFill>
                  <a:srgbClr val="0066FF"/>
                </a:solidFill>
              </a:rPr>
              <a:t> (</a:t>
            </a:r>
            <a:r>
              <a:rPr lang="vi-VN" sz="3200" dirty="0" err="1">
                <a:solidFill>
                  <a:srgbClr val="0066FF"/>
                </a:solidFill>
              </a:rPr>
              <a:t>vị</a:t>
            </a:r>
            <a:r>
              <a:rPr lang="vi-VN" sz="3200" dirty="0">
                <a:solidFill>
                  <a:srgbClr val="0066FF"/>
                </a:solidFill>
              </a:rPr>
              <a:t> </a:t>
            </a:r>
            <a:r>
              <a:rPr lang="vi-VN" sz="3200" dirty="0" err="1">
                <a:solidFill>
                  <a:srgbClr val="0066FF"/>
                </a:solidFill>
              </a:rPr>
              <a:t>trí</a:t>
            </a:r>
            <a:r>
              <a:rPr lang="vi-VN" sz="3200" dirty="0">
                <a:solidFill>
                  <a:srgbClr val="0066FF"/>
                </a:solidFill>
              </a:rPr>
              <a:t>) công </a:t>
            </a:r>
            <a:r>
              <a:rPr lang="vi-VN" sz="3200" dirty="0" err="1">
                <a:solidFill>
                  <a:srgbClr val="0066FF"/>
                </a:solidFill>
              </a:rPr>
              <a:t>việc</a:t>
            </a:r>
            <a:r>
              <a:rPr lang="vi-VN" sz="3200" dirty="0">
                <a:solidFill>
                  <a:srgbClr val="0066FF"/>
                </a:solidFill>
              </a:rPr>
              <a:t> </a:t>
            </a:r>
            <a:r>
              <a:rPr lang="vi-VN" sz="3200" dirty="0" err="1">
                <a:solidFill>
                  <a:srgbClr val="0066FF"/>
                </a:solidFill>
              </a:rPr>
              <a:t>của</a:t>
            </a:r>
            <a:r>
              <a:rPr lang="vi-VN" sz="3200" dirty="0">
                <a:solidFill>
                  <a:srgbClr val="0066FF"/>
                </a:solidFill>
              </a:rPr>
              <a:t> </a:t>
            </a:r>
            <a:r>
              <a:rPr lang="vi-VN" sz="3200" dirty="0" err="1">
                <a:solidFill>
                  <a:srgbClr val="0066FF"/>
                </a:solidFill>
              </a:rPr>
              <a:t>người</a:t>
            </a:r>
            <a:r>
              <a:rPr lang="vi-VN" sz="3200" dirty="0">
                <a:solidFill>
                  <a:srgbClr val="0066FF"/>
                </a:solidFill>
              </a:rPr>
              <a:t> </a:t>
            </a:r>
            <a:r>
              <a:rPr lang="vi-VN" sz="3200" dirty="0" err="1">
                <a:solidFill>
                  <a:srgbClr val="0066FF"/>
                </a:solidFill>
              </a:rPr>
              <a:t>đó</a:t>
            </a:r>
            <a:r>
              <a:rPr lang="vi-VN" sz="3200" dirty="0">
                <a:solidFill>
                  <a:srgbClr val="0066FF"/>
                </a:solidFill>
              </a:rPr>
              <a:t>.</a:t>
            </a:r>
          </a:p>
          <a:p>
            <a:pPr algn="just"/>
            <a:r>
              <a:rPr lang="vi-VN" sz="3200" dirty="0">
                <a:solidFill>
                  <a:srgbClr val="FF0000"/>
                </a:solidFill>
              </a:rPr>
              <a:t>Ta </a:t>
            </a:r>
            <a:r>
              <a:rPr lang="vi-VN" sz="3200" dirty="0" err="1">
                <a:solidFill>
                  <a:srgbClr val="FF0000"/>
                </a:solidFill>
              </a:rPr>
              <a:t>sẽ</a:t>
            </a:r>
            <a:r>
              <a:rPr lang="vi-VN" sz="3200" dirty="0">
                <a:solidFill>
                  <a:srgbClr val="FF0000"/>
                </a:solidFill>
              </a:rPr>
              <a:t> </a:t>
            </a:r>
            <a:r>
              <a:rPr lang="vi-VN" sz="3200" dirty="0" err="1">
                <a:solidFill>
                  <a:srgbClr val="FF0000"/>
                </a:solidFill>
              </a:rPr>
              <a:t>sử</a:t>
            </a:r>
            <a:r>
              <a:rPr lang="vi-VN" sz="3200" dirty="0">
                <a:solidFill>
                  <a:srgbClr val="FF0000"/>
                </a:solidFill>
              </a:rPr>
              <a:t> </a:t>
            </a:r>
            <a:r>
              <a:rPr lang="vi-VN" sz="3200" dirty="0" err="1">
                <a:solidFill>
                  <a:srgbClr val="FF0000"/>
                </a:solidFill>
              </a:rPr>
              <a:t>dụng</a:t>
            </a:r>
            <a:r>
              <a:rPr lang="vi-VN" sz="3200" dirty="0">
                <a:solidFill>
                  <a:srgbClr val="FF0000"/>
                </a:solidFill>
              </a:rPr>
              <a:t> </a:t>
            </a:r>
            <a:r>
              <a:rPr lang="vi-VN" sz="3200" err="1">
                <a:solidFill>
                  <a:srgbClr val="FF0000"/>
                </a:solidFill>
              </a:rPr>
              <a:t>đồng</a:t>
            </a:r>
            <a:r>
              <a:rPr lang="vi-VN" sz="3200">
                <a:solidFill>
                  <a:srgbClr val="FF0000"/>
                </a:solidFill>
              </a:rPr>
              <a:t> thời</a:t>
            </a:r>
            <a:r>
              <a:rPr lang="en-US" sz="3200">
                <a:solidFill>
                  <a:srgbClr val="FF0000"/>
                </a:solidFill>
              </a:rPr>
              <a:t> hai thuật toán</a:t>
            </a:r>
          </a:p>
          <a:p>
            <a:pPr lvl="1" algn="just"/>
            <a:r>
              <a:rPr lang="en-US" sz="3200"/>
              <a:t>Thuật toán</a:t>
            </a:r>
            <a:r>
              <a:rPr lang="vi-VN" sz="3200"/>
              <a:t> </a:t>
            </a:r>
            <a:r>
              <a:rPr lang="vi-VN" sz="3200" dirty="0" err="1"/>
              <a:t>Linear</a:t>
            </a:r>
            <a:r>
              <a:rPr lang="vi-VN" sz="3200" dirty="0"/>
              <a:t> </a:t>
            </a:r>
            <a:r>
              <a:rPr lang="vi-VN" sz="3200" dirty="0" err="1"/>
              <a:t>Regression</a:t>
            </a:r>
            <a:r>
              <a:rPr lang="vi-VN" sz="3200" dirty="0"/>
              <a:t> </a:t>
            </a:r>
            <a:r>
              <a:rPr lang="vi-VN" sz="3200" err="1"/>
              <a:t>và</a:t>
            </a:r>
            <a:r>
              <a:rPr lang="vi-VN" sz="3200"/>
              <a:t> </a:t>
            </a:r>
            <a:endParaRPr lang="en-US" sz="3200"/>
          </a:p>
          <a:p>
            <a:pPr lvl="1" algn="just"/>
            <a:r>
              <a:rPr lang="en-US" sz="3200">
                <a:solidFill>
                  <a:srgbClr val="FF0000"/>
                </a:solidFill>
              </a:rPr>
              <a:t>Thuật toán </a:t>
            </a:r>
            <a:r>
              <a:rPr lang="vi-VN" sz="3200">
                <a:solidFill>
                  <a:srgbClr val="FF0000"/>
                </a:solidFill>
              </a:rPr>
              <a:t>Polynomial </a:t>
            </a:r>
            <a:r>
              <a:rPr lang="vi-VN" sz="3200" dirty="0" err="1">
                <a:solidFill>
                  <a:srgbClr val="FF0000"/>
                </a:solidFill>
              </a:rPr>
              <a:t>Linear</a:t>
            </a:r>
            <a:r>
              <a:rPr lang="vi-VN" sz="3200" dirty="0">
                <a:solidFill>
                  <a:srgbClr val="FF0000"/>
                </a:solidFill>
              </a:rPr>
              <a:t> </a:t>
            </a:r>
            <a:r>
              <a:rPr lang="vi-VN" sz="3200" err="1">
                <a:solidFill>
                  <a:srgbClr val="FF0000"/>
                </a:solidFill>
              </a:rPr>
              <a:t>Regression</a:t>
            </a:r>
            <a:r>
              <a:rPr lang="vi-VN" sz="3200">
                <a:solidFill>
                  <a:srgbClr val="FF0000"/>
                </a:solidFill>
              </a:rPr>
              <a:t> </a:t>
            </a:r>
            <a:endParaRPr lang="en-US" sz="3200">
              <a:solidFill>
                <a:srgbClr val="FF0000"/>
              </a:solidFill>
            </a:endParaRPr>
          </a:p>
          <a:p>
            <a:pPr marL="0" indent="0" algn="just">
              <a:buNone/>
            </a:pPr>
            <a:r>
              <a:rPr lang="vi-VN" sz="3200"/>
              <a:t>cho </a:t>
            </a:r>
            <a:r>
              <a:rPr lang="vi-VN" sz="3200" dirty="0" err="1"/>
              <a:t>tập</a:t>
            </a:r>
            <a:r>
              <a:rPr lang="vi-VN" sz="3200" dirty="0"/>
              <a:t> </a:t>
            </a:r>
            <a:r>
              <a:rPr lang="vi-VN" sz="3200" dirty="0" err="1"/>
              <a:t>dữ</a:t>
            </a:r>
            <a:r>
              <a:rPr lang="vi-VN" sz="3200" dirty="0"/>
              <a:t> </a:t>
            </a:r>
            <a:r>
              <a:rPr lang="vi-VN" sz="3200" dirty="0" err="1"/>
              <a:t>liệu</a:t>
            </a:r>
            <a:r>
              <a:rPr lang="vi-VN" sz="3200" dirty="0"/>
              <a:t> </a:t>
            </a:r>
            <a:r>
              <a:rPr lang="vi-VN" sz="3200" dirty="0" err="1"/>
              <a:t>này</a:t>
            </a:r>
            <a:r>
              <a:rPr lang="vi-VN" sz="3200" dirty="0"/>
              <a:t> </a:t>
            </a:r>
            <a:r>
              <a:rPr lang="vi-VN" sz="3200" dirty="0" err="1"/>
              <a:t>để</a:t>
            </a:r>
            <a:r>
              <a:rPr lang="vi-VN" sz="3200" dirty="0"/>
              <a:t> so </a:t>
            </a:r>
            <a:r>
              <a:rPr lang="vi-VN" sz="3200" dirty="0" err="1"/>
              <a:t>sánh</a:t>
            </a:r>
            <a:r>
              <a:rPr lang="vi-VN" sz="3200" dirty="0"/>
              <a:t> </a:t>
            </a:r>
            <a:r>
              <a:rPr lang="vi-VN" sz="3200" dirty="0" err="1"/>
              <a:t>hiệu</a:t>
            </a:r>
            <a:r>
              <a:rPr lang="vi-VN" sz="3200" dirty="0"/>
              <a:t> </a:t>
            </a:r>
            <a:r>
              <a:rPr lang="vi-VN" sz="3200" dirty="0" err="1"/>
              <a:t>suất</a:t>
            </a:r>
            <a:r>
              <a:rPr lang="vi-VN" sz="3200" dirty="0"/>
              <a:t> </a:t>
            </a:r>
            <a:r>
              <a:rPr lang="vi-VN" sz="3200" dirty="0" err="1"/>
              <a:t>của</a:t>
            </a:r>
            <a:r>
              <a:rPr lang="vi-VN" sz="3200" dirty="0"/>
              <a:t> </a:t>
            </a:r>
            <a:r>
              <a:rPr lang="vi-VN" sz="3200" dirty="0" err="1"/>
              <a:t>cả</a:t>
            </a:r>
            <a:r>
              <a:rPr lang="vi-VN" sz="3200" dirty="0"/>
              <a:t> hai mô </a:t>
            </a:r>
            <a:r>
              <a:rPr lang="vi-VN" sz="3200" dirty="0" err="1"/>
              <a:t>hình</a:t>
            </a:r>
            <a:r>
              <a:rPr lang="vi-VN" sz="3200" dirty="0"/>
              <a:t>.</a:t>
            </a:r>
          </a:p>
        </p:txBody>
      </p:sp>
    </p:spTree>
    <p:extLst>
      <p:ext uri="{BB962C8B-B14F-4D97-AF65-F5344CB8AC3E}">
        <p14:creationId xmlns:p14="http://schemas.microsoft.com/office/powerpoint/2010/main" val="381314716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C310E0B-7938-4C48-BDBD-57A04B814BC3}"/>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sp>
        <p:nvSpPr>
          <p:cNvPr id="7" name="Text Placeholder 6">
            <a:extLst>
              <a:ext uri="{FF2B5EF4-FFF2-40B4-BE49-F238E27FC236}">
                <a16:creationId xmlns:a16="http://schemas.microsoft.com/office/drawing/2014/main" id="{7A79A075-3658-4F3B-BD9F-6F50B7BE7BD2}"/>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388211361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C310E0B-7938-4C48-BDBD-57A04B814BC3}"/>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pic>
        <p:nvPicPr>
          <p:cNvPr id="5" name="Content Placeholder 7">
            <a:extLst>
              <a:ext uri="{FF2B5EF4-FFF2-40B4-BE49-F238E27FC236}">
                <a16:creationId xmlns:a16="http://schemas.microsoft.com/office/drawing/2014/main" id="{E7C5AB8D-BF56-480D-A51B-19D7D3CCC50B}"/>
              </a:ext>
            </a:extLst>
          </p:cNvPr>
          <p:cNvPicPr>
            <a:picLocks noGrp="1" noChangeAspect="1"/>
          </p:cNvPicPr>
          <p:nvPr>
            <p:ph idx="1"/>
          </p:nvPr>
        </p:nvPicPr>
        <p:blipFill>
          <a:blip r:embed="rId2"/>
          <a:stretch>
            <a:fillRect/>
          </a:stretch>
        </p:blipFill>
        <p:spPr>
          <a:xfrm>
            <a:off x="3133725" y="1729581"/>
            <a:ext cx="5924550" cy="4267200"/>
          </a:xfrm>
          <a:prstGeom prst="rect">
            <a:avLst/>
          </a:prstGeom>
        </p:spPr>
      </p:pic>
    </p:spTree>
    <p:extLst>
      <p:ext uri="{BB962C8B-B14F-4D97-AF65-F5344CB8AC3E}">
        <p14:creationId xmlns:p14="http://schemas.microsoft.com/office/powerpoint/2010/main" val="74597595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C310E0B-7938-4C48-BDBD-57A04B814BC3}"/>
              </a:ext>
            </a:extLst>
          </p:cNvPr>
          <p:cNvSpPr>
            <a:spLocks noGrp="1"/>
          </p:cNvSpPr>
          <p:nvPr>
            <p:ph type="title"/>
          </p:nvPr>
        </p:nvSpPr>
        <p:spPr/>
        <p:txBody>
          <a:bodyPr wrap="square"/>
          <a:lstStyle/>
          <a:p>
            <a:pPr>
              <a:defRPr sz="2800" b="1">
                <a:solidFill>
                  <a:srgbClr val="002060"/>
                </a:solidFill>
                <a:latin typeface="Calibri"/>
              </a:defRPr>
            </a:pPr>
            <a:r>
              <a:t>Trực quan hóa dữ liệu: Nạp Thư Viện &amp; Đọc File CSV (In [1])</a:t>
            </a:r>
            <a:endParaRPr lang="vi-VN" dirty="0"/>
          </a:p>
        </p:txBody>
      </p:sp>
      <p:sp>
        <p:nvSpPr>
          <p:cNvPr id="2" name="Content Placeholder 1">
            <a:extLst>
              <a:ext uri="{FF2B5EF4-FFF2-40B4-BE49-F238E27FC236}">
                <a16:creationId xmlns:a16="http://schemas.microsoft.com/office/drawing/2014/main" id="{E8B5E521-B5D3-4ED0-BC72-E24304E6BBF8}"/>
              </a:ext>
            </a:extLst>
          </p:cNvPr>
          <p:cNvSpPr>
            <a:spLocks noGrp="1"/>
          </p:cNvSpPr>
          <p:nvPr>
            <p:ph idx="1"/>
          </p:nvPr>
        </p:nvSpPr>
        <p:spPr>
          <a:xfrm>
            <a:off x="612648" y="1371600"/>
            <a:ext cx="10972800" cy="4937760"/>
          </a:xfrm>
        </p:spPr>
        <p:txBody>
          <a:bodyPr wrap="square"/>
          <a:lstStyle/>
          <a:p>
            <a:pPr>
              <a:spcBef>
                <a:spcPts val="600"/>
              </a:spcBef>
              <a:spcAft>
                <a:spcPts val="400"/>
              </a:spcAft>
              <a:defRPr sz="1700" b="1">
                <a:solidFill>
                  <a:srgbClr val="003366"/>
                </a:solidFill>
                <a:latin typeface="Calibri"/>
              </a:defRPr>
            </a:pPr>
            <a:r>
              <a:t>Nạp các thư viện Scikit-Learn, Pandas &amp; Chuẩn bị biến đặc trưng (In [1]):</a:t>
            </a:r>
          </a:p>
          <a:p>
            <a:pPr>
              <a:spcAft>
                <a:spcPts val="200"/>
              </a:spcAft>
              <a:defRPr sz="1300" b="0">
                <a:solidFill>
                  <a:srgbClr val="004696"/>
                </a:solidFill>
                <a:latin typeface="Consolas"/>
              </a:defRPr>
            </a:pPr>
            <a:r>
              <a:t>import numpy as np</a:t>
            </a:r>
          </a:p>
          <a:p>
            <a:pPr>
              <a:spcAft>
                <a:spcPts val="200"/>
              </a:spcAft>
              <a:defRPr sz="1300" b="0">
                <a:solidFill>
                  <a:srgbClr val="004696"/>
                </a:solidFill>
                <a:latin typeface="Consolas"/>
              </a:defRPr>
            </a:pPr>
            <a:r>
              <a:t>import pandas as pd</a:t>
            </a:r>
          </a:p>
          <a:p>
            <a:pPr>
              <a:spcAft>
                <a:spcPts val="200"/>
              </a:spcAft>
              <a:defRPr sz="1300" b="0">
                <a:solidFill>
                  <a:srgbClr val="004696"/>
                </a:solidFill>
                <a:latin typeface="Consolas"/>
              </a:defRPr>
            </a:pPr>
            <a:r>
              <a:t>import matplotlib.pyplot as plt</a:t>
            </a:r>
          </a:p>
          <a:p>
            <a:pPr>
              <a:spcAft>
                <a:spcPts val="200"/>
              </a:spcAft>
              <a:defRPr sz="1300" b="0">
                <a:solidFill>
                  <a:srgbClr val="004696"/>
                </a:solidFill>
                <a:latin typeface="Consolas"/>
              </a:defRPr>
            </a:pPr>
            <a:r>
              <a:t>from sklearn.preprocessing import PolynomialFeatures</a:t>
            </a:r>
          </a:p>
          <a:p>
            <a:pPr>
              <a:spcAft>
                <a:spcPts val="200"/>
              </a:spcAft>
              <a:defRPr sz="1300" b="0">
                <a:solidFill>
                  <a:srgbClr val="004696"/>
                </a:solidFill>
                <a:latin typeface="Consolas"/>
              </a:defRPr>
            </a:pPr>
            <a:r>
              <a:t>from sklearn.linear_model import LinearRegression</a:t>
            </a:r>
          </a:p>
          <a:p>
            <a:pPr>
              <a:spcAft>
                <a:spcPts val="200"/>
              </a:spcAft>
              <a:defRPr sz="1300" b="0">
                <a:solidFill>
                  <a:srgbClr val="004696"/>
                </a:solidFill>
                <a:latin typeface="Consolas"/>
              </a:defRPr>
            </a:pPr>
            <a:r>
              <a:t>from sklearn.pipeline import make_pipeline</a:t>
            </a:r>
          </a:p>
          <a:p>
            <a:pPr>
              <a:spcAft>
                <a:spcPts val="400"/>
              </a:spcAft>
              <a:defRPr sz="1300" b="0">
                <a:solidFill>
                  <a:srgbClr val="004696"/>
                </a:solidFill>
                <a:latin typeface="Consolas"/>
              </a:defRPr>
            </a:pPr>
            <a:r>
              <a:t>from sklearn.metrics import r2_score</a:t>
            </a:r>
          </a:p>
          <a:p>
            <a:pPr>
              <a:spcAft>
                <a:spcPts val="200"/>
              </a:spcAft>
              <a:defRPr sz="1300" b="0">
                <a:solidFill>
                  <a:srgbClr val="004696"/>
                </a:solidFill>
                <a:latin typeface="Consolas"/>
              </a:defRPr>
            </a:pPr>
            <a:r>
              <a:t>dataset = pd.read_csv('Position_Salaries.csv')</a:t>
            </a:r>
          </a:p>
          <a:p>
            <a:pPr>
              <a:spcAft>
                <a:spcPts val="200"/>
              </a:spcAft>
              <a:defRPr sz="1300" b="0">
                <a:solidFill>
                  <a:srgbClr val="004696"/>
                </a:solidFill>
                <a:latin typeface="Consolas"/>
              </a:defRPr>
            </a:pPr>
            <a:r>
              <a:t>X = dataset.iloc[:, 1:2].values  # Level (đặc trưng dạng ma trận 2D)</a:t>
            </a:r>
          </a:p>
          <a:p>
            <a:pPr>
              <a:spcAft>
                <a:spcPts val="400"/>
              </a:spcAft>
              <a:defRPr sz="1300" b="0">
                <a:solidFill>
                  <a:srgbClr val="004696"/>
                </a:solidFill>
                <a:latin typeface="Consolas"/>
              </a:defRPr>
            </a:pPr>
            <a:r>
              <a:t>y = dataset.iloc[:, 2].values    # Salary (mức lương thực tế)</a:t>
            </a:r>
          </a:p>
          <a:p>
            <a:pPr>
              <a:spcAft>
                <a:spcPts val="200"/>
              </a:spcAft>
              <a:defRPr sz="1300" b="0">
                <a:solidFill>
                  <a:srgbClr val="004696"/>
                </a:solidFill>
                <a:latin typeface="Consolas"/>
              </a:defRPr>
            </a:pPr>
            <a:r>
              <a:t>dataset.head(5)</a:t>
            </a:r>
          </a:p>
          <a:p>
            <a:pPr>
              <a:spcAft>
                <a:spcPts val="200"/>
              </a:spcAft>
              <a:defRPr sz="1200" b="0">
                <a:solidFill>
                  <a:srgbClr val="146428"/>
                </a:solidFill>
                <a:latin typeface="Consolas"/>
              </a:defRPr>
            </a:pPr>
            <a:r>
              <a:t>📌 Lưu ý: X được trích xuất bằng 1:2 để giữ nguyên cấu trúc ma trận 2D shape (10, 1).</a:t>
            </a:r>
          </a:p>
        </p:txBody>
      </p:sp>
    </p:spTree>
    <p:extLst>
      <p:ext uri="{BB962C8B-B14F-4D97-AF65-F5344CB8AC3E}">
        <p14:creationId xmlns:p14="http://schemas.microsoft.com/office/powerpoint/2010/main" val="78999401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5A5850-EC2D-436A-B0C2-CCF71C19F9AC}"/>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sp>
        <p:nvSpPr>
          <p:cNvPr id="5" name="Content Placeholder 4">
            <a:extLst>
              <a:ext uri="{FF2B5EF4-FFF2-40B4-BE49-F238E27FC236}">
                <a16:creationId xmlns:a16="http://schemas.microsoft.com/office/drawing/2014/main" id="{A68CEC87-E9EA-428E-87EC-557802235FE0}"/>
              </a:ext>
            </a:extLst>
          </p:cNvPr>
          <p:cNvSpPr>
            <a:spLocks noGrp="1"/>
          </p:cNvSpPr>
          <p:nvPr>
            <p:ph idx="1"/>
          </p:nvPr>
        </p:nvSpPr>
        <p:spPr/>
        <p:txBody>
          <a:bodyPr/>
          <a:lstStyle/>
          <a:p>
            <a:pPr algn="just"/>
            <a:r>
              <a:rPr lang="en-US" sz="2800" dirty="0">
                <a:solidFill>
                  <a:srgbClr val="0066FF"/>
                </a:solidFill>
              </a:rPr>
              <a:t>Ta </a:t>
            </a:r>
            <a:r>
              <a:rPr lang="en-US" sz="2800" dirty="0" err="1">
                <a:solidFill>
                  <a:srgbClr val="0066FF"/>
                </a:solidFill>
              </a:rPr>
              <a:t>vẽ</a:t>
            </a:r>
            <a:r>
              <a:rPr lang="en-US" sz="2800" dirty="0">
                <a:solidFill>
                  <a:srgbClr val="0066FF"/>
                </a:solidFill>
              </a:rPr>
              <a:t> </a:t>
            </a:r>
            <a:r>
              <a:rPr lang="en-US" sz="2800" dirty="0" err="1">
                <a:solidFill>
                  <a:srgbClr val="0066FF"/>
                </a:solidFill>
              </a:rPr>
              <a:t>các</a:t>
            </a:r>
            <a:r>
              <a:rPr lang="en-US" sz="2800" dirty="0">
                <a:solidFill>
                  <a:srgbClr val="0066FF"/>
                </a:solidFill>
              </a:rPr>
              <a:t> </a:t>
            </a:r>
            <a:r>
              <a:rPr lang="en-US" sz="2800" dirty="0" err="1">
                <a:solidFill>
                  <a:srgbClr val="0066FF"/>
                </a:solidFill>
              </a:rPr>
              <a:t>điểm</a:t>
            </a:r>
            <a:r>
              <a:rPr lang="en-US" sz="2800" dirty="0">
                <a:solidFill>
                  <a:srgbClr val="0066FF"/>
                </a:solidFill>
              </a:rPr>
              <a:t> </a:t>
            </a:r>
            <a:r>
              <a:rPr lang="en-US" sz="2800" dirty="0">
                <a:solidFill>
                  <a:schemeClr val="tx1"/>
                </a:solidFill>
                <a:highlight>
                  <a:srgbClr val="FFFF00"/>
                </a:highlight>
              </a:rPr>
              <a:t>(level, salary)</a:t>
            </a:r>
            <a:r>
              <a:rPr lang="en-US" sz="2800" dirty="0">
                <a:solidFill>
                  <a:srgbClr val="0066FF"/>
                </a:solidFill>
              </a:rPr>
              <a:t> </a:t>
            </a:r>
            <a:r>
              <a:rPr lang="en-US" sz="2800" dirty="0" err="1">
                <a:solidFill>
                  <a:srgbClr val="0066FF"/>
                </a:solidFill>
              </a:rPr>
              <a:t>lên</a:t>
            </a:r>
            <a:r>
              <a:rPr lang="en-US" sz="2800" dirty="0">
                <a:solidFill>
                  <a:srgbClr val="0066FF"/>
                </a:solidFill>
              </a:rPr>
              <a:t> </a:t>
            </a:r>
            <a:r>
              <a:rPr lang="en-US" sz="2800" dirty="0" err="1">
                <a:solidFill>
                  <a:srgbClr val="0066FF"/>
                </a:solidFill>
              </a:rPr>
              <a:t>mặt</a:t>
            </a:r>
            <a:r>
              <a:rPr lang="en-US" sz="2800" dirty="0">
                <a:solidFill>
                  <a:srgbClr val="0066FF"/>
                </a:solidFill>
              </a:rPr>
              <a:t> </a:t>
            </a:r>
            <a:r>
              <a:rPr lang="en-US" sz="2800" dirty="0" err="1">
                <a:solidFill>
                  <a:srgbClr val="0066FF"/>
                </a:solidFill>
              </a:rPr>
              <a:t>phẳng</a:t>
            </a:r>
            <a:r>
              <a:rPr lang="en-US" sz="2800" dirty="0">
                <a:solidFill>
                  <a:srgbClr val="0066FF"/>
                </a:solidFill>
              </a:rPr>
              <a:t> </a:t>
            </a:r>
            <a:r>
              <a:rPr lang="en-US" sz="2800" dirty="0" err="1">
                <a:solidFill>
                  <a:srgbClr val="0066FF"/>
                </a:solidFill>
              </a:rPr>
              <a:t>tọa</a:t>
            </a:r>
            <a:r>
              <a:rPr lang="en-US" sz="2800" dirty="0">
                <a:solidFill>
                  <a:srgbClr val="0066FF"/>
                </a:solidFill>
              </a:rPr>
              <a:t> </a:t>
            </a:r>
            <a:r>
              <a:rPr lang="en-US" sz="2800" dirty="0" err="1">
                <a:solidFill>
                  <a:srgbClr val="0066FF"/>
                </a:solidFill>
              </a:rPr>
              <a:t>độ</a:t>
            </a:r>
            <a:r>
              <a:rPr lang="en-US" sz="2800" dirty="0">
                <a:solidFill>
                  <a:srgbClr val="0066FF"/>
                </a:solidFill>
              </a:rPr>
              <a:t> </a:t>
            </a:r>
            <a:r>
              <a:rPr lang="en-US" sz="2800" dirty="0" err="1">
                <a:solidFill>
                  <a:srgbClr val="0066FF"/>
                </a:solidFill>
              </a:rPr>
              <a:t>để</a:t>
            </a:r>
            <a:r>
              <a:rPr lang="en-US" sz="2800" dirty="0">
                <a:solidFill>
                  <a:srgbClr val="0066FF"/>
                </a:solidFill>
              </a:rPr>
              <a:t> </a:t>
            </a:r>
            <a:r>
              <a:rPr lang="en-US" sz="2800" dirty="0" err="1">
                <a:solidFill>
                  <a:srgbClr val="0066FF"/>
                </a:solidFill>
              </a:rPr>
              <a:t>xem</a:t>
            </a:r>
            <a:r>
              <a:rPr lang="en-US" sz="2800" dirty="0">
                <a:solidFill>
                  <a:srgbClr val="0066FF"/>
                </a:solidFill>
              </a:rPr>
              <a:t> </a:t>
            </a:r>
            <a:r>
              <a:rPr lang="en-US" sz="2800" dirty="0" err="1">
                <a:solidFill>
                  <a:srgbClr val="0066FF"/>
                </a:solidFill>
              </a:rPr>
              <a:t>xét</a:t>
            </a:r>
            <a:r>
              <a:rPr lang="en-US" sz="2800" dirty="0">
                <a:solidFill>
                  <a:srgbClr val="0066FF"/>
                </a:solidFill>
              </a:rPr>
              <a:t> </a:t>
            </a:r>
            <a:r>
              <a:rPr lang="en-US" sz="2800" dirty="0" err="1">
                <a:solidFill>
                  <a:srgbClr val="0066FF"/>
                </a:solidFill>
              </a:rPr>
              <a:t>sự</a:t>
            </a:r>
            <a:r>
              <a:rPr lang="en-US" sz="2800" dirty="0">
                <a:solidFill>
                  <a:srgbClr val="0066FF"/>
                </a:solidFill>
              </a:rPr>
              <a:t> t</a:t>
            </a:r>
            <a:r>
              <a:rPr lang="vi-VN" sz="2800" dirty="0">
                <a:solidFill>
                  <a:srgbClr val="0066FF"/>
                </a:solidFill>
              </a:rPr>
              <a:t>ư</a:t>
            </a:r>
            <a:r>
              <a:rPr lang="en-US" sz="2800" dirty="0" err="1">
                <a:solidFill>
                  <a:srgbClr val="0066FF"/>
                </a:solidFill>
              </a:rPr>
              <a:t>ơng</a:t>
            </a:r>
            <a:r>
              <a:rPr lang="en-US" sz="2800" dirty="0">
                <a:solidFill>
                  <a:srgbClr val="0066FF"/>
                </a:solidFill>
              </a:rPr>
              <a:t> </a:t>
            </a:r>
            <a:r>
              <a:rPr lang="en-US" sz="2800" dirty="0" err="1">
                <a:solidFill>
                  <a:srgbClr val="0066FF"/>
                </a:solidFill>
              </a:rPr>
              <a:t>quan</a:t>
            </a:r>
            <a:r>
              <a:rPr lang="en-US" sz="2800" dirty="0">
                <a:solidFill>
                  <a:srgbClr val="0066FF"/>
                </a:solidFill>
              </a:rPr>
              <a:t> </a:t>
            </a:r>
            <a:r>
              <a:rPr lang="en-US" sz="2800" dirty="0" err="1">
                <a:solidFill>
                  <a:srgbClr val="0066FF"/>
                </a:solidFill>
              </a:rPr>
              <a:t>giữa</a:t>
            </a:r>
            <a:r>
              <a:rPr lang="en-US" sz="2800" dirty="0">
                <a:solidFill>
                  <a:srgbClr val="0066FF"/>
                </a:solidFill>
              </a:rPr>
              <a:t> </a:t>
            </a:r>
            <a:r>
              <a:rPr lang="en-US" sz="2800" dirty="0" err="1">
                <a:solidFill>
                  <a:srgbClr val="0066FF"/>
                </a:solidFill>
              </a:rPr>
              <a:t>cấp</a:t>
            </a:r>
            <a:r>
              <a:rPr lang="en-US" sz="2800" dirty="0">
                <a:solidFill>
                  <a:srgbClr val="0066FF"/>
                </a:solidFill>
              </a:rPr>
              <a:t> </a:t>
            </a:r>
            <a:r>
              <a:rPr lang="en-US" sz="2800" dirty="0" err="1">
                <a:solidFill>
                  <a:srgbClr val="0066FF"/>
                </a:solidFill>
              </a:rPr>
              <a:t>độ</a:t>
            </a:r>
            <a:r>
              <a:rPr lang="en-US" sz="2800" dirty="0">
                <a:solidFill>
                  <a:srgbClr val="0066FF"/>
                </a:solidFill>
              </a:rPr>
              <a:t> </a:t>
            </a:r>
            <a:r>
              <a:rPr lang="en-US" sz="2800" dirty="0" err="1">
                <a:solidFill>
                  <a:srgbClr val="0066FF"/>
                </a:solidFill>
              </a:rPr>
              <a:t>công</a:t>
            </a:r>
            <a:r>
              <a:rPr lang="en-US" sz="2800" dirty="0">
                <a:solidFill>
                  <a:srgbClr val="0066FF"/>
                </a:solidFill>
              </a:rPr>
              <a:t> </a:t>
            </a:r>
            <a:r>
              <a:rPr lang="en-US" sz="2800" dirty="0" err="1">
                <a:solidFill>
                  <a:srgbClr val="0066FF"/>
                </a:solidFill>
              </a:rPr>
              <a:t>việc</a:t>
            </a:r>
            <a:r>
              <a:rPr lang="en-US" sz="2800" dirty="0">
                <a:solidFill>
                  <a:srgbClr val="0066FF"/>
                </a:solidFill>
              </a:rPr>
              <a:t> </a:t>
            </a:r>
            <a:r>
              <a:rPr lang="en-US" sz="2800" dirty="0" err="1">
                <a:solidFill>
                  <a:srgbClr val="0066FF"/>
                </a:solidFill>
              </a:rPr>
              <a:t>và</a:t>
            </a:r>
            <a:r>
              <a:rPr lang="en-US" sz="2800" dirty="0">
                <a:solidFill>
                  <a:srgbClr val="0066FF"/>
                </a:solidFill>
              </a:rPr>
              <a:t> </a:t>
            </a:r>
            <a:r>
              <a:rPr lang="en-US" sz="2800" dirty="0" err="1">
                <a:solidFill>
                  <a:srgbClr val="0066FF"/>
                </a:solidFill>
              </a:rPr>
              <a:t>mức</a:t>
            </a:r>
            <a:r>
              <a:rPr lang="en-US" sz="2800" dirty="0">
                <a:solidFill>
                  <a:srgbClr val="0066FF"/>
                </a:solidFill>
              </a:rPr>
              <a:t> l</a:t>
            </a:r>
            <a:r>
              <a:rPr lang="vi-VN" sz="2800" dirty="0">
                <a:solidFill>
                  <a:srgbClr val="0066FF"/>
                </a:solidFill>
              </a:rPr>
              <a:t>ư</a:t>
            </a:r>
            <a:r>
              <a:rPr lang="en-US" sz="2800" dirty="0" err="1">
                <a:solidFill>
                  <a:srgbClr val="0066FF"/>
                </a:solidFill>
              </a:rPr>
              <a:t>ơng</a:t>
            </a:r>
            <a:r>
              <a:rPr lang="en-US" sz="2800" dirty="0">
                <a:solidFill>
                  <a:srgbClr val="0066FF"/>
                </a:solidFill>
              </a:rPr>
              <a:t>.</a:t>
            </a:r>
          </a:p>
          <a:p>
            <a:pPr algn="just"/>
            <a:endParaRPr lang="en-US" dirty="0"/>
          </a:p>
          <a:p>
            <a:pPr marL="457200" indent="-457200" algn="just">
              <a:buFont typeface="+mj-lt"/>
              <a:buAutoNum type="arabicPeriod" startAt="6"/>
            </a:pPr>
            <a:r>
              <a:rPr lang="en-US" dirty="0">
                <a:solidFill>
                  <a:srgbClr val="AF00DB"/>
                </a:solidFill>
                <a:latin typeface="Consolas" panose="020B0609020204030204" pitchFamily="49" charset="0"/>
              </a:rPr>
              <a:t>import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matplotlib.pyplot</a:t>
            </a:r>
            <a:r>
              <a:rPr lang="en-US" dirty="0">
                <a:solidFill>
                  <a:srgbClr val="000000"/>
                </a:solidFill>
                <a:latin typeface="Consolas" panose="020B0609020204030204" pitchFamily="49" charset="0"/>
              </a:rPr>
              <a:t> </a:t>
            </a:r>
            <a:r>
              <a:rPr lang="en-US" dirty="0">
                <a:solidFill>
                  <a:srgbClr val="AF00DB"/>
                </a:solidFill>
                <a:latin typeface="Consolas" panose="020B0609020204030204" pitchFamily="49" charset="0"/>
              </a:rPr>
              <a:t>as</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plt</a:t>
            </a:r>
            <a:endParaRPr lang="en-US" dirty="0">
              <a:solidFill>
                <a:srgbClr val="000000"/>
              </a:solidFill>
              <a:latin typeface="Consolas" panose="020B0609020204030204" pitchFamily="49" charset="0"/>
            </a:endParaRPr>
          </a:p>
          <a:p>
            <a:pPr marL="457200" indent="-457200" algn="just">
              <a:buFont typeface="+mj-lt"/>
              <a:buAutoNum type="arabicPeriod" startAt="6"/>
            </a:pPr>
            <a:r>
              <a:rPr lang="es-ES">
                <a:solidFill>
                  <a:srgbClr val="000000"/>
                </a:solidFill>
                <a:highlight>
                  <a:srgbClr val="FFFF00"/>
                </a:highlight>
                <a:latin typeface="Consolas" panose="020B0609020204030204" pitchFamily="49" charset="0"/>
              </a:rPr>
              <a:t>plt</a:t>
            </a:r>
            <a:r>
              <a:rPr lang="es-ES" dirty="0" err="1">
                <a:solidFill>
                  <a:srgbClr val="000000"/>
                </a:solidFill>
                <a:highlight>
                  <a:srgbClr val="FFFF00"/>
                </a:highlight>
                <a:latin typeface="Consolas" panose="020B0609020204030204" pitchFamily="49" charset="0"/>
              </a:rPr>
              <a:t>.scatter</a:t>
            </a:r>
            <a:r>
              <a:rPr lang="es-ES" dirty="0">
                <a:solidFill>
                  <a:srgbClr val="000000"/>
                </a:solidFill>
                <a:highlight>
                  <a:srgbClr val="FFFF00"/>
                </a:highlight>
                <a:latin typeface="Consolas" panose="020B0609020204030204" pitchFamily="49" charset="0"/>
              </a:rPr>
              <a:t>(X, y, </a:t>
            </a:r>
            <a:r>
              <a:rPr lang="es-ES" dirty="0">
                <a:solidFill>
                  <a:srgbClr val="001080"/>
                </a:solidFill>
                <a:highlight>
                  <a:srgbClr val="FFFF00"/>
                </a:highlight>
                <a:latin typeface="Consolas" panose="020B0609020204030204" pitchFamily="49" charset="0"/>
              </a:rPr>
              <a:t>color</a:t>
            </a:r>
            <a:r>
              <a:rPr lang="es-ES" dirty="0">
                <a:solidFill>
                  <a:srgbClr val="000000"/>
                </a:solidFill>
                <a:highlight>
                  <a:srgbClr val="FFFF00"/>
                </a:highlight>
                <a:latin typeface="Consolas" panose="020B0609020204030204" pitchFamily="49" charset="0"/>
              </a:rPr>
              <a:t> = </a:t>
            </a:r>
            <a:r>
              <a:rPr lang="es-ES" dirty="0">
                <a:solidFill>
                  <a:srgbClr val="A31515"/>
                </a:solidFill>
                <a:highlight>
                  <a:srgbClr val="FFFF00"/>
                </a:highlight>
                <a:latin typeface="Consolas" panose="020B0609020204030204" pitchFamily="49" charset="0"/>
              </a:rPr>
              <a:t>"red"</a:t>
            </a:r>
            <a:r>
              <a:rPr lang="es-ES" dirty="0">
                <a:solidFill>
                  <a:srgbClr val="000000"/>
                </a:solidFill>
                <a:highlight>
                  <a:srgbClr val="FFFF00"/>
                </a:highlight>
                <a:latin typeface="Consolas" panose="020B0609020204030204" pitchFamily="49" charset="0"/>
              </a:rPr>
              <a:t>)</a:t>
            </a:r>
          </a:p>
          <a:p>
            <a:pPr marL="457200" indent="-457200" algn="just">
              <a:buFont typeface="+mj-lt"/>
              <a:buAutoNum type="arabicPeriod" startAt="6"/>
            </a:pPr>
            <a:r>
              <a:rPr lang="en-US" dirty="0" err="1">
                <a:solidFill>
                  <a:srgbClr val="000000"/>
                </a:solidFill>
                <a:latin typeface="Consolas" panose="020B0609020204030204" pitchFamily="49" charset="0"/>
              </a:rPr>
              <a:t>plt.title</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"Position Level vs Salary"</a:t>
            </a:r>
            <a:r>
              <a:rPr lang="en-US" dirty="0">
                <a:solidFill>
                  <a:srgbClr val="000000"/>
                </a:solidFill>
                <a:latin typeface="Consolas" panose="020B0609020204030204" pitchFamily="49" charset="0"/>
              </a:rPr>
              <a:t>)</a:t>
            </a:r>
          </a:p>
          <a:p>
            <a:pPr marL="457200" indent="-457200" algn="just">
              <a:buFont typeface="+mj-lt"/>
              <a:buAutoNum type="arabicPeriod" startAt="6"/>
            </a:pPr>
            <a:r>
              <a:rPr lang="vi-VN" dirty="0" err="1">
                <a:solidFill>
                  <a:srgbClr val="000000"/>
                </a:solidFill>
                <a:latin typeface="Consolas" panose="020B0609020204030204" pitchFamily="49" charset="0"/>
              </a:rPr>
              <a:t>plt.xlabel</a:t>
            </a:r>
            <a:r>
              <a:rPr lang="vi-VN" dirty="0">
                <a:solidFill>
                  <a:srgbClr val="000000"/>
                </a:solidFill>
                <a:latin typeface="Consolas" panose="020B0609020204030204" pitchFamily="49" charset="0"/>
              </a:rPr>
              <a:t>(</a:t>
            </a:r>
            <a:r>
              <a:rPr lang="vi-VN" dirty="0">
                <a:solidFill>
                  <a:srgbClr val="A31515"/>
                </a:solidFill>
                <a:latin typeface="Consolas" panose="020B0609020204030204" pitchFamily="49" charset="0"/>
              </a:rPr>
              <a:t>"</a:t>
            </a:r>
            <a:r>
              <a:rPr lang="vi-VN" dirty="0" err="1">
                <a:solidFill>
                  <a:srgbClr val="A31515"/>
                </a:solidFill>
                <a:latin typeface="Consolas" panose="020B0609020204030204" pitchFamily="49" charset="0"/>
              </a:rPr>
              <a:t>Position</a:t>
            </a:r>
            <a:r>
              <a:rPr lang="vi-VN" dirty="0">
                <a:solidFill>
                  <a:srgbClr val="A31515"/>
                </a:solidFill>
                <a:latin typeface="Consolas" panose="020B0609020204030204" pitchFamily="49" charset="0"/>
              </a:rPr>
              <a:t> </a:t>
            </a:r>
            <a:r>
              <a:rPr lang="vi-VN" dirty="0" err="1">
                <a:solidFill>
                  <a:srgbClr val="A31515"/>
                </a:solidFill>
                <a:latin typeface="Consolas" panose="020B0609020204030204" pitchFamily="49" charset="0"/>
              </a:rPr>
              <a:t>Level</a:t>
            </a:r>
            <a:r>
              <a:rPr lang="vi-VN" dirty="0">
                <a:solidFill>
                  <a:srgbClr val="A31515"/>
                </a:solidFill>
                <a:latin typeface="Consolas" panose="020B0609020204030204" pitchFamily="49" charset="0"/>
              </a:rPr>
              <a:t>"</a:t>
            </a:r>
            <a:r>
              <a:rPr lang="vi-VN" dirty="0">
                <a:solidFill>
                  <a:srgbClr val="000000"/>
                </a:solidFill>
                <a:latin typeface="Consolas" panose="020B0609020204030204" pitchFamily="49" charset="0"/>
              </a:rPr>
              <a:t>)</a:t>
            </a:r>
          </a:p>
          <a:p>
            <a:pPr marL="457200" indent="-457200" algn="just">
              <a:buFont typeface="+mj-lt"/>
              <a:buAutoNum type="arabicPeriod" startAt="6"/>
            </a:pPr>
            <a:r>
              <a:rPr lang="en-US" dirty="0" err="1">
                <a:solidFill>
                  <a:srgbClr val="000000"/>
                </a:solidFill>
                <a:latin typeface="Consolas" panose="020B0609020204030204" pitchFamily="49" charset="0"/>
              </a:rPr>
              <a:t>plt.ylabel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"Salary (dollars/year)"</a:t>
            </a:r>
            <a:r>
              <a:rPr lang="en-US" dirty="0">
                <a:solidFill>
                  <a:srgbClr val="000000"/>
                </a:solidFill>
                <a:latin typeface="Consolas" panose="020B0609020204030204" pitchFamily="49" charset="0"/>
              </a:rPr>
              <a:t>)</a:t>
            </a:r>
          </a:p>
          <a:p>
            <a:pPr marL="457200" indent="-457200" algn="just">
              <a:buFont typeface="+mj-lt"/>
              <a:buAutoNum type="arabicPeriod" startAt="6"/>
            </a:pPr>
            <a:r>
              <a:rPr lang="vi-VN" dirty="0" err="1">
                <a:solidFill>
                  <a:srgbClr val="000000"/>
                </a:solidFill>
                <a:latin typeface="Consolas" panose="020B0609020204030204" pitchFamily="49" charset="0"/>
              </a:rPr>
              <a:t>plt.show</a:t>
            </a:r>
            <a:r>
              <a:rPr lang="vi-VN"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66833837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BE354-E15B-4710-81D7-005E1A37C6D3}"/>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sp>
        <p:nvSpPr>
          <p:cNvPr id="4" name="Content Placeholder 3">
            <a:extLst>
              <a:ext uri="{FF2B5EF4-FFF2-40B4-BE49-F238E27FC236}">
                <a16:creationId xmlns:a16="http://schemas.microsoft.com/office/drawing/2014/main" id="{0F26937B-AFF2-4E54-8A2E-326C1C1BA2B4}"/>
              </a:ext>
            </a:extLst>
          </p:cNvPr>
          <p:cNvSpPr>
            <a:spLocks noGrp="1"/>
          </p:cNvSpPr>
          <p:nvPr>
            <p:ph sz="half" idx="2"/>
          </p:nvPr>
        </p:nvSpPr>
        <p:spPr/>
        <p:txBody>
          <a:bodyPr/>
          <a:lstStyle/>
          <a:p>
            <a:pPr algn="just"/>
            <a:r>
              <a:rPr lang="en-US" dirty="0" err="1">
                <a:solidFill>
                  <a:srgbClr val="0066FF"/>
                </a:solidFill>
              </a:rPr>
              <a:t>Tập</a:t>
            </a:r>
            <a:r>
              <a:rPr lang="en-US" dirty="0">
                <a:solidFill>
                  <a:srgbClr val="0066FF"/>
                </a:solidFill>
              </a:rPr>
              <a:t> </a:t>
            </a:r>
            <a:r>
              <a:rPr lang="en-US" dirty="0" err="1">
                <a:solidFill>
                  <a:srgbClr val="0066FF"/>
                </a:solidFill>
              </a:rPr>
              <a:t>dữ</a:t>
            </a:r>
            <a:r>
              <a:rPr lang="en-US" dirty="0">
                <a:solidFill>
                  <a:srgbClr val="0066FF"/>
                </a:solidFill>
              </a:rPr>
              <a:t> </a:t>
            </a:r>
            <a:r>
              <a:rPr lang="en-US" dirty="0" err="1">
                <a:solidFill>
                  <a:srgbClr val="0066FF"/>
                </a:solidFill>
              </a:rPr>
              <a:t>liệu</a:t>
            </a:r>
            <a:r>
              <a:rPr lang="en-US" dirty="0">
                <a:solidFill>
                  <a:srgbClr val="0066FF"/>
                </a:solidFill>
              </a:rPr>
              <a:t> </a:t>
            </a:r>
            <a:r>
              <a:rPr lang="en-US" err="1">
                <a:solidFill>
                  <a:srgbClr val="0066FF"/>
                </a:solidFill>
              </a:rPr>
              <a:t>này</a:t>
            </a:r>
            <a:r>
              <a:rPr lang="en-US">
                <a:solidFill>
                  <a:srgbClr val="0066FF"/>
                </a:solidFill>
              </a:rPr>
              <a:t> không tuyến tính (không </a:t>
            </a:r>
            <a:r>
              <a:rPr lang="en-US" dirty="0" err="1">
                <a:solidFill>
                  <a:srgbClr val="0066FF"/>
                </a:solidFill>
              </a:rPr>
              <a:t>có</a:t>
            </a:r>
            <a:r>
              <a:rPr lang="en-US" dirty="0">
                <a:solidFill>
                  <a:srgbClr val="0066FF"/>
                </a:solidFill>
              </a:rPr>
              <a:t> </a:t>
            </a:r>
            <a:r>
              <a:rPr lang="en-US" dirty="0" err="1">
                <a:solidFill>
                  <a:srgbClr val="0066FF"/>
                </a:solidFill>
              </a:rPr>
              <a:t>dạng</a:t>
            </a:r>
            <a:r>
              <a:rPr lang="en-US" dirty="0">
                <a:solidFill>
                  <a:srgbClr val="0066FF"/>
                </a:solidFill>
              </a:rPr>
              <a:t> </a:t>
            </a:r>
            <a:r>
              <a:rPr lang="en-US" dirty="0" err="1">
                <a:solidFill>
                  <a:srgbClr val="0066FF"/>
                </a:solidFill>
              </a:rPr>
              <a:t>một</a:t>
            </a:r>
            <a:r>
              <a:rPr lang="en-US" dirty="0">
                <a:solidFill>
                  <a:srgbClr val="0066FF"/>
                </a:solidFill>
              </a:rPr>
              <a:t> đ</a:t>
            </a:r>
            <a:r>
              <a:rPr lang="vi-VN" err="1">
                <a:solidFill>
                  <a:srgbClr val="0066FF"/>
                </a:solidFill>
              </a:rPr>
              <a:t>ường</a:t>
            </a:r>
            <a:r>
              <a:rPr lang="vi-VN">
                <a:solidFill>
                  <a:srgbClr val="0066FF"/>
                </a:solidFill>
              </a:rPr>
              <a:t> thẳng</a:t>
            </a:r>
            <a:r>
              <a:rPr lang="en-US">
                <a:solidFill>
                  <a:srgbClr val="0066FF"/>
                </a:solidFill>
              </a:rPr>
              <a:t>)</a:t>
            </a:r>
            <a:r>
              <a:rPr lang="vi-VN">
                <a:solidFill>
                  <a:srgbClr val="0066FF"/>
                </a:solidFill>
              </a:rPr>
              <a:t>. </a:t>
            </a:r>
            <a:endParaRPr lang="vi-VN" dirty="0">
              <a:solidFill>
                <a:srgbClr val="0066FF"/>
              </a:solidFill>
            </a:endParaRPr>
          </a:p>
          <a:p>
            <a:pPr algn="just"/>
            <a:r>
              <a:rPr lang="vi-VN">
                <a:solidFill>
                  <a:srgbClr val="FF0000"/>
                </a:solidFill>
              </a:rPr>
              <a:t>Do đó</a:t>
            </a:r>
            <a:r>
              <a:rPr lang="en-US">
                <a:solidFill>
                  <a:srgbClr val="FF0000"/>
                </a:solidFill>
              </a:rPr>
              <a:t>,</a:t>
            </a:r>
            <a:r>
              <a:rPr lang="vi-VN">
                <a:solidFill>
                  <a:srgbClr val="FF0000"/>
                </a:solidFill>
              </a:rPr>
              <a:t> </a:t>
            </a:r>
            <a:r>
              <a:rPr lang="en-US">
                <a:solidFill>
                  <a:srgbClr val="FF0000"/>
                </a:solidFill>
              </a:rPr>
              <a:t>thuật toán hồi quy tuyến tính – </a:t>
            </a:r>
            <a:r>
              <a:rPr lang="vi-VN">
                <a:solidFill>
                  <a:srgbClr val="FF0000"/>
                </a:solidFill>
              </a:rPr>
              <a:t>Linear </a:t>
            </a:r>
            <a:r>
              <a:rPr lang="vi-VN" dirty="0" err="1">
                <a:solidFill>
                  <a:srgbClr val="FF0000"/>
                </a:solidFill>
              </a:rPr>
              <a:t>Regression</a:t>
            </a:r>
            <a:r>
              <a:rPr lang="vi-VN" dirty="0">
                <a:solidFill>
                  <a:srgbClr val="FF0000"/>
                </a:solidFill>
              </a:rPr>
              <a:t> </a:t>
            </a:r>
            <a:r>
              <a:rPr lang="vi-VN" dirty="0" err="1">
                <a:solidFill>
                  <a:srgbClr val="FF0000"/>
                </a:solidFill>
              </a:rPr>
              <a:t>sẽ</a:t>
            </a:r>
            <a:r>
              <a:rPr lang="vi-VN" dirty="0">
                <a:solidFill>
                  <a:srgbClr val="FF0000"/>
                </a:solidFill>
              </a:rPr>
              <a:t> không </a:t>
            </a:r>
            <a:r>
              <a:rPr lang="vi-VN" dirty="0" err="1">
                <a:solidFill>
                  <a:srgbClr val="FF0000"/>
                </a:solidFill>
              </a:rPr>
              <a:t>hoạt</a:t>
            </a:r>
            <a:r>
              <a:rPr lang="vi-VN" dirty="0">
                <a:solidFill>
                  <a:srgbClr val="FF0000"/>
                </a:solidFill>
              </a:rPr>
              <a:t> </a:t>
            </a:r>
            <a:r>
              <a:rPr lang="vi-VN" dirty="0" err="1">
                <a:solidFill>
                  <a:srgbClr val="FF0000"/>
                </a:solidFill>
              </a:rPr>
              <a:t>động</a:t>
            </a:r>
            <a:r>
              <a:rPr lang="vi-VN" dirty="0">
                <a:solidFill>
                  <a:srgbClr val="FF0000"/>
                </a:solidFill>
              </a:rPr>
              <a:t> </a:t>
            </a:r>
            <a:r>
              <a:rPr lang="vi-VN" dirty="0" err="1">
                <a:solidFill>
                  <a:srgbClr val="FF0000"/>
                </a:solidFill>
              </a:rPr>
              <a:t>tốt</a:t>
            </a:r>
            <a:r>
              <a:rPr lang="vi-VN" dirty="0">
                <a:solidFill>
                  <a:srgbClr val="FF0000"/>
                </a:solidFill>
              </a:rPr>
              <a:t> trên </a:t>
            </a:r>
            <a:r>
              <a:rPr lang="vi-VN" dirty="0" err="1">
                <a:solidFill>
                  <a:srgbClr val="FF0000"/>
                </a:solidFill>
              </a:rPr>
              <a:t>tập</a:t>
            </a:r>
            <a:r>
              <a:rPr lang="vi-VN" dirty="0">
                <a:solidFill>
                  <a:srgbClr val="FF0000"/>
                </a:solidFill>
              </a:rPr>
              <a:t> </a:t>
            </a:r>
            <a:r>
              <a:rPr lang="vi-VN" dirty="0" err="1">
                <a:solidFill>
                  <a:srgbClr val="FF0000"/>
                </a:solidFill>
              </a:rPr>
              <a:t>dữ</a:t>
            </a:r>
            <a:r>
              <a:rPr lang="vi-VN" dirty="0">
                <a:solidFill>
                  <a:srgbClr val="FF0000"/>
                </a:solidFill>
              </a:rPr>
              <a:t> </a:t>
            </a:r>
            <a:r>
              <a:rPr lang="vi-VN" dirty="0" err="1">
                <a:solidFill>
                  <a:srgbClr val="FF0000"/>
                </a:solidFill>
              </a:rPr>
              <a:t>liệu</a:t>
            </a:r>
            <a:r>
              <a:rPr lang="vi-VN" dirty="0">
                <a:solidFill>
                  <a:srgbClr val="FF0000"/>
                </a:solidFill>
              </a:rPr>
              <a:t> </a:t>
            </a:r>
            <a:r>
              <a:rPr lang="vi-VN" dirty="0" err="1">
                <a:solidFill>
                  <a:srgbClr val="FF0000"/>
                </a:solidFill>
              </a:rPr>
              <a:t>này</a:t>
            </a:r>
            <a:r>
              <a:rPr lang="vi-VN" dirty="0">
                <a:solidFill>
                  <a:srgbClr val="FF0000"/>
                </a:solidFill>
              </a:rPr>
              <a:t>.</a:t>
            </a:r>
          </a:p>
        </p:txBody>
      </p:sp>
      <p:pic>
        <p:nvPicPr>
          <p:cNvPr id="8" name="Content Placeholder 7">
            <a:extLst>
              <a:ext uri="{FF2B5EF4-FFF2-40B4-BE49-F238E27FC236}">
                <a16:creationId xmlns:a16="http://schemas.microsoft.com/office/drawing/2014/main" id="{ABE57378-1C58-46D1-9B70-0D6919028BA6}"/>
              </a:ext>
            </a:extLst>
          </p:cNvPr>
          <p:cNvPicPr>
            <a:picLocks noGrp="1" noChangeAspect="1"/>
          </p:cNvPicPr>
          <p:nvPr>
            <p:ph sz="half" idx="1"/>
          </p:nvPr>
        </p:nvPicPr>
        <p:blipFill>
          <a:blip r:embed="rId2"/>
          <a:stretch>
            <a:fillRect/>
          </a:stretch>
        </p:blipFill>
        <p:spPr>
          <a:xfrm>
            <a:off x="609600" y="1923961"/>
            <a:ext cx="5384800" cy="3878441"/>
          </a:xfrm>
          <a:prstGeom prst="rect">
            <a:avLst/>
          </a:prstGeom>
        </p:spPr>
      </p:pic>
    </p:spTree>
    <p:extLst>
      <p:ext uri="{BB962C8B-B14F-4D97-AF65-F5344CB8AC3E}">
        <p14:creationId xmlns:p14="http://schemas.microsoft.com/office/powerpoint/2010/main" val="252505446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2D2A78-956B-4E56-BCBA-038444F91A0D}"/>
              </a:ext>
            </a:extLst>
          </p:cNvPr>
          <p:cNvSpPr>
            <a:spLocks noGrp="1"/>
          </p:cNvSpPr>
          <p:nvPr>
            <p:ph type="title"/>
          </p:nvPr>
        </p:nvSpPr>
        <p:spPr/>
        <p:txBody>
          <a:bodyPr/>
          <a:lstStyle/>
          <a:p>
            <a:r>
              <a:rPr lang="en-US" dirty="0"/>
              <a:t>Polynomial Linear Regression</a:t>
            </a:r>
            <a:endParaRPr lang="vi-VN" dirty="0"/>
          </a:p>
        </p:txBody>
      </p:sp>
      <p:sp>
        <p:nvSpPr>
          <p:cNvPr id="5" name="Text Placeholder 4">
            <a:extLst>
              <a:ext uri="{FF2B5EF4-FFF2-40B4-BE49-F238E27FC236}">
                <a16:creationId xmlns:a16="http://schemas.microsoft.com/office/drawing/2014/main" id="{06CEF2BD-C5AB-450D-ABC0-548A2E616927}"/>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118182894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3921AA-1C5A-4686-B111-3B71E3AADD65}"/>
              </a:ext>
            </a:extLst>
          </p:cNvPr>
          <p:cNvSpPr>
            <a:spLocks noGrp="1"/>
          </p:cNvSpPr>
          <p:nvPr>
            <p:ph type="title"/>
          </p:nvPr>
        </p:nvSpPr>
        <p:spPr/>
        <p:txBody>
          <a:bodyPr/>
          <a:lstStyle/>
          <a:p>
            <a:r>
              <a:rPr lang="en-US" dirty="0"/>
              <a:t>Polynomial Linear Regression</a:t>
            </a:r>
            <a:endParaRPr lang="vi-V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E30D07AC-6477-48C8-AB77-C3A89A339D51}"/>
                  </a:ext>
                </a:extLst>
              </p:cNvPr>
              <p:cNvSpPr>
                <a:spLocks noGrp="1"/>
              </p:cNvSpPr>
              <p:nvPr>
                <p:ph idx="1"/>
              </p:nvPr>
            </p:nvSpPr>
            <p:spPr/>
            <p:txBody>
              <a:bodyPr/>
              <a:lstStyle/>
              <a:p>
                <a:pPr algn="just">
                  <a:spcBef>
                    <a:spcPts val="0"/>
                  </a:spcBef>
                </a:pPr>
                <a:r>
                  <a:rPr lang="en-US" sz="2800" dirty="0">
                    <a:solidFill>
                      <a:srgbClr val="0066FF"/>
                    </a:solidFill>
                  </a:rPr>
                  <a:t>Polynomial Regression (hay Polynomial Linear Regression) </a:t>
                </a:r>
                <a:r>
                  <a:rPr lang="en-US" sz="2800" err="1">
                    <a:solidFill>
                      <a:srgbClr val="0066FF"/>
                    </a:solidFill>
                  </a:rPr>
                  <a:t>là</a:t>
                </a:r>
                <a:r>
                  <a:rPr lang="en-US" sz="2800">
                    <a:solidFill>
                      <a:srgbClr val="0066FF"/>
                    </a:solidFill>
                  </a:rPr>
                  <a:t> hồi </a:t>
                </a:r>
                <a:r>
                  <a:rPr lang="en-US" sz="2800" dirty="0" err="1">
                    <a:solidFill>
                      <a:srgbClr val="0066FF"/>
                    </a:solidFill>
                  </a:rPr>
                  <a:t>quy</a:t>
                </a:r>
                <a:r>
                  <a:rPr lang="en-US" sz="2800" dirty="0">
                    <a:solidFill>
                      <a:srgbClr val="0066FF"/>
                    </a:solidFill>
                  </a:rPr>
                  <a:t> </a:t>
                </a:r>
                <a:r>
                  <a:rPr lang="en-US" sz="2800" dirty="0" err="1">
                    <a:solidFill>
                      <a:srgbClr val="0066FF"/>
                    </a:solidFill>
                  </a:rPr>
                  <a:t>đa</a:t>
                </a:r>
                <a:r>
                  <a:rPr lang="en-US" sz="2800" dirty="0">
                    <a:solidFill>
                      <a:srgbClr val="0066FF"/>
                    </a:solidFill>
                  </a:rPr>
                  <a:t> </a:t>
                </a:r>
                <a:r>
                  <a:rPr lang="en-US" sz="2800" dirty="0" err="1">
                    <a:solidFill>
                      <a:srgbClr val="0066FF"/>
                    </a:solidFill>
                  </a:rPr>
                  <a:t>thức</a:t>
                </a:r>
                <a:r>
                  <a:rPr lang="en-US" sz="2800" dirty="0">
                    <a:solidFill>
                      <a:srgbClr val="0066FF"/>
                    </a:solidFill>
                  </a:rPr>
                  <a:t>.</a:t>
                </a:r>
              </a:p>
              <a:p>
                <a:pPr algn="just">
                  <a:spcBef>
                    <a:spcPts val="0"/>
                  </a:spcBef>
                </a:pPr>
                <a:r>
                  <a:rPr lang="en-US" sz="2800">
                    <a:solidFill>
                      <a:srgbClr val="FF0000"/>
                    </a:solidFill>
                  </a:rPr>
                  <a:t>Mô </a:t>
                </a:r>
                <a:r>
                  <a:rPr lang="en-US" sz="2800" err="1">
                    <a:solidFill>
                      <a:srgbClr val="FF0000"/>
                    </a:solidFill>
                  </a:rPr>
                  <a:t>hình</a:t>
                </a:r>
                <a:r>
                  <a:rPr lang="en-US" sz="2800">
                    <a:solidFill>
                      <a:srgbClr val="FF0000"/>
                    </a:solidFill>
                  </a:rPr>
                  <a:t> hồi quy đa thức </a:t>
                </a:r>
                <a:r>
                  <a:rPr lang="en-US" sz="2800" dirty="0">
                    <a:solidFill>
                      <a:srgbClr val="FF0000"/>
                    </a:solidFill>
                  </a:rPr>
                  <a:t>đ</a:t>
                </a:r>
                <a:r>
                  <a:rPr lang="vi-VN" sz="2800" dirty="0">
                    <a:solidFill>
                      <a:srgbClr val="FF0000"/>
                    </a:solidFill>
                  </a:rPr>
                  <a:t>ơ</a:t>
                </a:r>
                <a:r>
                  <a:rPr lang="en-US" sz="2800" dirty="0">
                    <a:solidFill>
                      <a:srgbClr val="FF0000"/>
                    </a:solidFill>
                  </a:rPr>
                  <a:t>n </a:t>
                </a:r>
                <a:r>
                  <a:rPr lang="en-US" sz="2800" dirty="0" err="1">
                    <a:solidFill>
                      <a:srgbClr val="FF0000"/>
                    </a:solidFill>
                  </a:rPr>
                  <a:t>biến</a:t>
                </a:r>
                <a:r>
                  <a:rPr lang="en-US" sz="2800" dirty="0">
                    <a:solidFill>
                      <a:srgbClr val="FF0000"/>
                    </a:solidFill>
                  </a:rPr>
                  <a:t> </a:t>
                </a:r>
                <a:r>
                  <a:rPr lang="en-US" sz="2800" dirty="0" err="1">
                    <a:solidFill>
                      <a:srgbClr val="FF0000"/>
                    </a:solidFill>
                  </a:rPr>
                  <a:t>có</a:t>
                </a:r>
                <a:r>
                  <a:rPr lang="en-US" sz="2800" dirty="0">
                    <a:solidFill>
                      <a:srgbClr val="FF0000"/>
                    </a:solidFill>
                  </a:rPr>
                  <a:t> </a:t>
                </a:r>
                <a:r>
                  <a:rPr lang="en-US" sz="2800" dirty="0" err="1">
                    <a:solidFill>
                      <a:srgbClr val="FF0000"/>
                    </a:solidFill>
                  </a:rPr>
                  <a:t>dạng</a:t>
                </a:r>
                <a:r>
                  <a:rPr lang="en-US" sz="2800" dirty="0">
                    <a:solidFill>
                      <a:srgbClr val="FF0000"/>
                    </a:solidFill>
                  </a:rPr>
                  <a:t> </a:t>
                </a:r>
                <a:r>
                  <a:rPr lang="en-US" sz="2800" dirty="0" err="1">
                    <a:solidFill>
                      <a:srgbClr val="FF0000"/>
                    </a:solidFill>
                  </a:rPr>
                  <a:t>nh</a:t>
                </a:r>
                <a:r>
                  <a:rPr lang="vi-VN" sz="2800" dirty="0">
                    <a:solidFill>
                      <a:srgbClr val="FF0000"/>
                    </a:solidFill>
                  </a:rPr>
                  <a:t>ư</a:t>
                </a:r>
                <a:r>
                  <a:rPr lang="en-US" sz="2800" dirty="0">
                    <a:solidFill>
                      <a:srgbClr val="FF0000"/>
                    </a:solidFill>
                  </a:rPr>
                  <a:t> </a:t>
                </a:r>
                <a:r>
                  <a:rPr lang="en-US" sz="2800" dirty="0" err="1">
                    <a:solidFill>
                      <a:srgbClr val="FF0000"/>
                    </a:solidFill>
                  </a:rPr>
                  <a:t>sau</a:t>
                </a:r>
                <a:r>
                  <a:rPr lang="en-US" sz="2800" dirty="0">
                    <a:solidFill>
                      <a:srgbClr val="FF0000"/>
                    </a:solidFill>
                  </a:rPr>
                  <a:t>:</a:t>
                </a:r>
              </a:p>
              <a:p>
                <a:pPr marL="457200" lvl="1" indent="0" algn="just">
                  <a:spcBef>
                    <a:spcPts val="0"/>
                  </a:spcBef>
                  <a:buNone/>
                </a:pPr>
                <a14:m>
                  <m:oMathPara xmlns:m="http://schemas.openxmlformats.org/officeDocument/2006/math">
                    <m:oMathParaPr>
                      <m:jc m:val="centerGroup"/>
                    </m:oMathParaPr>
                    <m:oMath xmlns:m="http://schemas.openxmlformats.org/officeDocument/2006/math">
                      <m:r>
                        <a:rPr lang="en-US" sz="2800" b="0" i="1" smtClean="0">
                          <a:solidFill>
                            <a:srgbClr val="0066FF"/>
                          </a:solidFill>
                          <a:latin typeface="Cambria Math" panose="02040503050406030204" pitchFamily="18" charset="0"/>
                        </a:rPr>
                        <m:t>𝑦</m:t>
                      </m:r>
                      <m:r>
                        <a:rPr lang="en-US" sz="2800" b="0" i="1" smtClean="0">
                          <a:solidFill>
                            <a:srgbClr val="0066FF"/>
                          </a:solidFill>
                          <a:latin typeface="Cambria Math" panose="02040503050406030204" pitchFamily="18" charset="0"/>
                        </a:rPr>
                        <m:t>=</m:t>
                      </m:r>
                      <m:sSub>
                        <m:sSubPr>
                          <m:ctrlPr>
                            <a:rPr lang="en-US" sz="2800" b="0" i="1" smtClean="0">
                              <a:solidFill>
                                <a:srgbClr val="0066FF"/>
                              </a:solidFill>
                              <a:latin typeface="Cambria Math" panose="02040503050406030204" pitchFamily="18" charset="0"/>
                            </a:rPr>
                          </m:ctrlPr>
                        </m:sSubPr>
                        <m:e>
                          <m:r>
                            <a:rPr lang="en-US" sz="2800" b="0" i="1" smtClean="0">
                              <a:solidFill>
                                <a:srgbClr val="0066FF"/>
                              </a:solidFill>
                              <a:latin typeface="Cambria Math" panose="02040503050406030204" pitchFamily="18" charset="0"/>
                            </a:rPr>
                            <m:t>𝑤</m:t>
                          </m:r>
                        </m:e>
                        <m:sub>
                          <m:r>
                            <a:rPr lang="en-US" sz="2800" b="0" i="1" smtClean="0">
                              <a:solidFill>
                                <a:srgbClr val="0066FF"/>
                              </a:solidFill>
                              <a:latin typeface="Cambria Math" panose="02040503050406030204" pitchFamily="18" charset="0"/>
                            </a:rPr>
                            <m:t>0</m:t>
                          </m:r>
                        </m:sub>
                      </m:sSub>
                      <m:r>
                        <a:rPr lang="en-US" sz="2800" b="0" i="1" smtClean="0">
                          <a:solidFill>
                            <a:srgbClr val="0066FF"/>
                          </a:solidFill>
                          <a:latin typeface="Cambria Math" panose="02040503050406030204" pitchFamily="18" charset="0"/>
                        </a:rPr>
                        <m:t>+</m:t>
                      </m:r>
                      <m:sSub>
                        <m:sSubPr>
                          <m:ctrlPr>
                            <a:rPr lang="en-US" sz="2800" b="0" i="1" smtClean="0">
                              <a:solidFill>
                                <a:srgbClr val="0066FF"/>
                              </a:solidFill>
                              <a:latin typeface="Cambria Math" panose="02040503050406030204" pitchFamily="18" charset="0"/>
                            </a:rPr>
                          </m:ctrlPr>
                        </m:sSubPr>
                        <m:e>
                          <m:r>
                            <a:rPr lang="en-US" sz="2800" b="0" i="1" smtClean="0">
                              <a:solidFill>
                                <a:srgbClr val="0066FF"/>
                              </a:solidFill>
                              <a:latin typeface="Cambria Math" panose="02040503050406030204" pitchFamily="18" charset="0"/>
                            </a:rPr>
                            <m:t>𝑤</m:t>
                          </m:r>
                        </m:e>
                        <m:sub>
                          <m:r>
                            <a:rPr lang="en-US" sz="2800" b="0" i="1" smtClean="0">
                              <a:solidFill>
                                <a:srgbClr val="0066FF"/>
                              </a:solidFill>
                              <a:latin typeface="Cambria Math" panose="02040503050406030204" pitchFamily="18" charset="0"/>
                            </a:rPr>
                            <m:t>1</m:t>
                          </m:r>
                        </m:sub>
                      </m:sSub>
                      <m:r>
                        <a:rPr lang="en-US" sz="2800" b="0" i="1" smtClean="0">
                          <a:solidFill>
                            <a:srgbClr val="0066FF"/>
                          </a:solidFill>
                          <a:latin typeface="Cambria Math" panose="02040503050406030204" pitchFamily="18" charset="0"/>
                          <a:ea typeface="Cambria Math" panose="02040503050406030204" pitchFamily="18" charset="0"/>
                        </a:rPr>
                        <m:t>×</m:t>
                      </m:r>
                      <m:r>
                        <a:rPr lang="en-US" sz="2800" b="0" i="1" smtClean="0">
                          <a:solidFill>
                            <a:srgbClr val="0066FF"/>
                          </a:solidFill>
                          <a:latin typeface="Cambria Math" panose="02040503050406030204" pitchFamily="18" charset="0"/>
                          <a:ea typeface="Cambria Math" panose="02040503050406030204" pitchFamily="18" charset="0"/>
                        </a:rPr>
                        <m:t>𝑥</m:t>
                      </m:r>
                      <m:r>
                        <a:rPr lang="en-US" sz="2800" b="0" i="1" smtClean="0">
                          <a:solidFill>
                            <a:srgbClr val="0066FF"/>
                          </a:solidFill>
                          <a:latin typeface="Cambria Math" panose="02040503050406030204" pitchFamily="18" charset="0"/>
                          <a:ea typeface="Cambria Math" panose="02040503050406030204" pitchFamily="18" charset="0"/>
                        </a:rPr>
                        <m:t>+</m:t>
                      </m:r>
                      <m:sSub>
                        <m:sSubPr>
                          <m:ctrlPr>
                            <a:rPr lang="en-US" sz="2800" b="0" i="1" smtClean="0">
                              <a:solidFill>
                                <a:srgbClr val="0066FF"/>
                              </a:solidFill>
                              <a:latin typeface="Cambria Math" panose="02040503050406030204" pitchFamily="18" charset="0"/>
                              <a:ea typeface="Cambria Math" panose="02040503050406030204" pitchFamily="18" charset="0"/>
                            </a:rPr>
                          </m:ctrlPr>
                        </m:sSubPr>
                        <m:e>
                          <m:r>
                            <a:rPr lang="en-US" sz="2800" b="0" i="1" smtClean="0">
                              <a:solidFill>
                                <a:srgbClr val="0066FF"/>
                              </a:solidFill>
                              <a:latin typeface="Cambria Math" panose="02040503050406030204" pitchFamily="18" charset="0"/>
                              <a:ea typeface="Cambria Math" panose="02040503050406030204" pitchFamily="18" charset="0"/>
                            </a:rPr>
                            <m:t>𝑤</m:t>
                          </m:r>
                        </m:e>
                        <m:sub>
                          <m:r>
                            <a:rPr lang="en-US" sz="2800" b="0" i="1" smtClean="0">
                              <a:solidFill>
                                <a:srgbClr val="0066FF"/>
                              </a:solidFill>
                              <a:latin typeface="Cambria Math" panose="02040503050406030204" pitchFamily="18" charset="0"/>
                              <a:ea typeface="Cambria Math" panose="02040503050406030204" pitchFamily="18" charset="0"/>
                            </a:rPr>
                            <m:t>2</m:t>
                          </m:r>
                        </m:sub>
                      </m:sSub>
                      <m:r>
                        <a:rPr lang="en-US" sz="2800" b="0" i="1" smtClean="0">
                          <a:solidFill>
                            <a:srgbClr val="0066FF"/>
                          </a:solidFill>
                          <a:latin typeface="Cambria Math" panose="02040503050406030204" pitchFamily="18" charset="0"/>
                          <a:ea typeface="Cambria Math" panose="02040503050406030204" pitchFamily="18" charset="0"/>
                        </a:rPr>
                        <m:t>×</m:t>
                      </m:r>
                      <m:sSup>
                        <m:sSupPr>
                          <m:ctrlPr>
                            <a:rPr lang="en-US" sz="2800" b="0" i="1" smtClean="0">
                              <a:solidFill>
                                <a:srgbClr val="0066FF"/>
                              </a:solidFill>
                              <a:latin typeface="Cambria Math" panose="02040503050406030204" pitchFamily="18" charset="0"/>
                              <a:ea typeface="Cambria Math" panose="02040503050406030204" pitchFamily="18" charset="0"/>
                            </a:rPr>
                          </m:ctrlPr>
                        </m:sSupPr>
                        <m:e>
                          <m:r>
                            <a:rPr lang="en-US" sz="2800" b="0" i="1" smtClean="0">
                              <a:solidFill>
                                <a:srgbClr val="0066FF"/>
                              </a:solidFill>
                              <a:latin typeface="Cambria Math" panose="02040503050406030204" pitchFamily="18" charset="0"/>
                              <a:ea typeface="Cambria Math" panose="02040503050406030204" pitchFamily="18" charset="0"/>
                            </a:rPr>
                            <m:t>𝑥</m:t>
                          </m:r>
                        </m:e>
                        <m:sup>
                          <m:r>
                            <a:rPr lang="en-US" sz="2800" b="0" i="1" smtClean="0">
                              <a:solidFill>
                                <a:srgbClr val="0066FF"/>
                              </a:solidFill>
                              <a:latin typeface="Cambria Math" panose="02040503050406030204" pitchFamily="18" charset="0"/>
                              <a:ea typeface="Cambria Math" panose="02040503050406030204" pitchFamily="18" charset="0"/>
                            </a:rPr>
                            <m:t>2</m:t>
                          </m:r>
                        </m:sup>
                      </m:sSup>
                      <m:r>
                        <a:rPr lang="en-US" sz="2800" b="0" i="1" smtClean="0">
                          <a:solidFill>
                            <a:srgbClr val="0066FF"/>
                          </a:solidFill>
                          <a:latin typeface="Cambria Math" panose="02040503050406030204" pitchFamily="18" charset="0"/>
                          <a:ea typeface="Cambria Math" panose="02040503050406030204" pitchFamily="18" charset="0"/>
                        </a:rPr>
                        <m:t>+…+</m:t>
                      </m:r>
                      <m:sSub>
                        <m:sSubPr>
                          <m:ctrlPr>
                            <a:rPr lang="en-US" sz="2800" b="0" i="1" smtClean="0">
                              <a:solidFill>
                                <a:srgbClr val="0066FF"/>
                              </a:solidFill>
                              <a:latin typeface="Cambria Math" panose="02040503050406030204" pitchFamily="18" charset="0"/>
                              <a:ea typeface="Cambria Math" panose="02040503050406030204" pitchFamily="18" charset="0"/>
                            </a:rPr>
                          </m:ctrlPr>
                        </m:sSubPr>
                        <m:e>
                          <m:r>
                            <a:rPr lang="en-US" sz="2800" b="0" i="1" smtClean="0">
                              <a:solidFill>
                                <a:srgbClr val="0066FF"/>
                              </a:solidFill>
                              <a:latin typeface="Cambria Math" panose="02040503050406030204" pitchFamily="18" charset="0"/>
                              <a:ea typeface="Cambria Math" panose="02040503050406030204" pitchFamily="18" charset="0"/>
                            </a:rPr>
                            <m:t>𝑤</m:t>
                          </m:r>
                        </m:e>
                        <m:sub>
                          <m:r>
                            <a:rPr lang="en-US" sz="2800" b="0" i="1" smtClean="0">
                              <a:solidFill>
                                <a:srgbClr val="0066FF"/>
                              </a:solidFill>
                              <a:latin typeface="Cambria Math" panose="02040503050406030204" pitchFamily="18" charset="0"/>
                              <a:ea typeface="Cambria Math" panose="02040503050406030204" pitchFamily="18" charset="0"/>
                            </a:rPr>
                            <m:t>𝑛</m:t>
                          </m:r>
                        </m:sub>
                      </m:sSub>
                      <m:r>
                        <a:rPr lang="en-US" sz="2800" b="0" i="1" smtClean="0">
                          <a:solidFill>
                            <a:srgbClr val="0066FF"/>
                          </a:solidFill>
                          <a:latin typeface="Cambria Math" panose="02040503050406030204" pitchFamily="18" charset="0"/>
                          <a:ea typeface="Cambria Math" panose="02040503050406030204" pitchFamily="18" charset="0"/>
                        </a:rPr>
                        <m:t>×</m:t>
                      </m:r>
                      <m:sSup>
                        <m:sSupPr>
                          <m:ctrlPr>
                            <a:rPr lang="en-US" sz="2800" b="0" i="1" smtClean="0">
                              <a:solidFill>
                                <a:srgbClr val="0066FF"/>
                              </a:solidFill>
                              <a:latin typeface="Cambria Math" panose="02040503050406030204" pitchFamily="18" charset="0"/>
                              <a:ea typeface="Cambria Math" panose="02040503050406030204" pitchFamily="18" charset="0"/>
                            </a:rPr>
                          </m:ctrlPr>
                        </m:sSupPr>
                        <m:e>
                          <m:r>
                            <a:rPr lang="en-US" sz="2800" b="0" i="1" smtClean="0">
                              <a:solidFill>
                                <a:srgbClr val="0066FF"/>
                              </a:solidFill>
                              <a:latin typeface="Cambria Math" panose="02040503050406030204" pitchFamily="18" charset="0"/>
                              <a:ea typeface="Cambria Math" panose="02040503050406030204" pitchFamily="18" charset="0"/>
                            </a:rPr>
                            <m:t>𝑥</m:t>
                          </m:r>
                        </m:e>
                        <m:sup>
                          <m:r>
                            <a:rPr lang="en-US" sz="2800" b="0" i="1" smtClean="0">
                              <a:solidFill>
                                <a:srgbClr val="0066FF"/>
                              </a:solidFill>
                              <a:latin typeface="Cambria Math" panose="02040503050406030204" pitchFamily="18" charset="0"/>
                              <a:ea typeface="Cambria Math" panose="02040503050406030204" pitchFamily="18" charset="0"/>
                            </a:rPr>
                            <m:t>𝑛</m:t>
                          </m:r>
                        </m:sup>
                      </m:sSup>
                    </m:oMath>
                  </m:oMathPara>
                </a14:m>
                <a:endParaRPr lang="en-US" sz="2800" dirty="0">
                  <a:solidFill>
                    <a:srgbClr val="FF0000"/>
                  </a:solidFill>
                </a:endParaRPr>
              </a:p>
              <a:p>
                <a:pPr algn="just">
                  <a:spcBef>
                    <a:spcPts val="0"/>
                  </a:spcBef>
                </a:pPr>
                <a:r>
                  <a:rPr lang="en-US" sz="2800" dirty="0" err="1">
                    <a:solidFill>
                      <a:srgbClr val="FF0000"/>
                    </a:solidFill>
                  </a:rPr>
                  <a:t>Trong</a:t>
                </a:r>
                <a:r>
                  <a:rPr lang="en-US" sz="2800" dirty="0">
                    <a:solidFill>
                      <a:srgbClr val="FF0000"/>
                    </a:solidFill>
                  </a:rPr>
                  <a:t> </a:t>
                </a:r>
                <a:r>
                  <a:rPr lang="en-US" sz="2800" dirty="0" err="1">
                    <a:solidFill>
                      <a:srgbClr val="FF0000"/>
                    </a:solidFill>
                  </a:rPr>
                  <a:t>đó</a:t>
                </a:r>
                <a:r>
                  <a:rPr lang="en-US" sz="2800" dirty="0">
                    <a:solidFill>
                      <a:srgbClr val="FF0000"/>
                    </a:solidFill>
                  </a:rPr>
                  <a:t>:</a:t>
                </a:r>
              </a:p>
              <a:p>
                <a:pPr lvl="1" algn="just">
                  <a:spcBef>
                    <a:spcPts val="0"/>
                  </a:spcBef>
                </a:pPr>
                <a14:m>
                  <m:oMath xmlns:m="http://schemas.openxmlformats.org/officeDocument/2006/math">
                    <m:r>
                      <a:rPr lang="en-US" sz="2800" i="1" dirty="0" smtClean="0">
                        <a:solidFill>
                          <a:srgbClr val="0066FF"/>
                        </a:solidFill>
                        <a:latin typeface="Cambria Math" panose="02040503050406030204" pitchFamily="18" charset="0"/>
                      </a:rPr>
                      <m:t>𝑦</m:t>
                    </m:r>
                  </m:oMath>
                </a14:m>
                <a:r>
                  <a:rPr lang="en-US" sz="2800" dirty="0">
                    <a:solidFill>
                      <a:srgbClr val="0066FF"/>
                    </a:solidFill>
                  </a:rPr>
                  <a:t> </a:t>
                </a:r>
                <a:r>
                  <a:rPr lang="en-US" sz="2800" err="1">
                    <a:solidFill>
                      <a:srgbClr val="0066FF"/>
                    </a:solidFill>
                  </a:rPr>
                  <a:t>là</a:t>
                </a:r>
                <a:r>
                  <a:rPr lang="en-US" sz="2800">
                    <a:solidFill>
                      <a:srgbClr val="0066FF"/>
                    </a:solidFill>
                  </a:rPr>
                  <a:t> mức lương.</a:t>
                </a:r>
                <a:endParaRPr lang="en-US" sz="2800" dirty="0">
                  <a:solidFill>
                    <a:srgbClr val="0066FF"/>
                  </a:solidFill>
                </a:endParaRPr>
              </a:p>
              <a:p>
                <a:pPr lvl="1" algn="just">
                  <a:spcBef>
                    <a:spcPts val="0"/>
                  </a:spcBef>
                </a:pPr>
                <a14:m>
                  <m:oMath xmlns:m="http://schemas.openxmlformats.org/officeDocument/2006/math">
                    <m:r>
                      <a:rPr lang="en-US" sz="2800" i="1" dirty="0" smtClean="0">
                        <a:solidFill>
                          <a:srgbClr val="FF0000"/>
                        </a:solidFill>
                        <a:latin typeface="Cambria Math" panose="02040503050406030204" pitchFamily="18" charset="0"/>
                      </a:rPr>
                      <m:t>𝑥</m:t>
                    </m:r>
                  </m:oMath>
                </a14:m>
                <a:r>
                  <a:rPr lang="en-US" sz="2800" dirty="0">
                    <a:solidFill>
                      <a:srgbClr val="FF0000"/>
                    </a:solidFill>
                  </a:rPr>
                  <a:t> </a:t>
                </a:r>
                <a:r>
                  <a:rPr lang="en-US" sz="2800" err="1">
                    <a:solidFill>
                      <a:srgbClr val="FF0000"/>
                    </a:solidFill>
                  </a:rPr>
                  <a:t>là</a:t>
                </a:r>
                <a:r>
                  <a:rPr lang="en-US" sz="2800">
                    <a:solidFill>
                      <a:srgbClr val="FF0000"/>
                    </a:solidFill>
                  </a:rPr>
                  <a:t> vị trí – level.</a:t>
                </a:r>
                <a:endParaRPr lang="en-US" sz="2800" dirty="0">
                  <a:solidFill>
                    <a:srgbClr val="FF0000"/>
                  </a:solidFill>
                </a:endParaRPr>
              </a:p>
              <a:p>
                <a:pPr lvl="1" algn="just">
                  <a:spcBef>
                    <a:spcPts val="0"/>
                  </a:spcBef>
                </a:pPr>
                <a14:m>
                  <m:oMath xmlns:m="http://schemas.openxmlformats.org/officeDocument/2006/math">
                    <m:sSub>
                      <m:sSubPr>
                        <m:ctrlPr>
                          <a:rPr lang="en-US" sz="2800" i="1" dirty="0" smtClean="0">
                            <a:solidFill>
                              <a:srgbClr val="0066FF"/>
                            </a:solidFill>
                            <a:latin typeface="Cambria Math" panose="02040503050406030204" pitchFamily="18" charset="0"/>
                          </a:rPr>
                        </m:ctrlPr>
                      </m:sSubPr>
                      <m:e>
                        <m:r>
                          <a:rPr lang="en-US" sz="2800" i="1" dirty="0" smtClean="0">
                            <a:solidFill>
                              <a:srgbClr val="0066FF"/>
                            </a:solidFill>
                            <a:latin typeface="Cambria Math" panose="02040503050406030204" pitchFamily="18" charset="0"/>
                          </a:rPr>
                          <m:t>𝑤</m:t>
                        </m:r>
                      </m:e>
                      <m:sub>
                        <m:r>
                          <a:rPr lang="en-US" sz="2800" i="1" dirty="0" smtClean="0">
                            <a:solidFill>
                              <a:srgbClr val="0066FF"/>
                            </a:solidFill>
                            <a:latin typeface="Cambria Math" panose="02040503050406030204" pitchFamily="18" charset="0"/>
                          </a:rPr>
                          <m:t>0</m:t>
                        </m:r>
                      </m:sub>
                    </m:sSub>
                    <m:r>
                      <a:rPr lang="en-US" sz="2800" i="1" dirty="0" smtClean="0">
                        <a:solidFill>
                          <a:srgbClr val="0066FF"/>
                        </a:solidFill>
                        <a:latin typeface="Cambria Math" panose="02040503050406030204" pitchFamily="18" charset="0"/>
                      </a:rPr>
                      <m:t>,</m:t>
                    </m:r>
                    <m:sSub>
                      <m:sSubPr>
                        <m:ctrlPr>
                          <a:rPr lang="en-US" sz="2800" i="1" dirty="0" smtClean="0">
                            <a:solidFill>
                              <a:srgbClr val="0066FF"/>
                            </a:solidFill>
                            <a:latin typeface="Cambria Math" panose="02040503050406030204" pitchFamily="18" charset="0"/>
                          </a:rPr>
                        </m:ctrlPr>
                      </m:sSubPr>
                      <m:e>
                        <m:r>
                          <a:rPr lang="en-US" sz="2800" i="1" dirty="0" smtClean="0">
                            <a:solidFill>
                              <a:srgbClr val="0066FF"/>
                            </a:solidFill>
                            <a:latin typeface="Cambria Math" panose="02040503050406030204" pitchFamily="18" charset="0"/>
                          </a:rPr>
                          <m:t>𝑤</m:t>
                        </m:r>
                      </m:e>
                      <m:sub>
                        <m:r>
                          <a:rPr lang="en-US" sz="2800" i="1" dirty="0" smtClean="0">
                            <a:solidFill>
                              <a:srgbClr val="0066FF"/>
                            </a:solidFill>
                            <a:latin typeface="Cambria Math" panose="02040503050406030204" pitchFamily="18" charset="0"/>
                          </a:rPr>
                          <m:t>1</m:t>
                        </m:r>
                      </m:sub>
                    </m:sSub>
                    <m:r>
                      <a:rPr lang="en-US" sz="2800" i="1" dirty="0" smtClean="0">
                        <a:solidFill>
                          <a:srgbClr val="0066FF"/>
                        </a:solidFill>
                        <a:latin typeface="Cambria Math" panose="02040503050406030204" pitchFamily="18" charset="0"/>
                      </a:rPr>
                      <m:t>,…,</m:t>
                    </m:r>
                    <m:sSub>
                      <m:sSubPr>
                        <m:ctrlPr>
                          <a:rPr lang="en-US" sz="2800" i="1" dirty="0" err="1" smtClean="0">
                            <a:solidFill>
                              <a:srgbClr val="0066FF"/>
                            </a:solidFill>
                            <a:latin typeface="Cambria Math" panose="02040503050406030204" pitchFamily="18" charset="0"/>
                          </a:rPr>
                        </m:ctrlPr>
                      </m:sSubPr>
                      <m:e>
                        <m:r>
                          <a:rPr lang="en-US" sz="2800" i="1" dirty="0" err="1" smtClean="0">
                            <a:solidFill>
                              <a:srgbClr val="0066FF"/>
                            </a:solidFill>
                            <a:latin typeface="Cambria Math" panose="02040503050406030204" pitchFamily="18" charset="0"/>
                          </a:rPr>
                          <m:t>𝑤</m:t>
                        </m:r>
                      </m:e>
                      <m:sub>
                        <m:r>
                          <a:rPr lang="en-US" sz="2800" i="1" dirty="0" err="1" smtClean="0">
                            <a:solidFill>
                              <a:srgbClr val="0066FF"/>
                            </a:solidFill>
                            <a:latin typeface="Cambria Math" panose="02040503050406030204" pitchFamily="18" charset="0"/>
                          </a:rPr>
                          <m:t>𝑛</m:t>
                        </m:r>
                      </m:sub>
                    </m:sSub>
                  </m:oMath>
                </a14:m>
                <a:r>
                  <a:rPr lang="en-US" sz="2800" dirty="0">
                    <a:solidFill>
                      <a:srgbClr val="0066FF"/>
                    </a:solidFill>
                  </a:rPr>
                  <a:t> </a:t>
                </a:r>
                <a:r>
                  <a:rPr lang="en-US" sz="2800" dirty="0" err="1">
                    <a:solidFill>
                      <a:srgbClr val="0066FF"/>
                    </a:solidFill>
                  </a:rPr>
                  <a:t>là</a:t>
                </a:r>
                <a:r>
                  <a:rPr lang="en-US" sz="2800" dirty="0">
                    <a:solidFill>
                      <a:srgbClr val="0066FF"/>
                    </a:solidFill>
                  </a:rPr>
                  <a:t> </a:t>
                </a:r>
                <a:r>
                  <a:rPr lang="en-US" sz="2800" dirty="0" err="1">
                    <a:solidFill>
                      <a:srgbClr val="0066FF"/>
                    </a:solidFill>
                  </a:rPr>
                  <a:t>các</a:t>
                </a:r>
                <a:r>
                  <a:rPr lang="en-US" sz="2800" dirty="0">
                    <a:solidFill>
                      <a:srgbClr val="0066FF"/>
                    </a:solidFill>
                  </a:rPr>
                  <a:t> </a:t>
                </a:r>
                <a:r>
                  <a:rPr lang="en-US" sz="2800" dirty="0" err="1">
                    <a:solidFill>
                      <a:srgbClr val="0066FF"/>
                    </a:solidFill>
                  </a:rPr>
                  <a:t>tham</a:t>
                </a:r>
                <a:r>
                  <a:rPr lang="en-US" sz="2800" dirty="0">
                    <a:solidFill>
                      <a:srgbClr val="0066FF"/>
                    </a:solidFill>
                  </a:rPr>
                  <a:t> </a:t>
                </a:r>
                <a:r>
                  <a:rPr lang="en-US" sz="2800" dirty="0" err="1">
                    <a:solidFill>
                      <a:srgbClr val="0066FF"/>
                    </a:solidFill>
                  </a:rPr>
                  <a:t>số</a:t>
                </a:r>
                <a:r>
                  <a:rPr lang="en-US" sz="2800" dirty="0">
                    <a:solidFill>
                      <a:srgbClr val="0066FF"/>
                    </a:solidFill>
                  </a:rPr>
                  <a:t> (parameters) </a:t>
                </a:r>
                <a:r>
                  <a:rPr lang="en-US" sz="2800" dirty="0" err="1">
                    <a:solidFill>
                      <a:srgbClr val="0066FF"/>
                    </a:solidFill>
                  </a:rPr>
                  <a:t>mô</a:t>
                </a:r>
                <a:r>
                  <a:rPr lang="en-US" sz="2800" dirty="0">
                    <a:solidFill>
                      <a:srgbClr val="0066FF"/>
                    </a:solidFill>
                  </a:rPr>
                  <a:t> </a:t>
                </a:r>
                <a:r>
                  <a:rPr lang="en-US" sz="2800" dirty="0" err="1">
                    <a:solidFill>
                      <a:srgbClr val="0066FF"/>
                    </a:solidFill>
                  </a:rPr>
                  <a:t>hình</a:t>
                </a:r>
                <a:r>
                  <a:rPr lang="en-US" sz="2800" dirty="0">
                    <a:solidFill>
                      <a:srgbClr val="0066FF"/>
                    </a:solidFill>
                  </a:rPr>
                  <a:t>.</a:t>
                </a:r>
              </a:p>
              <a:p>
                <a:pPr lvl="1" algn="just">
                  <a:spcBef>
                    <a:spcPts val="0"/>
                  </a:spcBef>
                </a:pPr>
                <a14:m>
                  <m:oMath xmlns:m="http://schemas.openxmlformats.org/officeDocument/2006/math">
                    <m:r>
                      <a:rPr lang="en-US" sz="2800" i="1" dirty="0" smtClean="0">
                        <a:solidFill>
                          <a:srgbClr val="FF0000"/>
                        </a:solidFill>
                        <a:latin typeface="Cambria Math" panose="02040503050406030204" pitchFamily="18" charset="0"/>
                      </a:rPr>
                      <m:t>𝑛</m:t>
                    </m:r>
                  </m:oMath>
                </a14:m>
                <a:r>
                  <a:rPr lang="en-US" sz="2800" dirty="0">
                    <a:solidFill>
                      <a:srgbClr val="FF0000"/>
                    </a:solidFill>
                  </a:rPr>
                  <a:t> đ</a:t>
                </a:r>
                <a:r>
                  <a:rPr lang="vi-VN" sz="2800" dirty="0" err="1">
                    <a:solidFill>
                      <a:srgbClr val="FF0000"/>
                    </a:solidFill>
                  </a:rPr>
                  <a:t>ược</a:t>
                </a:r>
                <a:r>
                  <a:rPr lang="vi-VN" sz="2800" dirty="0">
                    <a:solidFill>
                      <a:srgbClr val="FF0000"/>
                    </a:solidFill>
                  </a:rPr>
                  <a:t> </a:t>
                </a:r>
                <a:r>
                  <a:rPr lang="vi-VN" sz="2800" dirty="0" err="1">
                    <a:solidFill>
                      <a:srgbClr val="FF0000"/>
                    </a:solidFill>
                  </a:rPr>
                  <a:t>gọi</a:t>
                </a:r>
                <a:r>
                  <a:rPr lang="vi-VN" sz="2800" dirty="0">
                    <a:solidFill>
                      <a:srgbClr val="FF0000"/>
                    </a:solidFill>
                  </a:rPr>
                  <a:t> </a:t>
                </a:r>
                <a:r>
                  <a:rPr lang="vi-VN" sz="2800" dirty="0" err="1">
                    <a:solidFill>
                      <a:srgbClr val="FF0000"/>
                    </a:solidFill>
                  </a:rPr>
                  <a:t>là</a:t>
                </a:r>
                <a:r>
                  <a:rPr lang="vi-VN" sz="2800" dirty="0">
                    <a:solidFill>
                      <a:srgbClr val="FF0000"/>
                    </a:solidFill>
                  </a:rPr>
                  <a:t> </a:t>
                </a:r>
                <a:r>
                  <a:rPr lang="vi-VN" sz="2800" dirty="0" err="1">
                    <a:solidFill>
                      <a:srgbClr val="FF0000"/>
                    </a:solidFill>
                  </a:rPr>
                  <a:t>bậc</a:t>
                </a:r>
                <a:r>
                  <a:rPr lang="vi-VN" sz="2800" dirty="0">
                    <a:solidFill>
                      <a:srgbClr val="FF0000"/>
                    </a:solidFill>
                  </a:rPr>
                  <a:t> (</a:t>
                </a:r>
                <a:r>
                  <a:rPr lang="vi-VN" sz="2800" dirty="0" err="1">
                    <a:solidFill>
                      <a:srgbClr val="FF0000"/>
                    </a:solidFill>
                  </a:rPr>
                  <a:t>degree</a:t>
                </a:r>
                <a:r>
                  <a:rPr lang="vi-VN" sz="2800" dirty="0">
                    <a:solidFill>
                      <a:srgbClr val="FF0000"/>
                    </a:solidFill>
                  </a:rPr>
                  <a:t>) </a:t>
                </a:r>
                <a:r>
                  <a:rPr lang="vi-VN" sz="2800" dirty="0" err="1">
                    <a:solidFill>
                      <a:srgbClr val="FF0000"/>
                    </a:solidFill>
                  </a:rPr>
                  <a:t>của</a:t>
                </a:r>
                <a:r>
                  <a:rPr lang="vi-VN" sz="2800" dirty="0">
                    <a:solidFill>
                      <a:srgbClr val="FF0000"/>
                    </a:solidFill>
                  </a:rPr>
                  <a:t> </a:t>
                </a:r>
                <a:r>
                  <a:rPr lang="vi-VN" sz="2800">
                    <a:solidFill>
                      <a:srgbClr val="FF0000"/>
                    </a:solidFill>
                  </a:rPr>
                  <a:t>mô hình</a:t>
                </a:r>
                <a:r>
                  <a:rPr lang="en-US" sz="2800">
                    <a:solidFill>
                      <a:srgbClr val="FF0000"/>
                    </a:solidFill>
                  </a:rPr>
                  <a:t> – ta lấy bậc là 4</a:t>
                </a:r>
                <a:r>
                  <a:rPr lang="vi-VN" sz="2800">
                    <a:solidFill>
                      <a:srgbClr val="FF0000"/>
                    </a:solidFill>
                  </a:rPr>
                  <a:t>.</a:t>
                </a:r>
                <a:endParaRPr lang="en-US" sz="2800" dirty="0">
                  <a:solidFill>
                    <a:srgbClr val="FF0000"/>
                  </a:solidFill>
                </a:endParaRPr>
              </a:p>
            </p:txBody>
          </p:sp>
        </mc:Choice>
        <mc:Fallback xmlns="">
          <p:sp>
            <p:nvSpPr>
              <p:cNvPr id="5" name="Content Placeholder 4">
                <a:extLst>
                  <a:ext uri="{FF2B5EF4-FFF2-40B4-BE49-F238E27FC236}">
                    <a16:creationId xmlns:a16="http://schemas.microsoft.com/office/drawing/2014/main" id="{E30D07AC-6477-48C8-AB77-C3A89A339D51}"/>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en-US">
                    <a:noFill/>
                  </a:rPr>
                  <a:t> </a:t>
                </a:r>
              </a:p>
            </p:txBody>
          </p:sp>
        </mc:Fallback>
      </mc:AlternateContent>
    </p:spTree>
    <p:extLst>
      <p:ext uri="{BB962C8B-B14F-4D97-AF65-F5344CB8AC3E}">
        <p14:creationId xmlns:p14="http://schemas.microsoft.com/office/powerpoint/2010/main" val="50493435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3921AA-1C5A-4686-B111-3B71E3AADD65}"/>
              </a:ext>
            </a:extLst>
          </p:cNvPr>
          <p:cNvSpPr>
            <a:spLocks noGrp="1"/>
          </p:cNvSpPr>
          <p:nvPr>
            <p:ph type="title"/>
          </p:nvPr>
        </p:nvSpPr>
        <p:spPr/>
        <p:txBody>
          <a:bodyPr/>
          <a:lstStyle/>
          <a:p>
            <a:r>
              <a:rPr lang="en-US" dirty="0"/>
              <a:t>Polynomial Linear Regression</a:t>
            </a:r>
            <a:endParaRPr lang="vi-V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E30D07AC-6477-48C8-AB77-C3A89A339D51}"/>
                  </a:ext>
                </a:extLst>
              </p:cNvPr>
              <p:cNvSpPr>
                <a:spLocks noGrp="1"/>
              </p:cNvSpPr>
              <p:nvPr>
                <p:ph idx="1"/>
              </p:nvPr>
            </p:nvSpPr>
            <p:spPr/>
            <p:txBody>
              <a:bodyPr/>
              <a:lstStyle/>
              <a:p>
                <a:pPr algn="just">
                  <a:spcBef>
                    <a:spcPts val="600"/>
                  </a:spcBef>
                </a:pPr>
                <a:r>
                  <a:rPr lang="en-US" sz="2800" dirty="0">
                    <a:solidFill>
                      <a:srgbClr val="0066FF"/>
                    </a:solidFill>
                  </a:rPr>
                  <a:t>Mặc </a:t>
                </a:r>
                <a:r>
                  <a:rPr lang="en-US" sz="2800" dirty="0" err="1">
                    <a:solidFill>
                      <a:srgbClr val="0066FF"/>
                    </a:solidFill>
                  </a:rPr>
                  <a:t>dù</a:t>
                </a:r>
                <a:r>
                  <a:rPr lang="en-US" sz="2800" dirty="0">
                    <a:solidFill>
                      <a:srgbClr val="0066FF"/>
                    </a:solidFill>
                  </a:rPr>
                  <a:t> </a:t>
                </a:r>
                <a:r>
                  <a:rPr lang="en-US" sz="2800" dirty="0" err="1">
                    <a:solidFill>
                      <a:srgbClr val="0066FF"/>
                    </a:solidFill>
                  </a:rPr>
                  <a:t>về</a:t>
                </a:r>
                <a:r>
                  <a:rPr lang="en-US" sz="2800" dirty="0">
                    <a:solidFill>
                      <a:srgbClr val="0066FF"/>
                    </a:solidFill>
                  </a:rPr>
                  <a:t> </a:t>
                </a:r>
                <a:r>
                  <a:rPr lang="en-US" sz="2800" dirty="0" err="1">
                    <a:solidFill>
                      <a:srgbClr val="0066FF"/>
                    </a:solidFill>
                  </a:rPr>
                  <a:t>mặc</a:t>
                </a:r>
                <a:r>
                  <a:rPr lang="en-US" sz="2800" dirty="0">
                    <a:solidFill>
                      <a:srgbClr val="0066FF"/>
                    </a:solidFill>
                  </a:rPr>
                  <a:t> </a:t>
                </a:r>
                <a:r>
                  <a:rPr lang="en-US" sz="2800" dirty="0" err="1">
                    <a:solidFill>
                      <a:srgbClr val="0066FF"/>
                    </a:solidFill>
                  </a:rPr>
                  <a:t>trực</a:t>
                </a:r>
                <a:r>
                  <a:rPr lang="en-US" sz="2800" dirty="0">
                    <a:solidFill>
                      <a:srgbClr val="0066FF"/>
                    </a:solidFill>
                  </a:rPr>
                  <a:t> </a:t>
                </a:r>
                <a:r>
                  <a:rPr lang="en-US" sz="2800" dirty="0" err="1">
                    <a:solidFill>
                      <a:srgbClr val="0066FF"/>
                    </a:solidFill>
                  </a:rPr>
                  <a:t>quan</a:t>
                </a:r>
                <a:r>
                  <a:rPr lang="en-US" sz="2800" dirty="0">
                    <a:solidFill>
                      <a:srgbClr val="0066FF"/>
                    </a:solidFill>
                  </a:rPr>
                  <a:t>, </a:t>
                </a:r>
                <a:r>
                  <a:rPr lang="en-US" sz="2800" dirty="0" err="1">
                    <a:solidFill>
                      <a:srgbClr val="0066FF"/>
                    </a:solidFill>
                  </a:rPr>
                  <a:t>mô</a:t>
                </a:r>
                <a:r>
                  <a:rPr lang="en-US" sz="2800" dirty="0">
                    <a:solidFill>
                      <a:srgbClr val="0066FF"/>
                    </a:solidFill>
                  </a:rPr>
                  <a:t> </a:t>
                </a:r>
                <a:r>
                  <a:rPr lang="en-US" sz="2800" dirty="0" err="1">
                    <a:solidFill>
                      <a:srgbClr val="0066FF"/>
                    </a:solidFill>
                  </a:rPr>
                  <a:t>hình</a:t>
                </a:r>
                <a:r>
                  <a:rPr lang="en-US" sz="2800" dirty="0">
                    <a:solidFill>
                      <a:srgbClr val="0066FF"/>
                    </a:solidFill>
                  </a:rPr>
                  <a:t> </a:t>
                </a:r>
                <a:r>
                  <a:rPr lang="en-US" sz="2800" dirty="0" err="1">
                    <a:solidFill>
                      <a:srgbClr val="0066FF"/>
                    </a:solidFill>
                  </a:rPr>
                  <a:t>này</a:t>
                </a:r>
                <a:r>
                  <a:rPr lang="en-US" sz="2800" dirty="0">
                    <a:solidFill>
                      <a:srgbClr val="0066FF"/>
                    </a:solidFill>
                  </a:rPr>
                  <a:t> </a:t>
                </a:r>
                <a:r>
                  <a:rPr lang="en-US" sz="2800" dirty="0" err="1">
                    <a:solidFill>
                      <a:srgbClr val="0066FF"/>
                    </a:solidFill>
                  </a:rPr>
                  <a:t>biểu</a:t>
                </a:r>
                <a:r>
                  <a:rPr lang="en-US" sz="2800" dirty="0">
                    <a:solidFill>
                      <a:srgbClr val="0066FF"/>
                    </a:solidFill>
                  </a:rPr>
                  <a:t> </a:t>
                </a:r>
                <a:r>
                  <a:rPr lang="en-US" sz="2800" dirty="0" err="1">
                    <a:solidFill>
                      <a:srgbClr val="0066FF"/>
                    </a:solidFill>
                  </a:rPr>
                  <a:t>diễn</a:t>
                </a:r>
                <a:r>
                  <a:rPr lang="en-US" sz="2800" dirty="0">
                    <a:solidFill>
                      <a:srgbClr val="0066FF"/>
                    </a:solidFill>
                  </a:rPr>
                  <a:t> </a:t>
                </a:r>
                <a:r>
                  <a:rPr lang="en-US" sz="2800" dirty="0" err="1">
                    <a:solidFill>
                      <a:srgbClr val="0066FF"/>
                    </a:solidFill>
                  </a:rPr>
                  <a:t>một</a:t>
                </a:r>
                <a:r>
                  <a:rPr lang="en-US" sz="2800" dirty="0">
                    <a:solidFill>
                      <a:srgbClr val="0066FF"/>
                    </a:solidFill>
                  </a:rPr>
                  <a:t> đ</a:t>
                </a:r>
                <a:r>
                  <a:rPr lang="vi-VN" sz="2800" dirty="0" err="1">
                    <a:solidFill>
                      <a:srgbClr val="0066FF"/>
                    </a:solidFill>
                  </a:rPr>
                  <a:t>ường</a:t>
                </a:r>
                <a:r>
                  <a:rPr lang="vi-VN" sz="2800" dirty="0">
                    <a:solidFill>
                      <a:srgbClr val="0066FF"/>
                    </a:solidFill>
                  </a:rPr>
                  <a:t> cong (phi </a:t>
                </a:r>
                <a:r>
                  <a:rPr lang="vi-VN" sz="2800" dirty="0" err="1">
                    <a:solidFill>
                      <a:srgbClr val="0066FF"/>
                    </a:solidFill>
                  </a:rPr>
                  <a:t>tuyến</a:t>
                </a:r>
                <a:r>
                  <a:rPr lang="vi-VN" sz="2800" dirty="0">
                    <a:solidFill>
                      <a:srgbClr val="0066FF"/>
                    </a:solidFill>
                  </a:rPr>
                  <a:t>), nhưng </a:t>
                </a:r>
                <a:r>
                  <a:rPr lang="vi-VN" sz="2800" dirty="0" err="1">
                    <a:solidFill>
                      <a:srgbClr val="0066FF"/>
                    </a:solidFill>
                  </a:rPr>
                  <a:t>nó</a:t>
                </a:r>
                <a:r>
                  <a:rPr lang="vi-VN" sz="2800" dirty="0">
                    <a:solidFill>
                      <a:srgbClr val="0066FF"/>
                    </a:solidFill>
                  </a:rPr>
                  <a:t> </a:t>
                </a:r>
                <a:r>
                  <a:rPr lang="vi-VN" sz="2800" dirty="0" err="1">
                    <a:solidFill>
                      <a:srgbClr val="0066FF"/>
                    </a:solidFill>
                  </a:rPr>
                  <a:t>vẫn</a:t>
                </a:r>
                <a:r>
                  <a:rPr lang="vi-VN" sz="2800" dirty="0">
                    <a:solidFill>
                      <a:srgbClr val="0066FF"/>
                    </a:solidFill>
                  </a:rPr>
                  <a:t> </a:t>
                </a:r>
                <a:r>
                  <a:rPr lang="vi-VN" sz="2800" dirty="0" err="1">
                    <a:solidFill>
                      <a:srgbClr val="0066FF"/>
                    </a:solidFill>
                  </a:rPr>
                  <a:t>được</a:t>
                </a:r>
                <a:r>
                  <a:rPr lang="vi-VN" sz="2800" dirty="0">
                    <a:solidFill>
                      <a:srgbClr val="0066FF"/>
                    </a:solidFill>
                  </a:rPr>
                  <a:t> coi </a:t>
                </a:r>
                <a:r>
                  <a:rPr lang="vi-VN" sz="2800" dirty="0" err="1">
                    <a:solidFill>
                      <a:srgbClr val="0066FF"/>
                    </a:solidFill>
                  </a:rPr>
                  <a:t>là</a:t>
                </a:r>
                <a:r>
                  <a:rPr lang="vi-VN" sz="2800" dirty="0">
                    <a:solidFill>
                      <a:srgbClr val="0066FF"/>
                    </a:solidFill>
                  </a:rPr>
                  <a:t> </a:t>
                </a:r>
                <a:r>
                  <a:rPr lang="vi-VN" sz="2800" dirty="0" err="1">
                    <a:solidFill>
                      <a:srgbClr val="0066FF"/>
                    </a:solidFill>
                  </a:rPr>
                  <a:t>một</a:t>
                </a:r>
                <a:r>
                  <a:rPr lang="vi-VN" sz="2800" dirty="0">
                    <a:solidFill>
                      <a:srgbClr val="0066FF"/>
                    </a:solidFill>
                  </a:rPr>
                  <a:t> mô </a:t>
                </a:r>
                <a:r>
                  <a:rPr lang="vi-VN" sz="2800" dirty="0" err="1">
                    <a:solidFill>
                      <a:srgbClr val="0066FF"/>
                    </a:solidFill>
                  </a:rPr>
                  <a:t>hình</a:t>
                </a:r>
                <a:r>
                  <a:rPr lang="vi-VN" sz="2800" dirty="0">
                    <a:solidFill>
                      <a:srgbClr val="0066FF"/>
                    </a:solidFill>
                  </a:rPr>
                  <a:t> </a:t>
                </a:r>
                <a:r>
                  <a:rPr lang="vi-VN" sz="2800" dirty="0" err="1">
                    <a:solidFill>
                      <a:srgbClr val="0066FF"/>
                    </a:solidFill>
                  </a:rPr>
                  <a:t>hồi</a:t>
                </a:r>
                <a:r>
                  <a:rPr lang="vi-VN" sz="2800" dirty="0">
                    <a:solidFill>
                      <a:srgbClr val="0066FF"/>
                    </a:solidFill>
                  </a:rPr>
                  <a:t> quy </a:t>
                </a:r>
                <a:r>
                  <a:rPr lang="vi-VN" sz="2800" err="1">
                    <a:solidFill>
                      <a:srgbClr val="0066FF"/>
                    </a:solidFill>
                  </a:rPr>
                  <a:t>tuyến</a:t>
                </a:r>
                <a:r>
                  <a:rPr lang="vi-VN" sz="2800">
                    <a:solidFill>
                      <a:srgbClr val="0066FF"/>
                    </a:solidFill>
                  </a:rPr>
                  <a:t> tính</a:t>
                </a:r>
                <a:r>
                  <a:rPr lang="en-US" sz="2800">
                    <a:solidFill>
                      <a:srgbClr val="0066FF"/>
                    </a:solidFill>
                  </a:rPr>
                  <a:t> đa biến</a:t>
                </a:r>
                <a:r>
                  <a:rPr lang="vi-VN" sz="2800">
                    <a:solidFill>
                      <a:srgbClr val="0066FF"/>
                    </a:solidFill>
                  </a:rPr>
                  <a:t>. </a:t>
                </a:r>
                <a:endParaRPr lang="vi-VN" sz="2800" dirty="0">
                  <a:solidFill>
                    <a:srgbClr val="0066FF"/>
                  </a:solidFill>
                </a:endParaRPr>
              </a:p>
              <a:p>
                <a:pPr algn="just">
                  <a:spcBef>
                    <a:spcPts val="600"/>
                  </a:spcBef>
                </a:pPr>
                <a:r>
                  <a:rPr lang="vi-VN" sz="2800" dirty="0">
                    <a:solidFill>
                      <a:srgbClr val="FF0000"/>
                    </a:solidFill>
                  </a:rPr>
                  <a:t>T</a:t>
                </a:r>
                <a:r>
                  <a:rPr lang="vi-VN" sz="2800" dirty="0" err="1">
                    <a:solidFill>
                      <a:srgbClr val="FF0000"/>
                    </a:solidFill>
                  </a:rPr>
                  <a:t>ừ</a:t>
                </a:r>
                <a:r>
                  <a:rPr lang="vi-VN" sz="2800" dirty="0">
                    <a:solidFill>
                      <a:srgbClr val="FF0000"/>
                    </a:solidFill>
                  </a:rPr>
                  <a:t> “</a:t>
                </a:r>
                <a:r>
                  <a:rPr lang="vi-VN" sz="2800" dirty="0" err="1">
                    <a:solidFill>
                      <a:srgbClr val="FF0000"/>
                    </a:solidFill>
                  </a:rPr>
                  <a:t>tuyến</a:t>
                </a:r>
                <a:r>
                  <a:rPr lang="vi-VN" sz="2800" dirty="0">
                    <a:solidFill>
                      <a:srgbClr val="FF0000"/>
                    </a:solidFill>
                  </a:rPr>
                  <a:t> </a:t>
                </a:r>
                <a:r>
                  <a:rPr lang="vi-VN" sz="2800" dirty="0" err="1">
                    <a:solidFill>
                      <a:srgbClr val="FF0000"/>
                    </a:solidFill>
                  </a:rPr>
                  <a:t>tính</a:t>
                </a:r>
                <a:r>
                  <a:rPr lang="vi-VN" sz="2800" dirty="0">
                    <a:solidFill>
                      <a:srgbClr val="FF0000"/>
                    </a:solidFill>
                  </a:rPr>
                  <a:t>” </a:t>
                </a:r>
                <a:r>
                  <a:rPr lang="vi-VN" sz="2800" dirty="0" err="1">
                    <a:solidFill>
                      <a:srgbClr val="FF0000"/>
                    </a:solidFill>
                  </a:rPr>
                  <a:t>ám</a:t>
                </a:r>
                <a:r>
                  <a:rPr lang="vi-VN" sz="2800" dirty="0">
                    <a:solidFill>
                      <a:srgbClr val="FF0000"/>
                    </a:solidFill>
                  </a:rPr>
                  <a:t> </a:t>
                </a:r>
                <a:r>
                  <a:rPr lang="vi-VN" sz="2800" dirty="0" err="1">
                    <a:solidFill>
                      <a:srgbClr val="FF0000"/>
                    </a:solidFill>
                  </a:rPr>
                  <a:t>chỉ</a:t>
                </a:r>
                <a:r>
                  <a:rPr lang="vi-VN" sz="2800" dirty="0">
                    <a:solidFill>
                      <a:srgbClr val="FF0000"/>
                    </a:solidFill>
                  </a:rPr>
                  <a:t> </a:t>
                </a:r>
                <a:r>
                  <a:rPr lang="vi-VN" sz="2800" dirty="0" err="1">
                    <a:solidFill>
                      <a:srgbClr val="FF0000"/>
                    </a:solidFill>
                  </a:rPr>
                  <a:t>mối</a:t>
                </a:r>
                <a:r>
                  <a:rPr lang="vi-VN" sz="2800" dirty="0">
                    <a:solidFill>
                      <a:srgbClr val="FF0000"/>
                    </a:solidFill>
                  </a:rPr>
                  <a:t> quan </a:t>
                </a:r>
                <a:r>
                  <a:rPr lang="vi-VN" sz="2800" dirty="0" err="1">
                    <a:solidFill>
                      <a:srgbClr val="FF0000"/>
                    </a:solidFill>
                  </a:rPr>
                  <a:t>hệ</a:t>
                </a:r>
                <a:r>
                  <a:rPr lang="vi-VN" sz="2800" dirty="0">
                    <a:solidFill>
                      <a:srgbClr val="FF0000"/>
                    </a:solidFill>
                  </a:rPr>
                  <a:t> </a:t>
                </a:r>
                <a:r>
                  <a:rPr lang="vi-VN" sz="2800" dirty="0" err="1">
                    <a:solidFill>
                      <a:srgbClr val="FF0000"/>
                    </a:solidFill>
                  </a:rPr>
                  <a:t>giữa</a:t>
                </a:r>
                <a:r>
                  <a:rPr lang="vi-VN" sz="2800" dirty="0">
                    <a:solidFill>
                      <a:srgbClr val="FF0000"/>
                    </a:solidFill>
                  </a:rPr>
                  <a:t> </a:t>
                </a:r>
                <a:r>
                  <a:rPr lang="vi-VN" sz="2800" dirty="0" err="1">
                    <a:solidFill>
                      <a:srgbClr val="FF0000"/>
                    </a:solidFill>
                  </a:rPr>
                  <a:t>các</a:t>
                </a:r>
                <a:r>
                  <a:rPr lang="vi-VN" sz="2800" dirty="0">
                    <a:solidFill>
                      <a:srgbClr val="FF0000"/>
                    </a:solidFill>
                  </a:rPr>
                  <a:t> </a:t>
                </a:r>
                <a:r>
                  <a:rPr lang="vi-VN" sz="2800" dirty="0" err="1">
                    <a:solidFill>
                      <a:srgbClr val="FF0000"/>
                    </a:solidFill>
                  </a:rPr>
                  <a:t>trọng</a:t>
                </a:r>
                <a:r>
                  <a:rPr lang="vi-VN" sz="2800" dirty="0">
                    <a:solidFill>
                      <a:srgbClr val="FF0000"/>
                    </a:solidFill>
                  </a:rPr>
                  <a:t> </a:t>
                </a:r>
                <a:r>
                  <a:rPr lang="vi-VN" sz="2800" dirty="0" err="1">
                    <a:solidFill>
                      <a:srgbClr val="FF0000"/>
                    </a:solidFill>
                  </a:rPr>
                  <a:t>số</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𝑤</m:t>
                    </m:r>
                  </m:oMath>
                </a14:m>
                <a:r>
                  <a:rPr lang="vi-VN" sz="2800" dirty="0">
                    <a:solidFill>
                      <a:srgbClr val="FF0000"/>
                    </a:solidFill>
                  </a:rPr>
                  <a:t> </a:t>
                </a:r>
                <a:r>
                  <a:rPr lang="vi-VN" sz="2800" dirty="0" err="1">
                    <a:solidFill>
                      <a:srgbClr val="FF0000"/>
                    </a:solidFill>
                  </a:rPr>
                  <a:t>với</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𝑦</m:t>
                    </m:r>
                  </m:oMath>
                </a14:m>
                <a:r>
                  <a:rPr lang="vi-VN" sz="2800" dirty="0">
                    <a:solidFill>
                      <a:srgbClr val="FF0000"/>
                    </a:solidFill>
                  </a:rPr>
                  <a:t>, không </a:t>
                </a:r>
                <a:r>
                  <a:rPr lang="vi-VN" sz="2800" dirty="0" err="1">
                    <a:solidFill>
                      <a:srgbClr val="FF0000"/>
                    </a:solidFill>
                  </a:rPr>
                  <a:t>phải</a:t>
                </a:r>
                <a:r>
                  <a:rPr lang="vi-VN" sz="2800" dirty="0">
                    <a:solidFill>
                      <a:srgbClr val="FF0000"/>
                    </a:solidFill>
                  </a:rPr>
                  <a:t> </a:t>
                </a:r>
                <a:r>
                  <a:rPr lang="vi-VN" sz="2800" dirty="0" err="1">
                    <a:solidFill>
                      <a:srgbClr val="FF0000"/>
                    </a:solidFill>
                  </a:rPr>
                  <a:t>mối</a:t>
                </a:r>
                <a:r>
                  <a:rPr lang="vi-VN" sz="2800" dirty="0">
                    <a:solidFill>
                      <a:srgbClr val="FF0000"/>
                    </a:solidFill>
                  </a:rPr>
                  <a:t> quan </a:t>
                </a:r>
                <a:r>
                  <a:rPr lang="vi-VN" sz="2800" dirty="0" err="1">
                    <a:solidFill>
                      <a:srgbClr val="FF0000"/>
                    </a:solidFill>
                  </a:rPr>
                  <a:t>hệ</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𝑥</m:t>
                    </m:r>
                  </m:oMath>
                </a14:m>
                <a:r>
                  <a:rPr lang="vi-VN" sz="2800" dirty="0">
                    <a:solidFill>
                      <a:srgbClr val="FF0000"/>
                    </a:solidFill>
                  </a:rPr>
                  <a:t> </a:t>
                </a:r>
                <a:r>
                  <a:rPr lang="vi-VN" sz="2800" dirty="0" err="1">
                    <a:solidFill>
                      <a:srgbClr val="FF0000"/>
                    </a:solidFill>
                  </a:rPr>
                  <a:t>với</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𝑦</m:t>
                    </m:r>
                  </m:oMath>
                </a14:m>
                <a:r>
                  <a:rPr lang="vi-VN" sz="2800" dirty="0">
                    <a:solidFill>
                      <a:srgbClr val="FF0000"/>
                    </a:solidFill>
                  </a:rPr>
                  <a:t>.</a:t>
                </a:r>
                <a:endParaRPr lang="en-US" sz="2800" dirty="0">
                  <a:solidFill>
                    <a:srgbClr val="FF0000"/>
                  </a:solidFill>
                </a:endParaRPr>
              </a:p>
              <a:p>
                <a:pPr algn="just">
                  <a:spcBef>
                    <a:spcPts val="600"/>
                  </a:spcBef>
                </a:pPr>
                <a:r>
                  <a:rPr lang="en-US" sz="2800" dirty="0">
                    <a:solidFill>
                      <a:schemeClr val="tx1"/>
                    </a:solidFill>
                    <a:highlight>
                      <a:srgbClr val="FFFF00"/>
                    </a:highlight>
                  </a:rPr>
                  <a:t>Mô </a:t>
                </a:r>
                <a:r>
                  <a:rPr lang="en-US" sz="2800" dirty="0" err="1">
                    <a:solidFill>
                      <a:schemeClr val="tx1"/>
                    </a:solidFill>
                    <a:highlight>
                      <a:srgbClr val="FFFF00"/>
                    </a:highlight>
                  </a:rPr>
                  <a:t>hình</a:t>
                </a:r>
                <a:r>
                  <a:rPr lang="en-US" sz="2800" dirty="0">
                    <a:solidFill>
                      <a:schemeClr val="tx1"/>
                    </a:solidFill>
                    <a:highlight>
                      <a:srgbClr val="FFFF00"/>
                    </a:highlight>
                  </a:rPr>
                  <a:t> Polynomial Regression đ</a:t>
                </a:r>
                <a:r>
                  <a:rPr lang="vi-VN" sz="2800" dirty="0">
                    <a:solidFill>
                      <a:schemeClr val="tx1"/>
                    </a:solidFill>
                    <a:highlight>
                      <a:srgbClr val="FFFF00"/>
                    </a:highlight>
                  </a:rPr>
                  <a:t>ơ</a:t>
                </a:r>
                <a:r>
                  <a:rPr lang="en-US" sz="2800" dirty="0">
                    <a:solidFill>
                      <a:schemeClr val="tx1"/>
                    </a:solidFill>
                    <a:highlight>
                      <a:srgbClr val="FFFF00"/>
                    </a:highlight>
                  </a:rPr>
                  <a:t>n </a:t>
                </a:r>
                <a:r>
                  <a:rPr lang="en-US" sz="2800" dirty="0" err="1">
                    <a:solidFill>
                      <a:schemeClr val="tx1"/>
                    </a:solidFill>
                    <a:highlight>
                      <a:srgbClr val="FFFF00"/>
                    </a:highlight>
                  </a:rPr>
                  <a:t>biến</a:t>
                </a:r>
                <a:r>
                  <a:rPr lang="en-US" sz="2800" dirty="0">
                    <a:solidFill>
                      <a:schemeClr val="tx1"/>
                    </a:solidFill>
                    <a:highlight>
                      <a:srgbClr val="FFFF00"/>
                    </a:highlight>
                  </a:rPr>
                  <a:t> </a:t>
                </a:r>
                <a:r>
                  <a:rPr lang="en-US" sz="2800" dirty="0" err="1">
                    <a:solidFill>
                      <a:schemeClr val="tx1"/>
                    </a:solidFill>
                    <a:highlight>
                      <a:srgbClr val="FFFF00"/>
                    </a:highlight>
                  </a:rPr>
                  <a:t>có</a:t>
                </a:r>
                <a:r>
                  <a:rPr lang="en-US" sz="2800" dirty="0">
                    <a:solidFill>
                      <a:schemeClr val="tx1"/>
                    </a:solidFill>
                    <a:highlight>
                      <a:srgbClr val="FFFF00"/>
                    </a:highlight>
                  </a:rPr>
                  <a:t> </a:t>
                </a:r>
                <a:r>
                  <a:rPr lang="en-US" sz="2800" dirty="0" err="1">
                    <a:solidFill>
                      <a:schemeClr val="tx1"/>
                    </a:solidFill>
                    <a:highlight>
                      <a:srgbClr val="FFFF00"/>
                    </a:highlight>
                  </a:rPr>
                  <a:t>dạng</a:t>
                </a:r>
                <a:r>
                  <a:rPr lang="en-US" sz="2800" dirty="0">
                    <a:solidFill>
                      <a:schemeClr val="tx1"/>
                    </a:solidFill>
                    <a:highlight>
                      <a:srgbClr val="FFFF00"/>
                    </a:highlight>
                  </a:rPr>
                  <a:t> </a:t>
                </a:r>
                <a:r>
                  <a:rPr lang="en-US" sz="2800" dirty="0" err="1">
                    <a:solidFill>
                      <a:schemeClr val="tx1"/>
                    </a:solidFill>
                    <a:highlight>
                      <a:srgbClr val="FFFF00"/>
                    </a:highlight>
                  </a:rPr>
                  <a:t>nh</a:t>
                </a:r>
                <a:r>
                  <a:rPr lang="vi-VN" sz="2800" dirty="0">
                    <a:solidFill>
                      <a:schemeClr val="tx1"/>
                    </a:solidFill>
                    <a:highlight>
                      <a:srgbClr val="FFFF00"/>
                    </a:highlight>
                  </a:rPr>
                  <a:t>ư</a:t>
                </a:r>
                <a:r>
                  <a:rPr lang="en-US" sz="2800" dirty="0">
                    <a:solidFill>
                      <a:schemeClr val="tx1"/>
                    </a:solidFill>
                    <a:highlight>
                      <a:srgbClr val="FFFF00"/>
                    </a:highlight>
                  </a:rPr>
                  <a:t> </a:t>
                </a:r>
                <a:r>
                  <a:rPr lang="en-US" sz="2800" dirty="0" err="1">
                    <a:solidFill>
                      <a:schemeClr val="tx1"/>
                    </a:solidFill>
                    <a:highlight>
                      <a:srgbClr val="FFFF00"/>
                    </a:highlight>
                  </a:rPr>
                  <a:t>sau</a:t>
                </a:r>
                <a:r>
                  <a:rPr lang="en-US" sz="2800" dirty="0">
                    <a:solidFill>
                      <a:schemeClr val="tx1"/>
                    </a:solidFill>
                    <a:highlight>
                      <a:srgbClr val="FFFF00"/>
                    </a:highlight>
                  </a:rPr>
                  <a:t>:</a:t>
                </a:r>
              </a:p>
              <a:p>
                <a:pPr marL="457200" lvl="1" indent="0" algn="just">
                  <a:spcBef>
                    <a:spcPts val="600"/>
                  </a:spcBef>
                  <a:buNone/>
                </a:pPr>
                <a14:m>
                  <m:oMathPara xmlns:m="http://schemas.openxmlformats.org/officeDocument/2006/math">
                    <m:oMathParaPr>
                      <m:jc m:val="centerGroup"/>
                    </m:oMathParaPr>
                    <m:oMath xmlns:m="http://schemas.openxmlformats.org/officeDocument/2006/math">
                      <m:r>
                        <a:rPr lang="en-US" sz="2800" i="1">
                          <a:solidFill>
                            <a:srgbClr val="0066FF"/>
                          </a:solidFill>
                          <a:latin typeface="Cambria Math" panose="02040503050406030204" pitchFamily="18" charset="0"/>
                        </a:rPr>
                        <m:t>𝑦</m:t>
                      </m:r>
                      <m:r>
                        <a:rPr lang="en-US" sz="2800" i="1">
                          <a:solidFill>
                            <a:srgbClr val="0066FF"/>
                          </a:solidFill>
                          <a:latin typeface="Cambria Math" panose="02040503050406030204" pitchFamily="18" charset="0"/>
                        </a:rPr>
                        <m:t>=</m:t>
                      </m:r>
                      <m:sSub>
                        <m:sSubPr>
                          <m:ctrlPr>
                            <a:rPr lang="en-US" sz="2800" i="1">
                              <a:solidFill>
                                <a:srgbClr val="0066FF"/>
                              </a:solidFill>
                              <a:latin typeface="Cambria Math" panose="02040503050406030204" pitchFamily="18" charset="0"/>
                            </a:rPr>
                          </m:ctrlPr>
                        </m:sSubPr>
                        <m:e>
                          <m:r>
                            <a:rPr lang="en-US" sz="2800" i="1">
                              <a:solidFill>
                                <a:srgbClr val="0066FF"/>
                              </a:solidFill>
                              <a:latin typeface="Cambria Math" panose="02040503050406030204" pitchFamily="18" charset="0"/>
                            </a:rPr>
                            <m:t>𝑤</m:t>
                          </m:r>
                        </m:e>
                        <m:sub>
                          <m:r>
                            <a:rPr lang="en-US" sz="2800" i="1">
                              <a:solidFill>
                                <a:srgbClr val="0066FF"/>
                              </a:solidFill>
                              <a:latin typeface="Cambria Math" panose="02040503050406030204" pitchFamily="18" charset="0"/>
                            </a:rPr>
                            <m:t>0</m:t>
                          </m:r>
                        </m:sub>
                      </m:sSub>
                      <m:r>
                        <a:rPr lang="en-US" sz="2800" i="1">
                          <a:solidFill>
                            <a:srgbClr val="0066FF"/>
                          </a:solidFill>
                          <a:latin typeface="Cambria Math" panose="02040503050406030204" pitchFamily="18" charset="0"/>
                        </a:rPr>
                        <m:t>+</m:t>
                      </m:r>
                      <m:sSub>
                        <m:sSubPr>
                          <m:ctrlPr>
                            <a:rPr lang="en-US" sz="2800" i="1">
                              <a:solidFill>
                                <a:srgbClr val="0066FF"/>
                              </a:solidFill>
                              <a:latin typeface="Cambria Math" panose="02040503050406030204" pitchFamily="18" charset="0"/>
                            </a:rPr>
                          </m:ctrlPr>
                        </m:sSubPr>
                        <m:e>
                          <m:r>
                            <a:rPr lang="en-US" sz="2800" i="1">
                              <a:solidFill>
                                <a:srgbClr val="0066FF"/>
                              </a:solidFill>
                              <a:latin typeface="Cambria Math" panose="02040503050406030204" pitchFamily="18" charset="0"/>
                            </a:rPr>
                            <m:t>𝑤</m:t>
                          </m:r>
                        </m:e>
                        <m:sub>
                          <m:r>
                            <a:rPr lang="en-US" sz="2800" i="1">
                              <a:solidFill>
                                <a:srgbClr val="0066FF"/>
                              </a:solidFill>
                              <a:latin typeface="Cambria Math" panose="02040503050406030204" pitchFamily="18" charset="0"/>
                            </a:rPr>
                            <m:t>1</m:t>
                          </m:r>
                        </m:sub>
                      </m:sSub>
                      <m:r>
                        <a:rPr lang="en-US" sz="2800" i="1">
                          <a:solidFill>
                            <a:srgbClr val="0066FF"/>
                          </a:solidFill>
                          <a:latin typeface="Cambria Math" panose="02040503050406030204" pitchFamily="18" charset="0"/>
                          <a:ea typeface="Cambria Math" panose="02040503050406030204" pitchFamily="18" charset="0"/>
                        </a:rPr>
                        <m:t>×</m:t>
                      </m:r>
                      <m:r>
                        <a:rPr lang="en-US" sz="2800" i="1">
                          <a:solidFill>
                            <a:srgbClr val="0066FF"/>
                          </a:solidFill>
                          <a:latin typeface="Cambria Math" panose="02040503050406030204" pitchFamily="18" charset="0"/>
                          <a:ea typeface="Cambria Math" panose="02040503050406030204" pitchFamily="18" charset="0"/>
                        </a:rPr>
                        <m:t>𝑥</m:t>
                      </m:r>
                      <m:r>
                        <a:rPr lang="en-US" sz="2800" i="1">
                          <a:solidFill>
                            <a:srgbClr val="0066FF"/>
                          </a:solidFill>
                          <a:latin typeface="Cambria Math" panose="02040503050406030204" pitchFamily="18" charset="0"/>
                          <a:ea typeface="Cambria Math" panose="02040503050406030204" pitchFamily="18" charset="0"/>
                        </a:rPr>
                        <m:t>+</m:t>
                      </m:r>
                      <m:sSub>
                        <m:sSubPr>
                          <m:ctrlPr>
                            <a:rPr lang="en-US" sz="2800" i="1">
                              <a:solidFill>
                                <a:srgbClr val="0066FF"/>
                              </a:solidFill>
                              <a:latin typeface="Cambria Math" panose="02040503050406030204" pitchFamily="18" charset="0"/>
                              <a:ea typeface="Cambria Math" panose="02040503050406030204" pitchFamily="18" charset="0"/>
                            </a:rPr>
                          </m:ctrlPr>
                        </m:sSubPr>
                        <m:e>
                          <m:r>
                            <a:rPr lang="en-US" sz="2800" i="1">
                              <a:solidFill>
                                <a:srgbClr val="0066FF"/>
                              </a:solidFill>
                              <a:latin typeface="Cambria Math" panose="02040503050406030204" pitchFamily="18" charset="0"/>
                              <a:ea typeface="Cambria Math" panose="02040503050406030204" pitchFamily="18" charset="0"/>
                            </a:rPr>
                            <m:t>𝑤</m:t>
                          </m:r>
                        </m:e>
                        <m:sub>
                          <m:r>
                            <a:rPr lang="en-US" sz="2800" i="1">
                              <a:solidFill>
                                <a:srgbClr val="0066FF"/>
                              </a:solidFill>
                              <a:latin typeface="Cambria Math" panose="02040503050406030204" pitchFamily="18" charset="0"/>
                              <a:ea typeface="Cambria Math" panose="02040503050406030204" pitchFamily="18" charset="0"/>
                            </a:rPr>
                            <m:t>2</m:t>
                          </m:r>
                        </m:sub>
                      </m:sSub>
                      <m:r>
                        <a:rPr lang="en-US" sz="2800" i="1">
                          <a:solidFill>
                            <a:srgbClr val="0066FF"/>
                          </a:solidFill>
                          <a:latin typeface="Cambria Math" panose="02040503050406030204" pitchFamily="18" charset="0"/>
                          <a:ea typeface="Cambria Math" panose="02040503050406030204" pitchFamily="18" charset="0"/>
                        </a:rPr>
                        <m:t>×</m:t>
                      </m:r>
                      <m:sSup>
                        <m:sSupPr>
                          <m:ctrlPr>
                            <a:rPr lang="en-US" sz="2800" i="1">
                              <a:solidFill>
                                <a:srgbClr val="0066FF"/>
                              </a:solidFill>
                              <a:latin typeface="Cambria Math" panose="02040503050406030204" pitchFamily="18" charset="0"/>
                              <a:ea typeface="Cambria Math" panose="02040503050406030204" pitchFamily="18" charset="0"/>
                            </a:rPr>
                          </m:ctrlPr>
                        </m:sSupPr>
                        <m:e>
                          <m:r>
                            <a:rPr lang="en-US" sz="2800" i="1">
                              <a:solidFill>
                                <a:srgbClr val="0066FF"/>
                              </a:solidFill>
                              <a:latin typeface="Cambria Math" panose="02040503050406030204" pitchFamily="18" charset="0"/>
                              <a:ea typeface="Cambria Math" panose="02040503050406030204" pitchFamily="18" charset="0"/>
                            </a:rPr>
                            <m:t>𝑥</m:t>
                          </m:r>
                        </m:e>
                        <m:sup>
                          <m:r>
                            <a:rPr lang="en-US" sz="2800" i="1">
                              <a:solidFill>
                                <a:srgbClr val="0066FF"/>
                              </a:solidFill>
                              <a:latin typeface="Cambria Math" panose="02040503050406030204" pitchFamily="18" charset="0"/>
                              <a:ea typeface="Cambria Math" panose="02040503050406030204" pitchFamily="18" charset="0"/>
                            </a:rPr>
                            <m:t>2</m:t>
                          </m:r>
                        </m:sup>
                      </m:sSup>
                      <m:r>
                        <a:rPr lang="en-US" sz="2800" i="1">
                          <a:solidFill>
                            <a:srgbClr val="0066FF"/>
                          </a:solidFill>
                          <a:latin typeface="Cambria Math" panose="02040503050406030204" pitchFamily="18" charset="0"/>
                          <a:ea typeface="Cambria Math" panose="02040503050406030204" pitchFamily="18" charset="0"/>
                        </a:rPr>
                        <m:t>+…+</m:t>
                      </m:r>
                      <m:sSub>
                        <m:sSubPr>
                          <m:ctrlPr>
                            <a:rPr lang="en-US" sz="2800" i="1">
                              <a:solidFill>
                                <a:srgbClr val="0066FF"/>
                              </a:solidFill>
                              <a:latin typeface="Cambria Math" panose="02040503050406030204" pitchFamily="18" charset="0"/>
                              <a:ea typeface="Cambria Math" panose="02040503050406030204" pitchFamily="18" charset="0"/>
                            </a:rPr>
                          </m:ctrlPr>
                        </m:sSubPr>
                        <m:e>
                          <m:r>
                            <a:rPr lang="en-US" sz="2800" i="1">
                              <a:solidFill>
                                <a:srgbClr val="0066FF"/>
                              </a:solidFill>
                              <a:latin typeface="Cambria Math" panose="02040503050406030204" pitchFamily="18" charset="0"/>
                              <a:ea typeface="Cambria Math" panose="02040503050406030204" pitchFamily="18" charset="0"/>
                            </a:rPr>
                            <m:t>𝑤</m:t>
                          </m:r>
                        </m:e>
                        <m:sub>
                          <m:r>
                            <a:rPr lang="en-US" sz="2800" i="1">
                              <a:solidFill>
                                <a:srgbClr val="0066FF"/>
                              </a:solidFill>
                              <a:latin typeface="Cambria Math" panose="02040503050406030204" pitchFamily="18" charset="0"/>
                              <a:ea typeface="Cambria Math" panose="02040503050406030204" pitchFamily="18" charset="0"/>
                            </a:rPr>
                            <m:t>𝑛</m:t>
                          </m:r>
                        </m:sub>
                      </m:sSub>
                      <m:r>
                        <a:rPr lang="en-US" sz="2800" i="1">
                          <a:solidFill>
                            <a:srgbClr val="0066FF"/>
                          </a:solidFill>
                          <a:latin typeface="Cambria Math" panose="02040503050406030204" pitchFamily="18" charset="0"/>
                          <a:ea typeface="Cambria Math" panose="02040503050406030204" pitchFamily="18" charset="0"/>
                        </a:rPr>
                        <m:t>×</m:t>
                      </m:r>
                      <m:sSup>
                        <m:sSupPr>
                          <m:ctrlPr>
                            <a:rPr lang="en-US" sz="2800" i="1">
                              <a:solidFill>
                                <a:srgbClr val="0066FF"/>
                              </a:solidFill>
                              <a:latin typeface="Cambria Math" panose="02040503050406030204" pitchFamily="18" charset="0"/>
                              <a:ea typeface="Cambria Math" panose="02040503050406030204" pitchFamily="18" charset="0"/>
                            </a:rPr>
                          </m:ctrlPr>
                        </m:sSupPr>
                        <m:e>
                          <m:r>
                            <a:rPr lang="en-US" sz="2800" i="1">
                              <a:solidFill>
                                <a:srgbClr val="0066FF"/>
                              </a:solidFill>
                              <a:latin typeface="Cambria Math" panose="02040503050406030204" pitchFamily="18" charset="0"/>
                              <a:ea typeface="Cambria Math" panose="02040503050406030204" pitchFamily="18" charset="0"/>
                            </a:rPr>
                            <m:t>𝑥</m:t>
                          </m:r>
                        </m:e>
                        <m:sup>
                          <m:r>
                            <a:rPr lang="en-US" sz="2800" i="1">
                              <a:solidFill>
                                <a:srgbClr val="0066FF"/>
                              </a:solidFill>
                              <a:latin typeface="Cambria Math" panose="02040503050406030204" pitchFamily="18" charset="0"/>
                              <a:ea typeface="Cambria Math" panose="02040503050406030204" pitchFamily="18" charset="0"/>
                            </a:rPr>
                            <m:t>𝑛</m:t>
                          </m:r>
                        </m:sup>
                      </m:sSup>
                    </m:oMath>
                  </m:oMathPara>
                </a14:m>
                <a:endParaRPr lang="en-US" sz="2800" dirty="0">
                  <a:solidFill>
                    <a:srgbClr val="FF0000"/>
                  </a:solidFill>
                </a:endParaRPr>
              </a:p>
            </p:txBody>
          </p:sp>
        </mc:Choice>
        <mc:Fallback xmlns="">
          <p:sp>
            <p:nvSpPr>
              <p:cNvPr id="5" name="Content Placeholder 4">
                <a:extLst>
                  <a:ext uri="{FF2B5EF4-FFF2-40B4-BE49-F238E27FC236}">
                    <a16:creationId xmlns:a16="http://schemas.microsoft.com/office/drawing/2014/main" id="{E30D07AC-6477-48C8-AB77-C3A89A339D51}"/>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en-US">
                    <a:noFill/>
                  </a:rPr>
                  <a:t> </a:t>
                </a:r>
              </a:p>
            </p:txBody>
          </p:sp>
        </mc:Fallback>
      </mc:AlternateContent>
    </p:spTree>
    <p:extLst>
      <p:ext uri="{BB962C8B-B14F-4D97-AF65-F5344CB8AC3E}">
        <p14:creationId xmlns:p14="http://schemas.microsoft.com/office/powerpoint/2010/main" val="57686458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0B80F6-C754-4347-A3DD-1147B985E52F}"/>
              </a:ext>
            </a:extLst>
          </p:cNvPr>
          <p:cNvSpPr>
            <a:spLocks noGrp="1"/>
          </p:cNvSpPr>
          <p:nvPr>
            <p:ph type="title"/>
          </p:nvPr>
        </p:nvSpPr>
        <p:spPr/>
        <p:txBody>
          <a:bodyPr wrap="square"/>
          <a:lstStyle/>
          <a:p>
            <a:pPr>
              <a:defRPr sz="2800" b="1">
                <a:solidFill>
                  <a:srgbClr val="002060"/>
                </a:solidFill>
                <a:latin typeface="Calibri"/>
              </a:defRPr>
            </a:pPr>
            <a:r>
              <a:t>Tiền xử lý dữ liệu: Cơ Chế Phép Biến Đổi Đa Thức</a:t>
            </a:r>
            <a:endParaRPr lang="vi-VN" dirty="0"/>
          </a:p>
        </p:txBody>
      </p:sp>
      <p:sp>
        <p:nvSpPr>
          <p:cNvPr id="5" name="Text Placeholder 4">
            <a:extLst>
              <a:ext uri="{FF2B5EF4-FFF2-40B4-BE49-F238E27FC236}">
                <a16:creationId xmlns:a16="http://schemas.microsoft.com/office/drawing/2014/main" id="{E440BC81-DABB-45E0-B3FE-4876298D2598}"/>
              </a:ext>
            </a:extLst>
          </p:cNvPr>
          <p:cNvSpPr>
            <a:spLocks noGrp="1"/>
          </p:cNvSpPr>
          <p:nvPr>
            <p:ph type="body" idx="1"/>
          </p:nvPr>
        </p:nvSpPr>
        <p:spPr>
          <a:xfrm>
            <a:off x="612648" y="1371600"/>
            <a:ext cx="10972800" cy="4937760"/>
          </a:xfrm>
        </p:spPr>
        <p:txBody>
          <a:bodyPr wrap="square"/>
          <a:lstStyle/>
          <a:p>
            <a:pPr>
              <a:spcBef>
                <a:spcPts val="600"/>
              </a:spcBef>
              <a:spcAft>
                <a:spcPts val="400"/>
              </a:spcAft>
              <a:defRPr sz="1700" b="1">
                <a:solidFill>
                  <a:srgbClr val="003366"/>
                </a:solidFill>
                <a:latin typeface="Calibri"/>
              </a:defRPr>
            </a:pPr>
            <a:r>
              <a:t>Bản chất toán học của Hồi quy Đa thức (Polynomial Regression):</a:t>
            </a:r>
            <a:endParaRPr lang="vi-VN" dirty="0"/>
          </a:p>
          <a:p>
            <a:pPr>
              <a:spcAft>
                <a:spcPts val="300"/>
              </a:spcAft>
              <a:defRPr sz="1500" b="0">
                <a:solidFill>
                  <a:srgbClr val="282828"/>
                </a:solidFill>
                <a:latin typeface="Calibri"/>
              </a:defRPr>
            </a:pPr>
            <a:r>
              <a:t>• Dù mối quan hệ giữa Level và Salary là phi tuyến, ta vẫn có thể dùng thuật toán Tuyến tính!</a:t>
            </a:r>
          </a:p>
          <a:p>
            <a:pPr>
              <a:spcAft>
                <a:spcPts val="300"/>
              </a:spcAft>
              <a:defRPr sz="1500" b="0">
                <a:solidFill>
                  <a:srgbClr val="282828"/>
                </a:solidFill>
                <a:latin typeface="Calibri"/>
              </a:defRPr>
            </a:pPr>
            <a:r>
              <a:t>• Ý tưởng: Chiếu không gian 1 chiều (x) sang không gian đa chiều chứa các lũy thừa: [x, x², x³, ..., x^d].</a:t>
            </a:r>
          </a:p>
          <a:p>
            <a:pPr>
              <a:spcAft>
                <a:spcPts val="300"/>
              </a:spcAft>
              <a:defRPr sz="1500" b="0">
                <a:solidFill>
                  <a:srgbClr val="282828"/>
                </a:solidFill>
                <a:latin typeface="Calibri"/>
              </a:defRPr>
            </a:pPr>
            <a:r>
              <a:t>• Phương trình hồi quy trở thành tuyến tính đối với các trọng số w_i:</a:t>
            </a:r>
          </a:p>
          <a:p>
            <a:pPr>
              <a:spcAft>
                <a:spcPts val="200"/>
              </a:spcAft>
              <a:defRPr sz="1300" b="1">
                <a:solidFill>
                  <a:srgbClr val="004696"/>
                </a:solidFill>
                <a:latin typeface="Consolas"/>
              </a:defRPr>
            </a:pPr>
            <a:r>
              <a:t>    y = w_0 + w_1*x + w_2*x² + w_3*x³ + ... + w_d*x^d</a:t>
            </a:r>
          </a:p>
          <a:p>
            <a:pPr>
              <a:spcBef>
                <a:spcPts val="600"/>
              </a:spcBef>
              <a:spcAft>
                <a:spcPts val="400"/>
              </a:spcAft>
              <a:defRPr sz="1700" b="1">
                <a:solidFill>
                  <a:srgbClr val="003366"/>
                </a:solidFill>
                <a:latin typeface="Calibri"/>
              </a:defRPr>
            </a:pPr>
            <a:r>
              <a:t>Lớp PolynomialFeatures trong module sklearn.preprocessing:</a:t>
            </a:r>
          </a:p>
          <a:p>
            <a:pPr>
              <a:spcAft>
                <a:spcPts val="200"/>
              </a:spcAft>
              <a:defRPr sz="1300" b="0">
                <a:solidFill>
                  <a:srgbClr val="004696"/>
                </a:solidFill>
                <a:latin typeface="Consolas"/>
              </a:defRPr>
            </a:pPr>
            <a:r>
              <a:t>from sklearn.preprocessing import PolynomialFeatures</a:t>
            </a:r>
          </a:p>
          <a:p>
            <a:pPr>
              <a:spcAft>
                <a:spcPts val="200"/>
              </a:spcAft>
              <a:defRPr sz="1300" b="0">
                <a:solidFill>
                  <a:srgbClr val="004696"/>
                </a:solidFill>
                <a:latin typeface="Consolas"/>
              </a:defRPr>
            </a:pPr>
            <a:r>
              <a:t># Ví dụ tạo ma trận đa thức bậc d:</a:t>
            </a:r>
          </a:p>
          <a:p>
            <a:pPr>
              <a:spcAft>
                <a:spcPts val="200"/>
              </a:spcAft>
              <a:defRPr sz="1300" b="0">
                <a:solidFill>
                  <a:srgbClr val="004696"/>
                </a:solidFill>
                <a:latin typeface="Consolas"/>
              </a:defRPr>
            </a:pPr>
            <a:r>
              <a:t>poly_features = PolynomialFeatures(degree=d, include_bias=False)</a:t>
            </a:r>
          </a:p>
          <a:p>
            <a:pPr>
              <a:spcAft>
                <a:spcPts val="200"/>
              </a:spcAft>
              <a:defRPr sz="1300" b="0">
                <a:solidFill>
                  <a:srgbClr val="004696"/>
                </a:solidFill>
                <a:latin typeface="Consolas"/>
              </a:defRPr>
            </a:pPr>
            <a:r>
              <a:t>X_poly = poly_features.fit_transform(X)</a:t>
            </a:r>
          </a:p>
        </p:txBody>
      </p:sp>
    </p:spTree>
    <p:extLst>
      <p:ext uri="{BB962C8B-B14F-4D97-AF65-F5344CB8AC3E}">
        <p14:creationId xmlns:p14="http://schemas.microsoft.com/office/powerpoint/2010/main" val="158969371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B342B3-A1D7-42D0-86B9-B501A328C140}"/>
              </a:ext>
            </a:extLst>
          </p:cNvPr>
          <p:cNvSpPr>
            <a:spLocks noGrp="1"/>
          </p:cNvSpPr>
          <p:nvPr>
            <p:ph type="title"/>
          </p:nvPr>
        </p:nvSpPr>
        <p:spPr/>
        <p:txBody>
          <a:bodyPr wrap="square"/>
          <a:lstStyle/>
          <a:p>
            <a:pPr>
              <a:defRPr sz="2800" b="1">
                <a:solidFill>
                  <a:srgbClr val="002060"/>
                </a:solidFill>
                <a:latin typeface="Calibri"/>
              </a:defRPr>
            </a:pPr>
            <a:r>
              <a:t>Tiền xử lý dữ liệu: Tối Ưu Hóa Bằng scikit-learn Pipeline</a:t>
            </a:r>
            <a:endParaRPr lang="vi-V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973A862-3DD9-4963-9F80-C584383191F4}"/>
                  </a:ext>
                </a:extLst>
              </p:cNvPr>
              <p:cNvSpPr>
                <a:spLocks noGrp="1"/>
              </p:cNvSpPr>
              <p:nvPr>
                <p:ph idx="1"/>
              </p:nvPr>
            </p:nvSpPr>
            <p:spPr/>
            <p:txBody>
              <a:bodyPr/>
              <a:lstStyle/>
              <a:p>
                <a:pPr algn="just"/>
                <a:r>
                  <a:rPr lang="vi-VN" sz="2800" dirty="0">
                    <a:solidFill>
                      <a:srgbClr val="0066FF"/>
                    </a:solidFill>
                  </a:rPr>
                  <a:t>Để huấn </a:t>
                </a:r>
                <a:r>
                  <a:rPr lang="vi-VN" sz="2800" dirty="0" err="1">
                    <a:solidFill>
                      <a:srgbClr val="0066FF"/>
                    </a:solidFill>
                  </a:rPr>
                  <a:t>luyện</a:t>
                </a:r>
                <a:r>
                  <a:rPr lang="vi-VN" sz="2800" dirty="0">
                    <a:solidFill>
                      <a:srgbClr val="0066FF"/>
                    </a:solidFill>
                  </a:rPr>
                  <a:t> mô </a:t>
                </a:r>
                <a:r>
                  <a:rPr lang="vi-VN" sz="2800" dirty="0" err="1">
                    <a:solidFill>
                      <a:srgbClr val="0066FF"/>
                    </a:solidFill>
                  </a:rPr>
                  <a:t>hình</a:t>
                </a:r>
                <a:r>
                  <a:rPr lang="vi-VN" sz="2800" dirty="0">
                    <a:solidFill>
                      <a:srgbClr val="0066FF"/>
                    </a:solidFill>
                  </a:rPr>
                  <a:t> </a:t>
                </a:r>
                <a:r>
                  <a:rPr lang="vi-VN" sz="2800" dirty="0" err="1">
                    <a:solidFill>
                      <a:srgbClr val="0066FF"/>
                    </a:solidFill>
                  </a:rPr>
                  <a:t>Polynomial</a:t>
                </a:r>
                <a:r>
                  <a:rPr lang="vi-VN" sz="2800" dirty="0">
                    <a:solidFill>
                      <a:srgbClr val="0066FF"/>
                    </a:solidFill>
                  </a:rPr>
                  <a:t> </a:t>
                </a:r>
                <a:r>
                  <a:rPr lang="vi-VN" sz="2800" dirty="0" err="1">
                    <a:solidFill>
                      <a:srgbClr val="0066FF"/>
                    </a:solidFill>
                  </a:rPr>
                  <a:t>Linear</a:t>
                </a:r>
                <a:r>
                  <a:rPr lang="vi-VN" sz="2800" dirty="0">
                    <a:solidFill>
                      <a:srgbClr val="0066FF"/>
                    </a:solidFill>
                  </a:rPr>
                  <a:t> </a:t>
                </a:r>
                <a:r>
                  <a:rPr lang="vi-VN" sz="2800" dirty="0" err="1">
                    <a:solidFill>
                      <a:srgbClr val="0066FF"/>
                    </a:solidFill>
                  </a:rPr>
                  <a:t>Regression</a:t>
                </a:r>
                <a:r>
                  <a:rPr lang="vi-VN" sz="2800" dirty="0">
                    <a:solidFill>
                      <a:srgbClr val="0066FF"/>
                    </a:solidFill>
                  </a:rPr>
                  <a:t>, ta </a:t>
                </a:r>
                <a:r>
                  <a:rPr lang="vi-VN" sz="2800" dirty="0" err="1">
                    <a:solidFill>
                      <a:srgbClr val="0066FF"/>
                    </a:solidFill>
                  </a:rPr>
                  <a:t>sẽ</a:t>
                </a:r>
                <a:r>
                  <a:rPr lang="vi-VN" sz="2800" dirty="0">
                    <a:solidFill>
                      <a:srgbClr val="0066FF"/>
                    </a:solidFill>
                  </a:rPr>
                  <a:t> </a:t>
                </a:r>
                <a:r>
                  <a:rPr lang="vi-VN" sz="2800" dirty="0" err="1">
                    <a:solidFill>
                      <a:srgbClr val="0066FF"/>
                    </a:solidFill>
                  </a:rPr>
                  <a:t>tính</a:t>
                </a:r>
                <a:r>
                  <a:rPr lang="vi-VN" sz="2800" dirty="0">
                    <a:solidFill>
                      <a:srgbClr val="0066FF"/>
                    </a:solidFill>
                  </a:rPr>
                  <a:t> </a:t>
                </a:r>
                <a:r>
                  <a:rPr lang="vi-VN" sz="2800" dirty="0" err="1">
                    <a:solidFill>
                      <a:srgbClr val="0066FF"/>
                    </a:solidFill>
                  </a:rPr>
                  <a:t>trước</a:t>
                </a:r>
                <a:r>
                  <a:rPr lang="vi-VN" sz="2800" dirty="0">
                    <a:solidFill>
                      <a:srgbClr val="0066FF"/>
                    </a:solidFill>
                  </a:rPr>
                  <a:t> </a:t>
                </a:r>
                <a:r>
                  <a:rPr lang="vi-VN" sz="2800" dirty="0" err="1">
                    <a:solidFill>
                      <a:srgbClr val="0066FF"/>
                    </a:solidFill>
                  </a:rPr>
                  <a:t>các</a:t>
                </a:r>
                <a:r>
                  <a:rPr lang="vi-VN" sz="2800" dirty="0">
                    <a:solidFill>
                      <a:srgbClr val="0066FF"/>
                    </a:solidFill>
                  </a:rPr>
                  <a:t> biến </a:t>
                </a:r>
                <a14:m>
                  <m:oMath xmlns:m="http://schemas.openxmlformats.org/officeDocument/2006/math">
                    <m:r>
                      <a:rPr lang="vi-VN" sz="2800" b="0" i="1" smtClean="0">
                        <a:solidFill>
                          <a:srgbClr val="0066FF"/>
                        </a:solidFill>
                        <a:latin typeface="Cambria Math" panose="02040503050406030204" pitchFamily="18" charset="0"/>
                      </a:rPr>
                      <m:t>𝑥</m:t>
                    </m:r>
                    <m:r>
                      <a:rPr lang="vi-VN" sz="2800" b="0" i="1" smtClean="0">
                        <a:solidFill>
                          <a:srgbClr val="0066FF"/>
                        </a:solidFill>
                        <a:latin typeface="Cambria Math" panose="02040503050406030204" pitchFamily="18" charset="0"/>
                      </a:rPr>
                      <m:t>,</m:t>
                    </m:r>
                    <m:sSup>
                      <m:sSupPr>
                        <m:ctrlPr>
                          <a:rPr lang="vi-VN" sz="2800" b="0" i="1" smtClean="0">
                            <a:solidFill>
                              <a:srgbClr val="0066FF"/>
                            </a:solidFill>
                            <a:latin typeface="Cambria Math" panose="02040503050406030204" pitchFamily="18" charset="0"/>
                          </a:rPr>
                        </m:ctrlPr>
                      </m:sSupPr>
                      <m:e>
                        <m:r>
                          <a:rPr lang="vi-VN" sz="2800" b="0" i="1" smtClean="0">
                            <a:solidFill>
                              <a:srgbClr val="0066FF"/>
                            </a:solidFill>
                            <a:latin typeface="Cambria Math" panose="02040503050406030204" pitchFamily="18" charset="0"/>
                          </a:rPr>
                          <m:t>𝑥</m:t>
                        </m:r>
                      </m:e>
                      <m:sup>
                        <m:r>
                          <a:rPr lang="vi-VN" sz="2800" b="0" i="1" smtClean="0">
                            <a:solidFill>
                              <a:srgbClr val="0066FF"/>
                            </a:solidFill>
                            <a:latin typeface="Cambria Math" panose="02040503050406030204" pitchFamily="18" charset="0"/>
                          </a:rPr>
                          <m:t>2</m:t>
                        </m:r>
                      </m:sup>
                    </m:sSup>
                    <m:r>
                      <a:rPr lang="vi-VN" sz="2800" b="0" i="1" smtClean="0">
                        <a:solidFill>
                          <a:srgbClr val="0066FF"/>
                        </a:solidFill>
                        <a:latin typeface="Cambria Math" panose="02040503050406030204" pitchFamily="18" charset="0"/>
                      </a:rPr>
                      <m:t>,</m:t>
                    </m:r>
                    <m:sSup>
                      <m:sSupPr>
                        <m:ctrlPr>
                          <a:rPr lang="vi-VN" sz="2800" b="0" i="1" smtClean="0">
                            <a:solidFill>
                              <a:srgbClr val="0066FF"/>
                            </a:solidFill>
                            <a:latin typeface="Cambria Math" panose="02040503050406030204" pitchFamily="18" charset="0"/>
                          </a:rPr>
                        </m:ctrlPr>
                      </m:sSupPr>
                      <m:e>
                        <m:r>
                          <a:rPr lang="vi-VN" sz="2800" b="0" i="1" smtClean="0">
                            <a:solidFill>
                              <a:srgbClr val="0066FF"/>
                            </a:solidFill>
                            <a:latin typeface="Cambria Math" panose="02040503050406030204" pitchFamily="18" charset="0"/>
                          </a:rPr>
                          <m:t>𝑥</m:t>
                        </m:r>
                      </m:e>
                      <m:sup>
                        <m:r>
                          <a:rPr lang="vi-VN" sz="2800" b="0" i="1" smtClean="0">
                            <a:solidFill>
                              <a:srgbClr val="0066FF"/>
                            </a:solidFill>
                            <a:latin typeface="Cambria Math" panose="02040503050406030204" pitchFamily="18" charset="0"/>
                          </a:rPr>
                          <m:t>3</m:t>
                        </m:r>
                      </m:sup>
                    </m:sSup>
                    <m:r>
                      <a:rPr lang="vi-VN" sz="2800" b="0" i="1" smtClean="0">
                        <a:solidFill>
                          <a:srgbClr val="0066FF"/>
                        </a:solidFill>
                        <a:latin typeface="Cambria Math" panose="02040503050406030204" pitchFamily="18" charset="0"/>
                      </a:rPr>
                      <m:t>,…,</m:t>
                    </m:r>
                    <m:sSup>
                      <m:sSupPr>
                        <m:ctrlPr>
                          <a:rPr lang="vi-VN" sz="2800" b="0" i="1" smtClean="0">
                            <a:solidFill>
                              <a:srgbClr val="0066FF"/>
                            </a:solidFill>
                            <a:latin typeface="Cambria Math" panose="02040503050406030204" pitchFamily="18" charset="0"/>
                          </a:rPr>
                        </m:ctrlPr>
                      </m:sSupPr>
                      <m:e>
                        <m:r>
                          <a:rPr lang="vi-VN" sz="2800" b="0" i="1" smtClean="0">
                            <a:solidFill>
                              <a:srgbClr val="0066FF"/>
                            </a:solidFill>
                            <a:latin typeface="Cambria Math" panose="02040503050406030204" pitchFamily="18" charset="0"/>
                          </a:rPr>
                          <m:t>𝑥</m:t>
                        </m:r>
                      </m:e>
                      <m:sup>
                        <m:r>
                          <a:rPr lang="vi-VN" sz="2800" b="0" i="1" smtClean="0">
                            <a:solidFill>
                              <a:srgbClr val="0066FF"/>
                            </a:solidFill>
                            <a:latin typeface="Cambria Math" panose="02040503050406030204" pitchFamily="18" charset="0"/>
                          </a:rPr>
                          <m:t>𝑛</m:t>
                        </m:r>
                      </m:sup>
                    </m:sSup>
                  </m:oMath>
                </a14:m>
                <a:r>
                  <a:rPr lang="vi-VN" sz="2800" dirty="0">
                    <a:solidFill>
                      <a:srgbClr val="0066FF"/>
                    </a:solidFill>
                  </a:rPr>
                  <a:t>, sau </a:t>
                </a:r>
                <a:r>
                  <a:rPr lang="vi-VN" sz="2800" dirty="0" err="1">
                    <a:solidFill>
                      <a:srgbClr val="0066FF"/>
                    </a:solidFill>
                  </a:rPr>
                  <a:t>đó</a:t>
                </a:r>
                <a:r>
                  <a:rPr lang="vi-VN" sz="2800" dirty="0">
                    <a:solidFill>
                      <a:srgbClr val="0066FF"/>
                    </a:solidFill>
                  </a:rPr>
                  <a:t> đưa </a:t>
                </a:r>
                <a:r>
                  <a:rPr lang="vi-VN" sz="2800" dirty="0" err="1">
                    <a:solidFill>
                      <a:srgbClr val="0066FF"/>
                    </a:solidFill>
                  </a:rPr>
                  <a:t>các</a:t>
                </a:r>
                <a:r>
                  <a:rPr lang="vi-VN" sz="2800" dirty="0">
                    <a:solidFill>
                      <a:srgbClr val="0066FF"/>
                    </a:solidFill>
                  </a:rPr>
                  <a:t> </a:t>
                </a:r>
                <a:r>
                  <a:rPr lang="vi-VN" sz="2800" dirty="0" err="1">
                    <a:solidFill>
                      <a:srgbClr val="0066FF"/>
                    </a:solidFill>
                  </a:rPr>
                  <a:t>biến</a:t>
                </a:r>
                <a:r>
                  <a:rPr lang="vi-VN" sz="2800" dirty="0">
                    <a:solidFill>
                      <a:srgbClr val="0066FF"/>
                    </a:solidFill>
                  </a:rPr>
                  <a:t> </a:t>
                </a:r>
                <a:r>
                  <a:rPr lang="vi-VN" sz="2800" dirty="0" err="1">
                    <a:solidFill>
                      <a:srgbClr val="0066FF"/>
                    </a:solidFill>
                  </a:rPr>
                  <a:t>này</a:t>
                </a:r>
                <a:r>
                  <a:rPr lang="vi-VN" sz="2800" dirty="0">
                    <a:solidFill>
                      <a:srgbClr val="0066FF"/>
                    </a:solidFill>
                  </a:rPr>
                  <a:t> </a:t>
                </a:r>
                <a:r>
                  <a:rPr lang="vi-VN" sz="2800" dirty="0" err="1">
                    <a:solidFill>
                      <a:srgbClr val="0066FF"/>
                    </a:solidFill>
                  </a:rPr>
                  <a:t>vào</a:t>
                </a:r>
                <a:r>
                  <a:rPr lang="vi-VN" sz="2800" dirty="0">
                    <a:solidFill>
                      <a:srgbClr val="0066FF"/>
                    </a:solidFill>
                  </a:rPr>
                  <a:t> </a:t>
                </a:r>
                <a:r>
                  <a:rPr lang="vi-VN" sz="2800" dirty="0" err="1">
                    <a:solidFill>
                      <a:srgbClr val="0066FF"/>
                    </a:solidFill>
                  </a:rPr>
                  <a:t>huấn</a:t>
                </a:r>
                <a:r>
                  <a:rPr lang="vi-VN" sz="2800" dirty="0">
                    <a:solidFill>
                      <a:srgbClr val="0066FF"/>
                    </a:solidFill>
                  </a:rPr>
                  <a:t> </a:t>
                </a:r>
                <a:r>
                  <a:rPr lang="vi-VN" sz="2800" dirty="0" err="1">
                    <a:solidFill>
                      <a:srgbClr val="0066FF"/>
                    </a:solidFill>
                  </a:rPr>
                  <a:t>luyện</a:t>
                </a:r>
                <a:r>
                  <a:rPr lang="vi-VN" sz="2800" dirty="0">
                    <a:solidFill>
                      <a:srgbClr val="0066FF"/>
                    </a:solidFill>
                  </a:rPr>
                  <a:t> ở mô </a:t>
                </a:r>
                <a:r>
                  <a:rPr lang="vi-VN" sz="2800" dirty="0" err="1">
                    <a:solidFill>
                      <a:srgbClr val="0066FF"/>
                    </a:solidFill>
                  </a:rPr>
                  <a:t>hình</a:t>
                </a:r>
                <a:r>
                  <a:rPr lang="vi-VN" sz="2800" dirty="0">
                    <a:solidFill>
                      <a:srgbClr val="0066FF"/>
                    </a:solidFill>
                  </a:rPr>
                  <a:t> </a:t>
                </a:r>
                <a:r>
                  <a:rPr lang="vi-VN" sz="2800" dirty="0" err="1">
                    <a:solidFill>
                      <a:srgbClr val="0066FF"/>
                    </a:solidFill>
                  </a:rPr>
                  <a:t>Linear</a:t>
                </a:r>
                <a:r>
                  <a:rPr lang="vi-VN" sz="2800" dirty="0">
                    <a:solidFill>
                      <a:srgbClr val="0066FF"/>
                    </a:solidFill>
                  </a:rPr>
                  <a:t> </a:t>
                </a:r>
                <a:r>
                  <a:rPr lang="vi-VN" sz="2800" dirty="0" err="1">
                    <a:solidFill>
                      <a:srgbClr val="0066FF"/>
                    </a:solidFill>
                  </a:rPr>
                  <a:t>Regression</a:t>
                </a:r>
                <a:r>
                  <a:rPr lang="vi-VN" sz="2800" dirty="0">
                    <a:solidFill>
                      <a:srgbClr val="0066FF"/>
                    </a:solidFill>
                  </a:rPr>
                  <a:t>.</a:t>
                </a:r>
              </a:p>
              <a:p>
                <a:pPr algn="just"/>
                <a:r>
                  <a:rPr lang="vi-VN" sz="2800" dirty="0">
                    <a:solidFill>
                      <a:srgbClr val="FF0000"/>
                    </a:solidFill>
                  </a:rPr>
                  <a:t>Ta </a:t>
                </a:r>
                <a:r>
                  <a:rPr lang="vi-VN" sz="2800" dirty="0" err="1">
                    <a:solidFill>
                      <a:srgbClr val="FF0000"/>
                    </a:solidFill>
                  </a:rPr>
                  <a:t>dùng</a:t>
                </a:r>
                <a:r>
                  <a:rPr lang="vi-VN" sz="2800" dirty="0">
                    <a:solidFill>
                      <a:srgbClr val="FF0000"/>
                    </a:solidFill>
                  </a:rPr>
                  <a:t> lớp </a:t>
                </a:r>
                <a:r>
                  <a:rPr lang="vi-VN" sz="2800" dirty="0" err="1">
                    <a:solidFill>
                      <a:schemeClr val="tx1"/>
                    </a:solidFill>
                    <a:highlight>
                      <a:srgbClr val="FFFF00"/>
                    </a:highlight>
                    <a:latin typeface="Consolas" panose="020B0609020204030204" pitchFamily="49" charset="0"/>
                  </a:rPr>
                  <a:t>PolynomialFeatures</a:t>
                </a:r>
                <a:r>
                  <a:rPr lang="vi-VN" sz="2800" dirty="0">
                    <a:solidFill>
                      <a:srgbClr val="FF0000"/>
                    </a:solidFill>
                  </a:rPr>
                  <a:t> ở </a:t>
                </a:r>
                <a:r>
                  <a:rPr lang="vi-VN" sz="2800" dirty="0" err="1">
                    <a:solidFill>
                      <a:srgbClr val="FF0000"/>
                    </a:solidFill>
                  </a:rPr>
                  <a:t>module</a:t>
                </a:r>
                <a:r>
                  <a:rPr lang="vi-VN" sz="2800" dirty="0">
                    <a:solidFill>
                      <a:srgbClr val="FF0000"/>
                    </a:solidFill>
                  </a:rPr>
                  <a:t> </a:t>
                </a:r>
                <a:r>
                  <a:rPr lang="vi-VN" sz="2800" dirty="0" err="1">
                    <a:solidFill>
                      <a:schemeClr val="tx1"/>
                    </a:solidFill>
                    <a:highlight>
                      <a:srgbClr val="FFFF00"/>
                    </a:highlight>
                    <a:latin typeface="Consolas" panose="020B0609020204030204" pitchFamily="49" charset="0"/>
                  </a:rPr>
                  <a:t>preprocessing</a:t>
                </a:r>
                <a:r>
                  <a:rPr lang="vi-VN" sz="2800" dirty="0">
                    <a:solidFill>
                      <a:srgbClr val="FF0000"/>
                    </a:solidFill>
                  </a:rPr>
                  <a:t>, </a:t>
                </a:r>
                <a:r>
                  <a:rPr lang="vi-VN" sz="2800" dirty="0" err="1">
                    <a:solidFill>
                      <a:srgbClr val="FF0000"/>
                    </a:solidFill>
                  </a:rPr>
                  <a:t>package</a:t>
                </a:r>
                <a:r>
                  <a:rPr lang="vi-VN" sz="2800" dirty="0">
                    <a:solidFill>
                      <a:srgbClr val="FF0000"/>
                    </a:solidFill>
                  </a:rPr>
                  <a:t> </a:t>
                </a:r>
                <a:r>
                  <a:rPr lang="vi-VN" sz="2800" dirty="0" err="1">
                    <a:solidFill>
                      <a:schemeClr val="tx1"/>
                    </a:solidFill>
                    <a:highlight>
                      <a:srgbClr val="FFFF00"/>
                    </a:highlight>
                    <a:latin typeface="Consolas" panose="020B0609020204030204" pitchFamily="49" charset="0"/>
                  </a:rPr>
                  <a:t>sklearn</a:t>
                </a:r>
                <a:r>
                  <a:rPr lang="vi-VN" sz="2800" dirty="0">
                    <a:solidFill>
                      <a:srgbClr val="FF0000"/>
                    </a:solidFill>
                    <a:latin typeface="Consolas" panose="020B0609020204030204" pitchFamily="49" charset="0"/>
                  </a:rPr>
                  <a:t> </a:t>
                </a:r>
                <a:r>
                  <a:rPr lang="vi-VN" sz="2800" dirty="0">
                    <a:solidFill>
                      <a:srgbClr val="FF0000"/>
                    </a:solidFill>
                  </a:rPr>
                  <a:t>cho </a:t>
                </a:r>
                <a:r>
                  <a:rPr lang="vi-VN" sz="2800" dirty="0" err="1">
                    <a:solidFill>
                      <a:srgbClr val="FF0000"/>
                    </a:solidFill>
                  </a:rPr>
                  <a:t>phép</a:t>
                </a:r>
                <a:r>
                  <a:rPr lang="vi-VN" sz="2800" dirty="0">
                    <a:solidFill>
                      <a:srgbClr val="FF0000"/>
                    </a:solidFill>
                  </a:rPr>
                  <a:t> </a:t>
                </a:r>
                <a:r>
                  <a:rPr lang="vi-VN" sz="2800" dirty="0" err="1">
                    <a:solidFill>
                      <a:srgbClr val="FF0000"/>
                    </a:solidFill>
                  </a:rPr>
                  <a:t>biến</a:t>
                </a:r>
                <a:r>
                  <a:rPr lang="vi-VN" sz="2800" dirty="0">
                    <a:solidFill>
                      <a:srgbClr val="FF0000"/>
                    </a:solidFill>
                  </a:rPr>
                  <a:t> </a:t>
                </a:r>
                <a:r>
                  <a:rPr lang="vi-VN" sz="2800" dirty="0" err="1">
                    <a:solidFill>
                      <a:srgbClr val="FF0000"/>
                    </a:solidFill>
                  </a:rPr>
                  <a:t>đổi</a:t>
                </a:r>
                <a:r>
                  <a:rPr lang="vi-VN" sz="2800" dirty="0">
                    <a:solidFill>
                      <a:srgbClr val="FF0000"/>
                    </a:solidFill>
                  </a:rPr>
                  <a:t> trên.</a:t>
                </a:r>
                <a:endParaRPr lang="vi-VN" sz="2800" b="0" i="1" dirty="0">
                  <a:solidFill>
                    <a:srgbClr val="FF0000"/>
                  </a:solidFill>
                  <a:latin typeface="Cambria Math" panose="02040503050406030204" pitchFamily="18" charset="0"/>
                </a:endParaRPr>
              </a:p>
              <a:p>
                <a:pPr algn="just"/>
                <a14:m>
                  <m:oMath xmlns:m="http://schemas.openxmlformats.org/officeDocument/2006/math">
                    <m:r>
                      <a:rPr lang="vi-VN" sz="2800" b="0" i="1" smtClean="0">
                        <a:solidFill>
                          <a:srgbClr val="0066FF"/>
                        </a:solidFill>
                        <a:latin typeface="Cambria Math" panose="02040503050406030204" pitchFamily="18" charset="0"/>
                      </a:rPr>
                      <m:t>𝑛</m:t>
                    </m:r>
                  </m:oMath>
                </a14:m>
                <a:r>
                  <a:rPr lang="vi-VN" sz="2800" dirty="0">
                    <a:solidFill>
                      <a:srgbClr val="0066FF"/>
                    </a:solidFill>
                  </a:rPr>
                  <a:t> (</a:t>
                </a:r>
                <a:r>
                  <a:rPr lang="vi-VN" sz="2800" dirty="0" err="1">
                    <a:solidFill>
                      <a:srgbClr val="0066FF"/>
                    </a:solidFill>
                    <a:latin typeface="Consolas" panose="020B0609020204030204" pitchFamily="49" charset="0"/>
                  </a:rPr>
                  <a:t>degree</a:t>
                </a:r>
                <a:r>
                  <a:rPr lang="vi-VN" sz="2800" dirty="0">
                    <a:solidFill>
                      <a:srgbClr val="0066FF"/>
                    </a:solidFill>
                  </a:rPr>
                  <a:t>) ở </a:t>
                </a:r>
                <a:r>
                  <a:rPr lang="vi-VN" sz="2800" dirty="0" err="1">
                    <a:solidFill>
                      <a:srgbClr val="0066FF"/>
                    </a:solidFill>
                  </a:rPr>
                  <a:t>bài</a:t>
                </a:r>
                <a:r>
                  <a:rPr lang="vi-VN" sz="2800" dirty="0">
                    <a:solidFill>
                      <a:srgbClr val="0066FF"/>
                    </a:solidFill>
                  </a:rPr>
                  <a:t> </a:t>
                </a:r>
                <a:r>
                  <a:rPr lang="vi-VN" sz="2800" dirty="0" err="1">
                    <a:solidFill>
                      <a:srgbClr val="0066FF"/>
                    </a:solidFill>
                  </a:rPr>
                  <a:t>này</a:t>
                </a:r>
                <a:r>
                  <a:rPr lang="vi-VN" sz="2800" dirty="0">
                    <a:solidFill>
                      <a:srgbClr val="0066FF"/>
                    </a:solidFill>
                  </a:rPr>
                  <a:t> </a:t>
                </a:r>
                <a:r>
                  <a:rPr lang="vi-VN" sz="2800" dirty="0" err="1">
                    <a:solidFill>
                      <a:srgbClr val="0066FF"/>
                    </a:solidFill>
                  </a:rPr>
                  <a:t>được</a:t>
                </a:r>
                <a:r>
                  <a:rPr lang="vi-VN" sz="2800" dirty="0">
                    <a:solidFill>
                      <a:srgbClr val="0066FF"/>
                    </a:solidFill>
                  </a:rPr>
                  <a:t> </a:t>
                </a:r>
                <a:r>
                  <a:rPr lang="vi-VN" sz="2800" dirty="0" err="1">
                    <a:solidFill>
                      <a:srgbClr val="0066FF"/>
                    </a:solidFill>
                  </a:rPr>
                  <a:t>đặt</a:t>
                </a:r>
                <a:r>
                  <a:rPr lang="vi-VN" sz="2800" dirty="0">
                    <a:solidFill>
                      <a:srgbClr val="0066FF"/>
                    </a:solidFill>
                  </a:rPr>
                  <a:t> </a:t>
                </a:r>
                <a:r>
                  <a:rPr lang="vi-VN" sz="2800" dirty="0" err="1">
                    <a:solidFill>
                      <a:srgbClr val="0066FF"/>
                    </a:solidFill>
                  </a:rPr>
                  <a:t>là</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4</m:t>
                    </m:r>
                  </m:oMath>
                </a14:m>
                <a:r>
                  <a:rPr lang="vi-VN" sz="2800" dirty="0">
                    <a:solidFill>
                      <a:srgbClr val="0066FF"/>
                    </a:solidFill>
                  </a:rPr>
                  <a:t>, </a:t>
                </a:r>
                <a:r>
                  <a:rPr lang="vi-VN" sz="2800" dirty="0" err="1">
                    <a:solidFill>
                      <a:srgbClr val="0066FF"/>
                    </a:solidFill>
                  </a:rPr>
                  <a:t>tức</a:t>
                </a:r>
                <a:r>
                  <a:rPr lang="vi-VN" sz="2800" dirty="0">
                    <a:solidFill>
                      <a:srgbClr val="0066FF"/>
                    </a:solidFill>
                  </a:rPr>
                  <a:t> ta </a:t>
                </a:r>
                <a:r>
                  <a:rPr lang="vi-VN" sz="2800" dirty="0" err="1">
                    <a:solidFill>
                      <a:srgbClr val="0066FF"/>
                    </a:solidFill>
                  </a:rPr>
                  <a:t>sẽ</a:t>
                </a:r>
                <a:r>
                  <a:rPr lang="vi-VN" sz="2800" dirty="0">
                    <a:solidFill>
                      <a:srgbClr val="0066FF"/>
                    </a:solidFill>
                  </a:rPr>
                  <a:t> </a:t>
                </a:r>
                <a:r>
                  <a:rPr lang="vi-VN" sz="2800" dirty="0" err="1">
                    <a:solidFill>
                      <a:srgbClr val="0066FF"/>
                    </a:solidFill>
                  </a:rPr>
                  <a:t>tính</a:t>
                </a:r>
                <a:r>
                  <a:rPr lang="vi-VN" sz="2800" dirty="0">
                    <a:solidFill>
                      <a:srgbClr val="0066FF"/>
                    </a:solidFill>
                  </a:rPr>
                  <a:t> </a:t>
                </a:r>
                <a14:m>
                  <m:oMath xmlns:m="http://schemas.openxmlformats.org/officeDocument/2006/math">
                    <m:r>
                      <a:rPr lang="vi-VN" sz="2800" b="0" i="1" smtClean="0">
                        <a:solidFill>
                          <a:srgbClr val="0066FF"/>
                        </a:solidFill>
                        <a:latin typeface="Cambria Math" panose="02040503050406030204" pitchFamily="18" charset="0"/>
                      </a:rPr>
                      <m:t>𝑥</m:t>
                    </m:r>
                    <m:r>
                      <a:rPr lang="vi-VN" sz="2800" b="0" i="1" smtClean="0">
                        <a:solidFill>
                          <a:srgbClr val="0066FF"/>
                        </a:solidFill>
                        <a:latin typeface="Cambria Math" panose="02040503050406030204" pitchFamily="18" charset="0"/>
                      </a:rPr>
                      <m:t>,</m:t>
                    </m:r>
                    <m:sSup>
                      <m:sSupPr>
                        <m:ctrlPr>
                          <a:rPr lang="vi-VN" sz="2800" b="0" i="1" smtClean="0">
                            <a:solidFill>
                              <a:srgbClr val="0066FF"/>
                            </a:solidFill>
                            <a:latin typeface="Cambria Math" panose="02040503050406030204" pitchFamily="18" charset="0"/>
                          </a:rPr>
                        </m:ctrlPr>
                      </m:sSupPr>
                      <m:e>
                        <m:r>
                          <a:rPr lang="vi-VN" sz="2800" b="0" i="1" smtClean="0">
                            <a:solidFill>
                              <a:srgbClr val="0066FF"/>
                            </a:solidFill>
                            <a:latin typeface="Cambria Math" panose="02040503050406030204" pitchFamily="18" charset="0"/>
                          </a:rPr>
                          <m:t>𝑥</m:t>
                        </m:r>
                      </m:e>
                      <m:sup>
                        <m:r>
                          <a:rPr lang="vi-VN" sz="2800" b="0" i="1" smtClean="0">
                            <a:solidFill>
                              <a:srgbClr val="0066FF"/>
                            </a:solidFill>
                            <a:latin typeface="Cambria Math" panose="02040503050406030204" pitchFamily="18" charset="0"/>
                          </a:rPr>
                          <m:t>2</m:t>
                        </m:r>
                      </m:sup>
                    </m:sSup>
                    <m:r>
                      <a:rPr lang="vi-VN" sz="2800" b="0" i="1" smtClean="0">
                        <a:solidFill>
                          <a:srgbClr val="0066FF"/>
                        </a:solidFill>
                        <a:latin typeface="Cambria Math" panose="02040503050406030204" pitchFamily="18" charset="0"/>
                      </a:rPr>
                      <m:t>,</m:t>
                    </m:r>
                    <m:sSup>
                      <m:sSupPr>
                        <m:ctrlPr>
                          <a:rPr lang="vi-VN" sz="2800" b="0" i="1" smtClean="0">
                            <a:solidFill>
                              <a:srgbClr val="0066FF"/>
                            </a:solidFill>
                            <a:latin typeface="Cambria Math" panose="02040503050406030204" pitchFamily="18" charset="0"/>
                          </a:rPr>
                        </m:ctrlPr>
                      </m:sSupPr>
                      <m:e>
                        <m:r>
                          <a:rPr lang="vi-VN" sz="2800" b="0" i="1" smtClean="0">
                            <a:solidFill>
                              <a:srgbClr val="0066FF"/>
                            </a:solidFill>
                            <a:latin typeface="Cambria Math" panose="02040503050406030204" pitchFamily="18" charset="0"/>
                          </a:rPr>
                          <m:t>𝑥</m:t>
                        </m:r>
                      </m:e>
                      <m:sup>
                        <m:r>
                          <a:rPr lang="vi-VN" sz="2800" b="0" i="1" smtClean="0">
                            <a:solidFill>
                              <a:srgbClr val="0066FF"/>
                            </a:solidFill>
                            <a:latin typeface="Cambria Math" panose="02040503050406030204" pitchFamily="18" charset="0"/>
                          </a:rPr>
                          <m:t>3</m:t>
                        </m:r>
                      </m:sup>
                    </m:sSup>
                    <m:r>
                      <a:rPr lang="vi-VN" sz="2800" b="0" i="1" smtClean="0">
                        <a:solidFill>
                          <a:srgbClr val="0066FF"/>
                        </a:solidFill>
                        <a:latin typeface="Cambria Math" panose="02040503050406030204" pitchFamily="18" charset="0"/>
                      </a:rPr>
                      <m:t>,</m:t>
                    </m:r>
                    <m:sSup>
                      <m:sSupPr>
                        <m:ctrlPr>
                          <a:rPr lang="vi-VN" sz="2800" b="0" i="1" smtClean="0">
                            <a:solidFill>
                              <a:srgbClr val="0066FF"/>
                            </a:solidFill>
                            <a:latin typeface="Cambria Math" panose="02040503050406030204" pitchFamily="18" charset="0"/>
                          </a:rPr>
                        </m:ctrlPr>
                      </m:sSupPr>
                      <m:e>
                        <m:r>
                          <a:rPr lang="vi-VN" sz="2800" b="0" i="1" smtClean="0">
                            <a:solidFill>
                              <a:srgbClr val="0066FF"/>
                            </a:solidFill>
                            <a:latin typeface="Cambria Math" panose="02040503050406030204" pitchFamily="18" charset="0"/>
                          </a:rPr>
                          <m:t>𝑥</m:t>
                        </m:r>
                      </m:e>
                      <m:sup>
                        <m:r>
                          <a:rPr lang="vi-VN" sz="2800" b="0" i="1" smtClean="0">
                            <a:solidFill>
                              <a:srgbClr val="0066FF"/>
                            </a:solidFill>
                            <a:latin typeface="Cambria Math" panose="02040503050406030204" pitchFamily="18" charset="0"/>
                          </a:rPr>
                          <m:t>4</m:t>
                        </m:r>
                      </m:sup>
                    </m:sSup>
                  </m:oMath>
                </a14:m>
                <a:r>
                  <a:rPr lang="vi-VN" sz="2800" dirty="0">
                    <a:solidFill>
                      <a:srgbClr val="0066FF"/>
                    </a:solidFill>
                  </a:rPr>
                  <a:t>.</a:t>
                </a:r>
              </a:p>
              <a:p>
                <a:pPr marL="457200" indent="-457200" algn="just">
                  <a:buFont typeface="+mj-lt"/>
                  <a:buAutoNum type="arabicPeriod" startAt="12"/>
                </a:pPr>
                <a:r>
                  <a:rPr lang="en-US">
                    <a:solidFill>
                      <a:srgbClr val="AF00DB"/>
                    </a:solidFill>
                    <a:latin typeface="Consolas" panose="020B0609020204030204" pitchFamily="49" charset="0"/>
                  </a:rPr>
                  <a:t>from</a:t>
                </a:r>
                <a:r>
                  <a:rPr lang="en-US">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sklearn.preprocessing</a:t>
                </a:r>
                <a:r>
                  <a:rPr lang="en-US" dirty="0">
                    <a:solidFill>
                      <a:srgbClr val="000000"/>
                    </a:solidFill>
                    <a:latin typeface="Consolas" panose="020B0609020204030204" pitchFamily="49" charset="0"/>
                  </a:rPr>
                  <a:t> </a:t>
                </a:r>
                <a:r>
                  <a:rPr lang="en-US" dirty="0">
                    <a:solidFill>
                      <a:srgbClr val="AF00DB"/>
                    </a:solidFill>
                    <a:latin typeface="Consolas" panose="020B0609020204030204" pitchFamily="49" charset="0"/>
                  </a:rPr>
                  <a:t>import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PolynomialFeatures</a:t>
                </a:r>
                <a:endParaRPr lang="en-US" dirty="0">
                  <a:solidFill>
                    <a:srgbClr val="000000"/>
                  </a:solidFill>
                  <a:latin typeface="Consolas" panose="020B0609020204030204" pitchFamily="49" charset="0"/>
                </a:endParaRPr>
              </a:p>
              <a:p>
                <a:pPr marL="457200" indent="-457200" algn="just">
                  <a:buFont typeface="+mj-lt"/>
                  <a:buAutoNum type="arabicPeriod" startAt="12"/>
                </a:pPr>
                <a:r>
                  <a:rPr lang="en-US" dirty="0" err="1">
                    <a:solidFill>
                      <a:srgbClr val="000000"/>
                    </a:solidFill>
                    <a:latin typeface="Consolas" panose="020B0609020204030204" pitchFamily="49" charset="0"/>
                  </a:rPr>
                  <a:t>poly_transform</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PolynomialFeatures</a:t>
                </a:r>
                <a:r>
                  <a:rPr lang="en-US" dirty="0">
                    <a:solidFill>
                      <a:srgbClr val="000000"/>
                    </a:solidFill>
                    <a:latin typeface="Consolas" panose="020B0609020204030204" pitchFamily="49" charset="0"/>
                  </a:rPr>
                  <a:t>(</a:t>
                </a:r>
                <a:r>
                  <a:rPr lang="en-US">
                    <a:solidFill>
                      <a:srgbClr val="001080"/>
                    </a:solidFill>
                    <a:latin typeface="Consolas" panose="020B0609020204030204" pitchFamily="49" charset="0"/>
                  </a:rPr>
                  <a:t>degree</a:t>
                </a:r>
                <a:r>
                  <a:rPr lang="en-US">
                    <a:solidFill>
                      <a:srgbClr val="000000"/>
                    </a:solidFill>
                    <a:latin typeface="Consolas" panose="020B0609020204030204" pitchFamily="49" charset="0"/>
                  </a:rPr>
                  <a:t>=</a:t>
                </a:r>
                <a:r>
                  <a:rPr lang="en-US">
                    <a:solidFill>
                      <a:srgbClr val="09885A"/>
                    </a:solidFill>
                    <a:latin typeface="Consolas" panose="020B0609020204030204" pitchFamily="49" charset="0"/>
                  </a:rPr>
                  <a:t>4</a:t>
                </a:r>
                <a:r>
                  <a:rPr lang="en-US" dirty="0">
                    <a:solidFill>
                      <a:srgbClr val="000000"/>
                    </a:solidFill>
                    <a:latin typeface="Consolas" panose="020B0609020204030204" pitchFamily="49" charset="0"/>
                  </a:rPr>
                  <a:t>)</a:t>
                </a:r>
              </a:p>
              <a:p>
                <a:pPr marL="457200" indent="-457200" algn="just">
                  <a:buFont typeface="+mj-lt"/>
                  <a:buAutoNum type="arabicPeriod" startAt="12"/>
                </a:pPr>
                <a:r>
                  <a:rPr lang="en-US" dirty="0" err="1">
                    <a:solidFill>
                      <a:srgbClr val="000000"/>
                    </a:solidFill>
                    <a:highlight>
                      <a:srgbClr val="FFFF00"/>
                    </a:highlight>
                    <a:latin typeface="Consolas" panose="020B0609020204030204" pitchFamily="49" charset="0"/>
                  </a:rPr>
                  <a:t>X_poly</a:t>
                </a:r>
                <a:r>
                  <a:rPr lang="en-US" dirty="0">
                    <a:solidFill>
                      <a:srgbClr val="000000"/>
                    </a:solidFill>
                    <a:highlight>
                      <a:srgbClr val="FFFF00"/>
                    </a:highlight>
                    <a:latin typeface="Consolas" panose="020B0609020204030204" pitchFamily="49" charset="0"/>
                  </a:rPr>
                  <a:t> = </a:t>
                </a:r>
                <a:r>
                  <a:rPr lang="en-US" dirty="0" err="1">
                    <a:solidFill>
                      <a:srgbClr val="000000"/>
                    </a:solidFill>
                    <a:highlight>
                      <a:srgbClr val="FFFF00"/>
                    </a:highlight>
                    <a:latin typeface="Consolas" panose="020B0609020204030204" pitchFamily="49" charset="0"/>
                  </a:rPr>
                  <a:t>poly_transform.fit_transform</a:t>
                </a:r>
                <a:r>
                  <a:rPr lang="en-US" dirty="0">
                    <a:solidFill>
                      <a:srgbClr val="000000"/>
                    </a:solidFill>
                    <a:highlight>
                      <a:srgbClr val="FFFF00"/>
                    </a:highlight>
                    <a:latin typeface="Consolas" panose="020B0609020204030204" pitchFamily="49" charset="0"/>
                  </a:rPr>
                  <a:t>(X)</a:t>
                </a:r>
              </a:p>
            </p:txBody>
          </p:sp>
        </mc:Choice>
        <mc:Fallback xmlns="">
          <p:sp>
            <p:nvSpPr>
              <p:cNvPr id="5" name="Content Placeholder 4">
                <a:extLst>
                  <a:ext uri="{FF2B5EF4-FFF2-40B4-BE49-F238E27FC236}">
                    <a16:creationId xmlns:a16="http://schemas.microsoft.com/office/drawing/2014/main" id="{9973A862-3DD9-4963-9F80-C584383191F4}"/>
                  </a:ext>
                </a:extLst>
              </p:cNvPr>
              <p:cNvSpPr>
                <a:spLocks noGrp="1" noRot="1" noChangeAspect="1" noMove="1" noResize="1" noEditPoints="1" noAdjustHandles="1" noChangeArrowheads="1" noChangeShapeType="1" noTextEdit="1"/>
              </p:cNvSpPr>
              <p:nvPr>
                <p:ph idx="1"/>
              </p:nvPr>
            </p:nvSpPr>
            <p:spPr>
              <a:blipFill>
                <a:blip r:embed="rId2"/>
                <a:stretch>
                  <a:fillRect l="-1056" t="-1482" r="-1111"/>
                </a:stretch>
              </a:blipFill>
            </p:spPr>
            <p:txBody>
              <a:bodyPr/>
              <a:lstStyle/>
              <a:p>
                <a:r>
                  <a:rPr lang="en-US">
                    <a:noFill/>
                  </a:rPr>
                  <a:t> </a:t>
                </a:r>
              </a:p>
            </p:txBody>
          </p:sp>
        </mc:Fallback>
      </mc:AlternateContent>
      <p:sp>
        <p:nvSpPr>
          <p:cNvPr id="6" name="TextBox 5"/>
          <p:cNvSpPr txBox="1"/>
          <p:nvPr/>
        </p:nvSpPr>
        <p:spPr>
          <a:xfrm>
            <a:off x="612648" y="1371600"/>
            <a:ext cx="10972800" cy="4937760"/>
          </a:xfrm>
          <a:prstGeom prst="rect">
            <a:avLst/>
          </a:prstGeom>
          <a:noFill/>
        </p:spPr>
        <p:txBody>
          <a:bodyPr wrap="square">
            <a:spAutoFit/>
          </a:bodyPr>
          <a:lstStyle/>
          <a:p>
            <a:pPr>
              <a:spcBef>
                <a:spcPts val="600"/>
              </a:spcBef>
              <a:spcAft>
                <a:spcPts val="400"/>
              </a:spcAft>
              <a:defRPr sz="1700" b="1">
                <a:solidFill>
                  <a:srgbClr val="003366"/>
                </a:solidFill>
                <a:latin typeface="Calibri"/>
              </a:defRPr>
            </a:pPr>
            <a:r>
              <a:t>Tại sao nên sử dụng make_pipeline thay vì biến đổi thủ công?</a:t>
            </a:r>
          </a:p>
          <a:p>
            <a:pPr>
              <a:spcAft>
                <a:spcPts val="300"/>
              </a:spcAft>
              <a:defRPr sz="1500" b="0">
                <a:solidFill>
                  <a:srgbClr val="282828"/>
                </a:solidFill>
                <a:latin typeface="Calibri"/>
              </a:defRPr>
            </a:pPr>
            <a:r>
              <a:t>• Tránh rò rỉ dữ liệu (Data Leakage) và viết code gọn gàng, chuyên nghiệp.</a:t>
            </a:r>
          </a:p>
          <a:p>
            <a:pPr>
              <a:spcAft>
                <a:spcPts val="300"/>
              </a:spcAft>
              <a:defRPr sz="1500" b="0">
                <a:solidFill>
                  <a:srgbClr val="282828"/>
                </a:solidFill>
                <a:latin typeface="Calibri"/>
              </a:defRPr>
            </a:pPr>
            <a:r>
              <a:t>• Tự động đóng gói bước biến đổi đa thức và bước huấn luyện hồi quy thành một đối tượng duy nhất.</a:t>
            </a:r>
          </a:p>
          <a:p>
            <a:pPr>
              <a:spcBef>
                <a:spcPts val="600"/>
              </a:spcBef>
              <a:spcAft>
                <a:spcPts val="400"/>
              </a:spcAft>
              <a:defRPr sz="1700" b="1">
                <a:solidFill>
                  <a:srgbClr val="003366"/>
                </a:solidFill>
                <a:latin typeface="Calibri"/>
              </a:defRPr>
            </a:pPr>
            <a:r>
              <a:t>• Cú pháp hiện đại chuẩn công nghiệp:</a:t>
            </a:r>
          </a:p>
          <a:p>
            <a:pPr>
              <a:spcAft>
                <a:spcPts val="200"/>
              </a:spcAft>
              <a:defRPr sz="1300" b="0">
                <a:solidFill>
                  <a:srgbClr val="004696"/>
                </a:solidFill>
                <a:latin typeface="Consolas"/>
              </a:defRPr>
            </a:pPr>
            <a:r>
              <a:t>from sklearn.pipeline import make_pipeline</a:t>
            </a:r>
          </a:p>
          <a:p>
            <a:pPr>
              <a:spcAft>
                <a:spcPts val="200"/>
              </a:spcAft>
              <a:defRPr sz="1300" b="0">
                <a:solidFill>
                  <a:srgbClr val="004696"/>
                </a:solidFill>
                <a:latin typeface="Consolas"/>
              </a:defRPr>
            </a:pPr>
            <a:r>
              <a:t># Đóng gói liên hoàn: PolynomialFeatures -&gt; LinearRegression</a:t>
            </a:r>
          </a:p>
          <a:p>
            <a:pPr>
              <a:spcAft>
                <a:spcPts val="200"/>
              </a:spcAft>
              <a:defRPr sz="1300" b="0">
                <a:solidFill>
                  <a:srgbClr val="004696"/>
                </a:solidFill>
                <a:latin typeface="Consolas"/>
              </a:defRPr>
            </a:pPr>
            <a:r>
              <a:t>poly_reg_2 = make_pipeline(PolynomialFeatures(degree=2), LinearRegression())</a:t>
            </a:r>
          </a:p>
          <a:p>
            <a:pPr>
              <a:spcAft>
                <a:spcPts val="400"/>
              </a:spcAft>
              <a:defRPr sz="1300" b="0">
                <a:solidFill>
                  <a:srgbClr val="004696"/>
                </a:solidFill>
                <a:latin typeface="Consolas"/>
              </a:defRPr>
            </a:pPr>
            <a:r>
              <a:t>poly_reg_2.fit(X, y)</a:t>
            </a:r>
          </a:p>
          <a:p>
            <a:pPr>
              <a:spcAft>
                <a:spcPts val="200"/>
              </a:spcAft>
              <a:defRPr sz="1200" b="0">
                <a:solidFill>
                  <a:srgbClr val="146428"/>
                </a:solidFill>
                <a:latin typeface="Consolas"/>
              </a:defRPr>
            </a:pPr>
            <a:r>
              <a:t>📌 Lợi ích: Khi dự đoán mẫu mới (x_new), chỉ cần gọi model.predict(x_new) mà không phải transform thủ công!</a:t>
            </a:r>
          </a:p>
        </p:txBody>
      </p:sp>
    </p:spTree>
    <p:extLst>
      <p:ext uri="{BB962C8B-B14F-4D97-AF65-F5344CB8AC3E}">
        <p14:creationId xmlns:p14="http://schemas.microsoft.com/office/powerpoint/2010/main" val="138973611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64B7FE-6F4F-4561-A525-6EE52EFBB72A}"/>
              </a:ext>
            </a:extLst>
          </p:cNvPr>
          <p:cNvSpPr>
            <a:spLocks noGrp="1"/>
          </p:cNvSpPr>
          <p:nvPr>
            <p:ph type="title"/>
          </p:nvPr>
        </p:nvSpPr>
        <p:spPr/>
        <p:txBody>
          <a:bodyPr/>
          <a:lstStyle/>
          <a:p>
            <a:r>
              <a:rPr lang="vi-VN" dirty="0" err="1"/>
              <a:t>Huấn</a:t>
            </a:r>
            <a:r>
              <a:rPr lang="vi-VN" dirty="0"/>
              <a:t> </a:t>
            </a:r>
            <a:r>
              <a:rPr lang="vi-VN" dirty="0" err="1"/>
              <a:t>luyện</a:t>
            </a:r>
            <a:r>
              <a:rPr lang="vi-VN" dirty="0"/>
              <a:t> mô </a:t>
            </a:r>
            <a:r>
              <a:rPr lang="vi-VN" dirty="0" err="1"/>
              <a:t>hình</a:t>
            </a:r>
            <a:endParaRPr lang="vi-VN" dirty="0"/>
          </a:p>
        </p:txBody>
      </p:sp>
      <p:sp>
        <p:nvSpPr>
          <p:cNvPr id="5" name="Text Placeholder 4">
            <a:extLst>
              <a:ext uri="{FF2B5EF4-FFF2-40B4-BE49-F238E27FC236}">
                <a16:creationId xmlns:a16="http://schemas.microsoft.com/office/drawing/2014/main" id="{DBB06D42-045D-4118-86A0-88A9F8AA826B}"/>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270556939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743BE6-3DA7-45DF-A3CB-9581CFF83585}"/>
              </a:ext>
            </a:extLst>
          </p:cNvPr>
          <p:cNvSpPr>
            <a:spLocks noGrp="1"/>
          </p:cNvSpPr>
          <p:nvPr>
            <p:ph type="title"/>
          </p:nvPr>
        </p:nvSpPr>
        <p:spPr/>
        <p:txBody>
          <a:bodyPr wrap="square"/>
          <a:lstStyle/>
          <a:p>
            <a:pPr>
              <a:defRPr sz="2800" b="1">
                <a:solidFill>
                  <a:srgbClr val="002060"/>
                </a:solidFill>
                <a:latin typeface="Calibri"/>
              </a:defRPr>
            </a:pPr>
            <a:r>
              <a:t>Huấn luyện mô hình: Baseline Hồi Quy Tuyến Tính Đơn (Bậc 1)</a:t>
            </a:r>
            <a:endParaRPr lang="vi-VN" dirty="0"/>
          </a:p>
        </p:txBody>
      </p:sp>
      <p:sp>
        <p:nvSpPr>
          <p:cNvPr id="5" name="Content Placeholder 4">
            <a:extLst>
              <a:ext uri="{FF2B5EF4-FFF2-40B4-BE49-F238E27FC236}">
                <a16:creationId xmlns:a16="http://schemas.microsoft.com/office/drawing/2014/main" id="{44677DB3-953A-4933-88B2-F6E8CDA59997}"/>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Huấn luyện mô hình tuyến tính cơ sở (In [2]):</a:t>
            </a:r>
          </a:p>
          <a:p>
            <a:pPr>
              <a:spcAft>
                <a:spcPts val="200"/>
              </a:spcAft>
              <a:defRPr sz="1300" b="0">
                <a:solidFill>
                  <a:srgbClr val="004696"/>
                </a:solidFill>
                <a:latin typeface="Consolas"/>
              </a:defRPr>
            </a:pPr>
            <a:r>
              <a:t>from sklearn.linear_model import LinearRegression</a:t>
            </a:r>
          </a:p>
          <a:p>
            <a:pPr>
              <a:spcAft>
                <a:spcPts val="400"/>
              </a:spcAft>
              <a:defRPr sz="1300" b="0">
                <a:solidFill>
                  <a:srgbClr val="004696"/>
                </a:solidFill>
                <a:latin typeface="Consolas"/>
              </a:defRPr>
            </a:pPr>
            <a:r>
              <a:t>from sklearn.metrics import r2_score</a:t>
            </a:r>
          </a:p>
          <a:p>
            <a:pPr>
              <a:spcAft>
                <a:spcPts val="200"/>
              </a:spcAft>
              <a:defRPr sz="1300" b="0">
                <a:solidFill>
                  <a:srgbClr val="004696"/>
                </a:solidFill>
                <a:latin typeface="Consolas"/>
              </a:defRPr>
            </a:pPr>
            <a:r>
              <a:t># Huấn luyện Linear Regression đơn</a:t>
            </a:r>
          </a:p>
          <a:p>
            <a:pPr>
              <a:spcAft>
                <a:spcPts val="400"/>
              </a:spcAft>
              <a:defRPr sz="1300" b="0">
                <a:solidFill>
                  <a:srgbClr val="004696"/>
                </a:solidFill>
                <a:latin typeface="Consolas"/>
              </a:defRPr>
            </a:pPr>
            <a:r>
              <a:t>lin_reg = LinearRegression().fit(X, y)</a:t>
            </a:r>
          </a:p>
          <a:p>
            <a:pPr>
              <a:spcAft>
                <a:spcPts val="200"/>
              </a:spcAft>
              <a:defRPr sz="1300" b="0">
                <a:solidFill>
                  <a:srgbClr val="004696"/>
                </a:solidFill>
                <a:latin typeface="Consolas"/>
              </a:defRPr>
            </a:pPr>
            <a:r>
              <a:t># Đánh giá độ phù hợp của mô hình tuyến tính đơn</a:t>
            </a:r>
          </a:p>
          <a:p>
            <a:pPr>
              <a:spcAft>
                <a:spcPts val="200"/>
              </a:spcAft>
              <a:defRPr sz="1300" b="0">
                <a:solidFill>
                  <a:srgbClr val="004696"/>
                </a:solidFill>
                <a:latin typeface="Consolas"/>
              </a:defRPr>
            </a:pPr>
            <a:r>
              <a:t>r2_linear = r2_score(y, lin_reg.predict(X))</a:t>
            </a:r>
          </a:p>
          <a:p>
            <a:pPr>
              <a:spcAft>
                <a:spcPts val="600"/>
              </a:spcAft>
              <a:defRPr sz="1300" b="0">
                <a:solidFill>
                  <a:srgbClr val="004696"/>
                </a:solidFill>
                <a:latin typeface="Consolas"/>
              </a:defRPr>
            </a:pPr>
            <a:r>
              <a:t>print(f'R² Score của Tuyến tính Đơn: {r2_linear:.4f}')</a:t>
            </a:r>
          </a:p>
          <a:p>
            <a:pPr>
              <a:spcAft>
                <a:spcPts val="200"/>
              </a:spcAft>
              <a:defRPr sz="1200" b="0">
                <a:solidFill>
                  <a:srgbClr val="146428"/>
                </a:solidFill>
                <a:latin typeface="Consolas"/>
              </a:defRPr>
            </a:pPr>
            <a:r>
              <a:t>📌 Kết quả: R² = 0.6690</a:t>
            </a:r>
          </a:p>
          <a:p>
            <a:pPr>
              <a:spcAft>
                <a:spcPts val="300"/>
              </a:spcAft>
              <a:defRPr sz="1500" b="0">
                <a:solidFill>
                  <a:srgbClr val="282828"/>
                </a:solidFill>
                <a:latin typeface="Calibri"/>
              </a:defRPr>
            </a:pPr>
            <a:r>
              <a:t>• Nhận xét: R² chỉ đạt ~66.9%, đường thẳng không thể mô tả được độ cong tăng vọt của mức lương ở các cấp lãnh đạo cao.</a:t>
            </a:r>
          </a:p>
        </p:txBody>
      </p:sp>
    </p:spTree>
    <p:extLst>
      <p:ext uri="{BB962C8B-B14F-4D97-AF65-F5344CB8AC3E}">
        <p14:creationId xmlns:p14="http://schemas.microsoft.com/office/powerpoint/2010/main" val="292037064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743BE6-3DA7-45DF-A3CB-9581CFF83585}"/>
              </a:ext>
            </a:extLst>
          </p:cNvPr>
          <p:cNvSpPr>
            <a:spLocks noGrp="1"/>
          </p:cNvSpPr>
          <p:nvPr>
            <p:ph type="title"/>
          </p:nvPr>
        </p:nvSpPr>
        <p:spPr/>
        <p:txBody>
          <a:bodyPr wrap="square"/>
          <a:lstStyle/>
          <a:p>
            <a:pPr>
              <a:defRPr sz="2800" b="1">
                <a:solidFill>
                  <a:srgbClr val="002060"/>
                </a:solidFill>
                <a:latin typeface="Calibri"/>
              </a:defRPr>
            </a:pPr>
            <a:r>
              <a:t>Huấn luyện mô hình: Đa Thức Bậc 2, 3, 4 &amp; Dự Đoán Level = 6.5 (In [2])</a:t>
            </a:r>
            <a:endParaRPr lang="vi-VN" dirty="0"/>
          </a:p>
        </p:txBody>
      </p:sp>
      <p:sp>
        <p:nvSpPr>
          <p:cNvPr id="5" name="Content Placeholder 4">
            <a:extLst>
              <a:ext uri="{FF2B5EF4-FFF2-40B4-BE49-F238E27FC236}">
                <a16:creationId xmlns:a16="http://schemas.microsoft.com/office/drawing/2014/main" id="{44677DB3-953A-4933-88B2-F6E8CDA59997}"/>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Huấn luyện đồng thời 3 bậc đa thức qua make_pipeline (In [2]):</a:t>
            </a:r>
          </a:p>
          <a:p>
            <a:pPr>
              <a:spcAft>
                <a:spcPts val="200"/>
              </a:spcAft>
              <a:defRPr sz="1300" b="0">
                <a:solidFill>
                  <a:srgbClr val="004696"/>
                </a:solidFill>
                <a:latin typeface="Consolas"/>
              </a:defRPr>
            </a:pPr>
            <a:r>
              <a:t>poly_reg_2 = make_pipeline(PolynomialFeatures(degree=2), LinearRegression()).fit(X, y)</a:t>
            </a:r>
          </a:p>
          <a:p>
            <a:pPr>
              <a:spcAft>
                <a:spcPts val="200"/>
              </a:spcAft>
              <a:defRPr sz="1300" b="0">
                <a:solidFill>
                  <a:srgbClr val="004696"/>
                </a:solidFill>
                <a:latin typeface="Consolas"/>
              </a:defRPr>
            </a:pPr>
            <a:r>
              <a:t>poly_reg_3 = make_pipeline(PolynomialFeatures(degree=3), LinearRegression()).fit(X, y)</a:t>
            </a:r>
          </a:p>
          <a:p>
            <a:pPr>
              <a:spcAft>
                <a:spcPts val="400"/>
              </a:spcAft>
              <a:defRPr sz="1300" b="0">
                <a:solidFill>
                  <a:srgbClr val="004696"/>
                </a:solidFill>
                <a:latin typeface="Consolas"/>
              </a:defRPr>
            </a:pPr>
            <a:r>
              <a:t>poly_reg_4 = make_pipeline(PolynomialFeatures(degree=4), LinearRegression()).fit(X, y)</a:t>
            </a:r>
          </a:p>
          <a:p>
            <a:pPr>
              <a:spcAft>
                <a:spcPts val="200"/>
              </a:spcAft>
              <a:defRPr sz="1300" b="0">
                <a:solidFill>
                  <a:srgbClr val="004696"/>
                </a:solidFill>
                <a:latin typeface="Consolas"/>
              </a:defRPr>
            </a:pPr>
            <a:r>
              <a:t># Dự đoán mức lương cho ứng viên có cấp bậc Level = 6.5</a:t>
            </a:r>
          </a:p>
          <a:p>
            <a:pPr>
              <a:spcAft>
                <a:spcPts val="200"/>
              </a:spcAft>
              <a:defRPr sz="1300" b="0">
                <a:solidFill>
                  <a:srgbClr val="004696"/>
                </a:solidFill>
                <a:latin typeface="Consolas"/>
              </a:defRPr>
            </a:pPr>
            <a:r>
              <a:t>test_level = np.array([[6.5]])</a:t>
            </a:r>
          </a:p>
          <a:p>
            <a:pPr>
              <a:spcAft>
                <a:spcPts val="200"/>
              </a:spcAft>
              <a:defRPr sz="1300" b="0">
                <a:solidFill>
                  <a:srgbClr val="004696"/>
                </a:solidFill>
                <a:latin typeface="Consolas"/>
              </a:defRPr>
            </a:pPr>
            <a:r>
              <a:t>print(f'Linear (Bậc 1): ${lin_reg.predict(test_level)[0]:,.2f} | R² = {r2_score(y, lin_reg.predict(X)):.4f}')</a:t>
            </a:r>
          </a:p>
          <a:p>
            <a:pPr>
              <a:spcAft>
                <a:spcPts val="200"/>
              </a:spcAft>
              <a:defRPr sz="1300" b="0">
                <a:solidFill>
                  <a:srgbClr val="004696"/>
                </a:solidFill>
                <a:latin typeface="Consolas"/>
              </a:defRPr>
            </a:pPr>
            <a:r>
              <a:t>print(f'Poly (Bậc 2):   ${poly_reg_2.predict(test_level)[0]:,.2f} | R² = {r2_score(y, poly_reg_2.predict(X)):.4f}')</a:t>
            </a:r>
          </a:p>
          <a:p>
            <a:pPr>
              <a:spcAft>
                <a:spcPts val="200"/>
              </a:spcAft>
              <a:defRPr sz="1300" b="0">
                <a:solidFill>
                  <a:srgbClr val="004696"/>
                </a:solidFill>
                <a:latin typeface="Consolas"/>
              </a:defRPr>
            </a:pPr>
            <a:r>
              <a:t>print(f'Poly (Bậc 3):   ${poly_reg_3.predict(test_level)[0]:,.2f} | R² = {r2_score(y, poly_reg_3.predict(X)):.4f}')</a:t>
            </a:r>
          </a:p>
          <a:p>
            <a:pPr>
              <a:spcAft>
                <a:spcPts val="400"/>
              </a:spcAft>
              <a:defRPr sz="1300" b="0">
                <a:solidFill>
                  <a:srgbClr val="004696"/>
                </a:solidFill>
                <a:latin typeface="Consolas"/>
              </a:defRPr>
            </a:pPr>
            <a:r>
              <a:t>print(f'Poly (Bậc 4):   ${poly_reg_4.predict(test_level)[0]:,.2f} | R² = {r2_score(y, poly_reg_4.predict(X)):.4f}')</a:t>
            </a:r>
          </a:p>
          <a:p>
            <a:pPr>
              <a:spcBef>
                <a:spcPts val="600"/>
              </a:spcBef>
              <a:spcAft>
                <a:spcPts val="400"/>
              </a:spcAft>
              <a:defRPr sz="1700" b="1">
                <a:solidFill>
                  <a:srgbClr val="003366"/>
                </a:solidFill>
                <a:latin typeface="Calibri"/>
              </a:defRPr>
            </a:pPr>
            <a:r>
              <a:t>📌 Kết quả dự đoán &amp; Đánh giá (Expected Output từ In [2]):</a:t>
            </a:r>
          </a:p>
          <a:p>
            <a:pPr>
              <a:spcAft>
                <a:spcPts val="200"/>
              </a:spcAft>
              <a:defRPr sz="1200" b="0">
                <a:solidFill>
                  <a:srgbClr val="146428"/>
                </a:solidFill>
                <a:latin typeface="Consolas"/>
              </a:defRPr>
            </a:pPr>
            <a:r>
              <a:t>• Linear (Bậc 1): $330,378.79 | R² = 0.6690 (Dự đoán quá cao, Underfitting)</a:t>
            </a:r>
          </a:p>
          <a:p>
            <a:pPr>
              <a:spcAft>
                <a:spcPts val="200"/>
              </a:spcAft>
              <a:defRPr sz="1200" b="0">
                <a:solidFill>
                  <a:srgbClr val="146428"/>
                </a:solidFill>
                <a:latin typeface="Consolas"/>
              </a:defRPr>
            </a:pPr>
            <a:r>
              <a:t>• Poly (Bậc 2):   $189,498.11 | R² = 0.9162</a:t>
            </a:r>
          </a:p>
          <a:p>
            <a:pPr>
              <a:spcAft>
                <a:spcPts val="200"/>
              </a:spcAft>
              <a:defRPr sz="1200" b="0">
                <a:solidFill>
                  <a:srgbClr val="146428"/>
                </a:solidFill>
                <a:latin typeface="Consolas"/>
              </a:defRPr>
            </a:pPr>
            <a:r>
              <a:t>• Poly (Bậc 3):   $133,259.47 | R² = 0.9812</a:t>
            </a:r>
          </a:p>
          <a:p>
            <a:pPr>
              <a:spcAft>
                <a:spcPts val="200"/>
              </a:spcAft>
              <a:defRPr sz="1200" b="0">
                <a:solidFill>
                  <a:srgbClr val="146428"/>
                </a:solidFill>
                <a:latin typeface="Consolas"/>
              </a:defRPr>
            </a:pPr>
            <a:r>
              <a:t>• Poly (Bậc 4):   $158,862.47 | R² = 0.9974 (Khớp dữ liệu tối ưu nhất!)</a:t>
            </a:r>
          </a:p>
        </p:txBody>
      </p:sp>
    </p:spTree>
    <p:extLst>
      <p:ext uri="{BB962C8B-B14F-4D97-AF65-F5344CB8AC3E}">
        <p14:creationId xmlns:p14="http://schemas.microsoft.com/office/powerpoint/2010/main" val="234673395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648472-E08E-4F20-BD9A-6013B3F3B356}"/>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endParaRPr lang="vi-VN" dirty="0"/>
          </a:p>
        </p:txBody>
      </p:sp>
      <p:sp>
        <p:nvSpPr>
          <p:cNvPr id="5" name="Text Placeholder 4">
            <a:extLst>
              <a:ext uri="{FF2B5EF4-FFF2-40B4-BE49-F238E27FC236}">
                <a16:creationId xmlns:a16="http://schemas.microsoft.com/office/drawing/2014/main" id="{BF2D6645-12FA-482A-B969-D3C08F5C5D69}"/>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275876690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648472-E08E-4F20-BD9A-6013B3F3B356}"/>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endParaRPr lang="vi-VN" dirty="0"/>
          </a:p>
        </p:txBody>
      </p:sp>
      <p:pic>
        <p:nvPicPr>
          <p:cNvPr id="6" name="Content Placeholder 4">
            <a:extLst>
              <a:ext uri="{FF2B5EF4-FFF2-40B4-BE49-F238E27FC236}">
                <a16:creationId xmlns:a16="http://schemas.microsoft.com/office/drawing/2014/main" id="{C88A075D-3011-4B8C-85D3-EF0661E6627A}"/>
              </a:ext>
            </a:extLst>
          </p:cNvPr>
          <p:cNvPicPr>
            <a:picLocks noGrp="1" noChangeAspect="1"/>
          </p:cNvPicPr>
          <p:nvPr>
            <p:ph sz="half" idx="2"/>
          </p:nvPr>
        </p:nvPicPr>
        <p:blipFill>
          <a:blip r:embed="rId2"/>
          <a:stretch>
            <a:fillRect/>
          </a:stretch>
        </p:blipFill>
        <p:spPr>
          <a:xfrm>
            <a:off x="6197600" y="1903079"/>
            <a:ext cx="5384800" cy="3920204"/>
          </a:xfrm>
          <a:prstGeom prst="rect">
            <a:avLst/>
          </a:prstGeom>
        </p:spPr>
      </p:pic>
      <p:pic>
        <p:nvPicPr>
          <p:cNvPr id="7" name="Content Placeholder 5">
            <a:extLst>
              <a:ext uri="{FF2B5EF4-FFF2-40B4-BE49-F238E27FC236}">
                <a16:creationId xmlns:a16="http://schemas.microsoft.com/office/drawing/2014/main" id="{14C11D7E-3E4A-4E9D-A2C1-375FBEE468C0}"/>
              </a:ext>
            </a:extLst>
          </p:cNvPr>
          <p:cNvPicPr>
            <a:picLocks noGrp="1" noChangeAspect="1"/>
          </p:cNvPicPr>
          <p:nvPr>
            <p:ph sz="half" idx="1"/>
          </p:nvPr>
        </p:nvPicPr>
        <p:blipFill>
          <a:blip r:embed="rId3"/>
          <a:stretch>
            <a:fillRect/>
          </a:stretch>
        </p:blipFill>
        <p:spPr>
          <a:xfrm>
            <a:off x="609600" y="1891407"/>
            <a:ext cx="5384800" cy="3943548"/>
          </a:xfrm>
          <a:prstGeom prst="rect">
            <a:avLst/>
          </a:prstGeom>
        </p:spPr>
      </p:pic>
    </p:spTree>
    <p:extLst>
      <p:ext uri="{BB962C8B-B14F-4D97-AF65-F5344CB8AC3E}">
        <p14:creationId xmlns:p14="http://schemas.microsoft.com/office/powerpoint/2010/main" val="83859659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8DDE83-290F-4B0C-9297-4840D3DAE252}"/>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kết</a:t>
            </a:r>
            <a:r>
              <a:rPr lang="en-US" dirty="0"/>
              <a:t> </a:t>
            </a:r>
            <a:r>
              <a:rPr lang="en-US" dirty="0" err="1"/>
              <a:t>quả</a:t>
            </a:r>
            <a:endParaRPr lang="vi-VN" dirty="0"/>
          </a:p>
        </p:txBody>
      </p:sp>
      <p:sp>
        <p:nvSpPr>
          <p:cNvPr id="5" name="Content Placeholder 4">
            <a:extLst>
              <a:ext uri="{FF2B5EF4-FFF2-40B4-BE49-F238E27FC236}">
                <a16:creationId xmlns:a16="http://schemas.microsoft.com/office/drawing/2014/main" id="{8627C277-F3AB-48F5-AB46-CB2E319B3981}"/>
              </a:ext>
            </a:extLst>
          </p:cNvPr>
          <p:cNvSpPr>
            <a:spLocks noGrp="1"/>
          </p:cNvSpPr>
          <p:nvPr>
            <p:ph idx="1"/>
          </p:nvPr>
        </p:nvSpPr>
        <p:spPr/>
        <p:txBody>
          <a:bodyPr/>
          <a:lstStyle/>
          <a:p>
            <a:pPr algn="just"/>
            <a:r>
              <a:rPr lang="vi-VN" sz="2800" dirty="0" err="1">
                <a:solidFill>
                  <a:srgbClr val="0066FF"/>
                </a:solidFill>
              </a:rPr>
              <a:t>Trực</a:t>
            </a:r>
            <a:r>
              <a:rPr lang="vi-VN" sz="2800" dirty="0">
                <a:solidFill>
                  <a:srgbClr val="0066FF"/>
                </a:solidFill>
              </a:rPr>
              <a:t> quan </a:t>
            </a:r>
            <a:r>
              <a:rPr lang="vi-VN" sz="2800" dirty="0" err="1">
                <a:solidFill>
                  <a:srgbClr val="0066FF"/>
                </a:solidFill>
              </a:rPr>
              <a:t>hóa</a:t>
            </a:r>
            <a:r>
              <a:rPr lang="vi-VN" sz="2800" dirty="0">
                <a:solidFill>
                  <a:srgbClr val="0066FF"/>
                </a:solidFill>
              </a:rPr>
              <a:t> </a:t>
            </a:r>
            <a:r>
              <a:rPr lang="vi-VN" sz="2800" dirty="0" err="1">
                <a:solidFill>
                  <a:srgbClr val="0066FF"/>
                </a:solidFill>
              </a:rPr>
              <a:t>kết</a:t>
            </a:r>
            <a:r>
              <a:rPr lang="vi-VN" sz="2800" dirty="0">
                <a:solidFill>
                  <a:srgbClr val="0066FF"/>
                </a:solidFill>
              </a:rPr>
              <a:t> </a:t>
            </a:r>
            <a:r>
              <a:rPr lang="vi-VN" sz="2800" dirty="0" err="1">
                <a:solidFill>
                  <a:srgbClr val="0066FF"/>
                </a:solidFill>
              </a:rPr>
              <a:t>quả</a:t>
            </a:r>
            <a:r>
              <a:rPr lang="vi-VN" sz="2800" dirty="0">
                <a:solidFill>
                  <a:srgbClr val="0066FF"/>
                </a:solidFill>
              </a:rPr>
              <a:t> khi </a:t>
            </a:r>
            <a:r>
              <a:rPr lang="vi-VN" sz="2800" dirty="0" err="1">
                <a:solidFill>
                  <a:srgbClr val="0066FF"/>
                </a:solidFill>
              </a:rPr>
              <a:t>sử</a:t>
            </a:r>
            <a:r>
              <a:rPr lang="vi-VN" sz="2800" dirty="0">
                <a:solidFill>
                  <a:srgbClr val="0066FF"/>
                </a:solidFill>
              </a:rPr>
              <a:t> </a:t>
            </a:r>
            <a:r>
              <a:rPr lang="vi-VN" sz="2800" dirty="0" err="1">
                <a:solidFill>
                  <a:srgbClr val="0066FF"/>
                </a:solidFill>
              </a:rPr>
              <a:t>dụng</a:t>
            </a:r>
            <a:r>
              <a:rPr lang="vi-VN" sz="2800" dirty="0">
                <a:solidFill>
                  <a:srgbClr val="0066FF"/>
                </a:solidFill>
              </a:rPr>
              <a:t> mô </a:t>
            </a:r>
            <a:r>
              <a:rPr lang="vi-VN" sz="2800" dirty="0" err="1">
                <a:solidFill>
                  <a:srgbClr val="0066FF"/>
                </a:solidFill>
              </a:rPr>
              <a:t>hình</a:t>
            </a:r>
            <a:r>
              <a:rPr lang="vi-VN" sz="2800" dirty="0">
                <a:solidFill>
                  <a:srgbClr val="0066FF"/>
                </a:solidFill>
              </a:rPr>
              <a:t> </a:t>
            </a:r>
            <a:r>
              <a:rPr lang="vi-VN" sz="2800" dirty="0" err="1">
                <a:solidFill>
                  <a:srgbClr val="0066FF"/>
                </a:solidFill>
              </a:rPr>
              <a:t>Linear</a:t>
            </a:r>
            <a:r>
              <a:rPr lang="vi-VN" sz="2800" dirty="0">
                <a:solidFill>
                  <a:srgbClr val="0066FF"/>
                </a:solidFill>
              </a:rPr>
              <a:t> </a:t>
            </a:r>
            <a:r>
              <a:rPr lang="vi-VN" sz="2800" dirty="0" err="1">
                <a:solidFill>
                  <a:srgbClr val="0066FF"/>
                </a:solidFill>
              </a:rPr>
              <a:t>Regression</a:t>
            </a:r>
            <a:r>
              <a:rPr lang="vi-VN" sz="2800" dirty="0">
                <a:solidFill>
                  <a:srgbClr val="0066FF"/>
                </a:solidFill>
              </a:rPr>
              <a:t>.</a:t>
            </a:r>
          </a:p>
          <a:p>
            <a:pPr algn="just"/>
            <a:endParaRPr lang="vi-VN" sz="2800" dirty="0"/>
          </a:p>
          <a:p>
            <a:pPr marL="457200" indent="-457200" algn="just">
              <a:buFont typeface="+mj-lt"/>
              <a:buAutoNum type="arabicPeriod" startAt="24"/>
            </a:pPr>
            <a:r>
              <a:rPr lang="en-US" dirty="0" err="1">
                <a:solidFill>
                  <a:srgbClr val="000000"/>
                </a:solidFill>
                <a:latin typeface="Consolas" panose="020B0609020204030204" pitchFamily="49" charset="0"/>
              </a:rPr>
              <a:t>y_pred</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lin_reg.predict</a:t>
            </a:r>
            <a:r>
              <a:rPr lang="en-US" dirty="0">
                <a:solidFill>
                  <a:srgbClr val="000000"/>
                </a:solidFill>
                <a:latin typeface="Consolas" panose="020B0609020204030204" pitchFamily="49" charset="0"/>
              </a:rPr>
              <a:t>(X)</a:t>
            </a:r>
          </a:p>
          <a:p>
            <a:pPr marL="457200" indent="-457200" algn="just">
              <a:buFont typeface="+mj-lt"/>
              <a:buAutoNum type="arabicPeriod" startAt="24"/>
            </a:pPr>
            <a:r>
              <a:rPr lang="es-ES" dirty="0" err="1">
                <a:solidFill>
                  <a:srgbClr val="000000"/>
                </a:solidFill>
                <a:latin typeface="Consolas" panose="020B0609020204030204" pitchFamily="49" charset="0"/>
              </a:rPr>
              <a:t>plt.scatter</a:t>
            </a:r>
            <a:r>
              <a:rPr lang="es-ES" dirty="0">
                <a:solidFill>
                  <a:srgbClr val="000000"/>
                </a:solidFill>
                <a:latin typeface="Consolas" panose="020B0609020204030204" pitchFamily="49" charset="0"/>
              </a:rPr>
              <a:t>(X, y, </a:t>
            </a:r>
            <a:r>
              <a:rPr lang="es-ES" dirty="0">
                <a:solidFill>
                  <a:srgbClr val="001080"/>
                </a:solidFill>
                <a:latin typeface="Consolas" panose="020B0609020204030204" pitchFamily="49" charset="0"/>
              </a:rPr>
              <a:t>color</a:t>
            </a:r>
            <a:r>
              <a:rPr lang="es-ES" dirty="0">
                <a:solidFill>
                  <a:srgbClr val="000000"/>
                </a:solidFill>
                <a:latin typeface="Consolas" panose="020B0609020204030204" pitchFamily="49" charset="0"/>
              </a:rPr>
              <a:t> = </a:t>
            </a:r>
            <a:r>
              <a:rPr lang="es-ES" dirty="0">
                <a:solidFill>
                  <a:srgbClr val="A31515"/>
                </a:solidFill>
                <a:latin typeface="Consolas" panose="020B0609020204030204" pitchFamily="49" charset="0"/>
              </a:rPr>
              <a:t>"red"</a:t>
            </a:r>
            <a:r>
              <a:rPr lang="es-ES" dirty="0">
                <a:solidFill>
                  <a:srgbClr val="000000"/>
                </a:solidFill>
                <a:latin typeface="Consolas" panose="020B0609020204030204" pitchFamily="49" charset="0"/>
              </a:rPr>
              <a:t>)</a:t>
            </a:r>
          </a:p>
          <a:p>
            <a:pPr marL="457200" indent="-457200" algn="just">
              <a:buFont typeface="+mj-lt"/>
              <a:buAutoNum type="arabicPeriod" startAt="24"/>
            </a:pPr>
            <a:r>
              <a:rPr lang="en-US" dirty="0" err="1">
                <a:solidFill>
                  <a:schemeClr val="tx1"/>
                </a:solidFill>
                <a:highlight>
                  <a:srgbClr val="FFFF00"/>
                </a:highlight>
                <a:latin typeface="Consolas" panose="020B0609020204030204" pitchFamily="49" charset="0"/>
              </a:rPr>
              <a:t>plt.plot</a:t>
            </a:r>
            <a:r>
              <a:rPr lang="en-US" dirty="0">
                <a:solidFill>
                  <a:schemeClr val="tx1"/>
                </a:solidFill>
                <a:highlight>
                  <a:srgbClr val="FFFF00"/>
                </a:highlight>
                <a:latin typeface="Consolas" panose="020B0609020204030204" pitchFamily="49" charset="0"/>
              </a:rPr>
              <a:t>(X, </a:t>
            </a:r>
            <a:r>
              <a:rPr lang="en-US" dirty="0" err="1">
                <a:solidFill>
                  <a:schemeClr val="tx1"/>
                </a:solidFill>
                <a:highlight>
                  <a:srgbClr val="FFFF00"/>
                </a:highlight>
                <a:latin typeface="Consolas" panose="020B0609020204030204" pitchFamily="49" charset="0"/>
              </a:rPr>
              <a:t>y_pred</a:t>
            </a:r>
            <a:r>
              <a:rPr lang="en-US" dirty="0">
                <a:solidFill>
                  <a:schemeClr val="tx1"/>
                </a:solidFill>
                <a:highlight>
                  <a:srgbClr val="FFFF00"/>
                </a:highlight>
                <a:latin typeface="Consolas" panose="020B0609020204030204" pitchFamily="49" charset="0"/>
              </a:rPr>
              <a:t>, color = "blue")</a:t>
            </a:r>
          </a:p>
          <a:p>
            <a:pPr marL="457200" indent="-457200" algn="just">
              <a:buFont typeface="+mj-lt"/>
              <a:buAutoNum type="arabicPeriod" startAt="24"/>
            </a:pPr>
            <a:r>
              <a:rPr lang="en-US" dirty="0" err="1">
                <a:solidFill>
                  <a:srgbClr val="000000"/>
                </a:solidFill>
                <a:latin typeface="Consolas" panose="020B0609020204030204" pitchFamily="49" charset="0"/>
              </a:rPr>
              <a:t>plt.title</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"Position Level vs Salary"</a:t>
            </a:r>
            <a:r>
              <a:rPr lang="en-US" dirty="0">
                <a:solidFill>
                  <a:srgbClr val="000000"/>
                </a:solidFill>
                <a:latin typeface="Consolas" panose="020B0609020204030204" pitchFamily="49" charset="0"/>
              </a:rPr>
              <a:t>)</a:t>
            </a:r>
          </a:p>
          <a:p>
            <a:pPr marL="457200" indent="-457200" algn="just">
              <a:buFont typeface="+mj-lt"/>
              <a:buAutoNum type="arabicPeriod" startAt="24"/>
            </a:pPr>
            <a:r>
              <a:rPr lang="vi-VN" dirty="0" err="1">
                <a:solidFill>
                  <a:srgbClr val="000000"/>
                </a:solidFill>
                <a:latin typeface="Consolas" panose="020B0609020204030204" pitchFamily="49" charset="0"/>
              </a:rPr>
              <a:t>plt.xlabel</a:t>
            </a:r>
            <a:r>
              <a:rPr lang="vi-VN" dirty="0">
                <a:solidFill>
                  <a:srgbClr val="000000"/>
                </a:solidFill>
                <a:latin typeface="Consolas" panose="020B0609020204030204" pitchFamily="49" charset="0"/>
              </a:rPr>
              <a:t>(</a:t>
            </a:r>
            <a:r>
              <a:rPr lang="vi-VN" dirty="0">
                <a:solidFill>
                  <a:srgbClr val="A31515"/>
                </a:solidFill>
                <a:latin typeface="Consolas" panose="020B0609020204030204" pitchFamily="49" charset="0"/>
              </a:rPr>
              <a:t>"</a:t>
            </a:r>
            <a:r>
              <a:rPr lang="vi-VN" dirty="0" err="1">
                <a:solidFill>
                  <a:srgbClr val="A31515"/>
                </a:solidFill>
                <a:latin typeface="Consolas" panose="020B0609020204030204" pitchFamily="49" charset="0"/>
              </a:rPr>
              <a:t>Position</a:t>
            </a:r>
            <a:r>
              <a:rPr lang="vi-VN" dirty="0">
                <a:solidFill>
                  <a:srgbClr val="A31515"/>
                </a:solidFill>
                <a:latin typeface="Consolas" panose="020B0609020204030204" pitchFamily="49" charset="0"/>
              </a:rPr>
              <a:t> </a:t>
            </a:r>
            <a:r>
              <a:rPr lang="vi-VN" dirty="0" err="1">
                <a:solidFill>
                  <a:srgbClr val="A31515"/>
                </a:solidFill>
                <a:latin typeface="Consolas" panose="020B0609020204030204" pitchFamily="49" charset="0"/>
              </a:rPr>
              <a:t>Level</a:t>
            </a:r>
            <a:r>
              <a:rPr lang="vi-VN" dirty="0">
                <a:solidFill>
                  <a:srgbClr val="A31515"/>
                </a:solidFill>
                <a:latin typeface="Consolas" panose="020B0609020204030204" pitchFamily="49" charset="0"/>
              </a:rPr>
              <a:t>"</a:t>
            </a:r>
            <a:r>
              <a:rPr lang="vi-VN" dirty="0">
                <a:solidFill>
                  <a:srgbClr val="000000"/>
                </a:solidFill>
                <a:latin typeface="Consolas" panose="020B0609020204030204" pitchFamily="49" charset="0"/>
              </a:rPr>
              <a:t>)</a:t>
            </a:r>
          </a:p>
          <a:p>
            <a:pPr marL="457200" indent="-457200" algn="just">
              <a:buFont typeface="+mj-lt"/>
              <a:buAutoNum type="arabicPeriod" startAt="24"/>
            </a:pPr>
            <a:r>
              <a:rPr lang="en-US" dirty="0" err="1">
                <a:solidFill>
                  <a:srgbClr val="000000"/>
                </a:solidFill>
                <a:latin typeface="Consolas" panose="020B0609020204030204" pitchFamily="49" charset="0"/>
              </a:rPr>
              <a:t>plt.ylabel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"Salary (dollars/year)"</a:t>
            </a:r>
            <a:r>
              <a:rPr lang="en-US" dirty="0">
                <a:solidFill>
                  <a:srgbClr val="000000"/>
                </a:solidFill>
                <a:latin typeface="Consolas" panose="020B0609020204030204" pitchFamily="49" charset="0"/>
              </a:rPr>
              <a:t>)</a:t>
            </a:r>
          </a:p>
          <a:p>
            <a:pPr marL="457200" indent="-457200" algn="just">
              <a:buFont typeface="+mj-lt"/>
              <a:buAutoNum type="arabicPeriod" startAt="24"/>
            </a:pPr>
            <a:r>
              <a:rPr lang="vi-VN" dirty="0" err="1">
                <a:solidFill>
                  <a:srgbClr val="000000"/>
                </a:solidFill>
                <a:latin typeface="Consolas" panose="020B0609020204030204" pitchFamily="49" charset="0"/>
              </a:rPr>
              <a:t>plt.show</a:t>
            </a:r>
            <a:r>
              <a:rPr lang="vi-VN" dirty="0">
                <a:solidFill>
                  <a:srgbClr val="000000"/>
                </a:solidFill>
                <a:latin typeface="Consolas" panose="020B0609020204030204" pitchFamily="49" charset="0"/>
              </a:rPr>
              <a:t>()</a:t>
            </a:r>
            <a:endParaRPr lang="vi-VN" dirty="0"/>
          </a:p>
        </p:txBody>
      </p:sp>
    </p:spTree>
    <p:extLst>
      <p:ext uri="{BB962C8B-B14F-4D97-AF65-F5344CB8AC3E}">
        <p14:creationId xmlns:p14="http://schemas.microsoft.com/office/powerpoint/2010/main" val="409939038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80A3C-5B6A-47A8-9838-EDC6FD44985C}"/>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kết</a:t>
            </a:r>
            <a:r>
              <a:rPr lang="en-US" dirty="0"/>
              <a:t> </a:t>
            </a:r>
            <a:r>
              <a:rPr lang="en-US" dirty="0" err="1"/>
              <a:t>quả</a:t>
            </a:r>
            <a:endParaRPr lang="vi-VN" dirty="0"/>
          </a:p>
        </p:txBody>
      </p:sp>
      <p:pic>
        <p:nvPicPr>
          <p:cNvPr id="6" name="Content Placeholder 5">
            <a:extLst>
              <a:ext uri="{FF2B5EF4-FFF2-40B4-BE49-F238E27FC236}">
                <a16:creationId xmlns:a16="http://schemas.microsoft.com/office/drawing/2014/main" id="{59E2DF62-E931-447F-8868-EFD28DAA1439}"/>
              </a:ext>
            </a:extLst>
          </p:cNvPr>
          <p:cNvPicPr>
            <a:picLocks noGrp="1" noChangeAspect="1"/>
          </p:cNvPicPr>
          <p:nvPr>
            <p:ph sz="half" idx="1"/>
          </p:nvPr>
        </p:nvPicPr>
        <p:blipFill>
          <a:blip r:embed="rId2"/>
          <a:stretch>
            <a:fillRect/>
          </a:stretch>
        </p:blipFill>
        <p:spPr>
          <a:xfrm>
            <a:off x="609600" y="1891407"/>
            <a:ext cx="5384800" cy="3943548"/>
          </a:xfrm>
          <a:prstGeom prst="rect">
            <a:avLst/>
          </a:prstGeom>
        </p:spPr>
      </p:pic>
      <p:sp>
        <p:nvSpPr>
          <p:cNvPr id="5" name="Content Placeholder 4">
            <a:extLst>
              <a:ext uri="{FF2B5EF4-FFF2-40B4-BE49-F238E27FC236}">
                <a16:creationId xmlns:a16="http://schemas.microsoft.com/office/drawing/2014/main" id="{A1B02542-BF68-4B6E-9147-27EFC075C7DD}"/>
              </a:ext>
            </a:extLst>
          </p:cNvPr>
          <p:cNvSpPr>
            <a:spLocks noGrp="1"/>
          </p:cNvSpPr>
          <p:nvPr>
            <p:ph sz="half" idx="2"/>
          </p:nvPr>
        </p:nvSpPr>
        <p:spPr/>
        <p:txBody>
          <a:bodyPr/>
          <a:lstStyle/>
          <a:p>
            <a:pPr algn="just"/>
            <a:r>
              <a:rPr lang="en-US" dirty="0" err="1">
                <a:solidFill>
                  <a:srgbClr val="0066FF"/>
                </a:solidFill>
              </a:rPr>
              <a:t>Như</a:t>
            </a:r>
            <a:r>
              <a:rPr lang="en-US" dirty="0">
                <a:solidFill>
                  <a:srgbClr val="0066FF"/>
                </a:solidFill>
              </a:rPr>
              <a:t> </a:t>
            </a:r>
            <a:r>
              <a:rPr lang="en-US" dirty="0" err="1">
                <a:solidFill>
                  <a:srgbClr val="0066FF"/>
                </a:solidFill>
              </a:rPr>
              <a:t>đã</a:t>
            </a:r>
            <a:r>
              <a:rPr lang="en-US" dirty="0">
                <a:solidFill>
                  <a:srgbClr val="0066FF"/>
                </a:solidFill>
              </a:rPr>
              <a:t> </a:t>
            </a:r>
            <a:r>
              <a:rPr lang="en-US" dirty="0" err="1">
                <a:solidFill>
                  <a:srgbClr val="0066FF"/>
                </a:solidFill>
              </a:rPr>
              <a:t>dự</a:t>
            </a:r>
            <a:r>
              <a:rPr lang="en-US" dirty="0">
                <a:solidFill>
                  <a:srgbClr val="0066FF"/>
                </a:solidFill>
              </a:rPr>
              <a:t> </a:t>
            </a:r>
            <a:r>
              <a:rPr lang="en-US" dirty="0" err="1">
                <a:solidFill>
                  <a:srgbClr val="0066FF"/>
                </a:solidFill>
              </a:rPr>
              <a:t>đoán</a:t>
            </a:r>
            <a:r>
              <a:rPr lang="en-US" dirty="0">
                <a:solidFill>
                  <a:srgbClr val="0066FF"/>
                </a:solidFill>
              </a:rPr>
              <a:t>, </a:t>
            </a:r>
            <a:r>
              <a:rPr lang="en-US" dirty="0" err="1">
                <a:solidFill>
                  <a:srgbClr val="0066FF"/>
                </a:solidFill>
              </a:rPr>
              <a:t>mô</a:t>
            </a:r>
            <a:r>
              <a:rPr lang="en-US" dirty="0">
                <a:solidFill>
                  <a:srgbClr val="0066FF"/>
                </a:solidFill>
              </a:rPr>
              <a:t> </a:t>
            </a:r>
            <a:r>
              <a:rPr lang="en-US" dirty="0" err="1">
                <a:solidFill>
                  <a:srgbClr val="0066FF"/>
                </a:solidFill>
              </a:rPr>
              <a:t>hình</a:t>
            </a:r>
            <a:r>
              <a:rPr lang="en-US" dirty="0">
                <a:solidFill>
                  <a:srgbClr val="0066FF"/>
                </a:solidFill>
              </a:rPr>
              <a:t> Linear Regression </a:t>
            </a:r>
            <a:r>
              <a:rPr lang="en-US" dirty="0" err="1">
                <a:solidFill>
                  <a:srgbClr val="0066FF"/>
                </a:solidFill>
              </a:rPr>
              <a:t>hoạt</a:t>
            </a:r>
            <a:r>
              <a:rPr lang="en-US" dirty="0">
                <a:solidFill>
                  <a:srgbClr val="0066FF"/>
                </a:solidFill>
              </a:rPr>
              <a:t> </a:t>
            </a:r>
            <a:r>
              <a:rPr lang="en-US" dirty="0" err="1">
                <a:solidFill>
                  <a:srgbClr val="0066FF"/>
                </a:solidFill>
              </a:rPr>
              <a:t>động</a:t>
            </a:r>
            <a:r>
              <a:rPr lang="en-US" dirty="0">
                <a:solidFill>
                  <a:srgbClr val="0066FF"/>
                </a:solidFill>
              </a:rPr>
              <a:t> </a:t>
            </a:r>
            <a:r>
              <a:rPr lang="en-US" dirty="0" err="1">
                <a:solidFill>
                  <a:srgbClr val="0066FF"/>
                </a:solidFill>
              </a:rPr>
              <a:t>không</a:t>
            </a:r>
            <a:r>
              <a:rPr lang="en-US" dirty="0">
                <a:solidFill>
                  <a:srgbClr val="0066FF"/>
                </a:solidFill>
              </a:rPr>
              <a:t> </a:t>
            </a:r>
            <a:r>
              <a:rPr lang="en-US" dirty="0" err="1">
                <a:solidFill>
                  <a:srgbClr val="0066FF"/>
                </a:solidFill>
              </a:rPr>
              <a:t>tốt</a:t>
            </a:r>
            <a:r>
              <a:rPr lang="en-US" dirty="0">
                <a:solidFill>
                  <a:srgbClr val="0066FF"/>
                </a:solidFill>
              </a:rPr>
              <a:t> </a:t>
            </a:r>
            <a:r>
              <a:rPr lang="en-US" dirty="0" err="1">
                <a:solidFill>
                  <a:srgbClr val="0066FF"/>
                </a:solidFill>
              </a:rPr>
              <a:t>trên</a:t>
            </a:r>
            <a:r>
              <a:rPr lang="en-US" dirty="0">
                <a:solidFill>
                  <a:srgbClr val="0066FF"/>
                </a:solidFill>
              </a:rPr>
              <a:t> </a:t>
            </a:r>
            <a:r>
              <a:rPr lang="en-US" dirty="0" err="1">
                <a:solidFill>
                  <a:srgbClr val="0066FF"/>
                </a:solidFill>
              </a:rPr>
              <a:t>tập</a:t>
            </a:r>
            <a:r>
              <a:rPr lang="en-US" dirty="0">
                <a:solidFill>
                  <a:srgbClr val="0066FF"/>
                </a:solidFill>
              </a:rPr>
              <a:t> </a:t>
            </a:r>
            <a:r>
              <a:rPr lang="en-US" dirty="0" err="1">
                <a:solidFill>
                  <a:srgbClr val="0066FF"/>
                </a:solidFill>
              </a:rPr>
              <a:t>dữ</a:t>
            </a:r>
            <a:r>
              <a:rPr lang="en-US" dirty="0">
                <a:solidFill>
                  <a:srgbClr val="0066FF"/>
                </a:solidFill>
              </a:rPr>
              <a:t> </a:t>
            </a:r>
            <a:r>
              <a:rPr lang="en-US" dirty="0" err="1">
                <a:solidFill>
                  <a:srgbClr val="0066FF"/>
                </a:solidFill>
              </a:rPr>
              <a:t>liệu</a:t>
            </a:r>
            <a:r>
              <a:rPr lang="en-US" dirty="0">
                <a:solidFill>
                  <a:srgbClr val="0066FF"/>
                </a:solidFill>
              </a:rPr>
              <a:t> </a:t>
            </a:r>
            <a:r>
              <a:rPr lang="en-US" dirty="0" err="1">
                <a:solidFill>
                  <a:srgbClr val="0066FF"/>
                </a:solidFill>
              </a:rPr>
              <a:t>này</a:t>
            </a:r>
            <a:r>
              <a:rPr lang="en-US" dirty="0">
                <a:solidFill>
                  <a:srgbClr val="0066FF"/>
                </a:solidFill>
              </a:rPr>
              <a:t>.</a:t>
            </a:r>
            <a:endParaRPr lang="vi-VN" dirty="0">
              <a:solidFill>
                <a:srgbClr val="0066FF"/>
              </a:solidFill>
            </a:endParaRPr>
          </a:p>
        </p:txBody>
      </p:sp>
    </p:spTree>
    <p:extLst>
      <p:ext uri="{BB962C8B-B14F-4D97-AF65-F5344CB8AC3E}">
        <p14:creationId xmlns:p14="http://schemas.microsoft.com/office/powerpoint/2010/main" val="7595301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8DDE83-290F-4B0C-9297-4840D3DAE252}"/>
              </a:ext>
            </a:extLst>
          </p:cNvPr>
          <p:cNvSpPr>
            <a:spLocks noGrp="1"/>
          </p:cNvSpPr>
          <p:nvPr>
            <p:ph type="title"/>
          </p:nvPr>
        </p:nvSpPr>
        <p:spPr/>
        <p:txBody>
          <a:bodyPr wrap="square"/>
          <a:lstStyle/>
          <a:p>
            <a:pPr>
              <a:defRPr sz="2800" b="1">
                <a:solidFill>
                  <a:srgbClr val="002060"/>
                </a:solidFill>
                <a:latin typeface="Calibri"/>
              </a:defRPr>
            </a:pPr>
            <a:r>
              <a:t>Trực quan hóa kết quả: Tạo Lưới Điểm Mịn Độ Phân Giải Cao (In [3])</a:t>
            </a:r>
            <a:endParaRPr lang="vi-VN" dirty="0"/>
          </a:p>
        </p:txBody>
      </p:sp>
      <p:sp>
        <p:nvSpPr>
          <p:cNvPr id="5" name="Content Placeholder 4">
            <a:extLst>
              <a:ext uri="{FF2B5EF4-FFF2-40B4-BE49-F238E27FC236}">
                <a16:creationId xmlns:a16="http://schemas.microsoft.com/office/drawing/2014/main" id="{8627C277-F3AB-48F5-AB46-CB2E319B3981}"/>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Kỹ thuật tạo đường cong mượt mà (Continuous Curve Plotting):</a:t>
            </a:r>
          </a:p>
          <a:p>
            <a:pPr>
              <a:spcAft>
                <a:spcPts val="300"/>
              </a:spcAft>
              <a:defRPr sz="1500" b="0">
                <a:solidFill>
                  <a:srgbClr val="282828"/>
                </a:solidFill>
                <a:latin typeface="Calibri"/>
              </a:defRPr>
            </a:pPr>
            <a:r>
              <a:t>• Nếu chỉ vẽ trên 10 điểm ban đầu, đồ thị sẽ bị gãy khúc do nối các đoạn thẳng với nhau.</a:t>
            </a:r>
          </a:p>
          <a:p>
            <a:pPr>
              <a:spcAft>
                <a:spcPts val="300"/>
              </a:spcAft>
              <a:defRPr sz="1500" b="1">
                <a:solidFill>
                  <a:srgbClr val="282828"/>
                </a:solidFill>
                <a:latin typeface="Calibri"/>
              </a:defRPr>
            </a:pPr>
            <a:r>
              <a:t>• Giải pháp: Tạo lưới điểm dày đặc với bước nhảy 0.01 bằng np.arange:</a:t>
            </a:r>
          </a:p>
          <a:p>
            <a:pPr>
              <a:spcAft>
                <a:spcPts val="200"/>
              </a:spcAft>
              <a:defRPr sz="1300" b="0">
                <a:solidFill>
                  <a:srgbClr val="004696"/>
                </a:solidFill>
                <a:latin typeface="Consolas"/>
              </a:defRPr>
            </a:pPr>
            <a:r>
              <a:t># Tạo lưới 900 điểm từ 1 đến 10 với bước nhảy 0.01</a:t>
            </a:r>
          </a:p>
          <a:p>
            <a:pPr>
              <a:spcAft>
                <a:spcPts val="400"/>
              </a:spcAft>
              <a:defRPr sz="1300" b="0">
                <a:solidFill>
                  <a:srgbClr val="004696"/>
                </a:solidFill>
                <a:latin typeface="Consolas"/>
              </a:defRPr>
            </a:pPr>
            <a:r>
              <a:t>X_grid = np.arange(min(X)[0], max(X)[0], 0.01).reshape(-1, 1)</a:t>
            </a:r>
          </a:p>
          <a:p>
            <a:pPr>
              <a:spcAft>
                <a:spcPts val="200"/>
              </a:spcAft>
              <a:defRPr sz="1300" b="0">
                <a:solidFill>
                  <a:srgbClr val="004696"/>
                </a:solidFill>
                <a:latin typeface="Consolas"/>
              </a:defRPr>
            </a:pPr>
            <a:r>
              <a:t>plt.figure(figsize=(10, 6))</a:t>
            </a:r>
          </a:p>
          <a:p>
            <a:pPr>
              <a:spcAft>
                <a:spcPts val="200"/>
              </a:spcAft>
              <a:defRPr sz="1300" b="0">
                <a:solidFill>
                  <a:srgbClr val="004696"/>
                </a:solidFill>
                <a:latin typeface="Consolas"/>
              </a:defRPr>
            </a:pPr>
            <a:r>
              <a:t>plt.scatter(X, y, color='red', s=80, zorder=5, label='Dữ liệu Thực tế')</a:t>
            </a:r>
          </a:p>
          <a:p>
            <a:pPr>
              <a:spcAft>
                <a:spcPts val="200"/>
              </a:spcAft>
              <a:defRPr sz="1300" b="0">
                <a:solidFill>
                  <a:srgbClr val="004696"/>
                </a:solidFill>
                <a:latin typeface="Consolas"/>
              </a:defRPr>
            </a:pPr>
            <a:r>
              <a:t>plt.plot(X_grid, lin_reg.predict(X_grid), color='gray', linestyle='--', label='Bậc 1 (Linear)')</a:t>
            </a:r>
          </a:p>
          <a:p>
            <a:pPr>
              <a:spcAft>
                <a:spcPts val="200"/>
              </a:spcAft>
              <a:defRPr sz="1300" b="0">
                <a:solidFill>
                  <a:srgbClr val="004696"/>
                </a:solidFill>
                <a:latin typeface="Consolas"/>
              </a:defRPr>
            </a:pPr>
            <a:r>
              <a:t>plt.plot(X_grid, poly_reg_2.predict(X_grid), color='green', label='Bậc 2')</a:t>
            </a:r>
          </a:p>
          <a:p>
            <a:pPr>
              <a:spcAft>
                <a:spcPts val="200"/>
              </a:spcAft>
              <a:defRPr sz="1300" b="0">
                <a:solidFill>
                  <a:srgbClr val="004696"/>
                </a:solidFill>
                <a:latin typeface="Consolas"/>
              </a:defRPr>
            </a:pPr>
            <a:r>
              <a:t>plt.plot(X_grid, poly_reg_3.predict(X_grid), color='orange', label='Bậc 3')</a:t>
            </a:r>
          </a:p>
          <a:p>
            <a:pPr>
              <a:spcAft>
                <a:spcPts val="200"/>
              </a:spcAft>
              <a:defRPr sz="1300" b="0">
                <a:solidFill>
                  <a:srgbClr val="004696"/>
                </a:solidFill>
                <a:latin typeface="Consolas"/>
              </a:defRPr>
            </a:pPr>
            <a:r>
              <a:t>plt.plot(X_grid, poly_reg_4.predict(X_grid), color='blue', linewidth=2.5, label='Bậc 4 (R²=0.997)')</a:t>
            </a:r>
          </a:p>
          <a:p>
            <a:pPr>
              <a:spcAft>
                <a:spcPts val="200"/>
              </a:spcAft>
              <a:defRPr sz="1300" b="0">
                <a:solidFill>
                  <a:srgbClr val="004696"/>
                </a:solidFill>
                <a:latin typeface="Consolas"/>
              </a:defRPr>
            </a:pPr>
            <a:r>
              <a:t>plt.scatter([6.5], [poly_reg_4.predict(test_level)[0]], color='purple', s=160, marker='*', zorder=6, label='Dự đoán Level 6.5')</a:t>
            </a:r>
          </a:p>
        </p:txBody>
      </p:sp>
    </p:spTree>
    <p:extLst>
      <p:ext uri="{BB962C8B-B14F-4D97-AF65-F5344CB8AC3E}">
        <p14:creationId xmlns:p14="http://schemas.microsoft.com/office/powerpoint/2010/main" val="100880668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A2766-D02E-40D5-B8E2-BD92A8B4A04F}"/>
              </a:ext>
            </a:extLst>
          </p:cNvPr>
          <p:cNvSpPr>
            <a:spLocks noGrp="1"/>
          </p:cNvSpPr>
          <p:nvPr>
            <p:ph type="title"/>
          </p:nvPr>
        </p:nvSpPr>
        <p:spPr/>
        <p:txBody>
          <a:bodyPr wrap="square"/>
          <a:lstStyle/>
          <a:p>
            <a:pPr>
              <a:defRPr sz="2800" b="1">
                <a:solidFill>
                  <a:srgbClr val="002060"/>
                </a:solidFill>
                <a:latin typeface="Calibri"/>
              </a:defRPr>
            </a:pPr>
            <a:r>
              <a:t>Trực quan hóa kết quả: Phân Tích Đường Cong Đa Thức</a:t>
            </a:r>
            <a:endParaRPr lang="vi-VN" dirty="0"/>
          </a:p>
        </p:txBody>
      </p:sp>
      <p:pic>
        <p:nvPicPr>
          <p:cNvPr id="6" name="Content Placeholder 5">
            <a:extLst>
              <a:ext uri="{FF2B5EF4-FFF2-40B4-BE49-F238E27FC236}">
                <a16:creationId xmlns:a16="http://schemas.microsoft.com/office/drawing/2014/main" id="{DB57BEF0-B604-4687-B544-C77D7A681C45}"/>
              </a:ext>
            </a:extLst>
          </p:cNvPr>
          <p:cNvPicPr>
            <a:picLocks noGrp="1" noChangeAspect="1"/>
          </p:cNvPicPr>
          <p:nvPr>
            <p:ph sz="half" idx="1"/>
          </p:nvPr>
        </p:nvPicPr>
        <p:blipFill>
          <a:blip r:embed="rId2"/>
          <a:stretch>
            <a:fillRect/>
          </a:stretch>
        </p:blipFill>
        <p:spPr>
          <a:xfrm>
            <a:off x="609600" y="1891344"/>
            <a:ext cx="5384800" cy="3943675"/>
          </a:xfrm>
          <a:prstGeom prst="rect">
            <a:avLst/>
          </a:prstGeom>
        </p:spPr>
      </p:pic>
      <p:sp>
        <p:nvSpPr>
          <p:cNvPr id="5" name="Content Placeholder 4">
            <a:extLst>
              <a:ext uri="{FF2B5EF4-FFF2-40B4-BE49-F238E27FC236}">
                <a16:creationId xmlns:a16="http://schemas.microsoft.com/office/drawing/2014/main" id="{9588700D-6C56-4E4C-8498-E1A48AB37FBC}"/>
              </a:ext>
            </a:extLst>
          </p:cNvPr>
          <p:cNvSpPr>
            <a:spLocks noGrp="1"/>
          </p:cNvSpPr>
          <p:nvPr>
            <p:ph sz="half" idx="2"/>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Quan sát biểu đồ đường cong qua các bậc:</a:t>
            </a:r>
          </a:p>
          <a:p>
            <a:pPr>
              <a:spcAft>
                <a:spcPts val="300"/>
              </a:spcAft>
              <a:defRPr sz="1500" b="0">
                <a:solidFill>
                  <a:srgbClr val="282828"/>
                </a:solidFill>
                <a:latin typeface="Calibri"/>
              </a:defRPr>
            </a:pPr>
            <a:r>
              <a:t>• Đường nét đứt màu xám (Bậc 1): Lệch hẳn khỏi xu hướng thực tế tại Level 10 (Dự đoán lương CEO quá thấp, còn Level 6.5 lại dự đoán vọt lên $330k - phi thực tế).</a:t>
            </a:r>
          </a:p>
          <a:p>
            <a:pPr>
              <a:spcAft>
                <a:spcPts val="300"/>
              </a:spcAft>
              <a:defRPr sz="1500" b="0">
                <a:solidFill>
                  <a:srgbClr val="282828"/>
                </a:solidFill>
                <a:latin typeface="Calibri"/>
              </a:defRPr>
            </a:pPr>
            <a:r>
              <a:t>• Đường màu xanh lá (Bậc 2): Uốn cong hình Parabol nhưng chưa bắt kịp tốc độ tăng cấp số nhân ở level cao.</a:t>
            </a:r>
          </a:p>
          <a:p>
            <a:pPr>
              <a:spcAft>
                <a:spcPts val="300"/>
              </a:spcAft>
              <a:defRPr sz="1500" b="0">
                <a:solidFill>
                  <a:srgbClr val="282828"/>
                </a:solidFill>
                <a:latin typeface="Calibri"/>
              </a:defRPr>
            </a:pPr>
            <a:r>
              <a:t>• Đường màu cam (Bậc 3): Cải thiện đáng kể, tuy nhiên bị võng nhẹ ở khoảng giữa.</a:t>
            </a:r>
          </a:p>
          <a:p>
            <a:pPr>
              <a:spcAft>
                <a:spcPts val="300"/>
              </a:spcAft>
              <a:defRPr sz="1500" b="1">
                <a:solidFill>
                  <a:srgbClr val="282828"/>
                </a:solidFill>
                <a:latin typeface="Calibri"/>
              </a:defRPr>
            </a:pPr>
            <a:r>
              <a:t>• Đường màu xanh dương (Bậc 4): Đi qua hầu hết các điểm đỏ dữ liệu thực tế, giải thích 99.74% phương sai dữ liệu!</a:t>
            </a:r>
          </a:p>
          <a:p>
            <a:pPr>
              <a:spcBef>
                <a:spcPts val="600"/>
              </a:spcBef>
              <a:spcAft>
                <a:spcPts val="400"/>
              </a:spcAft>
              <a:defRPr sz="1700" b="1">
                <a:solidFill>
                  <a:srgbClr val="003366"/>
                </a:solidFill>
                <a:latin typeface="Calibri"/>
              </a:defRPr>
            </a:pPr>
            <a:r>
              <a:t>📌 Điểm dự đoán ứng viên Level = 6.5 (Ngôi sao tím):</a:t>
            </a:r>
          </a:p>
          <a:p>
            <a:pPr>
              <a:spcAft>
                <a:spcPts val="200"/>
              </a:spcAft>
              <a:defRPr sz="1200" b="0">
                <a:solidFill>
                  <a:srgbClr val="146428"/>
                </a:solidFill>
                <a:latin typeface="Consolas"/>
              </a:defRPr>
            </a:pPr>
            <a:r>
              <a:t>• Mức lương dự đoán: $158,862.47 nằm rất hợp lý giữa Level 6 ($150,000) và Level 7 ($200,000).</a:t>
            </a:r>
          </a:p>
        </p:txBody>
      </p:sp>
    </p:spTree>
    <p:extLst>
      <p:ext uri="{BB962C8B-B14F-4D97-AF65-F5344CB8AC3E}">
        <p14:creationId xmlns:p14="http://schemas.microsoft.com/office/powerpoint/2010/main" val="119008813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63776-8BB6-40A3-BA41-7C06568A34FE}"/>
              </a:ext>
            </a:extLst>
          </p:cNvPr>
          <p:cNvSpPr>
            <a:spLocks noGrp="1"/>
          </p:cNvSpPr>
          <p:nvPr>
            <p:ph type="title"/>
          </p:nvPr>
        </p:nvSpPr>
        <p:spPr/>
        <p:txBody>
          <a:bodyPr wrap="square"/>
          <a:lstStyle/>
          <a:p>
            <a:pPr>
              <a:defRPr sz="2800" b="1">
                <a:solidFill>
                  <a:srgbClr val="002060"/>
                </a:solidFill>
                <a:latin typeface="Calibri"/>
              </a:defRPr>
            </a:pPr>
            <a:r>
              <a:t>Trực quan hóa kết quả: Underfitting vs Good Fit vs Overfitting</a:t>
            </a:r>
            <a:endParaRPr lang="vi-VN" dirty="0"/>
          </a:p>
        </p:txBody>
      </p:sp>
      <p:sp>
        <p:nvSpPr>
          <p:cNvPr id="3" name="Content Placeholder 2">
            <a:extLst>
              <a:ext uri="{FF2B5EF4-FFF2-40B4-BE49-F238E27FC236}">
                <a16:creationId xmlns:a16="http://schemas.microsoft.com/office/drawing/2014/main" id="{15D448D6-0CE7-449B-BF83-3B9DEA399F62}"/>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Hiện tượng Underfitting (Thiếu khớp) ở Bậc 1 &amp; 2:</a:t>
            </a:r>
          </a:p>
          <a:p>
            <a:pPr>
              <a:spcAft>
                <a:spcPts val="300"/>
              </a:spcAft>
              <a:defRPr sz="1500" b="0">
                <a:solidFill>
                  <a:srgbClr val="282828"/>
                </a:solidFill>
                <a:latin typeface="Calibri"/>
              </a:defRPr>
            </a:pPr>
            <a:r>
              <a:t>• Mô hình quá đơn giản (High Bias), không nắm bắt được bản chất hàm phi tuyến.</a:t>
            </a:r>
          </a:p>
          <a:p>
            <a:pPr>
              <a:spcAft>
                <a:spcPts val="300"/>
              </a:spcAft>
              <a:defRPr sz="1500" b="0">
                <a:solidFill>
                  <a:srgbClr val="282828"/>
                </a:solidFill>
                <a:latin typeface="Calibri"/>
              </a:defRPr>
            </a:pPr>
            <a:r>
              <a:t>• Sai số trên cả tập huấn luyện và thực tế đều rất lớn.</a:t>
            </a:r>
          </a:p>
          <a:p>
            <a:pPr>
              <a:spcBef>
                <a:spcPts val="400"/>
              </a:spcBef>
              <a:spcAft>
                <a:spcPts val="400"/>
              </a:spcAft>
              <a:defRPr sz="1700" b="1">
                <a:solidFill>
                  <a:srgbClr val="003366"/>
                </a:solidFill>
                <a:latin typeface="Calibri"/>
              </a:defRPr>
            </a:pPr>
            <a:r>
              <a:t>Mô hình Phù Hợp Tối Ưu (Good Fit) ở Bậc 4:</a:t>
            </a:r>
          </a:p>
          <a:p>
            <a:pPr>
              <a:spcAft>
                <a:spcPts val="300"/>
              </a:spcAft>
              <a:defRPr sz="1500" b="0">
                <a:solidFill>
                  <a:srgbClr val="282828"/>
                </a:solidFill>
                <a:latin typeface="Calibri"/>
              </a:defRPr>
            </a:pPr>
            <a:r>
              <a:t>• Bắt trọn xu hướng phi tuyến tăng tốc của cấp bậc quản trị mà không xuất hiện các dao động bất thường.</a:t>
            </a:r>
          </a:p>
          <a:p>
            <a:pPr>
              <a:spcBef>
                <a:spcPts val="400"/>
              </a:spcBef>
              <a:spcAft>
                <a:spcPts val="400"/>
              </a:spcAft>
              <a:defRPr sz="1700" b="1">
                <a:solidFill>
                  <a:srgbClr val="003366"/>
                </a:solidFill>
                <a:latin typeface="Calibri"/>
              </a:defRPr>
            </a:pPr>
            <a:r>
              <a:t>Nguy cơ Overfitting (Quá khớp) khi nâng bậc quá cao (Bậc &gt;= 5):</a:t>
            </a:r>
          </a:p>
          <a:p>
            <a:pPr>
              <a:spcAft>
                <a:spcPts val="300"/>
              </a:spcAft>
              <a:defRPr sz="1500" b="0">
                <a:solidFill>
                  <a:srgbClr val="282828"/>
                </a:solidFill>
                <a:latin typeface="Calibri"/>
              </a:defRPr>
            </a:pPr>
            <a:r>
              <a:t>• Hiện tượng Runge (Runge's Phenomenon): Đồ thị bậc cao bị dao động mạnh ở vùng biên.</a:t>
            </a:r>
          </a:p>
          <a:p>
            <a:pPr>
              <a:spcAft>
                <a:spcPts val="300"/>
              </a:spcAft>
              <a:defRPr sz="1500" b="1">
                <a:solidFill>
                  <a:srgbClr val="282828"/>
                </a:solidFill>
                <a:latin typeface="Calibri"/>
              </a:defRPr>
            </a:pPr>
            <a:r>
              <a:t>• Mô hình nhớ vẹt dữ liệu (High Variance), mất hoàn toàn khả năng tổng quát hóa với dữ liệu mới.</a:t>
            </a:r>
          </a:p>
        </p:txBody>
      </p:sp>
    </p:spTree>
    <p:extLst>
      <p:ext uri="{BB962C8B-B14F-4D97-AF65-F5344CB8AC3E}">
        <p14:creationId xmlns:p14="http://schemas.microsoft.com/office/powerpoint/2010/main" val="299748009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63776-8BB6-40A3-BA41-7C06568A34FE}"/>
              </a:ext>
            </a:extLst>
          </p:cNvPr>
          <p:cNvSpPr>
            <a:spLocks noGrp="1"/>
          </p:cNvSpPr>
          <p:nvPr>
            <p:ph type="title"/>
          </p:nvPr>
        </p:nvSpPr>
        <p:spPr/>
        <p:txBody>
          <a:bodyPr wrap="square"/>
          <a:lstStyle/>
          <a:p>
            <a:pPr>
              <a:defRPr sz="2800" b="1">
                <a:solidFill>
                  <a:srgbClr val="002060"/>
                </a:solidFill>
                <a:latin typeface="Calibri"/>
              </a:defRPr>
            </a:pPr>
            <a:r>
              <a:t>Kiểm tra kết quả: Bảng Tổng Hợp So Sánh Các Bậc Đa Thức</a:t>
            </a:r>
            <a:endParaRPr lang="vi-VN" dirty="0"/>
          </a:p>
        </p:txBody>
      </p:sp>
      <p:pic>
        <p:nvPicPr>
          <p:cNvPr id="5" name="Content Placeholder 4">
            <a:extLst>
              <a:ext uri="{FF2B5EF4-FFF2-40B4-BE49-F238E27FC236}">
                <a16:creationId xmlns:a16="http://schemas.microsoft.com/office/drawing/2014/main" id="{A5F11C35-32C4-48B2-9D69-EA271B242F37}"/>
              </a:ext>
            </a:extLst>
          </p:cNvPr>
          <p:cNvPicPr>
            <a:picLocks noGrp="1" noChangeAspect="1"/>
          </p:cNvPicPr>
          <p:nvPr>
            <p:ph idx="1"/>
          </p:nvPr>
        </p:nvPicPr>
        <p:blipFill>
          <a:blip r:embed="rId2"/>
          <a:stretch>
            <a:fillRect/>
          </a:stretch>
        </p:blipFill>
        <p:spPr>
          <a:xfrm>
            <a:off x="3171825" y="1734344"/>
            <a:ext cx="5848350" cy="4257675"/>
          </a:xfrm>
          <a:prstGeom prst="rect">
            <a:avLst/>
          </a:prstGeom>
        </p:spPr>
      </p:pic>
      <p:sp>
        <p:nvSpPr>
          <p:cNvPr id="6" name="TextBox 5"/>
          <p:cNvSpPr txBox="1"/>
          <p:nvPr/>
        </p:nvSpPr>
        <p:spPr>
          <a:xfrm>
            <a:off x="612648" y="1371600"/>
            <a:ext cx="10972800" cy="4937760"/>
          </a:xfrm>
          <a:prstGeom prst="rect">
            <a:avLst/>
          </a:prstGeom>
          <a:noFill/>
        </p:spPr>
        <p:txBody>
          <a:bodyPr wrap="square">
            <a:spAutoFit/>
          </a:bodyPr>
          <a:lstStyle/>
          <a:p>
            <a:pPr>
              <a:spcBef>
                <a:spcPts val="600"/>
              </a:spcBef>
              <a:spcAft>
                <a:spcPts val="400"/>
              </a:spcAft>
              <a:defRPr sz="1700" b="1">
                <a:solidFill>
                  <a:srgbClr val="003366"/>
                </a:solidFill>
                <a:latin typeface="Calibri"/>
              </a:defRPr>
            </a:pPr>
            <a:r>
              <a:t>Bảng so sánh hiệu năng và kết quả dự đoán mức lương:</a:t>
            </a:r>
          </a:p>
          <a:p>
            <a:pPr>
              <a:spcAft>
                <a:spcPts val="300"/>
              </a:spcAft>
              <a:defRPr sz="1500" b="0">
                <a:solidFill>
                  <a:srgbClr val="282828"/>
                </a:solidFill>
                <a:latin typeface="Calibri"/>
              </a:defRPr>
            </a:pPr>
            <a:r>
              <a:t>• Mô hình Tuyến tính Đơn (Bậc 1):  R² = 0.6690  |  Dự đoán 6.5: $330,378.79  -&gt; Underfitting nặng</a:t>
            </a:r>
          </a:p>
          <a:p>
            <a:pPr>
              <a:spcAft>
                <a:spcPts val="300"/>
              </a:spcAft>
              <a:defRPr sz="1500" b="0">
                <a:solidFill>
                  <a:srgbClr val="282828"/>
                </a:solidFill>
                <a:latin typeface="Calibri"/>
              </a:defRPr>
            </a:pPr>
            <a:r>
              <a:t>• Hồi quy Đa thức (Bậc 2):       R² = 0.9162  |  Dự đoán 6.5: $189,498.11  -&gt; Bắt đầu uốn cong</a:t>
            </a:r>
          </a:p>
          <a:p>
            <a:pPr>
              <a:spcAft>
                <a:spcPts val="300"/>
              </a:spcAft>
              <a:defRPr sz="1500" b="0">
                <a:solidFill>
                  <a:srgbClr val="282828"/>
                </a:solidFill>
                <a:latin typeface="Calibri"/>
              </a:defRPr>
            </a:pPr>
            <a:r>
              <a:t>• Hồi quy Đa thức (Bậc 3):       R² = 0.9812  |  Dự đoán 6.5: $133,259.47  -&gt; Rất tốt</a:t>
            </a:r>
          </a:p>
          <a:p>
            <a:pPr>
              <a:spcAft>
                <a:spcPts val="300"/>
              </a:spcAft>
              <a:defRPr sz="1500" b="1">
                <a:solidFill>
                  <a:srgbClr val="282828"/>
                </a:solidFill>
                <a:latin typeface="Calibri"/>
              </a:defRPr>
            </a:pPr>
            <a:r>
              <a:t>• Hồi quy Đa thức (Bậc 4):       R² = 0.9974  |  Dự đoán 6.5: $158,862.47  -&gt; Tối ưu hoàn hảo</a:t>
            </a:r>
          </a:p>
          <a:p>
            <a:pPr>
              <a:spcBef>
                <a:spcPts val="600"/>
              </a:spcBef>
              <a:spcAft>
                <a:spcPts val="400"/>
              </a:spcAft>
              <a:defRPr sz="1700" b="1">
                <a:solidFill>
                  <a:srgbClr val="003366"/>
                </a:solidFill>
                <a:latin typeface="Calibri"/>
              </a:defRPr>
            </a:pPr>
            <a:r>
              <a:t>📌 Kết luận Nghiệp vụ (Business Insight):</a:t>
            </a:r>
          </a:p>
          <a:p>
            <a:pPr>
              <a:spcAft>
                <a:spcPts val="200"/>
              </a:spcAft>
              <a:defRPr sz="1200" b="0">
                <a:solidFill>
                  <a:srgbClr val="146428"/>
                </a:solidFill>
                <a:latin typeface="Consolas"/>
              </a:defRPr>
            </a:pPr>
            <a:r>
              <a:t>• Ứng viên yêu cầu mức lương $160,000 cho cấp bậc 6.5 là hoàn toàn có cơ sở và hợp lý với thị trường!</a:t>
            </a:r>
          </a:p>
        </p:txBody>
      </p:sp>
    </p:spTree>
    <p:extLst>
      <p:ext uri="{BB962C8B-B14F-4D97-AF65-F5344CB8AC3E}">
        <p14:creationId xmlns:p14="http://schemas.microsoft.com/office/powerpoint/2010/main" val="17461770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63776-8BB6-40A3-BA41-7C06568A34FE}"/>
              </a:ext>
            </a:extLst>
          </p:cNvPr>
          <p:cNvSpPr>
            <a:spLocks noGrp="1"/>
          </p:cNvSpPr>
          <p:nvPr>
            <p:ph type="title"/>
          </p:nvPr>
        </p:nvSpPr>
        <p:spPr/>
        <p:txBody>
          <a:bodyPr wrap="square"/>
          <a:lstStyle/>
          <a:p>
            <a:pPr>
              <a:defRPr sz="2800" b="1">
                <a:solidFill>
                  <a:srgbClr val="002060"/>
                </a:solidFill>
                <a:latin typeface="Calibri"/>
              </a:defRPr>
            </a:pPr>
            <a:r>
              <a:t>Kiểm tra kết quả: Quy Tắc Lựa Chọn Bậc Đa Thức Tối Ưu</a:t>
            </a:r>
            <a:endParaRPr lang="vi-VN" dirty="0"/>
          </a:p>
        </p:txBody>
      </p:sp>
      <p:sp>
        <p:nvSpPr>
          <p:cNvPr id="3" name="Content Placeholder 2">
            <a:extLst>
              <a:ext uri="{FF2B5EF4-FFF2-40B4-BE49-F238E27FC236}">
                <a16:creationId xmlns:a16="http://schemas.microsoft.com/office/drawing/2014/main" id="{303DB5F2-D9AC-410F-A882-767F8E6957A3}"/>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Làm thế nào để chọn Bậc Đa Thức (degree) một cách khoa học?</a:t>
            </a:r>
          </a:p>
          <a:p>
            <a:pPr>
              <a:spcAft>
                <a:spcPts val="300"/>
              </a:spcAft>
              <a:defRPr sz="1500" b="0">
                <a:solidFill>
                  <a:srgbClr val="282828"/>
                </a:solidFill>
                <a:latin typeface="Calibri"/>
              </a:defRPr>
            </a:pPr>
            <a:r>
              <a:t>1. Không bao giờ chọn bậc lớn hơn hoặc bằng số lượng điểm dữ liệu (N):</a:t>
            </a:r>
          </a:p>
          <a:p>
            <a:pPr>
              <a:spcAft>
                <a:spcPts val="300"/>
              </a:spcAft>
              <a:defRPr sz="1500" b="0">
                <a:solidFill>
                  <a:srgbClr val="282828"/>
                </a:solidFill>
                <a:latin typeface="Calibri"/>
              </a:defRPr>
            </a:pPr>
            <a:r>
              <a:t>   Nếu số bậc d &gt;= N - 1, đường cong luôn đi qua mọi điểm (R² = 1.0) nhưng sinh ra dao động điên rồ.</a:t>
            </a:r>
          </a:p>
          <a:p>
            <a:pPr>
              <a:spcAft>
                <a:spcPts val="300"/>
              </a:spcAft>
              <a:defRPr sz="1500" b="0">
                <a:solidFill>
                  <a:srgbClr val="282828"/>
                </a:solidFill>
                <a:latin typeface="Calibri"/>
              </a:defRPr>
            </a:pPr>
            <a:r>
              <a:t>2. Sử dụng K-Fold Cross-Validation hoặc AIC / BIC:</a:t>
            </a:r>
          </a:p>
          <a:p>
            <a:pPr>
              <a:spcAft>
                <a:spcPts val="300"/>
              </a:spcAft>
              <a:defRPr sz="1500" b="1">
                <a:solidFill>
                  <a:srgbClr val="282828"/>
                </a:solidFill>
                <a:latin typeface="Calibri"/>
              </a:defRPr>
            </a:pPr>
            <a:r>
              <a:t>   Đo lường sai số trên tập kiểm định để phát hiện điểm bắt đầu xuất hiện Overfitting.</a:t>
            </a:r>
          </a:p>
          <a:p>
            <a:pPr>
              <a:spcAft>
                <a:spcPts val="300"/>
              </a:spcAft>
              <a:defRPr sz="1500" b="0">
                <a:solidFill>
                  <a:srgbClr val="282828"/>
                </a:solidFill>
                <a:latin typeface="Calibri"/>
              </a:defRPr>
            </a:pPr>
            <a:r>
              <a:t>3. Kết hợp Đa thức với Regularization (Ridge / Lasso):</a:t>
            </a:r>
          </a:p>
          <a:p>
            <a:pPr>
              <a:spcAft>
                <a:spcPts val="300"/>
              </a:spcAft>
              <a:defRPr sz="1500" b="0">
                <a:solidFill>
                  <a:srgbClr val="282828"/>
                </a:solidFill>
                <a:latin typeface="Calibri"/>
              </a:defRPr>
            </a:pPr>
            <a:r>
              <a:t>   Áp dụng chuẩn hóa L2 hoặc L1 để kìm hãm độ lớn của các hệ số w_i bậc cao.</a:t>
            </a:r>
          </a:p>
        </p:txBody>
      </p:sp>
    </p:spTree>
    <p:extLst>
      <p:ext uri="{BB962C8B-B14F-4D97-AF65-F5344CB8AC3E}">
        <p14:creationId xmlns:p14="http://schemas.microsoft.com/office/powerpoint/2010/main" val="89506943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63776-8BB6-40A3-BA41-7C06568A34FE}"/>
              </a:ext>
            </a:extLst>
          </p:cNvPr>
          <p:cNvSpPr>
            <a:spLocks noGrp="1"/>
          </p:cNvSpPr>
          <p:nvPr>
            <p:ph type="title"/>
          </p:nvPr>
        </p:nvSpPr>
        <p:spPr/>
        <p:txBody>
          <a:bodyPr wrap="square"/>
          <a:lstStyle/>
          <a:p>
            <a:pPr>
              <a:defRPr sz="2800" b="1">
                <a:solidFill>
                  <a:srgbClr val="002060"/>
                </a:solidFill>
                <a:latin typeface="Calibri"/>
              </a:defRPr>
            </a:pPr>
            <a:r>
              <a:t>Kiểm tra kết quả: Câu Hỏi Thảo Luận Dành Cho Học Viên</a:t>
            </a:r>
            <a:endParaRPr lang="vi-VN" dirty="0"/>
          </a:p>
        </p:txBody>
      </p:sp>
      <p:sp>
        <p:nvSpPr>
          <p:cNvPr id="3" name="Content Placeholder 2">
            <a:extLst>
              <a:ext uri="{FF2B5EF4-FFF2-40B4-BE49-F238E27FC236}">
                <a16:creationId xmlns:a16="http://schemas.microsoft.com/office/drawing/2014/main" id="{303DB5F2-D9AC-410F-A882-767F8E6957A3}"/>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 Câu hỏi Tư duy &amp; Thảo luận Thực hành:</a:t>
            </a:r>
          </a:p>
          <a:p>
            <a:pPr>
              <a:spcBef>
                <a:spcPts val="600"/>
              </a:spcBef>
              <a:spcAft>
                <a:spcPts val="400"/>
              </a:spcAft>
              <a:defRPr sz="1700" b="1">
                <a:solidFill>
                  <a:srgbClr val="003366"/>
                </a:solidFill>
                <a:latin typeface="Calibri"/>
              </a:defRPr>
            </a:pPr>
            <a:r>
              <a:t>Câu hỏi 1: Bản chất Tuyến tính trong Hồi quy Đa thức?</a:t>
            </a:r>
          </a:p>
          <a:p>
            <a:pPr>
              <a:spcAft>
                <a:spcPts val="300"/>
              </a:spcAft>
              <a:defRPr sz="1500" b="0">
                <a:solidFill>
                  <a:srgbClr val="282828"/>
                </a:solidFill>
                <a:latin typeface="Calibri"/>
              </a:defRPr>
            </a:pPr>
            <a:r>
              <a:t>• Tại sao mô hình có dạng đường cong (phi tuyến với biến x) nhưng vẫn được xếp vào họ Hồi quy Tuyến tính (Linear Regression)?</a:t>
            </a:r>
          </a:p>
          <a:p>
            <a:pPr>
              <a:spcAft>
                <a:spcPts val="300"/>
              </a:spcAft>
              <a:defRPr sz="1500" b="0">
                <a:solidFill>
                  <a:srgbClr val="282828"/>
                </a:solidFill>
                <a:latin typeface="Calibri"/>
              </a:defRPr>
            </a:pPr>
            <a:r>
              <a:t>• Gợi ý: Xét tính chất tuyến tính đối với tham số trọng số w.</a:t>
            </a:r>
          </a:p>
          <a:p>
            <a:pPr>
              <a:spcBef>
                <a:spcPts val="600"/>
              </a:spcBef>
              <a:spcAft>
                <a:spcPts val="400"/>
              </a:spcAft>
              <a:defRPr sz="1700" b="1">
                <a:solidFill>
                  <a:srgbClr val="003366"/>
                </a:solidFill>
                <a:latin typeface="Calibri"/>
              </a:defRPr>
            </a:pPr>
            <a:r>
              <a:t>Câu hỏi 2: Giải pháp thay thế khi quan hệ phi tuyến phức tạp?</a:t>
            </a:r>
          </a:p>
          <a:p>
            <a:pPr>
              <a:spcAft>
                <a:spcPts val="300"/>
              </a:spcAft>
              <a:defRPr sz="1500" b="0">
                <a:solidFill>
                  <a:srgbClr val="282828"/>
                </a:solidFill>
                <a:latin typeface="Calibri"/>
              </a:defRPr>
            </a:pPr>
            <a:r>
              <a:t>• Khi dữ liệu có độ phi tuyến cao và nhiều chiều, hồi quy đa thức gặp bùng nổ số chiều (Curse of Dimensionality). Những mô hình nào sau đây sẽ tối ưu hơn: SVR, Decision Tree hay Random Forest?</a:t>
            </a:r>
          </a:p>
        </p:txBody>
      </p:sp>
    </p:spTree>
    <p:extLst>
      <p:ext uri="{BB962C8B-B14F-4D97-AF65-F5344CB8AC3E}">
        <p14:creationId xmlns:p14="http://schemas.microsoft.com/office/powerpoint/2010/main" val="107880435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7C25-55DF-41FD-9FF4-2DC27F23DF4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endParaRPr lang="vi-VN" dirty="0"/>
          </a:p>
        </p:txBody>
      </p:sp>
      <mc:AlternateContent xmlns:mc="http://schemas.openxmlformats.org/markup-compatibility/2006" xmlns:a14="http://schemas.microsoft.com/office/drawing/2010/main">
        <mc:Choice Requires="a14">
          <p:graphicFrame>
            <p:nvGraphicFramePr>
              <p:cNvPr id="7" name="Content Placeholder 3">
                <a:extLst>
                  <a:ext uri="{FF2B5EF4-FFF2-40B4-BE49-F238E27FC236}">
                    <a16:creationId xmlns:a16="http://schemas.microsoft.com/office/drawing/2014/main" id="{2F0BB552-E557-45BF-9952-96B127A4B7D3}"/>
                  </a:ext>
                </a:extLst>
              </p:cNvPr>
              <p:cNvGraphicFramePr>
                <a:graphicFrameLocks/>
              </p:cNvGraphicFramePr>
              <p:nvPr/>
            </p:nvGraphicFramePr>
            <p:xfrm>
              <a:off x="1219200" y="1600200"/>
              <a:ext cx="10058400" cy="4343400"/>
            </p:xfrm>
            <a:graphic>
              <a:graphicData uri="http://schemas.openxmlformats.org/drawingml/2006/table">
                <a:tbl>
                  <a:tblPr firstRow="1" bandRow="1">
                    <a:tableStyleId>{21E4AEA4-8DFA-4A89-87EB-49C32662AFE0}</a:tableStyleId>
                  </a:tblPr>
                  <a:tblGrid>
                    <a:gridCol w="3032123">
                      <a:extLst>
                        <a:ext uri="{9D8B030D-6E8A-4147-A177-3AD203B41FA5}">
                          <a16:colId xmlns:a16="http://schemas.microsoft.com/office/drawing/2014/main" val="3920745078"/>
                        </a:ext>
                      </a:extLst>
                    </a:gridCol>
                    <a:gridCol w="1905000">
                      <a:extLst>
                        <a:ext uri="{9D8B030D-6E8A-4147-A177-3AD203B41FA5}">
                          <a16:colId xmlns:a16="http://schemas.microsoft.com/office/drawing/2014/main" val="94436033"/>
                        </a:ext>
                      </a:extLst>
                    </a:gridCol>
                    <a:gridCol w="1920877">
                      <a:extLst>
                        <a:ext uri="{9D8B030D-6E8A-4147-A177-3AD203B41FA5}">
                          <a16:colId xmlns:a16="http://schemas.microsoft.com/office/drawing/2014/main" val="4165097083"/>
                        </a:ext>
                      </a:extLst>
                    </a:gridCol>
                    <a:gridCol w="3200400">
                      <a:extLst>
                        <a:ext uri="{9D8B030D-6E8A-4147-A177-3AD203B41FA5}">
                          <a16:colId xmlns:a16="http://schemas.microsoft.com/office/drawing/2014/main" val="1649268837"/>
                        </a:ext>
                      </a:extLst>
                    </a:gridCol>
                  </a:tblGrid>
                  <a:tr h="723900">
                    <a:tc>
                      <a:txBody>
                        <a:bodyPr/>
                        <a:lstStyle/>
                        <a:p>
                          <a:pPr algn="ctr"/>
                          <a:r>
                            <a:rPr lang="en-US" sz="2800" dirty="0"/>
                            <a:t>Position</a:t>
                          </a:r>
                          <a:endParaRPr lang="vi-VN" sz="2800" dirty="0"/>
                        </a:p>
                      </a:txBody>
                      <a:tcPr anchor="ctr"/>
                    </a:tc>
                    <a:tc>
                      <a:txBody>
                        <a:bodyPr/>
                        <a:lstStyle/>
                        <a:p>
                          <a:pPr algn="ctr"/>
                          <a:r>
                            <a:rPr lang="en-US" sz="2800" dirty="0"/>
                            <a:t>Level</a:t>
                          </a:r>
                          <a:endParaRPr lang="vi-VN" sz="2800" dirty="0"/>
                        </a:p>
                      </a:txBody>
                      <a:tcPr anchor="ctr"/>
                    </a:tc>
                    <a:tc>
                      <a:txBody>
                        <a:bodyPr/>
                        <a:lstStyle/>
                        <a:p>
                          <a:pPr algn="ctr"/>
                          <a:r>
                            <a:rPr lang="en-US" sz="2800" dirty="0">
                              <a:solidFill>
                                <a:schemeClr val="tx1"/>
                              </a:solidFill>
                            </a:rPr>
                            <a:t>Salary</a:t>
                          </a:r>
                          <a:endParaRPr lang="vi-VN" sz="2800" dirty="0">
                            <a:solidFill>
                              <a:schemeClr val="tx1"/>
                            </a:solidFill>
                          </a:endParaRPr>
                        </a:p>
                      </a:txBody>
                      <a:tcPr anchor="ctr">
                        <a:solidFill>
                          <a:srgbClr val="FFC000"/>
                        </a:solidFill>
                      </a:tcPr>
                    </a:tc>
                    <a:tc>
                      <a:txBody>
                        <a:bodyPr/>
                        <a:lstStyle/>
                        <a:p>
                          <a:pPr algn="ctr"/>
                          <a:r>
                            <a:rPr lang="en-US" sz="2800" dirty="0">
                              <a:solidFill>
                                <a:schemeClr val="tx1"/>
                              </a:solidFill>
                            </a:rPr>
                            <a:t>Predicted Salary</a:t>
                          </a:r>
                          <a:endParaRPr lang="vi-VN" sz="2800" dirty="0">
                            <a:solidFill>
                              <a:schemeClr val="tx1"/>
                            </a:solidFill>
                          </a:endParaRPr>
                        </a:p>
                      </a:txBody>
                      <a:tcPr anchor="ctr">
                        <a:solidFill>
                          <a:srgbClr val="FFC000"/>
                        </a:solidFill>
                      </a:tcPr>
                    </a:tc>
                    <a:extLst>
                      <a:ext uri="{0D108BD9-81ED-4DB2-BD59-A6C34878D82A}">
                        <a16:rowId xmlns:a16="http://schemas.microsoft.com/office/drawing/2014/main" val="3993696377"/>
                      </a:ext>
                    </a:extLst>
                  </a:tr>
                  <a:tr h="723900">
                    <a:tc>
                      <a:txBody>
                        <a:bodyPr/>
                        <a:lstStyle/>
                        <a:p>
                          <a:pPr algn="l"/>
                          <a:r>
                            <a:rPr lang="vi-VN" sz="2800" dirty="0" err="1"/>
                            <a:t>Business</a:t>
                          </a:r>
                          <a:r>
                            <a:rPr lang="vi-VN" sz="2800" dirty="0"/>
                            <a:t> </a:t>
                          </a:r>
                          <a:r>
                            <a:rPr lang="vi-VN" sz="2800" dirty="0" err="1"/>
                            <a:t>Analyst</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45</m:t>
                                </m:r>
                                <m:r>
                                  <a:rPr lang="vi-VN" sz="2800" b="0" i="1" dirty="0" smtClean="0">
                                    <a:latin typeface="Cambria Math" panose="02040503050406030204" pitchFamily="18" charset="0"/>
                                  </a:rPr>
                                  <m:t>,</m:t>
                                </m:r>
                                <m:r>
                                  <a:rPr lang="vi-VN"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53</m:t>
                                </m:r>
                                <m:r>
                                  <a:rPr lang="en-US" sz="2800" b="0" i="1" dirty="0" smtClean="0">
                                    <a:latin typeface="Cambria Math" panose="02040503050406030204" pitchFamily="18" charset="0"/>
                                  </a:rPr>
                                  <m:t>,</m:t>
                                </m:r>
                                <m:r>
                                  <a:rPr lang="vi-VN" sz="2800" i="1" dirty="0" smtClean="0">
                                    <a:latin typeface="Cambria Math" panose="02040503050406030204" pitchFamily="18" charset="0"/>
                                  </a:rPr>
                                  <m:t>356</m:t>
                                </m:r>
                              </m:oMath>
                            </m:oMathPara>
                          </a14:m>
                          <a:endParaRPr lang="vi-VN" sz="2800" dirty="0"/>
                        </a:p>
                      </a:txBody>
                      <a:tcPr anchor="ctr">
                        <a:solidFill>
                          <a:srgbClr val="FFC000"/>
                        </a:solidFill>
                      </a:tcPr>
                    </a:tc>
                    <a:extLst>
                      <a:ext uri="{0D108BD9-81ED-4DB2-BD59-A6C34878D82A}">
                        <a16:rowId xmlns:a16="http://schemas.microsoft.com/office/drawing/2014/main" val="1649618532"/>
                      </a:ext>
                    </a:extLst>
                  </a:tr>
                  <a:tr h="723900">
                    <a:tc>
                      <a:txBody>
                        <a:bodyPr/>
                        <a:lstStyle/>
                        <a:p>
                          <a:pPr algn="l"/>
                          <a:r>
                            <a:rPr lang="vi-VN" sz="2800" dirty="0" err="1"/>
                            <a:t>Junior</a:t>
                          </a:r>
                          <a:r>
                            <a:rPr lang="vi-VN" sz="2800" dirty="0"/>
                            <a:t> </a:t>
                          </a:r>
                          <a:r>
                            <a:rPr lang="vi-VN" sz="2800" dirty="0" err="1"/>
                            <a:t>Consultant</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50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31</m:t>
                                </m:r>
                                <m:r>
                                  <a:rPr lang="en-US" sz="2800" b="0" i="1" dirty="0" smtClean="0">
                                    <a:latin typeface="Cambria Math" panose="02040503050406030204" pitchFamily="18" charset="0"/>
                                  </a:rPr>
                                  <m:t>,</m:t>
                                </m:r>
                                <m:r>
                                  <a:rPr lang="vi-VN" sz="2800" i="1" dirty="0" smtClean="0">
                                    <a:latin typeface="Cambria Math" panose="02040503050406030204" pitchFamily="18" charset="0"/>
                                  </a:rPr>
                                  <m:t>759</m:t>
                                </m:r>
                              </m:oMath>
                            </m:oMathPara>
                          </a14:m>
                          <a:endParaRPr lang="vi-VN" sz="2800" dirty="0"/>
                        </a:p>
                      </a:txBody>
                      <a:tcPr anchor="ctr">
                        <a:solidFill>
                          <a:srgbClr val="FFC000"/>
                        </a:solidFill>
                      </a:tcPr>
                    </a:tc>
                    <a:extLst>
                      <a:ext uri="{0D108BD9-81ED-4DB2-BD59-A6C34878D82A}">
                        <a16:rowId xmlns:a16="http://schemas.microsoft.com/office/drawing/2014/main" val="547627527"/>
                      </a:ext>
                    </a:extLst>
                  </a:tr>
                  <a:tr h="723900">
                    <a:tc>
                      <a:txBody>
                        <a:bodyPr/>
                        <a:lstStyle/>
                        <a:p>
                          <a:pPr algn="l"/>
                          <a:r>
                            <a:rPr lang="vi-VN" sz="2800" dirty="0" err="1"/>
                            <a:t>Senior</a:t>
                          </a:r>
                          <a:r>
                            <a:rPr lang="vi-VN" sz="2800" dirty="0"/>
                            <a:t> </a:t>
                          </a:r>
                          <a:r>
                            <a:rPr lang="vi-VN" sz="2800" dirty="0" err="1"/>
                            <a:t>Consultant</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3</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60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94</m:t>
                                </m:r>
                                <m:r>
                                  <a:rPr lang="en-US" sz="2800" b="0" i="1" dirty="0" smtClean="0">
                                    <a:latin typeface="Cambria Math" panose="02040503050406030204" pitchFamily="18" charset="0"/>
                                  </a:rPr>
                                  <m:t>,</m:t>
                                </m:r>
                                <m:r>
                                  <a:rPr lang="vi-VN" sz="2800" i="1" dirty="0" smtClean="0">
                                    <a:latin typeface="Cambria Math" panose="02040503050406030204" pitchFamily="18" charset="0"/>
                                  </a:rPr>
                                  <m:t>632</m:t>
                                </m:r>
                              </m:oMath>
                            </m:oMathPara>
                          </a14:m>
                          <a:endParaRPr lang="vi-VN" sz="2800" dirty="0"/>
                        </a:p>
                      </a:txBody>
                      <a:tcPr anchor="ctr">
                        <a:solidFill>
                          <a:srgbClr val="FFC000"/>
                        </a:solidFill>
                      </a:tcPr>
                    </a:tc>
                    <a:extLst>
                      <a:ext uri="{0D108BD9-81ED-4DB2-BD59-A6C34878D82A}">
                        <a16:rowId xmlns:a16="http://schemas.microsoft.com/office/drawing/2014/main" val="4172467125"/>
                      </a:ext>
                    </a:extLst>
                  </a:tr>
                  <a:tr h="723900">
                    <a:tc>
                      <a:txBody>
                        <a:bodyPr/>
                        <a:lstStyle/>
                        <a:p>
                          <a:pPr algn="l"/>
                          <a:r>
                            <a:rPr lang="vi-VN" sz="2800" dirty="0" err="1"/>
                            <a:t>Manager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80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121</m:t>
                                </m:r>
                                <m:r>
                                  <a:rPr lang="en-US" sz="2800" b="0" i="1" dirty="0" smtClean="0">
                                    <a:latin typeface="Cambria Math" panose="02040503050406030204" pitchFamily="18" charset="0"/>
                                  </a:rPr>
                                  <m:t>,</m:t>
                                </m:r>
                                <m:r>
                                  <a:rPr lang="vi-VN" sz="2800" i="1" dirty="0" smtClean="0">
                                    <a:latin typeface="Cambria Math" panose="02040503050406030204" pitchFamily="18" charset="0"/>
                                  </a:rPr>
                                  <m:t>724</m:t>
                                </m:r>
                              </m:oMath>
                            </m:oMathPara>
                          </a14:m>
                          <a:endParaRPr lang="vi-VN" sz="2800" dirty="0"/>
                        </a:p>
                      </a:txBody>
                      <a:tcPr anchor="ctr">
                        <a:solidFill>
                          <a:srgbClr val="FFC000"/>
                        </a:solidFill>
                      </a:tcPr>
                    </a:tc>
                    <a:extLst>
                      <a:ext uri="{0D108BD9-81ED-4DB2-BD59-A6C34878D82A}">
                        <a16:rowId xmlns:a16="http://schemas.microsoft.com/office/drawing/2014/main" val="1572396851"/>
                      </a:ext>
                    </a:extLst>
                  </a:tr>
                  <a:tr h="723900">
                    <a:tc>
                      <a:txBody>
                        <a:bodyPr/>
                        <a:lstStyle/>
                        <a:p>
                          <a:pPr algn="l"/>
                          <a:r>
                            <a:rPr lang="vi-VN" sz="2800" dirty="0" err="1"/>
                            <a:t>Country</a:t>
                          </a:r>
                          <a:r>
                            <a:rPr lang="vi-VN" sz="2800" dirty="0"/>
                            <a:t> </a:t>
                          </a:r>
                          <a:r>
                            <a:rPr lang="vi-VN" sz="2800" dirty="0" err="1"/>
                            <a:t>Manager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110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143</m:t>
                                </m:r>
                                <m:r>
                                  <a:rPr lang="en-US" sz="2800" b="0" i="1" dirty="0" smtClean="0">
                                    <a:latin typeface="Cambria Math" panose="02040503050406030204" pitchFamily="18" charset="0"/>
                                  </a:rPr>
                                  <m:t>,</m:t>
                                </m:r>
                                <m:r>
                                  <a:rPr lang="vi-VN" sz="2800" i="1" dirty="0" smtClean="0">
                                    <a:latin typeface="Cambria Math" panose="02040503050406030204" pitchFamily="18" charset="0"/>
                                  </a:rPr>
                                  <m:t>275</m:t>
                                </m:r>
                              </m:oMath>
                            </m:oMathPara>
                          </a14:m>
                          <a:endParaRPr lang="vi-VN" sz="2800" dirty="0"/>
                        </a:p>
                      </a:txBody>
                      <a:tcPr anchor="ctr">
                        <a:solidFill>
                          <a:srgbClr val="FFC000"/>
                        </a:solidFill>
                      </a:tcPr>
                    </a:tc>
                    <a:extLst>
                      <a:ext uri="{0D108BD9-81ED-4DB2-BD59-A6C34878D82A}">
                        <a16:rowId xmlns:a16="http://schemas.microsoft.com/office/drawing/2014/main" val="2963561270"/>
                      </a:ext>
                    </a:extLst>
                  </a:tr>
                </a:tbl>
              </a:graphicData>
            </a:graphic>
          </p:graphicFrame>
        </mc:Choice>
        <mc:Fallback xmlns="">
          <p:graphicFrame>
            <p:nvGraphicFramePr>
              <p:cNvPr id="7" name="Content Placeholder 3">
                <a:extLst>
                  <a:ext uri="{FF2B5EF4-FFF2-40B4-BE49-F238E27FC236}">
                    <a16:creationId xmlns:a16="http://schemas.microsoft.com/office/drawing/2014/main" id="{2F0BB552-E557-45BF-9952-96B127A4B7D3}"/>
                  </a:ext>
                </a:extLst>
              </p:cNvPr>
              <p:cNvGraphicFramePr>
                <a:graphicFrameLocks/>
              </p:cNvGraphicFramePr>
              <p:nvPr/>
            </p:nvGraphicFramePr>
            <p:xfrm>
              <a:off x="1219200" y="1600200"/>
              <a:ext cx="10058400" cy="4343400"/>
            </p:xfrm>
            <a:graphic>
              <a:graphicData uri="http://schemas.openxmlformats.org/drawingml/2006/table">
                <a:tbl>
                  <a:tblPr firstRow="1" bandRow="1">
                    <a:tableStyleId>{21E4AEA4-8DFA-4A89-87EB-49C32662AFE0}</a:tableStyleId>
                  </a:tblPr>
                  <a:tblGrid>
                    <a:gridCol w="3032123">
                      <a:extLst>
                        <a:ext uri="{9D8B030D-6E8A-4147-A177-3AD203B41FA5}">
                          <a16:colId xmlns:a16="http://schemas.microsoft.com/office/drawing/2014/main" val="3920745078"/>
                        </a:ext>
                      </a:extLst>
                    </a:gridCol>
                    <a:gridCol w="1905000">
                      <a:extLst>
                        <a:ext uri="{9D8B030D-6E8A-4147-A177-3AD203B41FA5}">
                          <a16:colId xmlns:a16="http://schemas.microsoft.com/office/drawing/2014/main" val="94436033"/>
                        </a:ext>
                      </a:extLst>
                    </a:gridCol>
                    <a:gridCol w="1920877">
                      <a:extLst>
                        <a:ext uri="{9D8B030D-6E8A-4147-A177-3AD203B41FA5}">
                          <a16:colId xmlns:a16="http://schemas.microsoft.com/office/drawing/2014/main" val="4165097083"/>
                        </a:ext>
                      </a:extLst>
                    </a:gridCol>
                    <a:gridCol w="3200400">
                      <a:extLst>
                        <a:ext uri="{9D8B030D-6E8A-4147-A177-3AD203B41FA5}">
                          <a16:colId xmlns:a16="http://schemas.microsoft.com/office/drawing/2014/main" val="1649268837"/>
                        </a:ext>
                      </a:extLst>
                    </a:gridCol>
                  </a:tblGrid>
                  <a:tr h="723900">
                    <a:tc>
                      <a:txBody>
                        <a:bodyPr/>
                        <a:lstStyle/>
                        <a:p>
                          <a:pPr algn="ctr"/>
                          <a:r>
                            <a:rPr lang="en-US" sz="2800" dirty="0"/>
                            <a:t>Position</a:t>
                          </a:r>
                          <a:endParaRPr lang="vi-VN" sz="2800" dirty="0"/>
                        </a:p>
                      </a:txBody>
                      <a:tcPr anchor="ctr"/>
                    </a:tc>
                    <a:tc>
                      <a:txBody>
                        <a:bodyPr/>
                        <a:lstStyle/>
                        <a:p>
                          <a:pPr algn="ctr"/>
                          <a:r>
                            <a:rPr lang="en-US" sz="2800" dirty="0"/>
                            <a:t>Level</a:t>
                          </a:r>
                          <a:endParaRPr lang="vi-VN" sz="2800" dirty="0"/>
                        </a:p>
                      </a:txBody>
                      <a:tcPr anchor="ctr"/>
                    </a:tc>
                    <a:tc>
                      <a:txBody>
                        <a:bodyPr/>
                        <a:lstStyle/>
                        <a:p>
                          <a:pPr algn="ctr"/>
                          <a:r>
                            <a:rPr lang="en-US" sz="2800" dirty="0">
                              <a:solidFill>
                                <a:schemeClr val="tx1"/>
                              </a:solidFill>
                            </a:rPr>
                            <a:t>Salary</a:t>
                          </a:r>
                          <a:endParaRPr lang="vi-VN" sz="2800" dirty="0">
                            <a:solidFill>
                              <a:schemeClr val="tx1"/>
                            </a:solidFill>
                          </a:endParaRPr>
                        </a:p>
                      </a:txBody>
                      <a:tcPr anchor="ctr">
                        <a:solidFill>
                          <a:srgbClr val="FFC000"/>
                        </a:solidFill>
                      </a:tcPr>
                    </a:tc>
                    <a:tc>
                      <a:txBody>
                        <a:bodyPr/>
                        <a:lstStyle/>
                        <a:p>
                          <a:pPr algn="ctr"/>
                          <a:r>
                            <a:rPr lang="en-US" sz="2800" dirty="0">
                              <a:solidFill>
                                <a:schemeClr val="tx1"/>
                              </a:solidFill>
                            </a:rPr>
                            <a:t>Predicted Salary</a:t>
                          </a:r>
                          <a:endParaRPr lang="vi-VN" sz="2800" dirty="0">
                            <a:solidFill>
                              <a:schemeClr val="tx1"/>
                            </a:solidFill>
                          </a:endParaRPr>
                        </a:p>
                      </a:txBody>
                      <a:tcPr anchor="ctr">
                        <a:solidFill>
                          <a:srgbClr val="FFC000"/>
                        </a:solidFill>
                      </a:tcPr>
                    </a:tc>
                    <a:extLst>
                      <a:ext uri="{0D108BD9-81ED-4DB2-BD59-A6C34878D82A}">
                        <a16:rowId xmlns:a16="http://schemas.microsoft.com/office/drawing/2014/main" val="3993696377"/>
                      </a:ext>
                    </a:extLst>
                  </a:tr>
                  <a:tr h="723900">
                    <a:tc>
                      <a:txBody>
                        <a:bodyPr/>
                        <a:lstStyle/>
                        <a:p>
                          <a:pPr algn="l"/>
                          <a:r>
                            <a:rPr lang="vi-VN" sz="2800" dirty="0" err="1"/>
                            <a:t>Business</a:t>
                          </a:r>
                          <a:r>
                            <a:rPr lang="vi-VN" sz="2800" dirty="0"/>
                            <a:t> </a:t>
                          </a:r>
                          <a:r>
                            <a:rPr lang="vi-VN" sz="2800" dirty="0" err="1"/>
                            <a:t>Analyst</a:t>
                          </a:r>
                          <a:endParaRPr lang="vi-VN" sz="2800" dirty="0"/>
                        </a:p>
                      </a:txBody>
                      <a:tcPr anchor="ctr"/>
                    </a:tc>
                    <a:tc>
                      <a:txBody>
                        <a:bodyPr/>
                        <a:lstStyle/>
                        <a:p>
                          <a:endParaRPr lang="en-US"/>
                        </a:p>
                      </a:txBody>
                      <a:tcPr anchor="ctr">
                        <a:blipFill>
                          <a:blip r:embed="rId2"/>
                          <a:stretch>
                            <a:fillRect l="-159425" t="-100840" r="-269968" b="-408403"/>
                          </a:stretch>
                        </a:blipFill>
                      </a:tcPr>
                    </a:tc>
                    <a:tc>
                      <a:txBody>
                        <a:bodyPr/>
                        <a:lstStyle/>
                        <a:p>
                          <a:endParaRPr lang="en-US"/>
                        </a:p>
                      </a:txBody>
                      <a:tcPr anchor="ctr">
                        <a:blipFill>
                          <a:blip r:embed="rId2"/>
                          <a:stretch>
                            <a:fillRect l="-257778" t="-100840" r="-168254" b="-408403"/>
                          </a:stretch>
                        </a:blipFill>
                      </a:tcPr>
                    </a:tc>
                    <a:tc>
                      <a:txBody>
                        <a:bodyPr/>
                        <a:lstStyle/>
                        <a:p>
                          <a:endParaRPr lang="en-US"/>
                        </a:p>
                      </a:txBody>
                      <a:tcPr anchor="ctr">
                        <a:blipFill>
                          <a:blip r:embed="rId2"/>
                          <a:stretch>
                            <a:fillRect l="-214667" t="-100840" r="-952" b="-408403"/>
                          </a:stretch>
                        </a:blipFill>
                      </a:tcPr>
                    </a:tc>
                    <a:extLst>
                      <a:ext uri="{0D108BD9-81ED-4DB2-BD59-A6C34878D82A}">
                        <a16:rowId xmlns:a16="http://schemas.microsoft.com/office/drawing/2014/main" val="1649618532"/>
                      </a:ext>
                    </a:extLst>
                  </a:tr>
                  <a:tr h="723900">
                    <a:tc>
                      <a:txBody>
                        <a:bodyPr/>
                        <a:lstStyle/>
                        <a:p>
                          <a:pPr algn="l"/>
                          <a:r>
                            <a:rPr lang="vi-VN" sz="2800" dirty="0" err="1"/>
                            <a:t>Junior</a:t>
                          </a:r>
                          <a:r>
                            <a:rPr lang="vi-VN" sz="2800" dirty="0"/>
                            <a:t> </a:t>
                          </a:r>
                          <a:r>
                            <a:rPr lang="vi-VN" sz="2800" dirty="0" err="1"/>
                            <a:t>Consultant</a:t>
                          </a:r>
                          <a:endParaRPr lang="vi-VN" sz="2800" dirty="0"/>
                        </a:p>
                      </a:txBody>
                      <a:tcPr anchor="ctr"/>
                    </a:tc>
                    <a:tc>
                      <a:txBody>
                        <a:bodyPr/>
                        <a:lstStyle/>
                        <a:p>
                          <a:endParaRPr lang="en-US"/>
                        </a:p>
                      </a:txBody>
                      <a:tcPr anchor="ctr">
                        <a:blipFill>
                          <a:blip r:embed="rId2"/>
                          <a:stretch>
                            <a:fillRect l="-159425" t="-200840" r="-269968" b="-308403"/>
                          </a:stretch>
                        </a:blipFill>
                      </a:tcPr>
                    </a:tc>
                    <a:tc>
                      <a:txBody>
                        <a:bodyPr/>
                        <a:lstStyle/>
                        <a:p>
                          <a:endParaRPr lang="en-US"/>
                        </a:p>
                      </a:txBody>
                      <a:tcPr anchor="ctr">
                        <a:blipFill>
                          <a:blip r:embed="rId2"/>
                          <a:stretch>
                            <a:fillRect l="-257778" t="-200840" r="-168254" b="-308403"/>
                          </a:stretch>
                        </a:blipFill>
                      </a:tcPr>
                    </a:tc>
                    <a:tc>
                      <a:txBody>
                        <a:bodyPr/>
                        <a:lstStyle/>
                        <a:p>
                          <a:endParaRPr lang="en-US"/>
                        </a:p>
                      </a:txBody>
                      <a:tcPr anchor="ctr">
                        <a:blipFill>
                          <a:blip r:embed="rId2"/>
                          <a:stretch>
                            <a:fillRect l="-214667" t="-200840" r="-952" b="-308403"/>
                          </a:stretch>
                        </a:blipFill>
                      </a:tcPr>
                    </a:tc>
                    <a:extLst>
                      <a:ext uri="{0D108BD9-81ED-4DB2-BD59-A6C34878D82A}">
                        <a16:rowId xmlns:a16="http://schemas.microsoft.com/office/drawing/2014/main" val="547627527"/>
                      </a:ext>
                    </a:extLst>
                  </a:tr>
                  <a:tr h="723900">
                    <a:tc>
                      <a:txBody>
                        <a:bodyPr/>
                        <a:lstStyle/>
                        <a:p>
                          <a:pPr algn="l"/>
                          <a:r>
                            <a:rPr lang="vi-VN" sz="2800" dirty="0" err="1"/>
                            <a:t>Senior</a:t>
                          </a:r>
                          <a:r>
                            <a:rPr lang="vi-VN" sz="2800" dirty="0"/>
                            <a:t> </a:t>
                          </a:r>
                          <a:r>
                            <a:rPr lang="vi-VN" sz="2800" dirty="0" err="1"/>
                            <a:t>Consultant</a:t>
                          </a:r>
                          <a:endParaRPr lang="vi-VN" sz="2800" dirty="0"/>
                        </a:p>
                      </a:txBody>
                      <a:tcPr anchor="ctr"/>
                    </a:tc>
                    <a:tc>
                      <a:txBody>
                        <a:bodyPr/>
                        <a:lstStyle/>
                        <a:p>
                          <a:endParaRPr lang="en-US"/>
                        </a:p>
                      </a:txBody>
                      <a:tcPr anchor="ctr">
                        <a:blipFill>
                          <a:blip r:embed="rId2"/>
                          <a:stretch>
                            <a:fillRect l="-159425" t="-303390" r="-269968" b="-211017"/>
                          </a:stretch>
                        </a:blipFill>
                      </a:tcPr>
                    </a:tc>
                    <a:tc>
                      <a:txBody>
                        <a:bodyPr/>
                        <a:lstStyle/>
                        <a:p>
                          <a:endParaRPr lang="en-US"/>
                        </a:p>
                      </a:txBody>
                      <a:tcPr anchor="ctr">
                        <a:blipFill>
                          <a:blip r:embed="rId2"/>
                          <a:stretch>
                            <a:fillRect l="-257778" t="-303390" r="-168254" b="-211017"/>
                          </a:stretch>
                        </a:blipFill>
                      </a:tcPr>
                    </a:tc>
                    <a:tc>
                      <a:txBody>
                        <a:bodyPr/>
                        <a:lstStyle/>
                        <a:p>
                          <a:endParaRPr lang="en-US"/>
                        </a:p>
                      </a:txBody>
                      <a:tcPr anchor="ctr">
                        <a:blipFill>
                          <a:blip r:embed="rId2"/>
                          <a:stretch>
                            <a:fillRect l="-214667" t="-303390" r="-952" b="-211017"/>
                          </a:stretch>
                        </a:blipFill>
                      </a:tcPr>
                    </a:tc>
                    <a:extLst>
                      <a:ext uri="{0D108BD9-81ED-4DB2-BD59-A6C34878D82A}">
                        <a16:rowId xmlns:a16="http://schemas.microsoft.com/office/drawing/2014/main" val="4172467125"/>
                      </a:ext>
                    </a:extLst>
                  </a:tr>
                  <a:tr h="723900">
                    <a:tc>
                      <a:txBody>
                        <a:bodyPr/>
                        <a:lstStyle/>
                        <a:p>
                          <a:pPr algn="l"/>
                          <a:r>
                            <a:rPr lang="vi-VN" sz="2800" dirty="0" err="1"/>
                            <a:t>Manager</a:t>
                          </a:r>
                          <a:endParaRPr lang="vi-VN" sz="2800" dirty="0"/>
                        </a:p>
                      </a:txBody>
                      <a:tcPr anchor="ctr"/>
                    </a:tc>
                    <a:tc>
                      <a:txBody>
                        <a:bodyPr/>
                        <a:lstStyle/>
                        <a:p>
                          <a:endParaRPr lang="en-US"/>
                        </a:p>
                      </a:txBody>
                      <a:tcPr anchor="ctr">
                        <a:blipFill>
                          <a:blip r:embed="rId2"/>
                          <a:stretch>
                            <a:fillRect l="-159425" t="-400000" r="-269968" b="-109244"/>
                          </a:stretch>
                        </a:blipFill>
                      </a:tcPr>
                    </a:tc>
                    <a:tc>
                      <a:txBody>
                        <a:bodyPr/>
                        <a:lstStyle/>
                        <a:p>
                          <a:endParaRPr lang="en-US"/>
                        </a:p>
                      </a:txBody>
                      <a:tcPr anchor="ctr">
                        <a:blipFill>
                          <a:blip r:embed="rId2"/>
                          <a:stretch>
                            <a:fillRect l="-257778" t="-400000" r="-168254" b="-109244"/>
                          </a:stretch>
                        </a:blipFill>
                      </a:tcPr>
                    </a:tc>
                    <a:tc>
                      <a:txBody>
                        <a:bodyPr/>
                        <a:lstStyle/>
                        <a:p>
                          <a:endParaRPr lang="en-US"/>
                        </a:p>
                      </a:txBody>
                      <a:tcPr anchor="ctr">
                        <a:blipFill>
                          <a:blip r:embed="rId2"/>
                          <a:stretch>
                            <a:fillRect l="-214667" t="-400000" r="-952" b="-109244"/>
                          </a:stretch>
                        </a:blipFill>
                      </a:tcPr>
                    </a:tc>
                    <a:extLst>
                      <a:ext uri="{0D108BD9-81ED-4DB2-BD59-A6C34878D82A}">
                        <a16:rowId xmlns:a16="http://schemas.microsoft.com/office/drawing/2014/main" val="1572396851"/>
                      </a:ext>
                    </a:extLst>
                  </a:tr>
                  <a:tr h="723900">
                    <a:tc>
                      <a:txBody>
                        <a:bodyPr/>
                        <a:lstStyle/>
                        <a:p>
                          <a:pPr algn="l"/>
                          <a:r>
                            <a:rPr lang="vi-VN" sz="2800" dirty="0" err="1"/>
                            <a:t>Country</a:t>
                          </a:r>
                          <a:r>
                            <a:rPr lang="vi-VN" sz="2800" dirty="0"/>
                            <a:t> </a:t>
                          </a:r>
                          <a:r>
                            <a:rPr lang="vi-VN" sz="2800" dirty="0" err="1"/>
                            <a:t>Manager</a:t>
                          </a:r>
                          <a:endParaRPr lang="vi-VN" sz="2800" dirty="0"/>
                        </a:p>
                      </a:txBody>
                      <a:tcPr anchor="ctr"/>
                    </a:tc>
                    <a:tc>
                      <a:txBody>
                        <a:bodyPr/>
                        <a:lstStyle/>
                        <a:p>
                          <a:endParaRPr lang="en-US"/>
                        </a:p>
                      </a:txBody>
                      <a:tcPr anchor="ctr">
                        <a:blipFill>
                          <a:blip r:embed="rId2"/>
                          <a:stretch>
                            <a:fillRect l="-159425" t="-500000" r="-269968" b="-9244"/>
                          </a:stretch>
                        </a:blipFill>
                      </a:tcPr>
                    </a:tc>
                    <a:tc>
                      <a:txBody>
                        <a:bodyPr/>
                        <a:lstStyle/>
                        <a:p>
                          <a:endParaRPr lang="en-US"/>
                        </a:p>
                      </a:txBody>
                      <a:tcPr anchor="ctr">
                        <a:blipFill>
                          <a:blip r:embed="rId2"/>
                          <a:stretch>
                            <a:fillRect l="-257778" t="-500000" r="-168254" b="-9244"/>
                          </a:stretch>
                        </a:blipFill>
                      </a:tcPr>
                    </a:tc>
                    <a:tc>
                      <a:txBody>
                        <a:bodyPr/>
                        <a:lstStyle/>
                        <a:p>
                          <a:endParaRPr lang="en-US"/>
                        </a:p>
                      </a:txBody>
                      <a:tcPr anchor="ctr">
                        <a:blipFill>
                          <a:blip r:embed="rId2"/>
                          <a:stretch>
                            <a:fillRect l="-214667" t="-500000" r="-952" b="-9244"/>
                          </a:stretch>
                        </a:blipFill>
                      </a:tcPr>
                    </a:tc>
                    <a:extLst>
                      <a:ext uri="{0D108BD9-81ED-4DB2-BD59-A6C34878D82A}">
                        <a16:rowId xmlns:a16="http://schemas.microsoft.com/office/drawing/2014/main" val="2963561270"/>
                      </a:ext>
                    </a:extLst>
                  </a:tr>
                </a:tbl>
              </a:graphicData>
            </a:graphic>
          </p:graphicFrame>
        </mc:Fallback>
      </mc:AlternateContent>
    </p:spTree>
    <p:extLst>
      <p:ext uri="{BB962C8B-B14F-4D97-AF65-F5344CB8AC3E}">
        <p14:creationId xmlns:p14="http://schemas.microsoft.com/office/powerpoint/2010/main" val="941257190"/>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7C25-55DF-41FD-9FF4-2DC27F23DF4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endParaRPr lang="vi-VN" dirty="0"/>
          </a:p>
        </p:txBody>
      </p:sp>
      <mc:AlternateContent xmlns:mc="http://schemas.openxmlformats.org/markup-compatibility/2006" xmlns:a14="http://schemas.microsoft.com/office/drawing/2010/main">
        <mc:Choice Requires="a14">
          <p:graphicFrame>
            <p:nvGraphicFramePr>
              <p:cNvPr id="7" name="Content Placeholder 3">
                <a:extLst>
                  <a:ext uri="{FF2B5EF4-FFF2-40B4-BE49-F238E27FC236}">
                    <a16:creationId xmlns:a16="http://schemas.microsoft.com/office/drawing/2014/main" id="{2F0BB552-E557-45BF-9952-96B127A4B7D3}"/>
                  </a:ext>
                </a:extLst>
              </p:cNvPr>
              <p:cNvGraphicFramePr>
                <a:graphicFrameLocks/>
              </p:cNvGraphicFramePr>
              <p:nvPr/>
            </p:nvGraphicFramePr>
            <p:xfrm>
              <a:off x="1219200" y="1600200"/>
              <a:ext cx="10058400" cy="4343400"/>
            </p:xfrm>
            <a:graphic>
              <a:graphicData uri="http://schemas.openxmlformats.org/drawingml/2006/table">
                <a:tbl>
                  <a:tblPr firstRow="1" bandRow="1">
                    <a:tableStyleId>{21E4AEA4-8DFA-4A89-87EB-49C32662AFE0}</a:tableStyleId>
                  </a:tblPr>
                  <a:tblGrid>
                    <a:gridCol w="3032123">
                      <a:extLst>
                        <a:ext uri="{9D8B030D-6E8A-4147-A177-3AD203B41FA5}">
                          <a16:colId xmlns:a16="http://schemas.microsoft.com/office/drawing/2014/main" val="3920745078"/>
                        </a:ext>
                      </a:extLst>
                    </a:gridCol>
                    <a:gridCol w="1905000">
                      <a:extLst>
                        <a:ext uri="{9D8B030D-6E8A-4147-A177-3AD203B41FA5}">
                          <a16:colId xmlns:a16="http://schemas.microsoft.com/office/drawing/2014/main" val="94436033"/>
                        </a:ext>
                      </a:extLst>
                    </a:gridCol>
                    <a:gridCol w="1920877">
                      <a:extLst>
                        <a:ext uri="{9D8B030D-6E8A-4147-A177-3AD203B41FA5}">
                          <a16:colId xmlns:a16="http://schemas.microsoft.com/office/drawing/2014/main" val="4165097083"/>
                        </a:ext>
                      </a:extLst>
                    </a:gridCol>
                    <a:gridCol w="3200400">
                      <a:extLst>
                        <a:ext uri="{9D8B030D-6E8A-4147-A177-3AD203B41FA5}">
                          <a16:colId xmlns:a16="http://schemas.microsoft.com/office/drawing/2014/main" val="1649268837"/>
                        </a:ext>
                      </a:extLst>
                    </a:gridCol>
                  </a:tblGrid>
                  <a:tr h="723900">
                    <a:tc>
                      <a:txBody>
                        <a:bodyPr/>
                        <a:lstStyle/>
                        <a:p>
                          <a:pPr algn="ctr"/>
                          <a:r>
                            <a:rPr lang="en-US" sz="2800" dirty="0"/>
                            <a:t>Position</a:t>
                          </a:r>
                          <a:endParaRPr lang="vi-VN" sz="2800" dirty="0"/>
                        </a:p>
                      </a:txBody>
                      <a:tcPr anchor="ctr"/>
                    </a:tc>
                    <a:tc>
                      <a:txBody>
                        <a:bodyPr/>
                        <a:lstStyle/>
                        <a:p>
                          <a:pPr algn="ctr"/>
                          <a:r>
                            <a:rPr lang="en-US" sz="2800"/>
                            <a:t>Level</a:t>
                          </a:r>
                          <a:endParaRPr lang="vi-VN" sz="2800" dirty="0"/>
                        </a:p>
                      </a:txBody>
                      <a:tcPr anchor="ctr"/>
                    </a:tc>
                    <a:tc>
                      <a:txBody>
                        <a:bodyPr/>
                        <a:lstStyle/>
                        <a:p>
                          <a:pPr algn="ctr"/>
                          <a:r>
                            <a:rPr lang="en-US" sz="2800" dirty="0">
                              <a:solidFill>
                                <a:schemeClr val="tx1"/>
                              </a:solidFill>
                            </a:rPr>
                            <a:t>Salary</a:t>
                          </a:r>
                          <a:endParaRPr lang="vi-VN" sz="2800" dirty="0">
                            <a:solidFill>
                              <a:schemeClr val="tx1"/>
                            </a:solidFill>
                          </a:endParaRPr>
                        </a:p>
                      </a:txBody>
                      <a:tcPr anchor="ctr">
                        <a:solidFill>
                          <a:srgbClr val="FFC000"/>
                        </a:solidFill>
                      </a:tcPr>
                    </a:tc>
                    <a:tc>
                      <a:txBody>
                        <a:bodyPr/>
                        <a:lstStyle/>
                        <a:p>
                          <a:pPr algn="ctr"/>
                          <a:r>
                            <a:rPr lang="en-US" sz="2800" dirty="0">
                              <a:solidFill>
                                <a:schemeClr val="tx1"/>
                              </a:solidFill>
                            </a:rPr>
                            <a:t>Predicted Salary</a:t>
                          </a:r>
                          <a:endParaRPr lang="vi-VN" sz="2800" dirty="0">
                            <a:solidFill>
                              <a:schemeClr val="tx1"/>
                            </a:solidFill>
                          </a:endParaRPr>
                        </a:p>
                      </a:txBody>
                      <a:tcPr anchor="ctr">
                        <a:solidFill>
                          <a:srgbClr val="FFC000"/>
                        </a:solidFill>
                      </a:tcPr>
                    </a:tc>
                    <a:extLst>
                      <a:ext uri="{0D108BD9-81ED-4DB2-BD59-A6C34878D82A}">
                        <a16:rowId xmlns:a16="http://schemas.microsoft.com/office/drawing/2014/main" val="3993696377"/>
                      </a:ext>
                    </a:extLst>
                  </a:tr>
                  <a:tr h="723900">
                    <a:tc>
                      <a:txBody>
                        <a:bodyPr/>
                        <a:lstStyle/>
                        <a:p>
                          <a:pPr algn="l"/>
                          <a:r>
                            <a:rPr lang="vi-VN" sz="2800" dirty="0" err="1"/>
                            <a:t>Region</a:t>
                          </a:r>
                          <a:r>
                            <a:rPr lang="vi-VN" sz="2800" dirty="0"/>
                            <a:t> </a:t>
                          </a:r>
                          <a:r>
                            <a:rPr lang="vi-VN" sz="2800" dirty="0" err="1"/>
                            <a:t>Manager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6</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150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184</m:t>
                                </m:r>
                                <m:r>
                                  <a:rPr lang="en-US" sz="2800" b="0" i="1" dirty="0" smtClean="0">
                                    <a:latin typeface="Cambria Math" panose="02040503050406030204" pitchFamily="18" charset="0"/>
                                  </a:rPr>
                                  <m:t>,</m:t>
                                </m:r>
                                <m:r>
                                  <a:rPr lang="vi-VN" sz="2800" i="1" dirty="0" smtClean="0">
                                    <a:latin typeface="Cambria Math" panose="02040503050406030204" pitchFamily="18" charset="0"/>
                                  </a:rPr>
                                  <m:t>003</m:t>
                                </m:r>
                              </m:oMath>
                            </m:oMathPara>
                          </a14:m>
                          <a:endParaRPr lang="vi-VN" sz="2800" dirty="0"/>
                        </a:p>
                      </a:txBody>
                      <a:tcPr anchor="ctr">
                        <a:solidFill>
                          <a:srgbClr val="FFC000"/>
                        </a:solidFill>
                      </a:tcPr>
                    </a:tc>
                    <a:extLst>
                      <a:ext uri="{0D108BD9-81ED-4DB2-BD59-A6C34878D82A}">
                        <a16:rowId xmlns:a16="http://schemas.microsoft.com/office/drawing/2014/main" val="1649618532"/>
                      </a:ext>
                    </a:extLst>
                  </a:tr>
                  <a:tr h="723900">
                    <a:tc>
                      <a:txBody>
                        <a:bodyPr/>
                        <a:lstStyle/>
                        <a:p>
                          <a:pPr algn="l"/>
                          <a:r>
                            <a:rPr lang="vi-VN" sz="2800" dirty="0" err="1"/>
                            <a:t>Partner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7</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200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184</m:t>
                                </m:r>
                                <m:r>
                                  <a:rPr lang="en-US" sz="2800" b="0" i="1" dirty="0" smtClean="0">
                                    <a:latin typeface="Cambria Math" panose="02040503050406030204" pitchFamily="18" charset="0"/>
                                  </a:rPr>
                                  <m:t>,</m:t>
                                </m:r>
                                <m:r>
                                  <a:rPr lang="vi-VN" sz="2800" i="1" dirty="0" smtClean="0">
                                    <a:latin typeface="Cambria Math" panose="02040503050406030204" pitchFamily="18" charset="0"/>
                                  </a:rPr>
                                  <m:t>003</m:t>
                                </m:r>
                              </m:oMath>
                            </m:oMathPara>
                          </a14:m>
                          <a:endParaRPr lang="vi-VN" sz="2800" dirty="0"/>
                        </a:p>
                      </a:txBody>
                      <a:tcPr anchor="ctr">
                        <a:solidFill>
                          <a:srgbClr val="FFC000"/>
                        </a:solidFill>
                      </a:tcPr>
                    </a:tc>
                    <a:extLst>
                      <a:ext uri="{0D108BD9-81ED-4DB2-BD59-A6C34878D82A}">
                        <a16:rowId xmlns:a16="http://schemas.microsoft.com/office/drawing/2014/main" val="547627527"/>
                      </a:ext>
                    </a:extLst>
                  </a:tr>
                  <a:tr h="723900">
                    <a:tc>
                      <a:txBody>
                        <a:bodyPr/>
                        <a:lstStyle/>
                        <a:p>
                          <a:pPr algn="l"/>
                          <a:r>
                            <a:rPr lang="vi-VN" sz="2800" dirty="0" err="1"/>
                            <a:t>Senior</a:t>
                          </a:r>
                          <a:r>
                            <a:rPr lang="vi-VN" sz="2800" dirty="0"/>
                            <a:t> </a:t>
                          </a:r>
                          <a:r>
                            <a:rPr lang="vi-VN" sz="2800" dirty="0" err="1"/>
                            <a:t>Partner</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8</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300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289</m:t>
                                </m:r>
                                <m:r>
                                  <a:rPr lang="en-US" sz="2800" b="0" i="1" dirty="0" smtClean="0">
                                    <a:latin typeface="Cambria Math" panose="02040503050406030204" pitchFamily="18" charset="0"/>
                                  </a:rPr>
                                  <m:t>,</m:t>
                                </m:r>
                                <m:r>
                                  <a:rPr lang="vi-VN" sz="2800" i="1" dirty="0" smtClean="0">
                                    <a:latin typeface="Cambria Math" panose="02040503050406030204" pitchFamily="18" charset="0"/>
                                  </a:rPr>
                                  <m:t>994</m:t>
                                </m:r>
                              </m:oMath>
                            </m:oMathPara>
                          </a14:m>
                          <a:endParaRPr lang="vi-VN" sz="2800" dirty="0"/>
                        </a:p>
                      </a:txBody>
                      <a:tcPr anchor="ctr">
                        <a:solidFill>
                          <a:srgbClr val="FFC000"/>
                        </a:solidFill>
                      </a:tcPr>
                    </a:tc>
                    <a:extLst>
                      <a:ext uri="{0D108BD9-81ED-4DB2-BD59-A6C34878D82A}">
                        <a16:rowId xmlns:a16="http://schemas.microsoft.com/office/drawing/2014/main" val="4172467125"/>
                      </a:ext>
                    </a:extLst>
                  </a:tr>
                  <a:tr h="723900">
                    <a:tc>
                      <a:txBody>
                        <a:bodyPr/>
                        <a:lstStyle/>
                        <a:p>
                          <a:pPr algn="l"/>
                          <a:r>
                            <a:rPr lang="vi-VN" sz="2800" dirty="0"/>
                            <a:t>C-</a:t>
                          </a:r>
                          <a:r>
                            <a:rPr lang="vi-VN" sz="2800" dirty="0" err="1"/>
                            <a:t>level</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9</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500</m:t>
                                </m:r>
                                <m:r>
                                  <a:rPr lang="vi-VN"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528</m:t>
                                </m:r>
                                <m:r>
                                  <a:rPr lang="en-US" sz="2800" b="0" i="1" dirty="0" smtClean="0">
                                    <a:latin typeface="Cambria Math" panose="02040503050406030204" pitchFamily="18" charset="0"/>
                                  </a:rPr>
                                  <m:t>,</m:t>
                                </m:r>
                                <m:r>
                                  <a:rPr lang="vi-VN" sz="2800" i="1" dirty="0" smtClean="0">
                                    <a:latin typeface="Cambria Math" panose="02040503050406030204" pitchFamily="18" charset="0"/>
                                  </a:rPr>
                                  <m:t>694</m:t>
                                </m:r>
                              </m:oMath>
                            </m:oMathPara>
                          </a14:m>
                          <a:endParaRPr lang="vi-VN" sz="2800" dirty="0"/>
                        </a:p>
                      </a:txBody>
                      <a:tcPr anchor="ctr">
                        <a:solidFill>
                          <a:srgbClr val="FFC000"/>
                        </a:solidFill>
                      </a:tcPr>
                    </a:tc>
                    <a:extLst>
                      <a:ext uri="{0D108BD9-81ED-4DB2-BD59-A6C34878D82A}">
                        <a16:rowId xmlns:a16="http://schemas.microsoft.com/office/drawing/2014/main" val="1572396851"/>
                      </a:ext>
                    </a:extLst>
                  </a:tr>
                  <a:tr h="723900">
                    <a:tc>
                      <a:txBody>
                        <a:bodyPr/>
                        <a:lstStyle/>
                        <a:p>
                          <a:pPr algn="l"/>
                          <a:r>
                            <a:rPr lang="vi-VN" sz="2800" dirty="0"/>
                            <a:t>CEO</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10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1</m:t>
                                </m:r>
                                <m:r>
                                  <a:rPr lang="en-US" sz="2800" b="0" i="1" dirty="0" smtClean="0">
                                    <a:latin typeface="Cambria Math" panose="02040503050406030204" pitchFamily="18" charset="0"/>
                                  </a:rPr>
                                  <m:t>,</m:t>
                                </m:r>
                                <m:r>
                                  <a:rPr lang="en-US" sz="2800" i="1" dirty="0" smtClean="0">
                                    <a:latin typeface="Cambria Math" panose="02040503050406030204" pitchFamily="18" charset="0"/>
                                  </a:rPr>
                                  <m:t>000</m:t>
                                </m:r>
                                <m:r>
                                  <a:rPr lang="en-US" sz="2800" b="0" i="1" dirty="0" smtClean="0">
                                    <a:latin typeface="Cambria Math" panose="02040503050406030204" pitchFamily="18" charset="0"/>
                                  </a:rPr>
                                  <m:t>,</m:t>
                                </m:r>
                                <m:r>
                                  <a:rPr lang="en-US" sz="2800" i="1" dirty="0" smtClean="0">
                                    <a:latin typeface="Cambria Math" panose="02040503050406030204" pitchFamily="18" charset="0"/>
                                  </a:rPr>
                                  <m:t>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988</m:t>
                                </m:r>
                                <m:r>
                                  <a:rPr lang="en-US" sz="2800" b="0" i="1" dirty="0" smtClean="0">
                                    <a:latin typeface="Cambria Math" panose="02040503050406030204" pitchFamily="18" charset="0"/>
                                  </a:rPr>
                                  <m:t>,</m:t>
                                </m:r>
                                <m:r>
                                  <a:rPr lang="vi-VN" sz="2800" i="1" dirty="0" smtClean="0">
                                    <a:latin typeface="Cambria Math" panose="02040503050406030204" pitchFamily="18" charset="0"/>
                                  </a:rPr>
                                  <m:t>916</m:t>
                                </m:r>
                              </m:oMath>
                            </m:oMathPara>
                          </a14:m>
                          <a:endParaRPr lang="vi-VN" sz="2800" dirty="0"/>
                        </a:p>
                      </a:txBody>
                      <a:tcPr anchor="ctr">
                        <a:solidFill>
                          <a:srgbClr val="FFC000"/>
                        </a:solidFill>
                      </a:tcPr>
                    </a:tc>
                    <a:extLst>
                      <a:ext uri="{0D108BD9-81ED-4DB2-BD59-A6C34878D82A}">
                        <a16:rowId xmlns:a16="http://schemas.microsoft.com/office/drawing/2014/main" val="2963561270"/>
                      </a:ext>
                    </a:extLst>
                  </a:tr>
                </a:tbl>
              </a:graphicData>
            </a:graphic>
          </p:graphicFrame>
        </mc:Choice>
        <mc:Fallback xmlns="">
          <p:graphicFrame>
            <p:nvGraphicFramePr>
              <p:cNvPr id="7" name="Content Placeholder 3">
                <a:extLst>
                  <a:ext uri="{FF2B5EF4-FFF2-40B4-BE49-F238E27FC236}">
                    <a16:creationId xmlns:a16="http://schemas.microsoft.com/office/drawing/2014/main" id="{2F0BB552-E557-45BF-9952-96B127A4B7D3}"/>
                  </a:ext>
                </a:extLst>
              </p:cNvPr>
              <p:cNvGraphicFramePr>
                <a:graphicFrameLocks/>
              </p:cNvGraphicFramePr>
              <p:nvPr/>
            </p:nvGraphicFramePr>
            <p:xfrm>
              <a:off x="1219200" y="1600200"/>
              <a:ext cx="10058400" cy="4343400"/>
            </p:xfrm>
            <a:graphic>
              <a:graphicData uri="http://schemas.openxmlformats.org/drawingml/2006/table">
                <a:tbl>
                  <a:tblPr firstRow="1" bandRow="1">
                    <a:tableStyleId>{21E4AEA4-8DFA-4A89-87EB-49C32662AFE0}</a:tableStyleId>
                  </a:tblPr>
                  <a:tblGrid>
                    <a:gridCol w="3032123">
                      <a:extLst>
                        <a:ext uri="{9D8B030D-6E8A-4147-A177-3AD203B41FA5}">
                          <a16:colId xmlns:a16="http://schemas.microsoft.com/office/drawing/2014/main" val="3920745078"/>
                        </a:ext>
                      </a:extLst>
                    </a:gridCol>
                    <a:gridCol w="1905000">
                      <a:extLst>
                        <a:ext uri="{9D8B030D-6E8A-4147-A177-3AD203B41FA5}">
                          <a16:colId xmlns:a16="http://schemas.microsoft.com/office/drawing/2014/main" val="94436033"/>
                        </a:ext>
                      </a:extLst>
                    </a:gridCol>
                    <a:gridCol w="1920877">
                      <a:extLst>
                        <a:ext uri="{9D8B030D-6E8A-4147-A177-3AD203B41FA5}">
                          <a16:colId xmlns:a16="http://schemas.microsoft.com/office/drawing/2014/main" val="4165097083"/>
                        </a:ext>
                      </a:extLst>
                    </a:gridCol>
                    <a:gridCol w="3200400">
                      <a:extLst>
                        <a:ext uri="{9D8B030D-6E8A-4147-A177-3AD203B41FA5}">
                          <a16:colId xmlns:a16="http://schemas.microsoft.com/office/drawing/2014/main" val="1649268837"/>
                        </a:ext>
                      </a:extLst>
                    </a:gridCol>
                  </a:tblGrid>
                  <a:tr h="723900">
                    <a:tc>
                      <a:txBody>
                        <a:bodyPr/>
                        <a:lstStyle/>
                        <a:p>
                          <a:pPr algn="ctr"/>
                          <a:r>
                            <a:rPr lang="en-US" sz="2800" dirty="0"/>
                            <a:t>Position</a:t>
                          </a:r>
                          <a:endParaRPr lang="vi-VN" sz="2800" dirty="0"/>
                        </a:p>
                      </a:txBody>
                      <a:tcPr anchor="ctr"/>
                    </a:tc>
                    <a:tc>
                      <a:txBody>
                        <a:bodyPr/>
                        <a:lstStyle/>
                        <a:p>
                          <a:pPr algn="ctr"/>
                          <a:r>
                            <a:rPr lang="en-US" sz="2800"/>
                            <a:t>Level</a:t>
                          </a:r>
                          <a:endParaRPr lang="vi-VN" sz="2800" dirty="0"/>
                        </a:p>
                      </a:txBody>
                      <a:tcPr anchor="ctr"/>
                    </a:tc>
                    <a:tc>
                      <a:txBody>
                        <a:bodyPr/>
                        <a:lstStyle/>
                        <a:p>
                          <a:pPr algn="ctr"/>
                          <a:r>
                            <a:rPr lang="en-US" sz="2800" dirty="0">
                              <a:solidFill>
                                <a:schemeClr val="tx1"/>
                              </a:solidFill>
                            </a:rPr>
                            <a:t>Salary</a:t>
                          </a:r>
                          <a:endParaRPr lang="vi-VN" sz="2800" dirty="0">
                            <a:solidFill>
                              <a:schemeClr val="tx1"/>
                            </a:solidFill>
                          </a:endParaRPr>
                        </a:p>
                      </a:txBody>
                      <a:tcPr anchor="ctr">
                        <a:solidFill>
                          <a:srgbClr val="FFC000"/>
                        </a:solidFill>
                      </a:tcPr>
                    </a:tc>
                    <a:tc>
                      <a:txBody>
                        <a:bodyPr/>
                        <a:lstStyle/>
                        <a:p>
                          <a:pPr algn="ctr"/>
                          <a:r>
                            <a:rPr lang="en-US" sz="2800" dirty="0">
                              <a:solidFill>
                                <a:schemeClr val="tx1"/>
                              </a:solidFill>
                            </a:rPr>
                            <a:t>Predicted Salary</a:t>
                          </a:r>
                          <a:endParaRPr lang="vi-VN" sz="2800" dirty="0">
                            <a:solidFill>
                              <a:schemeClr val="tx1"/>
                            </a:solidFill>
                          </a:endParaRPr>
                        </a:p>
                      </a:txBody>
                      <a:tcPr anchor="ctr">
                        <a:solidFill>
                          <a:srgbClr val="FFC000"/>
                        </a:solidFill>
                      </a:tcPr>
                    </a:tc>
                    <a:extLst>
                      <a:ext uri="{0D108BD9-81ED-4DB2-BD59-A6C34878D82A}">
                        <a16:rowId xmlns:a16="http://schemas.microsoft.com/office/drawing/2014/main" val="3993696377"/>
                      </a:ext>
                    </a:extLst>
                  </a:tr>
                  <a:tr h="723900">
                    <a:tc>
                      <a:txBody>
                        <a:bodyPr/>
                        <a:lstStyle/>
                        <a:p>
                          <a:pPr algn="l"/>
                          <a:r>
                            <a:rPr lang="vi-VN" sz="2800" dirty="0" err="1"/>
                            <a:t>Region</a:t>
                          </a:r>
                          <a:r>
                            <a:rPr lang="vi-VN" sz="2800" dirty="0"/>
                            <a:t> </a:t>
                          </a:r>
                          <a:r>
                            <a:rPr lang="vi-VN" sz="2800" dirty="0" err="1"/>
                            <a:t>Manager</a:t>
                          </a:r>
                          <a:endParaRPr lang="vi-VN" sz="2800" dirty="0"/>
                        </a:p>
                      </a:txBody>
                      <a:tcPr anchor="ctr"/>
                    </a:tc>
                    <a:tc>
                      <a:txBody>
                        <a:bodyPr/>
                        <a:lstStyle/>
                        <a:p>
                          <a:endParaRPr lang="en-US"/>
                        </a:p>
                      </a:txBody>
                      <a:tcPr anchor="ctr">
                        <a:blipFill>
                          <a:blip r:embed="rId2"/>
                          <a:stretch>
                            <a:fillRect l="-159425" t="-100840" r="-269968" b="-408403"/>
                          </a:stretch>
                        </a:blipFill>
                      </a:tcPr>
                    </a:tc>
                    <a:tc>
                      <a:txBody>
                        <a:bodyPr/>
                        <a:lstStyle/>
                        <a:p>
                          <a:endParaRPr lang="en-US"/>
                        </a:p>
                      </a:txBody>
                      <a:tcPr anchor="ctr">
                        <a:blipFill>
                          <a:blip r:embed="rId2"/>
                          <a:stretch>
                            <a:fillRect l="-257778" t="-100840" r="-168254" b="-408403"/>
                          </a:stretch>
                        </a:blipFill>
                      </a:tcPr>
                    </a:tc>
                    <a:tc>
                      <a:txBody>
                        <a:bodyPr/>
                        <a:lstStyle/>
                        <a:p>
                          <a:endParaRPr lang="en-US"/>
                        </a:p>
                      </a:txBody>
                      <a:tcPr anchor="ctr">
                        <a:blipFill>
                          <a:blip r:embed="rId2"/>
                          <a:stretch>
                            <a:fillRect l="-214667" t="-100840" r="-952" b="-408403"/>
                          </a:stretch>
                        </a:blipFill>
                      </a:tcPr>
                    </a:tc>
                    <a:extLst>
                      <a:ext uri="{0D108BD9-81ED-4DB2-BD59-A6C34878D82A}">
                        <a16:rowId xmlns:a16="http://schemas.microsoft.com/office/drawing/2014/main" val="1649618532"/>
                      </a:ext>
                    </a:extLst>
                  </a:tr>
                  <a:tr h="723900">
                    <a:tc>
                      <a:txBody>
                        <a:bodyPr/>
                        <a:lstStyle/>
                        <a:p>
                          <a:pPr algn="l"/>
                          <a:r>
                            <a:rPr lang="vi-VN" sz="2800" dirty="0" err="1"/>
                            <a:t>Partner</a:t>
                          </a:r>
                          <a:endParaRPr lang="vi-VN" sz="2800" dirty="0"/>
                        </a:p>
                      </a:txBody>
                      <a:tcPr anchor="ctr"/>
                    </a:tc>
                    <a:tc>
                      <a:txBody>
                        <a:bodyPr/>
                        <a:lstStyle/>
                        <a:p>
                          <a:endParaRPr lang="en-US"/>
                        </a:p>
                      </a:txBody>
                      <a:tcPr anchor="ctr">
                        <a:blipFill>
                          <a:blip r:embed="rId2"/>
                          <a:stretch>
                            <a:fillRect l="-159425" t="-200840" r="-269968" b="-308403"/>
                          </a:stretch>
                        </a:blipFill>
                      </a:tcPr>
                    </a:tc>
                    <a:tc>
                      <a:txBody>
                        <a:bodyPr/>
                        <a:lstStyle/>
                        <a:p>
                          <a:endParaRPr lang="en-US"/>
                        </a:p>
                      </a:txBody>
                      <a:tcPr anchor="ctr">
                        <a:blipFill>
                          <a:blip r:embed="rId2"/>
                          <a:stretch>
                            <a:fillRect l="-257778" t="-200840" r="-168254" b="-308403"/>
                          </a:stretch>
                        </a:blipFill>
                      </a:tcPr>
                    </a:tc>
                    <a:tc>
                      <a:txBody>
                        <a:bodyPr/>
                        <a:lstStyle/>
                        <a:p>
                          <a:endParaRPr lang="en-US"/>
                        </a:p>
                      </a:txBody>
                      <a:tcPr anchor="ctr">
                        <a:blipFill>
                          <a:blip r:embed="rId2"/>
                          <a:stretch>
                            <a:fillRect l="-214667" t="-200840" r="-952" b="-308403"/>
                          </a:stretch>
                        </a:blipFill>
                      </a:tcPr>
                    </a:tc>
                    <a:extLst>
                      <a:ext uri="{0D108BD9-81ED-4DB2-BD59-A6C34878D82A}">
                        <a16:rowId xmlns:a16="http://schemas.microsoft.com/office/drawing/2014/main" val="547627527"/>
                      </a:ext>
                    </a:extLst>
                  </a:tr>
                  <a:tr h="723900">
                    <a:tc>
                      <a:txBody>
                        <a:bodyPr/>
                        <a:lstStyle/>
                        <a:p>
                          <a:pPr algn="l"/>
                          <a:r>
                            <a:rPr lang="vi-VN" sz="2800" dirty="0" err="1"/>
                            <a:t>Senior</a:t>
                          </a:r>
                          <a:r>
                            <a:rPr lang="vi-VN" sz="2800" dirty="0"/>
                            <a:t> </a:t>
                          </a:r>
                          <a:r>
                            <a:rPr lang="vi-VN" sz="2800" dirty="0" err="1"/>
                            <a:t>Partner</a:t>
                          </a:r>
                          <a:endParaRPr lang="vi-VN" sz="2800" dirty="0"/>
                        </a:p>
                      </a:txBody>
                      <a:tcPr anchor="ctr"/>
                    </a:tc>
                    <a:tc>
                      <a:txBody>
                        <a:bodyPr/>
                        <a:lstStyle/>
                        <a:p>
                          <a:endParaRPr lang="en-US"/>
                        </a:p>
                      </a:txBody>
                      <a:tcPr anchor="ctr">
                        <a:blipFill>
                          <a:blip r:embed="rId2"/>
                          <a:stretch>
                            <a:fillRect l="-159425" t="-303390" r="-269968" b="-211017"/>
                          </a:stretch>
                        </a:blipFill>
                      </a:tcPr>
                    </a:tc>
                    <a:tc>
                      <a:txBody>
                        <a:bodyPr/>
                        <a:lstStyle/>
                        <a:p>
                          <a:endParaRPr lang="en-US"/>
                        </a:p>
                      </a:txBody>
                      <a:tcPr anchor="ctr">
                        <a:blipFill>
                          <a:blip r:embed="rId2"/>
                          <a:stretch>
                            <a:fillRect l="-257778" t="-303390" r="-168254" b="-211017"/>
                          </a:stretch>
                        </a:blipFill>
                      </a:tcPr>
                    </a:tc>
                    <a:tc>
                      <a:txBody>
                        <a:bodyPr/>
                        <a:lstStyle/>
                        <a:p>
                          <a:endParaRPr lang="en-US"/>
                        </a:p>
                      </a:txBody>
                      <a:tcPr anchor="ctr">
                        <a:blipFill>
                          <a:blip r:embed="rId2"/>
                          <a:stretch>
                            <a:fillRect l="-214667" t="-303390" r="-952" b="-211017"/>
                          </a:stretch>
                        </a:blipFill>
                      </a:tcPr>
                    </a:tc>
                    <a:extLst>
                      <a:ext uri="{0D108BD9-81ED-4DB2-BD59-A6C34878D82A}">
                        <a16:rowId xmlns:a16="http://schemas.microsoft.com/office/drawing/2014/main" val="4172467125"/>
                      </a:ext>
                    </a:extLst>
                  </a:tr>
                  <a:tr h="723900">
                    <a:tc>
                      <a:txBody>
                        <a:bodyPr/>
                        <a:lstStyle/>
                        <a:p>
                          <a:pPr algn="l"/>
                          <a:r>
                            <a:rPr lang="vi-VN" sz="2800" dirty="0"/>
                            <a:t>C-</a:t>
                          </a:r>
                          <a:r>
                            <a:rPr lang="vi-VN" sz="2800" dirty="0" err="1"/>
                            <a:t>level</a:t>
                          </a:r>
                          <a:endParaRPr lang="vi-VN" sz="2800" dirty="0"/>
                        </a:p>
                      </a:txBody>
                      <a:tcPr anchor="ctr"/>
                    </a:tc>
                    <a:tc>
                      <a:txBody>
                        <a:bodyPr/>
                        <a:lstStyle/>
                        <a:p>
                          <a:endParaRPr lang="en-US"/>
                        </a:p>
                      </a:txBody>
                      <a:tcPr anchor="ctr">
                        <a:blipFill>
                          <a:blip r:embed="rId2"/>
                          <a:stretch>
                            <a:fillRect l="-159425" t="-400000" r="-269968" b="-109244"/>
                          </a:stretch>
                        </a:blipFill>
                      </a:tcPr>
                    </a:tc>
                    <a:tc>
                      <a:txBody>
                        <a:bodyPr/>
                        <a:lstStyle/>
                        <a:p>
                          <a:endParaRPr lang="en-US"/>
                        </a:p>
                      </a:txBody>
                      <a:tcPr anchor="ctr">
                        <a:blipFill>
                          <a:blip r:embed="rId2"/>
                          <a:stretch>
                            <a:fillRect l="-257778" t="-400000" r="-168254" b="-109244"/>
                          </a:stretch>
                        </a:blipFill>
                      </a:tcPr>
                    </a:tc>
                    <a:tc>
                      <a:txBody>
                        <a:bodyPr/>
                        <a:lstStyle/>
                        <a:p>
                          <a:endParaRPr lang="en-US"/>
                        </a:p>
                      </a:txBody>
                      <a:tcPr anchor="ctr">
                        <a:blipFill>
                          <a:blip r:embed="rId2"/>
                          <a:stretch>
                            <a:fillRect l="-214667" t="-400000" r="-952" b="-109244"/>
                          </a:stretch>
                        </a:blipFill>
                      </a:tcPr>
                    </a:tc>
                    <a:extLst>
                      <a:ext uri="{0D108BD9-81ED-4DB2-BD59-A6C34878D82A}">
                        <a16:rowId xmlns:a16="http://schemas.microsoft.com/office/drawing/2014/main" val="1572396851"/>
                      </a:ext>
                    </a:extLst>
                  </a:tr>
                  <a:tr h="723900">
                    <a:tc>
                      <a:txBody>
                        <a:bodyPr/>
                        <a:lstStyle/>
                        <a:p>
                          <a:pPr algn="l"/>
                          <a:r>
                            <a:rPr lang="vi-VN" sz="2800" dirty="0"/>
                            <a:t>CEO</a:t>
                          </a:r>
                        </a:p>
                      </a:txBody>
                      <a:tcPr anchor="ctr"/>
                    </a:tc>
                    <a:tc>
                      <a:txBody>
                        <a:bodyPr/>
                        <a:lstStyle/>
                        <a:p>
                          <a:endParaRPr lang="en-US"/>
                        </a:p>
                      </a:txBody>
                      <a:tcPr anchor="ctr">
                        <a:blipFill>
                          <a:blip r:embed="rId2"/>
                          <a:stretch>
                            <a:fillRect l="-159425" t="-500000" r="-269968" b="-9244"/>
                          </a:stretch>
                        </a:blipFill>
                      </a:tcPr>
                    </a:tc>
                    <a:tc>
                      <a:txBody>
                        <a:bodyPr/>
                        <a:lstStyle/>
                        <a:p>
                          <a:endParaRPr lang="en-US"/>
                        </a:p>
                      </a:txBody>
                      <a:tcPr anchor="ctr">
                        <a:blipFill>
                          <a:blip r:embed="rId2"/>
                          <a:stretch>
                            <a:fillRect l="-257778" t="-500000" r="-168254" b="-9244"/>
                          </a:stretch>
                        </a:blipFill>
                      </a:tcPr>
                    </a:tc>
                    <a:tc>
                      <a:txBody>
                        <a:bodyPr/>
                        <a:lstStyle/>
                        <a:p>
                          <a:endParaRPr lang="en-US"/>
                        </a:p>
                      </a:txBody>
                      <a:tcPr anchor="ctr">
                        <a:blipFill>
                          <a:blip r:embed="rId2"/>
                          <a:stretch>
                            <a:fillRect l="-214667" t="-500000" r="-952" b="-9244"/>
                          </a:stretch>
                        </a:blipFill>
                      </a:tcPr>
                    </a:tc>
                    <a:extLst>
                      <a:ext uri="{0D108BD9-81ED-4DB2-BD59-A6C34878D82A}">
                        <a16:rowId xmlns:a16="http://schemas.microsoft.com/office/drawing/2014/main" val="2963561270"/>
                      </a:ext>
                    </a:extLst>
                  </a:tr>
                </a:tbl>
              </a:graphicData>
            </a:graphic>
          </p:graphicFrame>
        </mc:Fallback>
      </mc:AlternateContent>
    </p:spTree>
    <p:extLst>
      <p:ext uri="{BB962C8B-B14F-4D97-AF65-F5344CB8AC3E}">
        <p14:creationId xmlns:p14="http://schemas.microsoft.com/office/powerpoint/2010/main" val="194655708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A1E3B-52AC-4848-9A3B-814D413CE467}"/>
              </a:ext>
            </a:extLst>
          </p:cNvPr>
          <p:cNvSpPr>
            <a:spLocks noGrp="1"/>
          </p:cNvSpPr>
          <p:nvPr>
            <p:ph type="ctrTitle"/>
          </p:nvPr>
        </p:nvSpPr>
        <p:spPr/>
        <p:txBody>
          <a:bodyPr/>
          <a:lstStyle/>
          <a:p>
            <a:r>
              <a:rPr lang="en-US" sz="4000"/>
              <a:t>Chúc các bạn học tốt</a:t>
            </a:r>
            <a:br>
              <a:rPr lang="en-US" sz="4000">
                <a:solidFill>
                  <a:srgbClr val="0066FF"/>
                </a:solidFill>
              </a:rPr>
            </a:br>
            <a:r>
              <a:rPr lang="en-US" sz="3200">
                <a:solidFill>
                  <a:srgbClr val="0066FF"/>
                </a:solidFill>
              </a:rPr>
              <a:t>TRƯỜNG ĐẠI HỌC CÔNG NGHỆ THÔNG TIN TP.HCM</a:t>
            </a:r>
            <a:br>
              <a:rPr lang="en-US" sz="3200">
                <a:solidFill>
                  <a:srgbClr val="0066FF"/>
                </a:solidFill>
              </a:rPr>
            </a:br>
            <a:br>
              <a:rPr lang="en-US" sz="3200">
                <a:solidFill>
                  <a:srgbClr val="0066FF"/>
                </a:solidFill>
              </a:rPr>
            </a:br>
            <a:r>
              <a:rPr lang="en-US" sz="4000"/>
              <a:t>Nhóm UIT-Together</a:t>
            </a:r>
            <a:br>
              <a:rPr lang="en-US" sz="4000">
                <a:solidFill>
                  <a:srgbClr val="0066FF"/>
                </a:solidFill>
              </a:rPr>
            </a:br>
            <a:r>
              <a:rPr lang="en-US" sz="4000">
                <a:solidFill>
                  <a:srgbClr val="0066FF"/>
                </a:solidFill>
              </a:rPr>
              <a:t>Nguyễn Tấn Trần Minh Khang</a:t>
            </a:r>
          </a:p>
        </p:txBody>
      </p:sp>
    </p:spTree>
    <p:extLst>
      <p:ext uri="{BB962C8B-B14F-4D97-AF65-F5344CB8AC3E}">
        <p14:creationId xmlns:p14="http://schemas.microsoft.com/office/powerpoint/2010/main" val="2651894520"/>
      </p:ext>
    </p:extLst>
  </p:cSld>
  <p:clrMapOvr>
    <a:masterClrMapping/>
  </p:clrMapOvr>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14771</TotalTime>
  <Words>1980</Words>
  <Application>Microsoft Office PowerPoint</Application>
  <PresentationFormat>Widescreen</PresentationFormat>
  <Paragraphs>280</Paragraphs>
  <Slides>35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Cambria Math</vt:lpstr>
      <vt:lpstr>Consolas</vt:lpstr>
      <vt:lpstr>Courier New</vt:lpstr>
      <vt:lpstr>Default Design</vt:lpstr>
      <vt:lpstr>POLYNOMIAL REGRESSION</vt:lpstr>
      <vt:lpstr>HỒI QUY ĐA THỨC</vt:lpstr>
      <vt:lpstr>Polynomial Linear Regression</vt:lpstr>
      <vt:lpstr>Polynomial Linear Regression</vt:lpstr>
      <vt:lpstr>Polynomial Linear Regression</vt:lpstr>
      <vt:lpstr>DATASET</vt:lpstr>
      <vt:lpstr>Dataset</vt:lpstr>
      <vt:lpstr>Dataset</vt:lpstr>
      <vt:lpstr>Dataset</vt:lpstr>
      <vt:lpstr>Trực quan hóa dữ liệu</vt:lpstr>
      <vt:lpstr>Trực quan hóa dữ liệu</vt:lpstr>
      <vt:lpstr>Trực quan hóa dữ liệu</vt:lpstr>
      <vt:lpstr>Trực quan hóa dữ liệu</vt:lpstr>
      <vt:lpstr>Trực quan hóa dữ liệu</vt:lpstr>
      <vt:lpstr>Polynomial Linear Regression</vt:lpstr>
      <vt:lpstr>Polynomial Linear Regression</vt:lpstr>
      <vt:lpstr>Polynomial Linear Regression</vt:lpstr>
      <vt:lpstr>Tiền xử lý dữ liệu</vt:lpstr>
      <vt:lpstr>Tiền xử lý dữ liệu</vt:lpstr>
      <vt:lpstr>Huấn luyện mô hình</vt:lpstr>
      <vt:lpstr>Huấn luyện mô hình</vt:lpstr>
      <vt:lpstr>Huấn luyện mô hình</vt:lpstr>
      <vt:lpstr>Trực quan hóa kết quả</vt:lpstr>
      <vt:lpstr>Trực quan hóa kết quả</vt:lpstr>
      <vt:lpstr>Trực quan hóa kết quả</vt:lpstr>
      <vt:lpstr>Trực quan hóa kết quả</vt:lpstr>
      <vt:lpstr>Trực quan hóa kết quả</vt:lpstr>
      <vt:lpstr>Trực quan hóa kết quả</vt:lpstr>
      <vt:lpstr>Trực quan hóa kết quả</vt:lpstr>
      <vt:lpstr>Trực quan hóa kết quả</vt:lpstr>
      <vt:lpstr>Trực quan hóa kết quả</vt:lpstr>
      <vt:lpstr>Trực quan hóa kết quả</vt:lpstr>
      <vt:lpstr>Trực quan hóa kết quả</vt:lpstr>
      <vt:lpstr>Trực quan hóa kết quả</vt:lpstr>
      <vt:lpstr>Chúc các bạn học tốt TRƯỜNG ĐẠI HỌC CÔNG NGHỆ THÔNG TIN TP.HCM  Nhóm UIT-Together Nguyễn Tấn Trần Minh Khang</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 cc</dc:title>
  <dc:creator>Hong</dc:creator>
  <cp:lastModifiedBy>Vũ Ngọc Tú</cp:lastModifiedBy>
  <cp:revision>1326</cp:revision>
  <cp:lastPrinted>2013-08-30T01:32:34Z</cp:lastPrinted>
  <dcterms:created xsi:type="dcterms:W3CDTF">2008-06-14T04:13:27Z</dcterms:created>
  <dcterms:modified xsi:type="dcterms:W3CDTF">2022-07-21T03:46:26Z</dcterms:modified>
</cp:coreProperties>
</file>