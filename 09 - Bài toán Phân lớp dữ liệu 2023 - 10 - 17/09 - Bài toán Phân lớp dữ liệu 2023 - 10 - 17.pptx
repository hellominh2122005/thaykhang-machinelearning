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1585" r:id="rId2"/>
    <p:sldId id="1594" r:id="rId3"/>
    <p:sldId id="1595" r:id="rId4"/>
    <p:sldId id="1596" r:id="rId5"/>
    <p:sldId id="1581" r:id="rId6"/>
    <p:sldId id="1602" r:id="rId7"/>
    <p:sldId id="1598" r:id="rId8"/>
    <p:sldId id="1600" r:id="rId9"/>
    <p:sldId id="1601" r:id="rId10"/>
    <p:sldId id="1604" r:id="rId11"/>
    <p:sldId id="1603" r:id="rId12"/>
    <p:sldId id="1605" r:id="rId13"/>
    <p:sldId id="1606" r:id="rId14"/>
    <p:sldId id="1584" r:id="rId15"/>
    <p:sldId id="1583" r:id="rId16"/>
    <p:sldId id="1590" r:id="rId17"/>
    <p:sldId id="1586" r:id="rId18"/>
    <p:sldId id="1587" r:id="rId19"/>
    <p:sldId id="1588" r:id="rId20"/>
    <p:sldId id="1591" r:id="rId21"/>
    <p:sldId id="1592" r:id="rId22"/>
    <p:sldId id="1593" r:id="rId23"/>
    <p:sldId id="1597" r:id="rId24"/>
    <p:sldId id="1582" r:id="rId25"/>
    <p:sldId id="1573" r:id="rId26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9933"/>
    <a:srgbClr val="FF0000"/>
    <a:srgbClr val="FF3399"/>
    <a:srgbClr val="008000"/>
    <a:srgbClr val="000099"/>
    <a:srgbClr val="FF6600"/>
    <a:srgbClr val="66FF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7366" autoAdjust="0"/>
  </p:normalViewPr>
  <p:slideViewPr>
    <p:cSldViewPr>
      <p:cViewPr varScale="1">
        <p:scale>
          <a:sx n="68" d="100"/>
          <a:sy n="68" d="100"/>
        </p:scale>
        <p:origin x="118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handoutMaster" Target="handoutMasters/handout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9E2CB30-4184-4C1B-912F-A6AED0718E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866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5859DDC-9015-4B39-98F8-9F9A698DF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8628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859DDC-9015-4B39-98F8-9F9A698DFEA6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13163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TIÊU ĐỀ SLIDE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6454966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_Tit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27E77-6012-42D7-99B0-1D322EEAFE5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86803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597A347-30EE-4B72-93DA-C4CBE7049A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0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CF626F4-8319-BB9A-3962-FB52D8DEB45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92656" y="3886200"/>
            <a:ext cx="3999344" cy="1752600"/>
          </a:xfrm>
        </p:spPr>
        <p:txBody>
          <a:bodyPr/>
          <a:lstStyle>
            <a:lvl1pPr>
              <a:spcBef>
                <a:spcPts val="30"/>
              </a:spcBef>
              <a:defRPr sz="14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9838081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5615748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1470025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3886200"/>
            <a:ext cx="11582400" cy="1752600"/>
          </a:xfrm>
        </p:spPr>
        <p:txBody>
          <a:bodyPr/>
          <a:lstStyle>
            <a:lvl1pPr marL="514350" indent="-514350" algn="l">
              <a:buFont typeface="+mj-lt"/>
              <a:buAutoNum type="arabicPeriod"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747701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01_Title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2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127187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130426"/>
            <a:ext cx="11582400" cy="3508374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4447936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CHUẨN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947125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2_Standard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6553698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601710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631001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02_Standard 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499821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E9201-BB7C-7361-D15B-554D97FD494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9643877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0"/>
            <a:ext cx="109728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57848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Standard 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CF2D223-6151-F61A-0F95-44A484E45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096000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1532198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02_Standard Slide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260759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_Pro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PROGRAM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90381629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3_Program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>
              <a:defRPr sz="28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8752364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rogram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760244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rogram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80999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800">
                <a:solidFill>
                  <a:schemeClr val="tx1"/>
                </a:solidFill>
                <a:latin typeface="Consolas" panose="020B0609020204030204" pitchFamily="49" charset="0"/>
                <a:cs typeface="Courier New" panose="02070309020205020404" pitchFamily="49" charset="0"/>
              </a:defRPr>
            </a:lvl1pPr>
            <a:lvl2pPr marL="971550" indent="-514350">
              <a:buFont typeface="+mj-lt"/>
              <a:buAutoNum type="arabicPeriod"/>
              <a:defRPr sz="2800">
                <a:latin typeface="Courier New" panose="02070309020205020404" pitchFamily="49" charset="0"/>
                <a:cs typeface="Courier New" panose="02070309020205020404" pitchFamily="49" charset="0"/>
              </a:defRPr>
            </a:lvl2pPr>
            <a:lvl3pPr marL="1371600" indent="-457200">
              <a:buFont typeface="+mj-lt"/>
              <a:buAutoNum type="arabicPeriod"/>
              <a:defRPr sz="2400">
                <a:latin typeface="Courier New" panose="02070309020205020404" pitchFamily="49" charset="0"/>
                <a:cs typeface="Courier New" panose="02070309020205020404" pitchFamily="49" charset="0"/>
              </a:defRPr>
            </a:lvl3pPr>
            <a:lvl4pPr marL="1828800" indent="-457200">
              <a:buFont typeface="+mj-lt"/>
              <a:buAutoNum type="arabicPeriod"/>
              <a:defRPr sz="2000">
                <a:latin typeface="Courier New" panose="02070309020205020404" pitchFamily="49" charset="0"/>
                <a:cs typeface="Courier New" panose="02070309020205020404" pitchFamily="49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BF5967-6241-0E40-D844-CD2FB96F118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129890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_Slide Up D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PHẦN TRÊN DƯỚI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54379166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33527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953001"/>
            <a:ext cx="10972800" cy="11724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570494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251459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4114801"/>
            <a:ext cx="10972800" cy="2010695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toa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190481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 Slide Up Dow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1371597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0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09600" y="2971801"/>
            <a:ext cx="10972800" cy="3153696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+"/>
              <a:tabLst/>
              <a:defRPr/>
            </a:pPr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5415433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5_Slid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HAI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1238762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0254237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93367181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5C2EBD-EF57-4343-AF38-1F0DEC4C0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8AC06C03-737D-475A-93EF-E21A1FC9A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8716980-92B1-EFAB-E559-9C67E7C615B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75568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65532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0"/>
            <a:ext cx="4419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24642175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4286864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42868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B267FE-1A4A-FC5A-B1BF-212E21F3C20F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991295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6553200" cy="3810000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162800" y="1600201"/>
            <a:ext cx="4419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C8D0DD-B54D-81D5-B7D4-10338B1E328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304489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5259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2547086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4286863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4286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1A5BA2-D508-AFA2-E487-FE996D715498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0895333"/>
      </p:ext>
    </p:extLst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610600" cy="3809999"/>
          </a:xfrm>
        </p:spPr>
        <p:txBody>
          <a:bodyPr/>
          <a:lstStyle>
            <a:lvl1pPr algn="just"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215DFE-C786-4C03-A1F8-74645480087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220200" y="1600200"/>
            <a:ext cx="2362200" cy="38099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108584-BFF3-2406-377A-3236D4DB99A3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097280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5069774"/>
      </p:ext>
    </p:extLst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94170472"/>
      </p:ext>
    </p:extLst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640B4C-4BB4-59DC-6FB5-BE2BEAB17DC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15824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9277816"/>
      </p:ext>
    </p:extLst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01540FF-506E-C951-CCC4-F2846A5D1D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410200"/>
            <a:ext cx="116128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4517489"/>
      </p:ext>
    </p:extLst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05_Slide Two Colum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9894408"/>
      </p:ext>
    </p:extLst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42868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39BE0C1-77A6-4A1D-2879-D18D2A156490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4376779"/>
      </p:ext>
    </p:extLst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994400" cy="3809999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7836774-98E2-8399-1A89-B989AAE076F4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410200"/>
            <a:ext cx="12222480" cy="734960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8600537"/>
      </p:ext>
    </p:extLst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58627"/>
      </p:ext>
    </p:extLst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05_Slide Two Colum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998632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4388919"/>
      </p:ext>
    </p:extLst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09728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6338631"/>
      </p:ext>
    </p:extLst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11582400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1696371"/>
      </p:ext>
    </p:extLst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Slide Two Colum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2114" y="1535113"/>
            <a:ext cx="12194114" cy="639762"/>
          </a:xfrm>
        </p:spPr>
        <p:txBody>
          <a:bodyPr anchor="b"/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-2114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998632" cy="3951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55509956"/>
      </p:ext>
    </p:extLst>
  </p:cSld>
  <p:clrMapOvr>
    <a:masterClrMapping/>
  </p:clrMapOvr>
  <p:transition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05_Slide Two Colum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2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16488560"/>
      </p:ext>
    </p:extLst>
  </p:cSld>
  <p:clrMapOvr>
    <a:masterClrMapping/>
  </p:clrMapOvr>
  <p:transition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6_Slide Three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BA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76098984"/>
      </p:ext>
    </p:extLst>
  </p:cSld>
  <p:clrMapOvr>
    <a:masterClrMapping/>
  </p:clrMapOvr>
  <p:transition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3865494"/>
      </p:ext>
    </p:extLst>
  </p:cSld>
  <p:clrMapOvr>
    <a:masterClrMapping/>
  </p:clrMapOvr>
  <p:transition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00202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FCB7F62-31CE-479A-B75D-E680BBC2787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2296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AFCEF9-0FFB-4670-A771-DA310A1C55B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114800" y="1600200"/>
            <a:ext cx="3962400" cy="4286862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70198783"/>
      </p:ext>
    </p:extLst>
  </p:cSld>
  <p:clrMapOvr>
    <a:masterClrMapping/>
  </p:clrMapOvr>
  <p:transition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7_Slide Four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CỘT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4009430"/>
      </p:ext>
    </p:extLst>
  </p:cSld>
  <p:clrMapOvr>
    <a:masterClrMapping/>
  </p:clrMapOvr>
  <p:transition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6163-080C-4D92-9FF5-83B9A124C31B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0988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0879BDB-29CC-404E-9DCA-E89C7B9070D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103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494B703-5983-4A4F-B197-D2C64EAA9F6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347200" y="1600200"/>
            <a:ext cx="2844800" cy="4525963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06970055"/>
      </p:ext>
    </p:extLst>
  </p:cSld>
  <p:clrMapOvr>
    <a:masterClrMapping/>
  </p:clrMapOvr>
  <p:transition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8_Slide Four 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BỐN PHẦN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2302994"/>
      </p:ext>
    </p:extLst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1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4EA549A-C581-4C37-B257-ACE55CAD4DF6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0" y="3886200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0016720-4FC2-4205-9886-7838EB04433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97600" y="1608826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E828636-495F-44E0-8340-BCE2B3F4716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97600" y="3894825"/>
            <a:ext cx="5994400" cy="2285999"/>
          </a:xfrm>
        </p:spPr>
        <p:txBody>
          <a:bodyPr/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01676564"/>
      </p:ext>
    </p:extLst>
  </p:cSld>
  <p:clrMapOvr>
    <a:masterClrMapping/>
  </p:clrMapOvr>
  <p:transition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763000" y="16002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4A1A4A6-69C0-4EC3-B5CC-CC08837714D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09600" y="26808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3E39D719-3B3B-4F96-BE3F-4E767D23D3D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763000" y="26808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D7791AFD-E53B-48D7-8A3C-24F9B931493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9600" y="3733801"/>
            <a:ext cx="80772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7784060D-E07A-4765-948A-FC9071F8DDC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763000" y="3733801"/>
            <a:ext cx="2819400" cy="9905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67EFF06-2483-4600-B6B9-3D1CE50220D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" y="4814455"/>
            <a:ext cx="80772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22FA758-800C-4200-9C64-1F16B8C51CA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763000" y="4814455"/>
            <a:ext cx="2819400" cy="9005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9676352"/>
      </p:ext>
    </p:extLst>
  </p:cSld>
  <p:clrMapOvr>
    <a:masterClrMapping/>
  </p:clrMapOvr>
  <p:transition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9_Flow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6172200"/>
          </a:xfrm>
          <a:solidFill>
            <a:srgbClr val="00B0F0"/>
          </a:solidFill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SLIDE LƯU ĐỒ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82140233"/>
      </p:ext>
    </p:extLst>
  </p:cSld>
  <p:clrMapOvr>
    <a:masterClrMapping/>
  </p:clrMapOvr>
  <p:transition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066801"/>
            <a:ext cx="59944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97600" y="0"/>
            <a:ext cx="5994400" cy="914401"/>
          </a:xfrm>
          <a:solidFill>
            <a:srgbClr val="00B0F0"/>
          </a:solidFill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1959533"/>
      </p:ext>
    </p:extLst>
  </p:cSld>
  <p:clrMapOvr>
    <a:masterClrMapping/>
  </p:clrMapOvr>
  <p:transition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4854" y="1066801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B49A9FAE-4758-4C46-8541-F381798C5CD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6114854" y="0"/>
            <a:ext cx="6077146" cy="914401"/>
          </a:xfrm>
          <a:solidFill>
            <a:srgbClr val="00B0F0"/>
          </a:solidFill>
        </p:spPr>
        <p:txBody>
          <a:bodyPr/>
          <a:lstStyle>
            <a:lvl1pPr marL="0" indent="0">
              <a:buNone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endParaRPr lang="vi-V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1B544BE-4259-4202-9EEF-29A5F771B6E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57118" y="1066800"/>
            <a:ext cx="3022600" cy="5059363"/>
          </a:xfrm>
        </p:spPr>
        <p:txBody>
          <a:bodyPr/>
          <a:lstStyle>
            <a:lvl1pPr>
              <a:defRPr sz="2800"/>
            </a:lvl1pPr>
            <a:lvl2pPr>
              <a:defRPr sz="2800">
                <a:solidFill>
                  <a:srgbClr val="FF0000"/>
                </a:solidFill>
              </a:defRPr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8711408"/>
      </p:ext>
    </p:extLst>
  </p:cSld>
  <p:clrMapOvr>
    <a:masterClrMapping/>
  </p:clrMapOvr>
  <p:transition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994400" cy="5211764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01840984"/>
      </p:ext>
    </p:extLst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173" y="0"/>
            <a:ext cx="5994400" cy="6096000"/>
          </a:xfrm>
          <a:solidFill>
            <a:schemeClr val="bg1"/>
          </a:solidFill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34309164"/>
      </p:ext>
    </p:extLst>
  </p:cSld>
  <p:clrMapOvr>
    <a:masterClrMapping/>
  </p:clrMapOvr>
  <p:transition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4286862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4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DB780-8063-410B-88BC-AD4AA3925B34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5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609600" y="5887064"/>
            <a:ext cx="109728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6375279"/>
      </p:ext>
    </p:extLst>
  </p:cSld>
  <p:clrMapOvr>
    <a:masterClrMapping/>
  </p:clrMapOvr>
  <p:transition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4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1DB780-8063-410B-88BC-AD4AA3925B34}" type="datetime1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5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Trang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160E72-CB3B-4B35-B991-A52F0E9D9B5B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0" y="5887064"/>
            <a:ext cx="12192000" cy="258096"/>
          </a:xfrm>
        </p:spPr>
        <p:txBody>
          <a:bodyPr/>
          <a:lstStyle>
            <a:lvl1pPr>
              <a:defRPr sz="16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D883E1B-DCB8-4AE3-8602-77DB6847C8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700266"/>
            <a:ext cx="5994400" cy="4086734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75BCF21E-A865-464F-8655-72D304F74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700266"/>
            <a:ext cx="5994400" cy="4086734"/>
          </a:xfrm>
        </p:spPr>
        <p:txBody>
          <a:bodyPr/>
          <a:lstStyle>
            <a:lvl1pPr>
              <a:defRPr sz="2800">
                <a:solidFill>
                  <a:srgbClr val="0066FF"/>
                </a:solidFill>
              </a:defRPr>
            </a:lvl1pPr>
            <a:lvl2pPr>
              <a:defRPr sz="2800">
                <a:solidFill>
                  <a:srgbClr val="0066FF"/>
                </a:solidFill>
              </a:defRPr>
            </a:lvl2pPr>
            <a:lvl3pPr>
              <a:defRPr sz="2800">
                <a:solidFill>
                  <a:srgbClr val="0066FF"/>
                </a:solidFill>
              </a:defRPr>
            </a:lvl3pPr>
            <a:lvl4pPr>
              <a:defRPr sz="2800">
                <a:solidFill>
                  <a:srgbClr val="0066FF"/>
                </a:solidFill>
              </a:defRPr>
            </a:lvl4pPr>
            <a:lvl5pPr>
              <a:defRPr sz="2800">
                <a:solidFill>
                  <a:srgbClr val="0066FF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9850631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theme" Target="../theme/theme1.xml"/><Relationship Id="rId62" Type="http://schemas.openxmlformats.org/officeDocument/2006/relationships/image" Target="../media/image1.png"/><Relationship Id="rId63" Type="http://schemas.openxmlformats.org/officeDocument/2006/relationships/image" Target="../media/image2.png"/><Relationship Id="rId6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11379200" y="6324600"/>
            <a:ext cx="81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A916C17-A3B0-4CE4-88CA-9129F443D2C0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7" name="Picture 6" descr="A picture containing text&#10;&#10;Description automatically generated">
            <a:extLst>
              <a:ext uri="{FF2B5EF4-FFF2-40B4-BE49-F238E27FC236}">
                <a16:creationId xmlns:a16="http://schemas.microsoft.com/office/drawing/2014/main" id="{B82A81E1-3619-4A2C-AB88-C7D0762594CD}"/>
              </a:ext>
            </a:extLst>
          </p:cNvPr>
          <p:cNvPicPr>
            <a:picLocks noChangeAspect="1"/>
          </p:cNvPicPr>
          <p:nvPr userDrawn="1"/>
        </p:nvPicPr>
        <p:blipFill>
          <a:blip r:embed="rId6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103160"/>
            <a:ext cx="1375575" cy="567426"/>
          </a:xfrm>
          <a:prstGeom prst="rect">
            <a:avLst/>
          </a:prstGeom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B594A5E-2439-4755-BAA8-30F12FADD3C7}"/>
              </a:ext>
            </a:extLst>
          </p:cNvPr>
          <p:cNvPicPr>
            <a:picLocks noChangeAspect="1"/>
          </p:cNvPicPr>
          <p:nvPr userDrawn="1"/>
        </p:nvPicPr>
        <p:blipFill>
          <a:blip r:embed="rId6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908" y="70999"/>
            <a:ext cx="843402" cy="8434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649" r:id="rId3"/>
    <p:sldLayoutId id="2147483720" r:id="rId4"/>
    <p:sldLayoutId id="2147483652" r:id="rId5"/>
    <p:sldLayoutId id="2147483750" r:id="rId6"/>
    <p:sldLayoutId id="2147483718" r:id="rId7"/>
    <p:sldLayoutId id="2147483650" r:id="rId8"/>
    <p:sldLayoutId id="2147483721" r:id="rId9"/>
    <p:sldLayoutId id="2147483723" r:id="rId10"/>
    <p:sldLayoutId id="2147483716" r:id="rId11"/>
    <p:sldLayoutId id="2147483722" r:id="rId12"/>
    <p:sldLayoutId id="2147483748" r:id="rId13"/>
    <p:sldLayoutId id="2147483749" r:id="rId14"/>
    <p:sldLayoutId id="2147483717" r:id="rId15"/>
    <p:sldLayoutId id="2147483719" r:id="rId16"/>
    <p:sldLayoutId id="2147483725" r:id="rId17"/>
    <p:sldLayoutId id="2147483726" r:id="rId18"/>
    <p:sldLayoutId id="2147483727" r:id="rId19"/>
    <p:sldLayoutId id="2147483724" r:id="rId20"/>
    <p:sldLayoutId id="2147483651" r:id="rId21"/>
    <p:sldLayoutId id="2147483712" r:id="rId22"/>
    <p:sldLayoutId id="2147483713" r:id="rId23"/>
    <p:sldLayoutId id="2147483728" r:id="rId24"/>
    <p:sldLayoutId id="2147483707" r:id="rId25"/>
    <p:sldLayoutId id="2147483709" r:id="rId26"/>
    <p:sldLayoutId id="2147483730" r:id="rId27"/>
    <p:sldLayoutId id="2147483700" r:id="rId28"/>
    <p:sldLayoutId id="2147483731" r:id="rId29"/>
    <p:sldLayoutId id="2147483732" r:id="rId30"/>
    <p:sldLayoutId id="2147483689" r:id="rId31"/>
    <p:sldLayoutId id="2147483733" r:id="rId32"/>
    <p:sldLayoutId id="2147483734" r:id="rId33"/>
    <p:sldLayoutId id="2147483679" r:id="rId34"/>
    <p:sldLayoutId id="2147483735" r:id="rId35"/>
    <p:sldLayoutId id="2147483736" r:id="rId36"/>
    <p:sldLayoutId id="2147483684" r:id="rId37"/>
    <p:sldLayoutId id="2147483737" r:id="rId38"/>
    <p:sldLayoutId id="2147483738" r:id="rId39"/>
    <p:sldLayoutId id="2147483741" r:id="rId40"/>
    <p:sldLayoutId id="2147483742" r:id="rId41"/>
    <p:sldLayoutId id="2147483743" r:id="rId42"/>
    <p:sldLayoutId id="2147483744" r:id="rId43"/>
    <p:sldLayoutId id="2147483745" r:id="rId44"/>
    <p:sldLayoutId id="2147483747" r:id="rId45"/>
    <p:sldLayoutId id="2147483729" r:id="rId46"/>
    <p:sldLayoutId id="2147483686" r:id="rId47"/>
    <p:sldLayoutId id="2147483711" r:id="rId48"/>
    <p:sldLayoutId id="2147483739" r:id="rId49"/>
    <p:sldLayoutId id="2147483688" r:id="rId50"/>
    <p:sldLayoutId id="2147483740" r:id="rId51"/>
    <p:sldLayoutId id="2147483694" r:id="rId52"/>
    <p:sldLayoutId id="2147483687" r:id="rId53"/>
    <p:sldLayoutId id="2147483746" r:id="rId54"/>
    <p:sldLayoutId id="2147483701" r:id="rId55"/>
    <p:sldLayoutId id="2147483702" r:id="rId56"/>
    <p:sldLayoutId id="2147483703" r:id="rId57"/>
    <p:sldLayoutId id="2147483704" r:id="rId58"/>
    <p:sldLayoutId id="2147483751" r:id="rId59"/>
    <p:sldLayoutId id="2147483752" r:id="rId60"/>
  </p:sldLayoutIdLst>
  <p:transition/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─"/>
        <a:defRPr sz="2800">
          <a:solidFill>
            <a:srgbClr val="0066FF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+"/>
        <a:defRPr sz="2800">
          <a:solidFill>
            <a:srgbClr val="0066FF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rgbClr val="0066FF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7.jpeg"/><Relationship Id="rId3" Type="http://schemas.openxmlformats.org/officeDocument/2006/relationships/image" Target="../media/image8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image" Target="../media/image1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3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4.jpeg"/><Relationship Id="rId3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19.jpeg"/><Relationship Id="rId3" Type="http://schemas.openxmlformats.org/officeDocument/2006/relationships/image" Target="../media/image2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1.png"/><Relationship Id="rId3" Type="http://schemas.openxmlformats.org/officeDocument/2006/relationships/image" Target="../media/image22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3.jpeg"/><Relationship Id="rId3" Type="http://schemas.openxmlformats.org/officeDocument/2006/relationships/image" Target="../media/image24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5.jpeg"/><Relationship Id="rId3" Type="http://schemas.openxmlformats.org/officeDocument/2006/relationships/image" Target="../media/image26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E3612-16D3-622A-7FFF-F636EC5E52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solidFill>
                  <a:srgbClr val="0066FF"/>
                </a:solidFill>
                <a:cs typeface="+mj-cs"/>
              </a:rPr>
              <a:t>CLASSIFICATION PROBLEM</a:t>
            </a:r>
            <a:br>
              <a:rPr lang="en-US"/>
            </a:br>
            <a:r>
              <a:rPr lang="en-US"/>
              <a:t>BÀI TOÁN PHÂN LỚP DỮ LIỆU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D9C513-AD71-9FA8-DCD3-EF6738328A0A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Quan Chí Khánh An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Lê Ngọc Huy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CN. Bùi Cao Doanh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CN. Nguyễn Trọng Thuận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KS. Phan Vĩnh Long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Nguyễn Cường Phát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Nguyễn Hoàng Ngân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>
                <a:solidFill>
                  <a:srgbClr val="FF0000"/>
                </a:solidFill>
              </a:rPr>
              <a:t>KS. Hồ Thái Ngọc</a:t>
            </a:r>
          </a:p>
          <a:p>
            <a:pPr defTabSz="-13871574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ThS. Đỗ Văn Tiến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475D-F6A4-3080-6B47-C6E6C22C81F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err="1"/>
              <a:t>Nguyễn</a:t>
            </a:r>
            <a:r>
              <a:rPr lang="en-US" dirty="0"/>
              <a:t> Hoàng </a:t>
            </a:r>
            <a:r>
              <a:rPr lang="en-US" dirty="0" err="1"/>
              <a:t>Yến</a:t>
            </a:r>
            <a:r>
              <a:rPr lang="en-US" dirty="0"/>
              <a:t> </a:t>
            </a:r>
            <a:r>
              <a:rPr lang="en-US" dirty="0" err="1"/>
              <a:t>Như</a:t>
            </a:r>
            <a:endParaRPr lang="en-US" dirty="0"/>
          </a:p>
          <a:p>
            <a:r>
              <a:rPr lang="en-US" dirty="0" err="1">
                <a:solidFill>
                  <a:srgbClr val="FF0000"/>
                </a:solidFill>
              </a:rPr>
              <a:t>Nguyễn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Trần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Phúc</a:t>
            </a:r>
            <a:r>
              <a:rPr lang="en-US" dirty="0">
                <a:solidFill>
                  <a:srgbClr val="FF0000"/>
                </a:solidFill>
              </a:rPr>
              <a:t> Nghi</a:t>
            </a:r>
          </a:p>
          <a:p>
            <a:r>
              <a:rPr lang="en-US" dirty="0" err="1"/>
              <a:t>Nguyễn</a:t>
            </a:r>
            <a:r>
              <a:rPr lang="en-US" dirty="0"/>
              <a:t> </a:t>
            </a:r>
            <a:r>
              <a:rPr lang="en-US" dirty="0" err="1"/>
              <a:t>Trần</a:t>
            </a:r>
            <a:r>
              <a:rPr lang="en-US" dirty="0"/>
              <a:t> </a:t>
            </a:r>
            <a:r>
              <a:rPr lang="en-US" dirty="0" err="1"/>
              <a:t>Phúc</a:t>
            </a:r>
            <a:r>
              <a:rPr lang="en-US" dirty="0"/>
              <a:t> An</a:t>
            </a:r>
          </a:p>
          <a:p>
            <a:r>
              <a:rPr lang="en-US" dirty="0" err="1">
                <a:solidFill>
                  <a:srgbClr val="FF0000"/>
                </a:solidFill>
              </a:rPr>
              <a:t>Nguyễn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Đức</a:t>
            </a:r>
            <a:r>
              <a:rPr lang="en-US" dirty="0">
                <a:solidFill>
                  <a:srgbClr val="FF0000"/>
                </a:solidFill>
              </a:rPr>
              <a:t> Anh </a:t>
            </a:r>
            <a:r>
              <a:rPr lang="en-US" dirty="0" err="1">
                <a:solidFill>
                  <a:srgbClr val="FF0000"/>
                </a:solidFill>
              </a:rPr>
              <a:t>Phúc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err="1"/>
              <a:t>Trịnh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Thanh Trúc</a:t>
            </a:r>
          </a:p>
          <a:p>
            <a:r>
              <a:rPr lang="en-US" dirty="0"/>
              <a:t>KS. Cao Bá </a:t>
            </a:r>
            <a:r>
              <a:rPr lang="en-US"/>
              <a:t>Kiệt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D686E-4114-4A0E-1FEE-7584196A67B6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/>
              <a:t>ThS. Nguyễn Hoàn Mỹ</a:t>
            </a:r>
          </a:p>
          <a:p>
            <a:r>
              <a:rPr lang="en-US">
                <a:solidFill>
                  <a:srgbClr val="FF0000"/>
                </a:solidFill>
              </a:rPr>
              <a:t>ThS. Dương Phi Long</a:t>
            </a:r>
          </a:p>
          <a:p>
            <a:r>
              <a:rPr lang="en-US"/>
              <a:t>ThS. Trương Quốc Dũng </a:t>
            </a:r>
          </a:p>
          <a:p>
            <a:r>
              <a:rPr lang="en-US">
                <a:solidFill>
                  <a:srgbClr val="FF0000"/>
                </a:solidFill>
              </a:rPr>
              <a:t>ThS. Nguyễn Thành Hiệp</a:t>
            </a:r>
          </a:p>
          <a:p>
            <a:r>
              <a:rPr lang="en-US"/>
              <a:t>ThS. Nguyễn Võ Đăng Khoa</a:t>
            </a:r>
          </a:p>
          <a:p>
            <a:r>
              <a:rPr lang="en-US">
                <a:solidFill>
                  <a:srgbClr val="FF0000"/>
                </a:solidFill>
              </a:rPr>
              <a:t>ThS. Võ Duy Nguyên</a:t>
            </a:r>
          </a:p>
          <a:p>
            <a:r>
              <a:rPr lang="en-US"/>
              <a:t>TS. Nguyễn Văn Tâm</a:t>
            </a:r>
          </a:p>
          <a:p>
            <a:r>
              <a:rPr lang="en-US">
                <a:solidFill>
                  <a:srgbClr val="FF0000"/>
                </a:solidFill>
              </a:rPr>
              <a:t>ThS. Trần Việt Thu Phương</a:t>
            </a:r>
          </a:p>
          <a:p>
            <a:r>
              <a:rPr lang="en-US"/>
              <a:t>TS. Nguyễn Tấn Trần Minh Khang</a:t>
            </a: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6523486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ĐỊNH NGHĨA BÀI TOÁN PHÂN LỚP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+mj-cs"/>
              </a:rPr>
              <a:t>Classification: Definition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2043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B52962BE-956B-4C2B-8959-F81F49C5B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+mj-cs"/>
              </a:rPr>
              <a:t>Classification: Definition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52A53E4F-6A54-4CD1-B368-6231912A4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sz="32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Given a collection of datapoint (training set)</a:t>
                </a:r>
              </a:p>
              <a:p>
                <a:pPr lvl="1" algn="just"/>
                <a:r>
                  <a:rPr lang="en-US">
                    <a:solidFill>
                      <a:srgbClr val="FF0000"/>
                    </a:solidFill>
                  </a:rPr>
                  <a:t>Each datapoint is by characterized by a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 is the attribute set and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 is the class label.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: independent variable, attribute, predictor, input.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>
                    <a:solidFill>
                      <a:srgbClr val="FF0000"/>
                    </a:solidFill>
                  </a:rPr>
                  <a:t>: dependent variable, class, response, output.</a:t>
                </a:r>
              </a:p>
              <a:p>
                <a:pPr algn="just"/>
                <a:r>
                  <a:rPr lang="en-US" sz="32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Task: learn a model that maps each attribute set </a:t>
                </a:r>
                <a14:m>
                  <m:oMath xmlns:m="http://schemas.openxmlformats.org/officeDocument/2006/math">
                    <m:r>
                      <a:rPr lang="en-US" sz="3200" b="1" i="1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 into one of the predefined class labels 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3200">
                    <a:solidFill>
                      <a:schemeClr val="tx1"/>
                    </a:solidFill>
                    <a:highlight>
                      <a:srgbClr val="FFFF00"/>
                    </a:highlight>
                  </a:rPr>
                  <a:t>.</a:t>
                </a:r>
              </a:p>
            </p:txBody>
          </p:sp>
        </mc:Choice>
        <mc:Fallback xmlns="">
          <p:sp>
            <p:nvSpPr>
              <p:cNvPr id="15" name="Content Placeholder 14">
                <a:extLst>
                  <a:ext uri="{FF2B5EF4-FFF2-40B4-BE49-F238E27FC236}">
                    <a16:creationId xmlns:a16="http://schemas.microsoft.com/office/drawing/2014/main" id="{52A53E4F-6A54-4CD1-B368-6231912A4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752" r="-2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08270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 VÍ DỤ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+mj-cs"/>
              </a:rPr>
              <a:t>Examples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4393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48AD-ED52-4361-901F-FAE3BDD6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+mj-cs"/>
              </a:rPr>
              <a:t>Examples of Classification Task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A9F8141-0BFF-43F1-A971-748AAA565BC4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609600" y="1600200"/>
              <a:ext cx="10972797" cy="420624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2971800">
                      <a:extLst>
                        <a:ext uri="{9D8B030D-6E8A-4147-A177-3AD203B41FA5}">
                          <a16:colId xmlns:a16="http://schemas.microsoft.com/office/drawing/2014/main" val="1076739555"/>
                        </a:ext>
                      </a:extLst>
                    </a:gridCol>
                    <a:gridCol w="4343398">
                      <a:extLst>
                        <a:ext uri="{9D8B030D-6E8A-4147-A177-3AD203B41FA5}">
                          <a16:colId xmlns:a16="http://schemas.microsoft.com/office/drawing/2014/main" val="35284208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301402190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Task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Attribute set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b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a14:m>
                          <a:endParaRPr lang="en-US" sz="28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Class label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endParaRPr lang="en-US" sz="28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666186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Categorizing email messages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Features extracted from email message header, footer and content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>
                              <a:highlight>
                                <a:srgbClr val="00FFFF"/>
                              </a:highlight>
                            </a:rPr>
                            <a:t>spam</a:t>
                          </a:r>
                          <a:r>
                            <a:rPr lang="en-US" sz="2800"/>
                            <a:t> or </a:t>
                          </a:r>
                          <a:r>
                            <a:rPr lang="en-US" sz="2800">
                              <a:highlight>
                                <a:srgbClr val="00FFFF"/>
                              </a:highlight>
                            </a:rPr>
                            <a:t>non-spam</a:t>
                          </a:r>
                        </a:p>
                        <a:p>
                          <a:pPr algn="l"/>
                          <a:endParaRPr lang="en-US" sz="2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89850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Identifying tumor cells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Features extracted from MRI scans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>
                              <a:highlight>
                                <a:srgbClr val="00FF00"/>
                              </a:highlight>
                            </a:rPr>
                            <a:t>malignant cells</a:t>
                          </a:r>
                          <a:r>
                            <a:rPr lang="en-US" sz="2800"/>
                            <a:t> or </a:t>
                          </a:r>
                          <a:r>
                            <a:rPr lang="en-US" sz="2800">
                              <a:highlight>
                                <a:srgbClr val="00FF00"/>
                              </a:highlight>
                            </a:rPr>
                            <a:t>benign cells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4889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/>
                            <a:t>Cataloging galaxies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/>
                            <a:t>Features extracted from telescope images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Elliptical</a:t>
                          </a:r>
                          <a:r>
                            <a:rPr lang="en-US" sz="2800"/>
                            <a:t>, </a:t>
                          </a: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spiral</a:t>
                          </a:r>
                          <a:r>
                            <a:rPr lang="en-US" sz="2800"/>
                            <a:t>, or </a:t>
                          </a: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irregular – shaped</a:t>
                          </a:r>
                          <a:r>
                            <a:rPr lang="en-US" sz="2800"/>
                            <a:t> galaxies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52280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6A9F8141-0BFF-43F1-A971-748AAA565BC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40347538"/>
                  </p:ext>
                </p:extLst>
              </p:nvPr>
            </p:nvGraphicFramePr>
            <p:xfrm>
              <a:off x="609600" y="1600200"/>
              <a:ext cx="10972797" cy="4206240"/>
            </p:xfrm>
            <a:graphic>
              <a:graphicData uri="http://schemas.openxmlformats.org/drawingml/2006/table">
                <a:tbl>
                  <a:tblPr firstRow="1" bandRow="1">
                    <a:tableStyleId>{72833802-FEF1-4C79-8D5D-14CF1EAF98D9}</a:tableStyleId>
                  </a:tblPr>
                  <a:tblGrid>
                    <a:gridCol w="2971800">
                      <a:extLst>
                        <a:ext uri="{9D8B030D-6E8A-4147-A177-3AD203B41FA5}">
                          <a16:colId xmlns:a16="http://schemas.microsoft.com/office/drawing/2014/main" val="1076739555"/>
                        </a:ext>
                      </a:extLst>
                    </a:gridCol>
                    <a:gridCol w="4343398">
                      <a:extLst>
                        <a:ext uri="{9D8B030D-6E8A-4147-A177-3AD203B41FA5}">
                          <a16:colId xmlns:a16="http://schemas.microsoft.com/office/drawing/2014/main" val="3528420870"/>
                        </a:ext>
                      </a:extLst>
                    </a:gridCol>
                    <a:gridCol w="3657599">
                      <a:extLst>
                        <a:ext uri="{9D8B030D-6E8A-4147-A177-3AD203B41FA5}">
                          <a16:colId xmlns:a16="http://schemas.microsoft.com/office/drawing/2014/main" val="3014021905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800"/>
                            <a:t>Task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8680" t="-11765" r="-84551" b="-74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167" t="-11765" r="-333" b="-74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6661868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Categorizing email messages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Features extracted from email message header, footer and content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>
                              <a:highlight>
                                <a:srgbClr val="00FFFF"/>
                              </a:highlight>
                            </a:rPr>
                            <a:t>spam</a:t>
                          </a:r>
                          <a:r>
                            <a:rPr lang="en-US" sz="2800"/>
                            <a:t> or </a:t>
                          </a:r>
                          <a:r>
                            <a:rPr lang="en-US" sz="2800">
                              <a:highlight>
                                <a:srgbClr val="00FFFF"/>
                              </a:highlight>
                            </a:rPr>
                            <a:t>non-spam</a:t>
                          </a:r>
                        </a:p>
                        <a:p>
                          <a:pPr algn="l"/>
                          <a:endParaRPr lang="en-US" sz="280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9898507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Identifying tumor cells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/>
                            <a:t>Features extracted from MRI scans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800">
                              <a:highlight>
                                <a:srgbClr val="00FF00"/>
                              </a:highlight>
                            </a:rPr>
                            <a:t>malignant cells</a:t>
                          </a:r>
                          <a:r>
                            <a:rPr lang="en-US" sz="2800"/>
                            <a:t> or </a:t>
                          </a:r>
                          <a:r>
                            <a:rPr lang="en-US" sz="2800">
                              <a:highlight>
                                <a:srgbClr val="00FF00"/>
                              </a:highlight>
                            </a:rPr>
                            <a:t>benign cells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7548896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/>
                            <a:t>Cataloging galaxies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/>
                            <a:t>Features extracted from telescope images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Elliptical</a:t>
                          </a:r>
                          <a:r>
                            <a:rPr lang="en-US" sz="2800"/>
                            <a:t>, </a:t>
                          </a: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spiral</a:t>
                          </a:r>
                          <a:r>
                            <a:rPr lang="en-US" sz="2800"/>
                            <a:t>, or </a:t>
                          </a:r>
                          <a:r>
                            <a:rPr lang="en-US" sz="2800">
                              <a:highlight>
                                <a:srgbClr val="FFFF00"/>
                              </a:highlight>
                            </a:rPr>
                            <a:t>irregular – shaped</a:t>
                          </a:r>
                          <a:r>
                            <a:rPr lang="en-US" sz="2800"/>
                            <a:t> galaxies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052280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6130057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/>
              <a:t>categorizing email messages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/>
              <a:t>Example: </a:t>
            </a:r>
            <a:r>
              <a:rPr lang="en-US" sz="3200"/>
              <a:t>Categorizing email messages</a:t>
            </a:r>
          </a:p>
        </p:txBody>
      </p:sp>
    </p:spTree>
    <p:extLst>
      <p:ext uri="{BB962C8B-B14F-4D97-AF65-F5344CB8AC3E}">
        <p14:creationId xmlns:p14="http://schemas.microsoft.com/office/powerpoint/2010/main" val="408570240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utomatically Move Emails into Folders in Outlook using Rules">
            <a:extLst>
              <a:ext uri="{FF2B5EF4-FFF2-40B4-BE49-F238E27FC236}">
                <a16:creationId xmlns:a16="http://schemas.microsoft.com/office/drawing/2014/main" id="{05A32AC4-FDFF-4D35-B668-BD4218D449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014353"/>
            <a:ext cx="7747314" cy="327709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ADD08-B26E-4D83-8CA4-325457F35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/>
              <a:t>Categorizing email messages</a:t>
            </a:r>
          </a:p>
        </p:txBody>
      </p:sp>
      <p:pic>
        <p:nvPicPr>
          <p:cNvPr id="3" name="Picture 2" descr="The Only Five Email Folders Your Inbox Will Ever Need – Productivity Hub">
            <a:extLst>
              <a:ext uri="{FF2B5EF4-FFF2-40B4-BE49-F238E27FC236}">
                <a16:creationId xmlns:a16="http://schemas.microsoft.com/office/drawing/2014/main" id="{84C3B704-3B79-46C5-B1B1-2B9E431457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45" r="8009" b="1"/>
          <a:stretch/>
        </p:blipFill>
        <p:spPr bwMode="auto">
          <a:xfrm>
            <a:off x="0" y="2014353"/>
            <a:ext cx="4318000" cy="327709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838072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396E4-0697-4064-B67E-D445F32B3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Categorizing email messages</a:t>
            </a:r>
            <a:endParaRPr lang="en-US"/>
          </a:p>
        </p:txBody>
      </p:sp>
      <p:pic>
        <p:nvPicPr>
          <p:cNvPr id="3074" name="Picture 2" descr="Đạo luật Can Spam,nguyên tắc gửi email marketing tránh khỏi bộ lọc spam">
            <a:extLst>
              <a:ext uri="{FF2B5EF4-FFF2-40B4-BE49-F238E27FC236}">
                <a16:creationId xmlns:a16="http://schemas.microsoft.com/office/drawing/2014/main" id="{BDE94000-A3C8-431D-96A1-BC69A7D83E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756" y="1600200"/>
            <a:ext cx="676248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59754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5 cách ngăn chặn thư rác xâm nhập email | Công nghệ | Thanh Niên">
            <a:extLst>
              <a:ext uri="{FF2B5EF4-FFF2-40B4-BE49-F238E27FC236}">
                <a16:creationId xmlns:a16="http://schemas.microsoft.com/office/drawing/2014/main" id="{462B4DAA-0AD3-482C-AB95-594608E45272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609600" y="1676400"/>
            <a:ext cx="6540500" cy="4343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Opened Envelope And Document With Green Check Mark Line Icon... Royalty  Free Cliparts, Vectors, And Stock Illustration. Image 94383995.">
            <a:extLst>
              <a:ext uri="{FF2B5EF4-FFF2-40B4-BE49-F238E27FC236}">
                <a16:creationId xmlns:a16="http://schemas.microsoft.com/office/drawing/2014/main" id="{7024685F-07A8-4287-8203-5D72082E7B38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7226300" y="1676400"/>
            <a:ext cx="4343400" cy="43434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6012B30-C3F8-4044-82FE-EB567F5B1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wrap="square" anchor="ctr">
            <a:normAutofit/>
          </a:bodyPr>
          <a:lstStyle/>
          <a:p>
            <a:r>
              <a:rPr lang="en-US"/>
              <a:t>Categorizing email messages</a:t>
            </a:r>
          </a:p>
        </p:txBody>
      </p:sp>
    </p:spTree>
    <p:extLst>
      <p:ext uri="{BB962C8B-B14F-4D97-AF65-F5344CB8AC3E}">
        <p14:creationId xmlns:p14="http://schemas.microsoft.com/office/powerpoint/2010/main" val="2958343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/>
              <a:t>IDENTIFYING TUMOR CELLS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</a:t>
            </a:r>
            <a:r>
              <a:rPr lang="en-US" sz="3200"/>
              <a:t>Identifying tumor cells</a:t>
            </a:r>
          </a:p>
        </p:txBody>
      </p:sp>
    </p:spTree>
    <p:extLst>
      <p:ext uri="{BB962C8B-B14F-4D97-AF65-F5344CB8AC3E}">
        <p14:creationId xmlns:p14="http://schemas.microsoft.com/office/powerpoint/2010/main" val="417756126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id="{B5CEFDC5-8CED-4282-A3A2-C563A32C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z="4400"/>
              <a:t>Identifying tumor cells</a:t>
            </a:r>
            <a:endParaRPr lang="en-US"/>
          </a:p>
        </p:txBody>
      </p:sp>
      <p:pic>
        <p:nvPicPr>
          <p:cNvPr id="6146" name="Picture 2" descr="Apoptosis and cell surface GRP78 expression in benign and malignant parotid  gland tumors.Head and Neck Oncology">
            <a:extLst>
              <a:ext uri="{FF2B5EF4-FFF2-40B4-BE49-F238E27FC236}">
                <a16:creationId xmlns:a16="http://schemas.microsoft.com/office/drawing/2014/main" id="{3AB77691-EC55-41C3-B27D-7A1B7AB822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" y="2230979"/>
            <a:ext cx="10972800" cy="326440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81259010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6E88884-EAB9-4990-943E-73A595C97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z="4400"/>
              <a:t>Identifying tumor cells</a:t>
            </a:r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1127F0-7FC7-49CA-B036-8B695B319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6673"/>
          <a:stretch/>
        </p:blipFill>
        <p:spPr>
          <a:xfrm>
            <a:off x="609600" y="1600201"/>
            <a:ext cx="10972800" cy="4525963"/>
          </a:xfrm>
          <a:noFill/>
        </p:spPr>
      </p:pic>
    </p:spTree>
    <p:extLst>
      <p:ext uri="{BB962C8B-B14F-4D97-AF65-F5344CB8AC3E}">
        <p14:creationId xmlns:p14="http://schemas.microsoft.com/office/powerpoint/2010/main" val="301039300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CATALOGING GALAXIES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Example: </a:t>
            </a:r>
            <a:r>
              <a:rPr lang="en-US" sz="3200"/>
              <a:t>Cataloging galaxies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0944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0193-BFCD-4A63-B8C9-99B88DB2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ToyerBee Telescope for Kids</a:t>
            </a:r>
          </a:p>
        </p:txBody>
      </p:sp>
      <p:pic>
        <p:nvPicPr>
          <p:cNvPr id="3074" name="Picture 2" descr="Amazon.com : ToyerBee Telescope for Kids&amp; Beginners, 70mm Aperture 300mm  Astronomical Refractor Telescope, Tripod&amp; Finder Scope- Portable Travel  Telescope with Smartphone Adapter and Wireless Remote : Camera &amp; Photo">
            <a:extLst>
              <a:ext uri="{FF2B5EF4-FFF2-40B4-BE49-F238E27FC236}">
                <a16:creationId xmlns:a16="http://schemas.microsoft.com/office/drawing/2014/main" id="{313DABF4-D458-46E1-ADE4-32C3E73F51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48419" y="1600200"/>
            <a:ext cx="4295161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6CC04-FDF9-4BC0-B49A-278B971391C3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en-US"/>
              <a:t>https://www.amazon.com/ToyerBee-Piece-Sinking-Dive-Grab/dp/B07PSCM51F</a:t>
            </a:r>
          </a:p>
        </p:txBody>
      </p:sp>
    </p:spTree>
    <p:extLst>
      <p:ext uri="{BB962C8B-B14F-4D97-AF65-F5344CB8AC3E}">
        <p14:creationId xmlns:p14="http://schemas.microsoft.com/office/powerpoint/2010/main" val="166455572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0D96-2F8E-405E-8841-30C9DD47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</a:t>
            </a:r>
            <a:r>
              <a:rPr lang="en-US" sz="4400"/>
              <a:t>elescope images</a:t>
            </a:r>
            <a:endParaRPr lang="en-US"/>
          </a:p>
        </p:txBody>
      </p:sp>
      <p:pic>
        <p:nvPicPr>
          <p:cNvPr id="2050" name="Picture 2" descr="The best telescopes for stargazing in 2020 | T3">
            <a:extLst>
              <a:ext uri="{FF2B5EF4-FFF2-40B4-BE49-F238E27FC236}">
                <a16:creationId xmlns:a16="http://schemas.microsoft.com/office/drawing/2014/main" id="{DEC8CE96-F461-4FBC-80A0-9EAE39BB59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922" y="1600200"/>
            <a:ext cx="8046156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882412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2CE22-86CA-4C47-9205-AD1553E1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Galaxies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72FB1-7029-4952-9AA2-5FE92126AE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/>
              <a:t>Spiral – Xoắn ốc.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Barred Spiral – Xoắn ốc có rào chắn.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/>
              <a:t>Elliptical – Elip.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Lenticular – Thấu kính.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/>
              <a:t>Irregular – Vô định hình.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Peculiar – Bất thường.</a:t>
            </a:r>
          </a:p>
        </p:txBody>
      </p:sp>
      <p:pic>
        <p:nvPicPr>
          <p:cNvPr id="6" name="Picture 2" descr="Galaxy types via qproject">
            <a:extLst>
              <a:ext uri="{FF2B5EF4-FFF2-40B4-BE49-F238E27FC236}">
                <a16:creationId xmlns:a16="http://schemas.microsoft.com/office/drawing/2014/main" id="{FD11C0F8-FFBB-4D33-8AEA-F54EAE1C89E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97600" y="1827583"/>
            <a:ext cx="5994400" cy="4071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91638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2E6BA-CC88-4AFA-AB47-93328DE0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Elliptical galaxy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44E502-23C1-484B-A72B-E85F75D0DCB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Astronomy Lecture Number 23">
            <a:extLst>
              <a:ext uri="{FF2B5EF4-FFF2-40B4-BE49-F238E27FC236}">
                <a16:creationId xmlns:a16="http://schemas.microsoft.com/office/drawing/2014/main" id="{B0CEA511-F770-4331-B101-CE9FD8C4E181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674" y="1861185"/>
            <a:ext cx="5509126" cy="392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SO - Projects">
            <a:extLst>
              <a:ext uri="{FF2B5EF4-FFF2-40B4-BE49-F238E27FC236}">
                <a16:creationId xmlns:a16="http://schemas.microsoft.com/office/drawing/2014/main" id="{1B4DEC73-3B27-4212-94B6-5708862773E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7813" y="1843088"/>
            <a:ext cx="5900200" cy="394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060608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8796-82BA-485A-9E6B-C7AF3B1B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Spiral galaxy</a:t>
            </a:r>
          </a:p>
        </p:txBody>
      </p:sp>
      <p:pic>
        <p:nvPicPr>
          <p:cNvPr id="5" name="Picture 2" descr="Hubble Space Telescope discovers evidence of an intermediate-mass black  hole - SlashGear">
            <a:extLst>
              <a:ext uri="{FF2B5EF4-FFF2-40B4-BE49-F238E27FC236}">
                <a16:creationId xmlns:a16="http://schemas.microsoft.com/office/drawing/2014/main" id="{A201E117-B80B-45D0-90E1-95CECACE2CE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2177256"/>
            <a:ext cx="5994400" cy="337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Spiral Galaxy - YouTube">
            <a:extLst>
              <a:ext uri="{FF2B5EF4-FFF2-40B4-BE49-F238E27FC236}">
                <a16:creationId xmlns:a16="http://schemas.microsoft.com/office/drawing/2014/main" id="{0B7AAE08-6E6A-4F65-993B-AA134400777C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7256"/>
            <a:ext cx="5994400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 descr="Do all spiral galaxies have black holes at their centre? - BBC Science  Focus Magazine">
            <a:extLst>
              <a:ext uri="{FF2B5EF4-FFF2-40B4-BE49-F238E27FC236}">
                <a16:creationId xmlns:a16="http://schemas.microsoft.com/office/drawing/2014/main" id="{143DA018-A164-45D0-BC56-4D849D74E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63456" y="817182"/>
            <a:ext cx="2828544" cy="1200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716449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F532D60-4071-4540-AC71-89683DEAE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Barred Spiral</a:t>
            </a:r>
          </a:p>
        </p:txBody>
      </p:sp>
      <p:pic>
        <p:nvPicPr>
          <p:cNvPr id="15362" name="Picture 2" descr="Hubble: Barred Spiral Galaxy NGC 1073 [1080p] - YouTube">
            <a:extLst>
              <a:ext uri="{FF2B5EF4-FFF2-40B4-BE49-F238E27FC236}">
                <a16:creationId xmlns:a16="http://schemas.microsoft.com/office/drawing/2014/main" id="{DCF87118-940C-4CFB-8E3E-532972108C0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451" y="2160666"/>
            <a:ext cx="6894549" cy="3878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The Great Barred Spiral Galaxy | ESO">
            <a:extLst>
              <a:ext uri="{FF2B5EF4-FFF2-40B4-BE49-F238E27FC236}">
                <a16:creationId xmlns:a16="http://schemas.microsoft.com/office/drawing/2014/main" id="{A0CB3145-0559-4B85-A712-A80EFEFE624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60666"/>
            <a:ext cx="5257800" cy="3959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03315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4F7E-0325-4665-AB0B-02679BFD7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Lenticular </a:t>
            </a:r>
            <a:r>
              <a:rPr lang="en-US"/>
              <a:t>galaxy</a:t>
            </a:r>
          </a:p>
        </p:txBody>
      </p:sp>
      <p:pic>
        <p:nvPicPr>
          <p:cNvPr id="19458" name="Picture 2" descr="Update Patch Version 1.7 - Planetarium 2 - Zen Odyssey by Ghulam Jewel">
            <a:extLst>
              <a:ext uri="{FF2B5EF4-FFF2-40B4-BE49-F238E27FC236}">
                <a16:creationId xmlns:a16="http://schemas.microsoft.com/office/drawing/2014/main" id="{B2BAF0C1-1BDC-4025-9065-D9E56479A88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989930"/>
            <a:ext cx="5994402" cy="374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2" name="Picture 2" descr="Teach Astronomy - Lenticular Galaxies">
            <a:extLst>
              <a:ext uri="{FF2B5EF4-FFF2-40B4-BE49-F238E27FC236}">
                <a16:creationId xmlns:a16="http://schemas.microsoft.com/office/drawing/2014/main" id="{598DE339-C86C-40DB-B346-B14CF002448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545" y="1989930"/>
            <a:ext cx="4400374" cy="3746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0052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5E24-754C-4A0B-A9C3-0BEF5F97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Quy trình thực hành: Pipeline Phân Lớp Dữ Liệu (In [1])</a:t>
            </a:r>
          </a:p>
        </p:txBody>
      </p:sp>
      <p:pic>
        <p:nvPicPr>
          <p:cNvPr id="21506" name="Picture 2" descr="Irregular Galaxy Lesson for Kids: Definition &amp; Facts | Study.com">
            <a:extLst>
              <a:ext uri="{FF2B5EF4-FFF2-40B4-BE49-F238E27FC236}">
                <a16:creationId xmlns:a16="http://schemas.microsoft.com/office/drawing/2014/main" id="{04138AF4-42A2-44A6-A8E8-A84D6ADD1CC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827" y="2133600"/>
            <a:ext cx="5737946" cy="3459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0" name="Picture 2" descr="Production of lithium in small irregular galaxies">
            <a:extLst>
              <a:ext uri="{FF2B5EF4-FFF2-40B4-BE49-F238E27FC236}">
                <a16:creationId xmlns:a16="http://schemas.microsoft.com/office/drawing/2014/main" id="{646C679F-D03D-4BF2-9278-8D4B02159DA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33600"/>
            <a:ext cx="5795052" cy="3582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1" name="TextBox 22530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Chuẩn bị dữ liệu Social_Network_Ads.csv và chia tập Train/Test (In [1]):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import pandas as pd, numpy as np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dataset = pd.read_csv('Social_Network_Ads.csv')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 = dataset.iloc[:, [2, 3]].values  # Age, EstimatedSalary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 = dataset.iloc[:, 4].values      # Purchased (0: Không mua, 1: Mua)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# Chia tập dữ liệu 75/25 và Chuẩn hóa Z-Score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X_train, X_test, y_train, y_test = train_test_split(X, y, test_size=0.25, random_state=0)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sc = StandardScaler()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X_train_scaled = sc.fit_transform(X_train); X_test_scaled = sc.transform(X_test)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Mục tiêu bài toán: Dự đoán khả năng một người dùng mạng xã hội mua xe SUV dựa trên Độ tuổi và Mức lương.</a:t>
            </a:r>
          </a:p>
        </p:txBody>
      </p:sp>
    </p:spTree>
    <p:extLst>
      <p:ext uri="{BB962C8B-B14F-4D97-AF65-F5344CB8AC3E}">
        <p14:creationId xmlns:p14="http://schemas.microsoft.com/office/powerpoint/2010/main" val="35938963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5E24-754C-4A0B-A9C3-0BEF5F97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Đánh giá mô hình: Confusion Matrix &amp; Classification Report (In [2])</a:t>
            </a:r>
          </a:p>
        </p:txBody>
      </p:sp>
      <p:pic>
        <p:nvPicPr>
          <p:cNvPr id="8" name="Picture 2" descr="Centaurus A is a peculiar galaxy lying... - Delta College Planetarium |  Facebook">
            <a:extLst>
              <a:ext uri="{FF2B5EF4-FFF2-40B4-BE49-F238E27FC236}">
                <a16:creationId xmlns:a16="http://schemas.microsoft.com/office/drawing/2014/main" id="{CF5808BD-1176-423E-8EC0-C945D7501C3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99" y="1628065"/>
            <a:ext cx="5218938" cy="45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 Peculiar Galaxy, variant | Edited Hubble Space Telescope i… | Flickr">
            <a:extLst>
              <a:ext uri="{FF2B5EF4-FFF2-40B4-BE49-F238E27FC236}">
                <a16:creationId xmlns:a16="http://schemas.microsoft.com/office/drawing/2014/main" id="{B6044FEF-F4A3-404C-9888-CE87FF25E8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1600200"/>
            <a:ext cx="5511801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12648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Tính toán toàn bộ các độ đo phân lớp cơ bản (In [2]):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from sklearn.metrics import confusion_matrix, classification_report, accuracy_score, roc_auc_score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clf = LogisticRegression(random_state=0).fit(X_train_scaled, y_train)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y_pred = clf.predict(X_test_scaled)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y_prob = clf.predict_proba(X_test_scaled)[:, 1]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cm = confusion_matrix(y_test, y_pred)</a:t>
            </a:r>
          </a:p>
          <a:p>
            <a:pPr>
              <a:spcAft>
                <a:spcPts val="2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print(f'Accuracy: {accuracy_score(y_test, y_pred)*100:.2f}% | ROC-AUC: {roc_auc_score(y_test, y_prob):.4f}')</a:t>
            </a:r>
          </a:p>
          <a:p>
            <a:pPr>
              <a:spcAft>
                <a:spcPts val="400"/>
              </a:spcAft>
              <a:defRPr sz="1300" b="0">
                <a:solidFill>
                  <a:srgbClr val="004696"/>
                </a:solidFill>
                <a:latin typeface="Consolas"/>
              </a:defRPr>
            </a:pPr>
            <a:r>
              <a:t>print(classification_report(y_test, y_pred, target_names=['Not Buy', 'Buy']))</a:t>
            </a:r>
          </a:p>
          <a:p>
            <a:pPr>
              <a:spcAft>
                <a:spcPts val="200"/>
              </a:spcAft>
              <a:defRPr sz="1200" b="0">
                <a:solidFill>
                  <a:srgbClr val="146428"/>
                </a:solidFill>
                <a:latin typeface="Consolas"/>
              </a:defRPr>
            </a:pPr>
            <a:r>
              <a:t>📌 Kết quả: Accuracy = 89.00% | ROC-AUC = 0.9542 | Confusion Matrix: [[65, 3], [8, 24]]</a:t>
            </a:r>
          </a:p>
        </p:txBody>
      </p:sp>
    </p:spTree>
    <p:extLst>
      <p:ext uri="{BB962C8B-B14F-4D97-AF65-F5344CB8AC3E}">
        <p14:creationId xmlns:p14="http://schemas.microsoft.com/office/powerpoint/2010/main" val="319856847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ABF050-02D2-4DE1-ABC1-45B7A6DA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800" b="1">
                <a:solidFill>
                  <a:srgbClr val="002060"/>
                </a:solidFill>
                <a:latin typeface="Calibri"/>
              </a:defRPr>
            </a:pPr>
            <a:r>
              <a:t>Trực quan hóa: Confusion Matrix, ROC Curve &amp; Decision Boundary (In [3])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ABF4A-9709-4FA8-AAE1-CB5001F3F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1371600"/>
            <a:ext cx="10972800" cy="4937760"/>
          </a:xfrm>
        </p:spPr>
        <p:txBody>
          <a:bodyPr wrap="square"/>
          <a:lstStyle/>
          <a:p>
            <a:pPr>
              <a:spcBef>
                <a:spcPts val="600"/>
              </a:spcBef>
              <a:spcAft>
                <a:spcPts val="400"/>
              </a:spcAft>
              <a:defRPr sz="1700" b="1">
                <a:solidFill>
                  <a:srgbClr val="003366"/>
                </a:solidFill>
                <a:latin typeface="Calibri"/>
              </a:defRPr>
            </a:pPr>
            <a:r>
              <a:t>Trực quan hóa toàn diện 3 khía cạnh phân lớp trên 3 Subplots:</a:t>
            </a:r>
            <a:endParaRPr lang="en-US"/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1. Confusion Matrix Heatmap: Minh họa trực quan số ca đúng (65 TN, 24 TP) và lỗi (3 FP, 8 FN).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2. ROC Curve (Receiver Operating Characteristic):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   Đường cong biểu diễn sự đánh đổi giữa True Positive Rate (Sensitivity) và False Positive Rate (1 - Specificity).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   Diện tích dưới đường cong AUC = 0.9542 chứng minh năng lực phân loại vượt trội.</a:t>
            </a:r>
          </a:p>
          <a:p>
            <a:pPr>
              <a:spcAft>
                <a:spcPts val="300"/>
              </a:spcAft>
              <a:defRPr sz="1500" b="1">
                <a:solidFill>
                  <a:srgbClr val="282828"/>
                </a:solidFill>
                <a:latin typeface="Calibri"/>
              </a:defRPr>
            </a:pPr>
            <a:r>
              <a:t>3. Ranh giới quyết định (Decision Boundary):</a:t>
            </a:r>
          </a:p>
          <a:p>
            <a:pPr>
              <a:spcAft>
                <a:spcPts val="300"/>
              </a:spcAft>
              <a:defRPr sz="1500" b="0">
                <a:solidFill>
                  <a:srgbClr val="282828"/>
                </a:solidFill>
                <a:latin typeface="Calibri"/>
              </a:defRPr>
            </a:pPr>
            <a:r>
              <a:t>   Mặt phẳng phân chia 2 vùng màu (Đỏ: Không mua, Xanh: Mua) trong không gian Độ tuổi vs Mức lương.</a:t>
            </a:r>
          </a:p>
        </p:txBody>
      </p:sp>
    </p:spTree>
    <p:extLst>
      <p:ext uri="{BB962C8B-B14F-4D97-AF65-F5344CB8AC3E}">
        <p14:creationId xmlns:p14="http://schemas.microsoft.com/office/powerpoint/2010/main" val="288956592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128A-1988-44D8-B2F9-AF501F01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+mj-cs"/>
              </a:rPr>
              <a:t>Classification Techniques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8BF2B-0AB6-42F9-97A2-C43BAA034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Nearest – Neighbor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Logistic Regression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Decision Tree 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SVM – Support Vector Machines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Kernel SVM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Naive Bayes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Random Forest Classification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>
                <a:solidFill>
                  <a:srgbClr val="FF0000"/>
                </a:solidFill>
              </a:rPr>
              <a:t>Neural Networks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124331562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1A1E3B-52AC-4848-9A3B-814D413CE4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/>
              <a:t>Chúc các bạn học tốt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3200">
                <a:solidFill>
                  <a:srgbClr val="0066FF"/>
                </a:solidFill>
              </a:rPr>
              <a:t>TRƯỜNG ĐẠI HỌC CÔNG NGHỆ THÔNG TIN TP.HCM</a:t>
            </a:r>
            <a:br>
              <a:rPr lang="en-US" sz="3200">
                <a:solidFill>
                  <a:srgbClr val="0066FF"/>
                </a:solidFill>
              </a:rPr>
            </a:br>
            <a:br>
              <a:rPr lang="en-US" sz="3200">
                <a:solidFill>
                  <a:srgbClr val="0066FF"/>
                </a:solidFill>
              </a:rPr>
            </a:br>
            <a:r>
              <a:rPr lang="en-US" sz="4000"/>
              <a:t>Nhóm UIT-Together</a:t>
            </a:r>
            <a:br>
              <a:rPr lang="en-US" sz="4000">
                <a:solidFill>
                  <a:srgbClr val="0066FF"/>
                </a:solidFill>
              </a:rPr>
            </a:br>
            <a:r>
              <a:rPr lang="en-US" sz="4000">
                <a:solidFill>
                  <a:srgbClr val="0066FF"/>
                </a:solidFill>
              </a:rPr>
              <a:t>Nguyễn Tấn Trần Minh Khang</a:t>
            </a:r>
          </a:p>
        </p:txBody>
      </p:sp>
    </p:spTree>
    <p:extLst>
      <p:ext uri="{BB962C8B-B14F-4D97-AF65-F5344CB8AC3E}">
        <p14:creationId xmlns:p14="http://schemas.microsoft.com/office/powerpoint/2010/main" val="265189452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14699</TotalTime>
  <Words>445</Words>
  <Application>Microsoft Office PowerPoint</Application>
  <PresentationFormat>Widescreen</PresentationFormat>
  <Paragraphs>89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Cambria Math</vt:lpstr>
      <vt:lpstr>Consolas</vt:lpstr>
      <vt:lpstr>Courier New</vt:lpstr>
      <vt:lpstr>Default Design</vt:lpstr>
      <vt:lpstr>CLASSIFICATION PROBLEM BÀI TOÁN PHÂN LỚP DỮ LIỆU</vt:lpstr>
      <vt:lpstr>ĐỊNH NGHĨA BÀI TOÁN PHÂN LỚP</vt:lpstr>
      <vt:lpstr>Classification: Definition</vt:lpstr>
      <vt:lpstr>CÁC VÍ DỤ</vt:lpstr>
      <vt:lpstr>Examples of Classification Task</vt:lpstr>
      <vt:lpstr>categorizing email messages</vt:lpstr>
      <vt:lpstr>Categorizing email messages</vt:lpstr>
      <vt:lpstr>Categorizing email messages</vt:lpstr>
      <vt:lpstr>Categorizing email messages</vt:lpstr>
      <vt:lpstr>IDENTIFYING TUMOR CELLS</vt:lpstr>
      <vt:lpstr>Identifying tumor cells</vt:lpstr>
      <vt:lpstr>Identifying tumor cells</vt:lpstr>
      <vt:lpstr>CATALOGING GALAXIES</vt:lpstr>
      <vt:lpstr>ToyerBee Telescope for Kids</vt:lpstr>
      <vt:lpstr>Telescope images</vt:lpstr>
      <vt:lpstr>Types of Galaxies</vt:lpstr>
      <vt:lpstr>Elliptical galaxy</vt:lpstr>
      <vt:lpstr>Spiral galaxy</vt:lpstr>
      <vt:lpstr>Barred Spiral</vt:lpstr>
      <vt:lpstr>Lenticular galaxy</vt:lpstr>
      <vt:lpstr>Irregular galaxy</vt:lpstr>
      <vt:lpstr>Peculiar galaxy</vt:lpstr>
      <vt:lpstr>CÁC THUẬT TOÁN GIẢI QUYẾT BÀI TOÁN PHÂN LỚP DỮ LIỆU</vt:lpstr>
      <vt:lpstr>Classification Techniques</vt:lpstr>
      <vt:lpstr>Chúc các bạn học tốt TRƯỜNG ĐẠI HỌC CÔNG NGHỆ THÔNG TIN TP.HCM  Nhóm UIT-Together Nguyễn Tấn Trần Minh Khang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 cc</dc:title>
  <dc:creator>Hong</dc:creator>
  <cp:lastModifiedBy>Nguyễn Tấn Trần Minh Khang</cp:lastModifiedBy>
  <cp:revision>1327</cp:revision>
  <cp:lastPrinted>2013-08-30T01:32:34Z</cp:lastPrinted>
  <dcterms:created xsi:type="dcterms:W3CDTF">2008-06-14T04:13:27Z</dcterms:created>
  <dcterms:modified xsi:type="dcterms:W3CDTF">2023-10-18T00:42:09Z</dcterms:modified>
</cp:coreProperties>
</file>