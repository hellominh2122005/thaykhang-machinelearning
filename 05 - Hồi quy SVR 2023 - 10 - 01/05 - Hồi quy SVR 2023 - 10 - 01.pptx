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38"/>
  </p:notesMasterIdLst>
  <p:handoutMasterIdLst>
    <p:handoutMasterId r:id="rId39"/>
  </p:handoutMasterIdLst>
  <p:sldIdLst>
    <p:sldId id="1585" r:id="rId2"/>
    <p:sldId id="1581" r:id="rId3"/>
    <p:sldId id="1582" r:id="rId4"/>
    <p:sldId id="1583" r:id="rId5"/>
    <p:sldId id="331" r:id="rId6"/>
    <p:sldId id="343" r:id="rId7"/>
    <p:sldId id="369" r:id="rId8"/>
    <p:sldId id="351" r:id="rId9"/>
    <p:sldId id="344" r:id="rId10"/>
    <p:sldId id="345" r:id="rId11"/>
    <p:sldId id="346" r:id="rId12"/>
    <p:sldId id="347" r:id="rId13"/>
    <p:sldId id="366" r:id="rId14"/>
    <p:sldId id="352" r:id="rId15"/>
    <p:sldId id="353" r:id="rId16"/>
    <p:sldId id="354" r:id="rId17"/>
    <p:sldId id="355" r:id="rId18"/>
    <p:sldId id="365" r:id="rId19"/>
    <p:sldId id="371" r:id="rId20"/>
    <p:sldId id="356" r:id="rId21"/>
    <p:sldId id="367" r:id="rId22"/>
    <p:sldId id="357" r:id="rId23"/>
    <p:sldId id="358" r:id="rId24"/>
    <p:sldId id="359" r:id="rId25"/>
    <p:sldId id="370" r:id="rId26"/>
    <p:sldId id="360" r:id="rId27"/>
    <p:sldId id="361" r:id="rId28"/>
    <p:sldId id="362" r:id="rId29"/>
    <p:sldId id="368" r:id="rId30"/>
    <p:sldId id="363" r:id="rId31"/>
    <p:sldId id="364" r:id="rId32"/>
    <p:sldId id="372" r:id="rId33"/>
    <p:sldId id="373" r:id="rId34"/>
    <p:sldId id="374" r:id="rId35"/>
    <p:sldId id="375" r:id="rId36"/>
    <p:sldId id="1573"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FF0000"/>
    <a:srgbClr val="FF3399"/>
    <a:srgbClr val="008000"/>
    <a:srgbClr val="000099"/>
    <a:srgbClr val="FF6600"/>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7366" autoAdjust="0"/>
  </p:normalViewPr>
  <p:slideViewPr>
    <p:cSldViewPr>
      <p:cViewPr varScale="1">
        <p:scale>
          <a:sx n="68" d="100"/>
          <a:sy n="68" d="100"/>
        </p:scale>
        <p:origin x="1186" y="7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handoutMaster" Target="handoutMasters/handout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TIÊU ĐỀ SLIDE</a:t>
            </a:r>
            <a:endParaRPr lang="vi-VN"/>
          </a:p>
        </p:txBody>
      </p:sp>
    </p:spTree>
    <p:extLst>
      <p:ext uri="{BB962C8B-B14F-4D97-AF65-F5344CB8AC3E}">
        <p14:creationId xmlns:p14="http://schemas.microsoft.com/office/powerpoint/2010/main" val="18645496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1_Title Slide 01">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Tree>
    <p:extLst>
      <p:ext uri="{BB962C8B-B14F-4D97-AF65-F5344CB8AC3E}">
        <p14:creationId xmlns:p14="http://schemas.microsoft.com/office/powerpoint/2010/main" val="29983808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01_Title Slide 02">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4056157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01_Title Slide 03">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304800" y="3886200"/>
            <a:ext cx="11582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25474770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01_Title Slide 04">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19444793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2_Standar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CHUẨN</a:t>
            </a:r>
            <a:endParaRPr lang="vi-VN"/>
          </a:p>
        </p:txBody>
      </p:sp>
    </p:spTree>
    <p:extLst>
      <p:ext uri="{BB962C8B-B14F-4D97-AF65-F5344CB8AC3E}">
        <p14:creationId xmlns:p14="http://schemas.microsoft.com/office/powerpoint/2010/main" val="1394712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02_Standard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Standard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760171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_Standard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863100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02_Standard Slide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37499821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2_Standard Slide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3E9201-BB7C-7361-D15B-554D97FD4941}"/>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5964387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2_Standard Slide 06">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609600" y="0"/>
            <a:ext cx="109728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78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Standard Slide 07">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0" y="0"/>
            <a:ext cx="121920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53219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02_Standard Slide 08">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26075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03_Program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PROGRAM</a:t>
            </a:r>
            <a:endParaRPr lang="vi-VN"/>
          </a:p>
        </p:txBody>
      </p:sp>
    </p:spTree>
    <p:extLst>
      <p:ext uri="{BB962C8B-B14F-4D97-AF65-F5344CB8AC3E}">
        <p14:creationId xmlns:p14="http://schemas.microsoft.com/office/powerpoint/2010/main" val="37903816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03_Program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99875236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Program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27602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Program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5" name="Content Placeholder 2">
            <a:extLst>
              <a:ext uri="{FF2B5EF4-FFF2-40B4-BE49-F238E27FC236}">
                <a16:creationId xmlns:a16="http://schemas.microsoft.com/office/drawing/2014/main" id="{20BF5967-6241-0E40-D844-CD2FB96F1181}"/>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2151298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04_Slide Up Dow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PHẦN TRÊN DƯỚI</a:t>
            </a:r>
            <a:endParaRPr lang="vi-VN"/>
          </a:p>
        </p:txBody>
      </p:sp>
    </p:spTree>
    <p:extLst>
      <p:ext uri="{BB962C8B-B14F-4D97-AF65-F5344CB8AC3E}">
        <p14:creationId xmlns:p14="http://schemas.microsoft.com/office/powerpoint/2010/main" val="13543791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4 Slide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953001"/>
            <a:ext cx="10972800" cy="11724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4 Slide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51459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114801"/>
            <a:ext cx="10972800" cy="20106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69190481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4 Slide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715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2971801"/>
            <a:ext cx="10972800" cy="3153696"/>
          </a:xfrm>
        </p:spPr>
        <p:txBody>
          <a:bodyPr/>
          <a:lstStyle>
            <a:lvl1pPr>
              <a:defRPr sz="2800"/>
            </a:lvl1pPr>
            <a:lvl2pPr>
              <a:defRPr sz="2800"/>
            </a:lvl2pPr>
            <a:lvl3pPr>
              <a:defRPr sz="2000"/>
            </a:lvl3pPr>
            <a:lvl4pPr>
              <a:defRPr sz="1800"/>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Second level</a:t>
            </a:r>
          </a:p>
        </p:txBody>
      </p:sp>
    </p:spTree>
    <p:extLst>
      <p:ext uri="{BB962C8B-B14F-4D97-AF65-F5344CB8AC3E}">
        <p14:creationId xmlns:p14="http://schemas.microsoft.com/office/powerpoint/2010/main" val="25415433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5_Slide 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CỘT</a:t>
            </a:r>
            <a:endParaRPr lang="vi-VN"/>
          </a:p>
        </p:txBody>
      </p:sp>
    </p:spTree>
    <p:extLst>
      <p:ext uri="{BB962C8B-B14F-4D97-AF65-F5344CB8AC3E}">
        <p14:creationId xmlns:p14="http://schemas.microsoft.com/office/powerpoint/2010/main" val="201123876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05_Slide Two Colum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25423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5_Slide Two Colum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33671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5_Slide Two Colum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48716980-92B1-EFAB-E559-9C67E7C615BC}"/>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007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5_Slide Two Colum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6553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0"/>
            <a:ext cx="44196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72464217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5_Slide Two Colum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4286864"/>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4286864"/>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17B267FE-1A4A-FC5A-B1BF-212E21F3C20F}"/>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23991295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5_Slide Two Colum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3810000"/>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3810000"/>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87C8D0DD-B54D-81D5-B7D4-10338B1E3280}"/>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9230448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Slide Two Column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5_Slide Two Column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DA1A5BA2-D508-AFA2-E487-FE996D715498}"/>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16089533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5_Slide Two Column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3809999"/>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3809999"/>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9B108584-BFF3-2406-377A-3236D4DB99A3}"/>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0506977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05_Slide Two Column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5_Slide Two Column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11640B4C-4BB4-59DC-6FB5-BE2BEAB17DCB}"/>
              </a:ext>
            </a:extLst>
          </p:cNvPr>
          <p:cNvSpPr>
            <a:spLocks noGrp="1"/>
          </p:cNvSpPr>
          <p:nvPr>
            <p:ph idx="16" hasCustomPrompt="1"/>
          </p:nvPr>
        </p:nvSpPr>
        <p:spPr>
          <a:xfrm>
            <a:off x="609600" y="5887064"/>
            <a:ext cx="115824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10927781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5_Slide Two Column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501540FF-506E-C951-CCC4-F2846A5D1DE5}"/>
              </a:ext>
            </a:extLst>
          </p:cNvPr>
          <p:cNvSpPr>
            <a:spLocks noGrp="1"/>
          </p:cNvSpPr>
          <p:nvPr>
            <p:ph idx="16" hasCustomPrompt="1"/>
          </p:nvPr>
        </p:nvSpPr>
        <p:spPr>
          <a:xfrm>
            <a:off x="609600" y="5410200"/>
            <a:ext cx="116128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20451748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05_Slide Two Column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5_Slide Two Column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739BE0C1-77A6-4A1D-2879-D18D2A156490}"/>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3437677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5_Slide Two Column 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7836774-98E2-8399-1A89-B989AAE076F4}"/>
              </a:ext>
            </a:extLst>
          </p:cNvPr>
          <p:cNvSpPr>
            <a:spLocks noGrp="1"/>
          </p:cNvSpPr>
          <p:nvPr>
            <p:ph idx="16" hasCustomPrompt="1"/>
          </p:nvPr>
        </p:nvSpPr>
        <p:spPr>
          <a:xfrm>
            <a:off x="0" y="5410200"/>
            <a:ext cx="122224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4860053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05_Slide Two Column 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5862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05_Slide Two Column 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998632"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12438891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5_Slide Two Column 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63386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05_Slide Two Column 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15824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69637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05_Slide Two Column 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50995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05_Slide Two Column 2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32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648856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06_Slide Three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BA CỘT</a:t>
            </a:r>
            <a:endParaRPr lang="vi-VN"/>
          </a:p>
        </p:txBody>
      </p:sp>
    </p:spTree>
    <p:extLst>
      <p:ext uri="{BB962C8B-B14F-4D97-AF65-F5344CB8AC3E}">
        <p14:creationId xmlns:p14="http://schemas.microsoft.com/office/powerpoint/2010/main" val="38760989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019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07_Slide Four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CỘT</a:t>
            </a:r>
            <a:endParaRPr lang="vi-VN"/>
          </a:p>
        </p:txBody>
      </p:sp>
    </p:spTree>
    <p:extLst>
      <p:ext uri="{BB962C8B-B14F-4D97-AF65-F5344CB8AC3E}">
        <p14:creationId xmlns:p14="http://schemas.microsoft.com/office/powerpoint/2010/main" val="3094009430"/>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8_Slide Four P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PHẦN</a:t>
            </a:r>
            <a:endParaRPr lang="vi-VN"/>
          </a:p>
        </p:txBody>
      </p:sp>
    </p:spTree>
    <p:extLst>
      <p:ext uri="{BB962C8B-B14F-4D97-AF65-F5344CB8AC3E}">
        <p14:creationId xmlns:p14="http://schemas.microsoft.com/office/powerpoint/2010/main" val="205230299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167656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9_Flow Ch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LƯU ĐỒ</a:t>
            </a:r>
            <a:endParaRPr lang="vi-VN"/>
          </a:p>
        </p:txBody>
      </p:sp>
    </p:spTree>
    <p:extLst>
      <p:ext uri="{BB962C8B-B14F-4D97-AF65-F5344CB8AC3E}">
        <p14:creationId xmlns:p14="http://schemas.microsoft.com/office/powerpoint/2010/main" val="1782140233"/>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79195953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14854" y="1066801"/>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14854" y="0"/>
            <a:ext cx="6077146"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157118" y="1066800"/>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87114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11764"/>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184098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88173" y="0"/>
            <a:ext cx="5994400" cy="60960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4309164"/>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 Id="rId60" Type="http://schemas.openxmlformats.org/officeDocument/2006/relationships/image" Target="../media/image1.png"/><Relationship Id="rId61" Type="http://schemas.openxmlformats.org/officeDocument/2006/relationships/image" Target="../media/image2.png"/><Relationship Id="rId6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0">
            <a:lum/>
          </a:blip>
          <a:srcRect/>
          <a:stretch>
            <a:fillRect l="-1000" r="-1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pic>
        <p:nvPicPr>
          <p:cNvPr id="7" name="Picture 6" descr="A picture containing text&#10;&#10;Description automatically generated">
            <a:extLst>
              <a:ext uri="{FF2B5EF4-FFF2-40B4-BE49-F238E27FC236}">
                <a16:creationId xmlns:a16="http://schemas.microsoft.com/office/drawing/2014/main" id="{B82A81E1-3619-4A2C-AB88-C7D0762594CD}"/>
              </a:ext>
            </a:extLst>
          </p:cNvPr>
          <p:cNvPicPr>
            <a:picLocks noChangeAspect="1"/>
          </p:cNvPicPr>
          <p:nvPr userDrawn="1"/>
        </p:nvPicPr>
        <p:blipFill>
          <a:blip r:embed="rId61" cstate="print">
            <a:extLst>
              <a:ext uri="{28A0092B-C50C-407E-A947-70E740481C1C}">
                <a14:useLocalDpi xmlns:a14="http://schemas.microsoft.com/office/drawing/2010/main" val="0"/>
              </a:ext>
            </a:extLst>
          </a:blip>
          <a:stretch>
            <a:fillRect/>
          </a:stretch>
        </p:blipFill>
        <p:spPr>
          <a:xfrm>
            <a:off x="9906000" y="103160"/>
            <a:ext cx="1375575" cy="567426"/>
          </a:xfrm>
          <a:prstGeom prst="rect">
            <a:avLst/>
          </a:prstGeom>
        </p:spPr>
      </p:pic>
      <p:pic>
        <p:nvPicPr>
          <p:cNvPr id="8" name="Picture 7" descr="Logo&#10;&#10;Description automatically generated">
            <a:extLst>
              <a:ext uri="{FF2B5EF4-FFF2-40B4-BE49-F238E27FC236}">
                <a16:creationId xmlns:a16="http://schemas.microsoft.com/office/drawing/2014/main" id="{0B594A5E-2439-4755-BAA8-30F12FADD3C7}"/>
              </a:ext>
            </a:extLst>
          </p:cNvPr>
          <p:cNvPicPr>
            <a:picLocks noChangeAspect="1"/>
          </p:cNvPicPr>
          <p:nvPr userDrawn="1"/>
        </p:nvPicPr>
        <p:blipFill>
          <a:blip r:embed="rId62" cstate="print">
            <a:extLst>
              <a:ext uri="{28A0092B-C50C-407E-A947-70E740481C1C}">
                <a14:useLocalDpi xmlns:a14="http://schemas.microsoft.com/office/drawing/2010/main" val="0"/>
              </a:ext>
            </a:extLst>
          </a:blip>
          <a:stretch>
            <a:fillRect/>
          </a:stretch>
        </p:blipFill>
        <p:spPr>
          <a:xfrm>
            <a:off x="11284908" y="70999"/>
            <a:ext cx="843402" cy="843402"/>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649" r:id="rId3"/>
    <p:sldLayoutId id="2147483720" r:id="rId4"/>
    <p:sldLayoutId id="2147483652" r:id="rId5"/>
    <p:sldLayoutId id="2147483750" r:id="rId6"/>
    <p:sldLayoutId id="2147483718" r:id="rId7"/>
    <p:sldLayoutId id="2147483650" r:id="rId8"/>
    <p:sldLayoutId id="2147483721" r:id="rId9"/>
    <p:sldLayoutId id="2147483723" r:id="rId10"/>
    <p:sldLayoutId id="2147483716" r:id="rId11"/>
    <p:sldLayoutId id="2147483722" r:id="rId12"/>
    <p:sldLayoutId id="2147483748" r:id="rId13"/>
    <p:sldLayoutId id="2147483749" r:id="rId14"/>
    <p:sldLayoutId id="2147483717" r:id="rId15"/>
    <p:sldLayoutId id="2147483719" r:id="rId16"/>
    <p:sldLayoutId id="2147483725" r:id="rId17"/>
    <p:sldLayoutId id="2147483726" r:id="rId18"/>
    <p:sldLayoutId id="2147483727" r:id="rId19"/>
    <p:sldLayoutId id="2147483724" r:id="rId20"/>
    <p:sldLayoutId id="2147483651" r:id="rId21"/>
    <p:sldLayoutId id="2147483712" r:id="rId22"/>
    <p:sldLayoutId id="2147483713" r:id="rId23"/>
    <p:sldLayoutId id="2147483728" r:id="rId24"/>
    <p:sldLayoutId id="2147483707" r:id="rId25"/>
    <p:sldLayoutId id="2147483709" r:id="rId26"/>
    <p:sldLayoutId id="2147483730" r:id="rId27"/>
    <p:sldLayoutId id="2147483700" r:id="rId28"/>
    <p:sldLayoutId id="2147483731" r:id="rId29"/>
    <p:sldLayoutId id="2147483732" r:id="rId30"/>
    <p:sldLayoutId id="2147483689" r:id="rId31"/>
    <p:sldLayoutId id="2147483733" r:id="rId32"/>
    <p:sldLayoutId id="2147483734" r:id="rId33"/>
    <p:sldLayoutId id="2147483679" r:id="rId34"/>
    <p:sldLayoutId id="2147483735" r:id="rId35"/>
    <p:sldLayoutId id="2147483736" r:id="rId36"/>
    <p:sldLayoutId id="2147483684" r:id="rId37"/>
    <p:sldLayoutId id="2147483737" r:id="rId38"/>
    <p:sldLayoutId id="2147483738" r:id="rId39"/>
    <p:sldLayoutId id="2147483741" r:id="rId40"/>
    <p:sldLayoutId id="2147483742" r:id="rId41"/>
    <p:sldLayoutId id="2147483743" r:id="rId42"/>
    <p:sldLayoutId id="2147483744" r:id="rId43"/>
    <p:sldLayoutId id="2147483745" r:id="rId44"/>
    <p:sldLayoutId id="2147483747" r:id="rId45"/>
    <p:sldLayoutId id="2147483729" r:id="rId46"/>
    <p:sldLayoutId id="2147483686" r:id="rId47"/>
    <p:sldLayoutId id="2147483711" r:id="rId48"/>
    <p:sldLayoutId id="2147483739" r:id="rId49"/>
    <p:sldLayoutId id="2147483688" r:id="rId50"/>
    <p:sldLayoutId id="2147483740" r:id="rId51"/>
    <p:sldLayoutId id="2147483694" r:id="rId52"/>
    <p:sldLayoutId id="2147483687" r:id="rId53"/>
    <p:sldLayoutId id="2147483746" r:id="rId54"/>
    <p:sldLayoutId id="2147483701" r:id="rId55"/>
    <p:sldLayoutId id="2147483702" r:id="rId56"/>
    <p:sldLayoutId id="2147483703" r:id="rId57"/>
    <p:sldLayoutId id="2147483704" r:id="rId58"/>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sds-platform-private.s3-us-east-2.amazonaws.com/uploads/P14-Polynomial-Regression.zi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a:t>SUPPORT VECTOR REGRESSION</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a:t>KS. Quan Chí Khánh An</a:t>
            </a:r>
          </a:p>
          <a:p>
            <a:pPr defTabSz="-13871574">
              <a:spcBef>
                <a:spcPts val="0"/>
              </a:spcBef>
              <a:spcAft>
                <a:spcPts val="0"/>
              </a:spcAft>
              <a:defRPr/>
            </a:pPr>
            <a:r>
              <a:rPr lang="en-US">
                <a:solidFill>
                  <a:srgbClr val="FF0000"/>
                </a:solidFill>
              </a:rPr>
              <a:t>KS. Lê Ngọc Huy</a:t>
            </a:r>
          </a:p>
          <a:p>
            <a:pPr defTabSz="-13871574">
              <a:spcBef>
                <a:spcPts val="0"/>
              </a:spcBef>
              <a:spcAft>
                <a:spcPts val="0"/>
              </a:spcAft>
              <a:defRPr/>
            </a:pPr>
            <a:r>
              <a:rPr lang="en-US"/>
              <a:t>CN. Bùi Cao Doanh</a:t>
            </a:r>
          </a:p>
          <a:p>
            <a:pPr defTabSz="-13871574">
              <a:spcBef>
                <a:spcPts val="0"/>
              </a:spcBef>
              <a:spcAft>
                <a:spcPts val="0"/>
              </a:spcAft>
              <a:defRPr/>
            </a:pPr>
            <a:r>
              <a:rPr lang="en-US">
                <a:solidFill>
                  <a:srgbClr val="FF0000"/>
                </a:solidFill>
              </a:rPr>
              <a:t>CN. Nguyễn Trọng Thuận</a:t>
            </a:r>
          </a:p>
          <a:p>
            <a:pPr defTabSz="-13871574">
              <a:spcBef>
                <a:spcPts val="0"/>
              </a:spcBef>
              <a:spcAft>
                <a:spcPts val="0"/>
              </a:spcAft>
              <a:defRPr/>
            </a:pPr>
            <a:r>
              <a:rPr lang="en-US"/>
              <a:t>KS. Phan Vĩnh Long</a:t>
            </a:r>
          </a:p>
          <a:p>
            <a:pPr defTabSz="-13871574">
              <a:spcBef>
                <a:spcPts val="0"/>
              </a:spcBef>
              <a:spcAft>
                <a:spcPts val="0"/>
              </a:spcAft>
              <a:defRPr/>
            </a:pPr>
            <a:r>
              <a:rPr lang="en-US">
                <a:solidFill>
                  <a:srgbClr val="FF0000"/>
                </a:solidFill>
              </a:rPr>
              <a:t>KS. Nguyễn Cường Phát</a:t>
            </a:r>
          </a:p>
          <a:p>
            <a:pPr defTabSz="-13871574">
              <a:spcBef>
                <a:spcPts val="0"/>
              </a:spcBef>
              <a:spcAft>
                <a:spcPts val="0"/>
              </a:spcAft>
              <a:defRPr/>
            </a:pPr>
            <a:r>
              <a:rPr lang="en-US"/>
              <a:t>ThS. Nguyễn Hoàng Ngân</a:t>
            </a:r>
          </a:p>
          <a:p>
            <a:pPr defTabSz="-13871574">
              <a:spcBef>
                <a:spcPts val="0"/>
              </a:spcBef>
              <a:spcAft>
                <a:spcPts val="0"/>
              </a:spcAft>
              <a:defRPr/>
            </a:pPr>
            <a:r>
              <a:rPr lang="en-US">
                <a:solidFill>
                  <a:srgbClr val="FF0000"/>
                </a:solidFill>
              </a:rPr>
              <a:t>KS. Hồ Thái Ngọc</a:t>
            </a:r>
          </a:p>
          <a:p>
            <a:pPr defTabSz="-13871574">
              <a:spcBef>
                <a:spcPts val="0"/>
              </a:spcBef>
              <a:spcAft>
                <a:spcPts val="0"/>
              </a:spcAft>
              <a:defRPr/>
            </a:pPr>
            <a:r>
              <a:rPr lang="en-US"/>
              <a:t>ThS. Đỗ Văn Tiến</a:t>
            </a:r>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a:t>Nguyễn Hoàng Yến Như</a:t>
            </a:r>
          </a:p>
          <a:p>
            <a:r>
              <a:rPr lang="en-US">
                <a:solidFill>
                  <a:srgbClr val="FF0000"/>
                </a:solidFill>
              </a:rPr>
              <a:t>Nguyễn Trần Phúc Nghi</a:t>
            </a:r>
          </a:p>
          <a:p>
            <a:r>
              <a:rPr lang="en-US"/>
              <a:t>Nguyễn Trần Phúc An</a:t>
            </a:r>
          </a:p>
          <a:p>
            <a:r>
              <a:rPr lang="en-US">
                <a:solidFill>
                  <a:srgbClr val="FF0000"/>
                </a:solidFill>
              </a:rPr>
              <a:t>Nguyễn Đức Anh Phúc</a:t>
            </a:r>
          </a:p>
          <a:p>
            <a:r>
              <a:rPr lang="en-US"/>
              <a:t>Trịnh Thị Thanh Trúc</a:t>
            </a:r>
          </a:p>
          <a:p>
            <a:r>
              <a:rPr lang="en-US"/>
              <a:t>KS. Cao Bá Kiệt</a:t>
            </a:r>
          </a:p>
          <a:p>
            <a:endParaRPr lang="en-US">
              <a:solidFill>
                <a:srgbClr val="FF0000"/>
              </a:solidFill>
            </a:endParaRPr>
          </a:p>
          <a:p>
            <a:endParaRPr lang="en-US"/>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26523486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6245FF-8586-4FD3-AA10-1C3CFDBBC7E7}"/>
              </a:ext>
            </a:extLst>
          </p:cNvPr>
          <p:cNvSpPr>
            <a:spLocks noGrp="1"/>
          </p:cNvSpPr>
          <p:nvPr>
            <p:ph type="title"/>
          </p:nvPr>
        </p:nvSpPr>
        <p:spPr/>
        <p:txBody>
          <a:bodyPr/>
          <a:lstStyle/>
          <a:p>
            <a:r>
              <a:rPr lang="en-US" dirty="0"/>
              <a:t>DATASET</a:t>
            </a:r>
            <a:endParaRPr lang="vi-VN" dirty="0"/>
          </a:p>
        </p:txBody>
      </p:sp>
      <p:sp>
        <p:nvSpPr>
          <p:cNvPr id="6" name="Text Placeholder 5">
            <a:extLst>
              <a:ext uri="{FF2B5EF4-FFF2-40B4-BE49-F238E27FC236}">
                <a16:creationId xmlns:a16="http://schemas.microsoft.com/office/drawing/2014/main" id="{66AB2436-AE32-4F97-9433-3C45DDE9AA5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12453523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B7DD22-C6B4-4319-B28A-4C0FF1AB5A9F}"/>
              </a:ext>
            </a:extLst>
          </p:cNvPr>
          <p:cNvSpPr>
            <a:spLocks noGrp="1"/>
          </p:cNvSpPr>
          <p:nvPr>
            <p:ph type="title"/>
          </p:nvPr>
        </p:nvSpPr>
        <p:spPr/>
        <p:txBody>
          <a:bodyPr/>
          <a:lstStyle/>
          <a:p>
            <a:r>
              <a:rPr lang="en-US" dirty="0"/>
              <a:t>Dataset</a:t>
            </a:r>
            <a:endParaRPr lang="vi-VN" dirty="0"/>
          </a:p>
        </p:txBody>
      </p:sp>
      <p:sp>
        <p:nvSpPr>
          <p:cNvPr id="5" name="Content Placeholder 4">
            <a:extLst>
              <a:ext uri="{FF2B5EF4-FFF2-40B4-BE49-F238E27FC236}">
                <a16:creationId xmlns:a16="http://schemas.microsoft.com/office/drawing/2014/main" id="{AE9D9001-EB26-4768-B1A1-F98ECEDB5E7D}"/>
              </a:ext>
            </a:extLst>
          </p:cNvPr>
          <p:cNvSpPr>
            <a:spLocks noGrp="1"/>
          </p:cNvSpPr>
          <p:nvPr>
            <p:ph idx="1"/>
          </p:nvPr>
        </p:nvSpPr>
        <p:spPr/>
        <p:txBody>
          <a:bodyPr/>
          <a:lstStyle/>
          <a:p>
            <a:pPr algn="just"/>
            <a:r>
              <a:rPr lang="en-US" sz="2800">
                <a:solidFill>
                  <a:srgbClr val="0066FF"/>
                </a:solidFill>
              </a:rPr>
              <a:t>Tên tập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Position Salaries.</a:t>
            </a:r>
          </a:p>
          <a:p>
            <a:pPr algn="just"/>
            <a:r>
              <a:rPr lang="en-US" sz="2800" dirty="0" err="1">
                <a:solidFill>
                  <a:srgbClr val="FF0000"/>
                </a:solidFill>
              </a:rPr>
              <a:t>Nguồn</a:t>
            </a:r>
            <a:r>
              <a:rPr lang="en-US" sz="2800" dirty="0">
                <a:solidFill>
                  <a:srgbClr val="FF0000"/>
                </a:solidFill>
              </a:rPr>
              <a:t>: </a:t>
            </a:r>
            <a:r>
              <a:rPr lang="en-US" sz="2800" dirty="0">
                <a:hlinkClick r:id="rId2"/>
              </a:rPr>
              <a:t>https://www.superdatascience.com/pages/machine-learning</a:t>
            </a:r>
            <a:r>
              <a:rPr lang="en-US" sz="2800" dirty="0"/>
              <a:t>.</a:t>
            </a:r>
          </a:p>
          <a:p>
            <a:pPr algn="just"/>
            <a:r>
              <a:rPr lang="en-US" sz="2800" dirty="0" err="1">
                <a:solidFill>
                  <a:srgbClr val="0066FF"/>
                </a:solidFill>
              </a:rPr>
              <a:t>Tập</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gồm</a:t>
            </a:r>
            <a:r>
              <a:rPr lang="en-US" sz="2800" dirty="0">
                <a:solidFill>
                  <a:srgbClr val="0066FF"/>
                </a:solidFill>
              </a:rPr>
              <a:t> 10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mỗi</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gồm</a:t>
            </a:r>
            <a:r>
              <a:rPr lang="en-US" sz="2800" dirty="0">
                <a:solidFill>
                  <a:srgbClr val="0066FF"/>
                </a:solidFill>
              </a:rPr>
              <a:t> 3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 </a:t>
            </a:r>
            <a:r>
              <a:rPr lang="en-US" sz="2800" dirty="0" err="1">
                <a:solidFill>
                  <a:srgbClr val="0066FF"/>
                </a:solidFill>
              </a:rPr>
              <a:t>gồm</a:t>
            </a:r>
            <a:r>
              <a:rPr lang="en-US" sz="2800" dirty="0">
                <a:solidFill>
                  <a:srgbClr val="0066FF"/>
                </a:solidFill>
              </a:rPr>
              <a:t>:</a:t>
            </a:r>
          </a:p>
          <a:p>
            <a:pPr lvl="1" algn="just"/>
            <a:r>
              <a:rPr lang="en-US" sz="2800" dirty="0" err="1">
                <a:solidFill>
                  <a:srgbClr val="FF0000"/>
                </a:solidFill>
              </a:rPr>
              <a:t>Vị</a:t>
            </a:r>
            <a:r>
              <a:rPr lang="en-US" sz="2800" dirty="0">
                <a:solidFill>
                  <a:srgbClr val="FF0000"/>
                </a:solidFill>
              </a:rPr>
              <a:t> </a:t>
            </a:r>
            <a:r>
              <a:rPr lang="en-US" sz="2800" dirty="0" err="1">
                <a:solidFill>
                  <a:srgbClr val="FF0000"/>
                </a:solidFill>
              </a:rPr>
              <a:t>trí</a:t>
            </a:r>
            <a:r>
              <a:rPr lang="en-US" sz="2800" dirty="0">
                <a:solidFill>
                  <a:srgbClr val="FF0000"/>
                </a:solidFill>
              </a:rPr>
              <a:t> </a:t>
            </a:r>
            <a:r>
              <a:rPr lang="en-US" sz="2800" dirty="0" err="1">
                <a:solidFill>
                  <a:srgbClr val="FF0000"/>
                </a:solidFill>
              </a:rPr>
              <a:t>công</a:t>
            </a:r>
            <a:r>
              <a:rPr lang="en-US" sz="2800" dirty="0">
                <a:solidFill>
                  <a:srgbClr val="FF0000"/>
                </a:solidFill>
              </a:rPr>
              <a:t> </a:t>
            </a:r>
            <a:r>
              <a:rPr lang="en-US" sz="2800" dirty="0" err="1">
                <a:solidFill>
                  <a:srgbClr val="FF0000"/>
                </a:solidFill>
              </a:rPr>
              <a:t>việc</a:t>
            </a:r>
            <a:r>
              <a:rPr lang="en-US" sz="2800" dirty="0">
                <a:solidFill>
                  <a:srgbClr val="FF0000"/>
                </a:solidFill>
              </a:rPr>
              <a:t> (Position): </a:t>
            </a:r>
            <a:r>
              <a:rPr lang="en-US" sz="2800" dirty="0" err="1">
                <a:solidFill>
                  <a:srgbClr val="FF0000"/>
                </a:solidFill>
              </a:rPr>
              <a:t>mô</a:t>
            </a:r>
            <a:r>
              <a:rPr lang="en-US" sz="2800" dirty="0">
                <a:solidFill>
                  <a:srgbClr val="FF0000"/>
                </a:solidFill>
              </a:rPr>
              <a:t> </a:t>
            </a:r>
            <a:r>
              <a:rPr lang="en-US" sz="2800" dirty="0" err="1">
                <a:solidFill>
                  <a:srgbClr val="FF0000"/>
                </a:solidFill>
              </a:rPr>
              <a:t>tả</a:t>
            </a:r>
            <a:r>
              <a:rPr lang="en-US" sz="2800" dirty="0">
                <a:solidFill>
                  <a:srgbClr val="FF0000"/>
                </a:solidFill>
              </a:rPr>
              <a:t> </a:t>
            </a:r>
            <a:r>
              <a:rPr lang="en-US" sz="2800" dirty="0" err="1">
                <a:solidFill>
                  <a:srgbClr val="FF0000"/>
                </a:solidFill>
              </a:rPr>
              <a:t>tên</a:t>
            </a:r>
            <a:r>
              <a:rPr lang="en-US" sz="2800" dirty="0">
                <a:solidFill>
                  <a:srgbClr val="FF0000"/>
                </a:solidFill>
              </a:rPr>
              <a:t> </a:t>
            </a:r>
            <a:r>
              <a:rPr lang="en-US" sz="2800" dirty="0" err="1">
                <a:solidFill>
                  <a:srgbClr val="FF0000"/>
                </a:solidFill>
              </a:rPr>
              <a:t>một</a:t>
            </a:r>
            <a:r>
              <a:rPr lang="en-US" sz="2800" dirty="0">
                <a:solidFill>
                  <a:srgbClr val="FF0000"/>
                </a:solidFill>
              </a:rPr>
              <a:t> </a:t>
            </a:r>
            <a:r>
              <a:rPr lang="en-US" sz="2800" dirty="0" err="1">
                <a:solidFill>
                  <a:srgbClr val="FF0000"/>
                </a:solidFill>
              </a:rPr>
              <a:t>công</a:t>
            </a:r>
            <a:r>
              <a:rPr lang="en-US" sz="2800" dirty="0">
                <a:solidFill>
                  <a:srgbClr val="FF0000"/>
                </a:solidFill>
              </a:rPr>
              <a:t> </a:t>
            </a:r>
            <a:r>
              <a:rPr lang="en-US" sz="2800" dirty="0" err="1">
                <a:solidFill>
                  <a:srgbClr val="FF0000"/>
                </a:solidFill>
              </a:rPr>
              <a:t>việc</a:t>
            </a:r>
            <a:r>
              <a:rPr lang="en-US" sz="2800" dirty="0">
                <a:solidFill>
                  <a:srgbClr val="FF0000"/>
                </a:solidFill>
              </a:rPr>
              <a:t>.</a:t>
            </a:r>
          </a:p>
          <a:p>
            <a:pPr lvl="1" algn="just"/>
            <a:r>
              <a:rPr lang="en-US" sz="2800" dirty="0" err="1">
                <a:solidFill>
                  <a:srgbClr val="0066FF"/>
                </a:solidFill>
              </a:rPr>
              <a:t>Cấp</a:t>
            </a:r>
            <a:r>
              <a:rPr lang="en-US" sz="2800" dirty="0">
                <a:solidFill>
                  <a:srgbClr val="0066FF"/>
                </a:solidFill>
              </a:rPr>
              <a:t> </a:t>
            </a:r>
            <a:r>
              <a:rPr lang="en-US" sz="2800" dirty="0" err="1">
                <a:solidFill>
                  <a:srgbClr val="0066FF"/>
                </a:solidFill>
              </a:rPr>
              <a:t>bậc</a:t>
            </a:r>
            <a:r>
              <a:rPr lang="en-US" sz="2800" dirty="0">
                <a:solidFill>
                  <a:srgbClr val="0066FF"/>
                </a:solidFill>
              </a:rPr>
              <a:t> (Level):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a:t>
            </a:r>
            <a:r>
              <a:rPr lang="en-US" sz="2800" dirty="0" err="1">
                <a:solidFill>
                  <a:srgbClr val="0066FF"/>
                </a:solidFill>
              </a:rPr>
              <a:t>nguyên</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khoảng</a:t>
            </a:r>
            <a:r>
              <a:rPr lang="en-US" sz="2800" dirty="0">
                <a:solidFill>
                  <a:srgbClr val="0066FF"/>
                </a:solidFill>
              </a:rPr>
              <a:t> 1 – 10,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ứng</a:t>
            </a:r>
            <a:r>
              <a:rPr lang="en-US" sz="2800" dirty="0">
                <a:solidFill>
                  <a:srgbClr val="0066FF"/>
                </a:solidFill>
              </a:rPr>
              <a:t> </a:t>
            </a:r>
            <a:r>
              <a:rPr lang="en-US" sz="2800" dirty="0" err="1">
                <a:solidFill>
                  <a:srgbClr val="0066FF"/>
                </a:solidFill>
              </a:rPr>
              <a:t>với</a:t>
            </a:r>
            <a:r>
              <a:rPr lang="en-US" sz="2800" dirty="0">
                <a:solidFill>
                  <a:srgbClr val="0066FF"/>
                </a:solidFill>
              </a:rPr>
              <a:t> </a:t>
            </a:r>
            <a:r>
              <a:rPr lang="en-US" sz="2800" dirty="0" err="1">
                <a:solidFill>
                  <a:srgbClr val="0066FF"/>
                </a:solidFill>
              </a:rPr>
              <a:t>vị</a:t>
            </a:r>
            <a:r>
              <a:rPr lang="en-US" sz="2800" dirty="0">
                <a:solidFill>
                  <a:srgbClr val="0066FF"/>
                </a:solidFill>
              </a:rPr>
              <a:t> </a:t>
            </a:r>
            <a:r>
              <a:rPr lang="en-US" sz="2800" dirty="0" err="1">
                <a:solidFill>
                  <a:srgbClr val="0066FF"/>
                </a:solidFill>
              </a:rPr>
              <a:t>trí</a:t>
            </a:r>
            <a:r>
              <a:rPr lang="en-US" sz="2800" dirty="0">
                <a:solidFill>
                  <a:srgbClr val="0066FF"/>
                </a:solidFill>
              </a:rPr>
              <a:t> </a:t>
            </a:r>
            <a:r>
              <a:rPr lang="en-US" sz="2800" dirty="0" err="1">
                <a:solidFill>
                  <a:srgbClr val="0066FF"/>
                </a:solidFill>
              </a:rPr>
              <a:t>cao</a:t>
            </a:r>
            <a:r>
              <a:rPr lang="en-US" sz="2800" dirty="0">
                <a:solidFill>
                  <a:srgbClr val="0066FF"/>
                </a:solidFill>
              </a:rPr>
              <a:t> hay </a:t>
            </a:r>
            <a:r>
              <a:rPr lang="en-US" sz="2800" dirty="0" err="1">
                <a:solidFill>
                  <a:srgbClr val="0066FF"/>
                </a:solidFill>
              </a:rPr>
              <a:t>thấp</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công</a:t>
            </a:r>
            <a:r>
              <a:rPr lang="en-US" sz="2800" dirty="0">
                <a:solidFill>
                  <a:srgbClr val="0066FF"/>
                </a:solidFill>
              </a:rPr>
              <a:t> ty.</a:t>
            </a:r>
          </a:p>
          <a:p>
            <a:pPr lvl="1" algn="just"/>
            <a:r>
              <a:rPr lang="en-US" sz="2800" dirty="0" err="1">
                <a:solidFill>
                  <a:srgbClr val="FF0000"/>
                </a:solidFill>
              </a:rPr>
              <a:t>Mức</a:t>
            </a:r>
            <a:r>
              <a:rPr lang="en-US" sz="2800" dirty="0">
                <a:solidFill>
                  <a:srgbClr val="FF0000"/>
                </a:solidFill>
              </a:rPr>
              <a:t> l</a:t>
            </a:r>
            <a:r>
              <a:rPr lang="vi-VN" sz="2800" dirty="0">
                <a:solidFill>
                  <a:srgbClr val="FF0000"/>
                </a:solidFill>
              </a:rPr>
              <a:t>ư</a:t>
            </a:r>
            <a:r>
              <a:rPr lang="en-US" sz="2800" dirty="0" err="1">
                <a:solidFill>
                  <a:srgbClr val="FF0000"/>
                </a:solidFill>
              </a:rPr>
              <a:t>ơng</a:t>
            </a:r>
            <a:r>
              <a:rPr lang="en-US" sz="2800" dirty="0">
                <a:solidFill>
                  <a:srgbClr val="FF0000"/>
                </a:solidFill>
              </a:rPr>
              <a:t> (Salary): </a:t>
            </a:r>
            <a:r>
              <a:rPr lang="en-US" sz="2800" dirty="0" err="1">
                <a:solidFill>
                  <a:srgbClr val="FF0000"/>
                </a:solidFill>
              </a:rPr>
              <a:t>là</a:t>
            </a:r>
            <a:r>
              <a:rPr lang="en-US" sz="2800" dirty="0">
                <a:solidFill>
                  <a:srgbClr val="FF0000"/>
                </a:solidFill>
              </a:rPr>
              <a:t> </a:t>
            </a:r>
            <a:r>
              <a:rPr lang="en-US" sz="2800" dirty="0" err="1">
                <a:solidFill>
                  <a:srgbClr val="FF0000"/>
                </a:solidFill>
              </a:rPr>
              <a:t>một</a:t>
            </a:r>
            <a:r>
              <a:rPr lang="en-US" sz="2800" dirty="0">
                <a:solidFill>
                  <a:srgbClr val="FF0000"/>
                </a:solidFill>
              </a:rPr>
              <a:t> </a:t>
            </a:r>
            <a:r>
              <a:rPr lang="en-US" sz="2800" dirty="0" err="1">
                <a:solidFill>
                  <a:srgbClr val="FF0000"/>
                </a:solidFill>
              </a:rPr>
              <a:t>số</a:t>
            </a:r>
            <a:r>
              <a:rPr lang="en-US" sz="2800" dirty="0">
                <a:solidFill>
                  <a:srgbClr val="FF0000"/>
                </a:solidFill>
              </a:rPr>
              <a:t> </a:t>
            </a:r>
            <a:r>
              <a:rPr lang="en-US" sz="2800" dirty="0" err="1">
                <a:solidFill>
                  <a:srgbClr val="FF0000"/>
                </a:solidFill>
              </a:rPr>
              <a:t>thực</a:t>
            </a:r>
            <a:r>
              <a:rPr lang="en-US" sz="2800" dirty="0">
                <a:solidFill>
                  <a:srgbClr val="FF0000"/>
                </a:solidFill>
              </a:rPr>
              <a:t> d</a:t>
            </a:r>
            <a:r>
              <a:rPr lang="vi-VN" sz="2800" dirty="0">
                <a:solidFill>
                  <a:srgbClr val="FF0000"/>
                </a:solidFill>
              </a:rPr>
              <a:t>ư</a:t>
            </a:r>
            <a:r>
              <a:rPr lang="en-US" sz="2800" dirty="0" err="1">
                <a:solidFill>
                  <a:srgbClr val="FF0000"/>
                </a:solidFill>
              </a:rPr>
              <a:t>ơng</a:t>
            </a:r>
            <a:r>
              <a:rPr lang="en-US" sz="2800" dirty="0">
                <a:solidFill>
                  <a:srgbClr val="FF0000"/>
                </a:solidFill>
              </a:rPr>
              <a:t>.</a:t>
            </a:r>
            <a:endParaRPr lang="vi-VN" sz="2800" dirty="0">
              <a:solidFill>
                <a:srgbClr val="FF0000"/>
              </a:solidFill>
            </a:endParaRPr>
          </a:p>
        </p:txBody>
      </p:sp>
    </p:spTree>
    <p:extLst>
      <p:ext uri="{BB962C8B-B14F-4D97-AF65-F5344CB8AC3E}">
        <p14:creationId xmlns:p14="http://schemas.microsoft.com/office/powerpoint/2010/main" val="400551004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a:lstStyle/>
          <a:p>
            <a:r>
              <a:rPr lang="en-US" dirty="0"/>
              <a:t>Dataset</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320677" y="1596887"/>
              <a:ext cx="5528310"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349692">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45</m:t>
                                </m:r>
                                <m:r>
                                  <a:rPr lang="vi-VN" sz="2800" b="0" i="1" dirty="0" smtClean="0">
                                    <a:latin typeface="Cambria Math" panose="02040503050406030204" pitchFamily="18" charset="0"/>
                                  </a:rPr>
                                  <m:t>,</m:t>
                                </m:r>
                                <m:r>
                                  <a:rPr lang="vi-VN"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110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320677" y="1596887"/>
              <a:ext cx="5528310"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349692">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endParaRPr lang="en-US"/>
                        </a:p>
                      </a:txBody>
                      <a:tcPr anchor="ctr">
                        <a:blipFill>
                          <a:blip r:embed="rId2"/>
                          <a:stretch>
                            <a:fillRect l="-273370" t="-100840" r="-122826" b="-409244"/>
                          </a:stretch>
                        </a:blipFill>
                      </a:tcPr>
                    </a:tc>
                    <a:tc>
                      <a:txBody>
                        <a:bodyPr/>
                        <a:lstStyle/>
                        <a:p>
                          <a:endParaRPr lang="en-US"/>
                        </a:p>
                      </a:txBody>
                      <a:tcPr anchor="ctr">
                        <a:blipFill>
                          <a:blip r:embed="rId2"/>
                          <a:stretch>
                            <a:fillRect l="-309459" t="-100840" r="-1802" b="-409244"/>
                          </a:stretch>
                        </a:blip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273370" t="-200840" r="-122826" b="-309244"/>
                          </a:stretch>
                        </a:blipFill>
                      </a:tcPr>
                    </a:tc>
                    <a:tc>
                      <a:txBody>
                        <a:bodyPr/>
                        <a:lstStyle/>
                        <a:p>
                          <a:endParaRPr lang="en-US"/>
                        </a:p>
                      </a:txBody>
                      <a:tcPr anchor="ctr">
                        <a:blipFill>
                          <a:blip r:embed="rId2"/>
                          <a:stretch>
                            <a:fillRect l="-309459" t="-200840" r="-1802" b="-309244"/>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solidFill>
                          <a:srgbClr val="FFC000"/>
                        </a:solidFill>
                      </a:tcPr>
                    </a:tc>
                    <a:tc>
                      <a:txBody>
                        <a:bodyPr/>
                        <a:lstStyle/>
                        <a:p>
                          <a:endParaRPr lang="en-US"/>
                        </a:p>
                      </a:txBody>
                      <a:tcPr anchor="ctr">
                        <a:blipFill>
                          <a:blip r:embed="rId2"/>
                          <a:stretch>
                            <a:fillRect l="-273370" t="-300840" r="-122826" b="-209244"/>
                          </a:stretch>
                        </a:blipFill>
                      </a:tcPr>
                    </a:tc>
                    <a:tc>
                      <a:txBody>
                        <a:bodyPr/>
                        <a:lstStyle/>
                        <a:p>
                          <a:endParaRPr lang="en-US"/>
                        </a:p>
                      </a:txBody>
                      <a:tcPr anchor="ctr">
                        <a:blipFill>
                          <a:blip r:embed="rId2"/>
                          <a:stretch>
                            <a:fillRect l="-309459" t="-300840" r="-1802" b="-209244"/>
                          </a:stretch>
                        </a:blip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endParaRPr lang="en-US"/>
                        </a:p>
                      </a:txBody>
                      <a:tcPr anchor="ctr">
                        <a:blipFill>
                          <a:blip r:embed="rId2"/>
                          <a:stretch>
                            <a:fillRect l="-273370" t="-400840" r="-122826" b="-109244"/>
                          </a:stretch>
                        </a:blipFill>
                      </a:tcPr>
                    </a:tc>
                    <a:tc>
                      <a:txBody>
                        <a:bodyPr/>
                        <a:lstStyle/>
                        <a:p>
                          <a:endParaRPr lang="en-US"/>
                        </a:p>
                      </a:txBody>
                      <a:tcPr anchor="ctr">
                        <a:blipFill>
                          <a:blip r:embed="rId2"/>
                          <a:stretch>
                            <a:fillRect l="-309459" t="-400840" r="-1802" b="-109244"/>
                          </a:stretch>
                        </a:blip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273370" t="-500840" r="-122826" b="-9244"/>
                          </a:stretch>
                        </a:blipFill>
                      </a:tcPr>
                    </a:tc>
                    <a:tc>
                      <a:txBody>
                        <a:bodyPr/>
                        <a:lstStyle/>
                        <a:p>
                          <a:endParaRPr lang="en-US"/>
                        </a:p>
                      </a:txBody>
                      <a:tcPr anchor="ctr">
                        <a:blipFill>
                          <a:blip r:embed="rId2"/>
                          <a:stretch>
                            <a:fillRect l="-309459" t="-500840" r="-1802" b="-9244"/>
                          </a:stretch>
                        </a:blipFill>
                      </a:tcPr>
                    </a:tc>
                    <a:extLst>
                      <a:ext uri="{0D108BD9-81ED-4DB2-BD59-A6C34878D82A}">
                        <a16:rowId xmlns:a16="http://schemas.microsoft.com/office/drawing/2014/main" val="296356127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76BB3A3E-4B74-473E-A2D6-7732B109B350}"/>
                  </a:ext>
                </a:extLst>
              </p:cNvPr>
              <p:cNvGraphicFramePr>
                <a:graphicFrameLocks/>
              </p:cNvGraphicFramePr>
              <p:nvPr/>
            </p:nvGraphicFramePr>
            <p:xfrm>
              <a:off x="6343014" y="1596887"/>
              <a:ext cx="5848986"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670368">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200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300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2963561270"/>
                      </a:ext>
                    </a:extLst>
                  </a:tr>
                </a:tbl>
              </a:graphicData>
            </a:graphic>
          </p:graphicFrame>
        </mc:Choice>
        <mc:Fallback xmlns="">
          <p:graphicFrame>
            <p:nvGraphicFramePr>
              <p:cNvPr id="8" name="Content Placeholder 3">
                <a:extLst>
                  <a:ext uri="{FF2B5EF4-FFF2-40B4-BE49-F238E27FC236}">
                    <a16:creationId xmlns:a16="http://schemas.microsoft.com/office/drawing/2014/main" id="{76BB3A3E-4B74-473E-A2D6-7732B109B350}"/>
                  </a:ext>
                </a:extLst>
              </p:cNvPr>
              <p:cNvGraphicFramePr>
                <a:graphicFrameLocks/>
              </p:cNvGraphicFramePr>
              <p:nvPr/>
            </p:nvGraphicFramePr>
            <p:xfrm>
              <a:off x="6343014" y="1596887"/>
              <a:ext cx="5848986"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670368">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endParaRPr lang="en-US"/>
                        </a:p>
                      </a:txBody>
                      <a:tcPr anchor="ctr">
                        <a:blipFill>
                          <a:blip r:embed="rId3"/>
                          <a:stretch>
                            <a:fillRect l="-271351" t="-100840" r="-150811" b="-409244"/>
                          </a:stretch>
                        </a:blipFill>
                      </a:tcPr>
                    </a:tc>
                    <a:tc>
                      <a:txBody>
                        <a:bodyPr/>
                        <a:lstStyle/>
                        <a:p>
                          <a:endParaRPr lang="en-US"/>
                        </a:p>
                      </a:txBody>
                      <a:tcPr anchor="ctr">
                        <a:blipFill>
                          <a:blip r:embed="rId3"/>
                          <a:stretch>
                            <a:fillRect l="-250730" t="-100840" r="-1825" b="-409244"/>
                          </a:stretch>
                        </a:blip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endParaRPr lang="en-US"/>
                        </a:p>
                      </a:txBody>
                      <a:tcPr anchor="ctr">
                        <a:blipFill>
                          <a:blip r:embed="rId3"/>
                          <a:stretch>
                            <a:fillRect l="-271351" t="-200840" r="-150811" b="-309244"/>
                          </a:stretch>
                        </a:blipFill>
                      </a:tcPr>
                    </a:tc>
                    <a:tc>
                      <a:txBody>
                        <a:bodyPr/>
                        <a:lstStyle/>
                        <a:p>
                          <a:endParaRPr lang="en-US"/>
                        </a:p>
                      </a:txBody>
                      <a:tcPr anchor="ctr">
                        <a:blipFill>
                          <a:blip r:embed="rId3"/>
                          <a:stretch>
                            <a:fillRect l="-250730" t="-200840" r="-1825" b="-309244"/>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endParaRPr lang="en-US"/>
                        </a:p>
                      </a:txBody>
                      <a:tcPr anchor="ctr">
                        <a:blipFill>
                          <a:blip r:embed="rId3"/>
                          <a:stretch>
                            <a:fillRect l="-271351" t="-300840" r="-150811" b="-209244"/>
                          </a:stretch>
                        </a:blipFill>
                      </a:tcPr>
                    </a:tc>
                    <a:tc>
                      <a:txBody>
                        <a:bodyPr/>
                        <a:lstStyle/>
                        <a:p>
                          <a:endParaRPr lang="en-US"/>
                        </a:p>
                      </a:txBody>
                      <a:tcPr anchor="ctr">
                        <a:blipFill>
                          <a:blip r:embed="rId3"/>
                          <a:stretch>
                            <a:fillRect l="-250730" t="-300840" r="-1825" b="-209244"/>
                          </a:stretch>
                        </a:blip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endParaRPr lang="en-US"/>
                        </a:p>
                      </a:txBody>
                      <a:tcPr anchor="ctr">
                        <a:blipFill>
                          <a:blip r:embed="rId3"/>
                          <a:stretch>
                            <a:fillRect l="-271351" t="-400840" r="-150811" b="-109244"/>
                          </a:stretch>
                        </a:blipFill>
                      </a:tcPr>
                    </a:tc>
                    <a:tc>
                      <a:txBody>
                        <a:bodyPr/>
                        <a:lstStyle/>
                        <a:p>
                          <a:endParaRPr lang="en-US"/>
                        </a:p>
                      </a:txBody>
                      <a:tcPr anchor="ctr">
                        <a:blipFill>
                          <a:blip r:embed="rId3"/>
                          <a:stretch>
                            <a:fillRect l="-250730" t="-400840" r="-1825" b="-109244"/>
                          </a:stretch>
                        </a:blip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endParaRPr lang="en-US"/>
                        </a:p>
                      </a:txBody>
                      <a:tcPr anchor="ctr">
                        <a:blipFill>
                          <a:blip r:embed="rId3"/>
                          <a:stretch>
                            <a:fillRect l="-271351" t="-500840" r="-150811" b="-9244"/>
                          </a:stretch>
                        </a:blipFill>
                      </a:tcPr>
                    </a:tc>
                    <a:tc>
                      <a:txBody>
                        <a:bodyPr/>
                        <a:lstStyle/>
                        <a:p>
                          <a:endParaRPr lang="en-US"/>
                        </a:p>
                      </a:txBody>
                      <a:tcPr anchor="ctr">
                        <a:blipFill>
                          <a:blip r:embed="rId3"/>
                          <a:stretch>
                            <a:fillRect l="-250730" t="-500840" r="-1825" b="-9244"/>
                          </a:stretch>
                        </a:blipFill>
                      </a:tcPr>
                    </a:tc>
                    <a:extLst>
                      <a:ext uri="{0D108BD9-81ED-4DB2-BD59-A6C34878D82A}">
                        <a16:rowId xmlns:a16="http://schemas.microsoft.com/office/drawing/2014/main" val="2963561270"/>
                      </a:ext>
                    </a:extLst>
                  </a:tr>
                </a:tbl>
              </a:graphicData>
            </a:graphic>
          </p:graphicFrame>
        </mc:Fallback>
      </mc:AlternateContent>
    </p:spTree>
    <p:extLst>
      <p:ext uri="{BB962C8B-B14F-4D97-AF65-F5344CB8AC3E}">
        <p14:creationId xmlns:p14="http://schemas.microsoft.com/office/powerpoint/2010/main" val="90099856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A5CF-B133-45B8-92E1-DFB15218E94A}"/>
              </a:ext>
            </a:extLst>
          </p:cNvPr>
          <p:cNvSpPr>
            <a:spLocks noGrp="1"/>
          </p:cNvSpPr>
          <p:nvPr>
            <p:ph type="title"/>
          </p:nvPr>
        </p:nvSpPr>
        <p:spPr/>
        <p:txBody>
          <a:bodyPr/>
          <a:lstStyle/>
          <a:p>
            <a:r>
              <a:rPr lang="en-US" dirty="0"/>
              <a:t>Dataset</a:t>
            </a:r>
            <a:endParaRPr lang="vi-VN" dirty="0"/>
          </a:p>
        </p:txBody>
      </p:sp>
      <p:sp>
        <p:nvSpPr>
          <p:cNvPr id="3" name="Content Placeholder 2">
            <a:extLst>
              <a:ext uri="{FF2B5EF4-FFF2-40B4-BE49-F238E27FC236}">
                <a16:creationId xmlns:a16="http://schemas.microsoft.com/office/drawing/2014/main" id="{2B82BE34-1D49-4D84-A007-96C22B90DC3C}"/>
              </a:ext>
            </a:extLst>
          </p:cNvPr>
          <p:cNvSpPr>
            <a:spLocks noGrp="1"/>
          </p:cNvSpPr>
          <p:nvPr>
            <p:ph idx="1"/>
          </p:nvPr>
        </p:nvSpPr>
        <p:spPr/>
        <p:txBody>
          <a:bodyPr/>
          <a:lstStyle/>
          <a:p>
            <a:pPr algn="just"/>
            <a:r>
              <a:rPr lang="en-US" sz="3600" dirty="0" err="1">
                <a:solidFill>
                  <a:srgbClr val="0066FF"/>
                </a:solidFill>
              </a:rPr>
              <a:t>Bài</a:t>
            </a:r>
            <a:r>
              <a:rPr lang="en-US" sz="3600" dirty="0">
                <a:solidFill>
                  <a:srgbClr val="0066FF"/>
                </a:solidFill>
              </a:rPr>
              <a:t> </a:t>
            </a:r>
            <a:r>
              <a:rPr lang="en-US" sz="3600" dirty="0" err="1">
                <a:solidFill>
                  <a:srgbClr val="0066FF"/>
                </a:solidFill>
              </a:rPr>
              <a:t>toán</a:t>
            </a:r>
            <a:r>
              <a:rPr lang="en-US" sz="3600" dirty="0">
                <a:solidFill>
                  <a:srgbClr val="0066FF"/>
                </a:solidFill>
              </a:rPr>
              <a:t>: </a:t>
            </a:r>
            <a:r>
              <a:rPr lang="en-US" sz="3600" dirty="0" err="1">
                <a:solidFill>
                  <a:srgbClr val="0066FF"/>
                </a:solidFill>
              </a:rPr>
              <a:t>Dự</a:t>
            </a:r>
            <a:r>
              <a:rPr lang="en-US" sz="3600" dirty="0">
                <a:solidFill>
                  <a:srgbClr val="0066FF"/>
                </a:solidFill>
              </a:rPr>
              <a:t> </a:t>
            </a:r>
            <a:r>
              <a:rPr lang="en-US" sz="3600" dirty="0" err="1">
                <a:solidFill>
                  <a:srgbClr val="0066FF"/>
                </a:solidFill>
              </a:rPr>
              <a:t>đoán</a:t>
            </a:r>
            <a:r>
              <a:rPr lang="en-US" sz="3600" dirty="0">
                <a:solidFill>
                  <a:srgbClr val="0066FF"/>
                </a:solidFill>
              </a:rPr>
              <a:t> </a:t>
            </a:r>
            <a:r>
              <a:rPr lang="en-US" sz="3600" dirty="0" err="1">
                <a:solidFill>
                  <a:srgbClr val="0066FF"/>
                </a:solidFill>
              </a:rPr>
              <a:t>mức</a:t>
            </a:r>
            <a:r>
              <a:rPr lang="en-US" sz="3600" dirty="0">
                <a:solidFill>
                  <a:srgbClr val="0066FF"/>
                </a:solidFill>
              </a:rPr>
              <a:t> l</a:t>
            </a:r>
            <a:r>
              <a:rPr lang="vi-VN" sz="3600" dirty="0">
                <a:solidFill>
                  <a:srgbClr val="0066FF"/>
                </a:solidFill>
              </a:rPr>
              <a:t>ư</a:t>
            </a:r>
            <a:r>
              <a:rPr lang="en-US" sz="3600" dirty="0" err="1">
                <a:solidFill>
                  <a:srgbClr val="0066FF"/>
                </a:solidFill>
              </a:rPr>
              <a:t>ơng</a:t>
            </a:r>
            <a:r>
              <a:rPr lang="en-US" sz="3600" dirty="0">
                <a:solidFill>
                  <a:srgbClr val="0066FF"/>
                </a:solidFill>
              </a:rPr>
              <a:t> </a:t>
            </a:r>
            <a:r>
              <a:rPr lang="en-US" sz="3600" dirty="0" err="1">
                <a:solidFill>
                  <a:srgbClr val="0066FF"/>
                </a:solidFill>
              </a:rPr>
              <a:t>của</a:t>
            </a:r>
            <a:r>
              <a:rPr lang="en-US" sz="3600" dirty="0">
                <a:solidFill>
                  <a:srgbClr val="0066FF"/>
                </a:solidFill>
              </a:rPr>
              <a:t> </a:t>
            </a:r>
            <a:r>
              <a:rPr lang="en-US" sz="3600" dirty="0" err="1">
                <a:solidFill>
                  <a:srgbClr val="0066FF"/>
                </a:solidFill>
              </a:rPr>
              <a:t>một</a:t>
            </a:r>
            <a:r>
              <a:rPr lang="en-US" sz="3600" dirty="0">
                <a:solidFill>
                  <a:srgbClr val="0066FF"/>
                </a:solidFill>
              </a:rPr>
              <a:t> ng</a:t>
            </a:r>
            <a:r>
              <a:rPr lang="vi-VN" sz="3600" dirty="0" err="1">
                <a:solidFill>
                  <a:srgbClr val="0066FF"/>
                </a:solidFill>
              </a:rPr>
              <a:t>ười</a:t>
            </a:r>
            <a:r>
              <a:rPr lang="vi-VN" sz="3600" dirty="0">
                <a:solidFill>
                  <a:srgbClr val="0066FF"/>
                </a:solidFill>
              </a:rPr>
              <a:t> khi </a:t>
            </a:r>
            <a:r>
              <a:rPr lang="vi-VN" sz="3600" dirty="0" err="1">
                <a:solidFill>
                  <a:srgbClr val="0066FF"/>
                </a:solidFill>
              </a:rPr>
              <a:t>biết</a:t>
            </a:r>
            <a:r>
              <a:rPr lang="vi-VN" sz="3600" dirty="0">
                <a:solidFill>
                  <a:srgbClr val="0066FF"/>
                </a:solidFill>
              </a:rPr>
              <a:t> </a:t>
            </a:r>
            <a:r>
              <a:rPr lang="vi-VN" sz="3600" dirty="0" err="1">
                <a:solidFill>
                  <a:srgbClr val="0066FF"/>
                </a:solidFill>
              </a:rPr>
              <a:t>được</a:t>
            </a:r>
            <a:r>
              <a:rPr lang="vi-VN" sz="3600" dirty="0">
                <a:solidFill>
                  <a:srgbClr val="0066FF"/>
                </a:solidFill>
              </a:rPr>
              <a:t> </a:t>
            </a:r>
            <a:r>
              <a:rPr lang="vi-VN" sz="3600" dirty="0" err="1">
                <a:solidFill>
                  <a:srgbClr val="0066FF"/>
                </a:solidFill>
              </a:rPr>
              <a:t>cấp</a:t>
            </a:r>
            <a:r>
              <a:rPr lang="vi-VN" sz="3600" dirty="0">
                <a:solidFill>
                  <a:srgbClr val="0066FF"/>
                </a:solidFill>
              </a:rPr>
              <a:t> </a:t>
            </a:r>
            <a:r>
              <a:rPr lang="vi-VN" sz="3600" dirty="0" err="1">
                <a:solidFill>
                  <a:srgbClr val="0066FF"/>
                </a:solidFill>
              </a:rPr>
              <a:t>độ</a:t>
            </a:r>
            <a:r>
              <a:rPr lang="vi-VN" sz="3600" dirty="0">
                <a:solidFill>
                  <a:srgbClr val="0066FF"/>
                </a:solidFill>
              </a:rPr>
              <a:t> (</a:t>
            </a:r>
            <a:r>
              <a:rPr lang="vi-VN" sz="3600" dirty="0" err="1">
                <a:solidFill>
                  <a:srgbClr val="0066FF"/>
                </a:solidFill>
              </a:rPr>
              <a:t>vị</a:t>
            </a:r>
            <a:r>
              <a:rPr lang="vi-VN" sz="3600" dirty="0">
                <a:solidFill>
                  <a:srgbClr val="0066FF"/>
                </a:solidFill>
              </a:rPr>
              <a:t> </a:t>
            </a:r>
            <a:r>
              <a:rPr lang="vi-VN" sz="3600" dirty="0" err="1">
                <a:solidFill>
                  <a:srgbClr val="0066FF"/>
                </a:solidFill>
              </a:rPr>
              <a:t>trí</a:t>
            </a:r>
            <a:r>
              <a:rPr lang="vi-VN" sz="3600" dirty="0">
                <a:solidFill>
                  <a:srgbClr val="0066FF"/>
                </a:solidFill>
              </a:rPr>
              <a:t>) công </a:t>
            </a:r>
            <a:r>
              <a:rPr lang="vi-VN" sz="3600" dirty="0" err="1">
                <a:solidFill>
                  <a:srgbClr val="0066FF"/>
                </a:solidFill>
              </a:rPr>
              <a:t>việc</a:t>
            </a:r>
            <a:r>
              <a:rPr lang="vi-VN" sz="3600" dirty="0">
                <a:solidFill>
                  <a:srgbClr val="0066FF"/>
                </a:solidFill>
              </a:rPr>
              <a:t> </a:t>
            </a:r>
            <a:r>
              <a:rPr lang="vi-VN" sz="3600" dirty="0" err="1">
                <a:solidFill>
                  <a:srgbClr val="0066FF"/>
                </a:solidFill>
              </a:rPr>
              <a:t>của</a:t>
            </a:r>
            <a:r>
              <a:rPr lang="vi-VN" sz="3600" dirty="0">
                <a:solidFill>
                  <a:srgbClr val="0066FF"/>
                </a:solidFill>
              </a:rPr>
              <a:t> </a:t>
            </a:r>
            <a:r>
              <a:rPr lang="vi-VN" sz="3600" dirty="0" err="1">
                <a:solidFill>
                  <a:srgbClr val="0066FF"/>
                </a:solidFill>
              </a:rPr>
              <a:t>người</a:t>
            </a:r>
            <a:r>
              <a:rPr lang="vi-VN" sz="3600" dirty="0">
                <a:solidFill>
                  <a:srgbClr val="0066FF"/>
                </a:solidFill>
              </a:rPr>
              <a:t> </a:t>
            </a:r>
            <a:r>
              <a:rPr lang="vi-VN" sz="3600" dirty="0" err="1">
                <a:solidFill>
                  <a:srgbClr val="0066FF"/>
                </a:solidFill>
              </a:rPr>
              <a:t>đó</a:t>
            </a:r>
            <a:r>
              <a:rPr lang="vi-VN" sz="3600" dirty="0">
                <a:solidFill>
                  <a:srgbClr val="0066FF"/>
                </a:solidFill>
              </a:rPr>
              <a:t>.</a:t>
            </a:r>
          </a:p>
          <a:p>
            <a:pPr algn="just"/>
            <a:r>
              <a:rPr lang="vi-VN" sz="3600" dirty="0">
                <a:solidFill>
                  <a:srgbClr val="FF0000"/>
                </a:solidFill>
              </a:rPr>
              <a:t>Ta </a:t>
            </a:r>
            <a:r>
              <a:rPr lang="vi-VN" sz="3600" dirty="0" err="1">
                <a:solidFill>
                  <a:srgbClr val="FF0000"/>
                </a:solidFill>
              </a:rPr>
              <a:t>sẽ</a:t>
            </a:r>
            <a:r>
              <a:rPr lang="vi-VN" sz="3600" dirty="0">
                <a:solidFill>
                  <a:srgbClr val="FF0000"/>
                </a:solidFill>
              </a:rPr>
              <a:t> </a:t>
            </a:r>
            <a:r>
              <a:rPr lang="vi-VN" sz="3600" dirty="0" err="1">
                <a:solidFill>
                  <a:srgbClr val="FF0000"/>
                </a:solidFill>
              </a:rPr>
              <a:t>sử</a:t>
            </a:r>
            <a:r>
              <a:rPr lang="vi-VN" sz="3600" dirty="0">
                <a:solidFill>
                  <a:srgbClr val="FF0000"/>
                </a:solidFill>
              </a:rPr>
              <a:t> </a:t>
            </a:r>
            <a:r>
              <a:rPr lang="vi-VN" sz="3600" dirty="0" err="1">
                <a:solidFill>
                  <a:srgbClr val="FF0000"/>
                </a:solidFill>
              </a:rPr>
              <a:t>dụng</a:t>
            </a:r>
            <a:r>
              <a:rPr lang="vi-VN" sz="3600" dirty="0">
                <a:solidFill>
                  <a:srgbClr val="FF0000"/>
                </a:solidFill>
              </a:rPr>
              <a:t> mô </a:t>
            </a:r>
            <a:r>
              <a:rPr lang="vi-VN" sz="3600" dirty="0" err="1">
                <a:solidFill>
                  <a:srgbClr val="FF0000"/>
                </a:solidFill>
              </a:rPr>
              <a:t>hình</a:t>
            </a:r>
            <a:r>
              <a:rPr lang="vi-VN" sz="3600" dirty="0">
                <a:solidFill>
                  <a:srgbClr val="FF0000"/>
                </a:solidFill>
              </a:rPr>
              <a:t> </a:t>
            </a:r>
            <a:r>
              <a:rPr lang="vi-VN" sz="3600" dirty="0" err="1">
                <a:solidFill>
                  <a:srgbClr val="FF0000"/>
                </a:solidFill>
              </a:rPr>
              <a:t>Support</a:t>
            </a:r>
            <a:r>
              <a:rPr lang="vi-VN" sz="3600" dirty="0">
                <a:solidFill>
                  <a:srgbClr val="FF0000"/>
                </a:solidFill>
              </a:rPr>
              <a:t> </a:t>
            </a:r>
            <a:r>
              <a:rPr lang="vi-VN" sz="3600" dirty="0" err="1">
                <a:solidFill>
                  <a:srgbClr val="FF0000"/>
                </a:solidFill>
              </a:rPr>
              <a:t>Vector</a:t>
            </a:r>
            <a:r>
              <a:rPr lang="vi-VN" sz="3600" dirty="0">
                <a:solidFill>
                  <a:srgbClr val="FF0000"/>
                </a:solidFill>
              </a:rPr>
              <a:t> </a:t>
            </a:r>
            <a:r>
              <a:rPr lang="vi-VN" sz="3600" dirty="0" err="1">
                <a:solidFill>
                  <a:srgbClr val="FF0000"/>
                </a:solidFill>
              </a:rPr>
              <a:t>Regression</a:t>
            </a:r>
            <a:r>
              <a:rPr lang="vi-VN" sz="3600" dirty="0">
                <a:solidFill>
                  <a:srgbClr val="FF0000"/>
                </a:solidFill>
              </a:rPr>
              <a:t> </a:t>
            </a:r>
            <a:r>
              <a:rPr lang="vi-VN" sz="3600" dirty="0" err="1">
                <a:solidFill>
                  <a:srgbClr val="FF0000"/>
                </a:solidFill>
              </a:rPr>
              <a:t>để</a:t>
            </a:r>
            <a:r>
              <a:rPr lang="vi-VN" sz="3600" dirty="0">
                <a:solidFill>
                  <a:srgbClr val="FF0000"/>
                </a:solidFill>
              </a:rPr>
              <a:t> </a:t>
            </a:r>
            <a:r>
              <a:rPr lang="vi-VN" sz="3600" dirty="0" err="1">
                <a:solidFill>
                  <a:srgbClr val="FF0000"/>
                </a:solidFill>
              </a:rPr>
              <a:t>giải</a:t>
            </a:r>
            <a:r>
              <a:rPr lang="vi-VN" sz="3600" dirty="0">
                <a:solidFill>
                  <a:srgbClr val="FF0000"/>
                </a:solidFill>
              </a:rPr>
              <a:t> </a:t>
            </a:r>
            <a:r>
              <a:rPr lang="vi-VN" sz="3600" dirty="0" err="1">
                <a:solidFill>
                  <a:srgbClr val="FF0000"/>
                </a:solidFill>
              </a:rPr>
              <a:t>quyết</a:t>
            </a:r>
            <a:r>
              <a:rPr lang="vi-VN" sz="3600" dirty="0">
                <a:solidFill>
                  <a:srgbClr val="FF0000"/>
                </a:solidFill>
              </a:rPr>
              <a:t> </a:t>
            </a:r>
            <a:r>
              <a:rPr lang="vi-VN" sz="3600" dirty="0" err="1">
                <a:solidFill>
                  <a:srgbClr val="FF0000"/>
                </a:solidFill>
              </a:rPr>
              <a:t>bài</a:t>
            </a:r>
            <a:r>
              <a:rPr lang="vi-VN" sz="3600" dirty="0">
                <a:solidFill>
                  <a:srgbClr val="FF0000"/>
                </a:solidFill>
              </a:rPr>
              <a:t> </a:t>
            </a:r>
            <a:r>
              <a:rPr lang="vi-VN" sz="3600" dirty="0" err="1">
                <a:solidFill>
                  <a:srgbClr val="FF0000"/>
                </a:solidFill>
              </a:rPr>
              <a:t>toán</a:t>
            </a:r>
            <a:r>
              <a:rPr lang="vi-VN" sz="3600" dirty="0">
                <a:solidFill>
                  <a:srgbClr val="FF0000"/>
                </a:solidFill>
              </a:rPr>
              <a:t> </a:t>
            </a:r>
            <a:r>
              <a:rPr lang="vi-VN" sz="3600" dirty="0" err="1">
                <a:solidFill>
                  <a:srgbClr val="FF0000"/>
                </a:solidFill>
              </a:rPr>
              <a:t>này</a:t>
            </a:r>
            <a:r>
              <a:rPr lang="vi-VN" sz="3600" dirty="0">
                <a:solidFill>
                  <a:srgbClr val="FF0000"/>
                </a:solidFill>
              </a:rPr>
              <a:t>.</a:t>
            </a:r>
          </a:p>
        </p:txBody>
      </p:sp>
    </p:spTree>
    <p:extLst>
      <p:ext uri="{BB962C8B-B14F-4D97-AF65-F5344CB8AC3E}">
        <p14:creationId xmlns:p14="http://schemas.microsoft.com/office/powerpoint/2010/main" val="381314716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310E0B-7938-4C48-BDBD-57A04B814BC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7" name="Text Placeholder 6">
            <a:extLst>
              <a:ext uri="{FF2B5EF4-FFF2-40B4-BE49-F238E27FC236}">
                <a16:creationId xmlns:a16="http://schemas.microsoft.com/office/drawing/2014/main" id="{7A79A075-3658-4F3B-BD9F-6F50B7BE7BD2}"/>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8821136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E354-E15B-4710-81D7-005E1A37C6D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7" name="Content Placeholder 6">
            <a:extLst>
              <a:ext uri="{FF2B5EF4-FFF2-40B4-BE49-F238E27FC236}">
                <a16:creationId xmlns:a16="http://schemas.microsoft.com/office/drawing/2014/main" id="{C778F776-17DB-4788-B947-D17410947348}"/>
              </a:ext>
            </a:extLst>
          </p:cNvPr>
          <p:cNvPicPr>
            <a:picLocks noGrp="1" noChangeAspect="1"/>
          </p:cNvPicPr>
          <p:nvPr>
            <p:ph idx="1"/>
          </p:nvPr>
        </p:nvPicPr>
        <p:blipFill>
          <a:blip r:embed="rId2"/>
          <a:stretch>
            <a:fillRect/>
          </a:stretch>
        </p:blipFill>
        <p:spPr>
          <a:xfrm>
            <a:off x="3128962" y="1753394"/>
            <a:ext cx="5934075" cy="4219575"/>
          </a:xfrm>
          <a:prstGeom prst="rect">
            <a:avLst/>
          </a:prstGeom>
        </p:spPr>
      </p:pic>
    </p:spTree>
    <p:extLst>
      <p:ext uri="{BB962C8B-B14F-4D97-AF65-F5344CB8AC3E}">
        <p14:creationId xmlns:p14="http://schemas.microsoft.com/office/powerpoint/2010/main" val="14512311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310E0B-7938-4C48-BDBD-57A04B814BC3}"/>
              </a:ext>
            </a:extLst>
          </p:cNvPr>
          <p:cNvSpPr>
            <a:spLocks noGrp="1"/>
          </p:cNvSpPr>
          <p:nvPr>
            <p:ph type="title"/>
          </p:nvPr>
        </p:nvSpPr>
        <p:spPr/>
        <p:txBody>
          <a:bodyPr wrap="square"/>
          <a:lstStyle/>
          <a:p>
            <a:pPr>
              <a:defRPr sz="2800" b="1">
                <a:solidFill>
                  <a:srgbClr val="002060"/>
                </a:solidFill>
                <a:latin typeface="Calibri"/>
              </a:defRPr>
            </a:pPr>
            <a:r>
              <a:t>Trực quan hóa dữ liệu: Nạp Thư Viện &amp; Đọc File CSV (In [1])</a:t>
            </a:r>
            <a:endParaRPr lang="vi-VN" dirty="0"/>
          </a:p>
        </p:txBody>
      </p:sp>
      <p:sp>
        <p:nvSpPr>
          <p:cNvPr id="2" name="Content Placeholder 1">
            <a:extLst>
              <a:ext uri="{FF2B5EF4-FFF2-40B4-BE49-F238E27FC236}">
                <a16:creationId xmlns:a16="http://schemas.microsoft.com/office/drawing/2014/main" id="{E8B5E521-B5D3-4ED0-BC72-E24304E6BBF8}"/>
              </a:ext>
            </a:extLst>
          </p:cNvPr>
          <p:cNvSpPr>
            <a:spLocks noGrp="1"/>
          </p:cNvSpPr>
          <p:nvPr>
            <p:ph idx="1"/>
          </p:nvPr>
        </p:nvSpPr>
        <p:spPr>
          <a:xfrm>
            <a:off x="612648" y="1371600"/>
            <a:ext cx="10972800" cy="4937760"/>
          </a:xfrm>
        </p:spPr>
        <p:txBody>
          <a:bodyPr wrap="square"/>
          <a:lstStyle/>
          <a:p>
            <a:pPr>
              <a:spcBef>
                <a:spcPts val="600"/>
              </a:spcBef>
              <a:spcAft>
                <a:spcPts val="400"/>
              </a:spcAft>
              <a:defRPr sz="1700" b="1">
                <a:solidFill>
                  <a:srgbClr val="003366"/>
                </a:solidFill>
                <a:latin typeface="Calibri"/>
              </a:defRPr>
            </a:pPr>
            <a:r>
              <a:t>Nạp các thư viện Scikit-Learn cần thiết cho Support Vector Regression (In [1]):</a:t>
            </a:r>
          </a:p>
          <a:p>
            <a:pPr>
              <a:spcAft>
                <a:spcPts val="200"/>
              </a:spcAft>
              <a:defRPr sz="1300" b="0">
                <a:solidFill>
                  <a:srgbClr val="004696"/>
                </a:solidFill>
                <a:latin typeface="Consolas"/>
              </a:defRPr>
            </a:pPr>
            <a:r>
              <a:t>import numpy as np</a:t>
            </a:r>
          </a:p>
          <a:p>
            <a:pPr>
              <a:spcAft>
                <a:spcPts val="200"/>
              </a:spcAft>
              <a:defRPr sz="1300" b="0">
                <a:solidFill>
                  <a:srgbClr val="004696"/>
                </a:solidFill>
                <a:latin typeface="Consolas"/>
              </a:defRPr>
            </a:pPr>
            <a:r>
              <a:t>import pandas as pd</a:t>
            </a:r>
          </a:p>
          <a:p>
            <a:pPr>
              <a:spcAft>
                <a:spcPts val="200"/>
              </a:spcAft>
              <a:defRPr sz="1300" b="0">
                <a:solidFill>
                  <a:srgbClr val="004696"/>
                </a:solidFill>
                <a:latin typeface="Consolas"/>
              </a:defRPr>
            </a:pPr>
            <a:r>
              <a:t>import matplotlib.pyplot as plt</a:t>
            </a:r>
          </a:p>
          <a:p>
            <a:pPr>
              <a:spcAft>
                <a:spcPts val="200"/>
              </a:spcAft>
              <a:defRPr sz="1300" b="0">
                <a:solidFill>
                  <a:srgbClr val="004696"/>
                </a:solidFill>
                <a:latin typeface="Consolas"/>
              </a:defRPr>
            </a:pPr>
            <a:r>
              <a:t>from sklearn.preprocessing import StandardScaler</a:t>
            </a:r>
          </a:p>
          <a:p>
            <a:pPr>
              <a:spcAft>
                <a:spcPts val="200"/>
              </a:spcAft>
              <a:defRPr sz="1300" b="0">
                <a:solidFill>
                  <a:srgbClr val="004696"/>
                </a:solidFill>
                <a:latin typeface="Consolas"/>
              </a:defRPr>
            </a:pPr>
            <a:r>
              <a:t>from sklearn.svm import SVR</a:t>
            </a:r>
          </a:p>
          <a:p>
            <a:pPr>
              <a:spcAft>
                <a:spcPts val="400"/>
              </a:spcAft>
              <a:defRPr sz="1300" b="0">
                <a:solidFill>
                  <a:srgbClr val="004696"/>
                </a:solidFill>
                <a:latin typeface="Consolas"/>
              </a:defRPr>
            </a:pPr>
            <a:r>
              <a:t>from sklearn.metrics import r2_score, root_mean_squared_error</a:t>
            </a:r>
          </a:p>
          <a:p>
            <a:pPr>
              <a:spcAft>
                <a:spcPts val="200"/>
              </a:spcAft>
              <a:defRPr sz="1300" b="0">
                <a:solidFill>
                  <a:srgbClr val="004696"/>
                </a:solidFill>
                <a:latin typeface="Consolas"/>
              </a:defRPr>
            </a:pPr>
            <a:r>
              <a:t>dataset = pd.read_csv('Position_Salaries.csv')</a:t>
            </a:r>
          </a:p>
          <a:p>
            <a:pPr>
              <a:spcAft>
                <a:spcPts val="200"/>
              </a:spcAft>
              <a:defRPr sz="1300" b="0">
                <a:solidFill>
                  <a:srgbClr val="004696"/>
                </a:solidFill>
                <a:latin typeface="Consolas"/>
              </a:defRPr>
            </a:pPr>
            <a:r>
              <a:t>X = dataset.iloc[:, 1:2].values  # Level (Ma trận 2D shape: 10, 1)</a:t>
            </a:r>
          </a:p>
          <a:p>
            <a:pPr>
              <a:spcAft>
                <a:spcPts val="400"/>
              </a:spcAft>
              <a:defRPr sz="1300" b="0">
                <a:solidFill>
                  <a:srgbClr val="004696"/>
                </a:solidFill>
                <a:latin typeface="Consolas"/>
              </a:defRPr>
            </a:pPr>
            <a:r>
              <a:t>y = dataset.iloc[:, 2:3].values  # Salary (Cột 2D shape: 10, 1 để chuẩn hóa)</a:t>
            </a:r>
          </a:p>
          <a:p>
            <a:pPr>
              <a:spcAft>
                <a:spcPts val="200"/>
              </a:spcAft>
              <a:defRPr sz="1300" b="0">
                <a:solidFill>
                  <a:srgbClr val="004696"/>
                </a:solidFill>
                <a:latin typeface="Consolas"/>
              </a:defRPr>
            </a:pPr>
            <a:r>
              <a:t>dataset.head()</a:t>
            </a:r>
          </a:p>
          <a:p>
            <a:pPr>
              <a:spcAft>
                <a:spcPts val="200"/>
              </a:spcAft>
              <a:defRPr sz="1200" b="0">
                <a:solidFill>
                  <a:srgbClr val="146428"/>
                </a:solidFill>
                <a:latin typeface="Consolas"/>
              </a:defRPr>
            </a:pPr>
            <a:r>
              <a:t>📌 Lưu ý quan trọng: Biến y cần được trích xuất ở dạng 2D (2:3) để khớp với đầu vào StandardScaler!</a:t>
            </a:r>
          </a:p>
        </p:txBody>
      </p:sp>
    </p:spTree>
    <p:extLst>
      <p:ext uri="{BB962C8B-B14F-4D97-AF65-F5344CB8AC3E}">
        <p14:creationId xmlns:p14="http://schemas.microsoft.com/office/powerpoint/2010/main" val="78999401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5A5850-EC2D-436A-B0C2-CCF71C19F9AC}"/>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5" name="Content Placeholder 4">
            <a:extLst>
              <a:ext uri="{FF2B5EF4-FFF2-40B4-BE49-F238E27FC236}">
                <a16:creationId xmlns:a16="http://schemas.microsoft.com/office/drawing/2014/main" id="{A68CEC87-E9EA-428E-87EC-557802235FE0}"/>
              </a:ext>
            </a:extLst>
          </p:cNvPr>
          <p:cNvSpPr>
            <a:spLocks noGrp="1"/>
          </p:cNvSpPr>
          <p:nvPr>
            <p:ph idx="1"/>
          </p:nvPr>
        </p:nvSpPr>
        <p:spPr/>
        <p:txBody>
          <a:bodyPr/>
          <a:lstStyle/>
          <a:p>
            <a:pPr algn="just"/>
            <a:r>
              <a:rPr lang="en-US" sz="2800" dirty="0">
                <a:solidFill>
                  <a:srgbClr val="0066FF"/>
                </a:solidFill>
              </a:rPr>
              <a:t>Ta </a:t>
            </a:r>
            <a:r>
              <a:rPr lang="en-US" sz="2800" dirty="0" err="1">
                <a:solidFill>
                  <a:srgbClr val="0066FF"/>
                </a:solidFill>
              </a:rPr>
              <a:t>vẽ</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a:solidFill>
                  <a:schemeClr val="tx1"/>
                </a:solidFill>
                <a:highlight>
                  <a:srgbClr val="FFFF00"/>
                </a:highlight>
                <a:latin typeface="Consolas" panose="020B0609020204030204" pitchFamily="49" charset="0"/>
              </a:rPr>
              <a:t>(level, salary)</a:t>
            </a:r>
            <a:r>
              <a:rPr lang="en-US" sz="2800" dirty="0">
                <a:solidFill>
                  <a:srgbClr val="0066FF"/>
                </a:solidFill>
                <a:latin typeface="Consolas" panose="020B0609020204030204" pitchFamily="49" charset="0"/>
              </a:rPr>
              <a:t> </a:t>
            </a:r>
            <a:r>
              <a:rPr lang="en-US" sz="2800" dirty="0" err="1">
                <a:solidFill>
                  <a:srgbClr val="0066FF"/>
                </a:solidFill>
              </a:rPr>
              <a:t>lên</a:t>
            </a:r>
            <a:r>
              <a:rPr lang="en-US" sz="2800" dirty="0">
                <a:solidFill>
                  <a:srgbClr val="0066FF"/>
                </a:solidFill>
              </a:rPr>
              <a:t> </a:t>
            </a:r>
            <a:r>
              <a:rPr lang="en-US" sz="2800" dirty="0" err="1">
                <a:solidFill>
                  <a:srgbClr val="0066FF"/>
                </a:solidFill>
              </a:rPr>
              <a:t>mặt</a:t>
            </a:r>
            <a:r>
              <a:rPr lang="en-US" sz="2800" dirty="0">
                <a:solidFill>
                  <a:srgbClr val="0066FF"/>
                </a:solidFill>
              </a:rPr>
              <a:t> </a:t>
            </a:r>
            <a:r>
              <a:rPr lang="en-US" sz="2800" dirty="0" err="1">
                <a:solidFill>
                  <a:srgbClr val="0066FF"/>
                </a:solidFill>
              </a:rPr>
              <a:t>phẳng</a:t>
            </a:r>
            <a:r>
              <a:rPr lang="en-US" sz="2800" dirty="0">
                <a:solidFill>
                  <a:srgbClr val="0066FF"/>
                </a:solidFill>
              </a:rPr>
              <a:t> </a:t>
            </a:r>
            <a:r>
              <a:rPr lang="en-US" sz="2800" dirty="0" err="1">
                <a:solidFill>
                  <a:srgbClr val="0066FF"/>
                </a:solidFill>
              </a:rPr>
              <a:t>tọa</a:t>
            </a:r>
            <a:r>
              <a:rPr lang="en-US" sz="2800" dirty="0">
                <a:solidFill>
                  <a:srgbClr val="0066FF"/>
                </a:solidFill>
              </a:rPr>
              <a:t> </a:t>
            </a:r>
            <a:r>
              <a:rPr lang="en-US" sz="2800" dirty="0" err="1">
                <a:solidFill>
                  <a:srgbClr val="0066FF"/>
                </a:solidFill>
              </a:rPr>
              <a:t>độ</a:t>
            </a:r>
            <a:r>
              <a:rPr lang="en-US" sz="2800" dirty="0">
                <a:solidFill>
                  <a:srgbClr val="0066FF"/>
                </a:solidFill>
              </a:rPr>
              <a:t> </a:t>
            </a:r>
            <a:r>
              <a:rPr lang="en-US" sz="2800" dirty="0" err="1">
                <a:solidFill>
                  <a:srgbClr val="0066FF"/>
                </a:solidFill>
              </a:rPr>
              <a:t>để</a:t>
            </a:r>
            <a:r>
              <a:rPr lang="en-US" sz="2800" dirty="0">
                <a:solidFill>
                  <a:srgbClr val="0066FF"/>
                </a:solidFill>
              </a:rPr>
              <a:t> </a:t>
            </a:r>
            <a:r>
              <a:rPr lang="en-US" sz="2800" dirty="0" err="1">
                <a:solidFill>
                  <a:srgbClr val="0066FF"/>
                </a:solidFill>
              </a:rPr>
              <a:t>xem</a:t>
            </a:r>
            <a:r>
              <a:rPr lang="en-US" sz="2800" dirty="0">
                <a:solidFill>
                  <a:srgbClr val="0066FF"/>
                </a:solidFill>
              </a:rPr>
              <a:t> </a:t>
            </a:r>
            <a:r>
              <a:rPr lang="en-US" sz="2800" dirty="0" err="1">
                <a:solidFill>
                  <a:srgbClr val="0066FF"/>
                </a:solidFill>
              </a:rPr>
              <a:t>xét</a:t>
            </a:r>
            <a:r>
              <a:rPr lang="en-US" sz="2800" dirty="0">
                <a:solidFill>
                  <a:srgbClr val="0066FF"/>
                </a:solidFill>
              </a:rPr>
              <a:t> </a:t>
            </a:r>
            <a:r>
              <a:rPr lang="en-US" sz="2800" dirty="0" err="1">
                <a:solidFill>
                  <a:srgbClr val="0066FF"/>
                </a:solidFill>
              </a:rPr>
              <a:t>sự</a:t>
            </a:r>
            <a:r>
              <a:rPr lang="en-US" sz="2800" dirty="0">
                <a:solidFill>
                  <a:srgbClr val="0066FF"/>
                </a:solidFill>
              </a:rPr>
              <a:t>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giữa</a:t>
            </a:r>
            <a:r>
              <a:rPr lang="en-US" sz="2800" dirty="0">
                <a:solidFill>
                  <a:srgbClr val="0066FF"/>
                </a:solidFill>
              </a:rPr>
              <a:t> </a:t>
            </a:r>
            <a:r>
              <a:rPr lang="en-US" sz="2800" dirty="0" err="1">
                <a:solidFill>
                  <a:srgbClr val="0066FF"/>
                </a:solidFill>
              </a:rPr>
              <a:t>cấp</a:t>
            </a:r>
            <a:r>
              <a:rPr lang="en-US" sz="2800" dirty="0">
                <a:solidFill>
                  <a:srgbClr val="0066FF"/>
                </a:solidFill>
              </a:rPr>
              <a:t> </a:t>
            </a:r>
            <a:r>
              <a:rPr lang="en-US" sz="2800" dirty="0" err="1">
                <a:solidFill>
                  <a:srgbClr val="0066FF"/>
                </a:solidFill>
              </a:rPr>
              <a:t>độ</a:t>
            </a:r>
            <a:r>
              <a:rPr lang="en-US" sz="2800" dirty="0">
                <a:solidFill>
                  <a:srgbClr val="0066FF"/>
                </a:solidFill>
              </a:rPr>
              <a:t> </a:t>
            </a:r>
            <a:r>
              <a:rPr lang="en-US" sz="2800" dirty="0" err="1">
                <a:solidFill>
                  <a:srgbClr val="0066FF"/>
                </a:solidFill>
              </a:rPr>
              <a:t>công</a:t>
            </a:r>
            <a:r>
              <a:rPr lang="en-US" sz="2800" dirty="0">
                <a:solidFill>
                  <a:srgbClr val="0066FF"/>
                </a:solidFill>
              </a:rPr>
              <a:t> </a:t>
            </a:r>
            <a:r>
              <a:rPr lang="en-US" sz="2800" dirty="0" err="1">
                <a:solidFill>
                  <a:srgbClr val="0066FF"/>
                </a:solidFill>
              </a:rPr>
              <a:t>việc</a:t>
            </a:r>
            <a:r>
              <a:rPr lang="en-US" sz="2800" dirty="0">
                <a:solidFill>
                  <a:srgbClr val="0066FF"/>
                </a:solidFill>
              </a:rPr>
              <a:t> </a:t>
            </a:r>
            <a:r>
              <a:rPr lang="en-US" sz="2800" dirty="0" err="1">
                <a:solidFill>
                  <a:srgbClr val="0066FF"/>
                </a:solidFill>
              </a:rPr>
              <a:t>và</a:t>
            </a:r>
            <a:r>
              <a:rPr lang="en-US" sz="2800" dirty="0">
                <a:solidFill>
                  <a:srgbClr val="0066FF"/>
                </a:solidFill>
              </a:rPr>
              <a:t> </a:t>
            </a:r>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a:t>
            </a:r>
          </a:p>
          <a:p>
            <a:pPr algn="just"/>
            <a:endParaRPr lang="en-US" dirty="0"/>
          </a:p>
          <a:p>
            <a:pPr marL="457200" indent="-457200" algn="just">
              <a:buFont typeface="+mj-lt"/>
              <a:buAutoNum type="arabicPeriod" startAt="5"/>
            </a:pP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matplotlib.pyplot</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plt</a:t>
            </a:r>
            <a:endParaRPr lang="en-US" dirty="0">
              <a:solidFill>
                <a:srgbClr val="000000"/>
              </a:solidFill>
              <a:latin typeface="Consolas" panose="020B0609020204030204" pitchFamily="49" charset="0"/>
            </a:endParaRPr>
          </a:p>
          <a:p>
            <a:pPr marL="457200" indent="-457200" algn="just">
              <a:buFont typeface="+mj-lt"/>
              <a:buAutoNum type="arabicPeriod" startAt="5"/>
            </a:pPr>
            <a:r>
              <a:rPr lang="es-ES">
                <a:solidFill>
                  <a:srgbClr val="000000"/>
                </a:solidFill>
                <a:latin typeface="Consolas" panose="020B0609020204030204" pitchFamily="49" charset="0"/>
              </a:rPr>
              <a:t>plt</a:t>
            </a:r>
            <a:r>
              <a:rPr lang="es-ES" dirty="0" err="1">
                <a:solidFill>
                  <a:srgbClr val="000000"/>
                </a:solidFill>
                <a:latin typeface="Consolas" panose="020B0609020204030204" pitchFamily="49" charset="0"/>
              </a:rPr>
              <a:t>.scatter</a:t>
            </a:r>
            <a:r>
              <a:rPr lang="es-ES" dirty="0">
                <a:solidFill>
                  <a:srgbClr val="000000"/>
                </a:solidFill>
                <a:latin typeface="Consolas" panose="020B0609020204030204" pitchFamily="49" charset="0"/>
              </a:rPr>
              <a:t>(X, y, </a:t>
            </a:r>
            <a:r>
              <a:rPr lang="es-ES" dirty="0">
                <a:solidFill>
                  <a:srgbClr val="001080"/>
                </a:solidFill>
                <a:latin typeface="Consolas" panose="020B0609020204030204" pitchFamily="49" charset="0"/>
              </a:rPr>
              <a:t>color</a:t>
            </a:r>
            <a:r>
              <a:rPr lang="es-ES" dirty="0">
                <a:solidFill>
                  <a:srgbClr val="000000"/>
                </a:solidFill>
                <a:latin typeface="Consolas" panose="020B0609020204030204" pitchFamily="49" charset="0"/>
              </a:rPr>
              <a:t> = </a:t>
            </a:r>
            <a:r>
              <a:rPr lang="es-ES" dirty="0">
                <a:solidFill>
                  <a:srgbClr val="A31515"/>
                </a:solidFill>
                <a:latin typeface="Consolas" panose="020B0609020204030204" pitchFamily="49" charset="0"/>
              </a:rPr>
              <a:t>"red"</a:t>
            </a:r>
            <a:r>
              <a:rPr lang="es-ES" dirty="0">
                <a:solidFill>
                  <a:srgbClr val="000000"/>
                </a:solidFill>
                <a:latin typeface="Consolas" panose="020B0609020204030204" pitchFamily="49" charset="0"/>
              </a:rPr>
              <a:t>)</a:t>
            </a:r>
          </a:p>
          <a:p>
            <a:pPr marL="457200" indent="-457200" algn="just">
              <a:buFont typeface="+mj-lt"/>
              <a:buAutoNum type="arabicPeriod" startAt="5"/>
            </a:pPr>
            <a:r>
              <a:rPr lang="en-US" dirty="0" err="1">
                <a:solidFill>
                  <a:srgbClr val="000000"/>
                </a:solidFill>
                <a:latin typeface="Consolas" panose="020B0609020204030204" pitchFamily="49" charset="0"/>
              </a:rPr>
              <a:t>plt.title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"Position Level vs Salary"</a:t>
            </a:r>
            <a:r>
              <a:rPr lang="en-US" dirty="0">
                <a:solidFill>
                  <a:srgbClr val="000000"/>
                </a:solidFill>
                <a:latin typeface="Consolas" panose="020B0609020204030204" pitchFamily="49" charset="0"/>
              </a:rPr>
              <a:t>)</a:t>
            </a:r>
          </a:p>
          <a:p>
            <a:pPr marL="457200" indent="-457200" algn="just">
              <a:buFont typeface="+mj-lt"/>
              <a:buAutoNum type="arabicPeriod" startAt="5"/>
            </a:pPr>
            <a:r>
              <a:rPr lang="vi-VN" dirty="0" err="1">
                <a:solidFill>
                  <a:srgbClr val="000000"/>
                </a:solidFill>
                <a:latin typeface="Consolas" panose="020B0609020204030204" pitchFamily="49" charset="0"/>
              </a:rPr>
              <a:t>plt.xlabel</a:t>
            </a:r>
            <a:r>
              <a:rPr lang="vi-VN" dirty="0">
                <a:solidFill>
                  <a:srgbClr val="000000"/>
                </a:solidFill>
                <a:latin typeface="Consolas" panose="020B0609020204030204" pitchFamily="49" charset="0"/>
              </a:rPr>
              <a:t>(</a:t>
            </a:r>
            <a:r>
              <a:rPr lang="vi-VN" dirty="0">
                <a:solidFill>
                  <a:srgbClr val="A31515"/>
                </a:solidFill>
                <a:latin typeface="Consolas" panose="020B0609020204030204" pitchFamily="49" charset="0"/>
              </a:rPr>
              <a:t>"</a:t>
            </a:r>
            <a:r>
              <a:rPr lang="vi-VN" dirty="0" err="1">
                <a:solidFill>
                  <a:srgbClr val="A31515"/>
                </a:solidFill>
                <a:latin typeface="Consolas" panose="020B0609020204030204" pitchFamily="49" charset="0"/>
              </a:rPr>
              <a:t>Position</a:t>
            </a:r>
            <a:r>
              <a:rPr lang="vi-VN" dirty="0">
                <a:solidFill>
                  <a:srgbClr val="A31515"/>
                </a:solidFill>
                <a:latin typeface="Consolas" panose="020B0609020204030204" pitchFamily="49" charset="0"/>
              </a:rPr>
              <a:t> </a:t>
            </a:r>
            <a:r>
              <a:rPr lang="vi-VN" dirty="0" err="1">
                <a:solidFill>
                  <a:srgbClr val="A31515"/>
                </a:solidFill>
                <a:latin typeface="Consolas" panose="020B0609020204030204" pitchFamily="49" charset="0"/>
              </a:rPr>
              <a:t>Level</a:t>
            </a:r>
            <a:r>
              <a:rPr lang="vi-VN" dirty="0">
                <a:solidFill>
                  <a:srgbClr val="A31515"/>
                </a:solidFill>
                <a:latin typeface="Consolas" panose="020B0609020204030204" pitchFamily="49" charset="0"/>
              </a:rPr>
              <a:t>"</a:t>
            </a:r>
            <a:r>
              <a:rPr lang="vi-VN" dirty="0">
                <a:solidFill>
                  <a:srgbClr val="000000"/>
                </a:solidFill>
                <a:latin typeface="Consolas" panose="020B0609020204030204" pitchFamily="49" charset="0"/>
              </a:rPr>
              <a:t>)</a:t>
            </a:r>
          </a:p>
          <a:p>
            <a:pPr marL="457200" indent="-457200" algn="just">
              <a:buFont typeface="+mj-lt"/>
              <a:buAutoNum type="arabicPeriod" startAt="5"/>
            </a:pPr>
            <a:r>
              <a:rPr lang="en-US" dirty="0" err="1">
                <a:solidFill>
                  <a:srgbClr val="000000"/>
                </a:solidFill>
                <a:latin typeface="Consolas" panose="020B0609020204030204" pitchFamily="49" charset="0"/>
              </a:rPr>
              <a:t>plt.ylabel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"Salary (dollars/year)"</a:t>
            </a:r>
            <a:r>
              <a:rPr lang="en-US" dirty="0">
                <a:solidFill>
                  <a:srgbClr val="000000"/>
                </a:solidFill>
                <a:latin typeface="Consolas" panose="020B0609020204030204" pitchFamily="49" charset="0"/>
              </a:rPr>
              <a:t>)</a:t>
            </a:r>
          </a:p>
          <a:p>
            <a:pPr marL="457200" indent="-457200" algn="just">
              <a:buFont typeface="+mj-lt"/>
              <a:buAutoNum type="arabicPeriod" startAt="5"/>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6683383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E354-E15B-4710-81D7-005E1A37C6D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4" name="Content Placeholder 3">
            <a:extLst>
              <a:ext uri="{FF2B5EF4-FFF2-40B4-BE49-F238E27FC236}">
                <a16:creationId xmlns:a16="http://schemas.microsoft.com/office/drawing/2014/main" id="{0F26937B-AFF2-4E54-8A2E-326C1C1BA2B4}"/>
              </a:ext>
            </a:extLst>
          </p:cNvPr>
          <p:cNvSpPr>
            <a:spLocks noGrp="1"/>
          </p:cNvSpPr>
          <p:nvPr>
            <p:ph sz="half" idx="2"/>
          </p:nvPr>
        </p:nvSpPr>
        <p:spPr/>
        <p:txBody>
          <a:bodyPr/>
          <a:lstStyle/>
          <a:p>
            <a:pPr algn="just"/>
            <a:r>
              <a:rPr lang="en-US" dirty="0" err="1">
                <a:solidFill>
                  <a:srgbClr val="0066FF"/>
                </a:solidFill>
              </a:rPr>
              <a:t>Tập</a:t>
            </a:r>
            <a:r>
              <a:rPr lang="en-US" dirty="0">
                <a:solidFill>
                  <a:srgbClr val="0066FF"/>
                </a:solidFill>
              </a:rPr>
              <a:t> </a:t>
            </a:r>
            <a:r>
              <a:rPr lang="en-US" dirty="0" err="1">
                <a:solidFill>
                  <a:srgbClr val="0066FF"/>
                </a:solidFill>
              </a:rPr>
              <a:t>dữ</a:t>
            </a:r>
            <a:r>
              <a:rPr lang="en-US" dirty="0">
                <a:solidFill>
                  <a:srgbClr val="0066FF"/>
                </a:solidFill>
              </a:rPr>
              <a:t> </a:t>
            </a:r>
            <a:r>
              <a:rPr lang="en-US" dirty="0" err="1">
                <a:solidFill>
                  <a:srgbClr val="0066FF"/>
                </a:solidFill>
              </a:rPr>
              <a:t>liệu</a:t>
            </a:r>
            <a:r>
              <a:rPr lang="en-US" dirty="0">
                <a:solidFill>
                  <a:srgbClr val="0066FF"/>
                </a:solidFill>
              </a:rPr>
              <a:t> </a:t>
            </a:r>
            <a:r>
              <a:rPr lang="en-US" dirty="0" err="1">
                <a:solidFill>
                  <a:srgbClr val="0066FF"/>
                </a:solidFill>
              </a:rPr>
              <a:t>này</a:t>
            </a:r>
            <a:r>
              <a:rPr lang="en-US" dirty="0">
                <a:solidFill>
                  <a:srgbClr val="0066FF"/>
                </a:solidFill>
              </a:rPr>
              <a:t> </a:t>
            </a:r>
            <a:r>
              <a:rPr lang="en-US" dirty="0" err="1">
                <a:solidFill>
                  <a:srgbClr val="0066FF"/>
                </a:solidFill>
              </a:rPr>
              <a:t>không</a:t>
            </a:r>
            <a:r>
              <a:rPr lang="en-US" dirty="0">
                <a:solidFill>
                  <a:srgbClr val="0066FF"/>
                </a:solidFill>
              </a:rPr>
              <a:t> </a:t>
            </a:r>
            <a:r>
              <a:rPr lang="en-US" dirty="0" err="1">
                <a:solidFill>
                  <a:srgbClr val="0066FF"/>
                </a:solidFill>
              </a:rPr>
              <a:t>có</a:t>
            </a:r>
            <a:r>
              <a:rPr lang="en-US" dirty="0">
                <a:solidFill>
                  <a:srgbClr val="0066FF"/>
                </a:solidFill>
              </a:rPr>
              <a:t> </a:t>
            </a:r>
            <a:r>
              <a:rPr lang="en-US" dirty="0" err="1">
                <a:solidFill>
                  <a:srgbClr val="0066FF"/>
                </a:solidFill>
              </a:rPr>
              <a:t>dạng</a:t>
            </a:r>
            <a:r>
              <a:rPr lang="en-US" dirty="0">
                <a:solidFill>
                  <a:srgbClr val="0066FF"/>
                </a:solidFill>
              </a:rPr>
              <a:t> </a:t>
            </a:r>
            <a:r>
              <a:rPr lang="en-US" dirty="0" err="1">
                <a:solidFill>
                  <a:srgbClr val="0066FF"/>
                </a:solidFill>
              </a:rPr>
              <a:t>một</a:t>
            </a:r>
            <a:r>
              <a:rPr lang="en-US" dirty="0">
                <a:solidFill>
                  <a:srgbClr val="0066FF"/>
                </a:solidFill>
              </a:rPr>
              <a:t> đ</a:t>
            </a:r>
            <a:r>
              <a:rPr lang="vi-VN" dirty="0" err="1">
                <a:solidFill>
                  <a:srgbClr val="0066FF"/>
                </a:solidFill>
              </a:rPr>
              <a:t>ường</a:t>
            </a:r>
            <a:r>
              <a:rPr lang="vi-VN" dirty="0">
                <a:solidFill>
                  <a:srgbClr val="0066FF"/>
                </a:solidFill>
              </a:rPr>
              <a:t> </a:t>
            </a:r>
            <a:r>
              <a:rPr lang="vi-VN" dirty="0" err="1">
                <a:solidFill>
                  <a:srgbClr val="0066FF"/>
                </a:solidFill>
              </a:rPr>
              <a:t>thẳng</a:t>
            </a:r>
            <a:r>
              <a:rPr lang="vi-VN" dirty="0">
                <a:solidFill>
                  <a:srgbClr val="0066FF"/>
                </a:solidFill>
              </a:rPr>
              <a:t>. </a:t>
            </a:r>
          </a:p>
          <a:p>
            <a:pPr algn="just"/>
            <a:r>
              <a:rPr lang="vi-VN">
                <a:solidFill>
                  <a:srgbClr val="FF0000"/>
                </a:solidFill>
              </a:rPr>
              <a:t>Do đó</a:t>
            </a:r>
            <a:r>
              <a:rPr lang="en-US">
                <a:solidFill>
                  <a:srgbClr val="FF0000"/>
                </a:solidFill>
              </a:rPr>
              <a:t>,</a:t>
            </a:r>
            <a:r>
              <a:rPr lang="vi-VN">
                <a:solidFill>
                  <a:srgbClr val="FF0000"/>
                </a:solidFill>
              </a:rPr>
              <a:t> </a:t>
            </a:r>
            <a:r>
              <a:rPr lang="vi-VN" dirty="0" err="1">
                <a:solidFill>
                  <a:srgbClr val="FF0000"/>
                </a:solidFill>
              </a:rPr>
              <a:t>Linear</a:t>
            </a:r>
            <a:r>
              <a:rPr lang="vi-VN" dirty="0">
                <a:solidFill>
                  <a:srgbClr val="FF0000"/>
                </a:solidFill>
              </a:rPr>
              <a:t> </a:t>
            </a:r>
            <a:r>
              <a:rPr lang="vi-VN" dirty="0" err="1">
                <a:solidFill>
                  <a:srgbClr val="FF0000"/>
                </a:solidFill>
              </a:rPr>
              <a:t>Regression</a:t>
            </a:r>
            <a:r>
              <a:rPr lang="vi-VN" dirty="0">
                <a:solidFill>
                  <a:srgbClr val="FF0000"/>
                </a:solidFill>
              </a:rPr>
              <a:t> </a:t>
            </a:r>
            <a:r>
              <a:rPr lang="vi-VN" dirty="0" err="1">
                <a:solidFill>
                  <a:srgbClr val="FF0000"/>
                </a:solidFill>
              </a:rPr>
              <a:t>sẽ</a:t>
            </a:r>
            <a:r>
              <a:rPr lang="vi-VN" dirty="0">
                <a:solidFill>
                  <a:srgbClr val="FF0000"/>
                </a:solidFill>
              </a:rPr>
              <a:t> không </a:t>
            </a:r>
            <a:r>
              <a:rPr lang="vi-VN" dirty="0" err="1">
                <a:solidFill>
                  <a:srgbClr val="FF0000"/>
                </a:solidFill>
              </a:rPr>
              <a:t>hoạt</a:t>
            </a:r>
            <a:r>
              <a:rPr lang="vi-VN" dirty="0">
                <a:solidFill>
                  <a:srgbClr val="FF0000"/>
                </a:solidFill>
              </a:rPr>
              <a:t> </a:t>
            </a:r>
            <a:r>
              <a:rPr lang="vi-VN" dirty="0" err="1">
                <a:solidFill>
                  <a:srgbClr val="FF0000"/>
                </a:solidFill>
              </a:rPr>
              <a:t>động</a:t>
            </a:r>
            <a:r>
              <a:rPr lang="vi-VN" dirty="0">
                <a:solidFill>
                  <a:srgbClr val="FF0000"/>
                </a:solidFill>
              </a:rPr>
              <a:t> </a:t>
            </a:r>
            <a:r>
              <a:rPr lang="vi-VN" dirty="0" err="1">
                <a:solidFill>
                  <a:srgbClr val="FF0000"/>
                </a:solidFill>
              </a:rPr>
              <a:t>tốt</a:t>
            </a:r>
            <a:r>
              <a:rPr lang="vi-VN" dirty="0">
                <a:solidFill>
                  <a:srgbClr val="FF0000"/>
                </a:solidFill>
              </a:rPr>
              <a:t> trên </a:t>
            </a:r>
            <a:r>
              <a:rPr lang="vi-VN" dirty="0" err="1">
                <a:solidFill>
                  <a:srgbClr val="FF0000"/>
                </a:solidFill>
              </a:rPr>
              <a:t>tập</a:t>
            </a:r>
            <a:r>
              <a:rPr lang="vi-VN" dirty="0">
                <a:solidFill>
                  <a:srgbClr val="FF0000"/>
                </a:solidFill>
              </a:rPr>
              <a:t> </a:t>
            </a:r>
            <a:r>
              <a:rPr lang="vi-VN" dirty="0" err="1">
                <a:solidFill>
                  <a:srgbClr val="FF0000"/>
                </a:solidFill>
              </a:rPr>
              <a:t>dữ</a:t>
            </a:r>
            <a:r>
              <a:rPr lang="vi-VN" dirty="0">
                <a:solidFill>
                  <a:srgbClr val="FF0000"/>
                </a:solidFill>
              </a:rPr>
              <a:t> </a:t>
            </a:r>
            <a:r>
              <a:rPr lang="vi-VN" dirty="0" err="1">
                <a:solidFill>
                  <a:srgbClr val="FF0000"/>
                </a:solidFill>
              </a:rPr>
              <a:t>liệu</a:t>
            </a:r>
            <a:r>
              <a:rPr lang="vi-VN" dirty="0">
                <a:solidFill>
                  <a:srgbClr val="FF0000"/>
                </a:solidFill>
              </a:rPr>
              <a:t> </a:t>
            </a:r>
            <a:r>
              <a:rPr lang="vi-VN" dirty="0" err="1">
                <a:solidFill>
                  <a:srgbClr val="FF0000"/>
                </a:solidFill>
              </a:rPr>
              <a:t>này</a:t>
            </a:r>
            <a:r>
              <a:rPr lang="vi-VN" dirty="0">
                <a:solidFill>
                  <a:srgbClr val="FF0000"/>
                </a:solidFill>
              </a:rPr>
              <a:t>.</a:t>
            </a:r>
          </a:p>
        </p:txBody>
      </p:sp>
      <p:pic>
        <p:nvPicPr>
          <p:cNvPr id="8" name="Content Placeholder 7">
            <a:extLst>
              <a:ext uri="{FF2B5EF4-FFF2-40B4-BE49-F238E27FC236}">
                <a16:creationId xmlns:a16="http://schemas.microsoft.com/office/drawing/2014/main" id="{ABE57378-1C58-46D1-9B70-0D6919028BA6}"/>
              </a:ext>
            </a:extLst>
          </p:cNvPr>
          <p:cNvPicPr>
            <a:picLocks noGrp="1" noChangeAspect="1"/>
          </p:cNvPicPr>
          <p:nvPr>
            <p:ph sz="half" idx="1"/>
          </p:nvPr>
        </p:nvPicPr>
        <p:blipFill>
          <a:blip r:embed="rId2"/>
          <a:stretch>
            <a:fillRect/>
          </a:stretch>
        </p:blipFill>
        <p:spPr>
          <a:xfrm>
            <a:off x="609600" y="1923961"/>
            <a:ext cx="5384800" cy="3878441"/>
          </a:xfrm>
          <a:prstGeom prst="rect">
            <a:avLst/>
          </a:prstGeom>
        </p:spPr>
      </p:pic>
    </p:spTree>
    <p:extLst>
      <p:ext uri="{BB962C8B-B14F-4D97-AF65-F5344CB8AC3E}">
        <p14:creationId xmlns:p14="http://schemas.microsoft.com/office/powerpoint/2010/main" val="252505446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2B82D-DEF3-4B84-A2D0-0054F529687C}"/>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6BC50BB2-F046-4837-88C6-BCE00AC7AA1C}"/>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99146119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2B82D-DEF3-4B84-A2D0-0054F529687C}"/>
              </a:ext>
            </a:extLst>
          </p:cNvPr>
          <p:cNvSpPr>
            <a:spLocks noGrp="1"/>
          </p:cNvSpPr>
          <p:nvPr>
            <p:ph type="title"/>
          </p:nvPr>
        </p:nvSpPr>
        <p:spPr/>
        <p:txBody>
          <a:bodyPr wrap="square"/>
          <a:lstStyle/>
          <a:p>
            <a:pPr>
              <a:defRPr sz="2800" b="1">
                <a:solidFill>
                  <a:srgbClr val="002060"/>
                </a:solidFill>
                <a:latin typeface="Calibri"/>
              </a:defRPr>
            </a:pPr>
            <a:r>
              <a:t>Tiền xử lý dữ liệu: Tại Sao SVR Bắt Buộc Chuẩn Hóa Đặc Trưng?</a:t>
            </a:r>
            <a:endParaRPr lang="vi-VN" dirty="0"/>
          </a:p>
        </p:txBody>
      </p:sp>
      <p:sp>
        <p:nvSpPr>
          <p:cNvPr id="2" name="Content Placeholder 1">
            <a:extLst>
              <a:ext uri="{FF2B5EF4-FFF2-40B4-BE49-F238E27FC236}">
                <a16:creationId xmlns:a16="http://schemas.microsoft.com/office/drawing/2014/main" id="{8E23C45A-A562-489E-A543-0403534716BC}"/>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Nguyên nhân SVR BẮT BUỘC phải thực hiện Feature Scaling:</a:t>
            </a:r>
          </a:p>
          <a:p>
            <a:pPr>
              <a:spcAft>
                <a:spcPts val="300"/>
              </a:spcAft>
              <a:defRPr sz="1500" b="0">
                <a:solidFill>
                  <a:srgbClr val="282828"/>
                </a:solidFill>
                <a:latin typeface="Calibri"/>
              </a:defRPr>
            </a:pPr>
            <a:r>
              <a:t>• Khác với Linear Regression (hệ số trọng số w tự động bù trừ tỷ lệ scale), thuật toán SVR tối ưu hóa dựa trên khoảng cách hình học trong không gian Hilbert.</a:t>
            </a:r>
          </a:p>
          <a:p>
            <a:pPr>
              <a:spcAft>
                <a:spcPts val="300"/>
              </a:spcAft>
              <a:defRPr sz="1500" b="1">
                <a:solidFill>
                  <a:srgbClr val="282828"/>
                </a:solidFill>
                <a:latin typeface="Calibri"/>
              </a:defRPr>
            </a:pPr>
            <a:r>
              <a:t>• Hàm nhân RBF Kernel: K(x, x') = exp(-gamma * ||x - x'||²). Nếu không scale, biến Level (1-10) sẽ bị nuốt chửng bởi biến Salary (45,000 - 1,000,000).</a:t>
            </a:r>
          </a:p>
          <a:p>
            <a:pPr>
              <a:spcAft>
                <a:spcPts val="300"/>
              </a:spcAft>
              <a:defRPr sz="1500" b="0">
                <a:solidFill>
                  <a:srgbClr val="282828"/>
                </a:solidFill>
                <a:latin typeface="Calibri"/>
              </a:defRPr>
            </a:pPr>
            <a:r>
              <a:t>• Biên mất mát epsilon-insensitive cũng có giá trị tuyệt đối. Nếu y không scale, sai số epsilon = 0.1 sẽ hoàn toàn vô nghĩa trước mức lương hàng trăm ngàn USD!</a:t>
            </a:r>
          </a:p>
          <a:p>
            <a:pPr>
              <a:spcAft>
                <a:spcPts val="200"/>
              </a:spcAft>
              <a:defRPr sz="1200" b="0">
                <a:solidFill>
                  <a:srgbClr val="146428"/>
                </a:solidFill>
                <a:latin typeface="Consolas"/>
              </a:defRPr>
            </a:pPr>
            <a:r>
              <a:t>📌 Quy tắc vàng: Bắt buộc chuẩn hóa CẢ biến độc lập X VÀ biến phụ thuộc y về phân phối chuẩn (Mean = 0, Std = 1).</a:t>
            </a:r>
          </a:p>
        </p:txBody>
      </p:sp>
    </p:spTree>
    <p:extLst>
      <p:ext uri="{BB962C8B-B14F-4D97-AF65-F5344CB8AC3E}">
        <p14:creationId xmlns:p14="http://schemas.microsoft.com/office/powerpoint/2010/main" val="230951062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2B82D-DEF3-4B84-A2D0-0054F529687C}"/>
              </a:ext>
            </a:extLst>
          </p:cNvPr>
          <p:cNvSpPr>
            <a:spLocks noGrp="1"/>
          </p:cNvSpPr>
          <p:nvPr>
            <p:ph type="title"/>
          </p:nvPr>
        </p:nvSpPr>
        <p:spPr/>
        <p:txBody>
          <a:bodyPr wrap="square"/>
          <a:lstStyle/>
          <a:p>
            <a:pPr>
              <a:defRPr sz="2800" b="1">
                <a:solidFill>
                  <a:srgbClr val="002060"/>
                </a:solidFill>
                <a:latin typeface="Calibri"/>
              </a:defRPr>
            </a:pPr>
            <a:r>
              <a:t>Tiền xử lý dữ liệu: Chuẩn Hóa X và y Bằng StandardScaler (In [2])</a:t>
            </a:r>
            <a:endParaRPr lang="vi-VN" dirty="0"/>
          </a:p>
        </p:txBody>
      </p:sp>
      <p:sp>
        <p:nvSpPr>
          <p:cNvPr id="2" name="Content Placeholder 1">
            <a:extLst>
              <a:ext uri="{FF2B5EF4-FFF2-40B4-BE49-F238E27FC236}">
                <a16:creationId xmlns:a16="http://schemas.microsoft.com/office/drawing/2014/main" id="{8E23C45A-A562-489E-A543-0403534716BC}"/>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Khởi tạo 2 bộ chuẩn hóa riêng biệt cho X và y (In [2]):</a:t>
            </a:r>
          </a:p>
          <a:p>
            <a:pPr>
              <a:spcAft>
                <a:spcPts val="200"/>
              </a:spcAft>
              <a:defRPr sz="1300" b="0">
                <a:solidFill>
                  <a:srgbClr val="004696"/>
                </a:solidFill>
                <a:latin typeface="Consolas"/>
              </a:defRPr>
            </a:pPr>
            <a:r>
              <a:t>sc_X = StandardScaler()</a:t>
            </a:r>
          </a:p>
          <a:p>
            <a:pPr>
              <a:spcAft>
                <a:spcPts val="400"/>
              </a:spcAft>
              <a:defRPr sz="1300" b="0">
                <a:solidFill>
                  <a:srgbClr val="004696"/>
                </a:solidFill>
                <a:latin typeface="Consolas"/>
              </a:defRPr>
            </a:pPr>
            <a:r>
              <a:t>sc_y = StandardScaler()</a:t>
            </a:r>
          </a:p>
          <a:p>
            <a:pPr>
              <a:spcAft>
                <a:spcPts val="200"/>
              </a:spcAft>
              <a:defRPr sz="1300" b="0">
                <a:solidFill>
                  <a:srgbClr val="004696"/>
                </a:solidFill>
                <a:latin typeface="Consolas"/>
              </a:defRPr>
            </a:pPr>
            <a:r>
              <a:t># Fit và transform cả X và y sang không gian Z-score</a:t>
            </a:r>
          </a:p>
          <a:p>
            <a:pPr>
              <a:spcAft>
                <a:spcPts val="200"/>
              </a:spcAft>
              <a:defRPr sz="1300" b="0">
                <a:solidFill>
                  <a:srgbClr val="004696"/>
                </a:solidFill>
                <a:latin typeface="Consolas"/>
              </a:defRPr>
            </a:pPr>
            <a:r>
              <a:t>X_scaled = sc_X.fit_transform(X)</a:t>
            </a:r>
          </a:p>
          <a:p>
            <a:pPr>
              <a:spcAft>
                <a:spcPts val="400"/>
              </a:spcAft>
              <a:defRPr sz="1300" b="0">
                <a:solidFill>
                  <a:srgbClr val="004696"/>
                </a:solidFill>
                <a:latin typeface="Consolas"/>
              </a:defRPr>
            </a:pPr>
            <a:r>
              <a:t>y_scaled = sc_y.fit_transform(y)</a:t>
            </a:r>
          </a:p>
          <a:p>
            <a:pPr>
              <a:spcAft>
                <a:spcPts val="200"/>
              </a:spcAft>
              <a:defRPr sz="1300" b="0">
                <a:solidFill>
                  <a:srgbClr val="004696"/>
                </a:solidFill>
                <a:latin typeface="Consolas"/>
              </a:defRPr>
            </a:pPr>
            <a:r>
              <a:t>print('X sau chuẩn hóa (Mean=0, Std=1):\n', np.round(X_scaled.ravel(), 2))</a:t>
            </a:r>
          </a:p>
          <a:p>
            <a:pPr>
              <a:spcAft>
                <a:spcPts val="400"/>
              </a:spcAft>
              <a:defRPr sz="1300" b="0">
                <a:solidFill>
                  <a:srgbClr val="004696"/>
                </a:solidFill>
                <a:latin typeface="Consolas"/>
              </a:defRPr>
            </a:pPr>
            <a:r>
              <a:t>print('y sau chuẩn hóa (Mean=0, Std=1):\n', np.round(y_scaled.ravel(), 2))</a:t>
            </a:r>
          </a:p>
          <a:p>
            <a:pPr>
              <a:spcAft>
                <a:spcPts val="200"/>
              </a:spcAft>
              <a:defRPr sz="1200" b="0">
                <a:solidFill>
                  <a:srgbClr val="146428"/>
                </a:solidFill>
                <a:latin typeface="Consolas"/>
              </a:defRPr>
            </a:pPr>
            <a:r>
              <a:t>📌 Expected Output: Các giá trị X và y sau chuẩn hóa đều nằm gọn trong đoạn [-1.5, +2.0], sẵn sàng đưa vào thuật toán SVR.</a:t>
            </a:r>
          </a:p>
        </p:txBody>
      </p:sp>
    </p:spTree>
    <p:extLst>
      <p:ext uri="{BB962C8B-B14F-4D97-AF65-F5344CB8AC3E}">
        <p14:creationId xmlns:p14="http://schemas.microsoft.com/office/powerpoint/2010/main" val="12060798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CBD3-B055-4227-AAD3-516F8BF57987}"/>
              </a:ext>
            </a:extLst>
          </p:cNvPr>
          <p:cNvSpPr>
            <a:spLocks noGrp="1"/>
          </p:cNvSpPr>
          <p:nvPr>
            <p:ph type="title"/>
          </p:nvPr>
        </p:nvSpPr>
        <p:spPr/>
        <p:txBody>
          <a:bodyPr wrap="square"/>
          <a:lstStyle/>
          <a:p>
            <a:pPr>
              <a:defRPr sz="2800" b="1">
                <a:solidFill>
                  <a:srgbClr val="002060"/>
                </a:solidFill>
                <a:latin typeface="Calibri"/>
              </a:defRPr>
            </a:pPr>
            <a:r>
              <a:t>Tiền xử lý dữ liệu: Trực Quan Hóa Dữ Liệu Sau Khi Scaling</a:t>
            </a:r>
            <a:endParaRPr lang="vi-VN" dirty="0"/>
          </a:p>
        </p:txBody>
      </p:sp>
      <p:sp>
        <p:nvSpPr>
          <p:cNvPr id="3" name="Content Placeholder 2">
            <a:extLst>
              <a:ext uri="{FF2B5EF4-FFF2-40B4-BE49-F238E27FC236}">
                <a16:creationId xmlns:a16="http://schemas.microsoft.com/office/drawing/2014/main" id="{F1DEAB3C-B3D2-4097-8CD9-10BFFE7055F6}"/>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Đồ thị phân tán trong không gian chuẩn hóa (Z-Score Space):</a:t>
            </a:r>
          </a:p>
          <a:p>
            <a:pPr>
              <a:spcAft>
                <a:spcPts val="200"/>
              </a:spcAft>
              <a:defRPr sz="1300" b="0">
                <a:solidFill>
                  <a:srgbClr val="004696"/>
                </a:solidFill>
                <a:latin typeface="Consolas"/>
              </a:defRPr>
            </a:pPr>
            <a:r>
              <a:t>plt.scatter(X_scaled, y_scaled, color='red', s=80)</a:t>
            </a:r>
          </a:p>
          <a:p>
            <a:pPr>
              <a:spcAft>
                <a:spcPts val="200"/>
              </a:spcAft>
              <a:defRPr sz="1300" b="0">
                <a:solidFill>
                  <a:srgbClr val="004696"/>
                </a:solidFill>
                <a:latin typeface="Consolas"/>
              </a:defRPr>
            </a:pPr>
            <a:r>
              <a:t>plt.title('Position vs Salary (Scaled Space)', fontweight='bold')</a:t>
            </a:r>
          </a:p>
          <a:p>
            <a:pPr>
              <a:spcAft>
                <a:spcPts val="200"/>
              </a:spcAft>
              <a:defRPr sz="1300" b="0">
                <a:solidFill>
                  <a:srgbClr val="004696"/>
                </a:solidFill>
                <a:latin typeface="Consolas"/>
              </a:defRPr>
            </a:pPr>
            <a:r>
              <a:t>plt.xlabel('Position Level (Scaled)')</a:t>
            </a:r>
          </a:p>
          <a:p>
            <a:pPr>
              <a:spcAft>
                <a:spcPts val="200"/>
              </a:spcAft>
              <a:defRPr sz="1300" b="0">
                <a:solidFill>
                  <a:srgbClr val="004696"/>
                </a:solidFill>
                <a:latin typeface="Consolas"/>
              </a:defRPr>
            </a:pPr>
            <a:r>
              <a:t>plt.ylabel('Salary (Scaled)')</a:t>
            </a:r>
          </a:p>
          <a:p>
            <a:pPr>
              <a:spcAft>
                <a:spcPts val="600"/>
              </a:spcAft>
              <a:defRPr sz="1300" b="0">
                <a:solidFill>
                  <a:srgbClr val="004696"/>
                </a:solidFill>
                <a:latin typeface="Consolas"/>
              </a:defRPr>
            </a:pPr>
            <a:r>
              <a:t>plt.show()</a:t>
            </a:r>
          </a:p>
          <a:p>
            <a:pPr>
              <a:spcBef>
                <a:spcPts val="600"/>
              </a:spcBef>
              <a:spcAft>
                <a:spcPts val="400"/>
              </a:spcAft>
              <a:defRPr sz="1700" b="1">
                <a:solidFill>
                  <a:srgbClr val="003366"/>
                </a:solidFill>
                <a:latin typeface="Calibri"/>
              </a:defRPr>
            </a:pPr>
            <a:r>
              <a:t>📌 Quan sát hình học quan trọng:</a:t>
            </a:r>
          </a:p>
          <a:p>
            <a:pPr>
              <a:spcAft>
                <a:spcPts val="300"/>
              </a:spcAft>
              <a:defRPr sz="1500" b="0">
                <a:solidFill>
                  <a:srgbClr val="282828"/>
                </a:solidFill>
                <a:latin typeface="Calibri"/>
              </a:defRPr>
            </a:pPr>
            <a:r>
              <a:t>• Hình dạng tương quan giữa Level và Salary được bảo toàn nguyên vẹn 100%.</a:t>
            </a:r>
          </a:p>
          <a:p>
            <a:pPr>
              <a:spcAft>
                <a:spcPts val="300"/>
              </a:spcAft>
              <a:defRPr sz="1500" b="0">
                <a:solidFill>
                  <a:srgbClr val="282828"/>
                </a:solidFill>
                <a:latin typeface="Calibri"/>
              </a:defRPr>
            </a:pPr>
            <a:r>
              <a:t>• Điểm gốc tọa độ (0, 0) đại diện cho giá trị trung bình mẫu của cả cấp bậc và mức lương.</a:t>
            </a:r>
          </a:p>
        </p:txBody>
      </p:sp>
    </p:spTree>
    <p:extLst>
      <p:ext uri="{BB962C8B-B14F-4D97-AF65-F5344CB8AC3E}">
        <p14:creationId xmlns:p14="http://schemas.microsoft.com/office/powerpoint/2010/main" val="8379894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CBD3-B055-4227-AAD3-516F8BF57987}"/>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pic>
        <p:nvPicPr>
          <p:cNvPr id="8" name="Content Placeholder 7">
            <a:extLst>
              <a:ext uri="{FF2B5EF4-FFF2-40B4-BE49-F238E27FC236}">
                <a16:creationId xmlns:a16="http://schemas.microsoft.com/office/drawing/2014/main" id="{C98BE2A1-6687-4E53-91E1-ABAD73511AA2}"/>
              </a:ext>
            </a:extLst>
          </p:cNvPr>
          <p:cNvPicPr>
            <a:picLocks noGrp="1" noChangeAspect="1"/>
          </p:cNvPicPr>
          <p:nvPr>
            <p:ph idx="1"/>
          </p:nvPr>
        </p:nvPicPr>
        <p:blipFill>
          <a:blip r:embed="rId2"/>
          <a:stretch>
            <a:fillRect/>
          </a:stretch>
        </p:blipFill>
        <p:spPr>
          <a:xfrm>
            <a:off x="3352800" y="1752600"/>
            <a:ext cx="5943600" cy="4314825"/>
          </a:xfrm>
          <a:prstGeom prst="rect">
            <a:avLst/>
          </a:prstGeom>
        </p:spPr>
      </p:pic>
    </p:spTree>
    <p:extLst>
      <p:ext uri="{BB962C8B-B14F-4D97-AF65-F5344CB8AC3E}">
        <p14:creationId xmlns:p14="http://schemas.microsoft.com/office/powerpoint/2010/main" val="371625690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sp>
        <p:nvSpPr>
          <p:cNvPr id="5" name="Text Placeholder 4">
            <a:extLst>
              <a:ext uri="{FF2B5EF4-FFF2-40B4-BE49-F238E27FC236}">
                <a16:creationId xmlns:a16="http://schemas.microsoft.com/office/drawing/2014/main" id="{9C12D2B6-95F0-458B-8B4B-302F83798DB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407348159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sp>
        <p:nvSpPr>
          <p:cNvPr id="2" name="Content Placeholder 1">
            <a:extLst>
              <a:ext uri="{FF2B5EF4-FFF2-40B4-BE49-F238E27FC236}">
                <a16:creationId xmlns:a16="http://schemas.microsoft.com/office/drawing/2014/main" id="{B1D6B818-FB14-46EF-BBC3-9F6C9033410F}"/>
              </a:ext>
            </a:extLst>
          </p:cNvPr>
          <p:cNvSpPr>
            <a:spLocks noGrp="1"/>
          </p:cNvSpPr>
          <p:nvPr>
            <p:ph idx="1"/>
          </p:nvPr>
        </p:nvSpPr>
        <p:spPr/>
        <p:txBody>
          <a:bodyPr/>
          <a:lstStyle/>
          <a:p>
            <a:pPr algn="just"/>
            <a:r>
              <a:rPr lang="en-US" sz="2800" dirty="0">
                <a:solidFill>
                  <a:srgbClr val="0066FF"/>
                </a:solidFill>
              </a:rPr>
              <a:t>Support Vector Regression (SVR)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thuật</a:t>
            </a:r>
            <a:r>
              <a:rPr lang="en-US" sz="2800" dirty="0">
                <a:solidFill>
                  <a:srgbClr val="0066FF"/>
                </a:solidFill>
              </a:rPr>
              <a:t> </a:t>
            </a:r>
            <a:r>
              <a:rPr lang="en-US" sz="2800" dirty="0" err="1">
                <a:solidFill>
                  <a:srgbClr val="0066FF"/>
                </a:solidFill>
              </a:rPr>
              <a:t>toán</a:t>
            </a:r>
            <a:r>
              <a:rPr lang="en-US" sz="2800" dirty="0">
                <a:solidFill>
                  <a:srgbClr val="0066FF"/>
                </a:solidFill>
              </a:rPr>
              <a:t> </a:t>
            </a:r>
            <a:r>
              <a:rPr lang="en-US" sz="2800">
                <a:solidFill>
                  <a:srgbClr val="0066FF"/>
                </a:solidFill>
              </a:rPr>
              <a:t>Regression (hồi quy) dựa </a:t>
            </a:r>
            <a:r>
              <a:rPr lang="en-US" sz="2800" dirty="0" err="1">
                <a:solidFill>
                  <a:srgbClr val="0066FF"/>
                </a:solidFill>
              </a:rPr>
              <a:t>trên</a:t>
            </a:r>
            <a:r>
              <a:rPr lang="en-US" sz="2800" dirty="0">
                <a:solidFill>
                  <a:srgbClr val="0066FF"/>
                </a:solidFill>
              </a:rPr>
              <a:t> </a:t>
            </a:r>
            <a:r>
              <a:rPr lang="en-US" sz="2800" dirty="0">
                <a:solidFill>
                  <a:schemeClr val="tx1"/>
                </a:solidFill>
                <a:highlight>
                  <a:srgbClr val="FFFF00"/>
                </a:highlight>
              </a:rPr>
              <a:t>Support Vector Machine</a:t>
            </a:r>
            <a:r>
              <a:rPr lang="en-US" sz="2800" dirty="0">
                <a:solidFill>
                  <a:srgbClr val="0066FF"/>
                </a:solidFill>
              </a:rPr>
              <a:t>.</a:t>
            </a:r>
          </a:p>
          <a:p>
            <a:pPr algn="just"/>
            <a:r>
              <a:rPr lang="en-US" sz="2800" dirty="0" err="1">
                <a:solidFill>
                  <a:srgbClr val="FF0000"/>
                </a:solidFill>
              </a:rPr>
              <a:t>Thuật</a:t>
            </a:r>
            <a:r>
              <a:rPr lang="en-US" sz="2800" dirty="0">
                <a:solidFill>
                  <a:srgbClr val="FF0000"/>
                </a:solidFill>
              </a:rPr>
              <a:t> </a:t>
            </a:r>
            <a:r>
              <a:rPr lang="en-US" sz="2800" dirty="0" err="1">
                <a:solidFill>
                  <a:srgbClr val="FF0000"/>
                </a:solidFill>
              </a:rPr>
              <a:t>toán</a:t>
            </a:r>
            <a:r>
              <a:rPr lang="en-US" sz="2800" dirty="0">
                <a:solidFill>
                  <a:srgbClr val="FF0000"/>
                </a:solidFill>
              </a:rPr>
              <a:t> </a:t>
            </a:r>
            <a:r>
              <a:rPr lang="en-US" sz="2800" dirty="0" err="1">
                <a:solidFill>
                  <a:srgbClr val="FF0000"/>
                </a:solidFill>
              </a:rPr>
              <a:t>này</a:t>
            </a:r>
            <a:r>
              <a:rPr lang="en-US" sz="2800" dirty="0">
                <a:solidFill>
                  <a:srgbClr val="FF0000"/>
                </a:solidFill>
              </a:rPr>
              <a:t> đ</a:t>
            </a:r>
            <a:r>
              <a:rPr lang="vi-VN" sz="2800" dirty="0" err="1">
                <a:solidFill>
                  <a:srgbClr val="FF0000"/>
                </a:solidFill>
              </a:rPr>
              <a:t>ược</a:t>
            </a:r>
            <a:r>
              <a:rPr lang="vi-VN" sz="2800" dirty="0">
                <a:solidFill>
                  <a:srgbClr val="FF0000"/>
                </a:solidFill>
              </a:rPr>
              <a:t> </a:t>
            </a:r>
            <a:r>
              <a:rPr lang="vi-VN" sz="2800" dirty="0" err="1">
                <a:solidFill>
                  <a:srgbClr val="FF0000"/>
                </a:solidFill>
              </a:rPr>
              <a:t>sử</a:t>
            </a:r>
            <a:r>
              <a:rPr lang="vi-VN" sz="2800" dirty="0">
                <a:solidFill>
                  <a:srgbClr val="FF0000"/>
                </a:solidFill>
              </a:rPr>
              <a:t> </a:t>
            </a:r>
            <a:r>
              <a:rPr lang="vi-VN" sz="2800" dirty="0" err="1">
                <a:solidFill>
                  <a:srgbClr val="FF0000"/>
                </a:solidFill>
              </a:rPr>
              <a:t>dụng</a:t>
            </a:r>
            <a:r>
              <a:rPr lang="vi-VN" sz="2800" dirty="0">
                <a:solidFill>
                  <a:srgbClr val="FF0000"/>
                </a:solidFill>
              </a:rPr>
              <a:t> cho </a:t>
            </a:r>
            <a:r>
              <a:rPr lang="vi-VN" sz="2800" dirty="0" err="1">
                <a:solidFill>
                  <a:srgbClr val="FF0000"/>
                </a:solidFill>
              </a:rPr>
              <a:t>cả</a:t>
            </a:r>
            <a:r>
              <a:rPr lang="vi-VN" sz="2800" dirty="0">
                <a:solidFill>
                  <a:srgbClr val="FF0000"/>
                </a:solidFill>
              </a:rPr>
              <a:t> 2 </a:t>
            </a:r>
            <a:r>
              <a:rPr lang="vi-VN" sz="2800" dirty="0" err="1">
                <a:solidFill>
                  <a:srgbClr val="FF0000"/>
                </a:solidFill>
              </a:rPr>
              <a:t>loại</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a:t>
            </a:r>
          </a:p>
          <a:p>
            <a:pPr lvl="1" algn="just"/>
            <a:r>
              <a:rPr lang="en-US" sz="2800">
                <a:solidFill>
                  <a:srgbClr val="0066FF"/>
                </a:solidFill>
              </a:rPr>
              <a:t>Dữ liệu c</a:t>
            </a:r>
            <a:r>
              <a:rPr lang="vi-VN" sz="2800">
                <a:solidFill>
                  <a:srgbClr val="0066FF"/>
                </a:solidFill>
              </a:rPr>
              <a:t>ó </a:t>
            </a:r>
            <a:r>
              <a:rPr lang="vi-VN" sz="2800" dirty="0">
                <a:solidFill>
                  <a:srgbClr val="0066FF"/>
                </a:solidFill>
              </a:rPr>
              <a:t>phân </a:t>
            </a:r>
            <a:r>
              <a:rPr lang="vi-VN" sz="2800" dirty="0" err="1">
                <a:solidFill>
                  <a:srgbClr val="0066FF"/>
                </a:solidFill>
              </a:rPr>
              <a:t>phối</a:t>
            </a:r>
            <a:r>
              <a:rPr lang="vi-VN" sz="2800" dirty="0">
                <a:solidFill>
                  <a:srgbClr val="0066FF"/>
                </a:solidFill>
              </a:rPr>
              <a:t> </a:t>
            </a:r>
            <a:r>
              <a:rPr lang="vi-VN" sz="2800" dirty="0" err="1">
                <a:solidFill>
                  <a:srgbClr val="0066FF"/>
                </a:solidFill>
              </a:rPr>
              <a:t>tuyến</a:t>
            </a:r>
            <a:r>
              <a:rPr lang="vi-VN" sz="2800" dirty="0">
                <a:solidFill>
                  <a:srgbClr val="0066FF"/>
                </a:solidFill>
              </a:rPr>
              <a:t> </a:t>
            </a:r>
            <a:r>
              <a:rPr lang="vi-VN" sz="2800" dirty="0" err="1">
                <a:solidFill>
                  <a:srgbClr val="0066FF"/>
                </a:solidFill>
              </a:rPr>
              <a:t>tính</a:t>
            </a:r>
            <a:r>
              <a:rPr lang="vi-VN" sz="2800" dirty="0">
                <a:solidFill>
                  <a:srgbClr val="0066FF"/>
                </a:solidFill>
              </a:rPr>
              <a:t>.</a:t>
            </a:r>
          </a:p>
          <a:p>
            <a:pPr lvl="1" algn="just"/>
            <a:r>
              <a:rPr lang="en-US" sz="2800">
                <a:solidFill>
                  <a:srgbClr val="FF0000"/>
                </a:solidFill>
              </a:rPr>
              <a:t>Dữ liệu k</a:t>
            </a:r>
            <a:r>
              <a:rPr lang="vi-VN" sz="2800">
                <a:solidFill>
                  <a:srgbClr val="FF0000"/>
                </a:solidFill>
              </a:rPr>
              <a:t>hông </a:t>
            </a:r>
            <a:r>
              <a:rPr lang="vi-VN" sz="2800" dirty="0" err="1">
                <a:solidFill>
                  <a:srgbClr val="FF0000"/>
                </a:solidFill>
              </a:rPr>
              <a:t>có</a:t>
            </a:r>
            <a:r>
              <a:rPr lang="vi-VN" sz="2800" dirty="0">
                <a:solidFill>
                  <a:srgbClr val="FF0000"/>
                </a:solidFill>
              </a:rPr>
              <a:t> phân </a:t>
            </a:r>
            <a:r>
              <a:rPr lang="vi-VN" sz="2800" dirty="0" err="1">
                <a:solidFill>
                  <a:srgbClr val="FF0000"/>
                </a:solidFill>
              </a:rPr>
              <a:t>phối</a:t>
            </a:r>
            <a:r>
              <a:rPr lang="vi-VN" sz="2800" dirty="0">
                <a:solidFill>
                  <a:srgbClr val="FF0000"/>
                </a:solidFill>
              </a:rPr>
              <a:t> </a:t>
            </a:r>
            <a:r>
              <a:rPr lang="vi-VN" sz="2800" dirty="0" err="1">
                <a:solidFill>
                  <a:srgbClr val="FF0000"/>
                </a:solidFill>
              </a:rPr>
              <a:t>tuyến</a:t>
            </a:r>
            <a:r>
              <a:rPr lang="vi-VN" sz="2800" dirty="0">
                <a:solidFill>
                  <a:srgbClr val="FF0000"/>
                </a:solidFill>
              </a:rPr>
              <a:t> </a:t>
            </a:r>
            <a:r>
              <a:rPr lang="vi-VN" sz="2800" dirty="0" err="1">
                <a:solidFill>
                  <a:srgbClr val="FF0000"/>
                </a:solidFill>
              </a:rPr>
              <a:t>tính</a:t>
            </a:r>
            <a:r>
              <a:rPr lang="vi-VN" sz="2800" dirty="0">
                <a:solidFill>
                  <a:srgbClr val="FF0000"/>
                </a:solidFill>
              </a:rPr>
              <a:t> (phi </a:t>
            </a:r>
            <a:r>
              <a:rPr lang="vi-VN" sz="2800" dirty="0" err="1">
                <a:solidFill>
                  <a:srgbClr val="FF0000"/>
                </a:solidFill>
              </a:rPr>
              <a:t>tuyến</a:t>
            </a:r>
            <a:r>
              <a:rPr lang="vi-VN" sz="2800" dirty="0">
                <a:solidFill>
                  <a:srgbClr val="FF0000"/>
                </a:solidFill>
              </a:rPr>
              <a:t>).</a:t>
            </a:r>
          </a:p>
        </p:txBody>
      </p:sp>
    </p:spTree>
    <p:extLst>
      <p:ext uri="{BB962C8B-B14F-4D97-AF65-F5344CB8AC3E}">
        <p14:creationId xmlns:p14="http://schemas.microsoft.com/office/powerpoint/2010/main" val="31982472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sp>
        <p:nvSpPr>
          <p:cNvPr id="2" name="Content Placeholder 1">
            <a:extLst>
              <a:ext uri="{FF2B5EF4-FFF2-40B4-BE49-F238E27FC236}">
                <a16:creationId xmlns:a16="http://schemas.microsoft.com/office/drawing/2014/main" id="{B1D6B818-FB14-46EF-BBC3-9F6C9033410F}"/>
              </a:ext>
            </a:extLst>
          </p:cNvPr>
          <p:cNvSpPr>
            <a:spLocks noGrp="1"/>
          </p:cNvSpPr>
          <p:nvPr>
            <p:ph idx="1"/>
          </p:nvPr>
        </p:nvSpPr>
        <p:spPr/>
        <p:txBody>
          <a:bodyPr/>
          <a:lstStyle/>
          <a:p>
            <a:pPr algn="just"/>
            <a:r>
              <a:rPr lang="en-US" sz="2800" dirty="0" err="1">
                <a:solidFill>
                  <a:srgbClr val="0066FF"/>
                </a:solidFill>
              </a:rPr>
              <a:t>Thuật</a:t>
            </a:r>
            <a:r>
              <a:rPr lang="en-US" sz="2800" dirty="0">
                <a:solidFill>
                  <a:srgbClr val="0066FF"/>
                </a:solidFill>
              </a:rPr>
              <a:t> </a:t>
            </a:r>
            <a:r>
              <a:rPr lang="en-US" sz="2800" dirty="0" err="1">
                <a:solidFill>
                  <a:srgbClr val="0066FF"/>
                </a:solidFill>
              </a:rPr>
              <a:t>toán</a:t>
            </a:r>
            <a:r>
              <a:rPr lang="en-US" sz="2800" dirty="0">
                <a:solidFill>
                  <a:srgbClr val="0066FF"/>
                </a:solidFill>
              </a:rPr>
              <a:t> SVR (hay SVM) </a:t>
            </a:r>
            <a:r>
              <a:rPr lang="en-US" sz="2800" dirty="0" err="1">
                <a:solidFill>
                  <a:srgbClr val="0066FF"/>
                </a:solidFill>
              </a:rPr>
              <a:t>sẽ</a:t>
            </a:r>
            <a:r>
              <a:rPr lang="en-US" sz="2800" dirty="0">
                <a:solidFill>
                  <a:srgbClr val="0066FF"/>
                </a:solidFill>
              </a:rPr>
              <a:t> </a:t>
            </a:r>
            <a:r>
              <a:rPr lang="en-US" sz="2800" dirty="0" err="1">
                <a:solidFill>
                  <a:srgbClr val="0066FF"/>
                </a:solidFill>
              </a:rPr>
              <a:t>tìm</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vector </a:t>
            </a:r>
            <a:r>
              <a:rPr lang="en-US" sz="2800" dirty="0" err="1">
                <a:solidFill>
                  <a:srgbClr val="0066FF"/>
                </a:solidFill>
              </a:rPr>
              <a:t>đặc</a:t>
            </a:r>
            <a:r>
              <a:rPr lang="en-US" sz="2800" dirty="0">
                <a:solidFill>
                  <a:srgbClr val="0066FF"/>
                </a:solidFill>
              </a:rPr>
              <a:t> </a:t>
            </a:r>
            <a:r>
              <a:rPr lang="en-US" sz="2800" dirty="0" err="1">
                <a:solidFill>
                  <a:srgbClr val="0066FF"/>
                </a:solidFill>
              </a:rPr>
              <a:t>biệt</a:t>
            </a:r>
            <a:r>
              <a:rPr lang="en-US" sz="2800" dirty="0">
                <a:solidFill>
                  <a:srgbClr val="0066FF"/>
                </a:solidFill>
              </a:rPr>
              <a:t> (</a:t>
            </a:r>
            <a:r>
              <a:rPr lang="en-US" sz="2800" dirty="0" err="1">
                <a:solidFill>
                  <a:srgbClr val="0066FF"/>
                </a:solidFill>
              </a:rPr>
              <a:t>gọi</a:t>
            </a:r>
            <a:r>
              <a:rPr lang="en-US" sz="2800" dirty="0">
                <a:solidFill>
                  <a:srgbClr val="0066FF"/>
                </a:solidFill>
              </a:rPr>
              <a:t> </a:t>
            </a:r>
            <a:r>
              <a:rPr lang="en-US" sz="2800" dirty="0" err="1">
                <a:solidFill>
                  <a:srgbClr val="0066FF"/>
                </a:solidFill>
              </a:rPr>
              <a:t>là</a:t>
            </a:r>
            <a:r>
              <a:rPr lang="en-US" sz="2800" dirty="0">
                <a:solidFill>
                  <a:srgbClr val="0066FF"/>
                </a:solidFill>
              </a:rPr>
              <a:t> support vectors).</a:t>
            </a:r>
          </a:p>
          <a:p>
            <a:pPr algn="just"/>
            <a:r>
              <a:rPr lang="en-US" sz="2800" dirty="0" err="1">
                <a:solidFill>
                  <a:srgbClr val="FF0000"/>
                </a:solidFill>
              </a:rPr>
              <a:t>Mô</a:t>
            </a:r>
            <a:r>
              <a:rPr lang="en-US" sz="2800" dirty="0">
                <a:solidFill>
                  <a:srgbClr val="FF0000"/>
                </a:solidFill>
              </a:rPr>
              <a:t> </a:t>
            </a:r>
            <a:r>
              <a:rPr lang="en-US" sz="2800" dirty="0" err="1">
                <a:solidFill>
                  <a:srgbClr val="FF0000"/>
                </a:solidFill>
              </a:rPr>
              <a:t>hình</a:t>
            </a:r>
            <a:r>
              <a:rPr lang="en-US" sz="2800" dirty="0">
                <a:solidFill>
                  <a:srgbClr val="FF0000"/>
                </a:solidFill>
              </a:rPr>
              <a:t> (Model) </a:t>
            </a:r>
            <a:r>
              <a:rPr lang="en-US" sz="2800" dirty="0" err="1">
                <a:solidFill>
                  <a:srgbClr val="FF0000"/>
                </a:solidFill>
              </a:rPr>
              <a:t>dự</a:t>
            </a:r>
            <a:r>
              <a:rPr lang="en-US" sz="2800" dirty="0">
                <a:solidFill>
                  <a:srgbClr val="FF0000"/>
                </a:solidFill>
              </a:rPr>
              <a:t> </a:t>
            </a:r>
            <a:r>
              <a:rPr lang="en-US" sz="2800" dirty="0" err="1">
                <a:solidFill>
                  <a:srgbClr val="FF0000"/>
                </a:solidFill>
              </a:rPr>
              <a:t>đoán</a:t>
            </a:r>
            <a:r>
              <a:rPr lang="en-US" sz="2800" dirty="0">
                <a:solidFill>
                  <a:srgbClr val="FF0000"/>
                </a:solidFill>
              </a:rPr>
              <a:t> (predict) </a:t>
            </a:r>
            <a:r>
              <a:rPr lang="en-US" sz="2800" dirty="0" err="1">
                <a:solidFill>
                  <a:srgbClr val="FF0000"/>
                </a:solidFill>
              </a:rPr>
              <a:t>kết</a:t>
            </a:r>
            <a:r>
              <a:rPr lang="en-US" sz="2800" dirty="0">
                <a:solidFill>
                  <a:srgbClr val="FF0000"/>
                </a:solidFill>
              </a:rPr>
              <a:t> </a:t>
            </a:r>
            <a:r>
              <a:rPr lang="en-US" sz="2800" dirty="0" err="1">
                <a:solidFill>
                  <a:srgbClr val="FF0000"/>
                </a:solidFill>
              </a:rPr>
              <a:t>quả</a:t>
            </a:r>
            <a:r>
              <a:rPr lang="en-US" sz="2800" dirty="0">
                <a:solidFill>
                  <a:srgbClr val="FF0000"/>
                </a:solidFill>
              </a:rPr>
              <a:t> </a:t>
            </a:r>
            <a:r>
              <a:rPr lang="en-US" sz="2800" dirty="0" err="1">
                <a:solidFill>
                  <a:srgbClr val="FF0000"/>
                </a:solidFill>
              </a:rPr>
              <a:t>đầu</a:t>
            </a:r>
            <a:r>
              <a:rPr lang="en-US" sz="2800" dirty="0">
                <a:solidFill>
                  <a:srgbClr val="FF0000"/>
                </a:solidFill>
              </a:rPr>
              <a:t> ra </a:t>
            </a:r>
            <a:r>
              <a:rPr lang="en-US" sz="2800" dirty="0" err="1">
                <a:solidFill>
                  <a:srgbClr val="FF0000"/>
                </a:solidFill>
              </a:rPr>
              <a:t>của</a:t>
            </a:r>
            <a:r>
              <a:rPr lang="en-US" sz="2800" dirty="0">
                <a:solidFill>
                  <a:srgbClr val="FF0000"/>
                </a:solidFill>
              </a:rPr>
              <a:t> </a:t>
            </a:r>
            <a:r>
              <a:rPr lang="en-US" sz="2800" dirty="0" err="1">
                <a:solidFill>
                  <a:srgbClr val="FF0000"/>
                </a:solidFill>
              </a:rPr>
              <a:t>những</a:t>
            </a:r>
            <a:r>
              <a:rPr lang="en-US" sz="2800" dirty="0">
                <a:solidFill>
                  <a:srgbClr val="FF0000"/>
                </a:solidFill>
              </a:rPr>
              <a:t> </a:t>
            </a:r>
            <a:r>
              <a:rPr lang="en-US" sz="2800" dirty="0" err="1">
                <a:solidFill>
                  <a:srgbClr val="FF0000"/>
                </a:solidFill>
              </a:rPr>
              <a:t>điểm</a:t>
            </a:r>
            <a:r>
              <a:rPr lang="en-US" sz="2800" dirty="0">
                <a:solidFill>
                  <a:srgbClr val="FF0000"/>
                </a:solidFill>
              </a:rPr>
              <a:t> </a:t>
            </a:r>
            <a:r>
              <a:rPr lang="en-US" sz="2800" dirty="0" err="1">
                <a:solidFill>
                  <a:srgbClr val="FF0000"/>
                </a:solidFill>
              </a:rPr>
              <a:t>dữ</a:t>
            </a:r>
            <a:r>
              <a:rPr lang="en-US" sz="2800" dirty="0">
                <a:solidFill>
                  <a:srgbClr val="FF0000"/>
                </a:solidFill>
              </a:rPr>
              <a:t> </a:t>
            </a:r>
            <a:r>
              <a:rPr lang="en-US" sz="2800" dirty="0" err="1">
                <a:solidFill>
                  <a:srgbClr val="FF0000"/>
                </a:solidFill>
              </a:rPr>
              <a:t>liệu</a:t>
            </a:r>
            <a:r>
              <a:rPr lang="en-US" sz="2800" dirty="0">
                <a:solidFill>
                  <a:srgbClr val="FF0000"/>
                </a:solidFill>
              </a:rPr>
              <a:t> </a:t>
            </a:r>
            <a:r>
              <a:rPr lang="en-US" sz="2800" dirty="0" err="1">
                <a:solidFill>
                  <a:srgbClr val="FF0000"/>
                </a:solidFill>
              </a:rPr>
              <a:t>mới</a:t>
            </a:r>
            <a:r>
              <a:rPr lang="en-US" sz="2800" dirty="0">
                <a:solidFill>
                  <a:srgbClr val="FF0000"/>
                </a:solidFill>
              </a:rPr>
              <a:t> </a:t>
            </a:r>
            <a:r>
              <a:rPr lang="en-US" sz="2800" dirty="0" err="1">
                <a:solidFill>
                  <a:srgbClr val="FF0000"/>
                </a:solidFill>
              </a:rPr>
              <a:t>dựa</a:t>
            </a:r>
            <a:r>
              <a:rPr lang="en-US" sz="2800" dirty="0">
                <a:solidFill>
                  <a:srgbClr val="FF0000"/>
                </a:solidFill>
              </a:rPr>
              <a:t> </a:t>
            </a:r>
            <a:r>
              <a:rPr lang="en-US" sz="2800" dirty="0" err="1">
                <a:solidFill>
                  <a:srgbClr val="FF0000"/>
                </a:solidFill>
              </a:rPr>
              <a:t>trên</a:t>
            </a:r>
            <a:r>
              <a:rPr lang="en-US" sz="2800" dirty="0">
                <a:solidFill>
                  <a:srgbClr val="FF0000"/>
                </a:solidFill>
              </a:rPr>
              <a:t> </a:t>
            </a:r>
            <a:r>
              <a:rPr lang="en-US" sz="2800" dirty="0" err="1">
                <a:solidFill>
                  <a:srgbClr val="FF0000"/>
                </a:solidFill>
              </a:rPr>
              <a:t>các</a:t>
            </a:r>
            <a:r>
              <a:rPr lang="en-US" sz="2800" dirty="0">
                <a:solidFill>
                  <a:srgbClr val="FF0000"/>
                </a:solidFill>
              </a:rPr>
              <a:t> vector </a:t>
            </a:r>
            <a:r>
              <a:rPr lang="en-US" sz="2800" dirty="0" err="1">
                <a:solidFill>
                  <a:srgbClr val="FF0000"/>
                </a:solidFill>
              </a:rPr>
              <a:t>đặc</a:t>
            </a:r>
            <a:r>
              <a:rPr lang="en-US" sz="2800" dirty="0">
                <a:solidFill>
                  <a:srgbClr val="FF0000"/>
                </a:solidFill>
              </a:rPr>
              <a:t> </a:t>
            </a:r>
            <a:r>
              <a:rPr lang="en-US" sz="2800" err="1">
                <a:solidFill>
                  <a:srgbClr val="FF0000"/>
                </a:solidFill>
              </a:rPr>
              <a:t>biệt</a:t>
            </a:r>
            <a:r>
              <a:rPr lang="en-US" sz="2800">
                <a:solidFill>
                  <a:srgbClr val="FF0000"/>
                </a:solidFill>
              </a:rPr>
              <a:t> (support vectors)</a:t>
            </a:r>
            <a:r>
              <a:rPr lang="en-US" sz="2800">
                <a:solidFill>
                  <a:srgbClr val="0066FF"/>
                </a:solidFill>
              </a:rPr>
              <a:t> </a:t>
            </a:r>
            <a:r>
              <a:rPr lang="en-US" sz="2800">
                <a:solidFill>
                  <a:srgbClr val="FF0000"/>
                </a:solidFill>
              </a:rPr>
              <a:t>này</a:t>
            </a:r>
            <a:r>
              <a:rPr lang="en-US" sz="2800" dirty="0">
                <a:solidFill>
                  <a:srgbClr val="FF0000"/>
                </a:solidFill>
              </a:rPr>
              <a:t>.</a:t>
            </a:r>
            <a:endParaRPr lang="vi-VN" sz="2800" dirty="0">
              <a:solidFill>
                <a:srgbClr val="FF0000"/>
              </a:solidFill>
            </a:endParaRPr>
          </a:p>
        </p:txBody>
      </p:sp>
    </p:spTree>
    <p:extLst>
      <p:ext uri="{BB962C8B-B14F-4D97-AF65-F5344CB8AC3E}">
        <p14:creationId xmlns:p14="http://schemas.microsoft.com/office/powerpoint/2010/main" val="429397519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pic>
        <p:nvPicPr>
          <p:cNvPr id="3" name="Content Placeholder 2">
            <a:extLst>
              <a:ext uri="{FF2B5EF4-FFF2-40B4-BE49-F238E27FC236}">
                <a16:creationId xmlns:a16="http://schemas.microsoft.com/office/drawing/2014/main" id="{65F5A629-7823-43CC-B18B-8C6F464D0341}"/>
              </a:ext>
            </a:extLst>
          </p:cNvPr>
          <p:cNvPicPr>
            <a:picLocks noGrp="1" noChangeAspect="1"/>
          </p:cNvPicPr>
          <p:nvPr>
            <p:ph idx="1"/>
          </p:nvPr>
        </p:nvPicPr>
        <p:blipFill>
          <a:blip r:embed="rId2"/>
          <a:stretch>
            <a:fillRect/>
          </a:stretch>
        </p:blipFill>
        <p:spPr>
          <a:xfrm>
            <a:off x="3444827" y="1600200"/>
            <a:ext cx="5302346" cy="4525963"/>
          </a:xfrm>
          <a:prstGeom prst="rect">
            <a:avLst/>
          </a:prstGeom>
        </p:spPr>
      </p:pic>
    </p:spTree>
    <p:extLst>
      <p:ext uri="{BB962C8B-B14F-4D97-AF65-F5344CB8AC3E}">
        <p14:creationId xmlns:p14="http://schemas.microsoft.com/office/powerpoint/2010/main" val="18363824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sp>
        <p:nvSpPr>
          <p:cNvPr id="2" name="Content Placeholder 1">
            <a:extLst>
              <a:ext uri="{FF2B5EF4-FFF2-40B4-BE49-F238E27FC236}">
                <a16:creationId xmlns:a16="http://schemas.microsoft.com/office/drawing/2014/main" id="{B1D6B818-FB14-46EF-BBC3-9F6C9033410F}"/>
              </a:ext>
            </a:extLst>
          </p:cNvPr>
          <p:cNvSpPr>
            <a:spLocks noGrp="1"/>
          </p:cNvSpPr>
          <p:nvPr>
            <p:ph idx="1"/>
          </p:nvPr>
        </p:nvSpPr>
        <p:spPr/>
        <p:txBody>
          <a:bodyPr/>
          <a:lstStyle/>
          <a:p>
            <a:pPr algn="just"/>
            <a:r>
              <a:rPr lang="en-US" sz="2800" dirty="0" err="1">
                <a:solidFill>
                  <a:srgbClr val="0066FF"/>
                </a:solidFill>
              </a:rPr>
              <a:t>Thuật</a:t>
            </a:r>
            <a:r>
              <a:rPr lang="en-US" sz="2800" dirty="0">
                <a:solidFill>
                  <a:srgbClr val="0066FF"/>
                </a:solidFill>
              </a:rPr>
              <a:t> </a:t>
            </a:r>
            <a:r>
              <a:rPr lang="en-US" sz="2800" dirty="0" err="1">
                <a:solidFill>
                  <a:srgbClr val="0066FF"/>
                </a:solidFill>
              </a:rPr>
              <a:t>toán</a:t>
            </a:r>
            <a:r>
              <a:rPr lang="en-US" sz="2800" dirty="0">
                <a:solidFill>
                  <a:srgbClr val="0066FF"/>
                </a:solidFill>
              </a:rPr>
              <a:t> </a:t>
            </a:r>
            <a:r>
              <a:rPr lang="en-US" sz="2800">
                <a:solidFill>
                  <a:srgbClr val="0066FF"/>
                </a:solidFill>
              </a:rPr>
              <a:t>SVR chuẩn, </a:t>
            </a:r>
            <a:r>
              <a:rPr lang="en-US" sz="2800" dirty="0" err="1">
                <a:solidFill>
                  <a:srgbClr val="0066FF"/>
                </a:solidFill>
              </a:rPr>
              <a:t>chỉ</a:t>
            </a:r>
            <a:r>
              <a:rPr lang="en-US" sz="2800" dirty="0">
                <a:solidFill>
                  <a:srgbClr val="0066FF"/>
                </a:solidFill>
              </a:rPr>
              <a:t> </a:t>
            </a:r>
            <a:r>
              <a:rPr lang="en-US" sz="2800" dirty="0" err="1">
                <a:solidFill>
                  <a:srgbClr val="0066FF"/>
                </a:solidFill>
              </a:rPr>
              <a:t>có</a:t>
            </a:r>
            <a:r>
              <a:rPr lang="en-US" sz="2800" dirty="0">
                <a:solidFill>
                  <a:srgbClr val="0066FF"/>
                </a:solidFill>
              </a:rPr>
              <a:t> </a:t>
            </a:r>
            <a:r>
              <a:rPr lang="en-US" sz="2800" dirty="0" err="1">
                <a:solidFill>
                  <a:srgbClr val="0066FF"/>
                </a:solidFill>
              </a:rPr>
              <a:t>thể</a:t>
            </a:r>
            <a:r>
              <a:rPr lang="en-US" sz="2800" dirty="0">
                <a:solidFill>
                  <a:srgbClr val="0066FF"/>
                </a:solidFill>
              </a:rPr>
              <a:t> </a:t>
            </a:r>
            <a:r>
              <a:rPr lang="en-US" sz="2800" dirty="0" err="1">
                <a:solidFill>
                  <a:srgbClr val="0066FF"/>
                </a:solidFill>
              </a:rPr>
              <a:t>dự</a:t>
            </a:r>
            <a:r>
              <a:rPr lang="en-US" sz="2800" dirty="0">
                <a:solidFill>
                  <a:srgbClr val="0066FF"/>
                </a:solidFill>
              </a:rPr>
              <a:t> </a:t>
            </a:r>
            <a:r>
              <a:rPr lang="en-US" sz="2800" dirty="0" err="1">
                <a:solidFill>
                  <a:srgbClr val="0066FF"/>
                </a:solidFill>
              </a:rPr>
              <a:t>đoán</a:t>
            </a:r>
            <a:r>
              <a:rPr lang="en-US" sz="2800" dirty="0">
                <a:solidFill>
                  <a:srgbClr val="0066FF"/>
                </a:solidFill>
              </a:rPr>
              <a:t> </a:t>
            </a:r>
            <a:r>
              <a:rPr lang="en-US" sz="2800" dirty="0" err="1">
                <a:solidFill>
                  <a:srgbClr val="0066FF"/>
                </a:solidFill>
              </a:rPr>
              <a:t>trên</a:t>
            </a:r>
            <a:r>
              <a:rPr lang="en-US" sz="2800" dirty="0">
                <a:solidFill>
                  <a:srgbClr val="0066FF"/>
                </a:solidFill>
              </a:rPr>
              <a:t> </a:t>
            </a:r>
            <a:r>
              <a:rPr lang="en-US" sz="2800" dirty="0" err="1">
                <a:solidFill>
                  <a:srgbClr val="0066FF"/>
                </a:solidFill>
              </a:rPr>
              <a:t>tập</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có</a:t>
            </a:r>
            <a:r>
              <a:rPr lang="en-US" sz="2800" dirty="0">
                <a:solidFill>
                  <a:srgbClr val="0066FF"/>
                </a:solidFill>
              </a:rPr>
              <a:t> </a:t>
            </a:r>
            <a:r>
              <a:rPr lang="en-US" sz="2800" dirty="0" err="1">
                <a:solidFill>
                  <a:srgbClr val="0066FF"/>
                </a:solidFill>
              </a:rPr>
              <a:t>phân</a:t>
            </a:r>
            <a:r>
              <a:rPr lang="en-US" sz="2800" dirty="0">
                <a:solidFill>
                  <a:srgbClr val="0066FF"/>
                </a:solidFill>
              </a:rPr>
              <a:t> </a:t>
            </a:r>
            <a:r>
              <a:rPr lang="en-US" sz="2800" dirty="0" err="1">
                <a:solidFill>
                  <a:srgbClr val="0066FF"/>
                </a:solidFill>
              </a:rPr>
              <a:t>phối</a:t>
            </a:r>
            <a:r>
              <a:rPr lang="en-US" sz="2800" dirty="0">
                <a:solidFill>
                  <a:srgbClr val="0066FF"/>
                </a:solidFill>
              </a:rPr>
              <a:t> </a:t>
            </a:r>
            <a:r>
              <a:rPr lang="en-US" sz="2800" dirty="0" err="1">
                <a:solidFill>
                  <a:srgbClr val="0066FF"/>
                </a:solidFill>
              </a:rPr>
              <a:t>tuyến</a:t>
            </a:r>
            <a:r>
              <a:rPr lang="en-US" sz="2800" dirty="0">
                <a:solidFill>
                  <a:srgbClr val="0066FF"/>
                </a:solidFill>
              </a:rPr>
              <a:t> </a:t>
            </a:r>
            <a:r>
              <a:rPr lang="en-US" sz="2800" dirty="0" err="1">
                <a:solidFill>
                  <a:srgbClr val="0066FF"/>
                </a:solidFill>
              </a:rPr>
              <a:t>tính</a:t>
            </a:r>
            <a:r>
              <a:rPr lang="en-US" sz="2800" dirty="0">
                <a:solidFill>
                  <a:srgbClr val="0066FF"/>
                </a:solidFill>
              </a:rPr>
              <a:t>. </a:t>
            </a:r>
          </a:p>
          <a:p>
            <a:pPr algn="just"/>
            <a:r>
              <a:rPr lang="en-US" sz="2800" dirty="0" err="1">
                <a:solidFill>
                  <a:srgbClr val="FF0000"/>
                </a:solidFill>
              </a:rPr>
              <a:t>Tuy</a:t>
            </a:r>
            <a:r>
              <a:rPr lang="en-US" sz="2800" dirty="0">
                <a:solidFill>
                  <a:srgbClr val="FF0000"/>
                </a:solidFill>
              </a:rPr>
              <a:t> </a:t>
            </a:r>
            <a:r>
              <a:rPr lang="en-US" sz="2800" dirty="0" err="1">
                <a:solidFill>
                  <a:srgbClr val="FF0000"/>
                </a:solidFill>
              </a:rPr>
              <a:t>nhiên</a:t>
            </a:r>
            <a:r>
              <a:rPr lang="en-US" sz="2800" dirty="0">
                <a:solidFill>
                  <a:srgbClr val="FF0000"/>
                </a:solidFill>
              </a:rPr>
              <a:t>, </a:t>
            </a:r>
            <a:r>
              <a:rPr lang="en-US" sz="2800" dirty="0" err="1">
                <a:solidFill>
                  <a:srgbClr val="FF0000"/>
                </a:solidFill>
              </a:rPr>
              <a:t>các</a:t>
            </a:r>
            <a:r>
              <a:rPr lang="en-US" sz="2800" dirty="0">
                <a:solidFill>
                  <a:srgbClr val="FF0000"/>
                </a:solidFill>
              </a:rPr>
              <a:t> </a:t>
            </a:r>
            <a:r>
              <a:rPr lang="en-US" sz="2800" dirty="0" err="1">
                <a:solidFill>
                  <a:srgbClr val="FF0000"/>
                </a:solidFill>
              </a:rPr>
              <a:t>thuật</a:t>
            </a:r>
            <a:r>
              <a:rPr lang="en-US" sz="2800" dirty="0">
                <a:solidFill>
                  <a:srgbClr val="FF0000"/>
                </a:solidFill>
              </a:rPr>
              <a:t> </a:t>
            </a:r>
            <a:r>
              <a:rPr lang="en-US" sz="2800" dirty="0" err="1">
                <a:solidFill>
                  <a:srgbClr val="FF0000"/>
                </a:solidFill>
              </a:rPr>
              <a:t>toán</a:t>
            </a:r>
            <a:r>
              <a:rPr lang="en-US" sz="2800" dirty="0">
                <a:solidFill>
                  <a:srgbClr val="FF0000"/>
                </a:solidFill>
              </a:rPr>
              <a:t> </a:t>
            </a:r>
            <a:r>
              <a:rPr lang="en-US" sz="2800" dirty="0" err="1">
                <a:solidFill>
                  <a:srgbClr val="FF0000"/>
                </a:solidFill>
              </a:rPr>
              <a:t>cải</a:t>
            </a:r>
            <a:r>
              <a:rPr lang="en-US" sz="2800" dirty="0">
                <a:solidFill>
                  <a:srgbClr val="FF0000"/>
                </a:solidFill>
              </a:rPr>
              <a:t> </a:t>
            </a:r>
            <a:r>
              <a:rPr lang="en-US" sz="2800" dirty="0" err="1">
                <a:solidFill>
                  <a:srgbClr val="FF0000"/>
                </a:solidFill>
              </a:rPr>
              <a:t>tiến</a:t>
            </a:r>
            <a:r>
              <a:rPr lang="en-US" sz="2800" dirty="0">
                <a:solidFill>
                  <a:srgbClr val="FF0000"/>
                </a:solidFill>
              </a:rPr>
              <a:t> </a:t>
            </a:r>
            <a:r>
              <a:rPr lang="en-US" sz="2800" dirty="0" err="1">
                <a:solidFill>
                  <a:srgbClr val="FF0000"/>
                </a:solidFill>
              </a:rPr>
              <a:t>của</a:t>
            </a:r>
            <a:r>
              <a:rPr lang="en-US" sz="2800" dirty="0">
                <a:solidFill>
                  <a:srgbClr val="FF0000"/>
                </a:solidFill>
              </a:rPr>
              <a:t> SVR, </a:t>
            </a:r>
            <a:r>
              <a:rPr lang="en-US" sz="2800" dirty="0" err="1">
                <a:solidFill>
                  <a:srgbClr val="FF0000"/>
                </a:solidFill>
              </a:rPr>
              <a:t>gọi</a:t>
            </a:r>
            <a:r>
              <a:rPr lang="en-US" sz="2800" dirty="0">
                <a:solidFill>
                  <a:srgbClr val="FF0000"/>
                </a:solidFill>
              </a:rPr>
              <a:t> </a:t>
            </a:r>
            <a:r>
              <a:rPr lang="en-US" sz="2800" dirty="0" err="1">
                <a:solidFill>
                  <a:srgbClr val="FF0000"/>
                </a:solidFill>
              </a:rPr>
              <a:t>là</a:t>
            </a:r>
            <a:r>
              <a:rPr lang="en-US" sz="2800" dirty="0">
                <a:solidFill>
                  <a:srgbClr val="FF0000"/>
                </a:solidFill>
              </a:rPr>
              <a:t> </a:t>
            </a:r>
            <a:r>
              <a:rPr lang="en-US" sz="2800" dirty="0">
                <a:solidFill>
                  <a:schemeClr val="tx1"/>
                </a:solidFill>
                <a:highlight>
                  <a:srgbClr val="FFFF00"/>
                </a:highlight>
              </a:rPr>
              <a:t>kernel-SVR</a:t>
            </a:r>
            <a:r>
              <a:rPr lang="en-US" sz="2800" dirty="0">
                <a:solidFill>
                  <a:srgbClr val="FF0000"/>
                </a:solidFill>
              </a:rPr>
              <a:t>, </a:t>
            </a:r>
            <a:r>
              <a:rPr lang="en-US" sz="2800" dirty="0" err="1">
                <a:solidFill>
                  <a:srgbClr val="FF0000"/>
                </a:solidFill>
              </a:rPr>
              <a:t>có</a:t>
            </a:r>
            <a:r>
              <a:rPr lang="en-US" sz="2800" dirty="0">
                <a:solidFill>
                  <a:srgbClr val="FF0000"/>
                </a:solidFill>
              </a:rPr>
              <a:t> </a:t>
            </a:r>
            <a:r>
              <a:rPr lang="en-US" sz="2800" dirty="0" err="1">
                <a:solidFill>
                  <a:srgbClr val="FF0000"/>
                </a:solidFill>
              </a:rPr>
              <a:t>thể</a:t>
            </a:r>
            <a:r>
              <a:rPr lang="en-US" sz="2800" dirty="0">
                <a:solidFill>
                  <a:srgbClr val="FF0000"/>
                </a:solidFill>
              </a:rPr>
              <a:t> </a:t>
            </a:r>
            <a:r>
              <a:rPr lang="en-US" sz="2800" dirty="0" err="1">
                <a:solidFill>
                  <a:srgbClr val="FF0000"/>
                </a:solidFill>
              </a:rPr>
              <a:t>hoạt</a:t>
            </a:r>
            <a:r>
              <a:rPr lang="en-US" sz="2800" dirty="0">
                <a:solidFill>
                  <a:srgbClr val="FF0000"/>
                </a:solidFill>
              </a:rPr>
              <a:t> </a:t>
            </a:r>
            <a:r>
              <a:rPr lang="en-US" sz="2800" dirty="0" err="1">
                <a:solidFill>
                  <a:srgbClr val="FF0000"/>
                </a:solidFill>
              </a:rPr>
              <a:t>động</a:t>
            </a:r>
            <a:r>
              <a:rPr lang="en-US" sz="2800" dirty="0">
                <a:solidFill>
                  <a:srgbClr val="FF0000"/>
                </a:solidFill>
              </a:rPr>
              <a:t> </a:t>
            </a:r>
            <a:r>
              <a:rPr lang="en-US" sz="2800" dirty="0" err="1">
                <a:solidFill>
                  <a:srgbClr val="FF0000"/>
                </a:solidFill>
              </a:rPr>
              <a:t>tốt</a:t>
            </a:r>
            <a:r>
              <a:rPr lang="en-US" sz="2800" dirty="0">
                <a:solidFill>
                  <a:srgbClr val="FF0000"/>
                </a:solidFill>
              </a:rPr>
              <a:t> </a:t>
            </a:r>
            <a:r>
              <a:rPr lang="en-US" sz="2800" dirty="0" err="1">
                <a:solidFill>
                  <a:srgbClr val="FF0000"/>
                </a:solidFill>
              </a:rPr>
              <a:t>trên</a:t>
            </a:r>
            <a:r>
              <a:rPr lang="en-US" sz="2800" dirty="0">
                <a:solidFill>
                  <a:srgbClr val="FF0000"/>
                </a:solidFill>
              </a:rPr>
              <a:t> </a:t>
            </a:r>
            <a:r>
              <a:rPr lang="en-US" sz="2800" dirty="0" err="1">
                <a:solidFill>
                  <a:srgbClr val="FF0000"/>
                </a:solidFill>
              </a:rPr>
              <a:t>cả</a:t>
            </a:r>
            <a:r>
              <a:rPr lang="en-US" sz="2800" dirty="0">
                <a:solidFill>
                  <a:srgbClr val="FF0000"/>
                </a:solidFill>
              </a:rPr>
              <a:t> </a:t>
            </a:r>
            <a:r>
              <a:rPr lang="en-US" sz="2800" dirty="0" err="1">
                <a:solidFill>
                  <a:srgbClr val="FF0000"/>
                </a:solidFill>
              </a:rPr>
              <a:t>những</a:t>
            </a:r>
            <a:r>
              <a:rPr lang="en-US" sz="2800" dirty="0">
                <a:solidFill>
                  <a:srgbClr val="FF0000"/>
                </a:solidFill>
              </a:rPr>
              <a:t> </a:t>
            </a:r>
            <a:r>
              <a:rPr lang="en-US" sz="2800" dirty="0" err="1">
                <a:solidFill>
                  <a:srgbClr val="FF0000"/>
                </a:solidFill>
              </a:rPr>
              <a:t>dữ</a:t>
            </a:r>
            <a:r>
              <a:rPr lang="en-US" sz="2800" dirty="0">
                <a:solidFill>
                  <a:srgbClr val="FF0000"/>
                </a:solidFill>
              </a:rPr>
              <a:t> </a:t>
            </a:r>
            <a:r>
              <a:rPr lang="en-US" sz="2800" dirty="0" err="1">
                <a:solidFill>
                  <a:srgbClr val="FF0000"/>
                </a:solidFill>
              </a:rPr>
              <a:t>liệu</a:t>
            </a:r>
            <a:r>
              <a:rPr lang="en-US" sz="2800" dirty="0">
                <a:solidFill>
                  <a:srgbClr val="FF0000"/>
                </a:solidFill>
              </a:rPr>
              <a:t> phi </a:t>
            </a:r>
            <a:r>
              <a:rPr lang="en-US" sz="2800" dirty="0" err="1">
                <a:solidFill>
                  <a:srgbClr val="FF0000"/>
                </a:solidFill>
              </a:rPr>
              <a:t>tuyến</a:t>
            </a:r>
            <a:r>
              <a:rPr lang="en-US" sz="2800" dirty="0">
                <a:solidFill>
                  <a:srgbClr val="FF0000"/>
                </a:solidFill>
              </a:rPr>
              <a:t>.</a:t>
            </a:r>
          </a:p>
        </p:txBody>
      </p:sp>
    </p:spTree>
    <p:extLst>
      <p:ext uri="{BB962C8B-B14F-4D97-AF65-F5344CB8AC3E}">
        <p14:creationId xmlns:p14="http://schemas.microsoft.com/office/powerpoint/2010/main" val="21533556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Regression</a:t>
            </a:r>
            <a:endParaRPr lang="vi-VN" dirty="0"/>
          </a:p>
        </p:txBody>
      </p:sp>
      <p:sp>
        <p:nvSpPr>
          <p:cNvPr id="2" name="Content Placeholder 1">
            <a:extLst>
              <a:ext uri="{FF2B5EF4-FFF2-40B4-BE49-F238E27FC236}">
                <a16:creationId xmlns:a16="http://schemas.microsoft.com/office/drawing/2014/main" id="{B1D6B818-FB14-46EF-BBC3-9F6C9033410F}"/>
              </a:ext>
            </a:extLst>
          </p:cNvPr>
          <p:cNvSpPr>
            <a:spLocks noGrp="1"/>
          </p:cNvSpPr>
          <p:nvPr>
            <p:ph idx="1"/>
          </p:nvPr>
        </p:nvSpPr>
        <p:spPr/>
        <p:txBody>
          <a:bodyPr/>
          <a:lstStyle/>
          <a:p>
            <a:pPr algn="just"/>
            <a:r>
              <a:rPr lang="en-US" sz="2800" dirty="0" err="1">
                <a:solidFill>
                  <a:srgbClr val="0066FF"/>
                </a:solidFill>
              </a:rPr>
              <a:t>Một</a:t>
            </a:r>
            <a:r>
              <a:rPr lang="en-US" sz="2800" dirty="0">
                <a:solidFill>
                  <a:srgbClr val="0066FF"/>
                </a:solidFill>
              </a:rPr>
              <a:t> </a:t>
            </a:r>
            <a:r>
              <a:rPr lang="en-US" sz="2800" dirty="0" err="1">
                <a:solidFill>
                  <a:srgbClr val="0066FF"/>
                </a:solidFill>
              </a:rPr>
              <a:t>vài</a:t>
            </a:r>
            <a:r>
              <a:rPr lang="en-US" sz="2800" dirty="0">
                <a:solidFill>
                  <a:srgbClr val="0066FF"/>
                </a:solidFill>
              </a:rPr>
              <a:t> </a:t>
            </a:r>
            <a:r>
              <a:rPr lang="en-US" sz="2800" dirty="0" err="1">
                <a:solidFill>
                  <a:srgbClr val="0066FF"/>
                </a:solidFill>
              </a:rPr>
              <a:t>loại</a:t>
            </a:r>
            <a:r>
              <a:rPr lang="en-US" sz="2800" dirty="0">
                <a:solidFill>
                  <a:srgbClr val="0066FF"/>
                </a:solidFill>
              </a:rPr>
              <a:t> kernel</a:t>
            </a:r>
            <a:r>
              <a:rPr lang="vi-VN" sz="2800" dirty="0">
                <a:solidFill>
                  <a:srgbClr val="0066FF"/>
                </a:solidFill>
              </a:rPr>
              <a:t>-SVR </a:t>
            </a:r>
            <a:r>
              <a:rPr lang="vi-VN" sz="2800" dirty="0" err="1">
                <a:solidFill>
                  <a:srgbClr val="0066FF"/>
                </a:solidFill>
              </a:rPr>
              <a:t>thường</a:t>
            </a:r>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sử</a:t>
            </a:r>
            <a:r>
              <a:rPr lang="vi-VN" sz="2800" dirty="0">
                <a:solidFill>
                  <a:srgbClr val="0066FF"/>
                </a:solidFill>
              </a:rPr>
              <a:t> </a:t>
            </a:r>
            <a:r>
              <a:rPr lang="vi-VN" sz="2800" dirty="0" err="1">
                <a:solidFill>
                  <a:srgbClr val="0066FF"/>
                </a:solidFill>
              </a:rPr>
              <a:t>dụng</a:t>
            </a:r>
            <a:r>
              <a:rPr lang="vi-VN" sz="2800" dirty="0">
                <a:solidFill>
                  <a:srgbClr val="0066FF"/>
                </a:solidFill>
              </a:rPr>
              <a:t>:</a:t>
            </a:r>
          </a:p>
          <a:p>
            <a:pPr lvl="1" algn="just"/>
            <a:r>
              <a:rPr lang="vi-VN" sz="2800" dirty="0" err="1">
                <a:solidFill>
                  <a:schemeClr val="tx1"/>
                </a:solidFill>
                <a:highlight>
                  <a:srgbClr val="FFFF00"/>
                </a:highlight>
              </a:rPr>
              <a:t>Linear</a:t>
            </a:r>
            <a:r>
              <a:rPr lang="vi-VN" sz="2800" dirty="0">
                <a:solidFill>
                  <a:schemeClr val="tx1"/>
                </a:solidFill>
                <a:highlight>
                  <a:srgbClr val="FFFF00"/>
                </a:highlight>
              </a:rPr>
              <a:t> </a:t>
            </a:r>
            <a:r>
              <a:rPr lang="vi-VN" sz="2800" dirty="0" err="1">
                <a:solidFill>
                  <a:schemeClr val="tx1"/>
                </a:solidFill>
                <a:highlight>
                  <a:srgbClr val="FFFF00"/>
                </a:highlight>
              </a:rPr>
              <a:t>kernel</a:t>
            </a:r>
            <a:r>
              <a:rPr lang="vi-VN" sz="2800" dirty="0">
                <a:solidFill>
                  <a:schemeClr val="tx1"/>
                </a:solidFill>
                <a:highlight>
                  <a:srgbClr val="FFFF00"/>
                </a:highlight>
              </a:rPr>
              <a:t>-SVR</a:t>
            </a:r>
            <a:r>
              <a:rPr lang="vi-VN" sz="2800" dirty="0">
                <a:solidFill>
                  <a:srgbClr val="FF0000"/>
                </a:solidFill>
              </a:rPr>
              <a:t>: </a:t>
            </a:r>
            <a:r>
              <a:rPr lang="vi-VN" sz="2800" dirty="0" err="1">
                <a:solidFill>
                  <a:srgbClr val="FF0000"/>
                </a:solidFill>
              </a:rPr>
              <a:t>kernel</a:t>
            </a:r>
            <a:r>
              <a:rPr lang="vi-VN" sz="2800" dirty="0">
                <a:solidFill>
                  <a:srgbClr val="FF0000"/>
                </a:solidFill>
              </a:rPr>
              <a:t> </a:t>
            </a:r>
            <a:r>
              <a:rPr lang="vi-VN" sz="2800" dirty="0" err="1">
                <a:solidFill>
                  <a:srgbClr val="FF0000"/>
                </a:solidFill>
              </a:rPr>
              <a:t>mặc</a:t>
            </a:r>
            <a:r>
              <a:rPr lang="vi-VN" sz="2800" dirty="0">
                <a:solidFill>
                  <a:srgbClr val="FF0000"/>
                </a:solidFill>
              </a:rPr>
              <a:t> </a:t>
            </a:r>
            <a:r>
              <a:rPr lang="vi-VN" sz="2800" dirty="0" err="1">
                <a:solidFill>
                  <a:srgbClr val="FF0000"/>
                </a:solidFill>
              </a:rPr>
              <a:t>định</a:t>
            </a:r>
            <a:r>
              <a:rPr lang="vi-VN" sz="2800" dirty="0">
                <a:solidFill>
                  <a:srgbClr val="FF0000"/>
                </a:solidFill>
              </a:rPr>
              <a:t> </a:t>
            </a:r>
            <a:r>
              <a:rPr lang="vi-VN" sz="2800" dirty="0" err="1">
                <a:solidFill>
                  <a:srgbClr val="FF0000"/>
                </a:solidFill>
              </a:rPr>
              <a:t>của</a:t>
            </a:r>
            <a:r>
              <a:rPr lang="vi-VN" sz="2800" dirty="0">
                <a:solidFill>
                  <a:srgbClr val="FF0000"/>
                </a:solidFill>
              </a:rPr>
              <a:t> SVR, </a:t>
            </a:r>
            <a:r>
              <a:rPr lang="vi-VN" sz="2800" dirty="0" err="1">
                <a:solidFill>
                  <a:srgbClr val="FF0000"/>
                </a:solidFill>
              </a:rPr>
              <a:t>chỉ</a:t>
            </a:r>
            <a:r>
              <a:rPr lang="vi-VN" sz="2800" dirty="0">
                <a:solidFill>
                  <a:srgbClr val="FF0000"/>
                </a:solidFill>
              </a:rPr>
              <a:t> </a:t>
            </a:r>
            <a:r>
              <a:rPr lang="vi-VN" sz="2800" dirty="0" err="1">
                <a:solidFill>
                  <a:srgbClr val="FF0000"/>
                </a:solidFill>
              </a:rPr>
              <a:t>sử</a:t>
            </a:r>
            <a:r>
              <a:rPr lang="vi-VN" sz="2800" dirty="0">
                <a:solidFill>
                  <a:srgbClr val="FF0000"/>
                </a:solidFill>
              </a:rPr>
              <a:t> </a:t>
            </a:r>
            <a:r>
              <a:rPr lang="vi-VN" sz="2800" dirty="0" err="1">
                <a:solidFill>
                  <a:srgbClr val="FF0000"/>
                </a:solidFill>
              </a:rPr>
              <a:t>dụng</a:t>
            </a:r>
            <a:r>
              <a:rPr lang="vi-VN" sz="2800" dirty="0">
                <a:solidFill>
                  <a:srgbClr val="FF0000"/>
                </a:solidFill>
              </a:rPr>
              <a:t> </a:t>
            </a:r>
            <a:r>
              <a:rPr lang="vi-VN" sz="2800" dirty="0" err="1">
                <a:solidFill>
                  <a:srgbClr val="FF0000"/>
                </a:solidFill>
              </a:rPr>
              <a:t>được</a:t>
            </a:r>
            <a:r>
              <a:rPr lang="vi-VN" sz="2800" dirty="0">
                <a:solidFill>
                  <a:srgbClr val="FF0000"/>
                </a:solidFill>
              </a:rPr>
              <a:t> cho </a:t>
            </a:r>
            <a:r>
              <a:rPr lang="vi-VN" sz="2800" dirty="0" err="1">
                <a:solidFill>
                  <a:srgbClr val="FF0000"/>
                </a:solidFill>
              </a:rPr>
              <a:t>tập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có</a:t>
            </a:r>
            <a:r>
              <a:rPr lang="vi-VN" sz="2800" dirty="0">
                <a:solidFill>
                  <a:srgbClr val="FF0000"/>
                </a:solidFill>
              </a:rPr>
              <a:t> phân </a:t>
            </a:r>
            <a:r>
              <a:rPr lang="vi-VN" sz="2800" dirty="0" err="1">
                <a:solidFill>
                  <a:srgbClr val="FF0000"/>
                </a:solidFill>
              </a:rPr>
              <a:t>phối</a:t>
            </a:r>
            <a:r>
              <a:rPr lang="vi-VN" sz="2800" dirty="0">
                <a:solidFill>
                  <a:srgbClr val="FF0000"/>
                </a:solidFill>
              </a:rPr>
              <a:t> </a:t>
            </a:r>
            <a:r>
              <a:rPr lang="vi-VN" sz="2800" dirty="0" err="1">
                <a:solidFill>
                  <a:srgbClr val="FF0000"/>
                </a:solidFill>
              </a:rPr>
              <a:t>tuyến</a:t>
            </a:r>
            <a:r>
              <a:rPr lang="vi-VN" sz="2800" dirty="0">
                <a:solidFill>
                  <a:srgbClr val="FF0000"/>
                </a:solidFill>
              </a:rPr>
              <a:t> </a:t>
            </a:r>
            <a:r>
              <a:rPr lang="vi-VN" sz="2800" dirty="0" err="1">
                <a:solidFill>
                  <a:srgbClr val="FF0000"/>
                </a:solidFill>
              </a:rPr>
              <a:t>tính</a:t>
            </a:r>
            <a:r>
              <a:rPr lang="vi-VN" sz="2800" dirty="0">
                <a:solidFill>
                  <a:srgbClr val="FF0000"/>
                </a:solidFill>
              </a:rPr>
              <a:t>.</a:t>
            </a:r>
          </a:p>
          <a:p>
            <a:pPr lvl="1" algn="just"/>
            <a:r>
              <a:rPr lang="vi-VN" sz="2800" dirty="0" err="1">
                <a:solidFill>
                  <a:srgbClr val="0066FF"/>
                </a:solidFill>
              </a:rPr>
              <a:t>Polynomial</a:t>
            </a:r>
            <a:r>
              <a:rPr lang="vi-VN" sz="2800" dirty="0">
                <a:solidFill>
                  <a:srgbClr val="0066FF"/>
                </a:solidFill>
              </a:rPr>
              <a:t> </a:t>
            </a:r>
            <a:r>
              <a:rPr lang="vi-VN" sz="2800" dirty="0" err="1">
                <a:solidFill>
                  <a:srgbClr val="0066FF"/>
                </a:solidFill>
              </a:rPr>
              <a:t>kernel</a:t>
            </a:r>
            <a:r>
              <a:rPr lang="vi-VN" sz="2800" dirty="0">
                <a:solidFill>
                  <a:srgbClr val="0066FF"/>
                </a:solidFill>
              </a:rPr>
              <a:t>-SVR.</a:t>
            </a:r>
          </a:p>
          <a:p>
            <a:pPr lvl="1" algn="just"/>
            <a:r>
              <a:rPr lang="vi-VN" sz="2800" dirty="0" err="1">
                <a:solidFill>
                  <a:srgbClr val="FF0000"/>
                </a:solidFill>
              </a:rPr>
              <a:t>Sigmoid</a:t>
            </a:r>
            <a:r>
              <a:rPr lang="vi-VN" sz="2800" dirty="0">
                <a:solidFill>
                  <a:srgbClr val="FF0000"/>
                </a:solidFill>
              </a:rPr>
              <a:t> </a:t>
            </a:r>
            <a:r>
              <a:rPr lang="vi-VN" sz="2800" dirty="0" err="1">
                <a:solidFill>
                  <a:srgbClr val="FF0000"/>
                </a:solidFill>
              </a:rPr>
              <a:t>kernel</a:t>
            </a:r>
            <a:r>
              <a:rPr lang="vi-VN" sz="2800" dirty="0">
                <a:solidFill>
                  <a:srgbClr val="FF0000"/>
                </a:solidFill>
              </a:rPr>
              <a:t>-SVR.</a:t>
            </a:r>
          </a:p>
          <a:p>
            <a:pPr lvl="1" algn="just"/>
            <a:r>
              <a:rPr lang="vi-VN" sz="2800" dirty="0" err="1">
                <a:solidFill>
                  <a:schemeClr val="tx1"/>
                </a:solidFill>
                <a:highlight>
                  <a:srgbClr val="FFFF00"/>
                </a:highlight>
              </a:rPr>
              <a:t>Radial</a:t>
            </a:r>
            <a:r>
              <a:rPr lang="vi-VN" sz="2800" dirty="0">
                <a:solidFill>
                  <a:schemeClr val="tx1"/>
                </a:solidFill>
                <a:highlight>
                  <a:srgbClr val="FFFF00"/>
                </a:highlight>
              </a:rPr>
              <a:t> </a:t>
            </a:r>
            <a:r>
              <a:rPr lang="vi-VN" sz="2800" dirty="0" err="1">
                <a:solidFill>
                  <a:schemeClr val="tx1"/>
                </a:solidFill>
                <a:highlight>
                  <a:srgbClr val="FFFF00"/>
                </a:highlight>
              </a:rPr>
              <a:t>Basis</a:t>
            </a:r>
            <a:r>
              <a:rPr lang="vi-VN" sz="2800" dirty="0">
                <a:solidFill>
                  <a:schemeClr val="tx1"/>
                </a:solidFill>
                <a:highlight>
                  <a:srgbClr val="FFFF00"/>
                </a:highlight>
              </a:rPr>
              <a:t> </a:t>
            </a:r>
            <a:r>
              <a:rPr lang="vi-VN" sz="2800" dirty="0" err="1">
                <a:solidFill>
                  <a:schemeClr val="tx1"/>
                </a:solidFill>
                <a:highlight>
                  <a:srgbClr val="FFFF00"/>
                </a:highlight>
              </a:rPr>
              <a:t>Function</a:t>
            </a:r>
            <a:r>
              <a:rPr lang="vi-VN" sz="2800" dirty="0">
                <a:solidFill>
                  <a:schemeClr val="tx1"/>
                </a:solidFill>
                <a:highlight>
                  <a:srgbClr val="FFFF00"/>
                </a:highlight>
              </a:rPr>
              <a:t> </a:t>
            </a:r>
            <a:r>
              <a:rPr lang="vi-VN" sz="2800" dirty="0" err="1">
                <a:solidFill>
                  <a:schemeClr val="tx1"/>
                </a:solidFill>
                <a:highlight>
                  <a:srgbClr val="FFFF00"/>
                </a:highlight>
              </a:rPr>
              <a:t>kernel</a:t>
            </a:r>
            <a:r>
              <a:rPr lang="vi-VN" sz="2800" dirty="0">
                <a:solidFill>
                  <a:schemeClr val="tx1"/>
                </a:solidFill>
                <a:highlight>
                  <a:srgbClr val="FFFF00"/>
                </a:highlight>
              </a:rPr>
              <a:t>-SVR</a:t>
            </a:r>
            <a:r>
              <a:rPr lang="vi-VN" sz="2800" dirty="0">
                <a:solidFill>
                  <a:schemeClr val="tx1"/>
                </a:solidFill>
              </a:rPr>
              <a:t>.</a:t>
            </a:r>
          </a:p>
        </p:txBody>
      </p:sp>
    </p:spTree>
    <p:extLst>
      <p:ext uri="{BB962C8B-B14F-4D97-AF65-F5344CB8AC3E}">
        <p14:creationId xmlns:p14="http://schemas.microsoft.com/office/powerpoint/2010/main" val="22660376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3B5115-E98B-4B04-B8A9-D1BD25A3AA72}"/>
              </a:ext>
            </a:extLst>
          </p:cNvPr>
          <p:cNvSpPr>
            <a:spLocks noGrp="1"/>
          </p:cNvSpPr>
          <p:nvPr>
            <p:ph type="title"/>
          </p:nvPr>
        </p:nvSpPr>
        <p:spPr/>
        <p:txBody>
          <a:bodyPr/>
          <a:lstStyle/>
          <a:p>
            <a:r>
              <a:rPr lang="vi-VN" dirty="0" err="1"/>
              <a:t>Huấn</a:t>
            </a:r>
            <a:r>
              <a:rPr lang="vi-VN" dirty="0"/>
              <a:t> </a:t>
            </a:r>
            <a:r>
              <a:rPr lang="vi-VN" dirty="0" err="1"/>
              <a:t>luyện</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84B49D8F-2118-47C2-BEEF-C10B4877996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7236928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3B5115-E98B-4B04-B8A9-D1BD25A3AA72}"/>
              </a:ext>
            </a:extLst>
          </p:cNvPr>
          <p:cNvSpPr>
            <a:spLocks noGrp="1"/>
          </p:cNvSpPr>
          <p:nvPr>
            <p:ph type="title"/>
          </p:nvPr>
        </p:nvSpPr>
        <p:spPr/>
        <p:txBody>
          <a:bodyPr wrap="square"/>
          <a:lstStyle/>
          <a:p>
            <a:pPr>
              <a:defRPr sz="2800" b="1">
                <a:solidFill>
                  <a:srgbClr val="002060"/>
                </a:solidFill>
                <a:latin typeface="Calibri"/>
              </a:defRPr>
            </a:pPr>
            <a:r>
              <a:t>Huấn luyện mô hình: SVR với Radial Basis Function Kernel (In [3])</a:t>
            </a:r>
            <a:endParaRPr lang="vi-VN" dirty="0"/>
          </a:p>
        </p:txBody>
      </p:sp>
      <p:sp>
        <p:nvSpPr>
          <p:cNvPr id="2" name="Content Placeholder 1">
            <a:extLst>
              <a:ext uri="{FF2B5EF4-FFF2-40B4-BE49-F238E27FC236}">
                <a16:creationId xmlns:a16="http://schemas.microsoft.com/office/drawing/2014/main" id="{E0C80977-D1C0-406C-AA85-1F441B8C5389}"/>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Khởi tạo và huấn luyện SVR trên dữ liệu chuẩn hóa (In [3]):</a:t>
            </a:r>
          </a:p>
          <a:p>
            <a:pPr>
              <a:spcAft>
                <a:spcPts val="200"/>
              </a:spcAft>
              <a:defRPr sz="1300" b="0">
                <a:solidFill>
                  <a:srgbClr val="004696"/>
                </a:solidFill>
                <a:latin typeface="Consolas"/>
              </a:defRPr>
            </a:pPr>
            <a:r>
              <a:t>from sklearn.svm import SVR</a:t>
            </a:r>
          </a:p>
          <a:p>
            <a:pPr>
              <a:spcAft>
                <a:spcPts val="200"/>
              </a:spcAft>
              <a:defRPr sz="1300" b="0">
                <a:solidFill>
                  <a:srgbClr val="004696"/>
                </a:solidFill>
                <a:latin typeface="Consolas"/>
              </a:defRPr>
            </a:pPr>
            <a:r>
              <a:t># C=1.0: Tham số phạt lỗi ngoài ống; epsilon=0.1: Độ rộng ống không phạt sai số</a:t>
            </a:r>
          </a:p>
          <a:p>
            <a:pPr>
              <a:spcAft>
                <a:spcPts val="200"/>
              </a:spcAft>
              <a:defRPr sz="1300" b="0">
                <a:solidFill>
                  <a:srgbClr val="004696"/>
                </a:solidFill>
                <a:latin typeface="Consolas"/>
              </a:defRPr>
            </a:pPr>
            <a:r>
              <a:t>regressor = SVR(kernel='rbf', C=1.0, epsilon=0.1)</a:t>
            </a:r>
          </a:p>
          <a:p>
            <a:pPr>
              <a:spcAft>
                <a:spcPts val="600"/>
              </a:spcAft>
              <a:defRPr sz="1300" b="0">
                <a:solidFill>
                  <a:srgbClr val="004696"/>
                </a:solidFill>
                <a:latin typeface="Consolas"/>
              </a:defRPr>
            </a:pPr>
            <a:r>
              <a:t>regressor.fit(X_scaled, y_scaled.ravel())</a:t>
            </a:r>
          </a:p>
          <a:p>
            <a:pPr>
              <a:spcBef>
                <a:spcPts val="600"/>
              </a:spcBef>
              <a:spcAft>
                <a:spcPts val="400"/>
              </a:spcAft>
              <a:defRPr sz="1700" b="1">
                <a:solidFill>
                  <a:srgbClr val="003366"/>
                </a:solidFill>
                <a:latin typeface="Calibri"/>
              </a:defRPr>
            </a:pPr>
            <a:r>
              <a:t>📌 Lưu ý kỹ thuật về shape của y_scaled:</a:t>
            </a:r>
          </a:p>
          <a:p>
            <a:pPr>
              <a:spcAft>
                <a:spcPts val="200"/>
              </a:spcAft>
              <a:defRPr sz="1200" b="0">
                <a:solidFill>
                  <a:srgbClr val="146428"/>
                </a:solidFill>
                <a:latin typeface="Consolas"/>
              </a:defRPr>
            </a:pPr>
            <a:r>
              <a:t>• Sử dụng y_scaled.ravel() để chuyển cột ma trận (10, 1) thành mảng 1D (10,) theo đúng yêu cầu Scikit-Learn, tránh cảnh báo DataConversionWarning.</a:t>
            </a:r>
          </a:p>
        </p:txBody>
      </p:sp>
    </p:spTree>
    <p:extLst>
      <p:ext uri="{BB962C8B-B14F-4D97-AF65-F5344CB8AC3E}">
        <p14:creationId xmlns:p14="http://schemas.microsoft.com/office/powerpoint/2010/main" val="412027683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FFFDC-C3B2-46F7-8B92-B05BEA04DE51}"/>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AC5942C7-11B9-40F4-8069-D9898D2A13F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58218061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5600-1934-4665-A89A-DFEE7C1A496D}"/>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4" name="Content Placeholder 3">
            <a:extLst>
              <a:ext uri="{FF2B5EF4-FFF2-40B4-BE49-F238E27FC236}">
                <a16:creationId xmlns:a16="http://schemas.microsoft.com/office/drawing/2014/main" id="{884A1CA9-19B6-44E4-BF8F-201AB9868AA5}"/>
              </a:ext>
            </a:extLst>
          </p:cNvPr>
          <p:cNvPicPr>
            <a:picLocks noGrp="1" noChangeAspect="1"/>
          </p:cNvPicPr>
          <p:nvPr>
            <p:ph idx="1"/>
          </p:nvPr>
        </p:nvPicPr>
        <p:blipFill>
          <a:blip r:embed="rId2"/>
          <a:stretch>
            <a:fillRect/>
          </a:stretch>
        </p:blipFill>
        <p:spPr>
          <a:xfrm>
            <a:off x="3176587" y="1739106"/>
            <a:ext cx="5838825" cy="4248150"/>
          </a:xfrm>
          <a:prstGeom prst="rect">
            <a:avLst/>
          </a:prstGeom>
        </p:spPr>
      </p:pic>
    </p:spTree>
    <p:extLst>
      <p:ext uri="{BB962C8B-B14F-4D97-AF65-F5344CB8AC3E}">
        <p14:creationId xmlns:p14="http://schemas.microsoft.com/office/powerpoint/2010/main" val="210197321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FFFDC-C3B2-46F7-8B92-B05BEA04DE51}"/>
              </a:ext>
            </a:extLst>
          </p:cNvPr>
          <p:cNvSpPr>
            <a:spLocks noGrp="1"/>
          </p:cNvSpPr>
          <p:nvPr>
            <p:ph type="title"/>
          </p:nvPr>
        </p:nvSpPr>
        <p:spPr/>
        <p:txBody>
          <a:bodyPr wrap="square"/>
          <a:lstStyle/>
          <a:p>
            <a:pPr>
              <a:defRPr sz="2800" b="1">
                <a:solidFill>
                  <a:srgbClr val="002060"/>
                </a:solidFill>
                <a:latin typeface="Calibri"/>
              </a:defRPr>
            </a:pPr>
            <a:r>
              <a:t>Kiểm tra kết quả: Dự Đoán Level = 6.5 &amp; Chuyển Đổi Ngược inverse_transform</a:t>
            </a:r>
            <a:endParaRPr lang="vi-VN" dirty="0"/>
          </a:p>
        </p:txBody>
      </p:sp>
      <p:sp>
        <p:nvSpPr>
          <p:cNvPr id="2" name="Content Placeholder 1">
            <a:extLst>
              <a:ext uri="{FF2B5EF4-FFF2-40B4-BE49-F238E27FC236}">
                <a16:creationId xmlns:a16="http://schemas.microsoft.com/office/drawing/2014/main" id="{DE689D4C-D9FB-4079-BF6C-28DC86D4282B}"/>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Quy trình dự đoán chuẩn mực trên dữ liệu thực tế (In [3]):</a:t>
            </a:r>
          </a:p>
          <a:p>
            <a:pPr>
              <a:spcAft>
                <a:spcPts val="200"/>
              </a:spcAft>
              <a:defRPr sz="1300" b="0">
                <a:solidFill>
                  <a:srgbClr val="004696"/>
                </a:solidFill>
                <a:latin typeface="Consolas"/>
              </a:defRPr>
            </a:pPr>
            <a:r>
              <a:t># Bước 1: Chuẩn hóa đầu vào 6.5 theo thang đo sc_X</a:t>
            </a:r>
          </a:p>
          <a:p>
            <a:pPr>
              <a:spcAft>
                <a:spcPts val="200"/>
              </a:spcAft>
              <a:defRPr sz="1300" b="0">
                <a:solidFill>
                  <a:srgbClr val="004696"/>
                </a:solidFill>
                <a:latin typeface="Consolas"/>
              </a:defRPr>
            </a:pPr>
            <a:r>
              <a:t>level_scaled = sc_X.transform([[6.5]])</a:t>
            </a:r>
          </a:p>
          <a:p>
            <a:pPr>
              <a:spcAft>
                <a:spcPts val="200"/>
              </a:spcAft>
              <a:defRPr sz="1300" b="0">
                <a:solidFill>
                  <a:srgbClr val="004696"/>
                </a:solidFill>
                <a:latin typeface="Consolas"/>
              </a:defRPr>
            </a:pPr>
            <a:r>
              <a:t># Bước 2: Dự đoán trên không gian scaled</a:t>
            </a:r>
          </a:p>
          <a:p>
            <a:pPr>
              <a:spcAft>
                <a:spcPts val="200"/>
              </a:spcAft>
              <a:defRPr sz="1300" b="0">
                <a:solidFill>
                  <a:srgbClr val="004696"/>
                </a:solidFill>
                <a:latin typeface="Consolas"/>
              </a:defRPr>
            </a:pPr>
            <a:r>
              <a:t>pred_scaled = regressor.predict(level_scaled)</a:t>
            </a:r>
          </a:p>
          <a:p>
            <a:pPr>
              <a:spcAft>
                <a:spcPts val="200"/>
              </a:spcAft>
              <a:defRPr sz="1300" b="0">
                <a:solidFill>
                  <a:srgbClr val="004696"/>
                </a:solidFill>
                <a:latin typeface="Consolas"/>
              </a:defRPr>
            </a:pPr>
            <a:r>
              <a:t># Bước 3: Chuyển đổi ngược (inverse_transform) để lấy giá trị tiền tệ ($)</a:t>
            </a:r>
          </a:p>
          <a:p>
            <a:pPr>
              <a:spcAft>
                <a:spcPts val="400"/>
              </a:spcAft>
              <a:defRPr sz="1300" b="0">
                <a:solidFill>
                  <a:srgbClr val="004696"/>
                </a:solidFill>
                <a:latin typeface="Consolas"/>
              </a:defRPr>
            </a:pPr>
            <a:r>
              <a:t>pred_orig = sc_y.inverse_transform(pred_scaled.reshape(-1, 1))[0][0]</a:t>
            </a:r>
          </a:p>
          <a:p>
            <a:pPr>
              <a:spcAft>
                <a:spcPts val="200"/>
              </a:spcAft>
              <a:defRPr sz="1300" b="0">
                <a:solidFill>
                  <a:srgbClr val="004696"/>
                </a:solidFill>
                <a:latin typeface="Consolas"/>
              </a:defRPr>
            </a:pPr>
            <a:r>
              <a:t># Bước 4: Đánh giá R² Score trên toàn bộ dữ liệu gốc</a:t>
            </a:r>
          </a:p>
          <a:p>
            <a:pPr>
              <a:spcAft>
                <a:spcPts val="200"/>
              </a:spcAft>
              <a:defRPr sz="1300" b="0">
                <a:solidFill>
                  <a:srgbClr val="004696"/>
                </a:solidFill>
                <a:latin typeface="Consolas"/>
              </a:defRPr>
            </a:pPr>
            <a:r>
              <a:t>y_pred_orig = sc_y.inverse_transform(regressor.predict(X_scaled).reshape(-1, 1))</a:t>
            </a:r>
          </a:p>
          <a:p>
            <a:pPr>
              <a:spcAft>
                <a:spcPts val="200"/>
              </a:spcAft>
              <a:defRPr sz="1300" b="0">
                <a:solidFill>
                  <a:srgbClr val="004696"/>
                </a:solidFill>
                <a:latin typeface="Consolas"/>
              </a:defRPr>
            </a:pPr>
            <a:r>
              <a:t>print(f'Mức lương dự đoán Level 6.5: ${pred_orig:,.2f}')</a:t>
            </a:r>
          </a:p>
          <a:p>
            <a:pPr>
              <a:spcAft>
                <a:spcPts val="400"/>
              </a:spcAft>
              <a:defRPr sz="1300" b="0">
                <a:solidFill>
                  <a:srgbClr val="004696"/>
                </a:solidFill>
                <a:latin typeface="Consolas"/>
              </a:defRPr>
            </a:pPr>
            <a:r>
              <a:t>print(f'R² Score trên dữ liệu gốc:  {r2_score(y, y_pred_orig):.4f}')</a:t>
            </a:r>
          </a:p>
          <a:p>
            <a:pPr>
              <a:spcBef>
                <a:spcPts val="600"/>
              </a:spcBef>
              <a:spcAft>
                <a:spcPts val="400"/>
              </a:spcAft>
              <a:defRPr sz="1700" b="1">
                <a:solidFill>
                  <a:srgbClr val="003366"/>
                </a:solidFill>
                <a:latin typeface="Calibri"/>
              </a:defRPr>
            </a:pPr>
            <a:r>
              <a:t>📌 Kết quả đánh giá (Expected Output):</a:t>
            </a:r>
          </a:p>
          <a:p>
            <a:pPr>
              <a:spcAft>
                <a:spcPts val="200"/>
              </a:spcAft>
              <a:defRPr sz="1200" b="0">
                <a:solidFill>
                  <a:srgbClr val="146428"/>
                </a:solidFill>
                <a:latin typeface="Consolas"/>
              </a:defRPr>
            </a:pPr>
            <a:r>
              <a:t>• Mức lương dự đoán Level 6.5: $170,370.02 (Nằm hoàn toàn hợp lý giữa Level 6 và 7)</a:t>
            </a:r>
          </a:p>
          <a:p>
            <a:pPr>
              <a:spcAft>
                <a:spcPts val="200"/>
              </a:spcAft>
              <a:defRPr sz="1200" b="0">
                <a:solidFill>
                  <a:srgbClr val="146428"/>
                </a:solidFill>
                <a:latin typeface="Consolas"/>
              </a:defRPr>
            </a:pPr>
            <a:r>
              <a:t>• R² Score trên dữ liệu gốc = 0.7516</a:t>
            </a:r>
          </a:p>
        </p:txBody>
      </p:sp>
    </p:spTree>
    <p:extLst>
      <p:ext uri="{BB962C8B-B14F-4D97-AF65-F5344CB8AC3E}">
        <p14:creationId xmlns:p14="http://schemas.microsoft.com/office/powerpoint/2010/main" val="43119103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FFFDC-C3B2-46F7-8B92-B05BEA04DE51}"/>
              </a:ext>
            </a:extLst>
          </p:cNvPr>
          <p:cNvSpPr>
            <a:spLocks noGrp="1"/>
          </p:cNvSpPr>
          <p:nvPr>
            <p:ph type="title"/>
          </p:nvPr>
        </p:nvSpPr>
        <p:spPr/>
        <p:txBody>
          <a:bodyPr wrap="square"/>
          <a:lstStyle/>
          <a:p>
            <a:pPr>
              <a:defRPr sz="2800" b="1">
                <a:solidFill>
                  <a:srgbClr val="002060"/>
                </a:solidFill>
                <a:latin typeface="Calibri"/>
              </a:defRPr>
            </a:pPr>
            <a:r>
              <a:t>Trực quan hóa kết quả: Đường Cong SVR Độ Phân Giải Cao (In [4])</a:t>
            </a:r>
            <a:endParaRPr lang="vi-VN" dirty="0"/>
          </a:p>
        </p:txBody>
      </p:sp>
      <p:sp>
        <p:nvSpPr>
          <p:cNvPr id="2" name="Content Placeholder 1">
            <a:extLst>
              <a:ext uri="{FF2B5EF4-FFF2-40B4-BE49-F238E27FC236}">
                <a16:creationId xmlns:a16="http://schemas.microsoft.com/office/drawing/2014/main" id="{DE689D4C-D9FB-4079-BF6C-28DC86D4282B}"/>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Vẽ đường cong hồi quy SVR mượt mà trên không gian gốc (In [4]):</a:t>
            </a:r>
          </a:p>
          <a:p>
            <a:pPr>
              <a:spcAft>
                <a:spcPts val="200"/>
              </a:spcAft>
              <a:defRPr sz="1300" b="0">
                <a:solidFill>
                  <a:srgbClr val="004696"/>
                </a:solidFill>
                <a:latin typeface="Consolas"/>
              </a:defRPr>
            </a:pPr>
            <a:r>
              <a:t>X_grid = np.arange(min(X)[0], max(X)[0], 0.01).reshape(-1, 1)</a:t>
            </a:r>
          </a:p>
          <a:p>
            <a:pPr>
              <a:spcAft>
                <a:spcPts val="200"/>
              </a:spcAft>
              <a:defRPr sz="1300" b="0">
                <a:solidFill>
                  <a:srgbClr val="004696"/>
                </a:solidFill>
                <a:latin typeface="Consolas"/>
              </a:defRPr>
            </a:pPr>
            <a:r>
              <a:t>X_grid_scaled = sc_X.transform(X_grid)</a:t>
            </a:r>
          </a:p>
          <a:p>
            <a:pPr>
              <a:spcAft>
                <a:spcPts val="400"/>
              </a:spcAft>
              <a:defRPr sz="1300" b="0">
                <a:solidFill>
                  <a:srgbClr val="004696"/>
                </a:solidFill>
                <a:latin typeface="Consolas"/>
              </a:defRPr>
            </a:pPr>
            <a:r>
              <a:t>y_grid_pred = sc_y.inverse_transform(regressor.predict(X_grid_scaled).reshape(-1, 1))</a:t>
            </a:r>
          </a:p>
          <a:p>
            <a:pPr>
              <a:spcAft>
                <a:spcPts val="200"/>
              </a:spcAft>
              <a:defRPr sz="1300" b="0">
                <a:solidFill>
                  <a:srgbClr val="004696"/>
                </a:solidFill>
                <a:latin typeface="Consolas"/>
              </a:defRPr>
            </a:pPr>
            <a:r>
              <a:t>plt.figure(figsize=(10, 6))</a:t>
            </a:r>
          </a:p>
          <a:p>
            <a:pPr>
              <a:spcAft>
                <a:spcPts val="200"/>
              </a:spcAft>
              <a:defRPr sz="1300" b="0">
                <a:solidFill>
                  <a:srgbClr val="004696"/>
                </a:solidFill>
                <a:latin typeface="Consolas"/>
              </a:defRPr>
            </a:pPr>
            <a:r>
              <a:t>plt.scatter(X, y, color='red', s=80, label='Dữ liệu Thực tế')</a:t>
            </a:r>
          </a:p>
          <a:p>
            <a:pPr>
              <a:spcAft>
                <a:spcPts val="200"/>
              </a:spcAft>
              <a:defRPr sz="1300" b="0">
                <a:solidFill>
                  <a:srgbClr val="004696"/>
                </a:solidFill>
                <a:latin typeface="Consolas"/>
              </a:defRPr>
            </a:pPr>
            <a:r>
              <a:t>plt.plot(X_grid, y_grid_pred, color='blue', linewidth=2.5, label='Đường cong SVR (RBF Kernel)')</a:t>
            </a:r>
          </a:p>
          <a:p>
            <a:pPr>
              <a:spcAft>
                <a:spcPts val="200"/>
              </a:spcAft>
              <a:defRPr sz="1300" b="0">
                <a:solidFill>
                  <a:srgbClr val="004696"/>
                </a:solidFill>
                <a:latin typeface="Consolas"/>
              </a:defRPr>
            </a:pPr>
            <a:r>
              <a:t>plt.scatter([6.5], [pred_orig], color='purple', s=160, marker='*', zorder=6, label=f'Dự đoán 6.5 (${pred_orig:,.0f})')</a:t>
            </a:r>
          </a:p>
          <a:p>
            <a:pPr>
              <a:spcAft>
                <a:spcPts val="200"/>
              </a:spcAft>
              <a:defRPr sz="1300" b="0">
                <a:solidFill>
                  <a:srgbClr val="004696"/>
                </a:solidFill>
                <a:latin typeface="Consolas"/>
              </a:defRPr>
            </a:pPr>
            <a:r>
              <a:t>plt.title('Position Level vs Salary (Support Vector Regression - SVR)', fontweight='bold')</a:t>
            </a:r>
          </a:p>
          <a:p>
            <a:pPr>
              <a:spcAft>
                <a:spcPts val="200"/>
              </a:spcAft>
              <a:defRPr sz="1300" b="0">
                <a:solidFill>
                  <a:srgbClr val="004696"/>
                </a:solidFill>
                <a:latin typeface="Consolas"/>
              </a:defRPr>
            </a:pPr>
            <a:r>
              <a:t>plt.xlabel('Position Level'); plt.ylabel('Salary ($)'); plt.legend(); plt.show()</a:t>
            </a:r>
          </a:p>
        </p:txBody>
      </p:sp>
    </p:spTree>
    <p:extLst>
      <p:ext uri="{BB962C8B-B14F-4D97-AF65-F5344CB8AC3E}">
        <p14:creationId xmlns:p14="http://schemas.microsoft.com/office/powerpoint/2010/main" val="74753315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FFFDC-C3B2-46F7-8B92-B05BEA04DE51}"/>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7" name="Content Placeholder 6">
            <a:extLst>
              <a:ext uri="{FF2B5EF4-FFF2-40B4-BE49-F238E27FC236}">
                <a16:creationId xmlns:a16="http://schemas.microsoft.com/office/drawing/2014/main" id="{BF99935F-C734-42EA-9695-B54C7F79F65B}"/>
              </a:ext>
            </a:extLst>
          </p:cNvPr>
          <p:cNvPicPr>
            <a:picLocks noGrp="1" noChangeAspect="1"/>
          </p:cNvPicPr>
          <p:nvPr>
            <p:ph idx="1"/>
          </p:nvPr>
        </p:nvPicPr>
        <p:blipFill>
          <a:blip r:embed="rId2"/>
          <a:stretch>
            <a:fillRect/>
          </a:stretch>
        </p:blipFill>
        <p:spPr>
          <a:xfrm>
            <a:off x="3186112" y="1715294"/>
            <a:ext cx="5819775" cy="4295775"/>
          </a:xfrm>
          <a:prstGeom prst="rect">
            <a:avLst/>
          </a:prstGeom>
        </p:spPr>
      </p:pic>
    </p:spTree>
    <p:extLst>
      <p:ext uri="{BB962C8B-B14F-4D97-AF65-F5344CB8AC3E}">
        <p14:creationId xmlns:p14="http://schemas.microsoft.com/office/powerpoint/2010/main" val="52493519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FFFDC-C3B2-46F7-8B92-B05BEA04DE51}"/>
              </a:ext>
            </a:extLst>
          </p:cNvPr>
          <p:cNvSpPr>
            <a:spLocks noGrp="1"/>
          </p:cNvSpPr>
          <p:nvPr>
            <p:ph type="title"/>
          </p:nvPr>
        </p:nvSpPr>
        <p:spPr/>
        <p:txBody>
          <a:bodyPr wrap="square"/>
          <a:lstStyle/>
          <a:p>
            <a:pPr>
              <a:defRPr sz="2800" b="1">
                <a:solidFill>
                  <a:srgbClr val="002060"/>
                </a:solidFill>
                <a:latin typeface="Calibri"/>
              </a:defRPr>
            </a:pPr>
            <a:r>
              <a:t>Trực quan hóa kết quả: Phân Tích Điểm Ngoại Lai (Outlier) Level = 10</a:t>
            </a:r>
            <a:endParaRPr lang="vi-VN" dirty="0"/>
          </a:p>
        </p:txBody>
      </p:sp>
      <p:sp>
        <p:nvSpPr>
          <p:cNvPr id="5" name="Content Placeholder 4">
            <a:extLst>
              <a:ext uri="{FF2B5EF4-FFF2-40B4-BE49-F238E27FC236}">
                <a16:creationId xmlns:a16="http://schemas.microsoft.com/office/drawing/2014/main" id="{AA6932EE-0537-4144-932F-E4836FC7C20A}"/>
              </a:ext>
            </a:extLst>
          </p:cNvPr>
          <p:cNvSpPr>
            <a:spLocks noGrp="1"/>
          </p:cNvSpPr>
          <p:nvPr>
            <p:ph sz="half" idx="2"/>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Hiện tượng quan sát: Đường cong SVR không đi qua điểm Level 10 (Lương $1,000,000):</a:t>
            </a:r>
          </a:p>
          <a:p>
            <a:pPr>
              <a:spcAft>
                <a:spcPts val="300"/>
              </a:spcAft>
              <a:defRPr sz="1500" b="1">
                <a:solidFill>
                  <a:srgbClr val="282828"/>
                </a:solidFill>
                <a:latin typeface="Calibri"/>
              </a:defRPr>
            </a:pPr>
            <a:r>
              <a:t>• Đây là LỖI hay TÍNH NĂNG ƯU VIỆT của SVR?</a:t>
            </a:r>
          </a:p>
          <a:p>
            <a:pPr>
              <a:spcAft>
                <a:spcPts val="300"/>
              </a:spcAft>
              <a:defRPr sz="1500" b="0">
                <a:solidFill>
                  <a:srgbClr val="282828"/>
                </a:solidFill>
                <a:latin typeface="Calibri"/>
              </a:defRPr>
            </a:pPr>
            <a:r>
              <a:t>• Giải thích toán học: Điểm Level 10 là một điểm Outlier cực đoan (Lương $1M cao gấp đôi Level 9).</a:t>
            </a:r>
          </a:p>
          <a:p>
            <a:pPr>
              <a:spcAft>
                <a:spcPts val="300"/>
              </a:spcAft>
              <a:defRPr sz="1500" b="0">
                <a:solidFill>
                  <a:srgbClr val="282828"/>
                </a:solidFill>
                <a:latin typeface="Calibri"/>
              </a:defRPr>
            </a:pPr>
            <a:r>
              <a:t>• Trong SVR, mục tiêu không phải là bắt ép đường hồi quy đi qua mọi điểm, mà là tìm siêu phẳng tối ưu có biên dung sai epsilon và phạt sai số thông qua tham số C.</a:t>
            </a:r>
          </a:p>
          <a:p>
            <a:pPr>
              <a:spcAft>
                <a:spcPts val="300"/>
              </a:spcAft>
              <a:defRPr sz="1500" b="1">
                <a:solidFill>
                  <a:srgbClr val="282828"/>
                </a:solidFill>
                <a:latin typeface="Calibri"/>
              </a:defRPr>
            </a:pPr>
            <a:r>
              <a:t>• Tính năng Kháng Nhiễu (Robustness to Outliers): SVR chấp nhận bỏ rơi điểm Level 10 để bảo vệ độ phẳng và tính tổng quát của mô hình trên các điểm từ Level 1 đến 9!</a:t>
            </a:r>
          </a:p>
        </p:txBody>
      </p:sp>
      <p:pic>
        <p:nvPicPr>
          <p:cNvPr id="8" name="Content Placeholder 6">
            <a:extLst>
              <a:ext uri="{FF2B5EF4-FFF2-40B4-BE49-F238E27FC236}">
                <a16:creationId xmlns:a16="http://schemas.microsoft.com/office/drawing/2014/main" id="{287051C3-CAC0-40F8-8CBB-3A425CD144C5}"/>
              </a:ext>
            </a:extLst>
          </p:cNvPr>
          <p:cNvPicPr>
            <a:picLocks noGrp="1" noChangeAspect="1"/>
          </p:cNvPicPr>
          <p:nvPr>
            <p:ph sz="half" idx="1"/>
          </p:nvPr>
        </p:nvPicPr>
        <p:blipFill>
          <a:blip r:embed="rId2"/>
          <a:stretch>
            <a:fillRect/>
          </a:stretch>
        </p:blipFill>
        <p:spPr>
          <a:xfrm>
            <a:off x="609600" y="1875829"/>
            <a:ext cx="5384800" cy="3974705"/>
          </a:xfrm>
          <a:prstGeom prst="rect">
            <a:avLst/>
          </a:prstGeom>
        </p:spPr>
      </p:pic>
    </p:spTree>
    <p:extLst>
      <p:ext uri="{BB962C8B-B14F-4D97-AF65-F5344CB8AC3E}">
        <p14:creationId xmlns:p14="http://schemas.microsoft.com/office/powerpoint/2010/main" val="209260778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5600-1934-4665-A89A-DFEE7C1A496D}"/>
              </a:ext>
            </a:extLst>
          </p:cNvPr>
          <p:cNvSpPr>
            <a:spLocks noGrp="1"/>
          </p:cNvSpPr>
          <p:nvPr>
            <p:ph type="title"/>
          </p:nvPr>
        </p:nvSpPr>
        <p:spPr/>
        <p:txBody>
          <a:bodyPr wrap="square"/>
          <a:lstStyle/>
          <a:p>
            <a:pPr>
              <a:defRPr sz="2800" b="1">
                <a:solidFill>
                  <a:srgbClr val="002060"/>
                </a:solidFill>
                <a:latin typeface="Calibri"/>
              </a:defRPr>
            </a:pPr>
            <a:r>
              <a:t>Trực quan hóa kết quả: Đánh Giá Sai Số Dự Đoán Trên Từng Cấp Bậc</a:t>
            </a:r>
            <a:endParaRPr lang="vi-VN" dirty="0"/>
          </a:p>
        </p:txBody>
      </p:sp>
      <p:sp>
        <p:nvSpPr>
          <p:cNvPr id="3" name="Content Placeholder 2">
            <a:extLst>
              <a:ext uri="{FF2B5EF4-FFF2-40B4-BE49-F238E27FC236}">
                <a16:creationId xmlns:a16="http://schemas.microsoft.com/office/drawing/2014/main" id="{5A39DA54-A4C5-4888-8404-A13128827D02}"/>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Bảng đối chiếu giá trị Thực tế vs Dự đoán mô hình SVR:</a:t>
            </a:r>
          </a:p>
          <a:p>
            <a:pPr>
              <a:spcAft>
                <a:spcPts val="300"/>
              </a:spcAft>
              <a:defRPr sz="1500" b="0">
                <a:solidFill>
                  <a:srgbClr val="282828"/>
                </a:solidFill>
                <a:latin typeface="Calibri"/>
              </a:defRPr>
            </a:pPr>
            <a:r>
              <a:t>• Level 1 - 3 (Junior -&gt; Senior Consultant): Sai lệch rất nhỏ (&lt; $10,000), bám sát mức lương thực.</a:t>
            </a:r>
          </a:p>
          <a:p>
            <a:pPr>
              <a:spcAft>
                <a:spcPts val="300"/>
              </a:spcAft>
              <a:defRPr sz="1500" b="0">
                <a:solidFill>
                  <a:srgbClr val="282828"/>
                </a:solidFill>
                <a:latin typeface="Calibri"/>
              </a:defRPr>
            </a:pPr>
            <a:r>
              <a:t>• Level 4 - 6 (Manager -&gt; Region Manager): Dự đoán chính xác xu hướng tăng trưởng tuyến tính mềm.</a:t>
            </a:r>
          </a:p>
          <a:p>
            <a:pPr>
              <a:spcAft>
                <a:spcPts val="300"/>
              </a:spcAft>
              <a:defRPr sz="1500" b="0">
                <a:solidFill>
                  <a:srgbClr val="282828"/>
                </a:solidFill>
                <a:latin typeface="Calibri"/>
              </a:defRPr>
            </a:pPr>
            <a:r>
              <a:t>• Level 7 - 8 (Partner -&gt; Senior Partner): Đường cong SVR đón đầu mức tăng mạnh mẽ.</a:t>
            </a:r>
          </a:p>
          <a:p>
            <a:pPr>
              <a:spcAft>
                <a:spcPts val="300"/>
              </a:spcAft>
              <a:defRPr sz="1500" b="0">
                <a:solidFill>
                  <a:srgbClr val="282828"/>
                </a:solidFill>
                <a:latin typeface="Calibri"/>
              </a:defRPr>
            </a:pPr>
            <a:r>
              <a:t>• Level 9 (C-level): Thực tế $500,000 | SVR dự đoán xấp xỉ $450,000 - $480,000.</a:t>
            </a:r>
          </a:p>
          <a:p>
            <a:pPr>
              <a:spcAft>
                <a:spcPts val="300"/>
              </a:spcAft>
              <a:defRPr sz="1500" b="1">
                <a:solidFill>
                  <a:srgbClr val="282828"/>
                </a:solidFill>
                <a:latin typeface="Calibri"/>
              </a:defRPr>
            </a:pPr>
            <a:r>
              <a:t>• Level 10 (CEO): Thực tế $1,000,000 | SVR dự đoán ~$300,000 (Hiệu ứng phạt sai số ngoài ống).</a:t>
            </a:r>
          </a:p>
          <a:p>
            <a:pPr>
              <a:spcAft>
                <a:spcPts val="200"/>
              </a:spcAft>
              <a:defRPr sz="1200" b="0">
                <a:solidFill>
                  <a:srgbClr val="146428"/>
                </a:solidFill>
                <a:latin typeface="Consolas"/>
              </a:defRPr>
            </a:pPr>
            <a:r>
              <a:t>📌 Đánh giá tổng quan: R² Score đạt 0.7516 trên toàn bộ tập dữ liệu (kể cả ngoại lai $1M).</a:t>
            </a:r>
          </a:p>
        </p:txBody>
      </p:sp>
    </p:spTree>
    <p:extLst>
      <p:ext uri="{BB962C8B-B14F-4D97-AF65-F5344CB8AC3E}">
        <p14:creationId xmlns:p14="http://schemas.microsoft.com/office/powerpoint/2010/main" val="211990821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5600-1934-4665-A89A-DFEE7C1A496D}"/>
              </a:ext>
            </a:extLst>
          </p:cNvPr>
          <p:cNvSpPr>
            <a:spLocks noGrp="1"/>
          </p:cNvSpPr>
          <p:nvPr>
            <p:ph type="title"/>
          </p:nvPr>
        </p:nvSpPr>
        <p:spPr/>
        <p:txBody>
          <a:bodyPr wrap="square"/>
          <a:lstStyle/>
          <a:p>
            <a:pPr>
              <a:defRPr sz="2800" b="1">
                <a:solidFill>
                  <a:srgbClr val="002060"/>
                </a:solidFill>
                <a:latin typeface="Calibri"/>
              </a:defRPr>
            </a:pPr>
            <a:r>
              <a:t>Trực quan hóa kết quả: Tác Động Của Tham Số C và Epsilon</a:t>
            </a:r>
            <a:endParaRPr lang="vi-VN" dirty="0"/>
          </a:p>
        </p:txBody>
      </p:sp>
      <p:pic>
        <p:nvPicPr>
          <p:cNvPr id="4" name="Content Placeholder 3">
            <a:extLst>
              <a:ext uri="{FF2B5EF4-FFF2-40B4-BE49-F238E27FC236}">
                <a16:creationId xmlns:a16="http://schemas.microsoft.com/office/drawing/2014/main" id="{884A1CA9-19B6-44E4-BF8F-201AB9868AA5}"/>
              </a:ext>
            </a:extLst>
          </p:cNvPr>
          <p:cNvPicPr>
            <a:picLocks noGrp="1" noChangeAspect="1"/>
          </p:cNvPicPr>
          <p:nvPr>
            <p:ph idx="1"/>
          </p:nvPr>
        </p:nvPicPr>
        <p:blipFill>
          <a:blip r:embed="rId2"/>
          <a:stretch>
            <a:fillRect/>
          </a:stretch>
        </p:blipFill>
        <p:spPr>
          <a:xfrm>
            <a:off x="3176587" y="1739106"/>
            <a:ext cx="5838825" cy="4248150"/>
          </a:xfrm>
          <a:prstGeom prst="rect">
            <a:avLst/>
          </a:prstGeom>
        </p:spPr>
      </p:pic>
      <p:sp>
        <p:nvSpPr>
          <p:cNvPr id="5" name="TextBox 4"/>
          <p:cNvSpPr txBox="1"/>
          <p:nvPr/>
        </p:nvSpPr>
        <p:spPr>
          <a:xfrm>
            <a:off x="612648" y="1371600"/>
            <a:ext cx="10972800" cy="4937760"/>
          </a:xfrm>
          <a:prstGeom prst="rect">
            <a:avLst/>
          </a:prstGeom>
          <a:noFill/>
        </p:spPr>
        <p:txBody>
          <a:bodyPr wrap="square">
            <a:spAutoFit/>
          </a:bodyPr>
          <a:lstStyle/>
          <a:p>
            <a:pPr>
              <a:spcBef>
                <a:spcPts val="600"/>
              </a:spcBef>
              <a:spcAft>
                <a:spcPts val="400"/>
              </a:spcAft>
              <a:defRPr sz="1700" b="1">
                <a:solidFill>
                  <a:srgbClr val="003366"/>
                </a:solidFill>
                <a:latin typeface="Calibri"/>
              </a:defRPr>
            </a:pPr>
            <a:r>
              <a:t>Sự đánh đổi (Trade-off) khi điều chỉnh các siêu tham số trong SVR:</a:t>
            </a:r>
          </a:p>
          <a:p>
            <a:pPr>
              <a:spcAft>
                <a:spcPts val="300"/>
              </a:spcAft>
              <a:defRPr sz="1500" b="0">
                <a:solidFill>
                  <a:srgbClr val="282828"/>
                </a:solidFill>
                <a:latin typeface="Calibri"/>
              </a:defRPr>
            </a:pPr>
            <a:r>
              <a:t>1. Khi tham số C quá lớn (C -&gt; vô cùng):</a:t>
            </a:r>
          </a:p>
          <a:p>
            <a:pPr>
              <a:spcAft>
                <a:spcPts val="300"/>
              </a:spcAft>
              <a:defRPr sz="1500" b="0">
                <a:solidFill>
                  <a:srgbClr val="282828"/>
                </a:solidFill>
                <a:latin typeface="Calibri"/>
              </a:defRPr>
            </a:pPr>
            <a:r>
              <a:t>   Mô hình phạt rất nặng mọi điểm vi phạm, ép đường cong uốn lượn qua cả Level 10 -&gt; Dẫn đến Overfitting nặng.</a:t>
            </a:r>
          </a:p>
          <a:p>
            <a:pPr>
              <a:spcAft>
                <a:spcPts val="300"/>
              </a:spcAft>
              <a:defRPr sz="1500" b="0">
                <a:solidFill>
                  <a:srgbClr val="282828"/>
                </a:solidFill>
                <a:latin typeface="Calibri"/>
              </a:defRPr>
            </a:pPr>
            <a:r>
              <a:t>2. Khi tham số C vừa phải (C = 1.0 mặc định):</a:t>
            </a:r>
          </a:p>
          <a:p>
            <a:pPr>
              <a:spcAft>
                <a:spcPts val="300"/>
              </a:spcAft>
              <a:defRPr sz="1500" b="1">
                <a:solidFill>
                  <a:srgbClr val="282828"/>
                </a:solidFill>
                <a:latin typeface="Calibri"/>
              </a:defRPr>
            </a:pPr>
            <a:r>
              <a:t>   Mô hình ưu tiên độ phẳng (flatness) của hàm hồi quy, giữ khả năng tổng quát hóa cao nhất.</a:t>
            </a:r>
          </a:p>
          <a:p>
            <a:pPr>
              <a:spcAft>
                <a:spcPts val="300"/>
              </a:spcAft>
              <a:defRPr sz="1500" b="0">
                <a:solidFill>
                  <a:srgbClr val="282828"/>
                </a:solidFill>
                <a:latin typeface="Calibri"/>
              </a:defRPr>
            </a:pPr>
            <a:r>
              <a:t>3. Khi bán kính epsilon thu hẹp (epsilon -&gt; 0):</a:t>
            </a:r>
          </a:p>
          <a:p>
            <a:pPr>
              <a:spcAft>
                <a:spcPts val="300"/>
              </a:spcAft>
              <a:defRPr sz="1500" b="0">
                <a:solidFill>
                  <a:srgbClr val="282828"/>
                </a:solidFill>
                <a:latin typeface="Calibri"/>
              </a:defRPr>
            </a:pPr>
            <a:r>
              <a:t>   Ống dung sai mỏng lại, hầu hết các điểm đều trở thành Support Vectors, làm tăng độ phức tạp tính toán.</a:t>
            </a:r>
          </a:p>
        </p:txBody>
      </p:sp>
    </p:spTree>
    <p:extLst>
      <p:ext uri="{BB962C8B-B14F-4D97-AF65-F5344CB8AC3E}">
        <p14:creationId xmlns:p14="http://schemas.microsoft.com/office/powerpoint/2010/main" val="256169801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5600-1934-4665-A89A-DFEE7C1A496D}"/>
              </a:ext>
            </a:extLst>
          </p:cNvPr>
          <p:cNvSpPr>
            <a:spLocks noGrp="1"/>
          </p:cNvSpPr>
          <p:nvPr>
            <p:ph type="title"/>
          </p:nvPr>
        </p:nvSpPr>
        <p:spPr/>
        <p:txBody>
          <a:bodyPr wrap="square"/>
          <a:lstStyle/>
          <a:p>
            <a:pPr>
              <a:defRPr sz="2800" b="1">
                <a:solidFill>
                  <a:srgbClr val="002060"/>
                </a:solidFill>
                <a:latin typeface="Calibri"/>
              </a:defRPr>
            </a:pPr>
            <a:r>
              <a:t>Kiểm tra kết quả: Cơ Chế Ống Epsilon &amp; Bộ 3 Siêu Tham Số (C, epsilon, gamma)</a:t>
            </a:r>
            <a:endParaRPr lang="vi-VN" dirty="0"/>
          </a:p>
        </p:txBody>
      </p:sp>
      <p:sp>
        <p:nvSpPr>
          <p:cNvPr id="3" name="Content Placeholder 2">
            <a:extLst>
              <a:ext uri="{FF2B5EF4-FFF2-40B4-BE49-F238E27FC236}">
                <a16:creationId xmlns:a16="http://schemas.microsoft.com/office/drawing/2014/main" id="{8E396433-2CF6-449B-9F80-7A0576B93067}"/>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Nguyên lý vận hành cốt lõi của Support Vector Regression:</a:t>
            </a:r>
          </a:p>
          <a:p>
            <a:pPr>
              <a:spcAft>
                <a:spcPts val="300"/>
              </a:spcAft>
              <a:defRPr sz="1500" b="0">
                <a:solidFill>
                  <a:srgbClr val="282828"/>
                </a:solidFill>
                <a:latin typeface="Calibri"/>
              </a:defRPr>
            </a:pPr>
            <a:r>
              <a:t>1. Ống dung sai sai số (epsilon-tube):</a:t>
            </a:r>
          </a:p>
          <a:p>
            <a:pPr>
              <a:spcAft>
                <a:spcPts val="300"/>
              </a:spcAft>
              <a:defRPr sz="1500" b="0">
                <a:solidFill>
                  <a:srgbClr val="282828"/>
                </a:solidFill>
                <a:latin typeface="Calibri"/>
              </a:defRPr>
            </a:pPr>
            <a:r>
              <a:t>   Mọi điểm rơi vào trong dải ống [y - epsilon, y + epsilon] đều có hàm mất mát = 0 (không bị phạt).</a:t>
            </a:r>
          </a:p>
          <a:p>
            <a:pPr>
              <a:spcAft>
                <a:spcPts val="300"/>
              </a:spcAft>
              <a:defRPr sz="1500" b="0">
                <a:solidFill>
                  <a:srgbClr val="282828"/>
                </a:solidFill>
                <a:latin typeface="Calibri"/>
              </a:defRPr>
            </a:pPr>
            <a:r>
              <a:t>2. Vectơ hỗ trợ (Support Vectors):</a:t>
            </a:r>
          </a:p>
          <a:p>
            <a:pPr>
              <a:spcAft>
                <a:spcPts val="300"/>
              </a:spcAft>
              <a:defRPr sz="1500" b="1">
                <a:solidFill>
                  <a:srgbClr val="282828"/>
                </a:solidFill>
                <a:latin typeface="Calibri"/>
              </a:defRPr>
            </a:pPr>
            <a:r>
              <a:t>   Chỉ những điểm nằm trên biên ống hoặc bên ngoài ống mới quyết định hình dạng của mô hình.</a:t>
            </a:r>
          </a:p>
          <a:p>
            <a:pPr>
              <a:spcAft>
                <a:spcPts val="300"/>
              </a:spcAft>
              <a:defRPr sz="1500" b="0">
                <a:solidFill>
                  <a:srgbClr val="282828"/>
                </a:solidFill>
                <a:latin typeface="Calibri"/>
              </a:defRPr>
            </a:pPr>
            <a:r>
              <a:t>3. Bộ 3 siêu tham số điều khiển:</a:t>
            </a:r>
          </a:p>
          <a:p>
            <a:pPr>
              <a:spcAft>
                <a:spcPts val="300"/>
              </a:spcAft>
              <a:defRPr sz="1500" b="0">
                <a:solidFill>
                  <a:srgbClr val="282828"/>
                </a:solidFill>
                <a:latin typeface="Calibri"/>
              </a:defRPr>
            </a:pPr>
            <a:r>
              <a:t>   • C: Trọng số phạt điểm vi phạm (C lớn -&gt; cố gắng fit dữ liệu, C nhỏ -&gt; đường phẳng, ít nhạy cảm).</a:t>
            </a:r>
          </a:p>
          <a:p>
            <a:pPr>
              <a:spcAft>
                <a:spcPts val="300"/>
              </a:spcAft>
              <a:defRPr sz="1500" b="0">
                <a:solidFill>
                  <a:srgbClr val="282828"/>
                </a:solidFill>
                <a:latin typeface="Calibri"/>
              </a:defRPr>
            </a:pPr>
            <a:r>
              <a:t>   • epsilon: Bán kính vùng dung sai sai số.</a:t>
            </a:r>
          </a:p>
          <a:p>
            <a:pPr>
              <a:spcAft>
                <a:spcPts val="300"/>
              </a:spcAft>
              <a:defRPr sz="1500" b="0">
                <a:solidFill>
                  <a:srgbClr val="282828"/>
                </a:solidFill>
                <a:latin typeface="Calibri"/>
              </a:defRPr>
            </a:pPr>
            <a:r>
              <a:t>   • gamma: Bán kính ảnh hưởng của nhân RBF tới từng điểm lân cận.</a:t>
            </a:r>
          </a:p>
        </p:txBody>
      </p:sp>
    </p:spTree>
    <p:extLst>
      <p:ext uri="{BB962C8B-B14F-4D97-AF65-F5344CB8AC3E}">
        <p14:creationId xmlns:p14="http://schemas.microsoft.com/office/powerpoint/2010/main" val="354705666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5600-1934-4665-A89A-DFEE7C1A496D}"/>
              </a:ext>
            </a:extLst>
          </p:cNvPr>
          <p:cNvSpPr>
            <a:spLocks noGrp="1"/>
          </p:cNvSpPr>
          <p:nvPr>
            <p:ph type="title"/>
          </p:nvPr>
        </p:nvSpPr>
        <p:spPr/>
        <p:txBody>
          <a:bodyPr wrap="square"/>
          <a:lstStyle/>
          <a:p>
            <a:pPr>
              <a:defRPr sz="2800" b="1">
                <a:solidFill>
                  <a:srgbClr val="002060"/>
                </a:solidFill>
                <a:latin typeface="Calibri"/>
              </a:defRPr>
            </a:pPr>
            <a:r>
              <a:t>Kiểm tra kết quả: So Sánh Đối Đầu Polynomial Regression vs SVR</a:t>
            </a:r>
            <a:endParaRPr lang="vi-VN" dirty="0"/>
          </a:p>
        </p:txBody>
      </p:sp>
      <p:sp>
        <p:nvSpPr>
          <p:cNvPr id="3" name="Content Placeholder 2">
            <a:extLst>
              <a:ext uri="{FF2B5EF4-FFF2-40B4-BE49-F238E27FC236}">
                <a16:creationId xmlns:a16="http://schemas.microsoft.com/office/drawing/2014/main" id="{8E396433-2CF6-449B-9F80-7A0576B93067}"/>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Bảng so sánh chuyên sâu giữa hai trường phái mô hình:</a:t>
            </a:r>
          </a:p>
          <a:p>
            <a:pPr>
              <a:spcAft>
                <a:spcPts val="300"/>
              </a:spcAft>
              <a:defRPr sz="1500" b="0">
                <a:solidFill>
                  <a:srgbClr val="282828"/>
                </a:solidFill>
                <a:latin typeface="Calibri"/>
              </a:defRPr>
            </a:pPr>
            <a:r>
              <a:t>• Bản chất hình học: Hồi quy Đa thức dùng hàm mũ lũy thừa toàn cục; SVR dùng hàm nhân khoảng cách cục bộ RBF.</a:t>
            </a:r>
          </a:p>
          <a:p>
            <a:pPr>
              <a:spcAft>
                <a:spcPts val="300"/>
              </a:spcAft>
              <a:defRPr sz="1500" b="0">
                <a:solidFill>
                  <a:srgbClr val="282828"/>
                </a:solidFill>
                <a:latin typeface="Calibri"/>
              </a:defRPr>
            </a:pPr>
            <a:r>
              <a:t>• Xử lý Điểm ngoại lai (Outlier):</a:t>
            </a:r>
          </a:p>
          <a:p>
            <a:pPr>
              <a:spcAft>
                <a:spcPts val="300"/>
              </a:spcAft>
              <a:defRPr sz="1500" b="0">
                <a:solidFill>
                  <a:srgbClr val="282828"/>
                </a:solidFill>
                <a:latin typeface="Calibri"/>
              </a:defRPr>
            </a:pPr>
            <a:r>
              <a:t>   - Polynomial (Bậc 4): Cố gắng uốn cong đi qua cả điểm $1M (R² = 0.997), rất dễ bị kéo lệch nếu có dữ liệu rác.</a:t>
            </a:r>
          </a:p>
          <a:p>
            <a:pPr>
              <a:spcAft>
                <a:spcPts val="300"/>
              </a:spcAft>
              <a:defRPr sz="1500" b="1">
                <a:solidFill>
                  <a:srgbClr val="282828"/>
                </a:solidFill>
                <a:latin typeface="Calibri"/>
              </a:defRPr>
            </a:pPr>
            <a:r>
              <a:t>   - SVR: Phớt lờ ngoại lai Level 10 để giữ biên khái quát hóa ổn định (R² = 0.7516).</a:t>
            </a:r>
          </a:p>
          <a:p>
            <a:pPr>
              <a:spcAft>
                <a:spcPts val="300"/>
              </a:spcAft>
              <a:defRPr sz="1500" b="0">
                <a:solidFill>
                  <a:srgbClr val="282828"/>
                </a:solidFill>
                <a:latin typeface="Calibri"/>
              </a:defRPr>
            </a:pPr>
            <a:r>
              <a:t>• Dự đoán ứng viên Level 6.5:</a:t>
            </a:r>
          </a:p>
          <a:p>
            <a:pPr>
              <a:spcAft>
                <a:spcPts val="200"/>
              </a:spcAft>
              <a:defRPr sz="1200" b="0">
                <a:solidFill>
                  <a:srgbClr val="146428"/>
                </a:solidFill>
                <a:latin typeface="Consolas"/>
              </a:defRPr>
            </a:pPr>
            <a:r>
              <a:t>   - Polynomial: $158,862.47</a:t>
            </a:r>
          </a:p>
          <a:p>
            <a:pPr>
              <a:spcAft>
                <a:spcPts val="200"/>
              </a:spcAft>
              <a:defRPr sz="1200" b="0">
                <a:solidFill>
                  <a:srgbClr val="146428"/>
                </a:solidFill>
                <a:latin typeface="Consolas"/>
              </a:defRPr>
            </a:pPr>
            <a:r>
              <a:t>   - SVR:        $170,370.02 (Cả hai đều cho mức dự đoán xoay quanh $160k - $170k rất hợp lý!)</a:t>
            </a:r>
          </a:p>
        </p:txBody>
      </p:sp>
    </p:spTree>
    <p:extLst>
      <p:ext uri="{BB962C8B-B14F-4D97-AF65-F5344CB8AC3E}">
        <p14:creationId xmlns:p14="http://schemas.microsoft.com/office/powerpoint/2010/main" val="36990902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wrap="square"/>
          <a:lstStyle/>
          <a:p>
            <a:pPr>
              <a:defRPr sz="2800" b="1">
                <a:solidFill>
                  <a:srgbClr val="002060"/>
                </a:solidFill>
                <a:latin typeface="Calibri"/>
              </a:defRPr>
            </a:pPr>
            <a:r>
              <a:t>Kiểm tra kết quả: Câu Hỏi Thảo Luận Mở Rộng Dành Cho Học Viên</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45</m:t>
                                </m:r>
                                <m:r>
                                  <a:rPr lang="vi-VN" sz="2800" b="0" i="1" dirty="0" smtClean="0">
                                    <a:latin typeface="Cambria Math" panose="02040503050406030204" pitchFamily="18" charset="0"/>
                                  </a:rPr>
                                  <m:t>,</m:t>
                                </m:r>
                                <m:r>
                                  <a:rPr lang="vi-VN"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7</m:t>
                                </m:r>
                                <m:r>
                                  <a:rPr lang="vi-VN" sz="2800" b="0" i="1" dirty="0" smtClean="0">
                                    <a:latin typeface="Cambria Math" panose="02040503050406030204" pitchFamily="18" charset="0"/>
                                  </a:rPr>
                                  <m:t>3,474</m:t>
                                </m:r>
                              </m:oMath>
                            </m:oMathPara>
                          </a14:m>
                          <a:endParaRPr lang="vi-VN" sz="2800" dirty="0"/>
                        </a:p>
                      </a:txBody>
                      <a:tcPr anchor="ctr">
                        <a:solidFill>
                          <a:srgbClr val="FFC000"/>
                        </a:solid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70,786</m:t>
                                </m:r>
                              </m:oMath>
                            </m:oMathPara>
                          </a14:m>
                          <a:endParaRPr lang="vi-VN" sz="2800" dirty="0"/>
                        </a:p>
                      </a:txBody>
                      <a:tcPr anchor="ctr">
                        <a:solidFill>
                          <a:srgbClr val="FFC000"/>
                        </a:solid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88,213</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08,254</m:t>
                                </m:r>
                              </m:oMath>
                            </m:oMathPara>
                          </a14:m>
                          <a:endParaRPr lang="vi-VN" sz="2800" dirty="0"/>
                        </a:p>
                      </a:txBody>
                      <a:tcPr anchor="ctr">
                        <a:solidFill>
                          <a:srgbClr val="FFC000"/>
                        </a:solid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110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22,574</m:t>
                                </m:r>
                              </m:oMath>
                            </m:oMathPara>
                          </a14:m>
                          <a:endParaRPr lang="vi-VN" sz="2800" dirty="0"/>
                        </a:p>
                      </a:txBody>
                      <a:tcPr anchor="ctr">
                        <a:solidFill>
                          <a:srgbClr val="FFC000"/>
                        </a:solidFill>
                      </a:tcP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endParaRPr lang="en-US"/>
                        </a:p>
                      </a:txBody>
                      <a:tcPr anchor="ctr">
                        <a:blipFill>
                          <a:blip r:embed="rId2"/>
                          <a:stretch>
                            <a:fillRect l="-159425" t="-100840" r="-269968" b="-408403"/>
                          </a:stretch>
                        </a:blipFill>
                      </a:tcPr>
                    </a:tc>
                    <a:tc>
                      <a:txBody>
                        <a:bodyPr/>
                        <a:lstStyle/>
                        <a:p>
                          <a:endParaRPr lang="en-US"/>
                        </a:p>
                      </a:txBody>
                      <a:tcPr anchor="ctr">
                        <a:blipFill>
                          <a:blip r:embed="rId2"/>
                          <a:stretch>
                            <a:fillRect l="-257778" t="-100840" r="-168254" b="-408403"/>
                          </a:stretch>
                        </a:blipFill>
                      </a:tcPr>
                    </a:tc>
                    <a:tc>
                      <a:txBody>
                        <a:bodyPr/>
                        <a:lstStyle/>
                        <a:p>
                          <a:endParaRPr lang="en-US"/>
                        </a:p>
                      </a:txBody>
                      <a:tcPr anchor="ctr">
                        <a:blipFill>
                          <a:blip r:embed="rId2"/>
                          <a:stretch>
                            <a:fillRect l="-214667" t="-100840" r="-952" b="-408403"/>
                          </a:stretch>
                        </a:blip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159425" t="-200840" r="-269968" b="-308403"/>
                          </a:stretch>
                        </a:blipFill>
                      </a:tcPr>
                    </a:tc>
                    <a:tc>
                      <a:txBody>
                        <a:bodyPr/>
                        <a:lstStyle/>
                        <a:p>
                          <a:endParaRPr lang="en-US"/>
                        </a:p>
                      </a:txBody>
                      <a:tcPr anchor="ctr">
                        <a:blipFill>
                          <a:blip r:embed="rId2"/>
                          <a:stretch>
                            <a:fillRect l="-257778" t="-200840" r="-168254" b="-308403"/>
                          </a:stretch>
                        </a:blipFill>
                      </a:tcPr>
                    </a:tc>
                    <a:tc>
                      <a:txBody>
                        <a:bodyPr/>
                        <a:lstStyle/>
                        <a:p>
                          <a:endParaRPr lang="en-US"/>
                        </a:p>
                      </a:txBody>
                      <a:tcPr anchor="ctr">
                        <a:blipFill>
                          <a:blip r:embed="rId2"/>
                          <a:stretch>
                            <a:fillRect l="-214667" t="-200840" r="-952" b="-308403"/>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159425" t="-303390" r="-269968" b="-211017"/>
                          </a:stretch>
                        </a:blipFill>
                      </a:tcPr>
                    </a:tc>
                    <a:tc>
                      <a:txBody>
                        <a:bodyPr/>
                        <a:lstStyle/>
                        <a:p>
                          <a:endParaRPr lang="en-US"/>
                        </a:p>
                      </a:txBody>
                      <a:tcPr anchor="ctr">
                        <a:blipFill>
                          <a:blip r:embed="rId2"/>
                          <a:stretch>
                            <a:fillRect l="-257778" t="-303390" r="-168254" b="-211017"/>
                          </a:stretch>
                        </a:blipFill>
                      </a:tcPr>
                    </a:tc>
                    <a:tc>
                      <a:txBody>
                        <a:bodyPr/>
                        <a:lstStyle/>
                        <a:p>
                          <a:endParaRPr lang="en-US"/>
                        </a:p>
                      </a:txBody>
                      <a:tcPr anchor="ctr">
                        <a:blipFill>
                          <a:blip r:embed="rId2"/>
                          <a:stretch>
                            <a:fillRect l="-214667" t="-303390" r="-952" b="-211017"/>
                          </a:stretch>
                        </a:blip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endParaRPr lang="en-US"/>
                        </a:p>
                      </a:txBody>
                      <a:tcPr anchor="ctr">
                        <a:blipFill>
                          <a:blip r:embed="rId2"/>
                          <a:stretch>
                            <a:fillRect l="-159425" t="-400000" r="-269968" b="-109244"/>
                          </a:stretch>
                        </a:blipFill>
                      </a:tcPr>
                    </a:tc>
                    <a:tc>
                      <a:txBody>
                        <a:bodyPr/>
                        <a:lstStyle/>
                        <a:p>
                          <a:endParaRPr lang="en-US"/>
                        </a:p>
                      </a:txBody>
                      <a:tcPr anchor="ctr">
                        <a:blipFill>
                          <a:blip r:embed="rId2"/>
                          <a:stretch>
                            <a:fillRect l="-257778" t="-400000" r="-168254" b="-109244"/>
                          </a:stretch>
                        </a:blipFill>
                      </a:tcPr>
                    </a:tc>
                    <a:tc>
                      <a:txBody>
                        <a:bodyPr/>
                        <a:lstStyle/>
                        <a:p>
                          <a:endParaRPr lang="en-US"/>
                        </a:p>
                      </a:txBody>
                      <a:tcPr anchor="ctr">
                        <a:blipFill>
                          <a:blip r:embed="rId2"/>
                          <a:stretch>
                            <a:fillRect l="-214667" t="-400000" r="-952" b="-109244"/>
                          </a:stretch>
                        </a:blip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159425" t="-500000" r="-269968" b="-9244"/>
                          </a:stretch>
                        </a:blipFill>
                      </a:tcPr>
                    </a:tc>
                    <a:tc>
                      <a:txBody>
                        <a:bodyPr/>
                        <a:lstStyle/>
                        <a:p>
                          <a:endParaRPr lang="en-US"/>
                        </a:p>
                      </a:txBody>
                      <a:tcPr anchor="ctr">
                        <a:blipFill>
                          <a:blip r:embed="rId2"/>
                          <a:stretch>
                            <a:fillRect l="-257778" t="-500000" r="-168254" b="-9244"/>
                          </a:stretch>
                        </a:blipFill>
                      </a:tcPr>
                    </a:tc>
                    <a:tc>
                      <a:txBody>
                        <a:bodyPr/>
                        <a:lstStyle/>
                        <a:p>
                          <a:endParaRPr lang="en-US"/>
                        </a:p>
                      </a:txBody>
                      <a:tcPr anchor="ctr">
                        <a:blipFill>
                          <a:blip r:embed="rId2"/>
                          <a:stretch>
                            <a:fillRect l="-214667" t="-500000" r="-952" b="-9244"/>
                          </a:stretch>
                        </a:blipFill>
                      </a:tcPr>
                    </a:tc>
                    <a:extLst>
                      <a:ext uri="{0D108BD9-81ED-4DB2-BD59-A6C34878D82A}">
                        <a16:rowId xmlns:a16="http://schemas.microsoft.com/office/drawing/2014/main" val="2963561270"/>
                      </a:ext>
                    </a:extLst>
                  </a:tr>
                </a:tbl>
              </a:graphicData>
            </a:graphic>
          </p:graphicFrame>
        </mc:Fallback>
      </mc:AlternateContent>
      <p:sp>
        <p:nvSpPr>
          <p:cNvPr id="8" name="TextBox 7"/>
          <p:cNvSpPr txBox="1"/>
          <p:nvPr/>
        </p:nvSpPr>
        <p:spPr>
          <a:xfrm>
            <a:off x="612648" y="1371600"/>
            <a:ext cx="10972800" cy="4937760"/>
          </a:xfrm>
          <a:prstGeom prst="rect">
            <a:avLst/>
          </a:prstGeom>
          <a:noFill/>
        </p:spPr>
        <p:txBody>
          <a:bodyPr wrap="square">
            <a:spAutoFit/>
          </a:bodyPr>
          <a:lstStyle/>
          <a:p>
            <a:pPr>
              <a:spcBef>
                <a:spcPts val="600"/>
              </a:spcBef>
              <a:spcAft>
                <a:spcPts val="400"/>
              </a:spcAft>
              <a:defRPr sz="1700" b="1">
                <a:solidFill>
                  <a:srgbClr val="003366"/>
                </a:solidFill>
                <a:latin typeface="Calibri"/>
              </a:defRPr>
            </a:pPr>
            <a:r>
              <a:t>💡 Câu hỏi Tư duy &amp; Thảo luận Thực hành:</a:t>
            </a:r>
          </a:p>
          <a:p>
            <a:pPr>
              <a:spcBef>
                <a:spcPts val="600"/>
              </a:spcBef>
              <a:spcAft>
                <a:spcPts val="400"/>
              </a:spcAft>
              <a:defRPr sz="1700" b="1">
                <a:solidFill>
                  <a:srgbClr val="003366"/>
                </a:solidFill>
                <a:latin typeface="Calibri"/>
              </a:defRPr>
            </a:pPr>
            <a:r>
              <a:t>Câu hỏi 1: Tác động của việc KHÔNG scale biến y trong SVR?</a:t>
            </a:r>
          </a:p>
          <a:p>
            <a:pPr>
              <a:spcAft>
                <a:spcPts val="300"/>
              </a:spcAft>
              <a:defRPr sz="1500" b="0">
                <a:solidFill>
                  <a:srgbClr val="282828"/>
                </a:solidFill>
                <a:latin typeface="Calibri"/>
              </a:defRPr>
            </a:pPr>
            <a:r>
              <a:t>• Nếu bạn chỉ chuẩn hóa biến X bằng StandardScaler mà quên không chuẩn hóa biến y thì điều gì sẽ xảy ra với ống epsilon=0.1 và mô hình SVR?</a:t>
            </a:r>
          </a:p>
          <a:p>
            <a:pPr>
              <a:spcBef>
                <a:spcPts val="600"/>
              </a:spcBef>
              <a:spcAft>
                <a:spcPts val="400"/>
              </a:spcAft>
              <a:defRPr sz="1700" b="1">
                <a:solidFill>
                  <a:srgbClr val="003366"/>
                </a:solidFill>
                <a:latin typeface="Calibri"/>
              </a:defRPr>
            </a:pPr>
            <a:r>
              <a:t>Câu hỏi 2: Cách điều chỉnh siêu tham số để SVR đi qua điểm Level 10?</a:t>
            </a:r>
          </a:p>
          <a:p>
            <a:pPr>
              <a:spcAft>
                <a:spcPts val="300"/>
              </a:spcAft>
              <a:defRPr sz="1500" b="0">
                <a:solidFill>
                  <a:srgbClr val="282828"/>
                </a:solidFill>
                <a:latin typeface="Calibri"/>
              </a:defRPr>
            </a:pPr>
            <a:r>
              <a:t>• Nếu doanh nghiệp bắt buộc mô hình phải bắt trúng điểm lương CEO $1,000,000, bạn cần tăng hay giảm tham số C và gamma? Việc làm này có gây rủi ro Overfitting không?</a:t>
            </a:r>
          </a:p>
        </p:txBody>
      </p:sp>
    </p:spTree>
    <p:extLst>
      <p:ext uri="{BB962C8B-B14F-4D97-AF65-F5344CB8AC3E}">
        <p14:creationId xmlns:p14="http://schemas.microsoft.com/office/powerpoint/2010/main" val="94125719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45,503</m:t>
                                </m:r>
                              </m:oMath>
                            </m:oMathPara>
                          </a14:m>
                          <a:endParaRPr lang="vi-VN" sz="2800" dirty="0"/>
                        </a:p>
                      </a:txBody>
                      <a:tcPr anchor="ctr">
                        <a:solidFill>
                          <a:srgbClr val="FFC000"/>
                        </a:solid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200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209,410</m:t>
                                </m:r>
                              </m:oMath>
                            </m:oMathPara>
                          </a14:m>
                          <a:endParaRPr lang="vi-VN" sz="2800" dirty="0"/>
                        </a:p>
                      </a:txBody>
                      <a:tcPr anchor="ctr">
                        <a:solidFill>
                          <a:srgbClr val="FFC000"/>
                        </a:solid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300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330,606</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471,671</m:t>
                                </m:r>
                              </m:oMath>
                            </m:oMathPara>
                          </a14:m>
                          <a:endParaRPr lang="vi-VN" sz="2800" dirty="0"/>
                        </a:p>
                      </a:txBody>
                      <a:tcPr anchor="ctr">
                        <a:solidFill>
                          <a:srgbClr val="FFC000"/>
                        </a:solid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557,821</m:t>
                                </m:r>
                              </m:oMath>
                            </m:oMathPara>
                          </a14:m>
                          <a:endParaRPr lang="vi-VN" sz="2800" dirty="0"/>
                        </a:p>
                      </a:txBody>
                      <a:tcPr anchor="ctr">
                        <a:solidFill>
                          <a:srgbClr val="FFC000"/>
                        </a:solidFill>
                      </a:tcP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159425" t="-100840" r="-269968" b="-408403"/>
                          </a:stretch>
                        </a:blipFill>
                      </a:tcPr>
                    </a:tc>
                    <a:tc>
                      <a:txBody>
                        <a:bodyPr/>
                        <a:lstStyle/>
                        <a:p>
                          <a:endParaRPr lang="en-US"/>
                        </a:p>
                      </a:txBody>
                      <a:tcPr anchor="ctr">
                        <a:blipFill>
                          <a:blip r:embed="rId2"/>
                          <a:stretch>
                            <a:fillRect l="-257778" t="-100840" r="-168254" b="-408403"/>
                          </a:stretch>
                        </a:blipFill>
                      </a:tcPr>
                    </a:tc>
                    <a:tc>
                      <a:txBody>
                        <a:bodyPr/>
                        <a:lstStyle/>
                        <a:p>
                          <a:endParaRPr lang="en-US"/>
                        </a:p>
                      </a:txBody>
                      <a:tcPr anchor="ctr">
                        <a:blipFill>
                          <a:blip r:embed="rId2"/>
                          <a:stretch>
                            <a:fillRect l="-214667" t="-100840" r="-952" b="-408403"/>
                          </a:stretch>
                        </a:blip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endParaRPr lang="en-US"/>
                        </a:p>
                      </a:txBody>
                      <a:tcPr anchor="ctr">
                        <a:blipFill>
                          <a:blip r:embed="rId2"/>
                          <a:stretch>
                            <a:fillRect l="-159425" t="-200840" r="-269968" b="-308403"/>
                          </a:stretch>
                        </a:blipFill>
                      </a:tcPr>
                    </a:tc>
                    <a:tc>
                      <a:txBody>
                        <a:bodyPr/>
                        <a:lstStyle/>
                        <a:p>
                          <a:endParaRPr lang="en-US"/>
                        </a:p>
                      </a:txBody>
                      <a:tcPr anchor="ctr">
                        <a:blipFill>
                          <a:blip r:embed="rId2"/>
                          <a:stretch>
                            <a:fillRect l="-257778" t="-200840" r="-168254" b="-308403"/>
                          </a:stretch>
                        </a:blipFill>
                      </a:tcPr>
                    </a:tc>
                    <a:tc>
                      <a:txBody>
                        <a:bodyPr/>
                        <a:lstStyle/>
                        <a:p>
                          <a:endParaRPr lang="en-US"/>
                        </a:p>
                      </a:txBody>
                      <a:tcPr anchor="ctr">
                        <a:blipFill>
                          <a:blip r:embed="rId2"/>
                          <a:stretch>
                            <a:fillRect l="-214667" t="-200840" r="-952" b="-308403"/>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endParaRPr lang="en-US"/>
                        </a:p>
                      </a:txBody>
                      <a:tcPr anchor="ctr">
                        <a:blipFill>
                          <a:blip r:embed="rId2"/>
                          <a:stretch>
                            <a:fillRect l="-159425" t="-303390" r="-269968" b="-211017"/>
                          </a:stretch>
                        </a:blipFill>
                      </a:tcPr>
                    </a:tc>
                    <a:tc>
                      <a:txBody>
                        <a:bodyPr/>
                        <a:lstStyle/>
                        <a:p>
                          <a:endParaRPr lang="en-US"/>
                        </a:p>
                      </a:txBody>
                      <a:tcPr anchor="ctr">
                        <a:blipFill>
                          <a:blip r:embed="rId2"/>
                          <a:stretch>
                            <a:fillRect l="-257778" t="-303390" r="-168254" b="-211017"/>
                          </a:stretch>
                        </a:blipFill>
                      </a:tcPr>
                    </a:tc>
                    <a:tc>
                      <a:txBody>
                        <a:bodyPr/>
                        <a:lstStyle/>
                        <a:p>
                          <a:endParaRPr lang="en-US"/>
                        </a:p>
                      </a:txBody>
                      <a:tcPr anchor="ctr">
                        <a:blipFill>
                          <a:blip r:embed="rId2"/>
                          <a:stretch>
                            <a:fillRect l="-214667" t="-303390" r="-952" b="-211017"/>
                          </a:stretch>
                        </a:blip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endParaRPr lang="en-US"/>
                        </a:p>
                      </a:txBody>
                      <a:tcPr anchor="ctr">
                        <a:blipFill>
                          <a:blip r:embed="rId2"/>
                          <a:stretch>
                            <a:fillRect l="-159425" t="-400000" r="-269968" b="-109244"/>
                          </a:stretch>
                        </a:blipFill>
                      </a:tcPr>
                    </a:tc>
                    <a:tc>
                      <a:txBody>
                        <a:bodyPr/>
                        <a:lstStyle/>
                        <a:p>
                          <a:endParaRPr lang="en-US"/>
                        </a:p>
                      </a:txBody>
                      <a:tcPr anchor="ctr">
                        <a:blipFill>
                          <a:blip r:embed="rId2"/>
                          <a:stretch>
                            <a:fillRect l="-257778" t="-400000" r="-168254" b="-109244"/>
                          </a:stretch>
                        </a:blipFill>
                      </a:tcPr>
                    </a:tc>
                    <a:tc>
                      <a:txBody>
                        <a:bodyPr/>
                        <a:lstStyle/>
                        <a:p>
                          <a:endParaRPr lang="en-US"/>
                        </a:p>
                      </a:txBody>
                      <a:tcPr anchor="ctr">
                        <a:blipFill>
                          <a:blip r:embed="rId2"/>
                          <a:stretch>
                            <a:fillRect l="-214667" t="-400000" r="-952" b="-109244"/>
                          </a:stretch>
                        </a:blip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endParaRPr lang="en-US"/>
                        </a:p>
                      </a:txBody>
                      <a:tcPr anchor="ctr">
                        <a:blipFill>
                          <a:blip r:embed="rId2"/>
                          <a:stretch>
                            <a:fillRect l="-159425" t="-500000" r="-269968" b="-9244"/>
                          </a:stretch>
                        </a:blipFill>
                      </a:tcPr>
                    </a:tc>
                    <a:tc>
                      <a:txBody>
                        <a:bodyPr/>
                        <a:lstStyle/>
                        <a:p>
                          <a:endParaRPr lang="en-US"/>
                        </a:p>
                      </a:txBody>
                      <a:tcPr anchor="ctr">
                        <a:blipFill>
                          <a:blip r:embed="rId2"/>
                          <a:stretch>
                            <a:fillRect l="-257778" t="-500000" r="-168254" b="-9244"/>
                          </a:stretch>
                        </a:blipFill>
                      </a:tcPr>
                    </a:tc>
                    <a:tc>
                      <a:txBody>
                        <a:bodyPr/>
                        <a:lstStyle/>
                        <a:p>
                          <a:endParaRPr lang="en-US"/>
                        </a:p>
                      </a:txBody>
                      <a:tcPr anchor="ctr">
                        <a:blipFill>
                          <a:blip r:embed="rId2"/>
                          <a:stretch>
                            <a:fillRect l="-214667" t="-500000" r="-952" b="-9244"/>
                          </a:stretch>
                        </a:blipFill>
                      </a:tcPr>
                    </a:tc>
                    <a:extLst>
                      <a:ext uri="{0D108BD9-81ED-4DB2-BD59-A6C34878D82A}">
                        <a16:rowId xmlns:a16="http://schemas.microsoft.com/office/drawing/2014/main" val="2963561270"/>
                      </a:ext>
                    </a:extLst>
                  </a:tr>
                </a:tbl>
              </a:graphicData>
            </a:graphic>
          </p:graphicFrame>
        </mc:Fallback>
      </mc:AlternateContent>
    </p:spTree>
    <p:extLst>
      <p:ext uri="{BB962C8B-B14F-4D97-AF65-F5344CB8AC3E}">
        <p14:creationId xmlns:p14="http://schemas.microsoft.com/office/powerpoint/2010/main" val="194655708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Nguyễn Tấn Trần Minh Khang</a:t>
            </a:r>
          </a:p>
        </p:txBody>
      </p:sp>
    </p:spTree>
    <p:extLst>
      <p:ext uri="{BB962C8B-B14F-4D97-AF65-F5344CB8AC3E}">
        <p14:creationId xmlns:p14="http://schemas.microsoft.com/office/powerpoint/2010/main" val="265189452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14714</TotalTime>
  <Words>1627</Words>
  <Application>Microsoft Office PowerPoint</Application>
  <PresentationFormat>Widescreen</PresentationFormat>
  <Paragraphs>249</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Cambria Math</vt:lpstr>
      <vt:lpstr>Consolas</vt:lpstr>
      <vt:lpstr>Courier New</vt:lpstr>
      <vt:lpstr>Default Design</vt:lpstr>
      <vt:lpstr>SUPPORT VECTOR REGRESSION</vt:lpstr>
      <vt:lpstr>DATASET</vt:lpstr>
      <vt:lpstr>Dataset</vt:lpstr>
      <vt:lpstr>Dataset</vt:lpstr>
      <vt:lpstr>Dataset</vt:lpstr>
      <vt:lpstr>Trực quan hóa dữ liệu</vt:lpstr>
      <vt:lpstr>Trực quan hóa dữ liệu</vt:lpstr>
      <vt:lpstr>Trực quan hóa dữ liệu</vt:lpstr>
      <vt:lpstr>Trực quan hóa dữ liệu</vt:lpstr>
      <vt:lpstr>Trực quan hóa dữ liệu</vt:lpstr>
      <vt:lpstr>Tiền xử lý dữ liệu</vt:lpstr>
      <vt:lpstr>Tiền xử lý dữ liệu</vt:lpstr>
      <vt:lpstr>Tiền xử lý dữ liệu</vt:lpstr>
      <vt:lpstr>Tiền xử lý dữ liệu</vt:lpstr>
      <vt:lpstr>Tiền xử lý dữ liệu</vt:lpstr>
      <vt:lpstr>Support Vector Regression</vt:lpstr>
      <vt:lpstr>Support Vector Regression</vt:lpstr>
      <vt:lpstr>Support Vector Regression</vt:lpstr>
      <vt:lpstr>Support Vector Regression</vt:lpstr>
      <vt:lpstr>Support Vector Regression</vt:lpstr>
      <vt:lpstr>Support Vector Regression</vt:lpstr>
      <vt:lpstr>Huấn luyện mô hình</vt:lpstr>
      <vt:lpstr>Huấn luyện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vt:lpstr>
      <vt:lpstr>Trực quan hóa kết quả</vt:lpstr>
      <vt:lpstr>Chúc các bạn học tốt TRƯỜNG ĐẠI HỌC CÔNG NGHỆ THÔNG TIN TP.HCM  Nhóm UIT-Together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Nguyễn Tấn Trần Minh Khang</cp:lastModifiedBy>
  <cp:revision>1325</cp:revision>
  <cp:lastPrinted>2013-08-30T01:32:34Z</cp:lastPrinted>
  <dcterms:created xsi:type="dcterms:W3CDTF">2008-06-14T04:13:27Z</dcterms:created>
  <dcterms:modified xsi:type="dcterms:W3CDTF">2023-01-10T08:49:13Z</dcterms:modified>
</cp:coreProperties>
</file>