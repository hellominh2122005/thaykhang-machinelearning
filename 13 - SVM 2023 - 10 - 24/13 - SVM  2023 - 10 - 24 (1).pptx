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7">
  <p:sldMasterIdLst>
    <p:sldMasterId id="2147483648" r:id="rId1"/>
  </p:sldMasterIdLst>
  <p:notesMasterIdLst>
    <p:notesMasterId r:id="rId82"/>
  </p:notesMasterIdLst>
  <p:handoutMasterIdLst>
    <p:handoutMasterId r:id="rId83"/>
  </p:handoutMasterIdLst>
  <p:sldIdLst>
    <p:sldId id="1585" r:id="rId2"/>
    <p:sldId id="1600" r:id="rId3"/>
    <p:sldId id="1591" r:id="rId4"/>
    <p:sldId id="1604" r:id="rId5"/>
    <p:sldId id="1590" r:id="rId6"/>
    <p:sldId id="330" r:id="rId7"/>
    <p:sldId id="329" r:id="rId8"/>
    <p:sldId id="1594" r:id="rId9"/>
    <p:sldId id="1593" r:id="rId10"/>
    <p:sldId id="1592" r:id="rId11"/>
    <p:sldId id="1588" r:id="rId12"/>
    <p:sldId id="331" r:id="rId13"/>
    <p:sldId id="332" r:id="rId14"/>
    <p:sldId id="334" r:id="rId15"/>
    <p:sldId id="1595" r:id="rId16"/>
    <p:sldId id="333" r:id="rId17"/>
    <p:sldId id="336" r:id="rId18"/>
    <p:sldId id="335" r:id="rId19"/>
    <p:sldId id="1598" r:id="rId20"/>
    <p:sldId id="337" r:id="rId21"/>
    <p:sldId id="338" r:id="rId22"/>
    <p:sldId id="339" r:id="rId23"/>
    <p:sldId id="340" r:id="rId24"/>
    <p:sldId id="389" r:id="rId25"/>
    <p:sldId id="1603" r:id="rId26"/>
    <p:sldId id="1601" r:id="rId27"/>
    <p:sldId id="1602" r:id="rId28"/>
    <p:sldId id="1606" r:id="rId29"/>
    <p:sldId id="1607" r:id="rId30"/>
    <p:sldId id="1608" r:id="rId31"/>
    <p:sldId id="1609" r:id="rId32"/>
    <p:sldId id="361" r:id="rId33"/>
    <p:sldId id="1610" r:id="rId34"/>
    <p:sldId id="1611" r:id="rId35"/>
    <p:sldId id="362" r:id="rId36"/>
    <p:sldId id="1612" r:id="rId37"/>
    <p:sldId id="1613" r:id="rId38"/>
    <p:sldId id="368" r:id="rId39"/>
    <p:sldId id="1614" r:id="rId40"/>
    <p:sldId id="1615" r:id="rId41"/>
    <p:sldId id="369" r:id="rId42"/>
    <p:sldId id="370" r:id="rId43"/>
    <p:sldId id="344" r:id="rId44"/>
    <p:sldId id="346" r:id="rId45"/>
    <p:sldId id="1616" r:id="rId46"/>
    <p:sldId id="367" r:id="rId47"/>
    <p:sldId id="365" r:id="rId48"/>
    <p:sldId id="359" r:id="rId49"/>
    <p:sldId id="342" r:id="rId50"/>
    <p:sldId id="343" r:id="rId51"/>
    <p:sldId id="348" r:id="rId52"/>
    <p:sldId id="357" r:id="rId53"/>
    <p:sldId id="358" r:id="rId54"/>
    <p:sldId id="371" r:id="rId55"/>
    <p:sldId id="372" r:id="rId56"/>
    <p:sldId id="350" r:id="rId57"/>
    <p:sldId id="373" r:id="rId58"/>
    <p:sldId id="374" r:id="rId59"/>
    <p:sldId id="375" r:id="rId60"/>
    <p:sldId id="376" r:id="rId61"/>
    <p:sldId id="351" r:id="rId62"/>
    <p:sldId id="352" r:id="rId63"/>
    <p:sldId id="377" r:id="rId64"/>
    <p:sldId id="378" r:id="rId65"/>
    <p:sldId id="355" r:id="rId66"/>
    <p:sldId id="1617" r:id="rId67"/>
    <p:sldId id="379" r:id="rId68"/>
    <p:sldId id="380" r:id="rId69"/>
    <p:sldId id="381" r:id="rId70"/>
    <p:sldId id="273" r:id="rId71"/>
    <p:sldId id="1599" r:id="rId72"/>
    <p:sldId id="1583" r:id="rId73"/>
    <p:sldId id="1584" r:id="rId74"/>
    <p:sldId id="1618" r:id="rId75"/>
    <p:sldId id="1586" r:id="rId76"/>
    <p:sldId id="356" r:id="rId77"/>
    <p:sldId id="1589" r:id="rId78"/>
    <p:sldId id="366" r:id="rId79"/>
    <p:sldId id="1597" r:id="rId80"/>
    <p:sldId id="1573" r:id="rId81"/>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FF9933"/>
    <a:srgbClr val="FF0000"/>
    <a:srgbClr val="FF3399"/>
    <a:srgbClr val="008000"/>
    <a:srgbClr val="000099"/>
    <a:srgbClr val="FF6600"/>
    <a:srgbClr val="66FFFF"/>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87366" autoAdjust="0"/>
  </p:normalViewPr>
  <p:slideViewPr>
    <p:cSldViewPr>
      <p:cViewPr varScale="1">
        <p:scale>
          <a:sx n="84" d="100"/>
          <a:sy n="84" d="100"/>
        </p:scale>
        <p:origin x="1072" y="51"/>
      </p:cViewPr>
      <p:guideLst>
        <p:guide orient="horz" pos="2160"/>
        <p:guide pos="384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notesMaster" Target="notesMasters/notesMaster1.xml"/><Relationship Id="rId83" Type="http://schemas.openxmlformats.org/officeDocument/2006/relationships/handoutMaster" Target="handoutMasters/handoutMaster1.xml"/><Relationship Id="rId84" Type="http://schemas.openxmlformats.org/officeDocument/2006/relationships/presProps" Target="presProps.xml"/><Relationship Id="rId85" Type="http://schemas.openxmlformats.org/officeDocument/2006/relationships/viewProps" Target="viewProps.xml"/><Relationship Id="rId86" Type="http://schemas.openxmlformats.org/officeDocument/2006/relationships/theme" Target="theme/theme1.xml"/><Relationship Id="rId8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7171"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7172"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7173"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49E2CB30-4184-4C1B-912F-A6AED0718E53}" type="slidenum">
              <a:rPr lang="en-US"/>
              <a:pPr>
                <a:defRPr/>
              </a:pPr>
              <a:t>‹#›</a:t>
            </a:fld>
            <a:endParaRPr lang="en-US"/>
          </a:p>
        </p:txBody>
      </p:sp>
    </p:spTree>
    <p:extLst>
      <p:ext uri="{BB962C8B-B14F-4D97-AF65-F5344CB8AC3E}">
        <p14:creationId xmlns:p14="http://schemas.microsoft.com/office/powerpoint/2010/main" val="13484866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3174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95859DDC-9015-4B39-98F8-9F9A698DFEA6}" type="slidenum">
              <a:rPr lang="en-US"/>
              <a:pPr>
                <a:defRPr/>
              </a:pPr>
              <a:t>‹#›</a:t>
            </a:fld>
            <a:endParaRPr lang="en-US"/>
          </a:p>
        </p:txBody>
      </p:sp>
    </p:spTree>
    <p:extLst>
      <p:ext uri="{BB962C8B-B14F-4D97-AF65-F5344CB8AC3E}">
        <p14:creationId xmlns:p14="http://schemas.microsoft.com/office/powerpoint/2010/main" val="399086281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5859DDC-9015-4B39-98F8-9F9A698DFEA6}" type="slidenum">
              <a:rPr lang="en-US" smtClean="0"/>
              <a:pPr>
                <a:defRPr/>
              </a:pPr>
              <a:t>1</a:t>
            </a:fld>
            <a:endParaRPr lang="en-US"/>
          </a:p>
        </p:txBody>
      </p:sp>
    </p:spTree>
    <p:extLst>
      <p:ext uri="{BB962C8B-B14F-4D97-AF65-F5344CB8AC3E}">
        <p14:creationId xmlns:p14="http://schemas.microsoft.com/office/powerpoint/2010/main" val="16061316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32" name="Google Shape;532;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01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TIÊU ĐỀ SLIDE</a:t>
            </a:r>
            <a:endParaRPr lang="vi-VN"/>
          </a:p>
        </p:txBody>
      </p:sp>
    </p:spTree>
    <p:extLst>
      <p:ext uri="{BB962C8B-B14F-4D97-AF65-F5344CB8AC3E}">
        <p14:creationId xmlns:p14="http://schemas.microsoft.com/office/powerpoint/2010/main" val="186454966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01_Title Slide 01">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1470025"/>
          </a:xfrm>
        </p:spPr>
        <p:txBody>
          <a:bodyPr/>
          <a:lstStyle>
            <a:lvl1pPr>
              <a:defRPr>
                <a:solidFill>
                  <a:srgbClr val="FF0000"/>
                </a:solidFill>
              </a:defRPr>
            </a:lvl1pPr>
          </a:lstStyle>
          <a:p>
            <a:r>
              <a:rPr lang="en-US"/>
              <a:t>Click to edit Master title style</a:t>
            </a:r>
            <a:endParaRPr lang="vi-VN"/>
          </a:p>
        </p:txBody>
      </p:sp>
      <p:sp>
        <p:nvSpPr>
          <p:cNvPr id="7" name="Content Placeholder 2">
            <a:extLst>
              <a:ext uri="{FF2B5EF4-FFF2-40B4-BE49-F238E27FC236}">
                <a16:creationId xmlns:a16="http://schemas.microsoft.com/office/drawing/2014/main" id="{9C027E77-6012-42D7-99B0-1D322EEAFE5D}"/>
              </a:ext>
            </a:extLst>
          </p:cNvPr>
          <p:cNvSpPr>
            <a:spLocks noGrp="1"/>
          </p:cNvSpPr>
          <p:nvPr>
            <p:ph idx="12"/>
          </p:nvPr>
        </p:nvSpPr>
        <p:spPr>
          <a:xfrm>
            <a:off x="4086803" y="3886200"/>
            <a:ext cx="3999344" cy="1752600"/>
          </a:xfrm>
        </p:spPr>
        <p:txBody>
          <a:bodyPr/>
          <a:lstStyle>
            <a:lvl1pPr>
              <a:spcBef>
                <a:spcPts val="30"/>
              </a:spcBef>
              <a:defRPr sz="14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p:txBody>
      </p:sp>
      <p:sp>
        <p:nvSpPr>
          <p:cNvPr id="8" name="Content Placeholder 2">
            <a:extLst>
              <a:ext uri="{FF2B5EF4-FFF2-40B4-BE49-F238E27FC236}">
                <a16:creationId xmlns:a16="http://schemas.microsoft.com/office/drawing/2014/main" id="{F597A347-30EE-4B72-93DA-C4CBE7049AF0}"/>
              </a:ext>
            </a:extLst>
          </p:cNvPr>
          <p:cNvSpPr>
            <a:spLocks noGrp="1"/>
          </p:cNvSpPr>
          <p:nvPr>
            <p:ph idx="13"/>
          </p:nvPr>
        </p:nvSpPr>
        <p:spPr>
          <a:xfrm>
            <a:off x="0" y="3886200"/>
            <a:ext cx="3999344" cy="1752600"/>
          </a:xfrm>
        </p:spPr>
        <p:txBody>
          <a:bodyPr/>
          <a:lstStyle>
            <a:lvl1pPr>
              <a:spcBef>
                <a:spcPts val="30"/>
              </a:spcBef>
              <a:defRPr sz="14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p:txBody>
      </p:sp>
      <p:sp>
        <p:nvSpPr>
          <p:cNvPr id="9" name="Content Placeholder 2">
            <a:extLst>
              <a:ext uri="{FF2B5EF4-FFF2-40B4-BE49-F238E27FC236}">
                <a16:creationId xmlns:a16="http://schemas.microsoft.com/office/drawing/2014/main" id="{CCF626F4-8319-BB9A-3962-FB52D8DEB450}"/>
              </a:ext>
            </a:extLst>
          </p:cNvPr>
          <p:cNvSpPr>
            <a:spLocks noGrp="1"/>
          </p:cNvSpPr>
          <p:nvPr>
            <p:ph idx="14"/>
          </p:nvPr>
        </p:nvSpPr>
        <p:spPr>
          <a:xfrm>
            <a:off x="8192656" y="3886200"/>
            <a:ext cx="3999344" cy="1752600"/>
          </a:xfrm>
        </p:spPr>
        <p:txBody>
          <a:bodyPr/>
          <a:lstStyle>
            <a:lvl1pPr>
              <a:spcBef>
                <a:spcPts val="30"/>
              </a:spcBef>
              <a:defRPr sz="14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p:txBody>
      </p:sp>
    </p:spTree>
    <p:extLst>
      <p:ext uri="{BB962C8B-B14F-4D97-AF65-F5344CB8AC3E}">
        <p14:creationId xmlns:p14="http://schemas.microsoft.com/office/powerpoint/2010/main" val="2998380819"/>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01_Title Slide 02">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1470025"/>
          </a:xfrm>
        </p:spPr>
        <p:txBody>
          <a:bodyPr/>
          <a:lstStyle>
            <a:lvl1pPr>
              <a:defRPr>
                <a:solidFill>
                  <a:srgbClr val="FF0000"/>
                </a:solidFill>
              </a:defRPr>
            </a:lvl1pPr>
          </a:lstStyle>
          <a:p>
            <a:r>
              <a:rPr lang="en-US"/>
              <a:t>Click to edit Master title style</a:t>
            </a:r>
            <a:endParaRPr lang="vi-VN"/>
          </a:p>
        </p:txBody>
      </p:sp>
      <p:sp>
        <p:nvSpPr>
          <p:cNvPr id="3" name="Subtitle 2"/>
          <p:cNvSpPr>
            <a:spLocks noGrp="1"/>
          </p:cNvSpPr>
          <p:nvPr>
            <p:ph type="subTitle" idx="1"/>
          </p:nvPr>
        </p:nvSpPr>
        <p:spPr>
          <a:xfrm>
            <a:off x="1828800" y="3886200"/>
            <a:ext cx="8534400" cy="1752600"/>
          </a:xfrm>
        </p:spPr>
        <p:txBody>
          <a:bodyPr/>
          <a:lstStyle>
            <a:lvl1pPr marL="514350" indent="-514350" algn="l">
              <a:buFont typeface="+mj-lt"/>
              <a:buAutoNum type="arabicPeriod"/>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vi-VN"/>
          </a:p>
        </p:txBody>
      </p:sp>
    </p:spTree>
    <p:extLst>
      <p:ext uri="{BB962C8B-B14F-4D97-AF65-F5344CB8AC3E}">
        <p14:creationId xmlns:p14="http://schemas.microsoft.com/office/powerpoint/2010/main" val="405615748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01_Title Slide 03">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1470025"/>
          </a:xfrm>
        </p:spPr>
        <p:txBody>
          <a:bodyPr/>
          <a:lstStyle>
            <a:lvl1pPr>
              <a:defRPr>
                <a:solidFill>
                  <a:srgbClr val="FF0000"/>
                </a:solidFill>
              </a:defRPr>
            </a:lvl1pPr>
          </a:lstStyle>
          <a:p>
            <a:r>
              <a:rPr lang="en-US"/>
              <a:t>Click to edit Master title style</a:t>
            </a:r>
            <a:endParaRPr lang="vi-VN"/>
          </a:p>
        </p:txBody>
      </p:sp>
      <p:sp>
        <p:nvSpPr>
          <p:cNvPr id="3" name="Subtitle 2"/>
          <p:cNvSpPr>
            <a:spLocks noGrp="1"/>
          </p:cNvSpPr>
          <p:nvPr>
            <p:ph type="subTitle" idx="1"/>
          </p:nvPr>
        </p:nvSpPr>
        <p:spPr>
          <a:xfrm>
            <a:off x="304800" y="3886200"/>
            <a:ext cx="11582400" cy="1752600"/>
          </a:xfrm>
        </p:spPr>
        <p:txBody>
          <a:bodyPr/>
          <a:lstStyle>
            <a:lvl1pPr marL="514350" indent="-514350" algn="l">
              <a:buFont typeface="+mj-lt"/>
              <a:buAutoNum type="arabicPeriod"/>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vi-VN"/>
          </a:p>
        </p:txBody>
      </p:sp>
    </p:spTree>
    <p:extLst>
      <p:ext uri="{BB962C8B-B14F-4D97-AF65-F5344CB8AC3E}">
        <p14:creationId xmlns:p14="http://schemas.microsoft.com/office/powerpoint/2010/main" val="2547477014"/>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01_Title Slide 04">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vi-V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32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70127187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Slide 05">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3508374"/>
          </a:xfrm>
        </p:spPr>
        <p:txBody>
          <a:bodyPr/>
          <a:lstStyle>
            <a:lvl1pPr>
              <a:defRPr>
                <a:solidFill>
                  <a:srgbClr val="FF0000"/>
                </a:solidFill>
              </a:defRPr>
            </a:lvl1pPr>
          </a:lstStyle>
          <a:p>
            <a:r>
              <a:rPr lang="en-US"/>
              <a:t>Click to edit Master title style</a:t>
            </a:r>
            <a:endParaRPr lang="vi-VN"/>
          </a:p>
        </p:txBody>
      </p:sp>
    </p:spTree>
    <p:extLst>
      <p:ext uri="{BB962C8B-B14F-4D97-AF65-F5344CB8AC3E}">
        <p14:creationId xmlns:p14="http://schemas.microsoft.com/office/powerpoint/2010/main" val="1944479366"/>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02_Standard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CHUẨN</a:t>
            </a:r>
            <a:endParaRPr lang="vi-VN"/>
          </a:p>
        </p:txBody>
      </p:sp>
    </p:spTree>
    <p:extLst>
      <p:ext uri="{BB962C8B-B14F-4D97-AF65-F5344CB8AC3E}">
        <p14:creationId xmlns:p14="http://schemas.microsoft.com/office/powerpoint/2010/main" val="139471252"/>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02_Standard Slide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76553698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02_Standard Slide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2"/>
            <a:ext cx="10972800" cy="4286862"/>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67601710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02_Standard Slide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2"/>
            <a:ext cx="10972800" cy="380999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5410200"/>
            <a:ext cx="10972800" cy="734960"/>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4186310016"/>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02_Standard Slide 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Tree>
    <p:extLst>
      <p:ext uri="{BB962C8B-B14F-4D97-AF65-F5344CB8AC3E}">
        <p14:creationId xmlns:p14="http://schemas.microsoft.com/office/powerpoint/2010/main" val="3749982151"/>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02_Standard Slide 0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9C3E9201-BB7C-7361-D15B-554D97FD4941}"/>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596438770"/>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02_Standard Slide 06">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3CF2D223-6151-F61A-0F95-44A484E45C9E}"/>
              </a:ext>
            </a:extLst>
          </p:cNvPr>
          <p:cNvSpPr>
            <a:spLocks noGrp="1"/>
          </p:cNvSpPr>
          <p:nvPr>
            <p:ph idx="1"/>
          </p:nvPr>
        </p:nvSpPr>
        <p:spPr>
          <a:xfrm>
            <a:off x="609600" y="0"/>
            <a:ext cx="10972800" cy="6096000"/>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2578480"/>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02_Standard Slide 07">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3CF2D223-6151-F61A-0F95-44A484E45C9E}"/>
              </a:ext>
            </a:extLst>
          </p:cNvPr>
          <p:cNvSpPr>
            <a:spLocks noGrp="1"/>
          </p:cNvSpPr>
          <p:nvPr>
            <p:ph idx="1"/>
          </p:nvPr>
        </p:nvSpPr>
        <p:spPr>
          <a:xfrm>
            <a:off x="0" y="0"/>
            <a:ext cx="12192000" cy="6096000"/>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715321983"/>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02_Standard Slide 08">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5260759"/>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03_Program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PROGRAM</a:t>
            </a:r>
            <a:endParaRPr lang="vi-VN"/>
          </a:p>
        </p:txBody>
      </p:sp>
    </p:spTree>
    <p:extLst>
      <p:ext uri="{BB962C8B-B14F-4D97-AF65-F5344CB8AC3E}">
        <p14:creationId xmlns:p14="http://schemas.microsoft.com/office/powerpoint/2010/main" val="3790381629"/>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03_Program Slide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p:txBody>
          <a:bodyPr/>
          <a:lstStyle>
            <a:lvl1pPr marL="514350" indent="-514350">
              <a:buFont typeface="+mj-lt"/>
              <a:buAutoNum type="arabicPeriod"/>
              <a:defRPr sz="2800">
                <a:solidFill>
                  <a:schemeClr val="tx1"/>
                </a:solidFill>
                <a:latin typeface="Consolas" panose="020B0609020204030204" pitchFamily="49" charset="0"/>
                <a:cs typeface="Courier New" panose="02070309020205020404" pitchFamily="49" charset="0"/>
              </a:defRPr>
            </a:lvl1pPr>
            <a:lvl2pPr>
              <a:defRPr sz="2800"/>
            </a:lvl2pPr>
            <a:lvl3pPr>
              <a:defRPr sz="2800"/>
            </a:lvl3pPr>
            <a:lvl4pPr>
              <a:defRPr sz="2400"/>
            </a:lvl4pPr>
            <a:lvl5pPr>
              <a:defRPr sz="2400"/>
            </a:lvl5pPr>
          </a:lstStyle>
          <a:p>
            <a:pPr lvl="0"/>
            <a:r>
              <a:rPr lang="en-US"/>
              <a:t>Click to edit Master text styles</a:t>
            </a:r>
          </a:p>
        </p:txBody>
      </p:sp>
    </p:spTree>
    <p:extLst>
      <p:ext uri="{BB962C8B-B14F-4D97-AF65-F5344CB8AC3E}">
        <p14:creationId xmlns:p14="http://schemas.microsoft.com/office/powerpoint/2010/main" val="1998752364"/>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03_Program Slide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2"/>
            <a:ext cx="10972800" cy="4286862"/>
          </a:xfrm>
        </p:spPr>
        <p:txBody>
          <a:bodyPr/>
          <a:lstStyle>
            <a:lvl1pPr marL="514350" indent="-514350">
              <a:buFont typeface="+mj-lt"/>
              <a:buAutoNum type="arabicPeriod"/>
              <a:defRPr sz="2800">
                <a:solidFill>
                  <a:schemeClr val="tx1"/>
                </a:solidFill>
                <a:latin typeface="Consolas" panose="020B0609020204030204" pitchFamily="49" charset="0"/>
                <a:cs typeface="Courier New" panose="02070309020205020404" pitchFamily="49" charset="0"/>
              </a:defRPr>
            </a:lvl1pPr>
            <a:lvl2pPr marL="971550" indent="-514350">
              <a:buFont typeface="+mj-lt"/>
              <a:buAutoNum type="arabicPeriod"/>
              <a:defRPr sz="2800">
                <a:latin typeface="Courier New" panose="02070309020205020404" pitchFamily="49" charset="0"/>
                <a:cs typeface="Courier New" panose="02070309020205020404" pitchFamily="49" charset="0"/>
              </a:defRPr>
            </a:lvl2pPr>
            <a:lvl3pPr marL="1371600" indent="-457200">
              <a:buFont typeface="+mj-lt"/>
              <a:buAutoNum type="arabicPeriod"/>
              <a:defRPr sz="2400">
                <a:latin typeface="Courier New" panose="02070309020205020404" pitchFamily="49" charset="0"/>
                <a:cs typeface="Courier New" panose="02070309020205020404" pitchFamily="49" charset="0"/>
              </a:defRPr>
            </a:lvl3pPr>
            <a:lvl4pPr marL="1828800" indent="-457200">
              <a:buFont typeface="+mj-lt"/>
              <a:buAutoNum type="arabicPeriod"/>
              <a:defRPr sz="2000">
                <a:latin typeface="Courier New" panose="02070309020205020404" pitchFamily="49" charset="0"/>
                <a:cs typeface="Courier New" panose="02070309020205020404" pitchFamily="49" charset="0"/>
              </a:defRPr>
            </a:lvl4pPr>
          </a:lstStyle>
          <a:p>
            <a:pPr lvl="0"/>
            <a:r>
              <a:rPr lang="en-US"/>
              <a:t>Click to edit Master text styles</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772760244"/>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Program Slide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2"/>
            <a:ext cx="10972800" cy="3809998"/>
          </a:xfrm>
        </p:spPr>
        <p:txBody>
          <a:bodyPr/>
          <a:lstStyle>
            <a:lvl1pPr marL="514350" indent="-514350">
              <a:buFont typeface="+mj-lt"/>
              <a:buAutoNum type="arabicPeriod"/>
              <a:defRPr sz="2800">
                <a:solidFill>
                  <a:schemeClr val="tx1"/>
                </a:solidFill>
                <a:latin typeface="Consolas" panose="020B0609020204030204" pitchFamily="49" charset="0"/>
                <a:cs typeface="Courier New" panose="02070309020205020404" pitchFamily="49" charset="0"/>
              </a:defRPr>
            </a:lvl1pPr>
            <a:lvl2pPr marL="971550" indent="-514350">
              <a:buFont typeface="+mj-lt"/>
              <a:buAutoNum type="arabicPeriod"/>
              <a:defRPr sz="2800">
                <a:latin typeface="Courier New" panose="02070309020205020404" pitchFamily="49" charset="0"/>
                <a:cs typeface="Courier New" panose="02070309020205020404" pitchFamily="49" charset="0"/>
              </a:defRPr>
            </a:lvl2pPr>
            <a:lvl3pPr marL="1371600" indent="-457200">
              <a:buFont typeface="+mj-lt"/>
              <a:buAutoNum type="arabicPeriod"/>
              <a:defRPr sz="2400">
                <a:latin typeface="Courier New" panose="02070309020205020404" pitchFamily="49" charset="0"/>
                <a:cs typeface="Courier New" panose="02070309020205020404" pitchFamily="49" charset="0"/>
              </a:defRPr>
            </a:lvl3pPr>
            <a:lvl4pPr marL="1828800" indent="-457200">
              <a:buFont typeface="+mj-lt"/>
              <a:buAutoNum type="arabicPeriod"/>
              <a:defRPr sz="2000">
                <a:latin typeface="Courier New" panose="02070309020205020404" pitchFamily="49" charset="0"/>
                <a:cs typeface="Courier New" panose="02070309020205020404" pitchFamily="49" charset="0"/>
              </a:defRPr>
            </a:lvl4pPr>
          </a:lstStyle>
          <a:p>
            <a:pPr lvl="0"/>
            <a:r>
              <a:rPr lang="en-US"/>
              <a:t>Click to edit Master text styles</a:t>
            </a:r>
          </a:p>
        </p:txBody>
      </p:sp>
      <p:sp>
        <p:nvSpPr>
          <p:cNvPr id="5" name="Content Placeholder 2">
            <a:extLst>
              <a:ext uri="{FF2B5EF4-FFF2-40B4-BE49-F238E27FC236}">
                <a16:creationId xmlns:a16="http://schemas.microsoft.com/office/drawing/2014/main" id="{20BF5967-6241-0E40-D844-CD2FB96F1181}"/>
              </a:ext>
            </a:extLst>
          </p:cNvPr>
          <p:cNvSpPr>
            <a:spLocks noGrp="1"/>
          </p:cNvSpPr>
          <p:nvPr>
            <p:ph idx="16" hasCustomPrompt="1"/>
          </p:nvPr>
        </p:nvSpPr>
        <p:spPr>
          <a:xfrm>
            <a:off x="609600" y="5410200"/>
            <a:ext cx="10972800" cy="734960"/>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215129890"/>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04_Slide Up Dow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HAI PHẦN TRÊN DƯỚI</a:t>
            </a:r>
            <a:endParaRPr lang="vi-VN"/>
          </a:p>
        </p:txBody>
      </p:sp>
    </p:spTree>
    <p:extLst>
      <p:ext uri="{BB962C8B-B14F-4D97-AF65-F5344CB8AC3E}">
        <p14:creationId xmlns:p14="http://schemas.microsoft.com/office/powerpoint/2010/main" val="1354379166"/>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04 Slide Up Down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2"/>
            <a:ext cx="10972800" cy="3352799"/>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4953001"/>
            <a:ext cx="10972800" cy="1172495"/>
          </a:xfrm>
        </p:spPr>
        <p:txBody>
          <a:bodyPr/>
          <a:lstStyle>
            <a:lvl1pPr>
              <a:defRPr sz="2800"/>
            </a:lvl1pPr>
            <a:lvl2pPr>
              <a:defRPr sz="2800"/>
            </a:lvl2pPr>
            <a:lvl3pPr>
              <a:defRPr sz="2000"/>
            </a:lvl3pPr>
            <a:lvl4pPr>
              <a:defRPr sz="1800"/>
            </a:lvl4pPr>
          </a:lstStyle>
          <a:p>
            <a:pPr lvl="0"/>
            <a:r>
              <a:rPr lang="en-US"/>
              <a:t>Click toa edit Master text styles</a:t>
            </a:r>
          </a:p>
        </p:txBody>
      </p:sp>
    </p:spTree>
    <p:extLst>
      <p:ext uri="{BB962C8B-B14F-4D97-AF65-F5344CB8AC3E}">
        <p14:creationId xmlns:p14="http://schemas.microsoft.com/office/powerpoint/2010/main" val="149570494"/>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04 Slide Up Down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2514598"/>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4114801"/>
            <a:ext cx="10972800" cy="2010695"/>
          </a:xfrm>
        </p:spPr>
        <p:txBody>
          <a:bodyPr/>
          <a:lstStyle>
            <a:lvl1pPr>
              <a:defRPr sz="2800"/>
            </a:lvl1pPr>
            <a:lvl2pPr>
              <a:defRPr sz="2800"/>
            </a:lvl2pPr>
            <a:lvl3pPr>
              <a:defRPr sz="2000"/>
            </a:lvl3pPr>
            <a:lvl4pPr>
              <a:defRPr sz="1800"/>
            </a:lvl4pPr>
          </a:lstStyle>
          <a:p>
            <a:pPr lvl="0"/>
            <a:r>
              <a:rPr lang="en-US"/>
              <a:t>Click toa edit Master text styles</a:t>
            </a:r>
          </a:p>
        </p:txBody>
      </p:sp>
    </p:spTree>
    <p:extLst>
      <p:ext uri="{BB962C8B-B14F-4D97-AF65-F5344CB8AC3E}">
        <p14:creationId xmlns:p14="http://schemas.microsoft.com/office/powerpoint/2010/main" val="691904815"/>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04 Slide Up Down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1371597"/>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p:nvPr>
        </p:nvSpPr>
        <p:spPr>
          <a:xfrm>
            <a:off x="609600" y="2971801"/>
            <a:ext cx="10972800" cy="3153696"/>
          </a:xfrm>
        </p:spPr>
        <p:txBody>
          <a:bodyPr/>
          <a:lstStyle>
            <a:lvl1pPr>
              <a:defRPr sz="2800"/>
            </a:lvl1pPr>
            <a:lvl2pPr>
              <a:defRPr sz="2800"/>
            </a:lvl2pPr>
            <a:lvl3pPr>
              <a:defRPr sz="2000"/>
            </a:lvl3pPr>
            <a:lvl4pPr>
              <a:defRPr sz="1800"/>
            </a:lvl4pPr>
          </a:lstStyle>
          <a:p>
            <a:pPr lvl="0"/>
            <a:r>
              <a:rPr lang="en-US"/>
              <a:t>Click to edit Master text styles</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lang="en-US"/>
              <a:t>Second level</a:t>
            </a:r>
          </a:p>
        </p:txBody>
      </p:sp>
    </p:spTree>
    <p:extLst>
      <p:ext uri="{BB962C8B-B14F-4D97-AF65-F5344CB8AC3E}">
        <p14:creationId xmlns:p14="http://schemas.microsoft.com/office/powerpoint/2010/main" val="2541543390"/>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05_Slide Two Colum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HAI CỘT</a:t>
            </a:r>
            <a:endParaRPr lang="vi-VN"/>
          </a:p>
        </p:txBody>
      </p:sp>
    </p:spTree>
    <p:extLst>
      <p:ext uri="{BB962C8B-B14F-4D97-AF65-F5344CB8AC3E}">
        <p14:creationId xmlns:p14="http://schemas.microsoft.com/office/powerpoint/2010/main" val="2011238762"/>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05_Slide Two Column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538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1"/>
            <a:ext cx="538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102542379"/>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05_Slide Two Column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
        <p:nvSpPr>
          <p:cNvPr id="10" name="Content Placeholder 2">
            <a:extLst>
              <a:ext uri="{FF2B5EF4-FFF2-40B4-BE49-F238E27FC236}">
                <a16:creationId xmlns:a16="http://schemas.microsoft.com/office/drawing/2014/main" id="{4A5C2EBD-EF57-4343-AF38-1F0DEC4C0994}"/>
              </a:ext>
            </a:extLst>
          </p:cNvPr>
          <p:cNvSpPr>
            <a:spLocks noGrp="1"/>
          </p:cNvSpPr>
          <p:nvPr>
            <p:ph sz="half" idx="1"/>
          </p:nvPr>
        </p:nvSpPr>
        <p:spPr>
          <a:xfrm>
            <a:off x="609600" y="1600201"/>
            <a:ext cx="53848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11" name="Content Placeholder 3">
            <a:extLst>
              <a:ext uri="{FF2B5EF4-FFF2-40B4-BE49-F238E27FC236}">
                <a16:creationId xmlns:a16="http://schemas.microsoft.com/office/drawing/2014/main" id="{8AC06C03-737D-475A-93EF-E21A1FC9ACF3}"/>
              </a:ext>
            </a:extLst>
          </p:cNvPr>
          <p:cNvSpPr>
            <a:spLocks noGrp="1"/>
          </p:cNvSpPr>
          <p:nvPr>
            <p:ph sz="half" idx="2"/>
          </p:nvPr>
        </p:nvSpPr>
        <p:spPr>
          <a:xfrm>
            <a:off x="6197600" y="1600201"/>
            <a:ext cx="53848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893367181"/>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05_Slide Two Column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10" name="Content Placeholder 2">
            <a:extLst>
              <a:ext uri="{FF2B5EF4-FFF2-40B4-BE49-F238E27FC236}">
                <a16:creationId xmlns:a16="http://schemas.microsoft.com/office/drawing/2014/main" id="{4A5C2EBD-EF57-4343-AF38-1F0DEC4C0994}"/>
              </a:ext>
            </a:extLst>
          </p:cNvPr>
          <p:cNvSpPr>
            <a:spLocks noGrp="1"/>
          </p:cNvSpPr>
          <p:nvPr>
            <p:ph sz="half" idx="1"/>
          </p:nvPr>
        </p:nvSpPr>
        <p:spPr>
          <a:xfrm>
            <a:off x="609600" y="1600201"/>
            <a:ext cx="5384800" cy="380999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11" name="Content Placeholder 3">
            <a:extLst>
              <a:ext uri="{FF2B5EF4-FFF2-40B4-BE49-F238E27FC236}">
                <a16:creationId xmlns:a16="http://schemas.microsoft.com/office/drawing/2014/main" id="{8AC06C03-737D-475A-93EF-E21A1FC9ACF3}"/>
              </a:ext>
            </a:extLst>
          </p:cNvPr>
          <p:cNvSpPr>
            <a:spLocks noGrp="1"/>
          </p:cNvSpPr>
          <p:nvPr>
            <p:ph sz="half" idx="2"/>
          </p:nvPr>
        </p:nvSpPr>
        <p:spPr>
          <a:xfrm>
            <a:off x="6197600" y="1600201"/>
            <a:ext cx="5384800" cy="380999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48716980-92B1-EFAB-E559-9C67E7C615BC}"/>
              </a:ext>
            </a:extLst>
          </p:cNvPr>
          <p:cNvSpPr>
            <a:spLocks noGrp="1"/>
          </p:cNvSpPr>
          <p:nvPr>
            <p:ph idx="16" hasCustomPrompt="1"/>
          </p:nvPr>
        </p:nvSpPr>
        <p:spPr>
          <a:xfrm>
            <a:off x="609600" y="5410200"/>
            <a:ext cx="10972800" cy="734960"/>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400755685"/>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05_Slide Two Column 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6553200" cy="4525963"/>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7162800" y="1600200"/>
            <a:ext cx="4419600" cy="4525963"/>
          </a:xfrm>
        </p:spPr>
        <p:txBody>
          <a:bodyPr/>
          <a:lstStyle>
            <a:lvl1pPr>
              <a:defRPr sz="2800"/>
            </a:lvl1pPr>
            <a:lvl2pPr>
              <a:defRPr sz="2400"/>
            </a:lvl2pPr>
          </a:lstStyle>
          <a:p>
            <a:pPr lvl="0"/>
            <a:r>
              <a:rPr lang="en-US"/>
              <a:t>Click to edit Master text styles</a:t>
            </a:r>
          </a:p>
        </p:txBody>
      </p:sp>
    </p:spTree>
    <p:extLst>
      <p:ext uri="{BB962C8B-B14F-4D97-AF65-F5344CB8AC3E}">
        <p14:creationId xmlns:p14="http://schemas.microsoft.com/office/powerpoint/2010/main" val="3724642175"/>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05_Slide Two Column 0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2"/>
            <a:ext cx="6553200" cy="4286864"/>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7162800" y="1600201"/>
            <a:ext cx="4419600" cy="4286864"/>
          </a:xfrm>
        </p:spPr>
        <p:txBody>
          <a:bodyPr/>
          <a:lstStyle>
            <a:lvl1pPr>
              <a:defRPr sz="2800"/>
            </a:lvl1pPr>
            <a:lvl2pPr>
              <a:defRPr sz="2400"/>
            </a:lvl2pPr>
          </a:lstStyle>
          <a:p>
            <a:pPr lvl="0"/>
            <a:r>
              <a:rPr lang="en-US"/>
              <a:t>Click to edit Master text styles</a:t>
            </a:r>
          </a:p>
        </p:txBody>
      </p:sp>
      <p:sp>
        <p:nvSpPr>
          <p:cNvPr id="5" name="Content Placeholder 2">
            <a:extLst>
              <a:ext uri="{FF2B5EF4-FFF2-40B4-BE49-F238E27FC236}">
                <a16:creationId xmlns:a16="http://schemas.microsoft.com/office/drawing/2014/main" id="{17B267FE-1A4A-FC5A-B1BF-212E21F3C20F}"/>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4239912957"/>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05_Slide Two Column 0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2"/>
            <a:ext cx="6553200" cy="3810000"/>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7162800" y="1600201"/>
            <a:ext cx="4419600" cy="3810000"/>
          </a:xfrm>
        </p:spPr>
        <p:txBody>
          <a:bodyPr/>
          <a:lstStyle>
            <a:lvl1pPr>
              <a:defRPr sz="2800"/>
            </a:lvl1pPr>
            <a:lvl2pPr>
              <a:defRPr sz="2400"/>
            </a:lvl2pPr>
          </a:lstStyle>
          <a:p>
            <a:pPr lvl="0"/>
            <a:r>
              <a:rPr lang="en-US"/>
              <a:t>Click to edit Master text styles</a:t>
            </a:r>
          </a:p>
        </p:txBody>
      </p:sp>
      <p:sp>
        <p:nvSpPr>
          <p:cNvPr id="5" name="Content Placeholder 2">
            <a:extLst>
              <a:ext uri="{FF2B5EF4-FFF2-40B4-BE49-F238E27FC236}">
                <a16:creationId xmlns:a16="http://schemas.microsoft.com/office/drawing/2014/main" id="{87C8D0DD-B54D-81D5-B7D4-10338B1E3280}"/>
              </a:ext>
            </a:extLst>
          </p:cNvPr>
          <p:cNvSpPr>
            <a:spLocks noGrp="1"/>
          </p:cNvSpPr>
          <p:nvPr>
            <p:ph idx="16" hasCustomPrompt="1"/>
          </p:nvPr>
        </p:nvSpPr>
        <p:spPr>
          <a:xfrm>
            <a:off x="609600" y="5410200"/>
            <a:ext cx="10972800" cy="734960"/>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492304489"/>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05_Slide Two Column 0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8610600" cy="4525963"/>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9220200" y="1600200"/>
            <a:ext cx="2362200" cy="4525963"/>
          </a:xfrm>
        </p:spPr>
        <p:txBody>
          <a:bodyPr/>
          <a:lstStyle>
            <a:lvl1pPr>
              <a:defRPr sz="2800"/>
            </a:lvl1pPr>
            <a:lvl2pPr>
              <a:defRPr sz="2400"/>
            </a:lvl2pPr>
          </a:lstStyle>
          <a:p>
            <a:pPr lvl="0"/>
            <a:r>
              <a:rPr lang="en-US"/>
              <a:t>Click to edit Master text styles</a:t>
            </a:r>
          </a:p>
        </p:txBody>
      </p:sp>
    </p:spTree>
    <p:extLst>
      <p:ext uri="{BB962C8B-B14F-4D97-AF65-F5344CB8AC3E}">
        <p14:creationId xmlns:p14="http://schemas.microsoft.com/office/powerpoint/2010/main" val="2322547086"/>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05_Slide Two Column 08">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8610600" cy="4286863"/>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9220200" y="1600200"/>
            <a:ext cx="2362200" cy="4286863"/>
          </a:xfrm>
        </p:spPr>
        <p:txBody>
          <a:bodyPr/>
          <a:lstStyle>
            <a:lvl1pPr>
              <a:defRPr sz="2800"/>
            </a:lvl1pPr>
            <a:lvl2pPr>
              <a:defRPr sz="2400"/>
            </a:lvl2pPr>
          </a:lstStyle>
          <a:p>
            <a:pPr lvl="0"/>
            <a:r>
              <a:rPr lang="en-US"/>
              <a:t>Click to edit Master text styles</a:t>
            </a:r>
          </a:p>
        </p:txBody>
      </p:sp>
      <p:sp>
        <p:nvSpPr>
          <p:cNvPr id="5" name="Content Placeholder 2">
            <a:extLst>
              <a:ext uri="{FF2B5EF4-FFF2-40B4-BE49-F238E27FC236}">
                <a16:creationId xmlns:a16="http://schemas.microsoft.com/office/drawing/2014/main" id="{DA1A5BA2-D508-AFA2-E487-FE996D715498}"/>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2160895333"/>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05_Slide Two Column 0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8610600" cy="3809999"/>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9220200" y="1600200"/>
            <a:ext cx="2362200" cy="3809999"/>
          </a:xfrm>
        </p:spPr>
        <p:txBody>
          <a:bodyPr/>
          <a:lstStyle>
            <a:lvl1pPr>
              <a:defRPr sz="2800"/>
            </a:lvl1pPr>
            <a:lvl2pPr>
              <a:defRPr sz="2400"/>
            </a:lvl2pPr>
          </a:lstStyle>
          <a:p>
            <a:pPr lvl="0"/>
            <a:r>
              <a:rPr lang="en-US"/>
              <a:t>Click to edit Master text styles</a:t>
            </a:r>
          </a:p>
        </p:txBody>
      </p:sp>
      <p:sp>
        <p:nvSpPr>
          <p:cNvPr id="5" name="Content Placeholder 2">
            <a:extLst>
              <a:ext uri="{FF2B5EF4-FFF2-40B4-BE49-F238E27FC236}">
                <a16:creationId xmlns:a16="http://schemas.microsoft.com/office/drawing/2014/main" id="{9B108584-BFF3-2406-377A-3236D4DB99A3}"/>
              </a:ext>
            </a:extLst>
          </p:cNvPr>
          <p:cNvSpPr>
            <a:spLocks noGrp="1"/>
          </p:cNvSpPr>
          <p:nvPr>
            <p:ph idx="16" hasCustomPrompt="1"/>
          </p:nvPr>
        </p:nvSpPr>
        <p:spPr>
          <a:xfrm>
            <a:off x="609600" y="5410200"/>
            <a:ext cx="10972800" cy="734960"/>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805069774"/>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05_Slide Two Column 1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538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1"/>
            <a:ext cx="59944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194170472"/>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05_Slide Two Column 1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53848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1"/>
            <a:ext cx="59944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5" name="Content Placeholder 2">
            <a:extLst>
              <a:ext uri="{FF2B5EF4-FFF2-40B4-BE49-F238E27FC236}">
                <a16:creationId xmlns:a16="http://schemas.microsoft.com/office/drawing/2014/main" id="{11640B4C-4BB4-59DC-6FB5-BE2BEAB17DCB}"/>
              </a:ext>
            </a:extLst>
          </p:cNvPr>
          <p:cNvSpPr>
            <a:spLocks noGrp="1"/>
          </p:cNvSpPr>
          <p:nvPr>
            <p:ph idx="16" hasCustomPrompt="1"/>
          </p:nvPr>
        </p:nvSpPr>
        <p:spPr>
          <a:xfrm>
            <a:off x="609600" y="5887064"/>
            <a:ext cx="115824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109277816"/>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05_Slide Two Column 1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5384800" cy="380999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1"/>
            <a:ext cx="5994400" cy="380999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5" name="Content Placeholder 2">
            <a:extLst>
              <a:ext uri="{FF2B5EF4-FFF2-40B4-BE49-F238E27FC236}">
                <a16:creationId xmlns:a16="http://schemas.microsoft.com/office/drawing/2014/main" id="{501540FF-506E-C951-CCC4-F2846A5D1DE5}"/>
              </a:ext>
            </a:extLst>
          </p:cNvPr>
          <p:cNvSpPr>
            <a:spLocks noGrp="1"/>
          </p:cNvSpPr>
          <p:nvPr>
            <p:ph idx="16" hasCustomPrompt="1"/>
          </p:nvPr>
        </p:nvSpPr>
        <p:spPr>
          <a:xfrm>
            <a:off x="609600" y="5410200"/>
            <a:ext cx="11612880" cy="734960"/>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204517489"/>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05_Slide Two Column 1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1"/>
            <a:ext cx="59944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1"/>
            <a:ext cx="59944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99894408"/>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05_Slide Two Column 1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1"/>
            <a:ext cx="59944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1"/>
            <a:ext cx="59944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5" name="Content Placeholder 2">
            <a:extLst>
              <a:ext uri="{FF2B5EF4-FFF2-40B4-BE49-F238E27FC236}">
                <a16:creationId xmlns:a16="http://schemas.microsoft.com/office/drawing/2014/main" id="{739BE0C1-77A6-4A1D-2879-D18D2A156490}"/>
              </a:ext>
            </a:extLst>
          </p:cNvPr>
          <p:cNvSpPr>
            <a:spLocks noGrp="1"/>
          </p:cNvSpPr>
          <p:nvPr>
            <p:ph idx="16" hasCustomPrompt="1"/>
          </p:nvPr>
        </p:nvSpPr>
        <p:spPr>
          <a:xfrm>
            <a:off x="0" y="5887064"/>
            <a:ext cx="121920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734376779"/>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05_Slide Two Column 1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1"/>
            <a:ext cx="5994400" cy="380999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1"/>
            <a:ext cx="5994400" cy="380999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5" name="Content Placeholder 2">
            <a:extLst>
              <a:ext uri="{FF2B5EF4-FFF2-40B4-BE49-F238E27FC236}">
                <a16:creationId xmlns:a16="http://schemas.microsoft.com/office/drawing/2014/main" id="{B7836774-98E2-8399-1A89-B989AAE076F4}"/>
              </a:ext>
            </a:extLst>
          </p:cNvPr>
          <p:cNvSpPr>
            <a:spLocks noGrp="1"/>
          </p:cNvSpPr>
          <p:nvPr>
            <p:ph idx="16" hasCustomPrompt="1"/>
          </p:nvPr>
        </p:nvSpPr>
        <p:spPr>
          <a:xfrm>
            <a:off x="0" y="5410200"/>
            <a:ext cx="12222480" cy="734960"/>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4148600537"/>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05_Slide Two Column 1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53858627"/>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05_Slide Two Column 1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
        <p:nvSpPr>
          <p:cNvPr id="5" name="Text Placeholder 4"/>
          <p:cNvSpPr>
            <a:spLocks noGrp="1"/>
          </p:cNvSpPr>
          <p:nvPr>
            <p:ph type="body" sz="quarter" idx="3"/>
          </p:nvPr>
        </p:nvSpPr>
        <p:spPr>
          <a:xfrm>
            <a:off x="6193368" y="1535113"/>
            <a:ext cx="5998632"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998632"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1124388919"/>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05_Slide Two Column 18">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10972800"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6" name="Content Placeholder 5"/>
          <p:cNvSpPr>
            <a:spLocks noGrp="1"/>
          </p:cNvSpPr>
          <p:nvPr>
            <p:ph sz="quarter" idx="4"/>
          </p:nvPr>
        </p:nvSpPr>
        <p:spPr>
          <a:xfrm>
            <a:off x="6193368" y="2174875"/>
            <a:ext cx="5389033"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546338631"/>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05_Slide Two Column 1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11582400"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800"/>
            </a:lvl1pPr>
            <a:lvl2pPr>
              <a:defRPr sz="2800"/>
            </a:lvl2pPr>
            <a:lvl3pPr>
              <a:defRPr sz="2800"/>
            </a:lvl3pPr>
            <a:lvl4pPr>
              <a:defRPr sz="2800"/>
            </a:lvl4pPr>
            <a:lvl5pPr>
              <a:defRPr sz="2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6" name="Content Placeholder 5"/>
          <p:cNvSpPr>
            <a:spLocks noGrp="1"/>
          </p:cNvSpPr>
          <p:nvPr>
            <p:ph sz="quarter" idx="4"/>
          </p:nvPr>
        </p:nvSpPr>
        <p:spPr>
          <a:xfrm>
            <a:off x="6193368" y="2174875"/>
            <a:ext cx="5998632" cy="3951288"/>
          </a:xfrm>
        </p:spPr>
        <p:txBody>
          <a:bodyPr/>
          <a:lstStyle>
            <a:lvl1pPr>
              <a:defRPr sz="2800"/>
            </a:lvl1pPr>
            <a:lvl2pPr>
              <a:defRPr sz="2800"/>
            </a:lvl2pPr>
            <a:lvl3pPr>
              <a:defRPr sz="2800"/>
            </a:lvl3pPr>
            <a:lvl4pPr>
              <a:defRPr sz="2800"/>
            </a:lvl4pPr>
            <a:lvl5pPr>
              <a:defRPr sz="2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1696371"/>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05_Slide Two Column 2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2114" y="1535113"/>
            <a:ext cx="12194114"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114" y="2174875"/>
            <a:ext cx="5998632" cy="3951288"/>
          </a:xfrm>
        </p:spPr>
        <p:txBody>
          <a:bodyPr/>
          <a:lstStyle>
            <a:lvl1pPr>
              <a:defRPr sz="2800"/>
            </a:lvl1pPr>
            <a:lvl2pPr>
              <a:defRPr sz="24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6" name="Content Placeholder 5"/>
          <p:cNvSpPr>
            <a:spLocks noGrp="1"/>
          </p:cNvSpPr>
          <p:nvPr>
            <p:ph sz="quarter" idx="4"/>
          </p:nvPr>
        </p:nvSpPr>
        <p:spPr>
          <a:xfrm>
            <a:off x="6193368" y="2174875"/>
            <a:ext cx="5998632" cy="3951288"/>
          </a:xfrm>
        </p:spPr>
        <p:txBody>
          <a:bodyPr/>
          <a:lstStyle>
            <a:lvl1pPr>
              <a:defRPr sz="2800"/>
            </a:lvl1pPr>
            <a:lvl2pPr>
              <a:defRPr sz="24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655509956"/>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05_Slide Two Column 21">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3200" b="1"/>
            </a:lvl1pPr>
          </a:lstStyle>
          <a:p>
            <a:r>
              <a:rPr lang="en-US"/>
              <a:t>Click to edit Master title style</a:t>
            </a:r>
            <a:endParaRPr lang="vi-VN"/>
          </a:p>
        </p:txBody>
      </p:sp>
      <p:sp>
        <p:nvSpPr>
          <p:cNvPr id="3" name="Content Placeholder 2"/>
          <p:cNvSpPr>
            <a:spLocks noGrp="1"/>
          </p:cNvSpPr>
          <p:nvPr>
            <p:ph idx="1"/>
          </p:nvPr>
        </p:nvSpPr>
        <p:spPr>
          <a:xfrm>
            <a:off x="4766733" y="273051"/>
            <a:ext cx="6815667" cy="5853113"/>
          </a:xfrm>
        </p:spPr>
        <p:txBody>
          <a:bodyPr/>
          <a:lstStyle>
            <a:lvl1pPr>
              <a:defRPr sz="2800"/>
            </a:lvl1pPr>
            <a:lvl2pPr>
              <a:defRPr sz="2800"/>
            </a:lvl2pPr>
            <a:lvl3pPr>
              <a:defRPr sz="2800"/>
            </a:lvl3pPr>
            <a:lvl4pPr>
              <a:defRPr sz="2800"/>
            </a:lvl4pPr>
            <a:lvl5pPr>
              <a:defRPr sz="2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2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916488560"/>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06_Slide Three Column ">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BA CỘT</a:t>
            </a:r>
            <a:endParaRPr lang="vi-VN"/>
          </a:p>
        </p:txBody>
      </p:sp>
    </p:spTree>
    <p:extLst>
      <p:ext uri="{BB962C8B-B14F-4D97-AF65-F5344CB8AC3E}">
        <p14:creationId xmlns:p14="http://schemas.microsoft.com/office/powerpoint/2010/main" val="3876098984"/>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0" y="1600202"/>
            <a:ext cx="3962400" cy="4495800"/>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7" name="Content Placeholder 2">
            <a:extLst>
              <a:ext uri="{FF2B5EF4-FFF2-40B4-BE49-F238E27FC236}">
                <a16:creationId xmlns:a16="http://schemas.microsoft.com/office/drawing/2014/main" id="{9FCB7F62-31CE-479A-B75D-E680BBC27871}"/>
              </a:ext>
            </a:extLst>
          </p:cNvPr>
          <p:cNvSpPr>
            <a:spLocks noGrp="1"/>
          </p:cNvSpPr>
          <p:nvPr>
            <p:ph idx="17"/>
          </p:nvPr>
        </p:nvSpPr>
        <p:spPr>
          <a:xfrm>
            <a:off x="8229600" y="1600200"/>
            <a:ext cx="3962400" cy="4495800"/>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9" name="Content Placeholder 2">
            <a:extLst>
              <a:ext uri="{FF2B5EF4-FFF2-40B4-BE49-F238E27FC236}">
                <a16:creationId xmlns:a16="http://schemas.microsoft.com/office/drawing/2014/main" id="{90AFCEF9-0FFB-4670-A771-DA310A1C55BF}"/>
              </a:ext>
            </a:extLst>
          </p:cNvPr>
          <p:cNvSpPr>
            <a:spLocks noGrp="1"/>
          </p:cNvSpPr>
          <p:nvPr>
            <p:ph idx="18"/>
          </p:nvPr>
        </p:nvSpPr>
        <p:spPr>
          <a:xfrm>
            <a:off x="4114800" y="1600200"/>
            <a:ext cx="3962400" cy="4495800"/>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53865494"/>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0" y="1600202"/>
            <a:ext cx="3962400" cy="4286862"/>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0" y="5887064"/>
            <a:ext cx="121920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
        <p:nvSpPr>
          <p:cNvPr id="7" name="Content Placeholder 2">
            <a:extLst>
              <a:ext uri="{FF2B5EF4-FFF2-40B4-BE49-F238E27FC236}">
                <a16:creationId xmlns:a16="http://schemas.microsoft.com/office/drawing/2014/main" id="{9FCB7F62-31CE-479A-B75D-E680BBC27871}"/>
              </a:ext>
            </a:extLst>
          </p:cNvPr>
          <p:cNvSpPr>
            <a:spLocks noGrp="1"/>
          </p:cNvSpPr>
          <p:nvPr>
            <p:ph idx="17"/>
          </p:nvPr>
        </p:nvSpPr>
        <p:spPr>
          <a:xfrm>
            <a:off x="8229600" y="1600200"/>
            <a:ext cx="3962400" cy="4286862"/>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9" name="Content Placeholder 2">
            <a:extLst>
              <a:ext uri="{FF2B5EF4-FFF2-40B4-BE49-F238E27FC236}">
                <a16:creationId xmlns:a16="http://schemas.microsoft.com/office/drawing/2014/main" id="{90AFCEF9-0FFB-4670-A771-DA310A1C55BF}"/>
              </a:ext>
            </a:extLst>
          </p:cNvPr>
          <p:cNvSpPr>
            <a:spLocks noGrp="1"/>
          </p:cNvSpPr>
          <p:nvPr>
            <p:ph idx="18"/>
          </p:nvPr>
        </p:nvSpPr>
        <p:spPr>
          <a:xfrm>
            <a:off x="4114800" y="1600200"/>
            <a:ext cx="3962400" cy="4286862"/>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170198783"/>
      </p:ext>
    </p:extLst>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07_Slide Four Column ">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BỐN CỘT</a:t>
            </a:r>
            <a:endParaRPr lang="vi-VN"/>
          </a:p>
        </p:txBody>
      </p:sp>
    </p:spTree>
    <p:extLst>
      <p:ext uri="{BB962C8B-B14F-4D97-AF65-F5344CB8AC3E}">
        <p14:creationId xmlns:p14="http://schemas.microsoft.com/office/powerpoint/2010/main" val="3094009430"/>
      </p:ext>
    </p:extLst>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9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1"/>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7" name="Content Placeholder 2">
            <a:extLst>
              <a:ext uri="{FF2B5EF4-FFF2-40B4-BE49-F238E27FC236}">
                <a16:creationId xmlns:a16="http://schemas.microsoft.com/office/drawing/2014/main" id="{1E586163-080C-4D92-9FF5-83B9A124C31B}"/>
              </a:ext>
            </a:extLst>
          </p:cNvPr>
          <p:cNvSpPr>
            <a:spLocks noGrp="1"/>
          </p:cNvSpPr>
          <p:nvPr>
            <p:ph sz="half" idx="12"/>
          </p:nvPr>
        </p:nvSpPr>
        <p:spPr>
          <a:xfrm>
            <a:off x="3098800" y="1600200"/>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8" name="Content Placeholder 2">
            <a:extLst>
              <a:ext uri="{FF2B5EF4-FFF2-40B4-BE49-F238E27FC236}">
                <a16:creationId xmlns:a16="http://schemas.microsoft.com/office/drawing/2014/main" id="{60879BDB-29CC-404E-9DCA-E89C7B9070DD}"/>
              </a:ext>
            </a:extLst>
          </p:cNvPr>
          <p:cNvSpPr>
            <a:spLocks noGrp="1"/>
          </p:cNvSpPr>
          <p:nvPr>
            <p:ph sz="half" idx="13"/>
          </p:nvPr>
        </p:nvSpPr>
        <p:spPr>
          <a:xfrm>
            <a:off x="6210300" y="1600200"/>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9" name="Content Placeholder 2">
            <a:extLst>
              <a:ext uri="{FF2B5EF4-FFF2-40B4-BE49-F238E27FC236}">
                <a16:creationId xmlns:a16="http://schemas.microsoft.com/office/drawing/2014/main" id="{2494B703-5983-4A4F-B197-D2C64EAA9F6A}"/>
              </a:ext>
            </a:extLst>
          </p:cNvPr>
          <p:cNvSpPr>
            <a:spLocks noGrp="1"/>
          </p:cNvSpPr>
          <p:nvPr>
            <p:ph sz="half" idx="14"/>
          </p:nvPr>
        </p:nvSpPr>
        <p:spPr>
          <a:xfrm>
            <a:off x="9347200" y="1600200"/>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306970055"/>
      </p:ext>
    </p:extLst>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08_Slide Four Par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BỐN PHẦN</a:t>
            </a:r>
            <a:endParaRPr lang="vi-VN"/>
          </a:p>
        </p:txBody>
      </p:sp>
    </p:spTree>
    <p:extLst>
      <p:ext uri="{BB962C8B-B14F-4D97-AF65-F5344CB8AC3E}">
        <p14:creationId xmlns:p14="http://schemas.microsoft.com/office/powerpoint/2010/main" val="2052302994"/>
      </p:ext>
    </p:extLst>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7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1"/>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7" name="Content Placeholder 2">
            <a:extLst>
              <a:ext uri="{FF2B5EF4-FFF2-40B4-BE49-F238E27FC236}">
                <a16:creationId xmlns:a16="http://schemas.microsoft.com/office/drawing/2014/main" id="{D4EA549A-C581-4C37-B257-ACE55CAD4DF6}"/>
              </a:ext>
            </a:extLst>
          </p:cNvPr>
          <p:cNvSpPr>
            <a:spLocks noGrp="1"/>
          </p:cNvSpPr>
          <p:nvPr>
            <p:ph sz="half" idx="12"/>
          </p:nvPr>
        </p:nvSpPr>
        <p:spPr>
          <a:xfrm>
            <a:off x="0" y="3886200"/>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9" name="Content Placeholder 2">
            <a:extLst>
              <a:ext uri="{FF2B5EF4-FFF2-40B4-BE49-F238E27FC236}">
                <a16:creationId xmlns:a16="http://schemas.microsoft.com/office/drawing/2014/main" id="{00016720-4FC2-4205-9886-7838EB044331}"/>
              </a:ext>
            </a:extLst>
          </p:cNvPr>
          <p:cNvSpPr>
            <a:spLocks noGrp="1"/>
          </p:cNvSpPr>
          <p:nvPr>
            <p:ph sz="half" idx="13"/>
          </p:nvPr>
        </p:nvSpPr>
        <p:spPr>
          <a:xfrm>
            <a:off x="6197600" y="1608826"/>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10" name="Content Placeholder 2">
            <a:extLst>
              <a:ext uri="{FF2B5EF4-FFF2-40B4-BE49-F238E27FC236}">
                <a16:creationId xmlns:a16="http://schemas.microsoft.com/office/drawing/2014/main" id="{CE828636-495F-44E0-8340-BCE2B3F47166}"/>
              </a:ext>
            </a:extLst>
          </p:cNvPr>
          <p:cNvSpPr>
            <a:spLocks noGrp="1"/>
          </p:cNvSpPr>
          <p:nvPr>
            <p:ph sz="half" idx="14"/>
          </p:nvPr>
        </p:nvSpPr>
        <p:spPr>
          <a:xfrm>
            <a:off x="6197600" y="3894825"/>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01676564"/>
      </p:ext>
    </p:extLst>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0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8077200" cy="990599"/>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4" name="Content Placeholder 3"/>
          <p:cNvSpPr>
            <a:spLocks noGrp="1"/>
          </p:cNvSpPr>
          <p:nvPr>
            <p:ph sz="half" idx="2"/>
          </p:nvPr>
        </p:nvSpPr>
        <p:spPr>
          <a:xfrm>
            <a:off x="8763000" y="1600201"/>
            <a:ext cx="2819400" cy="990599"/>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
        <p:nvSpPr>
          <p:cNvPr id="21" name="Content Placeholder 2">
            <a:extLst>
              <a:ext uri="{FF2B5EF4-FFF2-40B4-BE49-F238E27FC236}">
                <a16:creationId xmlns:a16="http://schemas.microsoft.com/office/drawing/2014/main" id="{E4A1A4A6-69C0-4EC3-B5CC-CC08837714D4}"/>
              </a:ext>
            </a:extLst>
          </p:cNvPr>
          <p:cNvSpPr>
            <a:spLocks noGrp="1"/>
          </p:cNvSpPr>
          <p:nvPr>
            <p:ph sz="half" idx="12"/>
          </p:nvPr>
        </p:nvSpPr>
        <p:spPr>
          <a:xfrm>
            <a:off x="609600" y="2680855"/>
            <a:ext cx="8077200" cy="900545"/>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22" name="Content Placeholder 3">
            <a:extLst>
              <a:ext uri="{FF2B5EF4-FFF2-40B4-BE49-F238E27FC236}">
                <a16:creationId xmlns:a16="http://schemas.microsoft.com/office/drawing/2014/main" id="{3E39D719-3B3B-4F96-BE3F-4E767D23D3DC}"/>
              </a:ext>
            </a:extLst>
          </p:cNvPr>
          <p:cNvSpPr>
            <a:spLocks noGrp="1"/>
          </p:cNvSpPr>
          <p:nvPr>
            <p:ph sz="half" idx="13"/>
          </p:nvPr>
        </p:nvSpPr>
        <p:spPr>
          <a:xfrm>
            <a:off x="8763000" y="2680855"/>
            <a:ext cx="2819400" cy="900545"/>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
        <p:nvSpPr>
          <p:cNvPr id="23" name="Content Placeholder 2">
            <a:extLst>
              <a:ext uri="{FF2B5EF4-FFF2-40B4-BE49-F238E27FC236}">
                <a16:creationId xmlns:a16="http://schemas.microsoft.com/office/drawing/2014/main" id="{D7791AFD-E53B-48D7-8A3C-24F9B9314932}"/>
              </a:ext>
            </a:extLst>
          </p:cNvPr>
          <p:cNvSpPr>
            <a:spLocks noGrp="1"/>
          </p:cNvSpPr>
          <p:nvPr>
            <p:ph sz="half" idx="14"/>
          </p:nvPr>
        </p:nvSpPr>
        <p:spPr>
          <a:xfrm>
            <a:off x="609600" y="3733801"/>
            <a:ext cx="8077200" cy="990599"/>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24" name="Content Placeholder 3">
            <a:extLst>
              <a:ext uri="{FF2B5EF4-FFF2-40B4-BE49-F238E27FC236}">
                <a16:creationId xmlns:a16="http://schemas.microsoft.com/office/drawing/2014/main" id="{7784060D-E07A-4765-948A-FC9071F8DDC5}"/>
              </a:ext>
            </a:extLst>
          </p:cNvPr>
          <p:cNvSpPr>
            <a:spLocks noGrp="1"/>
          </p:cNvSpPr>
          <p:nvPr>
            <p:ph sz="half" idx="15"/>
          </p:nvPr>
        </p:nvSpPr>
        <p:spPr>
          <a:xfrm>
            <a:off x="8763000" y="3733801"/>
            <a:ext cx="2819400" cy="990599"/>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
        <p:nvSpPr>
          <p:cNvPr id="25" name="Content Placeholder 2">
            <a:extLst>
              <a:ext uri="{FF2B5EF4-FFF2-40B4-BE49-F238E27FC236}">
                <a16:creationId xmlns:a16="http://schemas.microsoft.com/office/drawing/2014/main" id="{A67EFF06-2483-4600-B6B9-3D1CE50220DD}"/>
              </a:ext>
            </a:extLst>
          </p:cNvPr>
          <p:cNvSpPr>
            <a:spLocks noGrp="1"/>
          </p:cNvSpPr>
          <p:nvPr>
            <p:ph sz="half" idx="16"/>
          </p:nvPr>
        </p:nvSpPr>
        <p:spPr>
          <a:xfrm>
            <a:off x="609600" y="4814455"/>
            <a:ext cx="8077200" cy="900545"/>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26" name="Content Placeholder 3">
            <a:extLst>
              <a:ext uri="{FF2B5EF4-FFF2-40B4-BE49-F238E27FC236}">
                <a16:creationId xmlns:a16="http://schemas.microsoft.com/office/drawing/2014/main" id="{C22FA758-800C-4200-9C64-1F16B8C51CA7}"/>
              </a:ext>
            </a:extLst>
          </p:cNvPr>
          <p:cNvSpPr>
            <a:spLocks noGrp="1"/>
          </p:cNvSpPr>
          <p:nvPr>
            <p:ph sz="half" idx="17"/>
          </p:nvPr>
        </p:nvSpPr>
        <p:spPr>
          <a:xfrm>
            <a:off x="8763000" y="4814455"/>
            <a:ext cx="2819400" cy="900545"/>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Tree>
    <p:extLst>
      <p:ext uri="{BB962C8B-B14F-4D97-AF65-F5344CB8AC3E}">
        <p14:creationId xmlns:p14="http://schemas.microsoft.com/office/powerpoint/2010/main" val="1809676352"/>
      </p:ext>
    </p:extLst>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09_Flow Char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LƯU ĐỒ</a:t>
            </a:r>
            <a:endParaRPr lang="vi-VN"/>
          </a:p>
        </p:txBody>
      </p:sp>
    </p:spTree>
    <p:extLst>
      <p:ext uri="{BB962C8B-B14F-4D97-AF65-F5344CB8AC3E}">
        <p14:creationId xmlns:p14="http://schemas.microsoft.com/office/powerpoint/2010/main" val="1782140233"/>
      </p:ext>
    </p:extLst>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97600" y="1066801"/>
            <a:ext cx="5994400" cy="5059363"/>
          </a:xfrm>
        </p:spPr>
        <p:txBody>
          <a:bodyPr/>
          <a:lstStyle>
            <a:lvl1pPr>
              <a:defRPr sz="2800"/>
            </a:lvl1pPr>
            <a:lvl2pPr>
              <a:defRPr sz="2800">
                <a:solidFill>
                  <a:srgbClr val="FF0000"/>
                </a:solidFill>
              </a:defRPr>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8" name="Content Placeholder 3">
            <a:extLst>
              <a:ext uri="{FF2B5EF4-FFF2-40B4-BE49-F238E27FC236}">
                <a16:creationId xmlns:a16="http://schemas.microsoft.com/office/drawing/2014/main" id="{B49A9FAE-4758-4C46-8541-F381798C5CD5}"/>
              </a:ext>
            </a:extLst>
          </p:cNvPr>
          <p:cNvSpPr>
            <a:spLocks noGrp="1"/>
          </p:cNvSpPr>
          <p:nvPr>
            <p:ph sz="half" idx="12"/>
          </p:nvPr>
        </p:nvSpPr>
        <p:spPr>
          <a:xfrm>
            <a:off x="6197600" y="0"/>
            <a:ext cx="5994400" cy="914401"/>
          </a:xfrm>
          <a:solidFill>
            <a:srgbClr val="00B0F0"/>
          </a:solidFill>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endParaRPr lang="vi-VN"/>
          </a:p>
        </p:txBody>
      </p:sp>
    </p:spTree>
    <p:extLst>
      <p:ext uri="{BB962C8B-B14F-4D97-AF65-F5344CB8AC3E}">
        <p14:creationId xmlns:p14="http://schemas.microsoft.com/office/powerpoint/2010/main" val="791959533"/>
      </p:ext>
    </p:extLst>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14854" y="1066801"/>
            <a:ext cx="3022600" cy="5059363"/>
          </a:xfrm>
        </p:spPr>
        <p:txBody>
          <a:bodyPr/>
          <a:lstStyle>
            <a:lvl1pPr>
              <a:defRPr sz="2800"/>
            </a:lvl1pPr>
            <a:lvl2pPr>
              <a:defRPr sz="2800">
                <a:solidFill>
                  <a:srgbClr val="FF0000"/>
                </a:solidFill>
              </a:defRPr>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8" name="Content Placeholder 3">
            <a:extLst>
              <a:ext uri="{FF2B5EF4-FFF2-40B4-BE49-F238E27FC236}">
                <a16:creationId xmlns:a16="http://schemas.microsoft.com/office/drawing/2014/main" id="{B49A9FAE-4758-4C46-8541-F381798C5CD5}"/>
              </a:ext>
            </a:extLst>
          </p:cNvPr>
          <p:cNvSpPr>
            <a:spLocks noGrp="1"/>
          </p:cNvSpPr>
          <p:nvPr>
            <p:ph sz="half" idx="12"/>
          </p:nvPr>
        </p:nvSpPr>
        <p:spPr>
          <a:xfrm>
            <a:off x="6114854" y="0"/>
            <a:ext cx="6077146" cy="914401"/>
          </a:xfrm>
          <a:solidFill>
            <a:srgbClr val="00B0F0"/>
          </a:solidFill>
        </p:spPr>
        <p:txBody>
          <a:bodyPr/>
          <a:lstStyle>
            <a:lvl1pPr marL="0" indent="0">
              <a:buNone/>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endParaRPr lang="vi-VN"/>
          </a:p>
        </p:txBody>
      </p:sp>
      <p:sp>
        <p:nvSpPr>
          <p:cNvPr id="7" name="Content Placeholder 3">
            <a:extLst>
              <a:ext uri="{FF2B5EF4-FFF2-40B4-BE49-F238E27FC236}">
                <a16:creationId xmlns:a16="http://schemas.microsoft.com/office/drawing/2014/main" id="{41B544BE-4259-4202-9EEF-29A5F771B6E3}"/>
              </a:ext>
            </a:extLst>
          </p:cNvPr>
          <p:cNvSpPr>
            <a:spLocks noGrp="1"/>
          </p:cNvSpPr>
          <p:nvPr>
            <p:ph sz="half" idx="13"/>
          </p:nvPr>
        </p:nvSpPr>
        <p:spPr>
          <a:xfrm>
            <a:off x="9157118" y="1066800"/>
            <a:ext cx="3022600" cy="5059363"/>
          </a:xfrm>
        </p:spPr>
        <p:txBody>
          <a:bodyPr/>
          <a:lstStyle>
            <a:lvl1pPr>
              <a:defRPr sz="2800"/>
            </a:lvl1pPr>
            <a:lvl2pPr>
              <a:defRPr sz="2800">
                <a:solidFill>
                  <a:srgbClr val="FF0000"/>
                </a:solidFill>
              </a:defRPr>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138711408"/>
      </p:ext>
    </p:extLst>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97600" y="914400"/>
            <a:ext cx="5994400" cy="5211764"/>
          </a:xfrm>
          <a:solidFill>
            <a:schemeClr val="bg1"/>
          </a:solidFill>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801840984"/>
      </p:ext>
    </p:extLst>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88173" y="0"/>
            <a:ext cx="5994400" cy="6096000"/>
          </a:xfrm>
          <a:solidFill>
            <a:schemeClr val="bg1"/>
          </a:solidFill>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34309164"/>
      </p:ext>
    </p:extLst>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2"/>
            <a:ext cx="10972800" cy="4286862"/>
          </a:xfrm>
        </p:spPr>
        <p:txBody>
          <a:bodyPr/>
          <a:lstStyle>
            <a:lvl1pPr>
              <a:defRPr sz="2800"/>
            </a:lvl1pPr>
            <a:lvl2pPr>
              <a:defRPr sz="2800"/>
            </a:lvl2pPr>
            <a:lvl3pPr>
              <a:defRPr sz="2400"/>
            </a:lvl3pPr>
            <a:lvl4pPr>
              <a:defRPr sz="2000"/>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Date Placeholder 4"/>
          <p:cNvSpPr>
            <a:spLocks noGrp="1" noChangeArrowheads="1"/>
          </p:cNvSpPr>
          <p:nvPr>
            <p:ph type="dt" sz="half" idx="14"/>
          </p:nvPr>
        </p:nvSpPr>
        <p:spPr>
          <a:xfrm>
            <a:off x="609600" y="6245225"/>
            <a:ext cx="2844800" cy="476250"/>
          </a:xfrm>
          <a:prstGeom prst="rect">
            <a:avLst/>
          </a:prstGeom>
          <a:ln/>
        </p:spPr>
        <p:txBody>
          <a:bodyPr/>
          <a:lstStyle>
            <a:lvl1pPr>
              <a:defRPr/>
            </a:lvl1pPr>
          </a:lstStyle>
          <a:p>
            <a:pPr>
              <a:defRPr/>
            </a:pPr>
            <a:fld id="{811DB780-8063-410B-88BC-AD4AA3925B34}" type="datetime1">
              <a:rPr lang="en-US" smtClean="0"/>
              <a:t>10/24/2023</a:t>
            </a:fld>
            <a:endParaRPr lang="en-US"/>
          </a:p>
        </p:txBody>
      </p:sp>
      <p:sp>
        <p:nvSpPr>
          <p:cNvPr id="6" name="Footer Placeholder 5"/>
          <p:cNvSpPr>
            <a:spLocks noGrp="1" noChangeArrowheads="1"/>
          </p:cNvSpPr>
          <p:nvPr>
            <p:ph type="ftr" sz="quarter" idx="15"/>
          </p:nvPr>
        </p:nvSpPr>
        <p:spPr>
          <a:xfrm>
            <a:off x="4165600" y="6245225"/>
            <a:ext cx="3860800" cy="476250"/>
          </a:xfrm>
          <a:prstGeom prst="rect">
            <a:avLst/>
          </a:prstGeom>
          <a:ln/>
        </p:spPr>
        <p:txBody>
          <a:bodyPr/>
          <a:lstStyle>
            <a:lvl1pPr>
              <a:defRPr/>
            </a:lvl1pPr>
          </a:lstStyle>
          <a:p>
            <a:pPr>
              <a:defRPr/>
            </a:pPr>
            <a:r>
              <a:rPr lang="en-US"/>
              <a:t>Trang</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2781895268"/>
      </p:ext>
    </p:extLst>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 y="2130426"/>
            <a:ext cx="11811000" cy="3508374"/>
          </a:xfrm>
        </p:spPr>
        <p:txBody>
          <a:bodyPr/>
          <a:lstStyle/>
          <a:p>
            <a:r>
              <a:rPr lang="en-US"/>
              <a:t>Click to edit Master title style</a:t>
            </a:r>
            <a:endParaRPr lang="vi-VN"/>
          </a:p>
        </p:txBody>
      </p:sp>
      <p:sp>
        <p:nvSpPr>
          <p:cNvPr id="4" name="Rectangle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fld id="{E06228A5-DE51-45EB-A51E-AC7C60465EA1}" type="datetime1">
              <a:rPr lang="en-US" smtClean="0"/>
              <a:t>10/24/2023</a:t>
            </a:fld>
            <a:endParaRPr lang="en-US"/>
          </a:p>
        </p:txBody>
      </p:sp>
      <p:sp>
        <p:nvSpPr>
          <p:cNvPr id="5"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r>
              <a:rPr lang="en-US"/>
              <a:t>Trang</a:t>
            </a:r>
          </a:p>
        </p:txBody>
      </p:sp>
    </p:spTree>
    <p:extLst>
      <p:ext uri="{BB962C8B-B14F-4D97-AF65-F5344CB8AC3E}">
        <p14:creationId xmlns:p14="http://schemas.microsoft.com/office/powerpoint/2010/main" val="2225757348"/>
      </p:ext>
    </p:extLst>
  </p:cSld>
  <p:clrMapOvr>
    <a:masterClrMapping/>
  </p:clrMapOvr>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theme" Target="../theme/theme1.xml"/><Relationship Id="rId62" Type="http://schemas.openxmlformats.org/officeDocument/2006/relationships/image" Target="../media/image1.png"/><Relationship Id="rId63" Type="http://schemas.openxmlformats.org/officeDocument/2006/relationships/image" Target="../media/image2.png"/><Relationship Id="rId6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62">
            <a:lum/>
          </a:blip>
          <a:srcRect/>
          <a:stretch>
            <a:fillRect l="-1000" r="-1000"/>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6" name="Rectangle 5"/>
          <p:cNvSpPr/>
          <p:nvPr userDrawn="1"/>
        </p:nvSpPr>
        <p:spPr>
          <a:xfrm>
            <a:off x="0" y="6172200"/>
            <a:ext cx="12192000" cy="6858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userDrawn="1"/>
        </p:nvSpPr>
        <p:spPr>
          <a:xfrm>
            <a:off x="11379200" y="6324600"/>
            <a:ext cx="812800" cy="369332"/>
          </a:xfrm>
          <a:prstGeom prst="rect">
            <a:avLst/>
          </a:prstGeom>
          <a:noFill/>
        </p:spPr>
        <p:txBody>
          <a:bodyPr wrap="square" rtlCol="0">
            <a:spAutoFit/>
          </a:bodyPr>
          <a:lstStyle/>
          <a:p>
            <a:pPr algn="ctr"/>
            <a:fld id="{4A916C17-A3B0-4CE4-88CA-9129F443D2C0}" type="slidenum">
              <a:rPr lang="en-US" smtClean="0"/>
              <a:pPr algn="ctr"/>
              <a:t>‹#›</a:t>
            </a:fld>
            <a:endParaRPr lang="en-US"/>
          </a:p>
        </p:txBody>
      </p:sp>
      <p:pic>
        <p:nvPicPr>
          <p:cNvPr id="7" name="Picture 6" descr="A picture containing text&#10;&#10;Description automatically generated">
            <a:extLst>
              <a:ext uri="{FF2B5EF4-FFF2-40B4-BE49-F238E27FC236}">
                <a16:creationId xmlns:a16="http://schemas.microsoft.com/office/drawing/2014/main" id="{B82A81E1-3619-4A2C-AB88-C7D0762594CD}"/>
              </a:ext>
            </a:extLst>
          </p:cNvPr>
          <p:cNvPicPr>
            <a:picLocks noChangeAspect="1"/>
          </p:cNvPicPr>
          <p:nvPr userDrawn="1"/>
        </p:nvPicPr>
        <p:blipFill>
          <a:blip r:embed="rId63" cstate="print">
            <a:extLst>
              <a:ext uri="{28A0092B-C50C-407E-A947-70E740481C1C}">
                <a14:useLocalDpi xmlns:a14="http://schemas.microsoft.com/office/drawing/2010/main" val="0"/>
              </a:ext>
            </a:extLst>
          </a:blip>
          <a:stretch>
            <a:fillRect/>
          </a:stretch>
        </p:blipFill>
        <p:spPr>
          <a:xfrm>
            <a:off x="9906000" y="103160"/>
            <a:ext cx="1375575" cy="567426"/>
          </a:xfrm>
          <a:prstGeom prst="rect">
            <a:avLst/>
          </a:prstGeom>
        </p:spPr>
      </p:pic>
      <p:pic>
        <p:nvPicPr>
          <p:cNvPr id="8" name="Picture 7" descr="Logo&#10;&#10;Description automatically generated">
            <a:extLst>
              <a:ext uri="{FF2B5EF4-FFF2-40B4-BE49-F238E27FC236}">
                <a16:creationId xmlns:a16="http://schemas.microsoft.com/office/drawing/2014/main" id="{0B594A5E-2439-4755-BAA8-30F12FADD3C7}"/>
              </a:ext>
            </a:extLst>
          </p:cNvPr>
          <p:cNvPicPr>
            <a:picLocks noChangeAspect="1"/>
          </p:cNvPicPr>
          <p:nvPr userDrawn="1"/>
        </p:nvPicPr>
        <p:blipFill>
          <a:blip r:embed="rId64" cstate="print">
            <a:extLst>
              <a:ext uri="{28A0092B-C50C-407E-A947-70E740481C1C}">
                <a14:useLocalDpi xmlns:a14="http://schemas.microsoft.com/office/drawing/2010/main" val="0"/>
              </a:ext>
            </a:extLst>
          </a:blip>
          <a:stretch>
            <a:fillRect/>
          </a:stretch>
        </p:blipFill>
        <p:spPr>
          <a:xfrm>
            <a:off x="11284908" y="70999"/>
            <a:ext cx="843402" cy="843402"/>
          </a:xfrm>
          <a:prstGeom prst="rect">
            <a:avLst/>
          </a:prstGeom>
        </p:spPr>
      </p:pic>
    </p:spTree>
  </p:cSld>
  <p:clrMap bg1="lt1" tx1="dk1" bg2="lt2" tx2="dk2" accent1="accent1" accent2="accent2" accent3="accent3" accent4="accent4" accent5="accent5" accent6="accent6" hlink="hlink" folHlink="folHlink"/>
  <p:sldLayoutIdLst>
    <p:sldLayoutId id="2147483714" r:id="rId1"/>
    <p:sldLayoutId id="2147483715" r:id="rId2"/>
    <p:sldLayoutId id="2147483649" r:id="rId3"/>
    <p:sldLayoutId id="2147483720" r:id="rId4"/>
    <p:sldLayoutId id="2147483652" r:id="rId5"/>
    <p:sldLayoutId id="2147483750" r:id="rId6"/>
    <p:sldLayoutId id="2147483718" r:id="rId7"/>
    <p:sldLayoutId id="2147483650" r:id="rId8"/>
    <p:sldLayoutId id="2147483721" r:id="rId9"/>
    <p:sldLayoutId id="2147483723" r:id="rId10"/>
    <p:sldLayoutId id="2147483716" r:id="rId11"/>
    <p:sldLayoutId id="2147483722" r:id="rId12"/>
    <p:sldLayoutId id="2147483748" r:id="rId13"/>
    <p:sldLayoutId id="2147483749" r:id="rId14"/>
    <p:sldLayoutId id="2147483717" r:id="rId15"/>
    <p:sldLayoutId id="2147483719" r:id="rId16"/>
    <p:sldLayoutId id="2147483725" r:id="rId17"/>
    <p:sldLayoutId id="2147483726" r:id="rId18"/>
    <p:sldLayoutId id="2147483727" r:id="rId19"/>
    <p:sldLayoutId id="2147483724" r:id="rId20"/>
    <p:sldLayoutId id="2147483651" r:id="rId21"/>
    <p:sldLayoutId id="2147483712" r:id="rId22"/>
    <p:sldLayoutId id="2147483713" r:id="rId23"/>
    <p:sldLayoutId id="2147483728" r:id="rId24"/>
    <p:sldLayoutId id="2147483707" r:id="rId25"/>
    <p:sldLayoutId id="2147483709" r:id="rId26"/>
    <p:sldLayoutId id="2147483730" r:id="rId27"/>
    <p:sldLayoutId id="2147483700" r:id="rId28"/>
    <p:sldLayoutId id="2147483731" r:id="rId29"/>
    <p:sldLayoutId id="2147483732" r:id="rId30"/>
    <p:sldLayoutId id="2147483689" r:id="rId31"/>
    <p:sldLayoutId id="2147483733" r:id="rId32"/>
    <p:sldLayoutId id="2147483734" r:id="rId33"/>
    <p:sldLayoutId id="2147483679" r:id="rId34"/>
    <p:sldLayoutId id="2147483735" r:id="rId35"/>
    <p:sldLayoutId id="2147483736" r:id="rId36"/>
    <p:sldLayoutId id="2147483684" r:id="rId37"/>
    <p:sldLayoutId id="2147483737" r:id="rId38"/>
    <p:sldLayoutId id="2147483738" r:id="rId39"/>
    <p:sldLayoutId id="2147483741" r:id="rId40"/>
    <p:sldLayoutId id="2147483742" r:id="rId41"/>
    <p:sldLayoutId id="2147483743" r:id="rId42"/>
    <p:sldLayoutId id="2147483744" r:id="rId43"/>
    <p:sldLayoutId id="2147483745" r:id="rId44"/>
    <p:sldLayoutId id="2147483747" r:id="rId45"/>
    <p:sldLayoutId id="2147483729" r:id="rId46"/>
    <p:sldLayoutId id="2147483686" r:id="rId47"/>
    <p:sldLayoutId id="2147483711" r:id="rId48"/>
    <p:sldLayoutId id="2147483739" r:id="rId49"/>
    <p:sldLayoutId id="2147483688" r:id="rId50"/>
    <p:sldLayoutId id="2147483740" r:id="rId51"/>
    <p:sldLayoutId id="2147483694" r:id="rId52"/>
    <p:sldLayoutId id="2147483687" r:id="rId53"/>
    <p:sldLayoutId id="2147483746" r:id="rId54"/>
    <p:sldLayoutId id="2147483701" r:id="rId55"/>
    <p:sldLayoutId id="2147483702" r:id="rId56"/>
    <p:sldLayoutId id="2147483703" r:id="rId57"/>
    <p:sldLayoutId id="2147483704" r:id="rId58"/>
    <p:sldLayoutId id="2147483751" r:id="rId59"/>
    <p:sldLayoutId id="2147483752" r:id="rId60"/>
  </p:sldLayoutIdLst>
  <p:transition/>
  <p:hf sldNum="0" hdr="0" ftr="0" dt="0"/>
  <p:txStyles>
    <p:titleStyle>
      <a:lvl1pPr algn="ctr" rtl="0" eaLnBrk="0" fontAlgn="base" hangingPunct="0">
        <a:spcBef>
          <a:spcPct val="0"/>
        </a:spcBef>
        <a:spcAft>
          <a:spcPct val="0"/>
        </a:spcAft>
        <a:defRPr sz="4400" b="1">
          <a:solidFill>
            <a:srgbClr val="FF0000"/>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0066FF"/>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a:solidFill>
            <a:srgbClr val="0066FF"/>
          </a:solidFill>
          <a:latin typeface="+mn-lt"/>
        </a:defRPr>
      </a:lvl2pPr>
      <a:lvl3pPr marL="1143000" indent="-228600" algn="l" rtl="0" eaLnBrk="0" fontAlgn="base" hangingPunct="0">
        <a:spcBef>
          <a:spcPct val="20000"/>
        </a:spcBef>
        <a:spcAft>
          <a:spcPct val="0"/>
        </a:spcAft>
        <a:buChar char="•"/>
        <a:defRPr sz="2800">
          <a:solidFill>
            <a:srgbClr val="0066FF"/>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4.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hyperlink" Target="https://www.superdatascience.com/pages/machine-learning"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2.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3.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30.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E3612-16D3-622A-7FFF-F636EC5E525C}"/>
              </a:ext>
            </a:extLst>
          </p:cNvPr>
          <p:cNvSpPr>
            <a:spLocks noGrp="1"/>
          </p:cNvSpPr>
          <p:nvPr>
            <p:ph type="ctrTitle"/>
          </p:nvPr>
        </p:nvSpPr>
        <p:spPr/>
        <p:txBody>
          <a:bodyPr/>
          <a:lstStyle/>
          <a:p>
            <a:r>
              <a:rPr lang="en-US" dirty="0"/>
              <a:t>SUPPORT VECTOR MACHINE</a:t>
            </a:r>
          </a:p>
        </p:txBody>
      </p:sp>
      <p:sp>
        <p:nvSpPr>
          <p:cNvPr id="7" name="Content Placeholder 6">
            <a:extLst>
              <a:ext uri="{FF2B5EF4-FFF2-40B4-BE49-F238E27FC236}">
                <a16:creationId xmlns:a16="http://schemas.microsoft.com/office/drawing/2014/main" id="{99D9C513-AD71-9FA8-DCD3-EF6738328A0A}"/>
              </a:ext>
            </a:extLst>
          </p:cNvPr>
          <p:cNvSpPr>
            <a:spLocks noGrp="1"/>
          </p:cNvSpPr>
          <p:nvPr>
            <p:ph idx="12"/>
          </p:nvPr>
        </p:nvSpPr>
        <p:spPr/>
        <p:txBody>
          <a:bodyPr/>
          <a:lstStyle/>
          <a:p>
            <a:pPr defTabSz="-13871574">
              <a:spcBef>
                <a:spcPts val="0"/>
              </a:spcBef>
              <a:spcAft>
                <a:spcPts val="0"/>
              </a:spcAft>
              <a:defRPr/>
            </a:pPr>
            <a:r>
              <a:rPr lang="en-US" dirty="0"/>
              <a:t>KS. Quan Chí Khánh An</a:t>
            </a:r>
          </a:p>
          <a:p>
            <a:pPr defTabSz="-13871574">
              <a:spcBef>
                <a:spcPts val="0"/>
              </a:spcBef>
              <a:spcAft>
                <a:spcPts val="0"/>
              </a:spcAft>
              <a:defRPr/>
            </a:pPr>
            <a:r>
              <a:rPr lang="en-US" dirty="0">
                <a:solidFill>
                  <a:srgbClr val="FF0000"/>
                </a:solidFill>
              </a:rPr>
              <a:t>KS. Lê </a:t>
            </a:r>
            <a:r>
              <a:rPr lang="en-US" dirty="0" err="1">
                <a:solidFill>
                  <a:srgbClr val="FF0000"/>
                </a:solidFill>
              </a:rPr>
              <a:t>Ngọc</a:t>
            </a:r>
            <a:r>
              <a:rPr lang="en-US" dirty="0">
                <a:solidFill>
                  <a:srgbClr val="FF0000"/>
                </a:solidFill>
              </a:rPr>
              <a:t> Huy</a:t>
            </a:r>
          </a:p>
          <a:p>
            <a:pPr defTabSz="-13871574">
              <a:spcBef>
                <a:spcPts val="0"/>
              </a:spcBef>
              <a:spcAft>
                <a:spcPts val="0"/>
              </a:spcAft>
              <a:defRPr/>
            </a:pPr>
            <a:r>
              <a:rPr lang="en-US" dirty="0"/>
              <a:t>CN. Bùi Cao </a:t>
            </a:r>
            <a:r>
              <a:rPr lang="en-US" dirty="0" err="1"/>
              <a:t>Doanh</a:t>
            </a:r>
            <a:endParaRPr lang="en-US" dirty="0"/>
          </a:p>
          <a:p>
            <a:pPr defTabSz="-13871574">
              <a:spcBef>
                <a:spcPts val="0"/>
              </a:spcBef>
              <a:spcAft>
                <a:spcPts val="0"/>
              </a:spcAft>
              <a:defRPr/>
            </a:pPr>
            <a:r>
              <a:rPr lang="en-US" dirty="0">
                <a:solidFill>
                  <a:srgbClr val="FF0000"/>
                </a:solidFill>
              </a:rPr>
              <a:t>CN. </a:t>
            </a:r>
            <a:r>
              <a:rPr lang="en-US" dirty="0" err="1">
                <a:solidFill>
                  <a:srgbClr val="FF0000"/>
                </a:solidFill>
              </a:rPr>
              <a:t>Nguyễn</a:t>
            </a:r>
            <a:r>
              <a:rPr lang="en-US" dirty="0">
                <a:solidFill>
                  <a:srgbClr val="FF0000"/>
                </a:solidFill>
              </a:rPr>
              <a:t> </a:t>
            </a:r>
            <a:r>
              <a:rPr lang="en-US" dirty="0" err="1">
                <a:solidFill>
                  <a:srgbClr val="FF0000"/>
                </a:solidFill>
              </a:rPr>
              <a:t>Trọng</a:t>
            </a:r>
            <a:r>
              <a:rPr lang="en-US" dirty="0">
                <a:solidFill>
                  <a:srgbClr val="FF0000"/>
                </a:solidFill>
              </a:rPr>
              <a:t> </a:t>
            </a:r>
            <a:r>
              <a:rPr lang="en-US" dirty="0" err="1">
                <a:solidFill>
                  <a:srgbClr val="FF0000"/>
                </a:solidFill>
              </a:rPr>
              <a:t>Thuận</a:t>
            </a:r>
            <a:endParaRPr lang="en-US" dirty="0">
              <a:solidFill>
                <a:srgbClr val="FF0000"/>
              </a:solidFill>
            </a:endParaRPr>
          </a:p>
          <a:p>
            <a:pPr defTabSz="-13871574">
              <a:spcBef>
                <a:spcPts val="0"/>
              </a:spcBef>
              <a:spcAft>
                <a:spcPts val="0"/>
              </a:spcAft>
              <a:defRPr/>
            </a:pPr>
            <a:r>
              <a:rPr lang="en-US" dirty="0"/>
              <a:t>KS. Phan </a:t>
            </a:r>
            <a:r>
              <a:rPr lang="en-US" dirty="0" err="1"/>
              <a:t>Vĩnh</a:t>
            </a:r>
            <a:r>
              <a:rPr lang="en-US" dirty="0"/>
              <a:t> Long</a:t>
            </a:r>
          </a:p>
          <a:p>
            <a:pPr defTabSz="-13871574">
              <a:spcBef>
                <a:spcPts val="0"/>
              </a:spcBef>
              <a:spcAft>
                <a:spcPts val="0"/>
              </a:spcAft>
              <a:defRPr/>
            </a:pPr>
            <a:r>
              <a:rPr lang="en-US" dirty="0">
                <a:solidFill>
                  <a:srgbClr val="FF0000"/>
                </a:solidFill>
              </a:rPr>
              <a:t>KS. </a:t>
            </a:r>
            <a:r>
              <a:rPr lang="en-US" dirty="0" err="1">
                <a:solidFill>
                  <a:srgbClr val="FF0000"/>
                </a:solidFill>
              </a:rPr>
              <a:t>Nguyễn</a:t>
            </a:r>
            <a:r>
              <a:rPr lang="en-US" dirty="0">
                <a:solidFill>
                  <a:srgbClr val="FF0000"/>
                </a:solidFill>
              </a:rPr>
              <a:t> </a:t>
            </a:r>
            <a:r>
              <a:rPr lang="en-US" dirty="0" err="1">
                <a:solidFill>
                  <a:srgbClr val="FF0000"/>
                </a:solidFill>
              </a:rPr>
              <a:t>Cường</a:t>
            </a:r>
            <a:r>
              <a:rPr lang="en-US" dirty="0">
                <a:solidFill>
                  <a:srgbClr val="FF0000"/>
                </a:solidFill>
              </a:rPr>
              <a:t> </a:t>
            </a:r>
            <a:r>
              <a:rPr lang="en-US" dirty="0" err="1">
                <a:solidFill>
                  <a:srgbClr val="FF0000"/>
                </a:solidFill>
              </a:rPr>
              <a:t>Phát</a:t>
            </a:r>
            <a:endParaRPr lang="en-US" dirty="0">
              <a:solidFill>
                <a:srgbClr val="FF0000"/>
              </a:solidFill>
            </a:endParaRPr>
          </a:p>
          <a:p>
            <a:pPr defTabSz="-13871574">
              <a:spcBef>
                <a:spcPts val="0"/>
              </a:spcBef>
              <a:spcAft>
                <a:spcPts val="0"/>
              </a:spcAft>
              <a:defRPr/>
            </a:pPr>
            <a:r>
              <a:rPr lang="en-US" dirty="0" err="1"/>
              <a:t>ThS</a:t>
            </a:r>
            <a:r>
              <a:rPr lang="en-US" dirty="0"/>
              <a:t>. </a:t>
            </a:r>
            <a:r>
              <a:rPr lang="en-US" dirty="0" err="1"/>
              <a:t>Nguyễn</a:t>
            </a:r>
            <a:r>
              <a:rPr lang="en-US" dirty="0"/>
              <a:t> Hoàng </a:t>
            </a:r>
            <a:r>
              <a:rPr lang="en-US" dirty="0" err="1"/>
              <a:t>Ngân</a:t>
            </a:r>
            <a:endParaRPr lang="en-US" dirty="0"/>
          </a:p>
          <a:p>
            <a:pPr defTabSz="-13871574">
              <a:spcBef>
                <a:spcPts val="0"/>
              </a:spcBef>
              <a:spcAft>
                <a:spcPts val="0"/>
              </a:spcAft>
              <a:defRPr/>
            </a:pPr>
            <a:r>
              <a:rPr lang="en-US" dirty="0">
                <a:solidFill>
                  <a:srgbClr val="FF0000"/>
                </a:solidFill>
              </a:rPr>
              <a:t>KS. </a:t>
            </a:r>
            <a:r>
              <a:rPr lang="en-US" dirty="0" err="1">
                <a:solidFill>
                  <a:srgbClr val="FF0000"/>
                </a:solidFill>
              </a:rPr>
              <a:t>Hồ</a:t>
            </a:r>
            <a:r>
              <a:rPr lang="en-US" dirty="0">
                <a:solidFill>
                  <a:srgbClr val="FF0000"/>
                </a:solidFill>
              </a:rPr>
              <a:t> Thái </a:t>
            </a:r>
            <a:r>
              <a:rPr lang="en-US" dirty="0" err="1">
                <a:solidFill>
                  <a:srgbClr val="FF0000"/>
                </a:solidFill>
              </a:rPr>
              <a:t>Ngọc</a:t>
            </a:r>
            <a:endParaRPr lang="en-US" dirty="0">
              <a:solidFill>
                <a:srgbClr val="FF0000"/>
              </a:solidFill>
            </a:endParaRPr>
          </a:p>
          <a:p>
            <a:pPr defTabSz="-13871574">
              <a:spcBef>
                <a:spcPts val="0"/>
              </a:spcBef>
              <a:spcAft>
                <a:spcPts val="0"/>
              </a:spcAft>
              <a:defRPr/>
            </a:pPr>
            <a:r>
              <a:rPr lang="en-US" dirty="0" err="1"/>
              <a:t>ThS</a:t>
            </a:r>
            <a:r>
              <a:rPr lang="en-US" dirty="0"/>
              <a:t>. </a:t>
            </a:r>
            <a:r>
              <a:rPr lang="en-US" dirty="0" err="1"/>
              <a:t>Đỗ</a:t>
            </a:r>
            <a:r>
              <a:rPr lang="en-US" dirty="0"/>
              <a:t> Văn </a:t>
            </a:r>
            <a:r>
              <a:rPr lang="en-US" dirty="0" err="1"/>
              <a:t>Tiến</a:t>
            </a:r>
            <a:endParaRPr lang="en-US" dirty="0"/>
          </a:p>
        </p:txBody>
      </p:sp>
      <p:sp>
        <p:nvSpPr>
          <p:cNvPr id="4" name="Content Placeholder 3">
            <a:extLst>
              <a:ext uri="{FF2B5EF4-FFF2-40B4-BE49-F238E27FC236}">
                <a16:creationId xmlns:a16="http://schemas.microsoft.com/office/drawing/2014/main" id="{8C46475D-F6A4-3080-6B47-C6E6C22C81FB}"/>
              </a:ext>
            </a:extLst>
          </p:cNvPr>
          <p:cNvSpPr>
            <a:spLocks noGrp="1"/>
          </p:cNvSpPr>
          <p:nvPr>
            <p:ph idx="13"/>
          </p:nvPr>
        </p:nvSpPr>
        <p:spPr/>
        <p:txBody>
          <a:bodyPr/>
          <a:lstStyle/>
          <a:p>
            <a:r>
              <a:rPr lang="en-US" dirty="0" err="1"/>
              <a:t>Nguyễn</a:t>
            </a:r>
            <a:r>
              <a:rPr lang="en-US" dirty="0"/>
              <a:t> Hoàng </a:t>
            </a:r>
            <a:r>
              <a:rPr lang="en-US" dirty="0" err="1"/>
              <a:t>Yến</a:t>
            </a:r>
            <a:r>
              <a:rPr lang="en-US" dirty="0"/>
              <a:t> </a:t>
            </a:r>
            <a:r>
              <a:rPr lang="en-US" dirty="0" err="1"/>
              <a:t>Như</a:t>
            </a:r>
            <a:endParaRPr lang="en-US" dirty="0"/>
          </a:p>
          <a:p>
            <a:r>
              <a:rPr lang="en-US" dirty="0" err="1">
                <a:solidFill>
                  <a:srgbClr val="FF0000"/>
                </a:solidFill>
              </a:rPr>
              <a:t>Nguyễn</a:t>
            </a:r>
            <a:r>
              <a:rPr lang="en-US" dirty="0">
                <a:solidFill>
                  <a:srgbClr val="FF0000"/>
                </a:solidFill>
              </a:rPr>
              <a:t> </a:t>
            </a:r>
            <a:r>
              <a:rPr lang="en-US" dirty="0" err="1">
                <a:solidFill>
                  <a:srgbClr val="FF0000"/>
                </a:solidFill>
              </a:rPr>
              <a:t>Trần</a:t>
            </a:r>
            <a:r>
              <a:rPr lang="en-US" dirty="0">
                <a:solidFill>
                  <a:srgbClr val="FF0000"/>
                </a:solidFill>
              </a:rPr>
              <a:t> </a:t>
            </a:r>
            <a:r>
              <a:rPr lang="en-US" dirty="0" err="1">
                <a:solidFill>
                  <a:srgbClr val="FF0000"/>
                </a:solidFill>
              </a:rPr>
              <a:t>Phúc</a:t>
            </a:r>
            <a:r>
              <a:rPr lang="en-US" dirty="0">
                <a:solidFill>
                  <a:srgbClr val="FF0000"/>
                </a:solidFill>
              </a:rPr>
              <a:t> Nghi</a:t>
            </a:r>
          </a:p>
          <a:p>
            <a:r>
              <a:rPr lang="en-US" dirty="0" err="1"/>
              <a:t>Nguyễn</a:t>
            </a:r>
            <a:r>
              <a:rPr lang="en-US" dirty="0"/>
              <a:t> </a:t>
            </a:r>
            <a:r>
              <a:rPr lang="en-US" dirty="0" err="1"/>
              <a:t>Trần</a:t>
            </a:r>
            <a:r>
              <a:rPr lang="en-US" dirty="0"/>
              <a:t> </a:t>
            </a:r>
            <a:r>
              <a:rPr lang="en-US" dirty="0" err="1"/>
              <a:t>Phúc</a:t>
            </a:r>
            <a:r>
              <a:rPr lang="en-US" dirty="0"/>
              <a:t> An</a:t>
            </a:r>
          </a:p>
          <a:p>
            <a:r>
              <a:rPr lang="en-US" dirty="0" err="1">
                <a:solidFill>
                  <a:srgbClr val="FF0000"/>
                </a:solidFill>
              </a:rPr>
              <a:t>Nguyễn</a:t>
            </a:r>
            <a:r>
              <a:rPr lang="en-US" dirty="0">
                <a:solidFill>
                  <a:srgbClr val="FF0000"/>
                </a:solidFill>
              </a:rPr>
              <a:t> </a:t>
            </a:r>
            <a:r>
              <a:rPr lang="en-US" dirty="0" err="1">
                <a:solidFill>
                  <a:srgbClr val="FF0000"/>
                </a:solidFill>
              </a:rPr>
              <a:t>Đức</a:t>
            </a:r>
            <a:r>
              <a:rPr lang="en-US" dirty="0">
                <a:solidFill>
                  <a:srgbClr val="FF0000"/>
                </a:solidFill>
              </a:rPr>
              <a:t> Anh </a:t>
            </a:r>
            <a:r>
              <a:rPr lang="en-US" dirty="0" err="1">
                <a:solidFill>
                  <a:srgbClr val="FF0000"/>
                </a:solidFill>
              </a:rPr>
              <a:t>Phúc</a:t>
            </a:r>
            <a:endParaRPr lang="en-US" dirty="0">
              <a:solidFill>
                <a:srgbClr val="FF0000"/>
              </a:solidFill>
            </a:endParaRPr>
          </a:p>
          <a:p>
            <a:r>
              <a:rPr lang="en-US" dirty="0" err="1"/>
              <a:t>Trịnh</a:t>
            </a:r>
            <a:r>
              <a:rPr lang="en-US" dirty="0"/>
              <a:t> </a:t>
            </a:r>
            <a:r>
              <a:rPr lang="en-US" dirty="0" err="1"/>
              <a:t>Thị</a:t>
            </a:r>
            <a:r>
              <a:rPr lang="en-US" dirty="0"/>
              <a:t> Thanh Trúc</a:t>
            </a:r>
          </a:p>
          <a:p>
            <a:r>
              <a:rPr lang="en-US" dirty="0"/>
              <a:t>KS. Cao Bá </a:t>
            </a:r>
            <a:r>
              <a:rPr lang="en-US"/>
              <a:t>Kiệt</a:t>
            </a:r>
          </a:p>
          <a:p>
            <a:endParaRPr lang="en-US" dirty="0">
              <a:solidFill>
                <a:srgbClr val="FF0000"/>
              </a:solidFill>
            </a:endParaRPr>
          </a:p>
          <a:p>
            <a:endParaRPr lang="en-US" dirty="0"/>
          </a:p>
        </p:txBody>
      </p:sp>
      <p:sp>
        <p:nvSpPr>
          <p:cNvPr id="3" name="Content Placeholder 2">
            <a:extLst>
              <a:ext uri="{FF2B5EF4-FFF2-40B4-BE49-F238E27FC236}">
                <a16:creationId xmlns:a16="http://schemas.microsoft.com/office/drawing/2014/main" id="{D3BD686E-4114-4A0E-1FEE-7584196A67B6}"/>
              </a:ext>
            </a:extLst>
          </p:cNvPr>
          <p:cNvSpPr>
            <a:spLocks noGrp="1"/>
          </p:cNvSpPr>
          <p:nvPr>
            <p:ph idx="14"/>
          </p:nvPr>
        </p:nvSpPr>
        <p:spPr/>
        <p:txBody>
          <a:bodyPr/>
          <a:lstStyle/>
          <a:p>
            <a:r>
              <a:rPr lang="en-US"/>
              <a:t>ThS. Nguyễn Hoàn Mỹ</a:t>
            </a:r>
          </a:p>
          <a:p>
            <a:r>
              <a:rPr lang="en-US">
                <a:solidFill>
                  <a:srgbClr val="FF0000"/>
                </a:solidFill>
              </a:rPr>
              <a:t>ThS. Dương Phi Long</a:t>
            </a:r>
          </a:p>
          <a:p>
            <a:r>
              <a:rPr lang="en-US"/>
              <a:t>ThS. Trương Quốc Dũng </a:t>
            </a:r>
          </a:p>
          <a:p>
            <a:r>
              <a:rPr lang="en-US">
                <a:solidFill>
                  <a:srgbClr val="FF0000"/>
                </a:solidFill>
              </a:rPr>
              <a:t>ThS. Nguyễn Thành Hiệp</a:t>
            </a:r>
          </a:p>
          <a:p>
            <a:r>
              <a:rPr lang="en-US"/>
              <a:t>ThS. Nguyễn Võ Đăng Khoa</a:t>
            </a:r>
          </a:p>
          <a:p>
            <a:r>
              <a:rPr lang="en-US">
                <a:solidFill>
                  <a:srgbClr val="FF0000"/>
                </a:solidFill>
              </a:rPr>
              <a:t>ThS. Võ Duy Nguyên</a:t>
            </a:r>
          </a:p>
          <a:p>
            <a:r>
              <a:rPr lang="en-US"/>
              <a:t>TS. Nguyễn Văn Tâm</a:t>
            </a:r>
          </a:p>
          <a:p>
            <a:r>
              <a:rPr lang="en-US">
                <a:solidFill>
                  <a:srgbClr val="FF0000"/>
                </a:solidFill>
              </a:rPr>
              <a:t>ThS. Trần Việt Thu Phương</a:t>
            </a:r>
          </a:p>
          <a:p>
            <a:r>
              <a:rPr lang="en-US"/>
              <a:t>TS. Nguyễn Tấn Trần Minh Khang</a:t>
            </a:r>
            <a:endParaRPr lang="en-US" sz="700"/>
          </a:p>
        </p:txBody>
      </p:sp>
    </p:spTree>
    <p:extLst>
      <p:ext uri="{BB962C8B-B14F-4D97-AF65-F5344CB8AC3E}">
        <p14:creationId xmlns:p14="http://schemas.microsoft.com/office/powerpoint/2010/main" val="2652348686"/>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B4A64A-993A-4044-8A59-E214EBC1147C}"/>
              </a:ext>
            </a:extLst>
          </p:cNvPr>
          <p:cNvSpPr>
            <a:spLocks noGrp="1"/>
          </p:cNvSpPr>
          <p:nvPr>
            <p:ph type="title"/>
          </p:nvPr>
        </p:nvSpPr>
        <p:spPr/>
        <p:txBody>
          <a:bodyPr/>
          <a:lstStyle/>
          <a:p>
            <a:r>
              <a:rPr lang="en-US"/>
              <a:t>Lịch sử SVM</a:t>
            </a:r>
          </a:p>
        </p:txBody>
      </p:sp>
      <p:sp>
        <p:nvSpPr>
          <p:cNvPr id="5" name="Content Placeholder 4">
            <a:extLst>
              <a:ext uri="{FF2B5EF4-FFF2-40B4-BE49-F238E27FC236}">
                <a16:creationId xmlns:a16="http://schemas.microsoft.com/office/drawing/2014/main" id="{CEAA09E2-631A-4DC2-BA62-0EECCF1B4753}"/>
              </a:ext>
            </a:extLst>
          </p:cNvPr>
          <p:cNvSpPr>
            <a:spLocks noGrp="1"/>
          </p:cNvSpPr>
          <p:nvPr>
            <p:ph sz="half" idx="1"/>
          </p:nvPr>
        </p:nvSpPr>
        <p:spPr/>
        <p:txBody>
          <a:bodyPr/>
          <a:lstStyle/>
          <a:p>
            <a:pPr algn="just"/>
            <a:r>
              <a:rPr lang="vi-VN" dirty="0"/>
              <a:t>SVM được đề xuất bởi </a:t>
            </a:r>
            <a:r>
              <a:rPr lang="vi-VN" dirty="0" err="1"/>
              <a:t>Vladimir</a:t>
            </a:r>
            <a:r>
              <a:rPr lang="vi-VN" dirty="0"/>
              <a:t> N. </a:t>
            </a:r>
            <a:r>
              <a:rPr lang="vi-VN" dirty="0" err="1"/>
              <a:t>Vapnik</a:t>
            </a:r>
            <a:r>
              <a:rPr lang="vi-VN" dirty="0"/>
              <a:t> và các đồng n</a:t>
            </a:r>
            <a:r>
              <a:rPr lang="en-US" dirty="0"/>
              <a:t>g</a:t>
            </a:r>
            <a:r>
              <a:rPr lang="vi-VN" dirty="0"/>
              <a:t>hiệp của ông vào năm 1963 tại Nga và sau đó trở nên phổ biến trong những năm 90 nhờ ứng dụng giải quyết các bài toán phi tuyến tính (</a:t>
            </a:r>
            <a:r>
              <a:rPr lang="vi-VN" dirty="0" err="1"/>
              <a:t>nonlinear</a:t>
            </a:r>
            <a:r>
              <a:rPr lang="vi-VN" dirty="0"/>
              <a:t>) bằng phương pháp </a:t>
            </a:r>
            <a:r>
              <a:rPr lang="vi-VN" dirty="0" err="1"/>
              <a:t>Kernel</a:t>
            </a:r>
            <a:r>
              <a:rPr lang="vi-VN" dirty="0"/>
              <a:t> </a:t>
            </a:r>
            <a:r>
              <a:rPr lang="vi-VN" dirty="0" err="1"/>
              <a:t>Trick</a:t>
            </a:r>
            <a:r>
              <a:rPr lang="vi-VN" dirty="0"/>
              <a:t>.</a:t>
            </a:r>
            <a:endParaRPr lang="en-US" dirty="0">
              <a:solidFill>
                <a:srgbClr val="FF0000"/>
              </a:solidFill>
            </a:endParaRPr>
          </a:p>
        </p:txBody>
      </p:sp>
      <p:pic>
        <p:nvPicPr>
          <p:cNvPr id="8" name="Picture 2" descr="Image result for vladimir n. vapnik">
            <a:extLst>
              <a:ext uri="{FF2B5EF4-FFF2-40B4-BE49-F238E27FC236}">
                <a16:creationId xmlns:a16="http://schemas.microsoft.com/office/drawing/2014/main" id="{7E6EEBC2-75F3-4872-9121-7F95963E854F}"/>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7391400" y="1600201"/>
            <a:ext cx="3251200" cy="43405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5224328"/>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6791EB4-48F2-4055-B825-372CAF438F50}"/>
              </a:ext>
            </a:extLst>
          </p:cNvPr>
          <p:cNvSpPr>
            <a:spLocks noGrp="1"/>
          </p:cNvSpPr>
          <p:nvPr>
            <p:ph type="title"/>
          </p:nvPr>
        </p:nvSpPr>
        <p:spPr/>
        <p:txBody>
          <a:bodyPr/>
          <a:lstStyle/>
          <a:p>
            <a:r>
              <a:rPr lang="en-US"/>
              <a:t>Lịch sử SVM</a:t>
            </a:r>
          </a:p>
        </p:txBody>
      </p:sp>
      <p:sp>
        <p:nvSpPr>
          <p:cNvPr id="7" name="Content Placeholder 6">
            <a:extLst>
              <a:ext uri="{FF2B5EF4-FFF2-40B4-BE49-F238E27FC236}">
                <a16:creationId xmlns:a16="http://schemas.microsoft.com/office/drawing/2014/main" id="{4883EAE8-96F8-49A6-B363-6B2EE56C683C}"/>
              </a:ext>
            </a:extLst>
          </p:cNvPr>
          <p:cNvSpPr>
            <a:spLocks noGrp="1"/>
          </p:cNvSpPr>
          <p:nvPr>
            <p:ph idx="1"/>
          </p:nvPr>
        </p:nvSpPr>
        <p:spPr>
          <a:xfrm>
            <a:off x="609600" y="1600202"/>
            <a:ext cx="10972800" cy="2438398"/>
          </a:xfrm>
        </p:spPr>
        <p:txBody>
          <a:bodyPr/>
          <a:lstStyle/>
          <a:p>
            <a:r>
              <a:rPr lang="en-US"/>
              <a:t>SVM is related to statistical learning theory [3].</a:t>
            </a:r>
          </a:p>
          <a:p>
            <a:r>
              <a:rPr lang="en-US">
                <a:solidFill>
                  <a:srgbClr val="FF0000"/>
                </a:solidFill>
              </a:rPr>
              <a:t>SVM was first introduced in 1992 [1].</a:t>
            </a:r>
          </a:p>
          <a:p>
            <a:r>
              <a:rPr lang="en-US" altLang="zh-CN">
                <a:ea typeface="宋体" panose="02010600030101010101" pitchFamily="2" charset="-122"/>
              </a:rPr>
              <a:t>SVM becomes popular because of its success in handwritten digit recognition [3].</a:t>
            </a:r>
            <a:endParaRPr lang="en-US"/>
          </a:p>
        </p:txBody>
      </p:sp>
      <p:sp>
        <p:nvSpPr>
          <p:cNvPr id="8" name="Content Placeholder 7">
            <a:extLst>
              <a:ext uri="{FF2B5EF4-FFF2-40B4-BE49-F238E27FC236}">
                <a16:creationId xmlns:a16="http://schemas.microsoft.com/office/drawing/2014/main" id="{0404FA6E-D530-457C-AB18-E4B0C02F0E0F}"/>
              </a:ext>
            </a:extLst>
          </p:cNvPr>
          <p:cNvSpPr>
            <a:spLocks noGrp="1"/>
          </p:cNvSpPr>
          <p:nvPr>
            <p:ph idx="16"/>
          </p:nvPr>
        </p:nvSpPr>
        <p:spPr>
          <a:xfrm>
            <a:off x="609600" y="4114800"/>
            <a:ext cx="10972800" cy="2030360"/>
          </a:xfrm>
        </p:spPr>
        <p:txBody>
          <a:bodyPr/>
          <a:lstStyle/>
          <a:p>
            <a:pPr algn="just"/>
            <a:r>
              <a:rPr lang="en-US" dirty="0">
                <a:solidFill>
                  <a:schemeClr val="tx1"/>
                </a:solidFill>
              </a:rPr>
              <a:t>[1] B.E. </a:t>
            </a:r>
            <a:r>
              <a:rPr lang="en-US" dirty="0" err="1">
                <a:solidFill>
                  <a:schemeClr val="tx1"/>
                </a:solidFill>
              </a:rPr>
              <a:t>Boser</a:t>
            </a:r>
            <a:r>
              <a:rPr lang="en-US" dirty="0">
                <a:solidFill>
                  <a:schemeClr val="tx1"/>
                </a:solidFill>
              </a:rPr>
              <a:t> et al. A Training Algorithm for Optimal Margin Classifiers. Proceedings of the Fifth Annual Workshop on Computational Learning Theory 5 144-152, Pittsburgh, 1992. </a:t>
            </a:r>
          </a:p>
          <a:p>
            <a:pPr algn="just"/>
            <a:r>
              <a:rPr lang="en-US" dirty="0">
                <a:solidFill>
                  <a:schemeClr val="tx1"/>
                </a:solidFill>
              </a:rPr>
              <a:t>[2] L. </a:t>
            </a:r>
            <a:r>
              <a:rPr lang="en-US" dirty="0" err="1">
                <a:solidFill>
                  <a:schemeClr val="tx1"/>
                </a:solidFill>
              </a:rPr>
              <a:t>Bottou</a:t>
            </a:r>
            <a:r>
              <a:rPr lang="en-US" dirty="0">
                <a:solidFill>
                  <a:schemeClr val="tx1"/>
                </a:solidFill>
              </a:rPr>
              <a:t> et al.  Comparison of classifier methods: a case study in handwritten digit recognition. Proceedings of the 12th IAPR International Conference on Pattern Recognition, vol. 2, pp. 77-82.</a:t>
            </a:r>
          </a:p>
          <a:p>
            <a:pPr algn="just"/>
            <a:r>
              <a:rPr lang="en-US" dirty="0">
                <a:solidFill>
                  <a:schemeClr val="tx1"/>
                </a:solidFill>
              </a:rPr>
              <a:t>[3] V. </a:t>
            </a:r>
            <a:r>
              <a:rPr lang="en-US" dirty="0" err="1">
                <a:solidFill>
                  <a:schemeClr val="tx1"/>
                </a:solidFill>
              </a:rPr>
              <a:t>Vapnik</a:t>
            </a:r>
            <a:r>
              <a:rPr lang="en-US" dirty="0">
                <a:solidFill>
                  <a:schemeClr val="tx1"/>
                </a:solidFill>
              </a:rPr>
              <a:t>. The Nature of Statistical Learning Theory. 2nd edition, Springer, 1999.</a:t>
            </a:r>
          </a:p>
        </p:txBody>
      </p:sp>
    </p:spTree>
    <p:extLst>
      <p:ext uri="{BB962C8B-B14F-4D97-AF65-F5344CB8AC3E}">
        <p14:creationId xmlns:p14="http://schemas.microsoft.com/office/powerpoint/2010/main" val="3218257817"/>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3875088-0841-4DEB-BDC4-6E418F8991D9}"/>
              </a:ext>
            </a:extLst>
          </p:cNvPr>
          <p:cNvSpPr>
            <a:spLocks noGrp="1"/>
          </p:cNvSpPr>
          <p:nvPr>
            <p:ph type="title"/>
          </p:nvPr>
        </p:nvSpPr>
        <p:spPr/>
        <p:txBody>
          <a:bodyPr/>
          <a:lstStyle/>
          <a:p>
            <a:r>
              <a:rPr lang="en-US"/>
              <a:t>Lịch sử SVM</a:t>
            </a:r>
          </a:p>
        </p:txBody>
      </p:sp>
      <p:sp>
        <p:nvSpPr>
          <p:cNvPr id="3" name="Content Placeholder 2">
            <a:extLst>
              <a:ext uri="{FF2B5EF4-FFF2-40B4-BE49-F238E27FC236}">
                <a16:creationId xmlns:a16="http://schemas.microsoft.com/office/drawing/2014/main" id="{EE8C5A27-0137-4650-A02C-93CF5ED16299}"/>
              </a:ext>
            </a:extLst>
          </p:cNvPr>
          <p:cNvSpPr>
            <a:spLocks noGrp="1"/>
          </p:cNvSpPr>
          <p:nvPr>
            <p:ph idx="1"/>
          </p:nvPr>
        </p:nvSpPr>
        <p:spPr/>
        <p:txBody>
          <a:bodyPr/>
          <a:lstStyle/>
          <a:p>
            <a:pPr algn="just"/>
            <a:r>
              <a:rPr lang="en-US"/>
              <a:t>Empirically good performance: successful applications in many fields (bioinformatics, text, image recognition, . . . ).</a:t>
            </a:r>
          </a:p>
          <a:p>
            <a:pPr algn="just"/>
            <a:r>
              <a:rPr lang="en-US">
                <a:solidFill>
                  <a:srgbClr val="FF0000"/>
                </a:solidFill>
              </a:rPr>
              <a:t>A large and diverse community work on them: from machine learning, optimization, statistics, neural networks, functional analysis, etc.</a:t>
            </a:r>
          </a:p>
        </p:txBody>
      </p:sp>
    </p:spTree>
    <p:extLst>
      <p:ext uri="{BB962C8B-B14F-4D97-AF65-F5344CB8AC3E}">
        <p14:creationId xmlns:p14="http://schemas.microsoft.com/office/powerpoint/2010/main" val="2658022439"/>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2275DCE-45DA-4F91-86BA-B55F538E14C0}"/>
              </a:ext>
            </a:extLst>
          </p:cNvPr>
          <p:cNvSpPr>
            <a:spLocks noGrp="1"/>
          </p:cNvSpPr>
          <p:nvPr>
            <p:ph type="title"/>
          </p:nvPr>
        </p:nvSpPr>
        <p:spPr/>
        <p:txBody>
          <a:bodyPr/>
          <a:lstStyle/>
          <a:p>
            <a:r>
              <a:rPr lang="en-US" altLang="zh-CN"/>
              <a:t>GENERAL IDEA</a:t>
            </a:r>
            <a:endParaRPr lang="en-US"/>
          </a:p>
        </p:txBody>
      </p:sp>
      <p:sp>
        <p:nvSpPr>
          <p:cNvPr id="6" name="Text Placeholder 5">
            <a:extLst>
              <a:ext uri="{FF2B5EF4-FFF2-40B4-BE49-F238E27FC236}">
                <a16:creationId xmlns:a16="http://schemas.microsoft.com/office/drawing/2014/main" id="{3C0FFF4B-22FB-4941-9ED4-53EC9DAFE536}"/>
              </a:ext>
            </a:extLst>
          </p:cNvPr>
          <p:cNvSpPr>
            <a:spLocks noGrp="1"/>
          </p:cNvSpPr>
          <p:nvPr>
            <p:ph type="body" idx="1"/>
          </p:nvPr>
        </p:nvSpPr>
        <p:spPr/>
        <p:txBody>
          <a:bodyPr/>
          <a:lstStyle/>
          <a:p>
            <a:r>
              <a:rPr lang="en-US" altLang="zh-CN"/>
              <a:t>General idea</a:t>
            </a:r>
            <a:endParaRPr lang="en-US"/>
          </a:p>
        </p:txBody>
      </p:sp>
      <p:pic>
        <p:nvPicPr>
          <p:cNvPr id="7" name="Picture 6">
            <a:extLst>
              <a:ext uri="{FF2B5EF4-FFF2-40B4-BE49-F238E27FC236}">
                <a16:creationId xmlns:a16="http://schemas.microsoft.com/office/drawing/2014/main" id="{F75F7AA6-79DC-48B7-B5E7-20C04738989A}"/>
              </a:ext>
            </a:extLst>
          </p:cNvPr>
          <p:cNvPicPr>
            <a:picLocks noChangeAspect="1" noChangeArrowheads="1"/>
          </p:cNvPicPr>
          <p:nvPr/>
        </p:nvPicPr>
        <p:blipFill>
          <a:blip r:embed="rId2" cstate="print"/>
          <a:srcRect/>
          <a:stretch>
            <a:fillRect/>
          </a:stretch>
        </p:blipFill>
        <p:spPr bwMode="auto">
          <a:xfrm>
            <a:off x="7267330" y="695919"/>
            <a:ext cx="4738365" cy="3571281"/>
          </a:xfrm>
          <a:prstGeom prst="rect">
            <a:avLst/>
          </a:prstGeom>
          <a:noFill/>
        </p:spPr>
      </p:pic>
    </p:spTree>
    <p:extLst>
      <p:ext uri="{BB962C8B-B14F-4D97-AF65-F5344CB8AC3E}">
        <p14:creationId xmlns:p14="http://schemas.microsoft.com/office/powerpoint/2010/main" val="2763649008"/>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1E21EF-24DA-492A-BE8F-A7ACFE7A0C74}"/>
              </a:ext>
            </a:extLst>
          </p:cNvPr>
          <p:cNvSpPr>
            <a:spLocks noGrp="1"/>
          </p:cNvSpPr>
          <p:nvPr>
            <p:ph type="title"/>
          </p:nvPr>
        </p:nvSpPr>
        <p:spPr/>
        <p:txBody>
          <a:bodyPr/>
          <a:lstStyle/>
          <a:p>
            <a:r>
              <a:rPr lang="en-US" altLang="zh-CN"/>
              <a:t>General idea</a:t>
            </a:r>
            <a:endParaRPr lang="en-US"/>
          </a:p>
        </p:txBody>
      </p:sp>
      <p:grpSp>
        <p:nvGrpSpPr>
          <p:cNvPr id="2" name="Group 1">
            <a:extLst>
              <a:ext uri="{FF2B5EF4-FFF2-40B4-BE49-F238E27FC236}">
                <a16:creationId xmlns:a16="http://schemas.microsoft.com/office/drawing/2014/main" id="{D47CA728-91BC-45BA-A8AD-CB527E8A9323}"/>
              </a:ext>
            </a:extLst>
          </p:cNvPr>
          <p:cNvGrpSpPr/>
          <p:nvPr/>
        </p:nvGrpSpPr>
        <p:grpSpPr>
          <a:xfrm>
            <a:off x="1371600" y="2133600"/>
            <a:ext cx="3581400" cy="3124200"/>
            <a:chOff x="2133600" y="2667000"/>
            <a:chExt cx="2057400" cy="2057400"/>
          </a:xfrm>
        </p:grpSpPr>
        <p:sp>
          <p:nvSpPr>
            <p:cNvPr id="5" name="Freeform 4">
              <a:extLst>
                <a:ext uri="{FF2B5EF4-FFF2-40B4-BE49-F238E27FC236}">
                  <a16:creationId xmlns:a16="http://schemas.microsoft.com/office/drawing/2014/main" id="{01F5CD24-366F-48CC-83CA-97E4C840F7E5}"/>
                </a:ext>
              </a:extLst>
            </p:cNvPr>
            <p:cNvSpPr>
              <a:spLocks/>
            </p:cNvSpPr>
            <p:nvPr/>
          </p:nvSpPr>
          <p:spPr bwMode="auto">
            <a:xfrm>
              <a:off x="2362200" y="2819400"/>
              <a:ext cx="1600200" cy="1524000"/>
            </a:xfrm>
            <a:custGeom>
              <a:avLst/>
              <a:gdLst>
                <a:gd name="T0" fmla="*/ 0 w 1008"/>
                <a:gd name="T1" fmla="*/ 0 h 960"/>
                <a:gd name="T2" fmla="*/ 96 w 1008"/>
                <a:gd name="T3" fmla="*/ 432 h 960"/>
                <a:gd name="T4" fmla="*/ 384 w 1008"/>
                <a:gd name="T5" fmla="*/ 624 h 960"/>
                <a:gd name="T6" fmla="*/ 768 w 1008"/>
                <a:gd name="T7" fmla="*/ 672 h 960"/>
                <a:gd name="T8" fmla="*/ 1008 w 1008"/>
                <a:gd name="T9" fmla="*/ 960 h 960"/>
              </a:gdLst>
              <a:ahLst/>
              <a:cxnLst>
                <a:cxn ang="0">
                  <a:pos x="T0" y="T1"/>
                </a:cxn>
                <a:cxn ang="0">
                  <a:pos x="T2" y="T3"/>
                </a:cxn>
                <a:cxn ang="0">
                  <a:pos x="T4" y="T5"/>
                </a:cxn>
                <a:cxn ang="0">
                  <a:pos x="T6" y="T7"/>
                </a:cxn>
                <a:cxn ang="0">
                  <a:pos x="T8" y="T9"/>
                </a:cxn>
              </a:cxnLst>
              <a:rect l="0" t="0" r="r" b="b"/>
              <a:pathLst>
                <a:path w="1008" h="960">
                  <a:moveTo>
                    <a:pt x="0" y="0"/>
                  </a:moveTo>
                  <a:cubicBezTo>
                    <a:pt x="16" y="164"/>
                    <a:pt x="32" y="328"/>
                    <a:pt x="96" y="432"/>
                  </a:cubicBezTo>
                  <a:cubicBezTo>
                    <a:pt x="160" y="536"/>
                    <a:pt x="272" y="584"/>
                    <a:pt x="384" y="624"/>
                  </a:cubicBezTo>
                  <a:cubicBezTo>
                    <a:pt x="496" y="664"/>
                    <a:pt x="664" y="616"/>
                    <a:pt x="768" y="672"/>
                  </a:cubicBezTo>
                  <a:cubicBezTo>
                    <a:pt x="872" y="728"/>
                    <a:pt x="940" y="844"/>
                    <a:pt x="1008" y="960"/>
                  </a:cubicBezTo>
                </a:path>
              </a:pathLst>
            </a:custGeom>
            <a:noFill/>
            <a:ln w="38100"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 name="Line 5">
              <a:extLst>
                <a:ext uri="{FF2B5EF4-FFF2-40B4-BE49-F238E27FC236}">
                  <a16:creationId xmlns:a16="http://schemas.microsoft.com/office/drawing/2014/main" id="{35346F10-E1A6-43CD-9B0A-0F78673003C6}"/>
                </a:ext>
              </a:extLst>
            </p:cNvPr>
            <p:cNvSpPr>
              <a:spLocks noChangeShapeType="1"/>
            </p:cNvSpPr>
            <p:nvPr/>
          </p:nvSpPr>
          <p:spPr bwMode="auto">
            <a:xfrm flipV="1">
              <a:off x="2133600" y="2667000"/>
              <a:ext cx="0" cy="2057400"/>
            </a:xfrm>
            <a:prstGeom prst="line">
              <a:avLst/>
            </a:prstGeom>
            <a:noFill/>
            <a:ln w="38100">
              <a:solidFill>
                <a:schemeClr val="tx1"/>
              </a:solidFill>
              <a:miter lim="800000"/>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7" name="Line 6">
              <a:extLst>
                <a:ext uri="{FF2B5EF4-FFF2-40B4-BE49-F238E27FC236}">
                  <a16:creationId xmlns:a16="http://schemas.microsoft.com/office/drawing/2014/main" id="{C7AE81A3-D772-42CA-BB87-9DEB3098CAEF}"/>
                </a:ext>
              </a:extLst>
            </p:cNvPr>
            <p:cNvSpPr>
              <a:spLocks noChangeShapeType="1"/>
            </p:cNvSpPr>
            <p:nvPr/>
          </p:nvSpPr>
          <p:spPr bwMode="auto">
            <a:xfrm>
              <a:off x="2133600" y="4724400"/>
              <a:ext cx="2057400" cy="0"/>
            </a:xfrm>
            <a:prstGeom prst="line">
              <a:avLst/>
            </a:prstGeom>
            <a:noFill/>
            <a:ln w="38100">
              <a:solidFill>
                <a:schemeClr val="tx1"/>
              </a:solidFill>
              <a:miter lim="800000"/>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8" name="Oval 7">
              <a:extLst>
                <a:ext uri="{FF2B5EF4-FFF2-40B4-BE49-F238E27FC236}">
                  <a16:creationId xmlns:a16="http://schemas.microsoft.com/office/drawing/2014/main" id="{B2C17669-8ABC-41DD-99F1-EC83D8D5EA6D}"/>
                </a:ext>
              </a:extLst>
            </p:cNvPr>
            <p:cNvSpPr>
              <a:spLocks noChangeArrowheads="1"/>
            </p:cNvSpPr>
            <p:nvPr/>
          </p:nvSpPr>
          <p:spPr bwMode="auto">
            <a:xfrm>
              <a:off x="2514600" y="2819400"/>
              <a:ext cx="76200" cy="76200"/>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Rectangle 8">
              <a:extLst>
                <a:ext uri="{FF2B5EF4-FFF2-40B4-BE49-F238E27FC236}">
                  <a16:creationId xmlns:a16="http://schemas.microsoft.com/office/drawing/2014/main" id="{0DD3896C-C0C7-4D01-B699-452FF249E08E}"/>
                </a:ext>
              </a:extLst>
            </p:cNvPr>
            <p:cNvSpPr>
              <a:spLocks noChangeArrowheads="1"/>
            </p:cNvSpPr>
            <p:nvPr/>
          </p:nvSpPr>
          <p:spPr bwMode="auto">
            <a:xfrm>
              <a:off x="2286000" y="3200400"/>
              <a:ext cx="76200" cy="76200"/>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Oval 9">
              <a:extLst>
                <a:ext uri="{FF2B5EF4-FFF2-40B4-BE49-F238E27FC236}">
                  <a16:creationId xmlns:a16="http://schemas.microsoft.com/office/drawing/2014/main" id="{2144FD59-02CA-4969-B3A4-E955C95F738E}"/>
                </a:ext>
              </a:extLst>
            </p:cNvPr>
            <p:cNvSpPr>
              <a:spLocks noChangeArrowheads="1"/>
            </p:cNvSpPr>
            <p:nvPr/>
          </p:nvSpPr>
          <p:spPr bwMode="auto">
            <a:xfrm>
              <a:off x="2819400" y="3048000"/>
              <a:ext cx="76200" cy="76200"/>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Oval 10">
              <a:extLst>
                <a:ext uri="{FF2B5EF4-FFF2-40B4-BE49-F238E27FC236}">
                  <a16:creationId xmlns:a16="http://schemas.microsoft.com/office/drawing/2014/main" id="{E0D9ED3A-9B68-4CE7-BFAF-60A7DFB8CCB0}"/>
                </a:ext>
              </a:extLst>
            </p:cNvPr>
            <p:cNvSpPr>
              <a:spLocks noChangeArrowheads="1"/>
            </p:cNvSpPr>
            <p:nvPr/>
          </p:nvSpPr>
          <p:spPr bwMode="auto">
            <a:xfrm>
              <a:off x="3124200" y="3352800"/>
              <a:ext cx="76200" cy="76200"/>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Oval 11">
              <a:extLst>
                <a:ext uri="{FF2B5EF4-FFF2-40B4-BE49-F238E27FC236}">
                  <a16:creationId xmlns:a16="http://schemas.microsoft.com/office/drawing/2014/main" id="{D76A4488-6EFA-49D3-825E-B0DF3808B19F}"/>
                </a:ext>
              </a:extLst>
            </p:cNvPr>
            <p:cNvSpPr>
              <a:spLocks noChangeArrowheads="1"/>
            </p:cNvSpPr>
            <p:nvPr/>
          </p:nvSpPr>
          <p:spPr bwMode="auto">
            <a:xfrm>
              <a:off x="3352800" y="2971800"/>
              <a:ext cx="76200" cy="76200"/>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Oval 12">
              <a:extLst>
                <a:ext uri="{FF2B5EF4-FFF2-40B4-BE49-F238E27FC236}">
                  <a16:creationId xmlns:a16="http://schemas.microsoft.com/office/drawing/2014/main" id="{02B92DE7-EA28-43E9-8CDE-E3963BFCD4F8}"/>
                </a:ext>
              </a:extLst>
            </p:cNvPr>
            <p:cNvSpPr>
              <a:spLocks noChangeArrowheads="1"/>
            </p:cNvSpPr>
            <p:nvPr/>
          </p:nvSpPr>
          <p:spPr bwMode="auto">
            <a:xfrm>
              <a:off x="3733800" y="3352800"/>
              <a:ext cx="76200" cy="76200"/>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Rectangle 13">
              <a:extLst>
                <a:ext uri="{FF2B5EF4-FFF2-40B4-BE49-F238E27FC236}">
                  <a16:creationId xmlns:a16="http://schemas.microsoft.com/office/drawing/2014/main" id="{A66807E8-EC6D-446E-B4E3-F716E2B67282}"/>
                </a:ext>
              </a:extLst>
            </p:cNvPr>
            <p:cNvSpPr>
              <a:spLocks noChangeArrowheads="1"/>
            </p:cNvSpPr>
            <p:nvPr/>
          </p:nvSpPr>
          <p:spPr bwMode="auto">
            <a:xfrm>
              <a:off x="2286000" y="3505200"/>
              <a:ext cx="76200" cy="76200"/>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Rectangle 14">
              <a:extLst>
                <a:ext uri="{FF2B5EF4-FFF2-40B4-BE49-F238E27FC236}">
                  <a16:creationId xmlns:a16="http://schemas.microsoft.com/office/drawing/2014/main" id="{095714F0-BD2D-489E-A4CF-761D0F6BBDAC}"/>
                </a:ext>
              </a:extLst>
            </p:cNvPr>
            <p:cNvSpPr>
              <a:spLocks noChangeArrowheads="1"/>
            </p:cNvSpPr>
            <p:nvPr/>
          </p:nvSpPr>
          <p:spPr bwMode="auto">
            <a:xfrm>
              <a:off x="2514600" y="3733800"/>
              <a:ext cx="76200" cy="76200"/>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Rectangle 15">
              <a:extLst>
                <a:ext uri="{FF2B5EF4-FFF2-40B4-BE49-F238E27FC236}">
                  <a16:creationId xmlns:a16="http://schemas.microsoft.com/office/drawing/2014/main" id="{8CA462E3-5E54-4466-A5E8-B500DA847658}"/>
                </a:ext>
              </a:extLst>
            </p:cNvPr>
            <p:cNvSpPr>
              <a:spLocks noChangeArrowheads="1"/>
            </p:cNvSpPr>
            <p:nvPr/>
          </p:nvSpPr>
          <p:spPr bwMode="auto">
            <a:xfrm>
              <a:off x="2362200" y="3962400"/>
              <a:ext cx="76200" cy="76200"/>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Rectangle 16">
              <a:extLst>
                <a:ext uri="{FF2B5EF4-FFF2-40B4-BE49-F238E27FC236}">
                  <a16:creationId xmlns:a16="http://schemas.microsoft.com/office/drawing/2014/main" id="{3197C816-2A9F-41DE-8CA5-802F13D4433A}"/>
                </a:ext>
              </a:extLst>
            </p:cNvPr>
            <p:cNvSpPr>
              <a:spLocks noChangeArrowheads="1"/>
            </p:cNvSpPr>
            <p:nvPr/>
          </p:nvSpPr>
          <p:spPr bwMode="auto">
            <a:xfrm>
              <a:off x="2895600" y="3962400"/>
              <a:ext cx="76200" cy="76200"/>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Rectangle 17">
              <a:extLst>
                <a:ext uri="{FF2B5EF4-FFF2-40B4-BE49-F238E27FC236}">
                  <a16:creationId xmlns:a16="http://schemas.microsoft.com/office/drawing/2014/main" id="{5D249E72-F5A4-495B-9E61-E152B2ECEBF8}"/>
                </a:ext>
              </a:extLst>
            </p:cNvPr>
            <p:cNvSpPr>
              <a:spLocks noChangeArrowheads="1"/>
            </p:cNvSpPr>
            <p:nvPr/>
          </p:nvSpPr>
          <p:spPr bwMode="auto">
            <a:xfrm>
              <a:off x="3276600" y="4038600"/>
              <a:ext cx="76200" cy="76200"/>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Rectangle 18">
              <a:extLst>
                <a:ext uri="{FF2B5EF4-FFF2-40B4-BE49-F238E27FC236}">
                  <a16:creationId xmlns:a16="http://schemas.microsoft.com/office/drawing/2014/main" id="{1275DA1B-9491-411B-BCEF-7702E97C2A54}"/>
                </a:ext>
              </a:extLst>
            </p:cNvPr>
            <p:cNvSpPr>
              <a:spLocks noChangeArrowheads="1"/>
            </p:cNvSpPr>
            <p:nvPr/>
          </p:nvSpPr>
          <p:spPr bwMode="auto">
            <a:xfrm>
              <a:off x="3581400" y="4267200"/>
              <a:ext cx="76200" cy="76200"/>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Rectangle 19">
              <a:extLst>
                <a:ext uri="{FF2B5EF4-FFF2-40B4-BE49-F238E27FC236}">
                  <a16:creationId xmlns:a16="http://schemas.microsoft.com/office/drawing/2014/main" id="{C7D6C202-7D9F-45D4-BA58-08CA80D7D9BD}"/>
                </a:ext>
              </a:extLst>
            </p:cNvPr>
            <p:cNvSpPr>
              <a:spLocks noChangeArrowheads="1"/>
            </p:cNvSpPr>
            <p:nvPr/>
          </p:nvSpPr>
          <p:spPr bwMode="auto">
            <a:xfrm>
              <a:off x="2971800" y="4419600"/>
              <a:ext cx="76200" cy="76200"/>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Oval 20">
              <a:extLst>
                <a:ext uri="{FF2B5EF4-FFF2-40B4-BE49-F238E27FC236}">
                  <a16:creationId xmlns:a16="http://schemas.microsoft.com/office/drawing/2014/main" id="{BAAAE0C0-48E7-499E-B993-EA8AF5E2F385}"/>
                </a:ext>
              </a:extLst>
            </p:cNvPr>
            <p:cNvSpPr>
              <a:spLocks noChangeArrowheads="1"/>
            </p:cNvSpPr>
            <p:nvPr/>
          </p:nvSpPr>
          <p:spPr bwMode="auto">
            <a:xfrm>
              <a:off x="2590800" y="3276600"/>
              <a:ext cx="76200" cy="76200"/>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Oval 21">
              <a:extLst>
                <a:ext uri="{FF2B5EF4-FFF2-40B4-BE49-F238E27FC236}">
                  <a16:creationId xmlns:a16="http://schemas.microsoft.com/office/drawing/2014/main" id="{0A53DA6A-E860-446E-8EB0-2766E6E892E9}"/>
                </a:ext>
              </a:extLst>
            </p:cNvPr>
            <p:cNvSpPr>
              <a:spLocks noChangeArrowheads="1"/>
            </p:cNvSpPr>
            <p:nvPr/>
          </p:nvSpPr>
          <p:spPr bwMode="auto">
            <a:xfrm>
              <a:off x="2895600" y="3581400"/>
              <a:ext cx="76200" cy="76200"/>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Oval 22">
              <a:extLst>
                <a:ext uri="{FF2B5EF4-FFF2-40B4-BE49-F238E27FC236}">
                  <a16:creationId xmlns:a16="http://schemas.microsoft.com/office/drawing/2014/main" id="{88A4BCAC-4EB4-4811-9CB0-1B771D1C6177}"/>
                </a:ext>
              </a:extLst>
            </p:cNvPr>
            <p:cNvSpPr>
              <a:spLocks noChangeArrowheads="1"/>
            </p:cNvSpPr>
            <p:nvPr/>
          </p:nvSpPr>
          <p:spPr bwMode="auto">
            <a:xfrm>
              <a:off x="3505200" y="3733800"/>
              <a:ext cx="76200" cy="76200"/>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Oval 23">
              <a:extLst>
                <a:ext uri="{FF2B5EF4-FFF2-40B4-BE49-F238E27FC236}">
                  <a16:creationId xmlns:a16="http://schemas.microsoft.com/office/drawing/2014/main" id="{13626D1C-4B53-4C87-901B-0E9E1AE34502}"/>
                </a:ext>
              </a:extLst>
            </p:cNvPr>
            <p:cNvSpPr>
              <a:spLocks noChangeArrowheads="1"/>
            </p:cNvSpPr>
            <p:nvPr/>
          </p:nvSpPr>
          <p:spPr bwMode="auto">
            <a:xfrm>
              <a:off x="3810000" y="3886200"/>
              <a:ext cx="76200" cy="76200"/>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 name="Oval 24">
              <a:extLst>
                <a:ext uri="{FF2B5EF4-FFF2-40B4-BE49-F238E27FC236}">
                  <a16:creationId xmlns:a16="http://schemas.microsoft.com/office/drawing/2014/main" id="{EAD54FFD-9A9A-439E-926D-B6E569539FA3}"/>
                </a:ext>
              </a:extLst>
            </p:cNvPr>
            <p:cNvSpPr>
              <a:spLocks noChangeArrowheads="1"/>
            </p:cNvSpPr>
            <p:nvPr/>
          </p:nvSpPr>
          <p:spPr bwMode="auto">
            <a:xfrm>
              <a:off x="3962400" y="4191000"/>
              <a:ext cx="76200" cy="76200"/>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 name="Group 2">
            <a:extLst>
              <a:ext uri="{FF2B5EF4-FFF2-40B4-BE49-F238E27FC236}">
                <a16:creationId xmlns:a16="http://schemas.microsoft.com/office/drawing/2014/main" id="{35195552-4956-4FDA-A0A9-B2EB8DC40F22}"/>
              </a:ext>
            </a:extLst>
          </p:cNvPr>
          <p:cNvGrpSpPr/>
          <p:nvPr/>
        </p:nvGrpSpPr>
        <p:grpSpPr>
          <a:xfrm>
            <a:off x="7140280" y="2133600"/>
            <a:ext cx="3711279" cy="3218211"/>
            <a:chOff x="7926388" y="2667000"/>
            <a:chExt cx="2132012" cy="2119313"/>
          </a:xfrm>
        </p:grpSpPr>
        <p:sp>
          <p:nvSpPr>
            <p:cNvPr id="26" name="Line 25">
              <a:extLst>
                <a:ext uri="{FF2B5EF4-FFF2-40B4-BE49-F238E27FC236}">
                  <a16:creationId xmlns:a16="http://schemas.microsoft.com/office/drawing/2014/main" id="{CBAA8D64-3532-4C4A-804F-9D7A95E1F209}"/>
                </a:ext>
              </a:extLst>
            </p:cNvPr>
            <p:cNvSpPr>
              <a:spLocks noChangeShapeType="1"/>
            </p:cNvSpPr>
            <p:nvPr/>
          </p:nvSpPr>
          <p:spPr bwMode="auto">
            <a:xfrm flipV="1">
              <a:off x="8001000" y="2667000"/>
              <a:ext cx="0" cy="2057400"/>
            </a:xfrm>
            <a:prstGeom prst="line">
              <a:avLst/>
            </a:prstGeom>
            <a:noFill/>
            <a:ln w="38100">
              <a:solidFill>
                <a:schemeClr val="tx1"/>
              </a:solidFill>
              <a:miter lim="800000"/>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7" name="Line 26">
              <a:extLst>
                <a:ext uri="{FF2B5EF4-FFF2-40B4-BE49-F238E27FC236}">
                  <a16:creationId xmlns:a16="http://schemas.microsoft.com/office/drawing/2014/main" id="{1712344D-2BAA-41D2-871F-0C911F46D3E0}"/>
                </a:ext>
              </a:extLst>
            </p:cNvPr>
            <p:cNvSpPr>
              <a:spLocks noChangeShapeType="1"/>
            </p:cNvSpPr>
            <p:nvPr/>
          </p:nvSpPr>
          <p:spPr bwMode="auto">
            <a:xfrm>
              <a:off x="8001000" y="4724400"/>
              <a:ext cx="2057400" cy="0"/>
            </a:xfrm>
            <a:prstGeom prst="line">
              <a:avLst/>
            </a:prstGeom>
            <a:noFill/>
            <a:ln w="38100">
              <a:solidFill>
                <a:schemeClr val="tx1"/>
              </a:solidFill>
              <a:miter lim="800000"/>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8" name="Line 27">
              <a:extLst>
                <a:ext uri="{FF2B5EF4-FFF2-40B4-BE49-F238E27FC236}">
                  <a16:creationId xmlns:a16="http://schemas.microsoft.com/office/drawing/2014/main" id="{B820362C-9EDD-4DFC-8514-5B842274D860}"/>
                </a:ext>
              </a:extLst>
            </p:cNvPr>
            <p:cNvSpPr>
              <a:spLocks noChangeShapeType="1"/>
            </p:cNvSpPr>
            <p:nvPr/>
          </p:nvSpPr>
          <p:spPr bwMode="auto">
            <a:xfrm>
              <a:off x="8382000" y="2819400"/>
              <a:ext cx="1447800" cy="1828800"/>
            </a:xfrm>
            <a:prstGeom prst="line">
              <a:avLst/>
            </a:prstGeom>
            <a:noFill/>
            <a:ln w="381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29" name="Group 28">
              <a:extLst>
                <a:ext uri="{FF2B5EF4-FFF2-40B4-BE49-F238E27FC236}">
                  <a16:creationId xmlns:a16="http://schemas.microsoft.com/office/drawing/2014/main" id="{A7657CFF-4312-4230-9A47-DED9CD74FC4A}"/>
                </a:ext>
              </a:extLst>
            </p:cNvPr>
            <p:cNvGrpSpPr>
              <a:grpSpLocks/>
            </p:cNvGrpSpPr>
            <p:nvPr/>
          </p:nvGrpSpPr>
          <p:grpSpPr bwMode="auto">
            <a:xfrm>
              <a:off x="8078788" y="2957513"/>
              <a:ext cx="542925" cy="336550"/>
              <a:chOff x="3002" y="2535"/>
              <a:chExt cx="342" cy="212"/>
            </a:xfrm>
          </p:grpSpPr>
          <p:sp>
            <p:nvSpPr>
              <p:cNvPr id="30" name="Rectangle 29">
                <a:extLst>
                  <a:ext uri="{FF2B5EF4-FFF2-40B4-BE49-F238E27FC236}">
                    <a16:creationId xmlns:a16="http://schemas.microsoft.com/office/drawing/2014/main" id="{AD0F88FA-EC27-4521-9791-D4AC0E9AC5AD}"/>
                  </a:ext>
                </a:extLst>
              </p:cNvPr>
              <p:cNvSpPr>
                <a:spLocks noChangeArrowheads="1"/>
              </p:cNvSpPr>
              <p:nvPr/>
            </p:nvSpPr>
            <p:spPr bwMode="auto">
              <a:xfrm>
                <a:off x="3168" y="2592"/>
                <a:ext cx="48" cy="4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Text Box 30">
                <a:extLst>
                  <a:ext uri="{FF2B5EF4-FFF2-40B4-BE49-F238E27FC236}">
                    <a16:creationId xmlns:a16="http://schemas.microsoft.com/office/drawing/2014/main" id="{73F9FF31-1A2A-4B14-B062-D321F8722220}"/>
                  </a:ext>
                </a:extLst>
              </p:cNvPr>
              <p:cNvSpPr txBox="1">
                <a:spLocks noChangeArrowheads="1"/>
              </p:cNvSpPr>
              <p:nvPr/>
            </p:nvSpPr>
            <p:spPr bwMode="auto">
              <a:xfrm>
                <a:off x="3002" y="2535"/>
                <a:ext cx="34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20000"/>
                  </a:spcBef>
                </a:pPr>
                <a:r>
                  <a:rPr lang="en-US" altLang="en-US" sz="1600">
                    <a:latin typeface="Symbol" panose="05050102010706020507" pitchFamily="18" charset="2"/>
                  </a:rPr>
                  <a:t>f</a:t>
                </a:r>
                <a:r>
                  <a:rPr lang="en-US" altLang="en-US" sz="1600">
                    <a:latin typeface="Times New Roman" panose="02020603050405020304" pitchFamily="18" charset="0"/>
                  </a:rPr>
                  <a:t>(  )</a:t>
                </a:r>
              </a:p>
            </p:txBody>
          </p:sp>
        </p:grpSp>
        <p:grpSp>
          <p:nvGrpSpPr>
            <p:cNvPr id="32" name="Group 31">
              <a:extLst>
                <a:ext uri="{FF2B5EF4-FFF2-40B4-BE49-F238E27FC236}">
                  <a16:creationId xmlns:a16="http://schemas.microsoft.com/office/drawing/2014/main" id="{65ED1CF1-6DCC-477E-A1DE-0F879EE4EEDB}"/>
                </a:ext>
              </a:extLst>
            </p:cNvPr>
            <p:cNvGrpSpPr>
              <a:grpSpLocks/>
            </p:cNvGrpSpPr>
            <p:nvPr/>
          </p:nvGrpSpPr>
          <p:grpSpPr bwMode="auto">
            <a:xfrm>
              <a:off x="8312150" y="3382963"/>
              <a:ext cx="542925" cy="336550"/>
              <a:chOff x="3002" y="2535"/>
              <a:chExt cx="342" cy="212"/>
            </a:xfrm>
          </p:grpSpPr>
          <p:sp>
            <p:nvSpPr>
              <p:cNvPr id="33" name="Rectangle 32">
                <a:extLst>
                  <a:ext uri="{FF2B5EF4-FFF2-40B4-BE49-F238E27FC236}">
                    <a16:creationId xmlns:a16="http://schemas.microsoft.com/office/drawing/2014/main" id="{6E2765A7-C990-4381-B11E-463B5980C9EF}"/>
                  </a:ext>
                </a:extLst>
              </p:cNvPr>
              <p:cNvSpPr>
                <a:spLocks noChangeArrowheads="1"/>
              </p:cNvSpPr>
              <p:nvPr/>
            </p:nvSpPr>
            <p:spPr bwMode="auto">
              <a:xfrm>
                <a:off x="3168" y="2592"/>
                <a:ext cx="48" cy="4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 name="Text Box 33">
                <a:extLst>
                  <a:ext uri="{FF2B5EF4-FFF2-40B4-BE49-F238E27FC236}">
                    <a16:creationId xmlns:a16="http://schemas.microsoft.com/office/drawing/2014/main" id="{7E332B74-01B2-4607-8947-3CAE821D4556}"/>
                  </a:ext>
                </a:extLst>
              </p:cNvPr>
              <p:cNvSpPr txBox="1">
                <a:spLocks noChangeArrowheads="1"/>
              </p:cNvSpPr>
              <p:nvPr/>
            </p:nvSpPr>
            <p:spPr bwMode="auto">
              <a:xfrm>
                <a:off x="3002" y="2535"/>
                <a:ext cx="34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20000"/>
                  </a:spcBef>
                </a:pPr>
                <a:r>
                  <a:rPr lang="en-US" altLang="en-US" sz="1600">
                    <a:latin typeface="Symbol" panose="05050102010706020507" pitchFamily="18" charset="2"/>
                  </a:rPr>
                  <a:t>f</a:t>
                </a:r>
                <a:r>
                  <a:rPr lang="en-US" altLang="en-US" sz="1600">
                    <a:latin typeface="Times New Roman" panose="02020603050405020304" pitchFamily="18" charset="0"/>
                  </a:rPr>
                  <a:t>(  )</a:t>
                </a:r>
              </a:p>
            </p:txBody>
          </p:sp>
        </p:grpSp>
        <p:grpSp>
          <p:nvGrpSpPr>
            <p:cNvPr id="35" name="Group 34">
              <a:extLst>
                <a:ext uri="{FF2B5EF4-FFF2-40B4-BE49-F238E27FC236}">
                  <a16:creationId xmlns:a16="http://schemas.microsoft.com/office/drawing/2014/main" id="{ED31234A-DF6F-436A-B18C-C631CA620233}"/>
                </a:ext>
              </a:extLst>
            </p:cNvPr>
            <p:cNvGrpSpPr>
              <a:grpSpLocks/>
            </p:cNvGrpSpPr>
            <p:nvPr/>
          </p:nvGrpSpPr>
          <p:grpSpPr bwMode="auto">
            <a:xfrm>
              <a:off x="8693150" y="3840163"/>
              <a:ext cx="542925" cy="336550"/>
              <a:chOff x="3002" y="2535"/>
              <a:chExt cx="342" cy="212"/>
            </a:xfrm>
          </p:grpSpPr>
          <p:sp>
            <p:nvSpPr>
              <p:cNvPr id="36" name="Rectangle 35">
                <a:extLst>
                  <a:ext uri="{FF2B5EF4-FFF2-40B4-BE49-F238E27FC236}">
                    <a16:creationId xmlns:a16="http://schemas.microsoft.com/office/drawing/2014/main" id="{CCCAF0D2-C290-46D9-B677-E13189E93626}"/>
                  </a:ext>
                </a:extLst>
              </p:cNvPr>
              <p:cNvSpPr>
                <a:spLocks noChangeArrowheads="1"/>
              </p:cNvSpPr>
              <p:nvPr/>
            </p:nvSpPr>
            <p:spPr bwMode="auto">
              <a:xfrm>
                <a:off x="3168" y="2592"/>
                <a:ext cx="48" cy="4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 name="Text Box 36">
                <a:extLst>
                  <a:ext uri="{FF2B5EF4-FFF2-40B4-BE49-F238E27FC236}">
                    <a16:creationId xmlns:a16="http://schemas.microsoft.com/office/drawing/2014/main" id="{15F47F85-0DC5-44AB-AF76-89B8AA2EB441}"/>
                  </a:ext>
                </a:extLst>
              </p:cNvPr>
              <p:cNvSpPr txBox="1">
                <a:spLocks noChangeArrowheads="1"/>
              </p:cNvSpPr>
              <p:nvPr/>
            </p:nvSpPr>
            <p:spPr bwMode="auto">
              <a:xfrm>
                <a:off x="3002" y="2535"/>
                <a:ext cx="34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20000"/>
                  </a:spcBef>
                </a:pPr>
                <a:r>
                  <a:rPr lang="en-US" altLang="en-US" sz="1600">
                    <a:latin typeface="Symbol" panose="05050102010706020507" pitchFamily="18" charset="2"/>
                  </a:rPr>
                  <a:t>f</a:t>
                </a:r>
                <a:r>
                  <a:rPr lang="en-US" altLang="en-US" sz="1600">
                    <a:latin typeface="Times New Roman" panose="02020603050405020304" pitchFamily="18" charset="0"/>
                  </a:rPr>
                  <a:t>(  )</a:t>
                </a:r>
              </a:p>
            </p:txBody>
          </p:sp>
        </p:grpSp>
        <p:grpSp>
          <p:nvGrpSpPr>
            <p:cNvPr id="38" name="Group 37">
              <a:extLst>
                <a:ext uri="{FF2B5EF4-FFF2-40B4-BE49-F238E27FC236}">
                  <a16:creationId xmlns:a16="http://schemas.microsoft.com/office/drawing/2014/main" id="{C5E89B11-B75B-4E8C-AA99-A418C47E62EF}"/>
                </a:ext>
              </a:extLst>
            </p:cNvPr>
            <p:cNvGrpSpPr>
              <a:grpSpLocks/>
            </p:cNvGrpSpPr>
            <p:nvPr/>
          </p:nvGrpSpPr>
          <p:grpSpPr bwMode="auto">
            <a:xfrm>
              <a:off x="8845550" y="4068763"/>
              <a:ext cx="542925" cy="336550"/>
              <a:chOff x="3002" y="2535"/>
              <a:chExt cx="342" cy="212"/>
            </a:xfrm>
          </p:grpSpPr>
          <p:sp>
            <p:nvSpPr>
              <p:cNvPr id="39" name="Rectangle 38">
                <a:extLst>
                  <a:ext uri="{FF2B5EF4-FFF2-40B4-BE49-F238E27FC236}">
                    <a16:creationId xmlns:a16="http://schemas.microsoft.com/office/drawing/2014/main" id="{AEC2A175-9C5D-40F4-87CE-C91B7BE20626}"/>
                  </a:ext>
                </a:extLst>
              </p:cNvPr>
              <p:cNvSpPr>
                <a:spLocks noChangeArrowheads="1"/>
              </p:cNvSpPr>
              <p:nvPr/>
            </p:nvSpPr>
            <p:spPr bwMode="auto">
              <a:xfrm>
                <a:off x="3168" y="2592"/>
                <a:ext cx="48" cy="4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 name="Text Box 39">
                <a:extLst>
                  <a:ext uri="{FF2B5EF4-FFF2-40B4-BE49-F238E27FC236}">
                    <a16:creationId xmlns:a16="http://schemas.microsoft.com/office/drawing/2014/main" id="{3FAFB7AB-38A6-4BD3-9080-0D025EA8A473}"/>
                  </a:ext>
                </a:extLst>
              </p:cNvPr>
              <p:cNvSpPr txBox="1">
                <a:spLocks noChangeArrowheads="1"/>
              </p:cNvSpPr>
              <p:nvPr/>
            </p:nvSpPr>
            <p:spPr bwMode="auto">
              <a:xfrm>
                <a:off x="3002" y="2535"/>
                <a:ext cx="34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20000"/>
                  </a:spcBef>
                </a:pPr>
                <a:r>
                  <a:rPr lang="en-US" altLang="en-US" sz="1600">
                    <a:latin typeface="Symbol" panose="05050102010706020507" pitchFamily="18" charset="2"/>
                  </a:rPr>
                  <a:t>f</a:t>
                </a:r>
                <a:r>
                  <a:rPr lang="en-US" altLang="en-US" sz="1600">
                    <a:latin typeface="Times New Roman" panose="02020603050405020304" pitchFamily="18" charset="0"/>
                  </a:rPr>
                  <a:t>(  )</a:t>
                </a:r>
              </a:p>
            </p:txBody>
          </p:sp>
        </p:grpSp>
        <p:grpSp>
          <p:nvGrpSpPr>
            <p:cNvPr id="41" name="Group 40">
              <a:extLst>
                <a:ext uri="{FF2B5EF4-FFF2-40B4-BE49-F238E27FC236}">
                  <a16:creationId xmlns:a16="http://schemas.microsoft.com/office/drawing/2014/main" id="{643D9EBC-01E5-4B37-B9BB-60978E3878C0}"/>
                </a:ext>
              </a:extLst>
            </p:cNvPr>
            <p:cNvGrpSpPr>
              <a:grpSpLocks/>
            </p:cNvGrpSpPr>
            <p:nvPr/>
          </p:nvGrpSpPr>
          <p:grpSpPr bwMode="auto">
            <a:xfrm>
              <a:off x="8154988" y="4024313"/>
              <a:ext cx="542925" cy="336550"/>
              <a:chOff x="3002" y="2535"/>
              <a:chExt cx="342" cy="212"/>
            </a:xfrm>
          </p:grpSpPr>
          <p:sp>
            <p:nvSpPr>
              <p:cNvPr id="42" name="Rectangle 41">
                <a:extLst>
                  <a:ext uri="{FF2B5EF4-FFF2-40B4-BE49-F238E27FC236}">
                    <a16:creationId xmlns:a16="http://schemas.microsoft.com/office/drawing/2014/main" id="{346E0DD3-99F9-4369-9127-541215BB363B}"/>
                  </a:ext>
                </a:extLst>
              </p:cNvPr>
              <p:cNvSpPr>
                <a:spLocks noChangeArrowheads="1"/>
              </p:cNvSpPr>
              <p:nvPr/>
            </p:nvSpPr>
            <p:spPr bwMode="auto">
              <a:xfrm>
                <a:off x="3168" y="2592"/>
                <a:ext cx="48" cy="4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 name="Text Box 42">
                <a:extLst>
                  <a:ext uri="{FF2B5EF4-FFF2-40B4-BE49-F238E27FC236}">
                    <a16:creationId xmlns:a16="http://schemas.microsoft.com/office/drawing/2014/main" id="{8DED331C-A1DA-446D-A117-F66559BCB99C}"/>
                  </a:ext>
                </a:extLst>
              </p:cNvPr>
              <p:cNvSpPr txBox="1">
                <a:spLocks noChangeArrowheads="1"/>
              </p:cNvSpPr>
              <p:nvPr/>
            </p:nvSpPr>
            <p:spPr bwMode="auto">
              <a:xfrm>
                <a:off x="3002" y="2535"/>
                <a:ext cx="34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20000"/>
                  </a:spcBef>
                </a:pPr>
                <a:r>
                  <a:rPr lang="en-US" altLang="en-US" sz="1600">
                    <a:latin typeface="Symbol" panose="05050102010706020507" pitchFamily="18" charset="2"/>
                  </a:rPr>
                  <a:t>f</a:t>
                </a:r>
                <a:r>
                  <a:rPr lang="en-US" altLang="en-US" sz="1600">
                    <a:latin typeface="Times New Roman" panose="02020603050405020304" pitchFamily="18" charset="0"/>
                  </a:rPr>
                  <a:t>(  )</a:t>
                </a:r>
              </a:p>
            </p:txBody>
          </p:sp>
        </p:grpSp>
        <p:grpSp>
          <p:nvGrpSpPr>
            <p:cNvPr id="44" name="Group 43">
              <a:extLst>
                <a:ext uri="{FF2B5EF4-FFF2-40B4-BE49-F238E27FC236}">
                  <a16:creationId xmlns:a16="http://schemas.microsoft.com/office/drawing/2014/main" id="{B677C291-2528-47FF-AB35-EB3711F0CCF1}"/>
                </a:ext>
              </a:extLst>
            </p:cNvPr>
            <p:cNvGrpSpPr>
              <a:grpSpLocks/>
            </p:cNvGrpSpPr>
            <p:nvPr/>
          </p:nvGrpSpPr>
          <p:grpSpPr bwMode="auto">
            <a:xfrm>
              <a:off x="7926388" y="3490913"/>
              <a:ext cx="542925" cy="336550"/>
              <a:chOff x="3002" y="2535"/>
              <a:chExt cx="342" cy="212"/>
            </a:xfrm>
          </p:grpSpPr>
          <p:sp>
            <p:nvSpPr>
              <p:cNvPr id="45" name="Rectangle 44">
                <a:extLst>
                  <a:ext uri="{FF2B5EF4-FFF2-40B4-BE49-F238E27FC236}">
                    <a16:creationId xmlns:a16="http://schemas.microsoft.com/office/drawing/2014/main" id="{D33BF21D-3542-4D27-8803-AD9DAD25E1E4}"/>
                  </a:ext>
                </a:extLst>
              </p:cNvPr>
              <p:cNvSpPr>
                <a:spLocks noChangeArrowheads="1"/>
              </p:cNvSpPr>
              <p:nvPr/>
            </p:nvSpPr>
            <p:spPr bwMode="auto">
              <a:xfrm>
                <a:off x="3168" y="2592"/>
                <a:ext cx="48" cy="4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 name="Text Box 45">
                <a:extLst>
                  <a:ext uri="{FF2B5EF4-FFF2-40B4-BE49-F238E27FC236}">
                    <a16:creationId xmlns:a16="http://schemas.microsoft.com/office/drawing/2014/main" id="{87E8CCE1-9182-476C-8717-593459FAAC78}"/>
                  </a:ext>
                </a:extLst>
              </p:cNvPr>
              <p:cNvSpPr txBox="1">
                <a:spLocks noChangeArrowheads="1"/>
              </p:cNvSpPr>
              <p:nvPr/>
            </p:nvSpPr>
            <p:spPr bwMode="auto">
              <a:xfrm>
                <a:off x="3002" y="2535"/>
                <a:ext cx="34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20000"/>
                  </a:spcBef>
                </a:pPr>
                <a:r>
                  <a:rPr lang="en-US" altLang="en-US" sz="1600">
                    <a:latin typeface="Symbol" panose="05050102010706020507" pitchFamily="18" charset="2"/>
                  </a:rPr>
                  <a:t>f</a:t>
                </a:r>
                <a:r>
                  <a:rPr lang="en-US" altLang="en-US" sz="1600">
                    <a:latin typeface="Times New Roman" panose="02020603050405020304" pitchFamily="18" charset="0"/>
                  </a:rPr>
                  <a:t>(  )</a:t>
                </a:r>
              </a:p>
            </p:txBody>
          </p:sp>
        </p:grpSp>
        <p:grpSp>
          <p:nvGrpSpPr>
            <p:cNvPr id="47" name="Group 46">
              <a:extLst>
                <a:ext uri="{FF2B5EF4-FFF2-40B4-BE49-F238E27FC236}">
                  <a16:creationId xmlns:a16="http://schemas.microsoft.com/office/drawing/2014/main" id="{0B8A86A2-3907-4F04-A57E-DDC25A09D487}"/>
                </a:ext>
              </a:extLst>
            </p:cNvPr>
            <p:cNvGrpSpPr>
              <a:grpSpLocks/>
            </p:cNvGrpSpPr>
            <p:nvPr/>
          </p:nvGrpSpPr>
          <p:grpSpPr bwMode="auto">
            <a:xfrm>
              <a:off x="9150350" y="4449763"/>
              <a:ext cx="542925" cy="336550"/>
              <a:chOff x="3002" y="2535"/>
              <a:chExt cx="342" cy="212"/>
            </a:xfrm>
          </p:grpSpPr>
          <p:sp>
            <p:nvSpPr>
              <p:cNvPr id="48" name="Rectangle 47">
                <a:extLst>
                  <a:ext uri="{FF2B5EF4-FFF2-40B4-BE49-F238E27FC236}">
                    <a16:creationId xmlns:a16="http://schemas.microsoft.com/office/drawing/2014/main" id="{9F11244B-7E96-4185-845E-836B8524A72B}"/>
                  </a:ext>
                </a:extLst>
              </p:cNvPr>
              <p:cNvSpPr>
                <a:spLocks noChangeArrowheads="1"/>
              </p:cNvSpPr>
              <p:nvPr/>
            </p:nvSpPr>
            <p:spPr bwMode="auto">
              <a:xfrm>
                <a:off x="3168" y="2592"/>
                <a:ext cx="48" cy="4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 name="Text Box 48">
                <a:extLst>
                  <a:ext uri="{FF2B5EF4-FFF2-40B4-BE49-F238E27FC236}">
                    <a16:creationId xmlns:a16="http://schemas.microsoft.com/office/drawing/2014/main" id="{1EE618F2-A8C7-42F0-91BF-80877D29C448}"/>
                  </a:ext>
                </a:extLst>
              </p:cNvPr>
              <p:cNvSpPr txBox="1">
                <a:spLocks noChangeArrowheads="1"/>
              </p:cNvSpPr>
              <p:nvPr/>
            </p:nvSpPr>
            <p:spPr bwMode="auto">
              <a:xfrm>
                <a:off x="3002" y="2535"/>
                <a:ext cx="34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20000"/>
                  </a:spcBef>
                </a:pPr>
                <a:r>
                  <a:rPr lang="en-US" altLang="en-US" sz="1600">
                    <a:latin typeface="Symbol" panose="05050102010706020507" pitchFamily="18" charset="2"/>
                  </a:rPr>
                  <a:t>f</a:t>
                </a:r>
                <a:r>
                  <a:rPr lang="en-US" altLang="en-US" sz="1600">
                    <a:latin typeface="Times New Roman" panose="02020603050405020304" pitchFamily="18" charset="0"/>
                  </a:rPr>
                  <a:t>(  )</a:t>
                </a:r>
              </a:p>
            </p:txBody>
          </p:sp>
        </p:grpSp>
        <p:grpSp>
          <p:nvGrpSpPr>
            <p:cNvPr id="50" name="Group 49">
              <a:extLst>
                <a:ext uri="{FF2B5EF4-FFF2-40B4-BE49-F238E27FC236}">
                  <a16:creationId xmlns:a16="http://schemas.microsoft.com/office/drawing/2014/main" id="{1AD86168-A7A8-4AED-9831-752E7A87DD8F}"/>
                </a:ext>
              </a:extLst>
            </p:cNvPr>
            <p:cNvGrpSpPr>
              <a:grpSpLocks/>
            </p:cNvGrpSpPr>
            <p:nvPr/>
          </p:nvGrpSpPr>
          <p:grpSpPr bwMode="auto">
            <a:xfrm>
              <a:off x="8307388" y="4329113"/>
              <a:ext cx="542925" cy="336550"/>
              <a:chOff x="3002" y="2535"/>
              <a:chExt cx="342" cy="212"/>
            </a:xfrm>
          </p:grpSpPr>
          <p:sp>
            <p:nvSpPr>
              <p:cNvPr id="51" name="Rectangle 50">
                <a:extLst>
                  <a:ext uri="{FF2B5EF4-FFF2-40B4-BE49-F238E27FC236}">
                    <a16:creationId xmlns:a16="http://schemas.microsoft.com/office/drawing/2014/main" id="{2C15E4D5-1C7A-48EC-B61F-4BAD6BF22C93}"/>
                  </a:ext>
                </a:extLst>
              </p:cNvPr>
              <p:cNvSpPr>
                <a:spLocks noChangeArrowheads="1"/>
              </p:cNvSpPr>
              <p:nvPr/>
            </p:nvSpPr>
            <p:spPr bwMode="auto">
              <a:xfrm>
                <a:off x="3168" y="2592"/>
                <a:ext cx="48" cy="4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 name="Text Box 51">
                <a:extLst>
                  <a:ext uri="{FF2B5EF4-FFF2-40B4-BE49-F238E27FC236}">
                    <a16:creationId xmlns:a16="http://schemas.microsoft.com/office/drawing/2014/main" id="{55331EC8-009E-4846-89ED-83E54389E5C1}"/>
                  </a:ext>
                </a:extLst>
              </p:cNvPr>
              <p:cNvSpPr txBox="1">
                <a:spLocks noChangeArrowheads="1"/>
              </p:cNvSpPr>
              <p:nvPr/>
            </p:nvSpPr>
            <p:spPr bwMode="auto">
              <a:xfrm>
                <a:off x="3002" y="2535"/>
                <a:ext cx="34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20000"/>
                  </a:spcBef>
                </a:pPr>
                <a:r>
                  <a:rPr lang="en-US" altLang="en-US" sz="1600">
                    <a:latin typeface="Symbol" panose="05050102010706020507" pitchFamily="18" charset="2"/>
                  </a:rPr>
                  <a:t>f</a:t>
                </a:r>
                <a:r>
                  <a:rPr lang="en-US" altLang="en-US" sz="1600">
                    <a:latin typeface="Times New Roman" panose="02020603050405020304" pitchFamily="18" charset="0"/>
                  </a:rPr>
                  <a:t>(  )</a:t>
                </a:r>
              </a:p>
            </p:txBody>
          </p:sp>
        </p:grpSp>
        <p:grpSp>
          <p:nvGrpSpPr>
            <p:cNvPr id="53" name="Group 52">
              <a:extLst>
                <a:ext uri="{FF2B5EF4-FFF2-40B4-BE49-F238E27FC236}">
                  <a16:creationId xmlns:a16="http://schemas.microsoft.com/office/drawing/2014/main" id="{E9B4CF41-1355-41F9-B52C-34AEF4528CFA}"/>
                </a:ext>
              </a:extLst>
            </p:cNvPr>
            <p:cNvGrpSpPr>
              <a:grpSpLocks/>
            </p:cNvGrpSpPr>
            <p:nvPr/>
          </p:nvGrpSpPr>
          <p:grpSpPr bwMode="auto">
            <a:xfrm>
              <a:off x="9209088" y="3186113"/>
              <a:ext cx="542925" cy="336550"/>
              <a:chOff x="4300" y="2391"/>
              <a:chExt cx="342" cy="212"/>
            </a:xfrm>
          </p:grpSpPr>
          <p:sp>
            <p:nvSpPr>
              <p:cNvPr id="54" name="Oval 53">
                <a:extLst>
                  <a:ext uri="{FF2B5EF4-FFF2-40B4-BE49-F238E27FC236}">
                    <a16:creationId xmlns:a16="http://schemas.microsoft.com/office/drawing/2014/main" id="{FB537428-9841-4BC6-B0BD-89D26FD1AC08}"/>
                  </a:ext>
                </a:extLst>
              </p:cNvPr>
              <p:cNvSpPr>
                <a:spLocks noChangeArrowheads="1"/>
              </p:cNvSpPr>
              <p:nvPr/>
            </p:nvSpPr>
            <p:spPr bwMode="auto">
              <a:xfrm>
                <a:off x="4464" y="2448"/>
                <a:ext cx="48" cy="48"/>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 name="Text Box 54">
                <a:extLst>
                  <a:ext uri="{FF2B5EF4-FFF2-40B4-BE49-F238E27FC236}">
                    <a16:creationId xmlns:a16="http://schemas.microsoft.com/office/drawing/2014/main" id="{CDF69FE3-EF98-41CE-B778-EA6B4BDB062D}"/>
                  </a:ext>
                </a:extLst>
              </p:cNvPr>
              <p:cNvSpPr txBox="1">
                <a:spLocks noChangeArrowheads="1"/>
              </p:cNvSpPr>
              <p:nvPr/>
            </p:nvSpPr>
            <p:spPr bwMode="auto">
              <a:xfrm>
                <a:off x="4300" y="2391"/>
                <a:ext cx="34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20000"/>
                  </a:spcBef>
                </a:pPr>
                <a:r>
                  <a:rPr lang="en-US" altLang="en-US" sz="1600">
                    <a:latin typeface="Symbol" panose="05050102010706020507" pitchFamily="18" charset="2"/>
                  </a:rPr>
                  <a:t>f</a:t>
                </a:r>
                <a:r>
                  <a:rPr lang="en-US" altLang="en-US" sz="1600">
                    <a:latin typeface="Times New Roman" panose="02020603050405020304" pitchFamily="18" charset="0"/>
                  </a:rPr>
                  <a:t>(  )</a:t>
                </a:r>
              </a:p>
            </p:txBody>
          </p:sp>
        </p:grpSp>
        <p:grpSp>
          <p:nvGrpSpPr>
            <p:cNvPr id="56" name="Group 55">
              <a:extLst>
                <a:ext uri="{FF2B5EF4-FFF2-40B4-BE49-F238E27FC236}">
                  <a16:creationId xmlns:a16="http://schemas.microsoft.com/office/drawing/2014/main" id="{64091DFE-EB6A-44ED-BB0C-0712333EB442}"/>
                </a:ext>
              </a:extLst>
            </p:cNvPr>
            <p:cNvGrpSpPr>
              <a:grpSpLocks/>
            </p:cNvGrpSpPr>
            <p:nvPr/>
          </p:nvGrpSpPr>
          <p:grpSpPr bwMode="auto">
            <a:xfrm>
              <a:off x="8599488" y="2728913"/>
              <a:ext cx="542925" cy="336550"/>
              <a:chOff x="4300" y="2391"/>
              <a:chExt cx="342" cy="212"/>
            </a:xfrm>
          </p:grpSpPr>
          <p:sp>
            <p:nvSpPr>
              <p:cNvPr id="57" name="Oval 56">
                <a:extLst>
                  <a:ext uri="{FF2B5EF4-FFF2-40B4-BE49-F238E27FC236}">
                    <a16:creationId xmlns:a16="http://schemas.microsoft.com/office/drawing/2014/main" id="{1C5705C8-CF78-43F3-83D4-950FF2710259}"/>
                  </a:ext>
                </a:extLst>
              </p:cNvPr>
              <p:cNvSpPr>
                <a:spLocks noChangeArrowheads="1"/>
              </p:cNvSpPr>
              <p:nvPr/>
            </p:nvSpPr>
            <p:spPr bwMode="auto">
              <a:xfrm>
                <a:off x="4464" y="2448"/>
                <a:ext cx="48" cy="48"/>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 name="Text Box 57">
                <a:extLst>
                  <a:ext uri="{FF2B5EF4-FFF2-40B4-BE49-F238E27FC236}">
                    <a16:creationId xmlns:a16="http://schemas.microsoft.com/office/drawing/2014/main" id="{BFE6E37E-5535-4A29-8EF6-D5EDF0DCB545}"/>
                  </a:ext>
                </a:extLst>
              </p:cNvPr>
              <p:cNvSpPr txBox="1">
                <a:spLocks noChangeArrowheads="1"/>
              </p:cNvSpPr>
              <p:nvPr/>
            </p:nvSpPr>
            <p:spPr bwMode="auto">
              <a:xfrm>
                <a:off x="4300" y="2391"/>
                <a:ext cx="34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20000"/>
                  </a:spcBef>
                </a:pPr>
                <a:r>
                  <a:rPr lang="en-US" altLang="en-US" sz="1600">
                    <a:latin typeface="Symbol" panose="05050102010706020507" pitchFamily="18" charset="2"/>
                  </a:rPr>
                  <a:t>f</a:t>
                </a:r>
                <a:r>
                  <a:rPr lang="en-US" altLang="en-US" sz="1600">
                    <a:latin typeface="Times New Roman" panose="02020603050405020304" pitchFamily="18" charset="0"/>
                  </a:rPr>
                  <a:t>(  )</a:t>
                </a:r>
              </a:p>
            </p:txBody>
          </p:sp>
        </p:grpSp>
        <p:grpSp>
          <p:nvGrpSpPr>
            <p:cNvPr id="59" name="Group 58">
              <a:extLst>
                <a:ext uri="{FF2B5EF4-FFF2-40B4-BE49-F238E27FC236}">
                  <a16:creationId xmlns:a16="http://schemas.microsoft.com/office/drawing/2014/main" id="{B456EEB0-7015-4148-9FA9-1F9903287E08}"/>
                </a:ext>
              </a:extLst>
            </p:cNvPr>
            <p:cNvGrpSpPr>
              <a:grpSpLocks/>
            </p:cNvGrpSpPr>
            <p:nvPr/>
          </p:nvGrpSpPr>
          <p:grpSpPr bwMode="auto">
            <a:xfrm>
              <a:off x="8980488" y="3414713"/>
              <a:ext cx="542925" cy="336550"/>
              <a:chOff x="4300" y="2391"/>
              <a:chExt cx="342" cy="212"/>
            </a:xfrm>
          </p:grpSpPr>
          <p:sp>
            <p:nvSpPr>
              <p:cNvPr id="60" name="Oval 59">
                <a:extLst>
                  <a:ext uri="{FF2B5EF4-FFF2-40B4-BE49-F238E27FC236}">
                    <a16:creationId xmlns:a16="http://schemas.microsoft.com/office/drawing/2014/main" id="{661E4E01-D0A5-4F5F-9A48-0F4F9FF26888}"/>
                  </a:ext>
                </a:extLst>
              </p:cNvPr>
              <p:cNvSpPr>
                <a:spLocks noChangeArrowheads="1"/>
              </p:cNvSpPr>
              <p:nvPr/>
            </p:nvSpPr>
            <p:spPr bwMode="auto">
              <a:xfrm>
                <a:off x="4464" y="2448"/>
                <a:ext cx="48" cy="48"/>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 name="Text Box 60">
                <a:extLst>
                  <a:ext uri="{FF2B5EF4-FFF2-40B4-BE49-F238E27FC236}">
                    <a16:creationId xmlns:a16="http://schemas.microsoft.com/office/drawing/2014/main" id="{1AFDB4AC-E30D-4D73-AC41-76D7CADC780B}"/>
                  </a:ext>
                </a:extLst>
              </p:cNvPr>
              <p:cNvSpPr txBox="1">
                <a:spLocks noChangeArrowheads="1"/>
              </p:cNvSpPr>
              <p:nvPr/>
            </p:nvSpPr>
            <p:spPr bwMode="auto">
              <a:xfrm>
                <a:off x="4300" y="2391"/>
                <a:ext cx="34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20000"/>
                  </a:spcBef>
                </a:pPr>
                <a:r>
                  <a:rPr lang="en-US" altLang="en-US" sz="1600">
                    <a:latin typeface="Symbol" panose="05050102010706020507" pitchFamily="18" charset="2"/>
                  </a:rPr>
                  <a:t>f</a:t>
                </a:r>
                <a:r>
                  <a:rPr lang="en-US" altLang="en-US" sz="1600">
                    <a:latin typeface="Times New Roman" panose="02020603050405020304" pitchFamily="18" charset="0"/>
                  </a:rPr>
                  <a:t>(  )</a:t>
                </a:r>
              </a:p>
            </p:txBody>
          </p:sp>
        </p:grpSp>
        <p:grpSp>
          <p:nvGrpSpPr>
            <p:cNvPr id="62" name="Group 61">
              <a:extLst>
                <a:ext uri="{FF2B5EF4-FFF2-40B4-BE49-F238E27FC236}">
                  <a16:creationId xmlns:a16="http://schemas.microsoft.com/office/drawing/2014/main" id="{10DA04DC-AA29-4D29-BCF5-0AE56025EC16}"/>
                </a:ext>
              </a:extLst>
            </p:cNvPr>
            <p:cNvGrpSpPr>
              <a:grpSpLocks/>
            </p:cNvGrpSpPr>
            <p:nvPr/>
          </p:nvGrpSpPr>
          <p:grpSpPr bwMode="auto">
            <a:xfrm>
              <a:off x="8751888" y="3109913"/>
              <a:ext cx="542925" cy="336550"/>
              <a:chOff x="4300" y="2391"/>
              <a:chExt cx="342" cy="212"/>
            </a:xfrm>
          </p:grpSpPr>
          <p:sp>
            <p:nvSpPr>
              <p:cNvPr id="63" name="Oval 62">
                <a:extLst>
                  <a:ext uri="{FF2B5EF4-FFF2-40B4-BE49-F238E27FC236}">
                    <a16:creationId xmlns:a16="http://schemas.microsoft.com/office/drawing/2014/main" id="{A6612974-963A-4BB9-B4B1-194662E63EB1}"/>
                  </a:ext>
                </a:extLst>
              </p:cNvPr>
              <p:cNvSpPr>
                <a:spLocks noChangeArrowheads="1"/>
              </p:cNvSpPr>
              <p:nvPr/>
            </p:nvSpPr>
            <p:spPr bwMode="auto">
              <a:xfrm>
                <a:off x="4464" y="2448"/>
                <a:ext cx="48" cy="48"/>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 name="Text Box 63">
                <a:extLst>
                  <a:ext uri="{FF2B5EF4-FFF2-40B4-BE49-F238E27FC236}">
                    <a16:creationId xmlns:a16="http://schemas.microsoft.com/office/drawing/2014/main" id="{73C72F33-69F4-40C9-B7CF-B4F20197EE2E}"/>
                  </a:ext>
                </a:extLst>
              </p:cNvPr>
              <p:cNvSpPr txBox="1">
                <a:spLocks noChangeArrowheads="1"/>
              </p:cNvSpPr>
              <p:nvPr/>
            </p:nvSpPr>
            <p:spPr bwMode="auto">
              <a:xfrm>
                <a:off x="4300" y="2391"/>
                <a:ext cx="34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20000"/>
                  </a:spcBef>
                </a:pPr>
                <a:r>
                  <a:rPr lang="en-US" altLang="en-US" sz="1600">
                    <a:latin typeface="Symbol" panose="05050102010706020507" pitchFamily="18" charset="2"/>
                  </a:rPr>
                  <a:t>f</a:t>
                </a:r>
                <a:r>
                  <a:rPr lang="en-US" altLang="en-US" sz="1600">
                    <a:latin typeface="Times New Roman" panose="02020603050405020304" pitchFamily="18" charset="0"/>
                  </a:rPr>
                  <a:t>(  )</a:t>
                </a:r>
              </a:p>
            </p:txBody>
          </p:sp>
        </p:grpSp>
        <p:grpSp>
          <p:nvGrpSpPr>
            <p:cNvPr id="65" name="Group 64">
              <a:extLst>
                <a:ext uri="{FF2B5EF4-FFF2-40B4-BE49-F238E27FC236}">
                  <a16:creationId xmlns:a16="http://schemas.microsoft.com/office/drawing/2014/main" id="{DC142A77-7A4E-43BF-9E76-24806673A720}"/>
                </a:ext>
              </a:extLst>
            </p:cNvPr>
            <p:cNvGrpSpPr>
              <a:grpSpLocks/>
            </p:cNvGrpSpPr>
            <p:nvPr/>
          </p:nvGrpSpPr>
          <p:grpSpPr bwMode="auto">
            <a:xfrm>
              <a:off x="8904288" y="2881313"/>
              <a:ext cx="542925" cy="336550"/>
              <a:chOff x="4300" y="2391"/>
              <a:chExt cx="342" cy="212"/>
            </a:xfrm>
          </p:grpSpPr>
          <p:sp>
            <p:nvSpPr>
              <p:cNvPr id="66" name="Oval 65">
                <a:extLst>
                  <a:ext uri="{FF2B5EF4-FFF2-40B4-BE49-F238E27FC236}">
                    <a16:creationId xmlns:a16="http://schemas.microsoft.com/office/drawing/2014/main" id="{37D5E253-B7A0-4D60-996E-B4E553D7BDA5}"/>
                  </a:ext>
                </a:extLst>
              </p:cNvPr>
              <p:cNvSpPr>
                <a:spLocks noChangeArrowheads="1"/>
              </p:cNvSpPr>
              <p:nvPr/>
            </p:nvSpPr>
            <p:spPr bwMode="auto">
              <a:xfrm>
                <a:off x="4464" y="2448"/>
                <a:ext cx="48" cy="48"/>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 name="Text Box 66">
                <a:extLst>
                  <a:ext uri="{FF2B5EF4-FFF2-40B4-BE49-F238E27FC236}">
                    <a16:creationId xmlns:a16="http://schemas.microsoft.com/office/drawing/2014/main" id="{9374DD56-366A-4538-A0D5-2BA1528112B6}"/>
                  </a:ext>
                </a:extLst>
              </p:cNvPr>
              <p:cNvSpPr txBox="1">
                <a:spLocks noChangeArrowheads="1"/>
              </p:cNvSpPr>
              <p:nvPr/>
            </p:nvSpPr>
            <p:spPr bwMode="auto">
              <a:xfrm>
                <a:off x="4300" y="2391"/>
                <a:ext cx="34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20000"/>
                  </a:spcBef>
                </a:pPr>
                <a:r>
                  <a:rPr lang="en-US" altLang="en-US" sz="1600">
                    <a:latin typeface="Symbol" panose="05050102010706020507" pitchFamily="18" charset="2"/>
                  </a:rPr>
                  <a:t>f</a:t>
                </a:r>
                <a:r>
                  <a:rPr lang="en-US" altLang="en-US" sz="1600">
                    <a:latin typeface="Times New Roman" panose="02020603050405020304" pitchFamily="18" charset="0"/>
                  </a:rPr>
                  <a:t>(  )</a:t>
                </a:r>
              </a:p>
            </p:txBody>
          </p:sp>
        </p:grpSp>
        <p:grpSp>
          <p:nvGrpSpPr>
            <p:cNvPr id="68" name="Group 67">
              <a:extLst>
                <a:ext uri="{FF2B5EF4-FFF2-40B4-BE49-F238E27FC236}">
                  <a16:creationId xmlns:a16="http://schemas.microsoft.com/office/drawing/2014/main" id="{CFBFF110-31C2-46E8-B14B-4C113C96B044}"/>
                </a:ext>
              </a:extLst>
            </p:cNvPr>
            <p:cNvGrpSpPr>
              <a:grpSpLocks/>
            </p:cNvGrpSpPr>
            <p:nvPr/>
          </p:nvGrpSpPr>
          <p:grpSpPr bwMode="auto">
            <a:xfrm>
              <a:off x="9437688" y="3992563"/>
              <a:ext cx="542925" cy="336550"/>
              <a:chOff x="4300" y="2391"/>
              <a:chExt cx="342" cy="212"/>
            </a:xfrm>
          </p:grpSpPr>
          <p:sp>
            <p:nvSpPr>
              <p:cNvPr id="69" name="Oval 68">
                <a:extLst>
                  <a:ext uri="{FF2B5EF4-FFF2-40B4-BE49-F238E27FC236}">
                    <a16:creationId xmlns:a16="http://schemas.microsoft.com/office/drawing/2014/main" id="{D62CE269-F597-44DD-89AB-A6A1D66BB7FA}"/>
                  </a:ext>
                </a:extLst>
              </p:cNvPr>
              <p:cNvSpPr>
                <a:spLocks noChangeArrowheads="1"/>
              </p:cNvSpPr>
              <p:nvPr/>
            </p:nvSpPr>
            <p:spPr bwMode="auto">
              <a:xfrm>
                <a:off x="4464" y="2448"/>
                <a:ext cx="48" cy="48"/>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0" name="Text Box 69">
                <a:extLst>
                  <a:ext uri="{FF2B5EF4-FFF2-40B4-BE49-F238E27FC236}">
                    <a16:creationId xmlns:a16="http://schemas.microsoft.com/office/drawing/2014/main" id="{95C7A9EA-A0D1-4AE9-A499-2A79012E9418}"/>
                  </a:ext>
                </a:extLst>
              </p:cNvPr>
              <p:cNvSpPr txBox="1">
                <a:spLocks noChangeArrowheads="1"/>
              </p:cNvSpPr>
              <p:nvPr/>
            </p:nvSpPr>
            <p:spPr bwMode="auto">
              <a:xfrm>
                <a:off x="4300" y="2391"/>
                <a:ext cx="34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20000"/>
                  </a:spcBef>
                </a:pPr>
                <a:r>
                  <a:rPr lang="en-US" altLang="en-US" sz="1600">
                    <a:latin typeface="Symbol" panose="05050102010706020507" pitchFamily="18" charset="2"/>
                  </a:rPr>
                  <a:t>f</a:t>
                </a:r>
                <a:r>
                  <a:rPr lang="en-US" altLang="en-US" sz="1600">
                    <a:latin typeface="Times New Roman" panose="02020603050405020304" pitchFamily="18" charset="0"/>
                  </a:rPr>
                  <a:t>(  )</a:t>
                </a:r>
              </a:p>
            </p:txBody>
          </p:sp>
        </p:grpSp>
        <p:grpSp>
          <p:nvGrpSpPr>
            <p:cNvPr id="71" name="Group 70">
              <a:extLst>
                <a:ext uri="{FF2B5EF4-FFF2-40B4-BE49-F238E27FC236}">
                  <a16:creationId xmlns:a16="http://schemas.microsoft.com/office/drawing/2014/main" id="{A1D9F792-F51F-4112-B8CE-8D9EB2E5BD80}"/>
                </a:ext>
              </a:extLst>
            </p:cNvPr>
            <p:cNvGrpSpPr>
              <a:grpSpLocks/>
            </p:cNvGrpSpPr>
            <p:nvPr/>
          </p:nvGrpSpPr>
          <p:grpSpPr bwMode="auto">
            <a:xfrm>
              <a:off x="9437688" y="3567113"/>
              <a:ext cx="542925" cy="336550"/>
              <a:chOff x="4300" y="2391"/>
              <a:chExt cx="342" cy="212"/>
            </a:xfrm>
          </p:grpSpPr>
          <p:sp>
            <p:nvSpPr>
              <p:cNvPr id="72" name="Oval 71">
                <a:extLst>
                  <a:ext uri="{FF2B5EF4-FFF2-40B4-BE49-F238E27FC236}">
                    <a16:creationId xmlns:a16="http://schemas.microsoft.com/office/drawing/2014/main" id="{ECA38DDA-0A70-488E-86A1-925E67ECC02E}"/>
                  </a:ext>
                </a:extLst>
              </p:cNvPr>
              <p:cNvSpPr>
                <a:spLocks noChangeArrowheads="1"/>
              </p:cNvSpPr>
              <p:nvPr/>
            </p:nvSpPr>
            <p:spPr bwMode="auto">
              <a:xfrm>
                <a:off x="4464" y="2448"/>
                <a:ext cx="48" cy="48"/>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3" name="Text Box 72">
                <a:extLst>
                  <a:ext uri="{FF2B5EF4-FFF2-40B4-BE49-F238E27FC236}">
                    <a16:creationId xmlns:a16="http://schemas.microsoft.com/office/drawing/2014/main" id="{645F6CAB-D378-47E1-91D6-9F2ED58AECF2}"/>
                  </a:ext>
                </a:extLst>
              </p:cNvPr>
              <p:cNvSpPr txBox="1">
                <a:spLocks noChangeArrowheads="1"/>
              </p:cNvSpPr>
              <p:nvPr/>
            </p:nvSpPr>
            <p:spPr bwMode="auto">
              <a:xfrm>
                <a:off x="4300" y="2391"/>
                <a:ext cx="34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20000"/>
                  </a:spcBef>
                </a:pPr>
                <a:r>
                  <a:rPr lang="en-US" altLang="en-US" sz="1600">
                    <a:latin typeface="Symbol" panose="05050102010706020507" pitchFamily="18" charset="2"/>
                  </a:rPr>
                  <a:t>f</a:t>
                </a:r>
                <a:r>
                  <a:rPr lang="en-US" altLang="en-US" sz="1600">
                    <a:latin typeface="Times New Roman" panose="02020603050405020304" pitchFamily="18" charset="0"/>
                  </a:rPr>
                  <a:t>(  )</a:t>
                </a:r>
              </a:p>
            </p:txBody>
          </p:sp>
        </p:grpSp>
        <p:grpSp>
          <p:nvGrpSpPr>
            <p:cNvPr id="74" name="Group 73">
              <a:extLst>
                <a:ext uri="{FF2B5EF4-FFF2-40B4-BE49-F238E27FC236}">
                  <a16:creationId xmlns:a16="http://schemas.microsoft.com/office/drawing/2014/main" id="{ED7E0EDE-6572-4E98-A4B2-B34C94AFB5E9}"/>
                </a:ext>
              </a:extLst>
            </p:cNvPr>
            <p:cNvGrpSpPr>
              <a:grpSpLocks/>
            </p:cNvGrpSpPr>
            <p:nvPr/>
          </p:nvGrpSpPr>
          <p:grpSpPr bwMode="auto">
            <a:xfrm>
              <a:off x="9285288" y="3763963"/>
              <a:ext cx="542925" cy="336550"/>
              <a:chOff x="4300" y="2391"/>
              <a:chExt cx="342" cy="212"/>
            </a:xfrm>
          </p:grpSpPr>
          <p:sp>
            <p:nvSpPr>
              <p:cNvPr id="75" name="Oval 74">
                <a:extLst>
                  <a:ext uri="{FF2B5EF4-FFF2-40B4-BE49-F238E27FC236}">
                    <a16:creationId xmlns:a16="http://schemas.microsoft.com/office/drawing/2014/main" id="{35A1AB0C-7119-4350-AC5F-41B0804F5A98}"/>
                  </a:ext>
                </a:extLst>
              </p:cNvPr>
              <p:cNvSpPr>
                <a:spLocks noChangeArrowheads="1"/>
              </p:cNvSpPr>
              <p:nvPr/>
            </p:nvSpPr>
            <p:spPr bwMode="auto">
              <a:xfrm>
                <a:off x="4464" y="2448"/>
                <a:ext cx="48" cy="48"/>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6" name="Text Box 75">
                <a:extLst>
                  <a:ext uri="{FF2B5EF4-FFF2-40B4-BE49-F238E27FC236}">
                    <a16:creationId xmlns:a16="http://schemas.microsoft.com/office/drawing/2014/main" id="{EA516A3D-3414-4C9A-A997-7017B5DBA6AA}"/>
                  </a:ext>
                </a:extLst>
              </p:cNvPr>
              <p:cNvSpPr txBox="1">
                <a:spLocks noChangeArrowheads="1"/>
              </p:cNvSpPr>
              <p:nvPr/>
            </p:nvSpPr>
            <p:spPr bwMode="auto">
              <a:xfrm>
                <a:off x="4300" y="2391"/>
                <a:ext cx="34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20000"/>
                  </a:spcBef>
                </a:pPr>
                <a:r>
                  <a:rPr lang="en-US" altLang="en-US" sz="1600">
                    <a:latin typeface="Symbol" panose="05050102010706020507" pitchFamily="18" charset="2"/>
                  </a:rPr>
                  <a:t>f</a:t>
                </a:r>
                <a:r>
                  <a:rPr lang="en-US" altLang="en-US" sz="1600">
                    <a:latin typeface="Times New Roman" panose="02020603050405020304" pitchFamily="18" charset="0"/>
                  </a:rPr>
                  <a:t>(  )</a:t>
                </a:r>
              </a:p>
            </p:txBody>
          </p:sp>
        </p:grpSp>
      </p:grpSp>
      <p:sp>
        <p:nvSpPr>
          <p:cNvPr id="77" name="AutoShape 76">
            <a:extLst>
              <a:ext uri="{FF2B5EF4-FFF2-40B4-BE49-F238E27FC236}">
                <a16:creationId xmlns:a16="http://schemas.microsoft.com/office/drawing/2014/main" id="{EF879565-A535-4DA4-8498-9634981D0D8E}"/>
              </a:ext>
            </a:extLst>
          </p:cNvPr>
          <p:cNvSpPr>
            <a:spLocks noChangeArrowheads="1"/>
          </p:cNvSpPr>
          <p:nvPr/>
        </p:nvSpPr>
        <p:spPr bwMode="auto">
          <a:xfrm>
            <a:off x="5029199" y="3352800"/>
            <a:ext cx="1831974" cy="654050"/>
          </a:xfrm>
          <a:prstGeom prst="rightArrow">
            <a:avLst>
              <a:gd name="adj1" fmla="val 50000"/>
              <a:gd name="adj2" fmla="val 65000"/>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8" name="Text Box 59">
            <a:extLst>
              <a:ext uri="{FF2B5EF4-FFF2-40B4-BE49-F238E27FC236}">
                <a16:creationId xmlns:a16="http://schemas.microsoft.com/office/drawing/2014/main" id="{8A80B8E2-9635-4BAE-B81D-4EA67D87716D}"/>
              </a:ext>
            </a:extLst>
          </p:cNvPr>
          <p:cNvSpPr txBox="1">
            <a:spLocks noChangeArrowheads="1"/>
          </p:cNvSpPr>
          <p:nvPr/>
        </p:nvSpPr>
        <p:spPr bwMode="auto">
          <a:xfrm>
            <a:off x="4722815" y="2667000"/>
            <a:ext cx="236378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l-GR" altLang="en-US" sz="2800">
                <a:latin typeface="Times New Roman" panose="02020603050405020304" pitchFamily="18" charset="0"/>
                <a:cs typeface="Times New Roman" panose="02020603050405020304" pitchFamily="18" charset="0"/>
              </a:rPr>
              <a:t>Φ</a:t>
            </a:r>
            <a:r>
              <a:rPr lang="en-US" altLang="zh-CN" sz="2800">
                <a:latin typeface="Times New Roman" panose="02020603050405020304" pitchFamily="18" charset="0"/>
                <a:cs typeface="Times New Roman" panose="02020603050405020304" pitchFamily="18" charset="0"/>
              </a:rPr>
              <a:t>:  </a:t>
            </a:r>
            <a:r>
              <a:rPr lang="en-US" altLang="zh-CN" sz="2800" b="1">
                <a:latin typeface="Times New Roman" panose="02020603050405020304" pitchFamily="18" charset="0"/>
                <a:cs typeface="Times New Roman" panose="02020603050405020304" pitchFamily="18" charset="0"/>
              </a:rPr>
              <a:t>x</a:t>
            </a:r>
            <a:r>
              <a:rPr lang="en-US" altLang="zh-CN" sz="2800" b="1" baseline="-25000">
                <a:latin typeface="Times New Roman" panose="02020603050405020304" pitchFamily="18" charset="0"/>
                <a:cs typeface="Times New Roman" panose="02020603050405020304" pitchFamily="18" charset="0"/>
              </a:rPr>
              <a:t> </a:t>
            </a:r>
            <a:r>
              <a:rPr lang="en-US" altLang="zh-CN" sz="2800" b="1">
                <a:latin typeface="Times New Roman" panose="02020603050405020304" pitchFamily="18" charset="0"/>
                <a:cs typeface="Times New Roman" panose="02020603050405020304" pitchFamily="18" charset="0"/>
              </a:rPr>
              <a:t>→</a:t>
            </a:r>
            <a:r>
              <a:rPr lang="en-US" altLang="zh-CN" sz="2800">
                <a:latin typeface="Times New Roman" panose="02020603050405020304" pitchFamily="18" charset="0"/>
                <a:cs typeface="Times New Roman" panose="02020603050405020304" pitchFamily="18" charset="0"/>
              </a:rPr>
              <a:t> </a:t>
            </a:r>
            <a:r>
              <a:rPr lang="el-GR" altLang="en-US" sz="2800">
                <a:latin typeface="Times New Roman" panose="02020603050405020304" pitchFamily="18" charset="0"/>
                <a:cs typeface="Times New Roman" panose="02020603050405020304" pitchFamily="18" charset="0"/>
              </a:rPr>
              <a:t>φ</a:t>
            </a:r>
            <a:r>
              <a:rPr lang="en-US" altLang="zh-CN" sz="2800">
                <a:latin typeface="Times New Roman" panose="02020603050405020304" pitchFamily="18" charset="0"/>
                <a:cs typeface="Times New Roman" panose="02020603050405020304" pitchFamily="18" charset="0"/>
              </a:rPr>
              <a:t>(</a:t>
            </a:r>
            <a:r>
              <a:rPr lang="en-US" altLang="zh-CN" sz="2800" b="1">
                <a:latin typeface="Times New Roman" panose="02020603050405020304" pitchFamily="18" charset="0"/>
                <a:cs typeface="Times New Roman" panose="02020603050405020304" pitchFamily="18" charset="0"/>
              </a:rPr>
              <a:t>x</a:t>
            </a:r>
            <a:r>
              <a:rPr lang="en-US" altLang="zh-CN" sz="280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65077986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B52962BE-956B-4C2B-8959-F81F49C5B9E9}"/>
              </a:ext>
            </a:extLst>
          </p:cNvPr>
          <p:cNvSpPr>
            <a:spLocks noGrp="1"/>
          </p:cNvSpPr>
          <p:nvPr>
            <p:ph type="title"/>
          </p:nvPr>
        </p:nvSpPr>
        <p:spPr/>
        <p:txBody>
          <a:bodyPr/>
          <a:lstStyle/>
          <a:p>
            <a:r>
              <a:rPr lang="en-US" altLang="zh-CN"/>
              <a:t>General idea</a:t>
            </a:r>
            <a:endParaRPr lang="en-US"/>
          </a:p>
        </p:txBody>
      </p:sp>
      <p:sp>
        <p:nvSpPr>
          <p:cNvPr id="15" name="Content Placeholder 14">
            <a:extLst>
              <a:ext uri="{FF2B5EF4-FFF2-40B4-BE49-F238E27FC236}">
                <a16:creationId xmlns:a16="http://schemas.microsoft.com/office/drawing/2014/main" id="{52A53E4F-6A54-4CD1-B368-6231912A4BB2}"/>
              </a:ext>
            </a:extLst>
          </p:cNvPr>
          <p:cNvSpPr>
            <a:spLocks noGrp="1"/>
          </p:cNvSpPr>
          <p:nvPr>
            <p:ph idx="1"/>
          </p:nvPr>
        </p:nvSpPr>
        <p:spPr/>
        <p:txBody>
          <a:bodyPr/>
          <a:lstStyle/>
          <a:p>
            <a:pPr algn="just"/>
            <a:r>
              <a:rPr lang="en-US" altLang="zh-CN"/>
              <a:t>The original input space can always be mapped to some higher-dimensional feature space where the training set is separable:</a:t>
            </a:r>
          </a:p>
          <a:p>
            <a:pPr algn="just"/>
            <a:endParaRPr lang="en-US"/>
          </a:p>
        </p:txBody>
      </p:sp>
      <p:sp>
        <p:nvSpPr>
          <p:cNvPr id="4" name="Line 6">
            <a:extLst>
              <a:ext uri="{FF2B5EF4-FFF2-40B4-BE49-F238E27FC236}">
                <a16:creationId xmlns:a16="http://schemas.microsoft.com/office/drawing/2014/main" id="{0CAD933C-3DF1-4E6E-8D08-4AE4ECA1EDB8}"/>
              </a:ext>
            </a:extLst>
          </p:cNvPr>
          <p:cNvSpPr>
            <a:spLocks noChangeShapeType="1"/>
          </p:cNvSpPr>
          <p:nvPr/>
        </p:nvSpPr>
        <p:spPr bwMode="auto">
          <a:xfrm flipV="1">
            <a:off x="3449638" y="2990850"/>
            <a:ext cx="0" cy="3041650"/>
          </a:xfrm>
          <a:prstGeom prst="line">
            <a:avLst/>
          </a:prstGeom>
          <a:noFill/>
          <a:ln w="38100">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 name="Line 7">
            <a:extLst>
              <a:ext uri="{FF2B5EF4-FFF2-40B4-BE49-F238E27FC236}">
                <a16:creationId xmlns:a16="http://schemas.microsoft.com/office/drawing/2014/main" id="{BBE3F0DF-1418-463E-AD75-37818B4F03B7}"/>
              </a:ext>
            </a:extLst>
          </p:cNvPr>
          <p:cNvSpPr>
            <a:spLocks noChangeShapeType="1"/>
          </p:cNvSpPr>
          <p:nvPr/>
        </p:nvSpPr>
        <p:spPr bwMode="auto">
          <a:xfrm flipV="1">
            <a:off x="1828800" y="4602163"/>
            <a:ext cx="3319463" cy="0"/>
          </a:xfrm>
          <a:prstGeom prst="line">
            <a:avLst/>
          </a:prstGeom>
          <a:noFill/>
          <a:ln w="38100">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 name="AutoShape 8">
            <a:extLst>
              <a:ext uri="{FF2B5EF4-FFF2-40B4-BE49-F238E27FC236}">
                <a16:creationId xmlns:a16="http://schemas.microsoft.com/office/drawing/2014/main" id="{A2D4270D-2FAD-4B12-A7D0-A9514DD63CB7}"/>
              </a:ext>
            </a:extLst>
          </p:cNvPr>
          <p:cNvSpPr>
            <a:spLocks noChangeArrowheads="1"/>
          </p:cNvSpPr>
          <p:nvPr/>
        </p:nvSpPr>
        <p:spPr bwMode="auto">
          <a:xfrm>
            <a:off x="3479800" y="3822700"/>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AutoShape 9">
            <a:extLst>
              <a:ext uri="{FF2B5EF4-FFF2-40B4-BE49-F238E27FC236}">
                <a16:creationId xmlns:a16="http://schemas.microsoft.com/office/drawing/2014/main" id="{3F213C45-CA18-4B53-949B-E34A2AC1D5D0}"/>
              </a:ext>
            </a:extLst>
          </p:cNvPr>
          <p:cNvSpPr>
            <a:spLocks noChangeArrowheads="1"/>
          </p:cNvSpPr>
          <p:nvPr/>
        </p:nvSpPr>
        <p:spPr bwMode="auto">
          <a:xfrm>
            <a:off x="2905125" y="41798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AutoShape 10">
            <a:extLst>
              <a:ext uri="{FF2B5EF4-FFF2-40B4-BE49-F238E27FC236}">
                <a16:creationId xmlns:a16="http://schemas.microsoft.com/office/drawing/2014/main" id="{68B1A984-0345-4856-8F07-FA2E5D4D72A9}"/>
              </a:ext>
            </a:extLst>
          </p:cNvPr>
          <p:cNvSpPr>
            <a:spLocks noChangeArrowheads="1"/>
          </p:cNvSpPr>
          <p:nvPr/>
        </p:nvSpPr>
        <p:spPr bwMode="auto">
          <a:xfrm>
            <a:off x="3057525" y="47259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AutoShape 11">
            <a:extLst>
              <a:ext uri="{FF2B5EF4-FFF2-40B4-BE49-F238E27FC236}">
                <a16:creationId xmlns:a16="http://schemas.microsoft.com/office/drawing/2014/main" id="{99B5817A-052A-4994-8843-15D2A48062DC}"/>
              </a:ext>
            </a:extLst>
          </p:cNvPr>
          <p:cNvSpPr>
            <a:spLocks noChangeArrowheads="1"/>
          </p:cNvSpPr>
          <p:nvPr/>
        </p:nvSpPr>
        <p:spPr bwMode="auto">
          <a:xfrm>
            <a:off x="3590925" y="520223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AutoShape 12">
            <a:extLst>
              <a:ext uri="{FF2B5EF4-FFF2-40B4-BE49-F238E27FC236}">
                <a16:creationId xmlns:a16="http://schemas.microsoft.com/office/drawing/2014/main" id="{C828F286-EBDD-4812-94DA-7C4B2FCC2BA0}"/>
              </a:ext>
            </a:extLst>
          </p:cNvPr>
          <p:cNvSpPr>
            <a:spLocks noChangeArrowheads="1"/>
          </p:cNvSpPr>
          <p:nvPr/>
        </p:nvSpPr>
        <p:spPr bwMode="auto">
          <a:xfrm>
            <a:off x="3171825" y="386873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AutoShape 13">
            <a:extLst>
              <a:ext uri="{FF2B5EF4-FFF2-40B4-BE49-F238E27FC236}">
                <a16:creationId xmlns:a16="http://schemas.microsoft.com/office/drawing/2014/main" id="{059A403D-3257-406C-B4E6-7B6C0F5B5B5B}"/>
              </a:ext>
            </a:extLst>
          </p:cNvPr>
          <p:cNvSpPr>
            <a:spLocks noChangeArrowheads="1"/>
          </p:cNvSpPr>
          <p:nvPr/>
        </p:nvSpPr>
        <p:spPr bwMode="auto">
          <a:xfrm>
            <a:off x="2676525" y="44973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AutoShape 14">
            <a:extLst>
              <a:ext uri="{FF2B5EF4-FFF2-40B4-BE49-F238E27FC236}">
                <a16:creationId xmlns:a16="http://schemas.microsoft.com/office/drawing/2014/main" id="{96D8DFCF-9130-4B74-9939-299B0CFEDFD1}"/>
              </a:ext>
            </a:extLst>
          </p:cNvPr>
          <p:cNvSpPr>
            <a:spLocks noChangeArrowheads="1"/>
          </p:cNvSpPr>
          <p:nvPr/>
        </p:nvSpPr>
        <p:spPr bwMode="auto">
          <a:xfrm>
            <a:off x="3095625" y="524033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AutoShape 15">
            <a:extLst>
              <a:ext uri="{FF2B5EF4-FFF2-40B4-BE49-F238E27FC236}">
                <a16:creationId xmlns:a16="http://schemas.microsoft.com/office/drawing/2014/main" id="{B9405094-E2AB-4E83-8473-9F64F076BD4F}"/>
              </a:ext>
            </a:extLst>
          </p:cNvPr>
          <p:cNvSpPr>
            <a:spLocks noChangeArrowheads="1"/>
          </p:cNvSpPr>
          <p:nvPr/>
        </p:nvSpPr>
        <p:spPr bwMode="auto">
          <a:xfrm>
            <a:off x="3590925" y="42687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AutoShape 16">
            <a:extLst>
              <a:ext uri="{FF2B5EF4-FFF2-40B4-BE49-F238E27FC236}">
                <a16:creationId xmlns:a16="http://schemas.microsoft.com/office/drawing/2014/main" id="{0F88A659-6BBA-45F9-99AD-84EDE0EDB51A}"/>
              </a:ext>
            </a:extLst>
          </p:cNvPr>
          <p:cNvSpPr>
            <a:spLocks noChangeArrowheads="1"/>
          </p:cNvSpPr>
          <p:nvPr/>
        </p:nvSpPr>
        <p:spPr bwMode="auto">
          <a:xfrm>
            <a:off x="4492625" y="42560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AutoShape 17">
            <a:extLst>
              <a:ext uri="{FF2B5EF4-FFF2-40B4-BE49-F238E27FC236}">
                <a16:creationId xmlns:a16="http://schemas.microsoft.com/office/drawing/2014/main" id="{9FDCBE06-2C4C-4B08-BC7E-74E662BE2DBC}"/>
              </a:ext>
            </a:extLst>
          </p:cNvPr>
          <p:cNvSpPr>
            <a:spLocks noChangeArrowheads="1"/>
          </p:cNvSpPr>
          <p:nvPr/>
        </p:nvSpPr>
        <p:spPr bwMode="auto">
          <a:xfrm>
            <a:off x="4352925" y="54689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AutoShape 18">
            <a:extLst>
              <a:ext uri="{FF2B5EF4-FFF2-40B4-BE49-F238E27FC236}">
                <a16:creationId xmlns:a16="http://schemas.microsoft.com/office/drawing/2014/main" id="{348F1CEB-1DAE-4679-A2BA-54F29C11EC6A}"/>
              </a:ext>
            </a:extLst>
          </p:cNvPr>
          <p:cNvSpPr>
            <a:spLocks noChangeArrowheads="1"/>
          </p:cNvSpPr>
          <p:nvPr/>
        </p:nvSpPr>
        <p:spPr bwMode="auto">
          <a:xfrm>
            <a:off x="2105025" y="43830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AutoShape 19">
            <a:extLst>
              <a:ext uri="{FF2B5EF4-FFF2-40B4-BE49-F238E27FC236}">
                <a16:creationId xmlns:a16="http://schemas.microsoft.com/office/drawing/2014/main" id="{EF87BBC1-C7F3-4264-B939-C6D95C257D05}"/>
              </a:ext>
            </a:extLst>
          </p:cNvPr>
          <p:cNvSpPr>
            <a:spLocks noChangeArrowheads="1"/>
          </p:cNvSpPr>
          <p:nvPr/>
        </p:nvSpPr>
        <p:spPr bwMode="auto">
          <a:xfrm>
            <a:off x="3616325" y="58372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AutoShape 20">
            <a:extLst>
              <a:ext uri="{FF2B5EF4-FFF2-40B4-BE49-F238E27FC236}">
                <a16:creationId xmlns:a16="http://schemas.microsoft.com/office/drawing/2014/main" id="{72EFD6B6-9644-451B-92F6-A6DEA22583A0}"/>
              </a:ext>
            </a:extLst>
          </p:cNvPr>
          <p:cNvSpPr>
            <a:spLocks noChangeArrowheads="1"/>
          </p:cNvSpPr>
          <p:nvPr/>
        </p:nvSpPr>
        <p:spPr bwMode="auto">
          <a:xfrm>
            <a:off x="4581525" y="49926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AutoShape 21">
            <a:extLst>
              <a:ext uri="{FF2B5EF4-FFF2-40B4-BE49-F238E27FC236}">
                <a16:creationId xmlns:a16="http://schemas.microsoft.com/office/drawing/2014/main" id="{8E7AC1C0-20B8-4FBC-B628-1F6BA16A5C7A}"/>
              </a:ext>
            </a:extLst>
          </p:cNvPr>
          <p:cNvSpPr>
            <a:spLocks noChangeArrowheads="1"/>
          </p:cNvSpPr>
          <p:nvPr/>
        </p:nvSpPr>
        <p:spPr bwMode="auto">
          <a:xfrm>
            <a:off x="2644775" y="55324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AutoShape 22">
            <a:extLst>
              <a:ext uri="{FF2B5EF4-FFF2-40B4-BE49-F238E27FC236}">
                <a16:creationId xmlns:a16="http://schemas.microsoft.com/office/drawing/2014/main" id="{962FA9A2-7234-4983-8012-D9523045B8D8}"/>
              </a:ext>
            </a:extLst>
          </p:cNvPr>
          <p:cNvSpPr>
            <a:spLocks noChangeArrowheads="1"/>
          </p:cNvSpPr>
          <p:nvPr/>
        </p:nvSpPr>
        <p:spPr bwMode="auto">
          <a:xfrm>
            <a:off x="2333625" y="50498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AutoShape 23">
            <a:extLst>
              <a:ext uri="{FF2B5EF4-FFF2-40B4-BE49-F238E27FC236}">
                <a16:creationId xmlns:a16="http://schemas.microsoft.com/office/drawing/2014/main" id="{75C80532-0720-4A25-A50D-AF1B9881B7E3}"/>
              </a:ext>
            </a:extLst>
          </p:cNvPr>
          <p:cNvSpPr>
            <a:spLocks noChangeArrowheads="1"/>
          </p:cNvSpPr>
          <p:nvPr/>
        </p:nvSpPr>
        <p:spPr bwMode="auto">
          <a:xfrm>
            <a:off x="2390775" y="35258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AutoShape 24">
            <a:extLst>
              <a:ext uri="{FF2B5EF4-FFF2-40B4-BE49-F238E27FC236}">
                <a16:creationId xmlns:a16="http://schemas.microsoft.com/office/drawing/2014/main" id="{4623C308-1231-4E25-B170-FB22F1B5E1F4}"/>
              </a:ext>
            </a:extLst>
          </p:cNvPr>
          <p:cNvSpPr>
            <a:spLocks noChangeArrowheads="1"/>
          </p:cNvSpPr>
          <p:nvPr/>
        </p:nvSpPr>
        <p:spPr bwMode="auto">
          <a:xfrm>
            <a:off x="3886200" y="4660900"/>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 name="AutoShape 25">
            <a:extLst>
              <a:ext uri="{FF2B5EF4-FFF2-40B4-BE49-F238E27FC236}">
                <a16:creationId xmlns:a16="http://schemas.microsoft.com/office/drawing/2014/main" id="{91291B76-6CF9-4A32-BE24-4C042E2C1BDF}"/>
              </a:ext>
            </a:extLst>
          </p:cNvPr>
          <p:cNvSpPr>
            <a:spLocks noChangeArrowheads="1"/>
          </p:cNvSpPr>
          <p:nvPr/>
        </p:nvSpPr>
        <p:spPr bwMode="auto">
          <a:xfrm>
            <a:off x="3505200" y="4794250"/>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 name="AutoShape 26">
            <a:extLst>
              <a:ext uri="{FF2B5EF4-FFF2-40B4-BE49-F238E27FC236}">
                <a16:creationId xmlns:a16="http://schemas.microsoft.com/office/drawing/2014/main" id="{286B666F-EAF3-4114-8C66-B385952A1F35}"/>
              </a:ext>
            </a:extLst>
          </p:cNvPr>
          <p:cNvSpPr>
            <a:spLocks noChangeArrowheads="1"/>
          </p:cNvSpPr>
          <p:nvPr/>
        </p:nvSpPr>
        <p:spPr bwMode="auto">
          <a:xfrm>
            <a:off x="3790950" y="3556000"/>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 name="Oval 27">
            <a:extLst>
              <a:ext uri="{FF2B5EF4-FFF2-40B4-BE49-F238E27FC236}">
                <a16:creationId xmlns:a16="http://schemas.microsoft.com/office/drawing/2014/main" id="{FEF0F415-A12F-4CE8-95EB-4DADC225CC71}"/>
              </a:ext>
            </a:extLst>
          </p:cNvPr>
          <p:cNvSpPr>
            <a:spLocks noChangeArrowheads="1"/>
          </p:cNvSpPr>
          <p:nvPr/>
        </p:nvSpPr>
        <p:spPr bwMode="auto">
          <a:xfrm>
            <a:off x="2495550" y="3641725"/>
            <a:ext cx="1885950" cy="1905000"/>
          </a:xfrm>
          <a:prstGeom prst="ellipse">
            <a:avLst/>
          </a:prstGeom>
          <a:noFill/>
          <a:ln w="15875" algn="ctr">
            <a:solidFill>
              <a:schemeClr val="tx2"/>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 name="AutoShape 28">
            <a:extLst>
              <a:ext uri="{FF2B5EF4-FFF2-40B4-BE49-F238E27FC236}">
                <a16:creationId xmlns:a16="http://schemas.microsoft.com/office/drawing/2014/main" id="{61966872-3984-4BCB-A87A-801542CF5AF5}"/>
              </a:ext>
            </a:extLst>
          </p:cNvPr>
          <p:cNvSpPr>
            <a:spLocks noChangeArrowheads="1"/>
          </p:cNvSpPr>
          <p:nvPr/>
        </p:nvSpPr>
        <p:spPr bwMode="auto">
          <a:xfrm>
            <a:off x="2543175" y="36782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 name="AutoShape 29">
            <a:extLst>
              <a:ext uri="{FF2B5EF4-FFF2-40B4-BE49-F238E27FC236}">
                <a16:creationId xmlns:a16="http://schemas.microsoft.com/office/drawing/2014/main" id="{B8611C50-84DF-4F20-8B53-4858E210786A}"/>
              </a:ext>
            </a:extLst>
          </p:cNvPr>
          <p:cNvSpPr>
            <a:spLocks noChangeArrowheads="1"/>
          </p:cNvSpPr>
          <p:nvPr/>
        </p:nvSpPr>
        <p:spPr bwMode="auto">
          <a:xfrm>
            <a:off x="4467225" y="36591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 name="Line 30">
            <a:extLst>
              <a:ext uri="{FF2B5EF4-FFF2-40B4-BE49-F238E27FC236}">
                <a16:creationId xmlns:a16="http://schemas.microsoft.com/office/drawing/2014/main" id="{C60EE929-FAD6-423E-B2BD-3FE8B3665762}"/>
              </a:ext>
            </a:extLst>
          </p:cNvPr>
          <p:cNvSpPr>
            <a:spLocks noChangeShapeType="1"/>
          </p:cNvSpPr>
          <p:nvPr/>
        </p:nvSpPr>
        <p:spPr bwMode="auto">
          <a:xfrm flipH="1" flipV="1">
            <a:off x="7488238" y="2743200"/>
            <a:ext cx="0" cy="2070100"/>
          </a:xfrm>
          <a:prstGeom prst="line">
            <a:avLst/>
          </a:prstGeom>
          <a:noFill/>
          <a:ln w="38100">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 name="Line 31">
            <a:extLst>
              <a:ext uri="{FF2B5EF4-FFF2-40B4-BE49-F238E27FC236}">
                <a16:creationId xmlns:a16="http://schemas.microsoft.com/office/drawing/2014/main" id="{9E5E05EB-FCA2-45F8-8853-F46F332A5DFA}"/>
              </a:ext>
            </a:extLst>
          </p:cNvPr>
          <p:cNvSpPr>
            <a:spLocks noChangeShapeType="1"/>
          </p:cNvSpPr>
          <p:nvPr/>
        </p:nvSpPr>
        <p:spPr bwMode="auto">
          <a:xfrm>
            <a:off x="7458075" y="4830763"/>
            <a:ext cx="2347913" cy="0"/>
          </a:xfrm>
          <a:prstGeom prst="line">
            <a:avLst/>
          </a:prstGeom>
          <a:noFill/>
          <a:ln w="38100">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 name="AutoShape 32">
            <a:extLst>
              <a:ext uri="{FF2B5EF4-FFF2-40B4-BE49-F238E27FC236}">
                <a16:creationId xmlns:a16="http://schemas.microsoft.com/office/drawing/2014/main" id="{1DAB9110-DF3B-4A0D-98D6-CA45E74396BE}"/>
              </a:ext>
            </a:extLst>
          </p:cNvPr>
          <p:cNvSpPr>
            <a:spLocks noChangeArrowheads="1"/>
          </p:cNvSpPr>
          <p:nvPr/>
        </p:nvSpPr>
        <p:spPr bwMode="auto">
          <a:xfrm>
            <a:off x="7756525" y="4194175"/>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 name="AutoShape 33">
            <a:extLst>
              <a:ext uri="{FF2B5EF4-FFF2-40B4-BE49-F238E27FC236}">
                <a16:creationId xmlns:a16="http://schemas.microsoft.com/office/drawing/2014/main" id="{8D2322B0-CAD1-4759-BFF7-959C03B945ED}"/>
              </a:ext>
            </a:extLst>
          </p:cNvPr>
          <p:cNvSpPr>
            <a:spLocks noChangeArrowheads="1"/>
          </p:cNvSpPr>
          <p:nvPr/>
        </p:nvSpPr>
        <p:spPr bwMode="auto">
          <a:xfrm>
            <a:off x="7181850" y="4551363"/>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 name="AutoShape 34">
            <a:extLst>
              <a:ext uri="{FF2B5EF4-FFF2-40B4-BE49-F238E27FC236}">
                <a16:creationId xmlns:a16="http://schemas.microsoft.com/office/drawing/2014/main" id="{705CF0B2-B394-4CD3-981A-5DA691EE0B76}"/>
              </a:ext>
            </a:extLst>
          </p:cNvPr>
          <p:cNvSpPr>
            <a:spLocks noChangeArrowheads="1"/>
          </p:cNvSpPr>
          <p:nvPr/>
        </p:nvSpPr>
        <p:spPr bwMode="auto">
          <a:xfrm>
            <a:off x="7562850" y="51069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 name="AutoShape 35">
            <a:extLst>
              <a:ext uri="{FF2B5EF4-FFF2-40B4-BE49-F238E27FC236}">
                <a16:creationId xmlns:a16="http://schemas.microsoft.com/office/drawing/2014/main" id="{A5391E00-0B9C-4D1D-A0AB-2CAC77638866}"/>
              </a:ext>
            </a:extLst>
          </p:cNvPr>
          <p:cNvSpPr>
            <a:spLocks noChangeArrowheads="1"/>
          </p:cNvSpPr>
          <p:nvPr/>
        </p:nvSpPr>
        <p:spPr bwMode="auto">
          <a:xfrm>
            <a:off x="8382000" y="51069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 name="AutoShape 36">
            <a:extLst>
              <a:ext uri="{FF2B5EF4-FFF2-40B4-BE49-F238E27FC236}">
                <a16:creationId xmlns:a16="http://schemas.microsoft.com/office/drawing/2014/main" id="{4A8EFC98-AD0E-4477-9FC1-6521E2896B1F}"/>
              </a:ext>
            </a:extLst>
          </p:cNvPr>
          <p:cNvSpPr>
            <a:spLocks noChangeArrowheads="1"/>
          </p:cNvSpPr>
          <p:nvPr/>
        </p:nvSpPr>
        <p:spPr bwMode="auto">
          <a:xfrm>
            <a:off x="7448550" y="4240213"/>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 name="AutoShape 37">
            <a:extLst>
              <a:ext uri="{FF2B5EF4-FFF2-40B4-BE49-F238E27FC236}">
                <a16:creationId xmlns:a16="http://schemas.microsoft.com/office/drawing/2014/main" id="{7832E4B2-E38B-4B9F-8F81-77CCA4FEEF12}"/>
              </a:ext>
            </a:extLst>
          </p:cNvPr>
          <p:cNvSpPr>
            <a:spLocks noChangeArrowheads="1"/>
          </p:cNvSpPr>
          <p:nvPr/>
        </p:nvSpPr>
        <p:spPr bwMode="auto">
          <a:xfrm>
            <a:off x="7658100" y="451643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 name="AutoShape 38">
            <a:extLst>
              <a:ext uri="{FF2B5EF4-FFF2-40B4-BE49-F238E27FC236}">
                <a16:creationId xmlns:a16="http://schemas.microsoft.com/office/drawing/2014/main" id="{FCBB2D89-09B9-4B71-A9A5-71164989852C}"/>
              </a:ext>
            </a:extLst>
          </p:cNvPr>
          <p:cNvSpPr>
            <a:spLocks noChangeArrowheads="1"/>
          </p:cNvSpPr>
          <p:nvPr/>
        </p:nvSpPr>
        <p:spPr bwMode="auto">
          <a:xfrm>
            <a:off x="7886700" y="51450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 name="AutoShape 39">
            <a:extLst>
              <a:ext uri="{FF2B5EF4-FFF2-40B4-BE49-F238E27FC236}">
                <a16:creationId xmlns:a16="http://schemas.microsoft.com/office/drawing/2014/main" id="{F2960B0F-8092-43CD-8E6C-CB3BE977EF82}"/>
              </a:ext>
            </a:extLst>
          </p:cNvPr>
          <p:cNvSpPr>
            <a:spLocks noChangeArrowheads="1"/>
          </p:cNvSpPr>
          <p:nvPr/>
        </p:nvSpPr>
        <p:spPr bwMode="auto">
          <a:xfrm>
            <a:off x="7867650" y="4640263"/>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 name="AutoShape 40">
            <a:extLst>
              <a:ext uri="{FF2B5EF4-FFF2-40B4-BE49-F238E27FC236}">
                <a16:creationId xmlns:a16="http://schemas.microsoft.com/office/drawing/2014/main" id="{60EE1101-DA09-4D46-96B7-23178CF0ACB5}"/>
              </a:ext>
            </a:extLst>
          </p:cNvPr>
          <p:cNvSpPr>
            <a:spLocks noChangeArrowheads="1"/>
          </p:cNvSpPr>
          <p:nvPr/>
        </p:nvSpPr>
        <p:spPr bwMode="auto">
          <a:xfrm>
            <a:off x="9474200" y="42751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 name="AutoShape 41">
            <a:extLst>
              <a:ext uri="{FF2B5EF4-FFF2-40B4-BE49-F238E27FC236}">
                <a16:creationId xmlns:a16="http://schemas.microsoft.com/office/drawing/2014/main" id="{16F4A913-C19D-46B5-984E-601C7CD59438}"/>
              </a:ext>
            </a:extLst>
          </p:cNvPr>
          <p:cNvSpPr>
            <a:spLocks noChangeArrowheads="1"/>
          </p:cNvSpPr>
          <p:nvPr/>
        </p:nvSpPr>
        <p:spPr bwMode="auto">
          <a:xfrm>
            <a:off x="9334500" y="54879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 name="AutoShape 42">
            <a:extLst>
              <a:ext uri="{FF2B5EF4-FFF2-40B4-BE49-F238E27FC236}">
                <a16:creationId xmlns:a16="http://schemas.microsoft.com/office/drawing/2014/main" id="{053CA590-F002-4862-8CCE-79FD7C3A520A}"/>
              </a:ext>
            </a:extLst>
          </p:cNvPr>
          <p:cNvSpPr>
            <a:spLocks noChangeArrowheads="1"/>
          </p:cNvSpPr>
          <p:nvPr/>
        </p:nvSpPr>
        <p:spPr bwMode="auto">
          <a:xfrm>
            <a:off x="8858250" y="32400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 name="AutoShape 43">
            <a:extLst>
              <a:ext uri="{FF2B5EF4-FFF2-40B4-BE49-F238E27FC236}">
                <a16:creationId xmlns:a16="http://schemas.microsoft.com/office/drawing/2014/main" id="{D574D2A6-BD05-4438-B1CD-326C71115771}"/>
              </a:ext>
            </a:extLst>
          </p:cNvPr>
          <p:cNvSpPr>
            <a:spLocks noChangeArrowheads="1"/>
          </p:cNvSpPr>
          <p:nvPr/>
        </p:nvSpPr>
        <p:spPr bwMode="auto">
          <a:xfrm>
            <a:off x="8864600" y="45037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 name="AutoShape 44">
            <a:extLst>
              <a:ext uri="{FF2B5EF4-FFF2-40B4-BE49-F238E27FC236}">
                <a16:creationId xmlns:a16="http://schemas.microsoft.com/office/drawing/2014/main" id="{BFEF3636-B6B5-428D-9882-8C6189FFC62A}"/>
              </a:ext>
            </a:extLst>
          </p:cNvPr>
          <p:cNvSpPr>
            <a:spLocks noChangeArrowheads="1"/>
          </p:cNvSpPr>
          <p:nvPr/>
        </p:nvSpPr>
        <p:spPr bwMode="auto">
          <a:xfrm>
            <a:off x="9563100" y="50117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 name="AutoShape 45">
            <a:extLst>
              <a:ext uri="{FF2B5EF4-FFF2-40B4-BE49-F238E27FC236}">
                <a16:creationId xmlns:a16="http://schemas.microsoft.com/office/drawing/2014/main" id="{FF05C6C6-0FCF-4CFB-979C-B853081A6FED}"/>
              </a:ext>
            </a:extLst>
          </p:cNvPr>
          <p:cNvSpPr>
            <a:spLocks noChangeArrowheads="1"/>
          </p:cNvSpPr>
          <p:nvPr/>
        </p:nvSpPr>
        <p:spPr bwMode="auto">
          <a:xfrm>
            <a:off x="8388350" y="39512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 name="AutoShape 46">
            <a:extLst>
              <a:ext uri="{FF2B5EF4-FFF2-40B4-BE49-F238E27FC236}">
                <a16:creationId xmlns:a16="http://schemas.microsoft.com/office/drawing/2014/main" id="{9F0A21C1-B344-4A1D-AF13-68DE684CB4A1}"/>
              </a:ext>
            </a:extLst>
          </p:cNvPr>
          <p:cNvSpPr>
            <a:spLocks noChangeArrowheads="1"/>
          </p:cNvSpPr>
          <p:nvPr/>
        </p:nvSpPr>
        <p:spPr bwMode="auto">
          <a:xfrm>
            <a:off x="8991600" y="51831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 name="AutoShape 47">
            <a:extLst>
              <a:ext uri="{FF2B5EF4-FFF2-40B4-BE49-F238E27FC236}">
                <a16:creationId xmlns:a16="http://schemas.microsoft.com/office/drawing/2014/main" id="{9185A7FF-E805-45BF-8D0C-0B17763FC4D5}"/>
              </a:ext>
            </a:extLst>
          </p:cNvPr>
          <p:cNvSpPr>
            <a:spLocks noChangeArrowheads="1"/>
          </p:cNvSpPr>
          <p:nvPr/>
        </p:nvSpPr>
        <p:spPr bwMode="auto">
          <a:xfrm>
            <a:off x="8782050" y="34496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 name="AutoShape 48">
            <a:extLst>
              <a:ext uri="{FF2B5EF4-FFF2-40B4-BE49-F238E27FC236}">
                <a16:creationId xmlns:a16="http://schemas.microsoft.com/office/drawing/2014/main" id="{B588E01A-E976-4558-B705-9DCB7D032E8D}"/>
              </a:ext>
            </a:extLst>
          </p:cNvPr>
          <p:cNvSpPr>
            <a:spLocks noChangeArrowheads="1"/>
          </p:cNvSpPr>
          <p:nvPr/>
        </p:nvSpPr>
        <p:spPr bwMode="auto">
          <a:xfrm>
            <a:off x="7391400" y="4956175"/>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 name="AutoShape 49">
            <a:extLst>
              <a:ext uri="{FF2B5EF4-FFF2-40B4-BE49-F238E27FC236}">
                <a16:creationId xmlns:a16="http://schemas.microsoft.com/office/drawing/2014/main" id="{D0300307-F695-41DF-8E18-CEB686EE5CB0}"/>
              </a:ext>
            </a:extLst>
          </p:cNvPr>
          <p:cNvSpPr>
            <a:spLocks noChangeArrowheads="1"/>
          </p:cNvSpPr>
          <p:nvPr/>
        </p:nvSpPr>
        <p:spPr bwMode="auto">
          <a:xfrm>
            <a:off x="7010400" y="5089525"/>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 name="AutoShape 50">
            <a:extLst>
              <a:ext uri="{FF2B5EF4-FFF2-40B4-BE49-F238E27FC236}">
                <a16:creationId xmlns:a16="http://schemas.microsoft.com/office/drawing/2014/main" id="{7742A6E8-1852-4D32-800F-1FFBC79F3B75}"/>
              </a:ext>
            </a:extLst>
          </p:cNvPr>
          <p:cNvSpPr>
            <a:spLocks noChangeArrowheads="1"/>
          </p:cNvSpPr>
          <p:nvPr/>
        </p:nvSpPr>
        <p:spPr bwMode="auto">
          <a:xfrm>
            <a:off x="8772525" y="3575050"/>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 name="AutoShape 51">
            <a:extLst>
              <a:ext uri="{FF2B5EF4-FFF2-40B4-BE49-F238E27FC236}">
                <a16:creationId xmlns:a16="http://schemas.microsoft.com/office/drawing/2014/main" id="{5CA37C4F-C610-4E9B-B8FB-FF43ADE2988D}"/>
              </a:ext>
            </a:extLst>
          </p:cNvPr>
          <p:cNvSpPr>
            <a:spLocks noChangeArrowheads="1"/>
          </p:cNvSpPr>
          <p:nvPr/>
        </p:nvSpPr>
        <p:spPr bwMode="auto">
          <a:xfrm>
            <a:off x="8324850" y="31067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 name="AutoShape 52">
            <a:extLst>
              <a:ext uri="{FF2B5EF4-FFF2-40B4-BE49-F238E27FC236}">
                <a16:creationId xmlns:a16="http://schemas.microsoft.com/office/drawing/2014/main" id="{7DA5C1BD-558D-4788-ADA7-68AA5A092AA4}"/>
              </a:ext>
            </a:extLst>
          </p:cNvPr>
          <p:cNvSpPr>
            <a:spLocks noChangeArrowheads="1"/>
          </p:cNvSpPr>
          <p:nvPr/>
        </p:nvSpPr>
        <p:spPr bwMode="auto">
          <a:xfrm>
            <a:off x="9448800" y="367823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 name="Line 53">
            <a:extLst>
              <a:ext uri="{FF2B5EF4-FFF2-40B4-BE49-F238E27FC236}">
                <a16:creationId xmlns:a16="http://schemas.microsoft.com/office/drawing/2014/main" id="{6FEBF168-9B96-45DE-8C1A-046A7F5F8338}"/>
              </a:ext>
            </a:extLst>
          </p:cNvPr>
          <p:cNvSpPr>
            <a:spLocks noChangeShapeType="1"/>
          </p:cNvSpPr>
          <p:nvPr/>
        </p:nvSpPr>
        <p:spPr bwMode="auto">
          <a:xfrm flipH="1">
            <a:off x="6240463" y="4832350"/>
            <a:ext cx="1238250" cy="996950"/>
          </a:xfrm>
          <a:prstGeom prst="line">
            <a:avLst/>
          </a:prstGeom>
          <a:noFill/>
          <a:ln w="38100">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 name="Line 54">
            <a:extLst>
              <a:ext uri="{FF2B5EF4-FFF2-40B4-BE49-F238E27FC236}">
                <a16:creationId xmlns:a16="http://schemas.microsoft.com/office/drawing/2014/main" id="{9B4DC355-BEA3-4779-A19B-FE872515C587}"/>
              </a:ext>
            </a:extLst>
          </p:cNvPr>
          <p:cNvSpPr>
            <a:spLocks noChangeShapeType="1"/>
          </p:cNvSpPr>
          <p:nvPr/>
        </p:nvSpPr>
        <p:spPr bwMode="auto">
          <a:xfrm>
            <a:off x="7477125" y="3479800"/>
            <a:ext cx="1447800" cy="1333500"/>
          </a:xfrm>
          <a:prstGeom prst="line">
            <a:avLst/>
          </a:prstGeom>
          <a:noFill/>
          <a:ln w="15875">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 name="Line 55">
            <a:extLst>
              <a:ext uri="{FF2B5EF4-FFF2-40B4-BE49-F238E27FC236}">
                <a16:creationId xmlns:a16="http://schemas.microsoft.com/office/drawing/2014/main" id="{82F0B696-7CDA-463F-A159-CF0FDACE6D6D}"/>
              </a:ext>
            </a:extLst>
          </p:cNvPr>
          <p:cNvSpPr>
            <a:spLocks noChangeShapeType="1"/>
          </p:cNvSpPr>
          <p:nvPr/>
        </p:nvSpPr>
        <p:spPr bwMode="auto">
          <a:xfrm flipV="1">
            <a:off x="7705725" y="4851400"/>
            <a:ext cx="1219200" cy="1219200"/>
          </a:xfrm>
          <a:prstGeom prst="line">
            <a:avLst/>
          </a:prstGeom>
          <a:noFill/>
          <a:ln w="15875">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 name="Line 56">
            <a:extLst>
              <a:ext uri="{FF2B5EF4-FFF2-40B4-BE49-F238E27FC236}">
                <a16:creationId xmlns:a16="http://schemas.microsoft.com/office/drawing/2014/main" id="{40C8D370-DF0D-4EB0-B4F7-AA8FD9E9992F}"/>
              </a:ext>
            </a:extLst>
          </p:cNvPr>
          <p:cNvSpPr>
            <a:spLocks noChangeShapeType="1"/>
          </p:cNvSpPr>
          <p:nvPr/>
        </p:nvSpPr>
        <p:spPr bwMode="auto">
          <a:xfrm flipV="1">
            <a:off x="6010275" y="3517900"/>
            <a:ext cx="1466850" cy="838200"/>
          </a:xfrm>
          <a:prstGeom prst="line">
            <a:avLst/>
          </a:prstGeom>
          <a:noFill/>
          <a:ln w="15875">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 name="Line 57">
            <a:extLst>
              <a:ext uri="{FF2B5EF4-FFF2-40B4-BE49-F238E27FC236}">
                <a16:creationId xmlns:a16="http://schemas.microsoft.com/office/drawing/2014/main" id="{4BC75481-58CB-48B9-96E5-C039AA37D4CB}"/>
              </a:ext>
            </a:extLst>
          </p:cNvPr>
          <p:cNvSpPr>
            <a:spLocks noChangeShapeType="1"/>
          </p:cNvSpPr>
          <p:nvPr/>
        </p:nvSpPr>
        <p:spPr bwMode="auto">
          <a:xfrm>
            <a:off x="5991225" y="4356100"/>
            <a:ext cx="1714500" cy="1695450"/>
          </a:xfrm>
          <a:prstGeom prst="line">
            <a:avLst/>
          </a:prstGeom>
          <a:noFill/>
          <a:ln w="15875">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 name="AutoShape 58">
            <a:extLst>
              <a:ext uri="{FF2B5EF4-FFF2-40B4-BE49-F238E27FC236}">
                <a16:creationId xmlns:a16="http://schemas.microsoft.com/office/drawing/2014/main" id="{FD4CD932-A364-4CE5-B3EA-890C83E86EF2}"/>
              </a:ext>
            </a:extLst>
          </p:cNvPr>
          <p:cNvSpPr>
            <a:spLocks noChangeArrowheads="1"/>
          </p:cNvSpPr>
          <p:nvPr/>
        </p:nvSpPr>
        <p:spPr bwMode="auto">
          <a:xfrm>
            <a:off x="4962525" y="2794000"/>
            <a:ext cx="1638300" cy="457200"/>
          </a:xfrm>
          <a:prstGeom prst="curvedDownArrow">
            <a:avLst>
              <a:gd name="adj1" fmla="val 71667"/>
              <a:gd name="adj2" fmla="val 143333"/>
              <a:gd name="adj3" fmla="val 33333"/>
            </a:avLst>
          </a:prstGeom>
          <a:solidFill>
            <a:srgbClr val="008000"/>
          </a:solidFill>
          <a:ln w="9525">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 name="Text Box 59">
            <a:extLst>
              <a:ext uri="{FF2B5EF4-FFF2-40B4-BE49-F238E27FC236}">
                <a16:creationId xmlns:a16="http://schemas.microsoft.com/office/drawing/2014/main" id="{DF561587-D372-47AC-96B0-AB96D3D9F5EB}"/>
              </a:ext>
            </a:extLst>
          </p:cNvPr>
          <p:cNvSpPr txBox="1">
            <a:spLocks noChangeArrowheads="1"/>
          </p:cNvSpPr>
          <p:nvPr/>
        </p:nvSpPr>
        <p:spPr bwMode="auto">
          <a:xfrm>
            <a:off x="4572000" y="3200400"/>
            <a:ext cx="236378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l-GR" altLang="en-US" sz="2800">
                <a:latin typeface="Times New Roman" panose="02020603050405020304" pitchFamily="18" charset="0"/>
                <a:cs typeface="Times New Roman" panose="02020603050405020304" pitchFamily="18" charset="0"/>
              </a:rPr>
              <a:t>Φ</a:t>
            </a:r>
            <a:r>
              <a:rPr lang="en-US" altLang="zh-CN" sz="2800">
                <a:latin typeface="Times New Roman" panose="02020603050405020304" pitchFamily="18" charset="0"/>
                <a:cs typeface="Times New Roman" panose="02020603050405020304" pitchFamily="18" charset="0"/>
              </a:rPr>
              <a:t>:  </a:t>
            </a:r>
            <a:r>
              <a:rPr lang="en-US" altLang="zh-CN" sz="2800" b="1">
                <a:latin typeface="Times New Roman" panose="02020603050405020304" pitchFamily="18" charset="0"/>
                <a:cs typeface="Times New Roman" panose="02020603050405020304" pitchFamily="18" charset="0"/>
              </a:rPr>
              <a:t>x</a:t>
            </a:r>
            <a:r>
              <a:rPr lang="en-US" altLang="zh-CN" sz="2800" b="1" baseline="-25000">
                <a:latin typeface="Times New Roman" panose="02020603050405020304" pitchFamily="18" charset="0"/>
                <a:cs typeface="Times New Roman" panose="02020603050405020304" pitchFamily="18" charset="0"/>
              </a:rPr>
              <a:t> </a:t>
            </a:r>
            <a:r>
              <a:rPr lang="en-US" altLang="zh-CN" sz="2800" b="1">
                <a:latin typeface="Times New Roman" panose="02020603050405020304" pitchFamily="18" charset="0"/>
                <a:cs typeface="Times New Roman" panose="02020603050405020304" pitchFamily="18" charset="0"/>
              </a:rPr>
              <a:t>→</a:t>
            </a:r>
            <a:r>
              <a:rPr lang="en-US" altLang="zh-CN" sz="2800">
                <a:latin typeface="Times New Roman" panose="02020603050405020304" pitchFamily="18" charset="0"/>
                <a:cs typeface="Times New Roman" panose="02020603050405020304" pitchFamily="18" charset="0"/>
              </a:rPr>
              <a:t> </a:t>
            </a:r>
            <a:r>
              <a:rPr lang="el-GR" altLang="en-US" sz="2800">
                <a:latin typeface="Times New Roman" panose="02020603050405020304" pitchFamily="18" charset="0"/>
                <a:cs typeface="Times New Roman" panose="02020603050405020304" pitchFamily="18" charset="0"/>
              </a:rPr>
              <a:t>φ</a:t>
            </a:r>
            <a:r>
              <a:rPr lang="en-US" altLang="zh-CN" sz="2800">
                <a:latin typeface="Times New Roman" panose="02020603050405020304" pitchFamily="18" charset="0"/>
                <a:cs typeface="Times New Roman" panose="02020603050405020304" pitchFamily="18" charset="0"/>
              </a:rPr>
              <a:t>(</a:t>
            </a:r>
            <a:r>
              <a:rPr lang="en-US" altLang="zh-CN" sz="2800" b="1">
                <a:latin typeface="Times New Roman" panose="02020603050405020304" pitchFamily="18" charset="0"/>
                <a:cs typeface="Times New Roman" panose="02020603050405020304" pitchFamily="18" charset="0"/>
              </a:rPr>
              <a:t>x</a:t>
            </a:r>
            <a:r>
              <a:rPr lang="en-US" altLang="zh-CN" sz="280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1308270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1E580-1D46-42BF-870E-DE4F854CD8D6}"/>
              </a:ext>
            </a:extLst>
          </p:cNvPr>
          <p:cNvSpPr>
            <a:spLocks noGrp="1"/>
          </p:cNvSpPr>
          <p:nvPr>
            <p:ph type="title"/>
          </p:nvPr>
        </p:nvSpPr>
        <p:spPr/>
        <p:txBody>
          <a:bodyPr/>
          <a:lstStyle/>
          <a:p>
            <a:r>
              <a:rPr lang="en-US" altLang="zh-CN"/>
              <a:t>General idea</a:t>
            </a:r>
            <a:endParaRPr lang="en-US"/>
          </a:p>
        </p:txBody>
      </p:sp>
      <p:sp>
        <p:nvSpPr>
          <p:cNvPr id="23" name="Content Placeholder 22">
            <a:extLst>
              <a:ext uri="{FF2B5EF4-FFF2-40B4-BE49-F238E27FC236}">
                <a16:creationId xmlns:a16="http://schemas.microsoft.com/office/drawing/2014/main" id="{3ADB5A94-7659-4C74-964A-452AC26265BF}"/>
              </a:ext>
            </a:extLst>
          </p:cNvPr>
          <p:cNvSpPr>
            <a:spLocks noGrp="1"/>
          </p:cNvSpPr>
          <p:nvPr>
            <p:ph sz="half" idx="2"/>
          </p:nvPr>
        </p:nvSpPr>
        <p:spPr/>
        <p:txBody>
          <a:bodyPr/>
          <a:lstStyle/>
          <a:p>
            <a:pPr algn="just"/>
            <a:r>
              <a:rPr lang="en-US" altLang="en-US" dirty="0" err="1"/>
              <a:t>Dùng</a:t>
            </a:r>
            <a:r>
              <a:rPr lang="en-US" altLang="en-US" dirty="0"/>
              <a:t> </a:t>
            </a:r>
            <a:r>
              <a:rPr lang="en-US" altLang="en-US" dirty="0" err="1"/>
              <a:t>để</a:t>
            </a:r>
            <a:r>
              <a:rPr lang="en-US" altLang="en-US" dirty="0"/>
              <a:t> </a:t>
            </a:r>
            <a:r>
              <a:rPr lang="en-US" altLang="en-US" dirty="0" err="1"/>
              <a:t>làm</a:t>
            </a:r>
            <a:r>
              <a:rPr lang="en-US" altLang="en-US" dirty="0"/>
              <a:t> </a:t>
            </a:r>
            <a:r>
              <a:rPr lang="en-US" altLang="en-US" dirty="0" err="1"/>
              <a:t>gì</a:t>
            </a:r>
            <a:r>
              <a:rPr lang="en-US" altLang="en-US" dirty="0"/>
              <a:t>? Support vector machine (</a:t>
            </a:r>
            <a:r>
              <a:rPr lang="en-US" altLang="en-US" dirty="0" err="1"/>
              <a:t>svm</a:t>
            </a:r>
            <a:r>
              <a:rPr lang="en-US" altLang="en-US" dirty="0"/>
              <a:t>) </a:t>
            </a:r>
            <a:r>
              <a:rPr lang="en-US" altLang="en-US" dirty="0" err="1"/>
              <a:t>xây</a:t>
            </a:r>
            <a:r>
              <a:rPr lang="en-US" altLang="en-US" dirty="0"/>
              <a:t> </a:t>
            </a:r>
            <a:r>
              <a:rPr lang="en-US" altLang="en-US" dirty="0" err="1"/>
              <a:t>dựng</a:t>
            </a:r>
            <a:r>
              <a:rPr lang="en-US" altLang="en-US" dirty="0"/>
              <a:t> (learn) </a:t>
            </a:r>
            <a:r>
              <a:rPr lang="en-US" altLang="en-US" dirty="0" err="1"/>
              <a:t>một</a:t>
            </a:r>
            <a:r>
              <a:rPr lang="en-US" altLang="en-US" dirty="0"/>
              <a:t> </a:t>
            </a:r>
            <a:r>
              <a:rPr lang="en-US" altLang="en-US" dirty="0" err="1"/>
              <a:t>siêu</a:t>
            </a:r>
            <a:r>
              <a:rPr lang="en-US" altLang="en-US" dirty="0"/>
              <a:t> </a:t>
            </a:r>
            <a:r>
              <a:rPr lang="en-US" altLang="en-US" dirty="0" err="1"/>
              <a:t>phẳng</a:t>
            </a:r>
            <a:r>
              <a:rPr lang="en-US" altLang="en-US"/>
              <a:t> (hyperplane) </a:t>
            </a:r>
            <a:r>
              <a:rPr lang="en-US" altLang="en-US" dirty="0" err="1"/>
              <a:t>để</a:t>
            </a:r>
            <a:r>
              <a:rPr lang="en-US" altLang="en-US" dirty="0"/>
              <a:t> </a:t>
            </a:r>
            <a:r>
              <a:rPr lang="en-US" altLang="en-US" dirty="0" err="1"/>
              <a:t>phân</a:t>
            </a:r>
            <a:r>
              <a:rPr lang="en-US" altLang="en-US" dirty="0"/>
              <a:t> </a:t>
            </a:r>
            <a:r>
              <a:rPr lang="en-US" altLang="en-US" dirty="0" err="1"/>
              <a:t>lớp</a:t>
            </a:r>
            <a:r>
              <a:rPr lang="en-US" altLang="en-US" dirty="0"/>
              <a:t> (classify) </a:t>
            </a:r>
            <a:r>
              <a:rPr lang="en-US" altLang="en-US" dirty="0" err="1"/>
              <a:t>tập</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thành</a:t>
            </a:r>
            <a:r>
              <a:rPr lang="en-US" altLang="en-US" dirty="0"/>
              <a:t> 2 </a:t>
            </a:r>
            <a:r>
              <a:rPr lang="en-US" altLang="en-US" dirty="0" err="1"/>
              <a:t>lớp</a:t>
            </a:r>
            <a:r>
              <a:rPr lang="en-US" altLang="en-US" dirty="0"/>
              <a:t> </a:t>
            </a:r>
            <a:r>
              <a:rPr lang="en-US" altLang="en-US" dirty="0" err="1"/>
              <a:t>riêng</a:t>
            </a:r>
            <a:r>
              <a:rPr lang="en-US" altLang="en-US" dirty="0"/>
              <a:t> </a:t>
            </a:r>
            <a:r>
              <a:rPr lang="en-US" altLang="en-US" dirty="0" err="1"/>
              <a:t>biệt</a:t>
            </a:r>
            <a:r>
              <a:rPr lang="en-US" altLang="en-US" dirty="0"/>
              <a:t>.</a:t>
            </a:r>
          </a:p>
          <a:p>
            <a:pPr algn="just"/>
            <a:r>
              <a:rPr lang="en-US" dirty="0" err="1">
                <a:solidFill>
                  <a:srgbClr val="FF0000"/>
                </a:solidFill>
              </a:rPr>
              <a:t>Siêu</a:t>
            </a:r>
            <a:r>
              <a:rPr lang="en-US" dirty="0">
                <a:solidFill>
                  <a:srgbClr val="FF0000"/>
                </a:solidFill>
              </a:rPr>
              <a:t> </a:t>
            </a:r>
            <a:r>
              <a:rPr lang="en-US" dirty="0" err="1">
                <a:solidFill>
                  <a:srgbClr val="FF0000"/>
                </a:solidFill>
              </a:rPr>
              <a:t>phẳng</a:t>
            </a:r>
            <a:r>
              <a:rPr lang="en-US" dirty="0">
                <a:solidFill>
                  <a:srgbClr val="FF0000"/>
                </a:solidFill>
              </a:rPr>
              <a:t> </a:t>
            </a:r>
            <a:r>
              <a:rPr lang="en-US" dirty="0" err="1">
                <a:solidFill>
                  <a:srgbClr val="FF0000"/>
                </a:solidFill>
              </a:rPr>
              <a:t>hiểu</a:t>
            </a:r>
            <a:r>
              <a:rPr lang="en-US" dirty="0">
                <a:solidFill>
                  <a:srgbClr val="FF0000"/>
                </a:solidFill>
              </a:rPr>
              <a:t> </a:t>
            </a:r>
            <a:r>
              <a:rPr lang="en-US" dirty="0" err="1">
                <a:solidFill>
                  <a:srgbClr val="FF0000"/>
                </a:solidFill>
              </a:rPr>
              <a:t>một</a:t>
            </a:r>
            <a:r>
              <a:rPr lang="en-US" dirty="0">
                <a:solidFill>
                  <a:srgbClr val="FF0000"/>
                </a:solidFill>
              </a:rPr>
              <a:t> </a:t>
            </a:r>
            <a:r>
              <a:rPr lang="en-US" dirty="0" err="1">
                <a:solidFill>
                  <a:srgbClr val="FF0000"/>
                </a:solidFill>
              </a:rPr>
              <a:t>cách</a:t>
            </a:r>
            <a:r>
              <a:rPr lang="en-US" dirty="0">
                <a:solidFill>
                  <a:srgbClr val="FF0000"/>
                </a:solidFill>
              </a:rPr>
              <a:t> đ</a:t>
            </a:r>
            <a:r>
              <a:rPr lang="vi-VN" dirty="0">
                <a:solidFill>
                  <a:srgbClr val="FF0000"/>
                </a:solidFill>
              </a:rPr>
              <a:t>ơ</a:t>
            </a:r>
            <a:r>
              <a:rPr lang="en-US" dirty="0">
                <a:solidFill>
                  <a:srgbClr val="FF0000"/>
                </a:solidFill>
              </a:rPr>
              <a:t>n </a:t>
            </a:r>
            <a:r>
              <a:rPr lang="en-US" dirty="0" err="1">
                <a:solidFill>
                  <a:srgbClr val="FF0000"/>
                </a:solidFill>
              </a:rPr>
              <a:t>giản</a:t>
            </a:r>
            <a:r>
              <a:rPr lang="en-US" dirty="0">
                <a:solidFill>
                  <a:srgbClr val="FF0000"/>
                </a:solidFill>
              </a:rPr>
              <a:t> </a:t>
            </a:r>
            <a:r>
              <a:rPr lang="en-US" dirty="0" err="1">
                <a:solidFill>
                  <a:srgbClr val="FF0000"/>
                </a:solidFill>
              </a:rPr>
              <a:t>nhất</a:t>
            </a:r>
            <a:r>
              <a:rPr lang="en-US" dirty="0">
                <a:solidFill>
                  <a:srgbClr val="FF0000"/>
                </a:solidFill>
              </a:rPr>
              <a:t> </a:t>
            </a:r>
            <a:r>
              <a:rPr lang="en-US" dirty="0" err="1">
                <a:solidFill>
                  <a:srgbClr val="FF0000"/>
                </a:solidFill>
              </a:rPr>
              <a:t>là</a:t>
            </a:r>
            <a:r>
              <a:rPr lang="en-US" dirty="0">
                <a:solidFill>
                  <a:srgbClr val="FF0000"/>
                </a:solidFill>
              </a:rPr>
              <a:t> </a:t>
            </a:r>
            <a:r>
              <a:rPr lang="en-US" dirty="0" err="1">
                <a:solidFill>
                  <a:srgbClr val="FF0000"/>
                </a:solidFill>
              </a:rPr>
              <a:t>một</a:t>
            </a:r>
            <a:r>
              <a:rPr lang="en-US" dirty="0">
                <a:solidFill>
                  <a:srgbClr val="FF0000"/>
                </a:solidFill>
              </a:rPr>
              <a:t> đ</a:t>
            </a:r>
            <a:r>
              <a:rPr lang="vi-VN" dirty="0">
                <a:solidFill>
                  <a:srgbClr val="FF0000"/>
                </a:solidFill>
              </a:rPr>
              <a:t>ư</a:t>
            </a:r>
            <a:r>
              <a:rPr lang="en-US" dirty="0" err="1">
                <a:solidFill>
                  <a:srgbClr val="FF0000"/>
                </a:solidFill>
              </a:rPr>
              <a:t>ờng</a:t>
            </a:r>
            <a:r>
              <a:rPr lang="en-US" dirty="0">
                <a:solidFill>
                  <a:srgbClr val="FF0000"/>
                </a:solidFill>
              </a:rPr>
              <a:t> </a:t>
            </a:r>
            <a:r>
              <a:rPr lang="en-US" dirty="0" err="1">
                <a:solidFill>
                  <a:srgbClr val="FF0000"/>
                </a:solidFill>
              </a:rPr>
              <a:t>thẳng</a:t>
            </a:r>
            <a:r>
              <a:rPr lang="en-US" dirty="0">
                <a:solidFill>
                  <a:srgbClr val="FF0000"/>
                </a:solidFill>
              </a:rPr>
              <a:t>.</a:t>
            </a:r>
          </a:p>
        </p:txBody>
      </p:sp>
      <p:sp>
        <p:nvSpPr>
          <p:cNvPr id="3" name="Line 4">
            <a:extLst>
              <a:ext uri="{FF2B5EF4-FFF2-40B4-BE49-F238E27FC236}">
                <a16:creationId xmlns:a16="http://schemas.microsoft.com/office/drawing/2014/main" id="{1D59E12E-0A99-406A-B700-36214FC6E09D}"/>
              </a:ext>
            </a:extLst>
          </p:cNvPr>
          <p:cNvSpPr>
            <a:spLocks noChangeShapeType="1"/>
          </p:cNvSpPr>
          <p:nvPr/>
        </p:nvSpPr>
        <p:spPr bwMode="auto">
          <a:xfrm flipV="1">
            <a:off x="695325" y="1682750"/>
            <a:ext cx="0" cy="3581400"/>
          </a:xfrm>
          <a:prstGeom prst="line">
            <a:avLst/>
          </a:prstGeom>
          <a:noFill/>
          <a:ln w="38100">
            <a:solidFill>
              <a:schemeClr val="tx1"/>
            </a:solidFill>
            <a:miter lim="800000"/>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 name="Line 5">
            <a:extLst>
              <a:ext uri="{FF2B5EF4-FFF2-40B4-BE49-F238E27FC236}">
                <a16:creationId xmlns:a16="http://schemas.microsoft.com/office/drawing/2014/main" id="{5A8CF049-19F9-4985-8E78-3F9EF6F62CDB}"/>
              </a:ext>
            </a:extLst>
          </p:cNvPr>
          <p:cNvSpPr>
            <a:spLocks noChangeShapeType="1"/>
          </p:cNvSpPr>
          <p:nvPr/>
        </p:nvSpPr>
        <p:spPr bwMode="auto">
          <a:xfrm flipV="1">
            <a:off x="685800" y="5254625"/>
            <a:ext cx="4648200" cy="0"/>
          </a:xfrm>
          <a:prstGeom prst="line">
            <a:avLst/>
          </a:prstGeom>
          <a:noFill/>
          <a:ln w="38100">
            <a:solidFill>
              <a:schemeClr val="tx1"/>
            </a:solidFill>
            <a:miter lim="800000"/>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 name="Oval 6">
            <a:extLst>
              <a:ext uri="{FF2B5EF4-FFF2-40B4-BE49-F238E27FC236}">
                <a16:creationId xmlns:a16="http://schemas.microsoft.com/office/drawing/2014/main" id="{16B11EFC-0FBE-415A-B16A-0CD2D5ED27DF}"/>
              </a:ext>
            </a:extLst>
          </p:cNvPr>
          <p:cNvSpPr>
            <a:spLocks noChangeArrowheads="1"/>
          </p:cNvSpPr>
          <p:nvPr/>
        </p:nvSpPr>
        <p:spPr bwMode="auto">
          <a:xfrm>
            <a:off x="2743200" y="2663825"/>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Oval 7">
            <a:extLst>
              <a:ext uri="{FF2B5EF4-FFF2-40B4-BE49-F238E27FC236}">
                <a16:creationId xmlns:a16="http://schemas.microsoft.com/office/drawing/2014/main" id="{ADFDEEB9-F5C2-42A6-BF28-5672779085C3}"/>
              </a:ext>
            </a:extLst>
          </p:cNvPr>
          <p:cNvSpPr>
            <a:spLocks noChangeArrowheads="1"/>
          </p:cNvSpPr>
          <p:nvPr/>
        </p:nvSpPr>
        <p:spPr bwMode="auto">
          <a:xfrm>
            <a:off x="2971800" y="3273425"/>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Oval 8">
            <a:extLst>
              <a:ext uri="{FF2B5EF4-FFF2-40B4-BE49-F238E27FC236}">
                <a16:creationId xmlns:a16="http://schemas.microsoft.com/office/drawing/2014/main" id="{540BFB6C-D1F8-4806-B2C7-D8883EF303CA}"/>
              </a:ext>
            </a:extLst>
          </p:cNvPr>
          <p:cNvSpPr>
            <a:spLocks noChangeArrowheads="1"/>
          </p:cNvSpPr>
          <p:nvPr/>
        </p:nvSpPr>
        <p:spPr bwMode="auto">
          <a:xfrm>
            <a:off x="3810000" y="3502025"/>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Oval 9">
            <a:extLst>
              <a:ext uri="{FF2B5EF4-FFF2-40B4-BE49-F238E27FC236}">
                <a16:creationId xmlns:a16="http://schemas.microsoft.com/office/drawing/2014/main" id="{257D9B57-CC14-43DC-A83C-62BD19FE5F90}"/>
              </a:ext>
            </a:extLst>
          </p:cNvPr>
          <p:cNvSpPr>
            <a:spLocks noChangeArrowheads="1"/>
          </p:cNvSpPr>
          <p:nvPr/>
        </p:nvSpPr>
        <p:spPr bwMode="auto">
          <a:xfrm>
            <a:off x="2286000" y="2816225"/>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Oval 10">
            <a:extLst>
              <a:ext uri="{FF2B5EF4-FFF2-40B4-BE49-F238E27FC236}">
                <a16:creationId xmlns:a16="http://schemas.microsoft.com/office/drawing/2014/main" id="{4D459E55-3E26-4E9E-88DE-A27F30A52187}"/>
              </a:ext>
            </a:extLst>
          </p:cNvPr>
          <p:cNvSpPr>
            <a:spLocks noChangeArrowheads="1"/>
          </p:cNvSpPr>
          <p:nvPr/>
        </p:nvSpPr>
        <p:spPr bwMode="auto">
          <a:xfrm>
            <a:off x="3276600" y="3806825"/>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Rectangle 11">
            <a:extLst>
              <a:ext uri="{FF2B5EF4-FFF2-40B4-BE49-F238E27FC236}">
                <a16:creationId xmlns:a16="http://schemas.microsoft.com/office/drawing/2014/main" id="{51E8E650-D166-4291-B1F1-F4254D351914}"/>
              </a:ext>
            </a:extLst>
          </p:cNvPr>
          <p:cNvSpPr>
            <a:spLocks noChangeArrowheads="1"/>
          </p:cNvSpPr>
          <p:nvPr/>
        </p:nvSpPr>
        <p:spPr bwMode="auto">
          <a:xfrm>
            <a:off x="990600" y="3730625"/>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Rectangle 13">
            <a:extLst>
              <a:ext uri="{FF2B5EF4-FFF2-40B4-BE49-F238E27FC236}">
                <a16:creationId xmlns:a16="http://schemas.microsoft.com/office/drawing/2014/main" id="{39CD0813-7E8B-49C4-A2D1-182AFF1DADD7}"/>
              </a:ext>
            </a:extLst>
          </p:cNvPr>
          <p:cNvSpPr>
            <a:spLocks noChangeArrowheads="1"/>
          </p:cNvSpPr>
          <p:nvPr/>
        </p:nvSpPr>
        <p:spPr bwMode="auto">
          <a:xfrm>
            <a:off x="2057400" y="4645025"/>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Rectangle 14">
            <a:extLst>
              <a:ext uri="{FF2B5EF4-FFF2-40B4-BE49-F238E27FC236}">
                <a16:creationId xmlns:a16="http://schemas.microsoft.com/office/drawing/2014/main" id="{3288D920-6FE0-4A7E-960C-E7D9E6CD1877}"/>
              </a:ext>
            </a:extLst>
          </p:cNvPr>
          <p:cNvSpPr>
            <a:spLocks noChangeArrowheads="1"/>
          </p:cNvSpPr>
          <p:nvPr/>
        </p:nvSpPr>
        <p:spPr bwMode="auto">
          <a:xfrm>
            <a:off x="1447800" y="4187825"/>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Rectangle 15">
            <a:extLst>
              <a:ext uri="{FF2B5EF4-FFF2-40B4-BE49-F238E27FC236}">
                <a16:creationId xmlns:a16="http://schemas.microsoft.com/office/drawing/2014/main" id="{163A132E-2933-4FB3-96F4-381BD979201C}"/>
              </a:ext>
            </a:extLst>
          </p:cNvPr>
          <p:cNvSpPr>
            <a:spLocks noChangeArrowheads="1"/>
          </p:cNvSpPr>
          <p:nvPr/>
        </p:nvSpPr>
        <p:spPr bwMode="auto">
          <a:xfrm>
            <a:off x="1143000" y="4568825"/>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Rectangle 16">
            <a:extLst>
              <a:ext uri="{FF2B5EF4-FFF2-40B4-BE49-F238E27FC236}">
                <a16:creationId xmlns:a16="http://schemas.microsoft.com/office/drawing/2014/main" id="{F59D5F24-F229-4C4A-93FA-50A850069472}"/>
              </a:ext>
            </a:extLst>
          </p:cNvPr>
          <p:cNvSpPr>
            <a:spLocks noChangeArrowheads="1"/>
          </p:cNvSpPr>
          <p:nvPr/>
        </p:nvSpPr>
        <p:spPr bwMode="auto">
          <a:xfrm>
            <a:off x="1295400" y="3425825"/>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Text Box 17">
            <a:extLst>
              <a:ext uri="{FF2B5EF4-FFF2-40B4-BE49-F238E27FC236}">
                <a16:creationId xmlns:a16="http://schemas.microsoft.com/office/drawing/2014/main" id="{A411E530-EC3D-4591-828A-350DA6A925FC}"/>
              </a:ext>
            </a:extLst>
          </p:cNvPr>
          <p:cNvSpPr txBox="1">
            <a:spLocks noChangeArrowheads="1"/>
          </p:cNvSpPr>
          <p:nvPr/>
        </p:nvSpPr>
        <p:spPr bwMode="auto">
          <a:xfrm>
            <a:off x="990600" y="4770438"/>
            <a:ext cx="13003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800">
                <a:latin typeface="Tahoma" panose="020B0604030504040204" pitchFamily="34" charset="0"/>
              </a:rPr>
              <a:t>Class 1</a:t>
            </a:r>
          </a:p>
        </p:txBody>
      </p:sp>
      <p:sp>
        <p:nvSpPr>
          <p:cNvPr id="17" name="Text Box 18">
            <a:extLst>
              <a:ext uri="{FF2B5EF4-FFF2-40B4-BE49-F238E27FC236}">
                <a16:creationId xmlns:a16="http://schemas.microsoft.com/office/drawing/2014/main" id="{2C12ECF5-4C4A-4B01-BD94-526AAAD817CD}"/>
              </a:ext>
            </a:extLst>
          </p:cNvPr>
          <p:cNvSpPr txBox="1">
            <a:spLocks noChangeArrowheads="1"/>
          </p:cNvSpPr>
          <p:nvPr/>
        </p:nvSpPr>
        <p:spPr bwMode="auto">
          <a:xfrm>
            <a:off x="3373244" y="2336195"/>
            <a:ext cx="13003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800">
                <a:latin typeface="Tahoma" panose="020B0604030504040204" pitchFamily="34" charset="0"/>
              </a:rPr>
              <a:t>Class 2</a:t>
            </a:r>
          </a:p>
        </p:txBody>
      </p:sp>
      <p:sp>
        <p:nvSpPr>
          <p:cNvPr id="20" name="Line 21">
            <a:extLst>
              <a:ext uri="{FF2B5EF4-FFF2-40B4-BE49-F238E27FC236}">
                <a16:creationId xmlns:a16="http://schemas.microsoft.com/office/drawing/2014/main" id="{457E4896-CA33-4B02-BA2C-661E214C8954}"/>
              </a:ext>
            </a:extLst>
          </p:cNvPr>
          <p:cNvSpPr>
            <a:spLocks noChangeShapeType="1"/>
          </p:cNvSpPr>
          <p:nvPr/>
        </p:nvSpPr>
        <p:spPr bwMode="auto">
          <a:xfrm>
            <a:off x="990600" y="1371611"/>
            <a:ext cx="2590799" cy="4343369"/>
          </a:xfrm>
          <a:prstGeom prst="line">
            <a:avLst/>
          </a:prstGeom>
          <a:noFill/>
          <a:ln w="38100">
            <a:solidFill>
              <a:schemeClr val="fo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3" name="Rectangle 32">
            <a:extLst>
              <a:ext uri="{FF2B5EF4-FFF2-40B4-BE49-F238E27FC236}">
                <a16:creationId xmlns:a16="http://schemas.microsoft.com/office/drawing/2014/main" id="{65E66E94-C6B7-48B9-ADFC-0E5FEB5DC960}"/>
              </a:ext>
            </a:extLst>
          </p:cNvPr>
          <p:cNvSpPr/>
          <p:nvPr/>
        </p:nvSpPr>
        <p:spPr>
          <a:xfrm>
            <a:off x="3945584" y="5635617"/>
            <a:ext cx="1705916" cy="523220"/>
          </a:xfrm>
          <a:prstGeom prst="rect">
            <a:avLst/>
          </a:prstGeom>
        </p:spPr>
        <p:txBody>
          <a:bodyPr wrap="none">
            <a:spAutoFit/>
          </a:bodyPr>
          <a:lstStyle/>
          <a:p>
            <a:r>
              <a:rPr lang="en-US" altLang="en-US" sz="2800">
                <a:solidFill>
                  <a:srgbClr val="0066FF"/>
                </a:solidFill>
              </a:rPr>
              <a:t>separator</a:t>
            </a:r>
            <a:endParaRPr lang="en-US" sz="2800">
              <a:solidFill>
                <a:srgbClr val="0066FF"/>
              </a:solidFill>
            </a:endParaRPr>
          </a:p>
        </p:txBody>
      </p:sp>
      <p:sp>
        <p:nvSpPr>
          <p:cNvPr id="24" name="Rectangle 12">
            <a:extLst>
              <a:ext uri="{FF2B5EF4-FFF2-40B4-BE49-F238E27FC236}">
                <a16:creationId xmlns:a16="http://schemas.microsoft.com/office/drawing/2014/main" id="{652A7B1B-8D80-45B6-8B8C-E3C99889B677}"/>
              </a:ext>
            </a:extLst>
          </p:cNvPr>
          <p:cNvSpPr>
            <a:spLocks noChangeArrowheads="1"/>
          </p:cNvSpPr>
          <p:nvPr/>
        </p:nvSpPr>
        <p:spPr bwMode="auto">
          <a:xfrm>
            <a:off x="2028825" y="39624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756156661"/>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1E580-1D46-42BF-870E-DE4F854CD8D6}"/>
              </a:ext>
            </a:extLst>
          </p:cNvPr>
          <p:cNvSpPr>
            <a:spLocks noGrp="1"/>
          </p:cNvSpPr>
          <p:nvPr>
            <p:ph type="title"/>
          </p:nvPr>
        </p:nvSpPr>
        <p:spPr/>
        <p:txBody>
          <a:bodyPr/>
          <a:lstStyle/>
          <a:p>
            <a:r>
              <a:rPr lang="en-US" altLang="zh-CN"/>
              <a:t>General idea</a:t>
            </a:r>
            <a:endParaRPr lang="en-US"/>
          </a:p>
        </p:txBody>
      </p:sp>
      <p:sp>
        <p:nvSpPr>
          <p:cNvPr id="30" name="Content Placeholder 29">
            <a:extLst>
              <a:ext uri="{FF2B5EF4-FFF2-40B4-BE49-F238E27FC236}">
                <a16:creationId xmlns:a16="http://schemas.microsoft.com/office/drawing/2014/main" id="{41305498-4F2E-4B91-8CC9-2854079DD5E8}"/>
              </a:ext>
            </a:extLst>
          </p:cNvPr>
          <p:cNvSpPr>
            <a:spLocks noGrp="1"/>
          </p:cNvSpPr>
          <p:nvPr>
            <p:ph sz="half" idx="2"/>
          </p:nvPr>
        </p:nvSpPr>
        <p:spPr>
          <a:xfrm>
            <a:off x="6197600" y="1600201"/>
            <a:ext cx="5994400" cy="4525963"/>
          </a:xfrm>
        </p:spPr>
        <p:txBody>
          <a:bodyPr/>
          <a:lstStyle/>
          <a:p>
            <a:pPr algn="just"/>
            <a:r>
              <a:rPr lang="en-US"/>
              <a:t>Define the margin of a linear classifier as the width that the boundary could be increased by before hitting a datapoint.</a:t>
            </a:r>
          </a:p>
          <a:p>
            <a:pPr algn="just"/>
            <a:r>
              <a:rPr lang="vi-VN">
                <a:solidFill>
                  <a:srgbClr val="FF0000"/>
                </a:solidFill>
              </a:rPr>
              <a:t>Margin là khoảng cách giữa siêu phẳng đến 2 điểm dữ liệu gần nhất tương ứng với các phân lớp</a:t>
            </a:r>
            <a:r>
              <a:rPr lang="en-US">
                <a:solidFill>
                  <a:srgbClr val="FF0000"/>
                </a:solidFill>
              </a:rPr>
              <a:t>.</a:t>
            </a:r>
          </a:p>
        </p:txBody>
      </p:sp>
      <p:sp>
        <p:nvSpPr>
          <p:cNvPr id="29" name="Rectangle 28">
            <a:extLst>
              <a:ext uri="{FF2B5EF4-FFF2-40B4-BE49-F238E27FC236}">
                <a16:creationId xmlns:a16="http://schemas.microsoft.com/office/drawing/2014/main" id="{E6616AA0-710E-4B69-89B8-018B96991F65}"/>
              </a:ext>
            </a:extLst>
          </p:cNvPr>
          <p:cNvSpPr/>
          <p:nvPr/>
        </p:nvSpPr>
        <p:spPr>
          <a:xfrm rot="3691334">
            <a:off x="589530" y="3163796"/>
            <a:ext cx="4191334" cy="711719"/>
          </a:xfrm>
          <a:prstGeom prst="rect">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Line 4">
            <a:extLst>
              <a:ext uri="{FF2B5EF4-FFF2-40B4-BE49-F238E27FC236}">
                <a16:creationId xmlns:a16="http://schemas.microsoft.com/office/drawing/2014/main" id="{92CED686-BCBE-4F9C-8C56-4051D899B83C}"/>
              </a:ext>
            </a:extLst>
          </p:cNvPr>
          <p:cNvSpPr>
            <a:spLocks noChangeShapeType="1"/>
          </p:cNvSpPr>
          <p:nvPr/>
        </p:nvSpPr>
        <p:spPr bwMode="auto">
          <a:xfrm flipV="1">
            <a:off x="1076325" y="1682739"/>
            <a:ext cx="0" cy="3581400"/>
          </a:xfrm>
          <a:prstGeom prst="line">
            <a:avLst/>
          </a:prstGeom>
          <a:noFill/>
          <a:ln w="38100">
            <a:solidFill>
              <a:schemeClr val="tx1"/>
            </a:solidFill>
            <a:miter lim="800000"/>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2" name="Line 5">
            <a:extLst>
              <a:ext uri="{FF2B5EF4-FFF2-40B4-BE49-F238E27FC236}">
                <a16:creationId xmlns:a16="http://schemas.microsoft.com/office/drawing/2014/main" id="{44CC700A-3E57-483E-A9CF-6EBF46F8C465}"/>
              </a:ext>
            </a:extLst>
          </p:cNvPr>
          <p:cNvSpPr>
            <a:spLocks noChangeShapeType="1"/>
          </p:cNvSpPr>
          <p:nvPr/>
        </p:nvSpPr>
        <p:spPr bwMode="auto">
          <a:xfrm flipV="1">
            <a:off x="1066800" y="5254614"/>
            <a:ext cx="4267200" cy="0"/>
          </a:xfrm>
          <a:prstGeom prst="line">
            <a:avLst/>
          </a:prstGeom>
          <a:noFill/>
          <a:ln w="38100">
            <a:solidFill>
              <a:schemeClr val="tx1"/>
            </a:solidFill>
            <a:miter lim="800000"/>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4" name="Oval 6">
            <a:extLst>
              <a:ext uri="{FF2B5EF4-FFF2-40B4-BE49-F238E27FC236}">
                <a16:creationId xmlns:a16="http://schemas.microsoft.com/office/drawing/2014/main" id="{BCB0B49A-BBF7-45FB-8786-B8D6EC21A139}"/>
              </a:ext>
            </a:extLst>
          </p:cNvPr>
          <p:cNvSpPr>
            <a:spLocks noChangeArrowheads="1"/>
          </p:cNvSpPr>
          <p:nvPr/>
        </p:nvSpPr>
        <p:spPr bwMode="auto">
          <a:xfrm>
            <a:off x="3124200" y="2663814"/>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 name="Oval 7">
            <a:extLst>
              <a:ext uri="{FF2B5EF4-FFF2-40B4-BE49-F238E27FC236}">
                <a16:creationId xmlns:a16="http://schemas.microsoft.com/office/drawing/2014/main" id="{8303D97B-81AF-4147-B6AE-367C65CA86B5}"/>
              </a:ext>
            </a:extLst>
          </p:cNvPr>
          <p:cNvSpPr>
            <a:spLocks noChangeArrowheads="1"/>
          </p:cNvSpPr>
          <p:nvPr/>
        </p:nvSpPr>
        <p:spPr bwMode="auto">
          <a:xfrm>
            <a:off x="3352800" y="3273414"/>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 name="Oval 8">
            <a:extLst>
              <a:ext uri="{FF2B5EF4-FFF2-40B4-BE49-F238E27FC236}">
                <a16:creationId xmlns:a16="http://schemas.microsoft.com/office/drawing/2014/main" id="{CBC49C59-ED84-4F2B-BF2D-69635AAEC00F}"/>
              </a:ext>
            </a:extLst>
          </p:cNvPr>
          <p:cNvSpPr>
            <a:spLocks noChangeArrowheads="1"/>
          </p:cNvSpPr>
          <p:nvPr/>
        </p:nvSpPr>
        <p:spPr bwMode="auto">
          <a:xfrm>
            <a:off x="4191000" y="3502014"/>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 name="Oval 9">
            <a:extLst>
              <a:ext uri="{FF2B5EF4-FFF2-40B4-BE49-F238E27FC236}">
                <a16:creationId xmlns:a16="http://schemas.microsoft.com/office/drawing/2014/main" id="{D1A3E807-F89B-4E64-BB57-F79DB5539593}"/>
              </a:ext>
            </a:extLst>
          </p:cNvPr>
          <p:cNvSpPr>
            <a:spLocks noChangeArrowheads="1"/>
          </p:cNvSpPr>
          <p:nvPr/>
        </p:nvSpPr>
        <p:spPr bwMode="auto">
          <a:xfrm>
            <a:off x="2667000" y="2816214"/>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 name="Oval 10">
            <a:extLst>
              <a:ext uri="{FF2B5EF4-FFF2-40B4-BE49-F238E27FC236}">
                <a16:creationId xmlns:a16="http://schemas.microsoft.com/office/drawing/2014/main" id="{A50281F8-92DA-4CC5-84D3-95F4D6CBFB7E}"/>
              </a:ext>
            </a:extLst>
          </p:cNvPr>
          <p:cNvSpPr>
            <a:spLocks noChangeArrowheads="1"/>
          </p:cNvSpPr>
          <p:nvPr/>
        </p:nvSpPr>
        <p:spPr bwMode="auto">
          <a:xfrm>
            <a:off x="3657600" y="3806814"/>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 name="Rectangle 11">
            <a:extLst>
              <a:ext uri="{FF2B5EF4-FFF2-40B4-BE49-F238E27FC236}">
                <a16:creationId xmlns:a16="http://schemas.microsoft.com/office/drawing/2014/main" id="{D25C9340-B075-4067-BF47-37F24EE2CD06}"/>
              </a:ext>
            </a:extLst>
          </p:cNvPr>
          <p:cNvSpPr>
            <a:spLocks noChangeArrowheads="1"/>
          </p:cNvSpPr>
          <p:nvPr/>
        </p:nvSpPr>
        <p:spPr bwMode="auto">
          <a:xfrm>
            <a:off x="1371600" y="3730614"/>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 name="Rectangle 13">
            <a:extLst>
              <a:ext uri="{FF2B5EF4-FFF2-40B4-BE49-F238E27FC236}">
                <a16:creationId xmlns:a16="http://schemas.microsoft.com/office/drawing/2014/main" id="{FF55B105-B2E7-42C5-9243-81464AFFF2F6}"/>
              </a:ext>
            </a:extLst>
          </p:cNvPr>
          <p:cNvSpPr>
            <a:spLocks noChangeArrowheads="1"/>
          </p:cNvSpPr>
          <p:nvPr/>
        </p:nvSpPr>
        <p:spPr bwMode="auto">
          <a:xfrm>
            <a:off x="2438400" y="4645014"/>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 name="Rectangle 14">
            <a:extLst>
              <a:ext uri="{FF2B5EF4-FFF2-40B4-BE49-F238E27FC236}">
                <a16:creationId xmlns:a16="http://schemas.microsoft.com/office/drawing/2014/main" id="{1700BA6E-483E-488C-8C83-D625A2D43C08}"/>
              </a:ext>
            </a:extLst>
          </p:cNvPr>
          <p:cNvSpPr>
            <a:spLocks noChangeArrowheads="1"/>
          </p:cNvSpPr>
          <p:nvPr/>
        </p:nvSpPr>
        <p:spPr bwMode="auto">
          <a:xfrm>
            <a:off x="1828800" y="4187814"/>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 name="Rectangle 15">
            <a:extLst>
              <a:ext uri="{FF2B5EF4-FFF2-40B4-BE49-F238E27FC236}">
                <a16:creationId xmlns:a16="http://schemas.microsoft.com/office/drawing/2014/main" id="{8B724EB7-76E4-4C83-B749-B1CFC19CACD6}"/>
              </a:ext>
            </a:extLst>
          </p:cNvPr>
          <p:cNvSpPr>
            <a:spLocks noChangeArrowheads="1"/>
          </p:cNvSpPr>
          <p:nvPr/>
        </p:nvSpPr>
        <p:spPr bwMode="auto">
          <a:xfrm>
            <a:off x="1524000" y="4568814"/>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 name="Rectangle 16">
            <a:extLst>
              <a:ext uri="{FF2B5EF4-FFF2-40B4-BE49-F238E27FC236}">
                <a16:creationId xmlns:a16="http://schemas.microsoft.com/office/drawing/2014/main" id="{40704EC0-9540-4027-B30A-BC435F505401}"/>
              </a:ext>
            </a:extLst>
          </p:cNvPr>
          <p:cNvSpPr>
            <a:spLocks noChangeArrowheads="1"/>
          </p:cNvSpPr>
          <p:nvPr/>
        </p:nvSpPr>
        <p:spPr bwMode="auto">
          <a:xfrm>
            <a:off x="1676400" y="3425814"/>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 name="Text Box 17">
            <a:extLst>
              <a:ext uri="{FF2B5EF4-FFF2-40B4-BE49-F238E27FC236}">
                <a16:creationId xmlns:a16="http://schemas.microsoft.com/office/drawing/2014/main" id="{4D8F2B56-F490-46E3-B443-6B85A230B8EF}"/>
              </a:ext>
            </a:extLst>
          </p:cNvPr>
          <p:cNvSpPr txBox="1">
            <a:spLocks noChangeArrowheads="1"/>
          </p:cNvSpPr>
          <p:nvPr/>
        </p:nvSpPr>
        <p:spPr bwMode="auto">
          <a:xfrm>
            <a:off x="1371600" y="4770427"/>
            <a:ext cx="13003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800">
                <a:latin typeface="Tahoma" panose="020B0604030504040204" pitchFamily="34" charset="0"/>
              </a:rPr>
              <a:t>Class 1</a:t>
            </a:r>
          </a:p>
        </p:txBody>
      </p:sp>
      <p:sp>
        <p:nvSpPr>
          <p:cNvPr id="47" name="Text Box 18">
            <a:extLst>
              <a:ext uri="{FF2B5EF4-FFF2-40B4-BE49-F238E27FC236}">
                <a16:creationId xmlns:a16="http://schemas.microsoft.com/office/drawing/2014/main" id="{F2E855FE-F31D-4C11-B30F-32ABFF755BD5}"/>
              </a:ext>
            </a:extLst>
          </p:cNvPr>
          <p:cNvSpPr txBox="1">
            <a:spLocks noChangeArrowheads="1"/>
          </p:cNvSpPr>
          <p:nvPr/>
        </p:nvSpPr>
        <p:spPr bwMode="auto">
          <a:xfrm>
            <a:off x="3754244" y="2336184"/>
            <a:ext cx="13003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800">
                <a:latin typeface="Tahoma" panose="020B0604030504040204" pitchFamily="34" charset="0"/>
              </a:rPr>
              <a:t>Class 2</a:t>
            </a:r>
          </a:p>
        </p:txBody>
      </p:sp>
      <p:sp>
        <p:nvSpPr>
          <p:cNvPr id="48" name="Line 21">
            <a:extLst>
              <a:ext uri="{FF2B5EF4-FFF2-40B4-BE49-F238E27FC236}">
                <a16:creationId xmlns:a16="http://schemas.microsoft.com/office/drawing/2014/main" id="{6FC1D899-91EB-4B16-91A5-3A52836ADBA7}"/>
              </a:ext>
            </a:extLst>
          </p:cNvPr>
          <p:cNvSpPr>
            <a:spLocks noChangeShapeType="1"/>
          </p:cNvSpPr>
          <p:nvPr/>
        </p:nvSpPr>
        <p:spPr bwMode="auto">
          <a:xfrm>
            <a:off x="1457326" y="1295400"/>
            <a:ext cx="2537305" cy="4572000"/>
          </a:xfrm>
          <a:prstGeom prst="line">
            <a:avLst/>
          </a:prstGeom>
          <a:noFill/>
          <a:ln w="38100">
            <a:solidFill>
              <a:schemeClr val="fo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9" name="Rectangle 12">
            <a:extLst>
              <a:ext uri="{FF2B5EF4-FFF2-40B4-BE49-F238E27FC236}">
                <a16:creationId xmlns:a16="http://schemas.microsoft.com/office/drawing/2014/main" id="{4D1D4AE8-7BCD-4487-8E50-1A5E3B276B18}"/>
              </a:ext>
            </a:extLst>
          </p:cNvPr>
          <p:cNvSpPr>
            <a:spLocks noChangeArrowheads="1"/>
          </p:cNvSpPr>
          <p:nvPr/>
        </p:nvSpPr>
        <p:spPr bwMode="auto">
          <a:xfrm>
            <a:off x="2409825" y="3962389"/>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50" name="Straight Arrow Connector 49">
            <a:extLst>
              <a:ext uri="{FF2B5EF4-FFF2-40B4-BE49-F238E27FC236}">
                <a16:creationId xmlns:a16="http://schemas.microsoft.com/office/drawing/2014/main" id="{18A85BDB-2D9A-4195-B09D-42A8C95ABEAE}"/>
              </a:ext>
            </a:extLst>
          </p:cNvPr>
          <p:cNvCxnSpPr>
            <a:cxnSpLocks/>
            <a:endCxn id="37" idx="5"/>
          </p:cNvCxnSpPr>
          <p:nvPr/>
        </p:nvCxnSpPr>
        <p:spPr>
          <a:xfrm flipH="1" flipV="1">
            <a:off x="2797082" y="2946296"/>
            <a:ext cx="3211496" cy="2514608"/>
          </a:xfrm>
          <a:prstGeom prst="straightConnector1">
            <a:avLst/>
          </a:prstGeom>
          <a:ln w="38100">
            <a:solidFill>
              <a:srgbClr val="FF0000"/>
            </a:solidFill>
            <a:tailEnd type="stealth"/>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071D0902-591F-4290-BC4E-7D999A666B47}"/>
              </a:ext>
            </a:extLst>
          </p:cNvPr>
          <p:cNvCxnSpPr>
            <a:cxnSpLocks/>
          </p:cNvCxnSpPr>
          <p:nvPr/>
        </p:nvCxnSpPr>
        <p:spPr>
          <a:xfrm flipH="1" flipV="1">
            <a:off x="2569314" y="4038591"/>
            <a:ext cx="3432175" cy="1422313"/>
          </a:xfrm>
          <a:prstGeom prst="straightConnector1">
            <a:avLst/>
          </a:prstGeom>
          <a:ln w="38100">
            <a:solidFill>
              <a:srgbClr val="FF0000"/>
            </a:solidFill>
            <a:tailEnd type="stealth"/>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FF6C258C-44DA-4CF5-A225-805C3B342BE1}"/>
              </a:ext>
            </a:extLst>
          </p:cNvPr>
          <p:cNvSpPr/>
          <p:nvPr/>
        </p:nvSpPr>
        <p:spPr>
          <a:xfrm>
            <a:off x="6136084" y="5158836"/>
            <a:ext cx="4145687" cy="523220"/>
          </a:xfrm>
          <a:prstGeom prst="rect">
            <a:avLst/>
          </a:prstGeom>
        </p:spPr>
        <p:txBody>
          <a:bodyPr wrap="none">
            <a:spAutoFit/>
          </a:bodyPr>
          <a:lstStyle/>
          <a:p>
            <a:r>
              <a:rPr lang="en-US" sz="2800">
                <a:solidFill>
                  <a:srgbClr val="0066FF"/>
                </a:solidFill>
              </a:rPr>
              <a:t>before hitting a datapoint</a:t>
            </a:r>
          </a:p>
        </p:txBody>
      </p:sp>
      <p:sp>
        <p:nvSpPr>
          <p:cNvPr id="26" name="Rectangle 25">
            <a:extLst>
              <a:ext uri="{FF2B5EF4-FFF2-40B4-BE49-F238E27FC236}">
                <a16:creationId xmlns:a16="http://schemas.microsoft.com/office/drawing/2014/main" id="{54B197F5-8FA6-4337-BE00-D49071EFE633}"/>
              </a:ext>
            </a:extLst>
          </p:cNvPr>
          <p:cNvSpPr/>
          <p:nvPr/>
        </p:nvSpPr>
        <p:spPr>
          <a:xfrm>
            <a:off x="5267325" y="5638800"/>
            <a:ext cx="6482865" cy="523220"/>
          </a:xfrm>
          <a:prstGeom prst="rect">
            <a:avLst/>
          </a:prstGeom>
        </p:spPr>
        <p:txBody>
          <a:bodyPr wrap="none">
            <a:spAutoFit/>
          </a:bodyPr>
          <a:lstStyle/>
          <a:p>
            <a:r>
              <a:rPr lang="en-US" sz="2800">
                <a:solidFill>
                  <a:srgbClr val="FF0000"/>
                </a:solidFill>
              </a:rPr>
              <a:t>margin of a linear classifier as the width</a:t>
            </a:r>
          </a:p>
        </p:txBody>
      </p:sp>
      <p:sp>
        <p:nvSpPr>
          <p:cNvPr id="53" name="Line 25">
            <a:extLst>
              <a:ext uri="{FF2B5EF4-FFF2-40B4-BE49-F238E27FC236}">
                <a16:creationId xmlns:a16="http://schemas.microsoft.com/office/drawing/2014/main" id="{6358E41D-5E10-4EB6-9CDD-4A4E6700C566}"/>
              </a:ext>
            </a:extLst>
          </p:cNvPr>
          <p:cNvSpPr>
            <a:spLocks noChangeShapeType="1"/>
          </p:cNvSpPr>
          <p:nvPr/>
        </p:nvSpPr>
        <p:spPr bwMode="auto">
          <a:xfrm flipH="1">
            <a:off x="3057526" y="4701690"/>
            <a:ext cx="595504" cy="327510"/>
          </a:xfrm>
          <a:prstGeom prst="line">
            <a:avLst/>
          </a:prstGeom>
          <a:noFill/>
          <a:ln w="25400">
            <a:solidFill>
              <a:srgbClr val="FF00FF"/>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4" name="Text Box 27">
            <a:extLst>
              <a:ext uri="{FF2B5EF4-FFF2-40B4-BE49-F238E27FC236}">
                <a16:creationId xmlns:a16="http://schemas.microsoft.com/office/drawing/2014/main" id="{98B887AA-70BF-4371-9A09-BFCE023D0D8B}"/>
              </a:ext>
            </a:extLst>
          </p:cNvPr>
          <p:cNvSpPr txBox="1">
            <a:spLocks noChangeArrowheads="1"/>
          </p:cNvSpPr>
          <p:nvPr/>
        </p:nvSpPr>
        <p:spPr bwMode="auto">
          <a:xfrm>
            <a:off x="3606800" y="4301556"/>
            <a:ext cx="48603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800" i="1">
                <a:solidFill>
                  <a:srgbClr val="CC00CC"/>
                </a:solidFill>
                <a:latin typeface="Tahoma" panose="020B0604030504040204" pitchFamily="34" charset="0"/>
              </a:rPr>
              <a:t>m</a:t>
            </a:r>
          </a:p>
        </p:txBody>
      </p:sp>
      <p:cxnSp>
        <p:nvCxnSpPr>
          <p:cNvPr id="55" name="Straight Arrow Connector 54">
            <a:extLst>
              <a:ext uri="{FF2B5EF4-FFF2-40B4-BE49-F238E27FC236}">
                <a16:creationId xmlns:a16="http://schemas.microsoft.com/office/drawing/2014/main" id="{19477EA3-8674-4986-B2DA-112F3321FCAD}"/>
              </a:ext>
            </a:extLst>
          </p:cNvPr>
          <p:cNvCxnSpPr>
            <a:cxnSpLocks/>
            <a:stCxn id="26" idx="1"/>
          </p:cNvCxnSpPr>
          <p:nvPr/>
        </p:nvCxnSpPr>
        <p:spPr>
          <a:xfrm flipH="1" flipV="1">
            <a:off x="3235325" y="4940482"/>
            <a:ext cx="2032000" cy="959928"/>
          </a:xfrm>
          <a:prstGeom prst="straightConnector1">
            <a:avLst/>
          </a:prstGeom>
          <a:ln w="38100">
            <a:solidFill>
              <a:srgbClr val="FF0000"/>
            </a:solidFill>
            <a:tailEnd type="stealt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248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Arrow Connector 21">
            <a:extLst>
              <a:ext uri="{FF2B5EF4-FFF2-40B4-BE49-F238E27FC236}">
                <a16:creationId xmlns:a16="http://schemas.microsoft.com/office/drawing/2014/main" id="{11C490D1-4CD5-4E6C-8201-DED02A02D70F}"/>
              </a:ext>
            </a:extLst>
          </p:cNvPr>
          <p:cNvCxnSpPr>
            <a:cxnSpLocks/>
          </p:cNvCxnSpPr>
          <p:nvPr/>
        </p:nvCxnSpPr>
        <p:spPr>
          <a:xfrm flipH="1">
            <a:off x="2438400" y="1981200"/>
            <a:ext cx="4191000" cy="878215"/>
          </a:xfrm>
          <a:prstGeom prst="straightConnector1">
            <a:avLst/>
          </a:prstGeom>
          <a:ln w="38100">
            <a:solidFill>
              <a:srgbClr val="FF0000"/>
            </a:solidFill>
            <a:tailEnd type="stealth"/>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D5404042-7CCF-40EE-A409-60A027807CAE}"/>
              </a:ext>
            </a:extLst>
          </p:cNvPr>
          <p:cNvSpPr/>
          <p:nvPr/>
        </p:nvSpPr>
        <p:spPr>
          <a:xfrm rot="2718433">
            <a:off x="-40902" y="3277571"/>
            <a:ext cx="5172552" cy="971009"/>
          </a:xfrm>
          <a:prstGeom prst="rect">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91E580-1D46-42BF-870E-DE4F854CD8D6}"/>
              </a:ext>
            </a:extLst>
          </p:cNvPr>
          <p:cNvSpPr>
            <a:spLocks noGrp="1"/>
          </p:cNvSpPr>
          <p:nvPr>
            <p:ph type="title"/>
          </p:nvPr>
        </p:nvSpPr>
        <p:spPr/>
        <p:txBody>
          <a:bodyPr/>
          <a:lstStyle/>
          <a:p>
            <a:r>
              <a:rPr lang="en-US" altLang="zh-CN"/>
              <a:t>General idea</a:t>
            </a:r>
            <a:endParaRPr lang="en-US"/>
          </a:p>
        </p:txBody>
      </p:sp>
      <p:sp>
        <p:nvSpPr>
          <p:cNvPr id="30" name="Content Placeholder 29">
            <a:extLst>
              <a:ext uri="{FF2B5EF4-FFF2-40B4-BE49-F238E27FC236}">
                <a16:creationId xmlns:a16="http://schemas.microsoft.com/office/drawing/2014/main" id="{41305498-4F2E-4B91-8CC9-2854079DD5E8}"/>
              </a:ext>
            </a:extLst>
          </p:cNvPr>
          <p:cNvSpPr>
            <a:spLocks noGrp="1"/>
          </p:cNvSpPr>
          <p:nvPr>
            <p:ph sz="half" idx="2"/>
          </p:nvPr>
        </p:nvSpPr>
        <p:spPr/>
        <p:txBody>
          <a:bodyPr/>
          <a:lstStyle/>
          <a:p>
            <a:pPr algn="just"/>
            <a:r>
              <a:rPr lang="en-US" altLang="zh-CN">
                <a:solidFill>
                  <a:schemeClr val="tx1"/>
                </a:solidFill>
                <a:highlight>
                  <a:srgbClr val="FFFF00"/>
                </a:highlight>
                <a:ea typeface="宋体" panose="02010600030101010101" pitchFamily="2" charset="-122"/>
              </a:rPr>
              <a:t>Support Vectors</a:t>
            </a:r>
            <a:r>
              <a:rPr lang="en-US" altLang="zh-CN">
                <a:solidFill>
                  <a:srgbClr val="00CC00"/>
                </a:solidFill>
                <a:ea typeface="宋体" panose="02010600030101010101" pitchFamily="2" charset="-122"/>
              </a:rPr>
              <a:t> </a:t>
            </a:r>
            <a:r>
              <a:rPr lang="en-US" altLang="zh-CN">
                <a:ea typeface="宋体" panose="02010600030101010101" pitchFamily="2" charset="-122"/>
              </a:rPr>
              <a:t>are those datapoints that the margin pushes up against.</a:t>
            </a:r>
          </a:p>
          <a:p>
            <a:pPr algn="just">
              <a:spcBef>
                <a:spcPct val="50000"/>
              </a:spcBef>
              <a:buClr>
                <a:schemeClr val="tx1"/>
              </a:buClr>
            </a:pPr>
            <a:r>
              <a:rPr lang="en-US" altLang="zh-CN">
                <a:ea typeface="宋体" panose="02010600030101010101" pitchFamily="2" charset="-122"/>
              </a:rPr>
              <a:t>The maximum margin linear classifier is the linear classifier with the maximum margin.</a:t>
            </a:r>
          </a:p>
        </p:txBody>
      </p:sp>
      <p:sp>
        <p:nvSpPr>
          <p:cNvPr id="3" name="Line 4">
            <a:extLst>
              <a:ext uri="{FF2B5EF4-FFF2-40B4-BE49-F238E27FC236}">
                <a16:creationId xmlns:a16="http://schemas.microsoft.com/office/drawing/2014/main" id="{1D59E12E-0A99-406A-B700-36214FC6E09D}"/>
              </a:ext>
            </a:extLst>
          </p:cNvPr>
          <p:cNvSpPr>
            <a:spLocks noChangeShapeType="1"/>
          </p:cNvSpPr>
          <p:nvPr/>
        </p:nvSpPr>
        <p:spPr bwMode="auto">
          <a:xfrm flipV="1">
            <a:off x="695325" y="1682750"/>
            <a:ext cx="0" cy="3581400"/>
          </a:xfrm>
          <a:prstGeom prst="line">
            <a:avLst/>
          </a:prstGeom>
          <a:noFill/>
          <a:ln w="38100">
            <a:solidFill>
              <a:schemeClr val="tx1"/>
            </a:solidFill>
            <a:miter lim="800000"/>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 name="Line 5">
            <a:extLst>
              <a:ext uri="{FF2B5EF4-FFF2-40B4-BE49-F238E27FC236}">
                <a16:creationId xmlns:a16="http://schemas.microsoft.com/office/drawing/2014/main" id="{5A8CF049-19F9-4985-8E78-3F9EF6F62CDB}"/>
              </a:ext>
            </a:extLst>
          </p:cNvPr>
          <p:cNvSpPr>
            <a:spLocks noChangeShapeType="1"/>
          </p:cNvSpPr>
          <p:nvPr/>
        </p:nvSpPr>
        <p:spPr bwMode="auto">
          <a:xfrm flipV="1">
            <a:off x="685800" y="5254625"/>
            <a:ext cx="4648200" cy="0"/>
          </a:xfrm>
          <a:prstGeom prst="line">
            <a:avLst/>
          </a:prstGeom>
          <a:noFill/>
          <a:ln w="38100">
            <a:solidFill>
              <a:schemeClr val="tx1"/>
            </a:solidFill>
            <a:miter lim="800000"/>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 name="Oval 6">
            <a:extLst>
              <a:ext uri="{FF2B5EF4-FFF2-40B4-BE49-F238E27FC236}">
                <a16:creationId xmlns:a16="http://schemas.microsoft.com/office/drawing/2014/main" id="{16B11EFC-0FBE-415A-B16A-0CD2D5ED27DF}"/>
              </a:ext>
            </a:extLst>
          </p:cNvPr>
          <p:cNvSpPr>
            <a:spLocks noChangeArrowheads="1"/>
          </p:cNvSpPr>
          <p:nvPr/>
        </p:nvSpPr>
        <p:spPr bwMode="auto">
          <a:xfrm>
            <a:off x="2743200" y="2663825"/>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Oval 7">
            <a:extLst>
              <a:ext uri="{FF2B5EF4-FFF2-40B4-BE49-F238E27FC236}">
                <a16:creationId xmlns:a16="http://schemas.microsoft.com/office/drawing/2014/main" id="{ADFDEEB9-F5C2-42A6-BF28-5672779085C3}"/>
              </a:ext>
            </a:extLst>
          </p:cNvPr>
          <p:cNvSpPr>
            <a:spLocks noChangeArrowheads="1"/>
          </p:cNvSpPr>
          <p:nvPr/>
        </p:nvSpPr>
        <p:spPr bwMode="auto">
          <a:xfrm>
            <a:off x="2971800" y="3273425"/>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Oval 9">
            <a:extLst>
              <a:ext uri="{FF2B5EF4-FFF2-40B4-BE49-F238E27FC236}">
                <a16:creationId xmlns:a16="http://schemas.microsoft.com/office/drawing/2014/main" id="{257D9B57-CC14-43DC-A83C-62BD19FE5F90}"/>
              </a:ext>
            </a:extLst>
          </p:cNvPr>
          <p:cNvSpPr>
            <a:spLocks noChangeArrowheads="1"/>
          </p:cNvSpPr>
          <p:nvPr/>
        </p:nvSpPr>
        <p:spPr bwMode="auto">
          <a:xfrm>
            <a:off x="2286000" y="2816225"/>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Oval 10">
            <a:extLst>
              <a:ext uri="{FF2B5EF4-FFF2-40B4-BE49-F238E27FC236}">
                <a16:creationId xmlns:a16="http://schemas.microsoft.com/office/drawing/2014/main" id="{4D459E55-3E26-4E9E-88DE-A27F30A52187}"/>
              </a:ext>
            </a:extLst>
          </p:cNvPr>
          <p:cNvSpPr>
            <a:spLocks noChangeArrowheads="1"/>
          </p:cNvSpPr>
          <p:nvPr/>
        </p:nvSpPr>
        <p:spPr bwMode="auto">
          <a:xfrm>
            <a:off x="3276600" y="3806825"/>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Rectangle 11">
            <a:extLst>
              <a:ext uri="{FF2B5EF4-FFF2-40B4-BE49-F238E27FC236}">
                <a16:creationId xmlns:a16="http://schemas.microsoft.com/office/drawing/2014/main" id="{51E8E650-D166-4291-B1F1-F4254D351914}"/>
              </a:ext>
            </a:extLst>
          </p:cNvPr>
          <p:cNvSpPr>
            <a:spLocks noChangeArrowheads="1"/>
          </p:cNvSpPr>
          <p:nvPr/>
        </p:nvSpPr>
        <p:spPr bwMode="auto">
          <a:xfrm>
            <a:off x="990600" y="3730625"/>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Rectangle 13">
            <a:extLst>
              <a:ext uri="{FF2B5EF4-FFF2-40B4-BE49-F238E27FC236}">
                <a16:creationId xmlns:a16="http://schemas.microsoft.com/office/drawing/2014/main" id="{39CD0813-7E8B-49C4-A2D1-182AFF1DADD7}"/>
              </a:ext>
            </a:extLst>
          </p:cNvPr>
          <p:cNvSpPr>
            <a:spLocks noChangeArrowheads="1"/>
          </p:cNvSpPr>
          <p:nvPr/>
        </p:nvSpPr>
        <p:spPr bwMode="auto">
          <a:xfrm>
            <a:off x="2057400" y="4645025"/>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Rectangle 14">
            <a:extLst>
              <a:ext uri="{FF2B5EF4-FFF2-40B4-BE49-F238E27FC236}">
                <a16:creationId xmlns:a16="http://schemas.microsoft.com/office/drawing/2014/main" id="{3288D920-6FE0-4A7E-960C-E7D9E6CD1877}"/>
              </a:ext>
            </a:extLst>
          </p:cNvPr>
          <p:cNvSpPr>
            <a:spLocks noChangeArrowheads="1"/>
          </p:cNvSpPr>
          <p:nvPr/>
        </p:nvSpPr>
        <p:spPr bwMode="auto">
          <a:xfrm>
            <a:off x="1447800" y="4187825"/>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Rectangle 15">
            <a:extLst>
              <a:ext uri="{FF2B5EF4-FFF2-40B4-BE49-F238E27FC236}">
                <a16:creationId xmlns:a16="http://schemas.microsoft.com/office/drawing/2014/main" id="{163A132E-2933-4FB3-96F4-381BD979201C}"/>
              </a:ext>
            </a:extLst>
          </p:cNvPr>
          <p:cNvSpPr>
            <a:spLocks noChangeArrowheads="1"/>
          </p:cNvSpPr>
          <p:nvPr/>
        </p:nvSpPr>
        <p:spPr bwMode="auto">
          <a:xfrm>
            <a:off x="1143000" y="4568825"/>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Rectangle 16">
            <a:extLst>
              <a:ext uri="{FF2B5EF4-FFF2-40B4-BE49-F238E27FC236}">
                <a16:creationId xmlns:a16="http://schemas.microsoft.com/office/drawing/2014/main" id="{F59D5F24-F229-4C4A-93FA-50A850069472}"/>
              </a:ext>
            </a:extLst>
          </p:cNvPr>
          <p:cNvSpPr>
            <a:spLocks noChangeArrowheads="1"/>
          </p:cNvSpPr>
          <p:nvPr/>
        </p:nvSpPr>
        <p:spPr bwMode="auto">
          <a:xfrm>
            <a:off x="1295400" y="3425825"/>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Text Box 17">
            <a:extLst>
              <a:ext uri="{FF2B5EF4-FFF2-40B4-BE49-F238E27FC236}">
                <a16:creationId xmlns:a16="http://schemas.microsoft.com/office/drawing/2014/main" id="{A411E530-EC3D-4591-828A-350DA6A925FC}"/>
              </a:ext>
            </a:extLst>
          </p:cNvPr>
          <p:cNvSpPr txBox="1">
            <a:spLocks noChangeArrowheads="1"/>
          </p:cNvSpPr>
          <p:nvPr/>
        </p:nvSpPr>
        <p:spPr bwMode="auto">
          <a:xfrm>
            <a:off x="990600" y="4770438"/>
            <a:ext cx="13003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800">
                <a:latin typeface="Tahoma" panose="020B0604030504040204" pitchFamily="34" charset="0"/>
              </a:rPr>
              <a:t>Class 1</a:t>
            </a:r>
          </a:p>
        </p:txBody>
      </p:sp>
      <p:sp>
        <p:nvSpPr>
          <p:cNvPr id="17" name="Text Box 18">
            <a:extLst>
              <a:ext uri="{FF2B5EF4-FFF2-40B4-BE49-F238E27FC236}">
                <a16:creationId xmlns:a16="http://schemas.microsoft.com/office/drawing/2014/main" id="{2C12ECF5-4C4A-4B01-BD94-526AAAD817CD}"/>
              </a:ext>
            </a:extLst>
          </p:cNvPr>
          <p:cNvSpPr txBox="1">
            <a:spLocks noChangeArrowheads="1"/>
          </p:cNvSpPr>
          <p:nvPr/>
        </p:nvSpPr>
        <p:spPr bwMode="auto">
          <a:xfrm>
            <a:off x="3373244" y="2336195"/>
            <a:ext cx="13003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800">
                <a:latin typeface="Tahoma" panose="020B0604030504040204" pitchFamily="34" charset="0"/>
              </a:rPr>
              <a:t>Class 2</a:t>
            </a:r>
          </a:p>
        </p:txBody>
      </p:sp>
      <p:sp>
        <p:nvSpPr>
          <p:cNvPr id="18" name="Line 19">
            <a:extLst>
              <a:ext uri="{FF2B5EF4-FFF2-40B4-BE49-F238E27FC236}">
                <a16:creationId xmlns:a16="http://schemas.microsoft.com/office/drawing/2014/main" id="{CF529CCD-04A6-45E1-8B0C-5EEA2E02F34F}"/>
              </a:ext>
            </a:extLst>
          </p:cNvPr>
          <p:cNvSpPr>
            <a:spLocks noChangeShapeType="1"/>
          </p:cNvSpPr>
          <p:nvPr/>
        </p:nvSpPr>
        <p:spPr bwMode="auto">
          <a:xfrm>
            <a:off x="1752600" y="2282825"/>
            <a:ext cx="2514600" cy="2514600"/>
          </a:xfrm>
          <a:prstGeom prst="line">
            <a:avLst/>
          </a:prstGeom>
          <a:noFill/>
          <a:ln w="38100">
            <a:solidFill>
              <a:schemeClr val="folHlink"/>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 name="Line 20">
            <a:extLst>
              <a:ext uri="{FF2B5EF4-FFF2-40B4-BE49-F238E27FC236}">
                <a16:creationId xmlns:a16="http://schemas.microsoft.com/office/drawing/2014/main" id="{7C7CA8CA-A50C-4C59-AB00-1C6AB2A17788}"/>
              </a:ext>
            </a:extLst>
          </p:cNvPr>
          <p:cNvSpPr>
            <a:spLocks noChangeShapeType="1"/>
          </p:cNvSpPr>
          <p:nvPr/>
        </p:nvSpPr>
        <p:spPr bwMode="auto">
          <a:xfrm>
            <a:off x="762000" y="2663825"/>
            <a:ext cx="2971800" cy="2971800"/>
          </a:xfrm>
          <a:prstGeom prst="line">
            <a:avLst/>
          </a:prstGeom>
          <a:noFill/>
          <a:ln w="38100">
            <a:solidFill>
              <a:schemeClr val="folHlink"/>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0" name="Line 21">
            <a:extLst>
              <a:ext uri="{FF2B5EF4-FFF2-40B4-BE49-F238E27FC236}">
                <a16:creationId xmlns:a16="http://schemas.microsoft.com/office/drawing/2014/main" id="{457E4896-CA33-4B02-BA2C-661E214C8954}"/>
              </a:ext>
            </a:extLst>
          </p:cNvPr>
          <p:cNvSpPr>
            <a:spLocks noChangeShapeType="1"/>
          </p:cNvSpPr>
          <p:nvPr/>
        </p:nvSpPr>
        <p:spPr bwMode="auto">
          <a:xfrm>
            <a:off x="348320" y="1564344"/>
            <a:ext cx="4071280" cy="4071273"/>
          </a:xfrm>
          <a:prstGeom prst="line">
            <a:avLst/>
          </a:prstGeom>
          <a:noFill/>
          <a:ln w="38100">
            <a:solidFill>
              <a:schemeClr val="fo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3" name="Rectangle 32">
            <a:extLst>
              <a:ext uri="{FF2B5EF4-FFF2-40B4-BE49-F238E27FC236}">
                <a16:creationId xmlns:a16="http://schemas.microsoft.com/office/drawing/2014/main" id="{65E66E94-C6B7-48B9-ADFC-0E5FEB5DC960}"/>
              </a:ext>
            </a:extLst>
          </p:cNvPr>
          <p:cNvSpPr/>
          <p:nvPr/>
        </p:nvSpPr>
        <p:spPr>
          <a:xfrm>
            <a:off x="3945584" y="5635617"/>
            <a:ext cx="1705916" cy="523220"/>
          </a:xfrm>
          <a:prstGeom prst="rect">
            <a:avLst/>
          </a:prstGeom>
        </p:spPr>
        <p:txBody>
          <a:bodyPr wrap="none">
            <a:spAutoFit/>
          </a:bodyPr>
          <a:lstStyle/>
          <a:p>
            <a:r>
              <a:rPr lang="en-US" altLang="en-US" sz="2800">
                <a:solidFill>
                  <a:srgbClr val="0066FF"/>
                </a:solidFill>
              </a:rPr>
              <a:t>separator</a:t>
            </a:r>
            <a:endParaRPr lang="en-US" sz="2800">
              <a:solidFill>
                <a:srgbClr val="0066FF"/>
              </a:solidFill>
            </a:endParaRPr>
          </a:p>
        </p:txBody>
      </p:sp>
      <p:cxnSp>
        <p:nvCxnSpPr>
          <p:cNvPr id="40" name="Straight Connector 39">
            <a:extLst>
              <a:ext uri="{FF2B5EF4-FFF2-40B4-BE49-F238E27FC236}">
                <a16:creationId xmlns:a16="http://schemas.microsoft.com/office/drawing/2014/main" id="{4ECF85C4-6883-455A-ADDA-5B204AA8532D}"/>
              </a:ext>
            </a:extLst>
          </p:cNvPr>
          <p:cNvCxnSpPr>
            <a:cxnSpLocks/>
          </p:cNvCxnSpPr>
          <p:nvPr/>
        </p:nvCxnSpPr>
        <p:spPr>
          <a:xfrm flipH="1">
            <a:off x="2020337" y="2909889"/>
            <a:ext cx="303759" cy="307975"/>
          </a:xfrm>
          <a:prstGeom prst="line">
            <a:avLst/>
          </a:prstGeom>
          <a:ln w="3810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1" name="Straight Connector 50">
            <a:extLst>
              <a:ext uri="{FF2B5EF4-FFF2-40B4-BE49-F238E27FC236}">
                <a16:creationId xmlns:a16="http://schemas.microsoft.com/office/drawing/2014/main" id="{A9149E9A-54E3-4554-9D58-F0187CD08D5C}"/>
              </a:ext>
            </a:extLst>
          </p:cNvPr>
          <p:cNvCxnSpPr>
            <a:cxnSpLocks/>
          </p:cNvCxnSpPr>
          <p:nvPr/>
        </p:nvCxnSpPr>
        <p:spPr>
          <a:xfrm flipH="1">
            <a:off x="2162093" y="3704063"/>
            <a:ext cx="313883" cy="318238"/>
          </a:xfrm>
          <a:prstGeom prst="line">
            <a:avLst/>
          </a:prstGeom>
          <a:ln w="3810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9" name="Straight Connector 38">
            <a:extLst>
              <a:ext uri="{FF2B5EF4-FFF2-40B4-BE49-F238E27FC236}">
                <a16:creationId xmlns:a16="http://schemas.microsoft.com/office/drawing/2014/main" id="{0EC692BB-5D4C-4E48-B914-EE9D65D3D96A}"/>
              </a:ext>
            </a:extLst>
          </p:cNvPr>
          <p:cNvCxnSpPr>
            <a:cxnSpLocks/>
          </p:cNvCxnSpPr>
          <p:nvPr/>
        </p:nvCxnSpPr>
        <p:spPr>
          <a:xfrm flipH="1">
            <a:off x="3039516" y="3903197"/>
            <a:ext cx="303759" cy="307975"/>
          </a:xfrm>
          <a:prstGeom prst="line">
            <a:avLst/>
          </a:prstGeom>
          <a:ln w="3810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2" name="Straight Arrow Connector 41">
            <a:extLst>
              <a:ext uri="{FF2B5EF4-FFF2-40B4-BE49-F238E27FC236}">
                <a16:creationId xmlns:a16="http://schemas.microsoft.com/office/drawing/2014/main" id="{F6EAE350-09C1-41BF-B44C-F1DAD526C1B3}"/>
              </a:ext>
            </a:extLst>
          </p:cNvPr>
          <p:cNvCxnSpPr>
            <a:cxnSpLocks/>
            <a:endCxn id="11" idx="3"/>
          </p:cNvCxnSpPr>
          <p:nvPr/>
        </p:nvCxnSpPr>
        <p:spPr>
          <a:xfrm flipH="1">
            <a:off x="2181225" y="1981200"/>
            <a:ext cx="4448175" cy="2057400"/>
          </a:xfrm>
          <a:prstGeom prst="straightConnector1">
            <a:avLst/>
          </a:prstGeom>
          <a:ln w="38100">
            <a:solidFill>
              <a:srgbClr val="FF0000"/>
            </a:solidFill>
            <a:tailEnd type="stealth"/>
          </a:ln>
        </p:spPr>
        <p:style>
          <a:lnRef idx="1">
            <a:schemeClr val="accent1"/>
          </a:lnRef>
          <a:fillRef idx="0">
            <a:schemeClr val="accent1"/>
          </a:fillRef>
          <a:effectRef idx="0">
            <a:schemeClr val="accent1"/>
          </a:effectRef>
          <a:fontRef idx="minor">
            <a:schemeClr val="tx1"/>
          </a:fontRef>
        </p:style>
      </p:cxnSp>
      <p:sp>
        <p:nvSpPr>
          <p:cNvPr id="7" name="Oval 8">
            <a:extLst>
              <a:ext uri="{FF2B5EF4-FFF2-40B4-BE49-F238E27FC236}">
                <a16:creationId xmlns:a16="http://schemas.microsoft.com/office/drawing/2014/main" id="{540BFB6C-D1F8-4806-B2C7-D8883EF303CA}"/>
              </a:ext>
            </a:extLst>
          </p:cNvPr>
          <p:cNvSpPr>
            <a:spLocks noChangeArrowheads="1"/>
          </p:cNvSpPr>
          <p:nvPr/>
        </p:nvSpPr>
        <p:spPr bwMode="auto">
          <a:xfrm>
            <a:off x="3810000" y="3502025"/>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43" name="Straight Arrow Connector 42">
            <a:extLst>
              <a:ext uri="{FF2B5EF4-FFF2-40B4-BE49-F238E27FC236}">
                <a16:creationId xmlns:a16="http://schemas.microsoft.com/office/drawing/2014/main" id="{2E1C1130-D53A-432C-8800-7129744C741D}"/>
              </a:ext>
            </a:extLst>
          </p:cNvPr>
          <p:cNvCxnSpPr>
            <a:cxnSpLocks/>
          </p:cNvCxnSpPr>
          <p:nvPr/>
        </p:nvCxnSpPr>
        <p:spPr>
          <a:xfrm flipH="1">
            <a:off x="3314700" y="1981200"/>
            <a:ext cx="3314700" cy="1923420"/>
          </a:xfrm>
          <a:prstGeom prst="straightConnector1">
            <a:avLst/>
          </a:prstGeom>
          <a:ln w="38100">
            <a:solidFill>
              <a:srgbClr val="FF0000"/>
            </a:solidFill>
            <a:tailEnd type="stealth"/>
          </a:ln>
        </p:spPr>
        <p:style>
          <a:lnRef idx="1">
            <a:schemeClr val="accent1"/>
          </a:lnRef>
          <a:fillRef idx="0">
            <a:schemeClr val="accent1"/>
          </a:fillRef>
          <a:effectRef idx="0">
            <a:schemeClr val="accent1"/>
          </a:effectRef>
          <a:fontRef idx="minor">
            <a:schemeClr val="tx1"/>
          </a:fontRef>
        </p:style>
      </p:cxnSp>
      <p:sp>
        <p:nvSpPr>
          <p:cNvPr id="11" name="Rectangle 12">
            <a:extLst>
              <a:ext uri="{FF2B5EF4-FFF2-40B4-BE49-F238E27FC236}">
                <a16:creationId xmlns:a16="http://schemas.microsoft.com/office/drawing/2014/main" id="{86C137AD-D90D-4915-952E-0C0EB06E2A29}"/>
              </a:ext>
            </a:extLst>
          </p:cNvPr>
          <p:cNvSpPr>
            <a:spLocks noChangeArrowheads="1"/>
          </p:cNvSpPr>
          <p:nvPr/>
        </p:nvSpPr>
        <p:spPr bwMode="auto">
          <a:xfrm>
            <a:off x="2028825" y="39624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3866103094"/>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2275DCE-45DA-4F91-86BA-B55F538E14C0}"/>
              </a:ext>
            </a:extLst>
          </p:cNvPr>
          <p:cNvSpPr>
            <a:spLocks noGrp="1"/>
          </p:cNvSpPr>
          <p:nvPr>
            <p:ph type="title"/>
          </p:nvPr>
        </p:nvSpPr>
        <p:spPr/>
        <p:txBody>
          <a:bodyPr/>
          <a:lstStyle/>
          <a:p>
            <a:r>
              <a:rPr lang="en-US" altLang="en-US"/>
              <a:t>TWO CLASS – LINEAR SVM</a:t>
            </a:r>
            <a:endParaRPr lang="en-US"/>
          </a:p>
        </p:txBody>
      </p:sp>
      <p:sp>
        <p:nvSpPr>
          <p:cNvPr id="6" name="Text Placeholder 5">
            <a:extLst>
              <a:ext uri="{FF2B5EF4-FFF2-40B4-BE49-F238E27FC236}">
                <a16:creationId xmlns:a16="http://schemas.microsoft.com/office/drawing/2014/main" id="{3C0FFF4B-22FB-4941-9ED4-53EC9DAFE536}"/>
              </a:ext>
            </a:extLst>
          </p:cNvPr>
          <p:cNvSpPr>
            <a:spLocks noGrp="1"/>
          </p:cNvSpPr>
          <p:nvPr>
            <p:ph type="body" idx="1"/>
          </p:nvPr>
        </p:nvSpPr>
        <p:spPr/>
        <p:txBody>
          <a:bodyPr/>
          <a:lstStyle/>
          <a:p>
            <a:r>
              <a:rPr lang="en-US" altLang="en-US"/>
              <a:t>Two class – linear SVM</a:t>
            </a:r>
            <a:endParaRPr lang="en-US"/>
          </a:p>
        </p:txBody>
      </p:sp>
      <p:pic>
        <p:nvPicPr>
          <p:cNvPr id="4" name="Picture 3">
            <a:extLst>
              <a:ext uri="{FF2B5EF4-FFF2-40B4-BE49-F238E27FC236}">
                <a16:creationId xmlns:a16="http://schemas.microsoft.com/office/drawing/2014/main" id="{8C883C36-903D-4B92-BBA5-35AD5F0200DA}"/>
              </a:ext>
            </a:extLst>
          </p:cNvPr>
          <p:cNvPicPr>
            <a:picLocks noChangeAspect="1" noChangeArrowheads="1"/>
          </p:cNvPicPr>
          <p:nvPr/>
        </p:nvPicPr>
        <p:blipFill>
          <a:blip r:embed="rId2" cstate="print"/>
          <a:srcRect/>
          <a:stretch>
            <a:fillRect/>
          </a:stretch>
        </p:blipFill>
        <p:spPr bwMode="auto">
          <a:xfrm>
            <a:off x="7267330" y="695919"/>
            <a:ext cx="4738365" cy="3571281"/>
          </a:xfrm>
          <a:prstGeom prst="rect">
            <a:avLst/>
          </a:prstGeom>
          <a:noFill/>
        </p:spPr>
      </p:pic>
    </p:spTree>
    <p:extLst>
      <p:ext uri="{BB962C8B-B14F-4D97-AF65-F5344CB8AC3E}">
        <p14:creationId xmlns:p14="http://schemas.microsoft.com/office/powerpoint/2010/main" val="1431529958"/>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12CAA-8FA0-4C0A-91E8-3B6A09D45254}"/>
              </a:ext>
            </a:extLst>
          </p:cNvPr>
          <p:cNvSpPr>
            <a:spLocks noGrp="1"/>
          </p:cNvSpPr>
          <p:nvPr>
            <p:ph type="title"/>
          </p:nvPr>
        </p:nvSpPr>
        <p:spPr/>
        <p:txBody>
          <a:bodyPr/>
          <a:lstStyle/>
          <a:p>
            <a:r>
              <a:rPr lang="en-US" altLang="en-US"/>
              <a:t>Two Class – Linear SVM</a:t>
            </a:r>
            <a:endParaRPr lang="en-US"/>
          </a:p>
        </p:txBody>
      </p:sp>
      <p:sp>
        <p:nvSpPr>
          <p:cNvPr id="4" name="Content Placeholder 3">
            <a:extLst>
              <a:ext uri="{FF2B5EF4-FFF2-40B4-BE49-F238E27FC236}">
                <a16:creationId xmlns:a16="http://schemas.microsoft.com/office/drawing/2014/main" id="{A551B8FF-F180-4914-A14C-98696813C232}"/>
              </a:ext>
            </a:extLst>
          </p:cNvPr>
          <p:cNvSpPr>
            <a:spLocks noGrp="1"/>
          </p:cNvSpPr>
          <p:nvPr>
            <p:ph sz="half" idx="2"/>
          </p:nvPr>
        </p:nvSpPr>
        <p:spPr/>
        <p:txBody>
          <a:bodyPr/>
          <a:lstStyle/>
          <a:p>
            <a:pPr algn="just"/>
            <a:r>
              <a:rPr lang="en-US" altLang="en-US"/>
              <a:t>Many decision boundaries can separate these two classes.</a:t>
            </a:r>
          </a:p>
          <a:p>
            <a:pPr algn="just"/>
            <a:r>
              <a:rPr lang="en-US" altLang="en-US">
                <a:solidFill>
                  <a:srgbClr val="FF0000"/>
                </a:solidFill>
              </a:rPr>
              <a:t>Có rất nhiều siêu phẳng để phân lớp tập dữ liệu.</a:t>
            </a:r>
          </a:p>
          <a:p>
            <a:pPr algn="just"/>
            <a:endParaRPr lang="en-US" altLang="en-US">
              <a:solidFill>
                <a:srgbClr val="FF0000"/>
              </a:solidFill>
            </a:endParaRPr>
          </a:p>
          <a:p>
            <a:pPr algn="just"/>
            <a:r>
              <a:rPr lang="en-US" altLang="en-US"/>
              <a:t>Which one should we choose?</a:t>
            </a:r>
          </a:p>
          <a:p>
            <a:pPr algn="just"/>
            <a:r>
              <a:rPr lang="en-US">
                <a:solidFill>
                  <a:srgbClr val="FF0000"/>
                </a:solidFill>
              </a:rPr>
              <a:t>Chúng ta nên chọn siêu phẳng nào?</a:t>
            </a:r>
          </a:p>
        </p:txBody>
      </p:sp>
      <p:sp>
        <p:nvSpPr>
          <p:cNvPr id="5" name="Line 3">
            <a:extLst>
              <a:ext uri="{FF2B5EF4-FFF2-40B4-BE49-F238E27FC236}">
                <a16:creationId xmlns:a16="http://schemas.microsoft.com/office/drawing/2014/main" id="{FE13C72C-06D3-4F07-BDAC-18A552840A99}"/>
              </a:ext>
            </a:extLst>
          </p:cNvPr>
          <p:cNvSpPr>
            <a:spLocks noChangeShapeType="1"/>
          </p:cNvSpPr>
          <p:nvPr/>
        </p:nvSpPr>
        <p:spPr bwMode="auto">
          <a:xfrm flipV="1">
            <a:off x="1143000" y="1865968"/>
            <a:ext cx="0" cy="3581399"/>
          </a:xfrm>
          <a:prstGeom prst="line">
            <a:avLst/>
          </a:prstGeom>
          <a:noFill/>
          <a:ln w="38100">
            <a:solidFill>
              <a:schemeClr val="tx1"/>
            </a:solidFill>
            <a:miter lim="800000"/>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 name="Line 4">
            <a:extLst>
              <a:ext uri="{FF2B5EF4-FFF2-40B4-BE49-F238E27FC236}">
                <a16:creationId xmlns:a16="http://schemas.microsoft.com/office/drawing/2014/main" id="{584A9600-CF1A-4948-8A45-F045940C380F}"/>
              </a:ext>
            </a:extLst>
          </p:cNvPr>
          <p:cNvSpPr>
            <a:spLocks noChangeShapeType="1"/>
          </p:cNvSpPr>
          <p:nvPr/>
        </p:nvSpPr>
        <p:spPr bwMode="auto">
          <a:xfrm flipV="1">
            <a:off x="1143000" y="5447367"/>
            <a:ext cx="4343400" cy="0"/>
          </a:xfrm>
          <a:prstGeom prst="line">
            <a:avLst/>
          </a:prstGeom>
          <a:noFill/>
          <a:ln w="38100">
            <a:solidFill>
              <a:schemeClr val="tx1"/>
            </a:solidFill>
            <a:miter lim="800000"/>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7" name="Oval 5">
            <a:extLst>
              <a:ext uri="{FF2B5EF4-FFF2-40B4-BE49-F238E27FC236}">
                <a16:creationId xmlns:a16="http://schemas.microsoft.com/office/drawing/2014/main" id="{FB96AB6B-4785-4CC8-B5B5-0340CE37FD4F}"/>
              </a:ext>
            </a:extLst>
          </p:cNvPr>
          <p:cNvSpPr>
            <a:spLocks noChangeArrowheads="1"/>
          </p:cNvSpPr>
          <p:nvPr/>
        </p:nvSpPr>
        <p:spPr bwMode="auto">
          <a:xfrm>
            <a:off x="3200400" y="2856567"/>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Oval 6">
            <a:extLst>
              <a:ext uri="{FF2B5EF4-FFF2-40B4-BE49-F238E27FC236}">
                <a16:creationId xmlns:a16="http://schemas.microsoft.com/office/drawing/2014/main" id="{B6FAD378-DBFA-4A8A-B72F-1FF2488F670D}"/>
              </a:ext>
            </a:extLst>
          </p:cNvPr>
          <p:cNvSpPr>
            <a:spLocks noChangeArrowheads="1"/>
          </p:cNvSpPr>
          <p:nvPr/>
        </p:nvSpPr>
        <p:spPr bwMode="auto">
          <a:xfrm>
            <a:off x="3429000" y="3466167"/>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Oval 7">
            <a:extLst>
              <a:ext uri="{FF2B5EF4-FFF2-40B4-BE49-F238E27FC236}">
                <a16:creationId xmlns:a16="http://schemas.microsoft.com/office/drawing/2014/main" id="{1F25213C-97DE-449D-8896-DE9B9CDD3DD6}"/>
              </a:ext>
            </a:extLst>
          </p:cNvPr>
          <p:cNvSpPr>
            <a:spLocks noChangeArrowheads="1"/>
          </p:cNvSpPr>
          <p:nvPr/>
        </p:nvSpPr>
        <p:spPr bwMode="auto">
          <a:xfrm>
            <a:off x="4267200" y="3694767"/>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Oval 8">
            <a:extLst>
              <a:ext uri="{FF2B5EF4-FFF2-40B4-BE49-F238E27FC236}">
                <a16:creationId xmlns:a16="http://schemas.microsoft.com/office/drawing/2014/main" id="{25EFCC2D-2CAD-4B02-AB48-90887FF1485A}"/>
              </a:ext>
            </a:extLst>
          </p:cNvPr>
          <p:cNvSpPr>
            <a:spLocks noChangeArrowheads="1"/>
          </p:cNvSpPr>
          <p:nvPr/>
        </p:nvSpPr>
        <p:spPr bwMode="auto">
          <a:xfrm>
            <a:off x="2743200" y="3008967"/>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Oval 9">
            <a:extLst>
              <a:ext uri="{FF2B5EF4-FFF2-40B4-BE49-F238E27FC236}">
                <a16:creationId xmlns:a16="http://schemas.microsoft.com/office/drawing/2014/main" id="{D4E1CB49-4C21-459F-B3E1-D3DCB278FE65}"/>
              </a:ext>
            </a:extLst>
          </p:cNvPr>
          <p:cNvSpPr>
            <a:spLocks noChangeArrowheads="1"/>
          </p:cNvSpPr>
          <p:nvPr/>
        </p:nvSpPr>
        <p:spPr bwMode="auto">
          <a:xfrm>
            <a:off x="3733800" y="3999567"/>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Rectangle 10">
            <a:extLst>
              <a:ext uri="{FF2B5EF4-FFF2-40B4-BE49-F238E27FC236}">
                <a16:creationId xmlns:a16="http://schemas.microsoft.com/office/drawing/2014/main" id="{E7F8E3DB-0F75-4D6A-BF4E-96446E55A85D}"/>
              </a:ext>
            </a:extLst>
          </p:cNvPr>
          <p:cNvSpPr>
            <a:spLocks noChangeArrowheads="1"/>
          </p:cNvSpPr>
          <p:nvPr/>
        </p:nvSpPr>
        <p:spPr bwMode="auto">
          <a:xfrm>
            <a:off x="1447800" y="3923367"/>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Rectangle 11">
            <a:extLst>
              <a:ext uri="{FF2B5EF4-FFF2-40B4-BE49-F238E27FC236}">
                <a16:creationId xmlns:a16="http://schemas.microsoft.com/office/drawing/2014/main" id="{EA991786-A8E4-454F-A393-1E42C5867FEE}"/>
              </a:ext>
            </a:extLst>
          </p:cNvPr>
          <p:cNvSpPr>
            <a:spLocks noChangeArrowheads="1"/>
          </p:cNvSpPr>
          <p:nvPr/>
        </p:nvSpPr>
        <p:spPr bwMode="auto">
          <a:xfrm>
            <a:off x="2667000" y="4380567"/>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Rectangle 12">
            <a:extLst>
              <a:ext uri="{FF2B5EF4-FFF2-40B4-BE49-F238E27FC236}">
                <a16:creationId xmlns:a16="http://schemas.microsoft.com/office/drawing/2014/main" id="{398B1B55-F2BC-456F-B76C-36297BFA94AD}"/>
              </a:ext>
            </a:extLst>
          </p:cNvPr>
          <p:cNvSpPr>
            <a:spLocks noChangeArrowheads="1"/>
          </p:cNvSpPr>
          <p:nvPr/>
        </p:nvSpPr>
        <p:spPr bwMode="auto">
          <a:xfrm>
            <a:off x="2514600" y="4837767"/>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Rectangle 13">
            <a:extLst>
              <a:ext uri="{FF2B5EF4-FFF2-40B4-BE49-F238E27FC236}">
                <a16:creationId xmlns:a16="http://schemas.microsoft.com/office/drawing/2014/main" id="{EF396172-08CF-4222-B87D-867E667099A4}"/>
              </a:ext>
            </a:extLst>
          </p:cNvPr>
          <p:cNvSpPr>
            <a:spLocks noChangeArrowheads="1"/>
          </p:cNvSpPr>
          <p:nvPr/>
        </p:nvSpPr>
        <p:spPr bwMode="auto">
          <a:xfrm>
            <a:off x="1905000" y="4380567"/>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Rectangle 14">
            <a:extLst>
              <a:ext uri="{FF2B5EF4-FFF2-40B4-BE49-F238E27FC236}">
                <a16:creationId xmlns:a16="http://schemas.microsoft.com/office/drawing/2014/main" id="{8D655AAA-CE6D-478E-8E40-E0053BCAFE83}"/>
              </a:ext>
            </a:extLst>
          </p:cNvPr>
          <p:cNvSpPr>
            <a:spLocks noChangeArrowheads="1"/>
          </p:cNvSpPr>
          <p:nvPr/>
        </p:nvSpPr>
        <p:spPr bwMode="auto">
          <a:xfrm>
            <a:off x="1600200" y="4761567"/>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Rectangle 15">
            <a:extLst>
              <a:ext uri="{FF2B5EF4-FFF2-40B4-BE49-F238E27FC236}">
                <a16:creationId xmlns:a16="http://schemas.microsoft.com/office/drawing/2014/main" id="{07A01730-58D5-49D2-A475-9143B34E848F}"/>
              </a:ext>
            </a:extLst>
          </p:cNvPr>
          <p:cNvSpPr>
            <a:spLocks noChangeArrowheads="1"/>
          </p:cNvSpPr>
          <p:nvPr/>
        </p:nvSpPr>
        <p:spPr bwMode="auto">
          <a:xfrm>
            <a:off x="1828800" y="3542367"/>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Text Box 16">
            <a:extLst>
              <a:ext uri="{FF2B5EF4-FFF2-40B4-BE49-F238E27FC236}">
                <a16:creationId xmlns:a16="http://schemas.microsoft.com/office/drawing/2014/main" id="{D356B498-5A2E-4E9D-A12A-F55108FB2747}"/>
              </a:ext>
            </a:extLst>
          </p:cNvPr>
          <p:cNvSpPr txBox="1">
            <a:spLocks noChangeArrowheads="1"/>
          </p:cNvSpPr>
          <p:nvPr/>
        </p:nvSpPr>
        <p:spPr bwMode="auto">
          <a:xfrm>
            <a:off x="1447800" y="4963180"/>
            <a:ext cx="13003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800">
                <a:latin typeface="Tahoma" panose="020B0604030504040204" pitchFamily="34" charset="0"/>
              </a:rPr>
              <a:t>Class 1</a:t>
            </a:r>
          </a:p>
        </p:txBody>
      </p:sp>
      <p:sp>
        <p:nvSpPr>
          <p:cNvPr id="19" name="Text Box 17">
            <a:extLst>
              <a:ext uri="{FF2B5EF4-FFF2-40B4-BE49-F238E27FC236}">
                <a16:creationId xmlns:a16="http://schemas.microsoft.com/office/drawing/2014/main" id="{8FE10D55-BF80-4C4A-8A46-135FF9AA7019}"/>
              </a:ext>
            </a:extLst>
          </p:cNvPr>
          <p:cNvSpPr txBox="1">
            <a:spLocks noChangeArrowheads="1"/>
          </p:cNvSpPr>
          <p:nvPr/>
        </p:nvSpPr>
        <p:spPr bwMode="auto">
          <a:xfrm>
            <a:off x="3657600" y="2704167"/>
            <a:ext cx="13003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800">
                <a:latin typeface="Tahoma" panose="020B0604030504040204" pitchFamily="34" charset="0"/>
              </a:rPr>
              <a:t>Class 2</a:t>
            </a:r>
          </a:p>
        </p:txBody>
      </p:sp>
      <p:sp>
        <p:nvSpPr>
          <p:cNvPr id="21" name="Line 18">
            <a:extLst>
              <a:ext uri="{FF2B5EF4-FFF2-40B4-BE49-F238E27FC236}">
                <a16:creationId xmlns:a16="http://schemas.microsoft.com/office/drawing/2014/main" id="{492EB619-0795-47FC-9699-E6E5BFEA11A7}"/>
              </a:ext>
            </a:extLst>
          </p:cNvPr>
          <p:cNvSpPr>
            <a:spLocks noChangeShapeType="1"/>
          </p:cNvSpPr>
          <p:nvPr/>
        </p:nvSpPr>
        <p:spPr bwMode="auto">
          <a:xfrm>
            <a:off x="1371602" y="2590800"/>
            <a:ext cx="2362200" cy="2743200"/>
          </a:xfrm>
          <a:prstGeom prst="line">
            <a:avLst/>
          </a:prstGeom>
          <a:noFill/>
          <a:ln w="38100">
            <a:solidFill>
              <a:schemeClr val="folHlink"/>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 name="Line 18">
            <a:extLst>
              <a:ext uri="{FF2B5EF4-FFF2-40B4-BE49-F238E27FC236}">
                <a16:creationId xmlns:a16="http://schemas.microsoft.com/office/drawing/2014/main" id="{3D690EC3-655A-4E08-BC21-E23C1EE853D5}"/>
              </a:ext>
            </a:extLst>
          </p:cNvPr>
          <p:cNvSpPr>
            <a:spLocks noChangeShapeType="1"/>
          </p:cNvSpPr>
          <p:nvPr/>
        </p:nvSpPr>
        <p:spPr bwMode="auto">
          <a:xfrm>
            <a:off x="1752602" y="2590800"/>
            <a:ext cx="2362200" cy="2743200"/>
          </a:xfrm>
          <a:prstGeom prst="line">
            <a:avLst/>
          </a:prstGeom>
          <a:noFill/>
          <a:ln w="38100">
            <a:solidFill>
              <a:schemeClr val="folHlink"/>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3" name="Line 18">
            <a:extLst>
              <a:ext uri="{FF2B5EF4-FFF2-40B4-BE49-F238E27FC236}">
                <a16:creationId xmlns:a16="http://schemas.microsoft.com/office/drawing/2014/main" id="{07A32F65-9B53-4763-A178-A1041E9C48B4}"/>
              </a:ext>
            </a:extLst>
          </p:cNvPr>
          <p:cNvSpPr>
            <a:spLocks noChangeShapeType="1"/>
          </p:cNvSpPr>
          <p:nvPr/>
        </p:nvSpPr>
        <p:spPr bwMode="auto">
          <a:xfrm>
            <a:off x="1295405" y="2743200"/>
            <a:ext cx="3505195" cy="2362194"/>
          </a:xfrm>
          <a:prstGeom prst="line">
            <a:avLst/>
          </a:prstGeom>
          <a:noFill/>
          <a:ln w="38100">
            <a:solidFill>
              <a:schemeClr val="folHlink"/>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4" name="Line 18">
            <a:extLst>
              <a:ext uri="{FF2B5EF4-FFF2-40B4-BE49-F238E27FC236}">
                <a16:creationId xmlns:a16="http://schemas.microsoft.com/office/drawing/2014/main" id="{EA1A2B5D-F1F1-485D-B1DB-047FC25CD05A}"/>
              </a:ext>
            </a:extLst>
          </p:cNvPr>
          <p:cNvSpPr>
            <a:spLocks noChangeShapeType="1"/>
          </p:cNvSpPr>
          <p:nvPr/>
        </p:nvSpPr>
        <p:spPr bwMode="auto">
          <a:xfrm>
            <a:off x="2362202" y="2438408"/>
            <a:ext cx="1371597" cy="2819392"/>
          </a:xfrm>
          <a:prstGeom prst="line">
            <a:avLst/>
          </a:prstGeom>
          <a:noFill/>
          <a:ln w="38100">
            <a:solidFill>
              <a:schemeClr val="folHlink"/>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5" name="Line 18">
            <a:extLst>
              <a:ext uri="{FF2B5EF4-FFF2-40B4-BE49-F238E27FC236}">
                <a16:creationId xmlns:a16="http://schemas.microsoft.com/office/drawing/2014/main" id="{0C7EA732-4978-429A-8D01-CB269DE959EF}"/>
              </a:ext>
            </a:extLst>
          </p:cNvPr>
          <p:cNvSpPr>
            <a:spLocks noChangeShapeType="1"/>
          </p:cNvSpPr>
          <p:nvPr/>
        </p:nvSpPr>
        <p:spPr bwMode="auto">
          <a:xfrm>
            <a:off x="1295405" y="2704168"/>
            <a:ext cx="3352797" cy="2069439"/>
          </a:xfrm>
          <a:prstGeom prst="line">
            <a:avLst/>
          </a:prstGeom>
          <a:noFill/>
          <a:ln w="38100">
            <a:solidFill>
              <a:schemeClr val="folHlink"/>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Tree>
    <p:extLst>
      <p:ext uri="{BB962C8B-B14F-4D97-AF65-F5344CB8AC3E}">
        <p14:creationId xmlns:p14="http://schemas.microsoft.com/office/powerpoint/2010/main" val="3358460496"/>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AFE96DB-FADA-4EAD-BB11-25B471876E0E}"/>
              </a:ext>
            </a:extLst>
          </p:cNvPr>
          <p:cNvSpPr>
            <a:spLocks noGrp="1"/>
          </p:cNvSpPr>
          <p:nvPr>
            <p:ph type="title"/>
          </p:nvPr>
        </p:nvSpPr>
        <p:spPr/>
        <p:txBody>
          <a:bodyPr/>
          <a:lstStyle/>
          <a:p>
            <a:r>
              <a:rPr lang="en-US" altLang="en-US"/>
              <a:t>Two Class – Linear SVM</a:t>
            </a:r>
            <a:endParaRPr lang="en-US"/>
          </a:p>
        </p:txBody>
      </p:sp>
      <p:sp>
        <p:nvSpPr>
          <p:cNvPr id="6" name="Line 3">
            <a:extLst>
              <a:ext uri="{FF2B5EF4-FFF2-40B4-BE49-F238E27FC236}">
                <a16:creationId xmlns:a16="http://schemas.microsoft.com/office/drawing/2014/main" id="{A739D15F-0200-4B44-9EDD-632F1A5A9484}"/>
              </a:ext>
            </a:extLst>
          </p:cNvPr>
          <p:cNvSpPr>
            <a:spLocks noChangeShapeType="1"/>
          </p:cNvSpPr>
          <p:nvPr/>
        </p:nvSpPr>
        <p:spPr bwMode="auto">
          <a:xfrm flipV="1">
            <a:off x="1228725" y="1914525"/>
            <a:ext cx="0" cy="3200400"/>
          </a:xfrm>
          <a:prstGeom prst="line">
            <a:avLst/>
          </a:prstGeom>
          <a:noFill/>
          <a:ln w="38100">
            <a:solidFill>
              <a:schemeClr val="tx1"/>
            </a:solidFill>
            <a:miter lim="800000"/>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7" name="Line 4">
            <a:extLst>
              <a:ext uri="{FF2B5EF4-FFF2-40B4-BE49-F238E27FC236}">
                <a16:creationId xmlns:a16="http://schemas.microsoft.com/office/drawing/2014/main" id="{C2BC12BD-655F-4122-86F6-160127E91F4C}"/>
              </a:ext>
            </a:extLst>
          </p:cNvPr>
          <p:cNvSpPr>
            <a:spLocks noChangeShapeType="1"/>
          </p:cNvSpPr>
          <p:nvPr/>
        </p:nvSpPr>
        <p:spPr bwMode="auto">
          <a:xfrm flipV="1">
            <a:off x="1219200" y="5105400"/>
            <a:ext cx="4191000" cy="0"/>
          </a:xfrm>
          <a:prstGeom prst="line">
            <a:avLst/>
          </a:prstGeom>
          <a:noFill/>
          <a:ln w="38100">
            <a:solidFill>
              <a:schemeClr val="tx1"/>
            </a:solidFill>
            <a:miter lim="800000"/>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8" name="Oval 5">
            <a:extLst>
              <a:ext uri="{FF2B5EF4-FFF2-40B4-BE49-F238E27FC236}">
                <a16:creationId xmlns:a16="http://schemas.microsoft.com/office/drawing/2014/main" id="{7026EFEA-1BEF-4344-AD43-768232057EA5}"/>
              </a:ext>
            </a:extLst>
          </p:cNvPr>
          <p:cNvSpPr>
            <a:spLocks noChangeArrowheads="1"/>
          </p:cNvSpPr>
          <p:nvPr/>
        </p:nvSpPr>
        <p:spPr bwMode="auto">
          <a:xfrm>
            <a:off x="3276600" y="25146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Oval 6">
            <a:extLst>
              <a:ext uri="{FF2B5EF4-FFF2-40B4-BE49-F238E27FC236}">
                <a16:creationId xmlns:a16="http://schemas.microsoft.com/office/drawing/2014/main" id="{65EDEF1A-6843-4E19-B36F-6439D5C30430}"/>
              </a:ext>
            </a:extLst>
          </p:cNvPr>
          <p:cNvSpPr>
            <a:spLocks noChangeArrowheads="1"/>
          </p:cNvSpPr>
          <p:nvPr/>
        </p:nvSpPr>
        <p:spPr bwMode="auto">
          <a:xfrm>
            <a:off x="3505200" y="31242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Oval 7">
            <a:extLst>
              <a:ext uri="{FF2B5EF4-FFF2-40B4-BE49-F238E27FC236}">
                <a16:creationId xmlns:a16="http://schemas.microsoft.com/office/drawing/2014/main" id="{B7B84347-8365-4FC2-B290-3F662F322776}"/>
              </a:ext>
            </a:extLst>
          </p:cNvPr>
          <p:cNvSpPr>
            <a:spLocks noChangeArrowheads="1"/>
          </p:cNvSpPr>
          <p:nvPr/>
        </p:nvSpPr>
        <p:spPr bwMode="auto">
          <a:xfrm>
            <a:off x="4343400" y="33528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Oval 8">
            <a:extLst>
              <a:ext uri="{FF2B5EF4-FFF2-40B4-BE49-F238E27FC236}">
                <a16:creationId xmlns:a16="http://schemas.microsoft.com/office/drawing/2014/main" id="{5115A986-0811-40DD-BFD6-18473E3B93BA}"/>
              </a:ext>
            </a:extLst>
          </p:cNvPr>
          <p:cNvSpPr>
            <a:spLocks noChangeArrowheads="1"/>
          </p:cNvSpPr>
          <p:nvPr/>
        </p:nvSpPr>
        <p:spPr bwMode="auto">
          <a:xfrm>
            <a:off x="2819400" y="26670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Oval 9">
            <a:extLst>
              <a:ext uri="{FF2B5EF4-FFF2-40B4-BE49-F238E27FC236}">
                <a16:creationId xmlns:a16="http://schemas.microsoft.com/office/drawing/2014/main" id="{CFAC8F7C-6C0D-4E24-9224-960857BE07CD}"/>
              </a:ext>
            </a:extLst>
          </p:cNvPr>
          <p:cNvSpPr>
            <a:spLocks noChangeArrowheads="1"/>
          </p:cNvSpPr>
          <p:nvPr/>
        </p:nvSpPr>
        <p:spPr bwMode="auto">
          <a:xfrm>
            <a:off x="3810000" y="36576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Rectangle 10">
            <a:extLst>
              <a:ext uri="{FF2B5EF4-FFF2-40B4-BE49-F238E27FC236}">
                <a16:creationId xmlns:a16="http://schemas.microsoft.com/office/drawing/2014/main" id="{57C6A935-320F-4A9A-AF9E-533975E196FB}"/>
              </a:ext>
            </a:extLst>
          </p:cNvPr>
          <p:cNvSpPr>
            <a:spLocks noChangeArrowheads="1"/>
          </p:cNvSpPr>
          <p:nvPr/>
        </p:nvSpPr>
        <p:spPr bwMode="auto">
          <a:xfrm>
            <a:off x="1524000" y="35814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Rectangle 11">
            <a:extLst>
              <a:ext uri="{FF2B5EF4-FFF2-40B4-BE49-F238E27FC236}">
                <a16:creationId xmlns:a16="http://schemas.microsoft.com/office/drawing/2014/main" id="{3AD35A8B-E7E2-4C71-84DF-6C9C45241803}"/>
              </a:ext>
            </a:extLst>
          </p:cNvPr>
          <p:cNvSpPr>
            <a:spLocks noChangeArrowheads="1"/>
          </p:cNvSpPr>
          <p:nvPr/>
        </p:nvSpPr>
        <p:spPr bwMode="auto">
          <a:xfrm>
            <a:off x="2743200" y="40386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Rectangle 12">
            <a:extLst>
              <a:ext uri="{FF2B5EF4-FFF2-40B4-BE49-F238E27FC236}">
                <a16:creationId xmlns:a16="http://schemas.microsoft.com/office/drawing/2014/main" id="{9A580B85-5444-446E-9DB3-7478BE9A973E}"/>
              </a:ext>
            </a:extLst>
          </p:cNvPr>
          <p:cNvSpPr>
            <a:spLocks noChangeArrowheads="1"/>
          </p:cNvSpPr>
          <p:nvPr/>
        </p:nvSpPr>
        <p:spPr bwMode="auto">
          <a:xfrm>
            <a:off x="2590800" y="44958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Rectangle 13">
            <a:extLst>
              <a:ext uri="{FF2B5EF4-FFF2-40B4-BE49-F238E27FC236}">
                <a16:creationId xmlns:a16="http://schemas.microsoft.com/office/drawing/2014/main" id="{24DEDFCA-B2DC-4679-8AD9-A9F059D5FAB9}"/>
              </a:ext>
            </a:extLst>
          </p:cNvPr>
          <p:cNvSpPr>
            <a:spLocks noChangeArrowheads="1"/>
          </p:cNvSpPr>
          <p:nvPr/>
        </p:nvSpPr>
        <p:spPr bwMode="auto">
          <a:xfrm>
            <a:off x="1981200" y="40386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Rectangle 14">
            <a:extLst>
              <a:ext uri="{FF2B5EF4-FFF2-40B4-BE49-F238E27FC236}">
                <a16:creationId xmlns:a16="http://schemas.microsoft.com/office/drawing/2014/main" id="{29112C18-2D8F-41DB-87DC-24DFC81C6BB4}"/>
              </a:ext>
            </a:extLst>
          </p:cNvPr>
          <p:cNvSpPr>
            <a:spLocks noChangeArrowheads="1"/>
          </p:cNvSpPr>
          <p:nvPr/>
        </p:nvSpPr>
        <p:spPr bwMode="auto">
          <a:xfrm>
            <a:off x="1676400" y="44196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Rectangle 15">
            <a:extLst>
              <a:ext uri="{FF2B5EF4-FFF2-40B4-BE49-F238E27FC236}">
                <a16:creationId xmlns:a16="http://schemas.microsoft.com/office/drawing/2014/main" id="{406A85E9-E28C-4172-80A7-AC0C0E2E7CAF}"/>
              </a:ext>
            </a:extLst>
          </p:cNvPr>
          <p:cNvSpPr>
            <a:spLocks noChangeArrowheads="1"/>
          </p:cNvSpPr>
          <p:nvPr/>
        </p:nvSpPr>
        <p:spPr bwMode="auto">
          <a:xfrm>
            <a:off x="1905000" y="32004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Text Box 16">
            <a:extLst>
              <a:ext uri="{FF2B5EF4-FFF2-40B4-BE49-F238E27FC236}">
                <a16:creationId xmlns:a16="http://schemas.microsoft.com/office/drawing/2014/main" id="{7B777D09-BED5-4C4A-A4CD-B2A92CAA5E11}"/>
              </a:ext>
            </a:extLst>
          </p:cNvPr>
          <p:cNvSpPr txBox="1">
            <a:spLocks noChangeArrowheads="1"/>
          </p:cNvSpPr>
          <p:nvPr/>
        </p:nvSpPr>
        <p:spPr bwMode="auto">
          <a:xfrm>
            <a:off x="1524000" y="4621213"/>
            <a:ext cx="13003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800">
                <a:latin typeface="Tahoma" panose="020B0604030504040204" pitchFamily="34" charset="0"/>
              </a:rPr>
              <a:t>Class 1</a:t>
            </a:r>
          </a:p>
        </p:txBody>
      </p:sp>
      <p:sp>
        <p:nvSpPr>
          <p:cNvPr id="20" name="Text Box 17">
            <a:extLst>
              <a:ext uri="{FF2B5EF4-FFF2-40B4-BE49-F238E27FC236}">
                <a16:creationId xmlns:a16="http://schemas.microsoft.com/office/drawing/2014/main" id="{23991950-BA96-42D3-A67C-826F06B0C78D}"/>
              </a:ext>
            </a:extLst>
          </p:cNvPr>
          <p:cNvSpPr txBox="1">
            <a:spLocks noChangeArrowheads="1"/>
          </p:cNvSpPr>
          <p:nvPr/>
        </p:nvSpPr>
        <p:spPr bwMode="auto">
          <a:xfrm>
            <a:off x="3733800" y="2362200"/>
            <a:ext cx="13003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800">
                <a:latin typeface="Tahoma" panose="020B0604030504040204" pitchFamily="34" charset="0"/>
              </a:rPr>
              <a:t>Class 2</a:t>
            </a:r>
          </a:p>
        </p:txBody>
      </p:sp>
      <p:sp>
        <p:nvSpPr>
          <p:cNvPr id="21" name="Line 18">
            <a:extLst>
              <a:ext uri="{FF2B5EF4-FFF2-40B4-BE49-F238E27FC236}">
                <a16:creationId xmlns:a16="http://schemas.microsoft.com/office/drawing/2014/main" id="{8C11ACD9-0BB5-4223-8491-9ED517F65452}"/>
              </a:ext>
            </a:extLst>
          </p:cNvPr>
          <p:cNvSpPr>
            <a:spLocks noChangeShapeType="1"/>
          </p:cNvSpPr>
          <p:nvPr/>
        </p:nvSpPr>
        <p:spPr bwMode="auto">
          <a:xfrm>
            <a:off x="1447800" y="2209800"/>
            <a:ext cx="2362200" cy="2743200"/>
          </a:xfrm>
          <a:prstGeom prst="line">
            <a:avLst/>
          </a:prstGeom>
          <a:noFill/>
          <a:ln w="38100">
            <a:solidFill>
              <a:schemeClr val="folHlink"/>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 name="Line 19">
            <a:extLst>
              <a:ext uri="{FF2B5EF4-FFF2-40B4-BE49-F238E27FC236}">
                <a16:creationId xmlns:a16="http://schemas.microsoft.com/office/drawing/2014/main" id="{4D34E96C-4A5F-4299-9985-59A7F926C691}"/>
              </a:ext>
            </a:extLst>
          </p:cNvPr>
          <p:cNvSpPr>
            <a:spLocks noChangeShapeType="1"/>
          </p:cNvSpPr>
          <p:nvPr/>
        </p:nvSpPr>
        <p:spPr bwMode="auto">
          <a:xfrm flipV="1">
            <a:off x="7113587" y="1914525"/>
            <a:ext cx="0" cy="3200400"/>
          </a:xfrm>
          <a:prstGeom prst="line">
            <a:avLst/>
          </a:prstGeom>
          <a:noFill/>
          <a:ln w="38100">
            <a:solidFill>
              <a:schemeClr val="tx1"/>
            </a:solidFill>
            <a:miter lim="800000"/>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3" name="Line 20">
            <a:extLst>
              <a:ext uri="{FF2B5EF4-FFF2-40B4-BE49-F238E27FC236}">
                <a16:creationId xmlns:a16="http://schemas.microsoft.com/office/drawing/2014/main" id="{17E49D48-2912-4A53-90AB-820B814A80FA}"/>
              </a:ext>
            </a:extLst>
          </p:cNvPr>
          <p:cNvSpPr>
            <a:spLocks noChangeShapeType="1"/>
          </p:cNvSpPr>
          <p:nvPr/>
        </p:nvSpPr>
        <p:spPr bwMode="auto">
          <a:xfrm flipV="1">
            <a:off x="7104062" y="5105400"/>
            <a:ext cx="4249738" cy="0"/>
          </a:xfrm>
          <a:prstGeom prst="line">
            <a:avLst/>
          </a:prstGeom>
          <a:noFill/>
          <a:ln w="38100">
            <a:solidFill>
              <a:schemeClr val="tx1"/>
            </a:solidFill>
            <a:miter lim="800000"/>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4" name="Oval 21">
            <a:extLst>
              <a:ext uri="{FF2B5EF4-FFF2-40B4-BE49-F238E27FC236}">
                <a16:creationId xmlns:a16="http://schemas.microsoft.com/office/drawing/2014/main" id="{5BF52066-F741-4752-9270-7BA031A9D674}"/>
              </a:ext>
            </a:extLst>
          </p:cNvPr>
          <p:cNvSpPr>
            <a:spLocks noChangeArrowheads="1"/>
          </p:cNvSpPr>
          <p:nvPr/>
        </p:nvSpPr>
        <p:spPr bwMode="auto">
          <a:xfrm>
            <a:off x="9161462" y="25146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 name="Oval 22">
            <a:extLst>
              <a:ext uri="{FF2B5EF4-FFF2-40B4-BE49-F238E27FC236}">
                <a16:creationId xmlns:a16="http://schemas.microsoft.com/office/drawing/2014/main" id="{615EA87E-EE49-43D3-AD62-BD30FAE02FAF}"/>
              </a:ext>
            </a:extLst>
          </p:cNvPr>
          <p:cNvSpPr>
            <a:spLocks noChangeArrowheads="1"/>
          </p:cNvSpPr>
          <p:nvPr/>
        </p:nvSpPr>
        <p:spPr bwMode="auto">
          <a:xfrm>
            <a:off x="9390062" y="31242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 name="Oval 23">
            <a:extLst>
              <a:ext uri="{FF2B5EF4-FFF2-40B4-BE49-F238E27FC236}">
                <a16:creationId xmlns:a16="http://schemas.microsoft.com/office/drawing/2014/main" id="{5A6AE525-8906-4333-81EA-1A04B7BC2AC2}"/>
              </a:ext>
            </a:extLst>
          </p:cNvPr>
          <p:cNvSpPr>
            <a:spLocks noChangeArrowheads="1"/>
          </p:cNvSpPr>
          <p:nvPr/>
        </p:nvSpPr>
        <p:spPr bwMode="auto">
          <a:xfrm>
            <a:off x="10228262" y="33528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 name="Oval 24">
            <a:extLst>
              <a:ext uri="{FF2B5EF4-FFF2-40B4-BE49-F238E27FC236}">
                <a16:creationId xmlns:a16="http://schemas.microsoft.com/office/drawing/2014/main" id="{41E00C78-D333-4149-971A-E42584E46943}"/>
              </a:ext>
            </a:extLst>
          </p:cNvPr>
          <p:cNvSpPr>
            <a:spLocks noChangeArrowheads="1"/>
          </p:cNvSpPr>
          <p:nvPr/>
        </p:nvSpPr>
        <p:spPr bwMode="auto">
          <a:xfrm>
            <a:off x="8704262" y="26670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 name="Oval 25">
            <a:extLst>
              <a:ext uri="{FF2B5EF4-FFF2-40B4-BE49-F238E27FC236}">
                <a16:creationId xmlns:a16="http://schemas.microsoft.com/office/drawing/2014/main" id="{B599A86B-72DC-42FB-87AF-0103C5121C09}"/>
              </a:ext>
            </a:extLst>
          </p:cNvPr>
          <p:cNvSpPr>
            <a:spLocks noChangeArrowheads="1"/>
          </p:cNvSpPr>
          <p:nvPr/>
        </p:nvSpPr>
        <p:spPr bwMode="auto">
          <a:xfrm>
            <a:off x="9694862" y="36576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 name="Rectangle 26">
            <a:extLst>
              <a:ext uri="{FF2B5EF4-FFF2-40B4-BE49-F238E27FC236}">
                <a16:creationId xmlns:a16="http://schemas.microsoft.com/office/drawing/2014/main" id="{680F4FB9-14CA-43A9-864B-3DF6E3878D59}"/>
              </a:ext>
            </a:extLst>
          </p:cNvPr>
          <p:cNvSpPr>
            <a:spLocks noChangeArrowheads="1"/>
          </p:cNvSpPr>
          <p:nvPr/>
        </p:nvSpPr>
        <p:spPr bwMode="auto">
          <a:xfrm>
            <a:off x="7408862" y="35814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 name="Rectangle 27">
            <a:extLst>
              <a:ext uri="{FF2B5EF4-FFF2-40B4-BE49-F238E27FC236}">
                <a16:creationId xmlns:a16="http://schemas.microsoft.com/office/drawing/2014/main" id="{BCF279C8-E2B2-4FF0-A5B6-E209B922D884}"/>
              </a:ext>
            </a:extLst>
          </p:cNvPr>
          <p:cNvSpPr>
            <a:spLocks noChangeArrowheads="1"/>
          </p:cNvSpPr>
          <p:nvPr/>
        </p:nvSpPr>
        <p:spPr bwMode="auto">
          <a:xfrm>
            <a:off x="8628062" y="40386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Rectangle 28">
            <a:extLst>
              <a:ext uri="{FF2B5EF4-FFF2-40B4-BE49-F238E27FC236}">
                <a16:creationId xmlns:a16="http://schemas.microsoft.com/office/drawing/2014/main" id="{9886B437-AD4A-47D1-A94E-C32D42E7050E}"/>
              </a:ext>
            </a:extLst>
          </p:cNvPr>
          <p:cNvSpPr>
            <a:spLocks noChangeArrowheads="1"/>
          </p:cNvSpPr>
          <p:nvPr/>
        </p:nvSpPr>
        <p:spPr bwMode="auto">
          <a:xfrm>
            <a:off x="8475662" y="44958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 name="Rectangle 29">
            <a:extLst>
              <a:ext uri="{FF2B5EF4-FFF2-40B4-BE49-F238E27FC236}">
                <a16:creationId xmlns:a16="http://schemas.microsoft.com/office/drawing/2014/main" id="{7739973F-7AC8-419E-85FC-FCB5EB1F618B}"/>
              </a:ext>
            </a:extLst>
          </p:cNvPr>
          <p:cNvSpPr>
            <a:spLocks noChangeArrowheads="1"/>
          </p:cNvSpPr>
          <p:nvPr/>
        </p:nvSpPr>
        <p:spPr bwMode="auto">
          <a:xfrm>
            <a:off x="7866062" y="40386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 name="Rectangle 30">
            <a:extLst>
              <a:ext uri="{FF2B5EF4-FFF2-40B4-BE49-F238E27FC236}">
                <a16:creationId xmlns:a16="http://schemas.microsoft.com/office/drawing/2014/main" id="{CEFF9637-CE2B-457B-B276-A7FBD4BED0C9}"/>
              </a:ext>
            </a:extLst>
          </p:cNvPr>
          <p:cNvSpPr>
            <a:spLocks noChangeArrowheads="1"/>
          </p:cNvSpPr>
          <p:nvPr/>
        </p:nvSpPr>
        <p:spPr bwMode="auto">
          <a:xfrm>
            <a:off x="7561262" y="44196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 name="Rectangle 31">
            <a:extLst>
              <a:ext uri="{FF2B5EF4-FFF2-40B4-BE49-F238E27FC236}">
                <a16:creationId xmlns:a16="http://schemas.microsoft.com/office/drawing/2014/main" id="{A915DF51-09E2-4012-97D3-B906C1F36B2C}"/>
              </a:ext>
            </a:extLst>
          </p:cNvPr>
          <p:cNvSpPr>
            <a:spLocks noChangeArrowheads="1"/>
          </p:cNvSpPr>
          <p:nvPr/>
        </p:nvSpPr>
        <p:spPr bwMode="auto">
          <a:xfrm>
            <a:off x="7789862" y="32004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 name="Text Box 32">
            <a:extLst>
              <a:ext uri="{FF2B5EF4-FFF2-40B4-BE49-F238E27FC236}">
                <a16:creationId xmlns:a16="http://schemas.microsoft.com/office/drawing/2014/main" id="{C970292F-5761-4FBE-88B2-DC9E65185A39}"/>
              </a:ext>
            </a:extLst>
          </p:cNvPr>
          <p:cNvSpPr txBox="1">
            <a:spLocks noChangeArrowheads="1"/>
          </p:cNvSpPr>
          <p:nvPr/>
        </p:nvSpPr>
        <p:spPr bwMode="auto">
          <a:xfrm>
            <a:off x="7408862" y="4621213"/>
            <a:ext cx="13003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800">
                <a:latin typeface="Tahoma" panose="020B0604030504040204" pitchFamily="34" charset="0"/>
              </a:rPr>
              <a:t>Class 1</a:t>
            </a:r>
          </a:p>
        </p:txBody>
      </p:sp>
      <p:sp>
        <p:nvSpPr>
          <p:cNvPr id="36" name="Text Box 33">
            <a:extLst>
              <a:ext uri="{FF2B5EF4-FFF2-40B4-BE49-F238E27FC236}">
                <a16:creationId xmlns:a16="http://schemas.microsoft.com/office/drawing/2014/main" id="{164F06BA-1028-4450-9C4B-5118969E58C1}"/>
              </a:ext>
            </a:extLst>
          </p:cNvPr>
          <p:cNvSpPr txBox="1">
            <a:spLocks noChangeArrowheads="1"/>
          </p:cNvSpPr>
          <p:nvPr/>
        </p:nvSpPr>
        <p:spPr bwMode="auto">
          <a:xfrm>
            <a:off x="9618662" y="2362200"/>
            <a:ext cx="13003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800">
                <a:latin typeface="Tahoma" panose="020B0604030504040204" pitchFamily="34" charset="0"/>
              </a:rPr>
              <a:t>Class 2</a:t>
            </a:r>
          </a:p>
        </p:txBody>
      </p:sp>
      <p:sp>
        <p:nvSpPr>
          <p:cNvPr id="37" name="Line 34">
            <a:extLst>
              <a:ext uri="{FF2B5EF4-FFF2-40B4-BE49-F238E27FC236}">
                <a16:creationId xmlns:a16="http://schemas.microsoft.com/office/drawing/2014/main" id="{8466C9FA-4848-49DC-B16C-6DE26BE08DEC}"/>
              </a:ext>
            </a:extLst>
          </p:cNvPr>
          <p:cNvSpPr>
            <a:spLocks noChangeShapeType="1"/>
          </p:cNvSpPr>
          <p:nvPr/>
        </p:nvSpPr>
        <p:spPr bwMode="auto">
          <a:xfrm>
            <a:off x="8456612" y="1981200"/>
            <a:ext cx="609600" cy="2971800"/>
          </a:xfrm>
          <a:prstGeom prst="line">
            <a:avLst/>
          </a:prstGeom>
          <a:noFill/>
          <a:ln w="38100">
            <a:solidFill>
              <a:schemeClr val="tx2"/>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 name="Rectangle 1">
            <a:extLst>
              <a:ext uri="{FF2B5EF4-FFF2-40B4-BE49-F238E27FC236}">
                <a16:creationId xmlns:a16="http://schemas.microsoft.com/office/drawing/2014/main" id="{A879E27A-5E62-4629-B255-AD8E47015F19}"/>
              </a:ext>
            </a:extLst>
          </p:cNvPr>
          <p:cNvSpPr/>
          <p:nvPr/>
        </p:nvSpPr>
        <p:spPr>
          <a:xfrm>
            <a:off x="3250411" y="5496580"/>
            <a:ext cx="6122189" cy="523220"/>
          </a:xfrm>
          <a:prstGeom prst="rect">
            <a:avLst/>
          </a:prstGeom>
        </p:spPr>
        <p:txBody>
          <a:bodyPr wrap="none">
            <a:spAutoFit/>
          </a:bodyPr>
          <a:lstStyle/>
          <a:p>
            <a:r>
              <a:rPr lang="en-US" altLang="en-US" sz="2800">
                <a:solidFill>
                  <a:srgbClr val="0066FF"/>
                </a:solidFill>
              </a:rPr>
              <a:t>Example of Bad Decision Boundaries</a:t>
            </a:r>
            <a:endParaRPr lang="en-US" sz="2800">
              <a:solidFill>
                <a:srgbClr val="0066FF"/>
              </a:solidFill>
            </a:endParaRPr>
          </a:p>
        </p:txBody>
      </p:sp>
    </p:spTree>
    <p:extLst>
      <p:ext uri="{BB962C8B-B14F-4D97-AF65-F5344CB8AC3E}">
        <p14:creationId xmlns:p14="http://schemas.microsoft.com/office/powerpoint/2010/main" val="1227820592"/>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itle 49">
            <a:extLst>
              <a:ext uri="{FF2B5EF4-FFF2-40B4-BE49-F238E27FC236}">
                <a16:creationId xmlns:a16="http://schemas.microsoft.com/office/drawing/2014/main" id="{20540711-3B9E-4859-A693-F24E0037E3C2}"/>
              </a:ext>
            </a:extLst>
          </p:cNvPr>
          <p:cNvSpPr>
            <a:spLocks noGrp="1"/>
          </p:cNvSpPr>
          <p:nvPr>
            <p:ph type="title"/>
          </p:nvPr>
        </p:nvSpPr>
        <p:spPr/>
        <p:txBody>
          <a:bodyPr/>
          <a:lstStyle/>
          <a:p>
            <a:r>
              <a:rPr lang="en-US" altLang="en-US"/>
              <a:t>Two Class – Linear SVM</a:t>
            </a:r>
            <a:endParaRPr lang="en-US"/>
          </a:p>
        </p:txBody>
      </p:sp>
      <p:sp>
        <p:nvSpPr>
          <p:cNvPr id="52" name="Content Placeholder 51">
            <a:extLst>
              <a:ext uri="{FF2B5EF4-FFF2-40B4-BE49-F238E27FC236}">
                <a16:creationId xmlns:a16="http://schemas.microsoft.com/office/drawing/2014/main" id="{B0CD6A1A-53CA-465D-A30D-082141B93D34}"/>
              </a:ext>
            </a:extLst>
          </p:cNvPr>
          <p:cNvSpPr>
            <a:spLocks noGrp="1"/>
          </p:cNvSpPr>
          <p:nvPr>
            <p:ph sz="half" idx="2"/>
          </p:nvPr>
        </p:nvSpPr>
        <p:spPr/>
        <p:txBody>
          <a:bodyPr/>
          <a:lstStyle/>
          <a:p>
            <a:r>
              <a:rPr lang="en-US" altLang="en-US"/>
              <a:t>Which of the linear separators is optimal?</a:t>
            </a:r>
          </a:p>
          <a:p>
            <a:r>
              <a:rPr lang="en-US">
                <a:solidFill>
                  <a:srgbClr val="FF0000"/>
                </a:solidFill>
              </a:rPr>
              <a:t>Siêu phẳng nào là tốt nhất?</a:t>
            </a:r>
          </a:p>
        </p:txBody>
      </p:sp>
      <p:sp>
        <p:nvSpPr>
          <p:cNvPr id="3" name="Line 3">
            <a:extLst>
              <a:ext uri="{FF2B5EF4-FFF2-40B4-BE49-F238E27FC236}">
                <a16:creationId xmlns:a16="http://schemas.microsoft.com/office/drawing/2014/main" id="{5EBE2273-F43D-4A30-9A21-A04543DE624B}"/>
              </a:ext>
            </a:extLst>
          </p:cNvPr>
          <p:cNvSpPr>
            <a:spLocks noChangeShapeType="1"/>
          </p:cNvSpPr>
          <p:nvPr/>
        </p:nvSpPr>
        <p:spPr bwMode="auto">
          <a:xfrm flipV="1">
            <a:off x="1219200" y="1905000"/>
            <a:ext cx="0" cy="3200400"/>
          </a:xfrm>
          <a:prstGeom prst="line">
            <a:avLst/>
          </a:prstGeom>
          <a:noFill/>
          <a:ln w="38100">
            <a:solidFill>
              <a:schemeClr val="tx1"/>
            </a:solidFill>
            <a:miter lim="800000"/>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 name="Line 4">
            <a:extLst>
              <a:ext uri="{FF2B5EF4-FFF2-40B4-BE49-F238E27FC236}">
                <a16:creationId xmlns:a16="http://schemas.microsoft.com/office/drawing/2014/main" id="{B3E0D53D-3CC3-4C68-BC41-9A41C202F0B6}"/>
              </a:ext>
            </a:extLst>
          </p:cNvPr>
          <p:cNvSpPr>
            <a:spLocks noChangeShapeType="1"/>
          </p:cNvSpPr>
          <p:nvPr/>
        </p:nvSpPr>
        <p:spPr bwMode="auto">
          <a:xfrm flipV="1">
            <a:off x="1219200" y="5105400"/>
            <a:ext cx="4191000" cy="0"/>
          </a:xfrm>
          <a:prstGeom prst="line">
            <a:avLst/>
          </a:prstGeom>
          <a:noFill/>
          <a:ln w="38100">
            <a:solidFill>
              <a:schemeClr val="tx1"/>
            </a:solidFill>
            <a:miter lim="800000"/>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 name="Oval 5">
            <a:extLst>
              <a:ext uri="{FF2B5EF4-FFF2-40B4-BE49-F238E27FC236}">
                <a16:creationId xmlns:a16="http://schemas.microsoft.com/office/drawing/2014/main" id="{928F2F09-DEEC-4514-952D-40C9366F2CFD}"/>
              </a:ext>
            </a:extLst>
          </p:cNvPr>
          <p:cNvSpPr>
            <a:spLocks noChangeArrowheads="1"/>
          </p:cNvSpPr>
          <p:nvPr/>
        </p:nvSpPr>
        <p:spPr bwMode="auto">
          <a:xfrm>
            <a:off x="3276600" y="25146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Oval 6">
            <a:extLst>
              <a:ext uri="{FF2B5EF4-FFF2-40B4-BE49-F238E27FC236}">
                <a16:creationId xmlns:a16="http://schemas.microsoft.com/office/drawing/2014/main" id="{953786C4-34DA-476B-BF21-5E2189859A48}"/>
              </a:ext>
            </a:extLst>
          </p:cNvPr>
          <p:cNvSpPr>
            <a:spLocks noChangeArrowheads="1"/>
          </p:cNvSpPr>
          <p:nvPr/>
        </p:nvSpPr>
        <p:spPr bwMode="auto">
          <a:xfrm>
            <a:off x="3505200" y="31242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Oval 7">
            <a:extLst>
              <a:ext uri="{FF2B5EF4-FFF2-40B4-BE49-F238E27FC236}">
                <a16:creationId xmlns:a16="http://schemas.microsoft.com/office/drawing/2014/main" id="{77D912C9-F3D8-4155-83B2-49C8F07D7DA6}"/>
              </a:ext>
            </a:extLst>
          </p:cNvPr>
          <p:cNvSpPr>
            <a:spLocks noChangeArrowheads="1"/>
          </p:cNvSpPr>
          <p:nvPr/>
        </p:nvSpPr>
        <p:spPr bwMode="auto">
          <a:xfrm>
            <a:off x="4343400" y="33528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Oval 8">
            <a:extLst>
              <a:ext uri="{FF2B5EF4-FFF2-40B4-BE49-F238E27FC236}">
                <a16:creationId xmlns:a16="http://schemas.microsoft.com/office/drawing/2014/main" id="{419D475E-7123-4859-BB9D-870D74FE32FF}"/>
              </a:ext>
            </a:extLst>
          </p:cNvPr>
          <p:cNvSpPr>
            <a:spLocks noChangeArrowheads="1"/>
          </p:cNvSpPr>
          <p:nvPr/>
        </p:nvSpPr>
        <p:spPr bwMode="auto">
          <a:xfrm>
            <a:off x="2819400" y="26670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Oval 9">
            <a:extLst>
              <a:ext uri="{FF2B5EF4-FFF2-40B4-BE49-F238E27FC236}">
                <a16:creationId xmlns:a16="http://schemas.microsoft.com/office/drawing/2014/main" id="{41D60C4E-60B6-4988-8CF8-E78CB056F784}"/>
              </a:ext>
            </a:extLst>
          </p:cNvPr>
          <p:cNvSpPr>
            <a:spLocks noChangeArrowheads="1"/>
          </p:cNvSpPr>
          <p:nvPr/>
        </p:nvSpPr>
        <p:spPr bwMode="auto">
          <a:xfrm>
            <a:off x="3810000" y="36576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Rectangle 10">
            <a:extLst>
              <a:ext uri="{FF2B5EF4-FFF2-40B4-BE49-F238E27FC236}">
                <a16:creationId xmlns:a16="http://schemas.microsoft.com/office/drawing/2014/main" id="{F512A9AD-6789-4F3E-81AE-1F7E2585B13B}"/>
              </a:ext>
            </a:extLst>
          </p:cNvPr>
          <p:cNvSpPr>
            <a:spLocks noChangeArrowheads="1"/>
          </p:cNvSpPr>
          <p:nvPr/>
        </p:nvSpPr>
        <p:spPr bwMode="auto">
          <a:xfrm>
            <a:off x="1524000" y="35814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Rectangle 11">
            <a:extLst>
              <a:ext uri="{FF2B5EF4-FFF2-40B4-BE49-F238E27FC236}">
                <a16:creationId xmlns:a16="http://schemas.microsoft.com/office/drawing/2014/main" id="{DCB4F082-2D74-4724-9169-C8DB703D68D2}"/>
              </a:ext>
            </a:extLst>
          </p:cNvPr>
          <p:cNvSpPr>
            <a:spLocks noChangeArrowheads="1"/>
          </p:cNvSpPr>
          <p:nvPr/>
        </p:nvSpPr>
        <p:spPr bwMode="auto">
          <a:xfrm>
            <a:off x="2743200" y="40386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Rectangle 12">
            <a:extLst>
              <a:ext uri="{FF2B5EF4-FFF2-40B4-BE49-F238E27FC236}">
                <a16:creationId xmlns:a16="http://schemas.microsoft.com/office/drawing/2014/main" id="{8D2F756A-8231-48C3-9CE2-1403460FBE9D}"/>
              </a:ext>
            </a:extLst>
          </p:cNvPr>
          <p:cNvSpPr>
            <a:spLocks noChangeArrowheads="1"/>
          </p:cNvSpPr>
          <p:nvPr/>
        </p:nvSpPr>
        <p:spPr bwMode="auto">
          <a:xfrm>
            <a:off x="2590800" y="44958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Rectangle 13">
            <a:extLst>
              <a:ext uri="{FF2B5EF4-FFF2-40B4-BE49-F238E27FC236}">
                <a16:creationId xmlns:a16="http://schemas.microsoft.com/office/drawing/2014/main" id="{5C2E53E2-3884-4779-8BB4-C10C74C7C4C7}"/>
              </a:ext>
            </a:extLst>
          </p:cNvPr>
          <p:cNvSpPr>
            <a:spLocks noChangeArrowheads="1"/>
          </p:cNvSpPr>
          <p:nvPr/>
        </p:nvSpPr>
        <p:spPr bwMode="auto">
          <a:xfrm>
            <a:off x="1981200" y="40386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Rectangle 14">
            <a:extLst>
              <a:ext uri="{FF2B5EF4-FFF2-40B4-BE49-F238E27FC236}">
                <a16:creationId xmlns:a16="http://schemas.microsoft.com/office/drawing/2014/main" id="{01653992-BBA6-4954-97B8-7133175C68F5}"/>
              </a:ext>
            </a:extLst>
          </p:cNvPr>
          <p:cNvSpPr>
            <a:spLocks noChangeArrowheads="1"/>
          </p:cNvSpPr>
          <p:nvPr/>
        </p:nvSpPr>
        <p:spPr bwMode="auto">
          <a:xfrm>
            <a:off x="1676400" y="44196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Rectangle 15">
            <a:extLst>
              <a:ext uri="{FF2B5EF4-FFF2-40B4-BE49-F238E27FC236}">
                <a16:creationId xmlns:a16="http://schemas.microsoft.com/office/drawing/2014/main" id="{A1D1E5A8-DB83-427D-A635-4699771B5BCF}"/>
              </a:ext>
            </a:extLst>
          </p:cNvPr>
          <p:cNvSpPr>
            <a:spLocks noChangeArrowheads="1"/>
          </p:cNvSpPr>
          <p:nvPr/>
        </p:nvSpPr>
        <p:spPr bwMode="auto">
          <a:xfrm>
            <a:off x="1905000" y="32004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Text Box 16">
            <a:extLst>
              <a:ext uri="{FF2B5EF4-FFF2-40B4-BE49-F238E27FC236}">
                <a16:creationId xmlns:a16="http://schemas.microsoft.com/office/drawing/2014/main" id="{ECAB2313-B0E4-4461-B91D-DBB5B89B5763}"/>
              </a:ext>
            </a:extLst>
          </p:cNvPr>
          <p:cNvSpPr txBox="1">
            <a:spLocks noChangeArrowheads="1"/>
          </p:cNvSpPr>
          <p:nvPr/>
        </p:nvSpPr>
        <p:spPr bwMode="auto">
          <a:xfrm>
            <a:off x="1524000" y="4621213"/>
            <a:ext cx="13003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800">
                <a:latin typeface="Tahoma" panose="020B0604030504040204" pitchFamily="34" charset="0"/>
              </a:rPr>
              <a:t>Class 1</a:t>
            </a:r>
          </a:p>
        </p:txBody>
      </p:sp>
      <p:sp>
        <p:nvSpPr>
          <p:cNvPr id="17" name="Text Box 17">
            <a:extLst>
              <a:ext uri="{FF2B5EF4-FFF2-40B4-BE49-F238E27FC236}">
                <a16:creationId xmlns:a16="http://schemas.microsoft.com/office/drawing/2014/main" id="{0B9A6E94-6418-48FC-85F5-38D6EB2FA5B6}"/>
              </a:ext>
            </a:extLst>
          </p:cNvPr>
          <p:cNvSpPr txBox="1">
            <a:spLocks noChangeArrowheads="1"/>
          </p:cNvSpPr>
          <p:nvPr/>
        </p:nvSpPr>
        <p:spPr bwMode="auto">
          <a:xfrm>
            <a:off x="3733800" y="2362200"/>
            <a:ext cx="13003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800">
                <a:latin typeface="Tahoma" panose="020B0604030504040204" pitchFamily="34" charset="0"/>
              </a:rPr>
              <a:t>Class 2</a:t>
            </a:r>
          </a:p>
        </p:txBody>
      </p:sp>
      <p:sp>
        <p:nvSpPr>
          <p:cNvPr id="18" name="Line 18">
            <a:extLst>
              <a:ext uri="{FF2B5EF4-FFF2-40B4-BE49-F238E27FC236}">
                <a16:creationId xmlns:a16="http://schemas.microsoft.com/office/drawing/2014/main" id="{51036C79-E97F-4E24-B5F6-340A3C6AC05E}"/>
              </a:ext>
            </a:extLst>
          </p:cNvPr>
          <p:cNvSpPr>
            <a:spLocks noChangeShapeType="1"/>
          </p:cNvSpPr>
          <p:nvPr/>
        </p:nvSpPr>
        <p:spPr bwMode="auto">
          <a:xfrm>
            <a:off x="1447800" y="2209800"/>
            <a:ext cx="2362200" cy="2743200"/>
          </a:xfrm>
          <a:prstGeom prst="line">
            <a:avLst/>
          </a:prstGeom>
          <a:noFill/>
          <a:ln w="38100">
            <a:solidFill>
              <a:schemeClr val="folHlink"/>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5" name="Line 18">
            <a:extLst>
              <a:ext uri="{FF2B5EF4-FFF2-40B4-BE49-F238E27FC236}">
                <a16:creationId xmlns:a16="http://schemas.microsoft.com/office/drawing/2014/main" id="{C7C3D1C5-9DB1-4A7C-932A-162326246A66}"/>
              </a:ext>
            </a:extLst>
          </p:cNvPr>
          <p:cNvSpPr>
            <a:spLocks noChangeShapeType="1"/>
          </p:cNvSpPr>
          <p:nvPr/>
        </p:nvSpPr>
        <p:spPr bwMode="auto">
          <a:xfrm>
            <a:off x="1828800" y="2209800"/>
            <a:ext cx="2362200" cy="2743200"/>
          </a:xfrm>
          <a:prstGeom prst="line">
            <a:avLst/>
          </a:prstGeom>
          <a:noFill/>
          <a:ln w="38100">
            <a:solidFill>
              <a:schemeClr val="folHlink"/>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7" name="Line 18">
            <a:extLst>
              <a:ext uri="{FF2B5EF4-FFF2-40B4-BE49-F238E27FC236}">
                <a16:creationId xmlns:a16="http://schemas.microsoft.com/office/drawing/2014/main" id="{9F1798E9-687A-4710-80F6-39EED37858DE}"/>
              </a:ext>
            </a:extLst>
          </p:cNvPr>
          <p:cNvSpPr>
            <a:spLocks noChangeShapeType="1"/>
          </p:cNvSpPr>
          <p:nvPr/>
        </p:nvSpPr>
        <p:spPr bwMode="auto">
          <a:xfrm>
            <a:off x="1371603" y="2362200"/>
            <a:ext cx="3505195" cy="2362194"/>
          </a:xfrm>
          <a:prstGeom prst="line">
            <a:avLst/>
          </a:prstGeom>
          <a:noFill/>
          <a:ln w="38100">
            <a:solidFill>
              <a:schemeClr val="folHlink"/>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8" name="Line 18">
            <a:extLst>
              <a:ext uri="{FF2B5EF4-FFF2-40B4-BE49-F238E27FC236}">
                <a16:creationId xmlns:a16="http://schemas.microsoft.com/office/drawing/2014/main" id="{B2259186-9DFC-44F7-A36B-4CF4EA849BB5}"/>
              </a:ext>
            </a:extLst>
          </p:cNvPr>
          <p:cNvSpPr>
            <a:spLocks noChangeShapeType="1"/>
          </p:cNvSpPr>
          <p:nvPr/>
        </p:nvSpPr>
        <p:spPr bwMode="auto">
          <a:xfrm>
            <a:off x="2438400" y="2057408"/>
            <a:ext cx="1371597" cy="2819392"/>
          </a:xfrm>
          <a:prstGeom prst="line">
            <a:avLst/>
          </a:prstGeom>
          <a:noFill/>
          <a:ln w="38100">
            <a:solidFill>
              <a:schemeClr val="folHlink"/>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9" name="Line 18">
            <a:extLst>
              <a:ext uri="{FF2B5EF4-FFF2-40B4-BE49-F238E27FC236}">
                <a16:creationId xmlns:a16="http://schemas.microsoft.com/office/drawing/2014/main" id="{08CD23E1-447E-475D-8E95-5F723DC770E7}"/>
              </a:ext>
            </a:extLst>
          </p:cNvPr>
          <p:cNvSpPr>
            <a:spLocks noChangeShapeType="1"/>
          </p:cNvSpPr>
          <p:nvPr/>
        </p:nvSpPr>
        <p:spPr bwMode="auto">
          <a:xfrm>
            <a:off x="1371603" y="2323168"/>
            <a:ext cx="3352797" cy="2069439"/>
          </a:xfrm>
          <a:prstGeom prst="line">
            <a:avLst/>
          </a:prstGeom>
          <a:noFill/>
          <a:ln w="38100">
            <a:solidFill>
              <a:schemeClr val="folHlink"/>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Tree>
    <p:extLst>
      <p:ext uri="{BB962C8B-B14F-4D97-AF65-F5344CB8AC3E}">
        <p14:creationId xmlns:p14="http://schemas.microsoft.com/office/powerpoint/2010/main" val="194956499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1E580-1D46-42BF-870E-DE4F854CD8D6}"/>
              </a:ext>
            </a:extLst>
          </p:cNvPr>
          <p:cNvSpPr>
            <a:spLocks noGrp="1"/>
          </p:cNvSpPr>
          <p:nvPr>
            <p:ph type="title"/>
          </p:nvPr>
        </p:nvSpPr>
        <p:spPr/>
        <p:txBody>
          <a:bodyPr/>
          <a:lstStyle/>
          <a:p>
            <a:r>
              <a:rPr lang="en-US" altLang="en-US"/>
              <a:t>Two Class – Linear SVM</a:t>
            </a:r>
            <a:endParaRPr lang="en-US"/>
          </a:p>
        </p:txBody>
      </p:sp>
      <p:sp>
        <p:nvSpPr>
          <p:cNvPr id="30" name="Content Placeholder 29">
            <a:extLst>
              <a:ext uri="{FF2B5EF4-FFF2-40B4-BE49-F238E27FC236}">
                <a16:creationId xmlns:a16="http://schemas.microsoft.com/office/drawing/2014/main" id="{41305498-4F2E-4B91-8CC9-2854079DD5E8}"/>
              </a:ext>
            </a:extLst>
          </p:cNvPr>
          <p:cNvSpPr>
            <a:spLocks noGrp="1"/>
          </p:cNvSpPr>
          <p:nvPr>
            <p:ph sz="half" idx="2"/>
          </p:nvPr>
        </p:nvSpPr>
        <p:spPr/>
        <p:txBody>
          <a:bodyPr/>
          <a:lstStyle/>
          <a:p>
            <a:pPr algn="just"/>
            <a:r>
              <a:rPr lang="en-US" b="1">
                <a:solidFill>
                  <a:schemeClr val="tx1"/>
                </a:solidFill>
                <a:highlight>
                  <a:srgbClr val="FFFF00"/>
                </a:highlight>
              </a:rPr>
              <a:t>x</a:t>
            </a:r>
            <a:r>
              <a:rPr lang="en-US" b="1">
                <a:solidFill>
                  <a:schemeClr val="tx1"/>
                </a:solidFill>
              </a:rPr>
              <a:t> </a:t>
            </a:r>
            <a:r>
              <a:rPr lang="en-US"/>
              <a:t>là véc t</a:t>
            </a:r>
            <a:r>
              <a:rPr lang="vi-VN"/>
              <a:t>ơ</a:t>
            </a:r>
            <a:r>
              <a:rPr lang="en-US"/>
              <a:t>.</a:t>
            </a:r>
          </a:p>
          <a:p>
            <a:pPr algn="just"/>
            <a:r>
              <a:rPr lang="en-US" b="1">
                <a:solidFill>
                  <a:schemeClr val="tx1"/>
                </a:solidFill>
                <a:highlight>
                  <a:srgbClr val="FFFF00"/>
                </a:highlight>
              </a:rPr>
              <a:t>w</a:t>
            </a:r>
            <a:r>
              <a:rPr lang="en-US" b="1">
                <a:solidFill>
                  <a:schemeClr val="tx1"/>
                </a:solidFill>
              </a:rPr>
              <a:t> </a:t>
            </a:r>
            <a:r>
              <a:rPr lang="en-US"/>
              <a:t>là véc t</a:t>
            </a:r>
            <a:r>
              <a:rPr lang="vi-VN"/>
              <a:t>ơ</a:t>
            </a:r>
            <a:r>
              <a:rPr lang="en-US"/>
              <a:t> pháp tuyến của siêu phẳng.</a:t>
            </a:r>
          </a:p>
          <a:p>
            <a:pPr algn="just"/>
            <a:r>
              <a:rPr lang="en-US">
                <a:solidFill>
                  <a:schemeClr val="tx1"/>
                </a:solidFill>
                <a:highlight>
                  <a:srgbClr val="FFFF00"/>
                </a:highlight>
              </a:rPr>
              <a:t>b</a:t>
            </a:r>
            <a:r>
              <a:rPr lang="en-US" b="1">
                <a:solidFill>
                  <a:schemeClr val="tx1"/>
                </a:solidFill>
              </a:rPr>
              <a:t> </a:t>
            </a:r>
            <a:r>
              <a:rPr lang="en-US"/>
              <a:t>là Scalar value.</a:t>
            </a:r>
          </a:p>
          <a:p>
            <a:pPr algn="just"/>
            <a:endParaRPr lang="en-US"/>
          </a:p>
          <a:p>
            <a:pPr algn="just"/>
            <a:endParaRPr lang="en-US"/>
          </a:p>
        </p:txBody>
      </p:sp>
      <p:sp>
        <p:nvSpPr>
          <p:cNvPr id="29" name="Rectangle 28">
            <a:extLst>
              <a:ext uri="{FF2B5EF4-FFF2-40B4-BE49-F238E27FC236}">
                <a16:creationId xmlns:a16="http://schemas.microsoft.com/office/drawing/2014/main" id="{E6616AA0-710E-4B69-89B8-018B96991F65}"/>
              </a:ext>
            </a:extLst>
          </p:cNvPr>
          <p:cNvSpPr/>
          <p:nvPr/>
        </p:nvSpPr>
        <p:spPr>
          <a:xfrm rot="3691334">
            <a:off x="589530" y="3163796"/>
            <a:ext cx="4191334" cy="711719"/>
          </a:xfrm>
          <a:prstGeom prst="rect">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Line 4">
            <a:extLst>
              <a:ext uri="{FF2B5EF4-FFF2-40B4-BE49-F238E27FC236}">
                <a16:creationId xmlns:a16="http://schemas.microsoft.com/office/drawing/2014/main" id="{92CED686-BCBE-4F9C-8C56-4051D899B83C}"/>
              </a:ext>
            </a:extLst>
          </p:cNvPr>
          <p:cNvSpPr>
            <a:spLocks noChangeShapeType="1"/>
          </p:cNvSpPr>
          <p:nvPr/>
        </p:nvSpPr>
        <p:spPr bwMode="auto">
          <a:xfrm flipV="1">
            <a:off x="1076325" y="1682739"/>
            <a:ext cx="0" cy="3581400"/>
          </a:xfrm>
          <a:prstGeom prst="line">
            <a:avLst/>
          </a:prstGeom>
          <a:noFill/>
          <a:ln w="38100">
            <a:solidFill>
              <a:schemeClr val="tx1"/>
            </a:solidFill>
            <a:miter lim="800000"/>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2" name="Line 5">
            <a:extLst>
              <a:ext uri="{FF2B5EF4-FFF2-40B4-BE49-F238E27FC236}">
                <a16:creationId xmlns:a16="http://schemas.microsoft.com/office/drawing/2014/main" id="{44CC700A-3E57-483E-A9CF-6EBF46F8C465}"/>
              </a:ext>
            </a:extLst>
          </p:cNvPr>
          <p:cNvSpPr>
            <a:spLocks noChangeShapeType="1"/>
          </p:cNvSpPr>
          <p:nvPr/>
        </p:nvSpPr>
        <p:spPr bwMode="auto">
          <a:xfrm flipV="1">
            <a:off x="1066800" y="5254614"/>
            <a:ext cx="4267200" cy="0"/>
          </a:xfrm>
          <a:prstGeom prst="line">
            <a:avLst/>
          </a:prstGeom>
          <a:noFill/>
          <a:ln w="38100">
            <a:solidFill>
              <a:schemeClr val="tx1"/>
            </a:solidFill>
            <a:miter lim="800000"/>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4" name="Oval 6">
            <a:extLst>
              <a:ext uri="{FF2B5EF4-FFF2-40B4-BE49-F238E27FC236}">
                <a16:creationId xmlns:a16="http://schemas.microsoft.com/office/drawing/2014/main" id="{BCB0B49A-BBF7-45FB-8786-B8D6EC21A139}"/>
              </a:ext>
            </a:extLst>
          </p:cNvPr>
          <p:cNvSpPr>
            <a:spLocks noChangeArrowheads="1"/>
          </p:cNvSpPr>
          <p:nvPr/>
        </p:nvSpPr>
        <p:spPr bwMode="auto">
          <a:xfrm>
            <a:off x="3124200" y="2663814"/>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 name="Oval 7">
            <a:extLst>
              <a:ext uri="{FF2B5EF4-FFF2-40B4-BE49-F238E27FC236}">
                <a16:creationId xmlns:a16="http://schemas.microsoft.com/office/drawing/2014/main" id="{8303D97B-81AF-4147-B6AE-367C65CA86B5}"/>
              </a:ext>
            </a:extLst>
          </p:cNvPr>
          <p:cNvSpPr>
            <a:spLocks noChangeArrowheads="1"/>
          </p:cNvSpPr>
          <p:nvPr/>
        </p:nvSpPr>
        <p:spPr bwMode="auto">
          <a:xfrm>
            <a:off x="3352800" y="3273414"/>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 name="Oval 8">
            <a:extLst>
              <a:ext uri="{FF2B5EF4-FFF2-40B4-BE49-F238E27FC236}">
                <a16:creationId xmlns:a16="http://schemas.microsoft.com/office/drawing/2014/main" id="{CBC49C59-ED84-4F2B-BF2D-69635AAEC00F}"/>
              </a:ext>
            </a:extLst>
          </p:cNvPr>
          <p:cNvSpPr>
            <a:spLocks noChangeArrowheads="1"/>
          </p:cNvSpPr>
          <p:nvPr/>
        </p:nvSpPr>
        <p:spPr bwMode="auto">
          <a:xfrm>
            <a:off x="4191000" y="3502014"/>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 name="Oval 9">
            <a:extLst>
              <a:ext uri="{FF2B5EF4-FFF2-40B4-BE49-F238E27FC236}">
                <a16:creationId xmlns:a16="http://schemas.microsoft.com/office/drawing/2014/main" id="{D1A3E807-F89B-4E64-BB57-F79DB5539593}"/>
              </a:ext>
            </a:extLst>
          </p:cNvPr>
          <p:cNvSpPr>
            <a:spLocks noChangeArrowheads="1"/>
          </p:cNvSpPr>
          <p:nvPr/>
        </p:nvSpPr>
        <p:spPr bwMode="auto">
          <a:xfrm>
            <a:off x="2667000" y="2816214"/>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 name="Oval 10">
            <a:extLst>
              <a:ext uri="{FF2B5EF4-FFF2-40B4-BE49-F238E27FC236}">
                <a16:creationId xmlns:a16="http://schemas.microsoft.com/office/drawing/2014/main" id="{A50281F8-92DA-4CC5-84D3-95F4D6CBFB7E}"/>
              </a:ext>
            </a:extLst>
          </p:cNvPr>
          <p:cNvSpPr>
            <a:spLocks noChangeArrowheads="1"/>
          </p:cNvSpPr>
          <p:nvPr/>
        </p:nvSpPr>
        <p:spPr bwMode="auto">
          <a:xfrm>
            <a:off x="3657600" y="3806814"/>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 name="Rectangle 11">
            <a:extLst>
              <a:ext uri="{FF2B5EF4-FFF2-40B4-BE49-F238E27FC236}">
                <a16:creationId xmlns:a16="http://schemas.microsoft.com/office/drawing/2014/main" id="{D25C9340-B075-4067-BF47-37F24EE2CD06}"/>
              </a:ext>
            </a:extLst>
          </p:cNvPr>
          <p:cNvSpPr>
            <a:spLocks noChangeArrowheads="1"/>
          </p:cNvSpPr>
          <p:nvPr/>
        </p:nvSpPr>
        <p:spPr bwMode="auto">
          <a:xfrm>
            <a:off x="1371600" y="3730614"/>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 name="Rectangle 13">
            <a:extLst>
              <a:ext uri="{FF2B5EF4-FFF2-40B4-BE49-F238E27FC236}">
                <a16:creationId xmlns:a16="http://schemas.microsoft.com/office/drawing/2014/main" id="{FF55B105-B2E7-42C5-9243-81464AFFF2F6}"/>
              </a:ext>
            </a:extLst>
          </p:cNvPr>
          <p:cNvSpPr>
            <a:spLocks noChangeArrowheads="1"/>
          </p:cNvSpPr>
          <p:nvPr/>
        </p:nvSpPr>
        <p:spPr bwMode="auto">
          <a:xfrm>
            <a:off x="2438400" y="4645014"/>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 name="Rectangle 14">
            <a:extLst>
              <a:ext uri="{FF2B5EF4-FFF2-40B4-BE49-F238E27FC236}">
                <a16:creationId xmlns:a16="http://schemas.microsoft.com/office/drawing/2014/main" id="{1700BA6E-483E-488C-8C83-D625A2D43C08}"/>
              </a:ext>
            </a:extLst>
          </p:cNvPr>
          <p:cNvSpPr>
            <a:spLocks noChangeArrowheads="1"/>
          </p:cNvSpPr>
          <p:nvPr/>
        </p:nvSpPr>
        <p:spPr bwMode="auto">
          <a:xfrm>
            <a:off x="1828800" y="4187814"/>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 name="Rectangle 15">
            <a:extLst>
              <a:ext uri="{FF2B5EF4-FFF2-40B4-BE49-F238E27FC236}">
                <a16:creationId xmlns:a16="http://schemas.microsoft.com/office/drawing/2014/main" id="{8B724EB7-76E4-4C83-B749-B1CFC19CACD6}"/>
              </a:ext>
            </a:extLst>
          </p:cNvPr>
          <p:cNvSpPr>
            <a:spLocks noChangeArrowheads="1"/>
          </p:cNvSpPr>
          <p:nvPr/>
        </p:nvSpPr>
        <p:spPr bwMode="auto">
          <a:xfrm>
            <a:off x="1524000" y="4568814"/>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 name="Rectangle 16">
            <a:extLst>
              <a:ext uri="{FF2B5EF4-FFF2-40B4-BE49-F238E27FC236}">
                <a16:creationId xmlns:a16="http://schemas.microsoft.com/office/drawing/2014/main" id="{40704EC0-9540-4027-B30A-BC435F505401}"/>
              </a:ext>
            </a:extLst>
          </p:cNvPr>
          <p:cNvSpPr>
            <a:spLocks noChangeArrowheads="1"/>
          </p:cNvSpPr>
          <p:nvPr/>
        </p:nvSpPr>
        <p:spPr bwMode="auto">
          <a:xfrm>
            <a:off x="1676400" y="3425814"/>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 name="Text Box 17">
            <a:extLst>
              <a:ext uri="{FF2B5EF4-FFF2-40B4-BE49-F238E27FC236}">
                <a16:creationId xmlns:a16="http://schemas.microsoft.com/office/drawing/2014/main" id="{4D8F2B56-F490-46E3-B443-6B85A230B8EF}"/>
              </a:ext>
            </a:extLst>
          </p:cNvPr>
          <p:cNvSpPr txBox="1">
            <a:spLocks noChangeArrowheads="1"/>
          </p:cNvSpPr>
          <p:nvPr/>
        </p:nvSpPr>
        <p:spPr bwMode="auto">
          <a:xfrm>
            <a:off x="1371600" y="4770427"/>
            <a:ext cx="13003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800">
                <a:latin typeface="Tahoma" panose="020B0604030504040204" pitchFamily="34" charset="0"/>
              </a:rPr>
              <a:t>Class 1</a:t>
            </a:r>
          </a:p>
        </p:txBody>
      </p:sp>
      <p:sp>
        <p:nvSpPr>
          <p:cNvPr id="47" name="Text Box 18">
            <a:extLst>
              <a:ext uri="{FF2B5EF4-FFF2-40B4-BE49-F238E27FC236}">
                <a16:creationId xmlns:a16="http://schemas.microsoft.com/office/drawing/2014/main" id="{F2E855FE-F31D-4C11-B30F-32ABFF755BD5}"/>
              </a:ext>
            </a:extLst>
          </p:cNvPr>
          <p:cNvSpPr txBox="1">
            <a:spLocks noChangeArrowheads="1"/>
          </p:cNvSpPr>
          <p:nvPr/>
        </p:nvSpPr>
        <p:spPr bwMode="auto">
          <a:xfrm>
            <a:off x="3754244" y="2336184"/>
            <a:ext cx="13003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800">
                <a:latin typeface="Tahoma" panose="020B0604030504040204" pitchFamily="34" charset="0"/>
              </a:rPr>
              <a:t>Class 2</a:t>
            </a:r>
          </a:p>
        </p:txBody>
      </p:sp>
      <p:sp>
        <p:nvSpPr>
          <p:cNvPr id="48" name="Line 21">
            <a:extLst>
              <a:ext uri="{FF2B5EF4-FFF2-40B4-BE49-F238E27FC236}">
                <a16:creationId xmlns:a16="http://schemas.microsoft.com/office/drawing/2014/main" id="{6FC1D899-91EB-4B16-91A5-3A52836ADBA7}"/>
              </a:ext>
            </a:extLst>
          </p:cNvPr>
          <p:cNvSpPr>
            <a:spLocks noChangeShapeType="1"/>
          </p:cNvSpPr>
          <p:nvPr/>
        </p:nvSpPr>
        <p:spPr bwMode="auto">
          <a:xfrm>
            <a:off x="1457326" y="1295400"/>
            <a:ext cx="2537305" cy="4572000"/>
          </a:xfrm>
          <a:prstGeom prst="line">
            <a:avLst/>
          </a:prstGeom>
          <a:noFill/>
          <a:ln w="38100">
            <a:solidFill>
              <a:schemeClr val="fo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9" name="Rectangle 12">
            <a:extLst>
              <a:ext uri="{FF2B5EF4-FFF2-40B4-BE49-F238E27FC236}">
                <a16:creationId xmlns:a16="http://schemas.microsoft.com/office/drawing/2014/main" id="{4D1D4AE8-7BCD-4487-8E50-1A5E3B276B18}"/>
              </a:ext>
            </a:extLst>
          </p:cNvPr>
          <p:cNvSpPr>
            <a:spLocks noChangeArrowheads="1"/>
          </p:cNvSpPr>
          <p:nvPr/>
        </p:nvSpPr>
        <p:spPr bwMode="auto">
          <a:xfrm>
            <a:off x="2409825" y="3962389"/>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2383BE3A-7DB5-4377-94E0-B00A2C312031}"/>
                  </a:ext>
                </a:extLst>
              </p:cNvPr>
              <p:cNvSpPr/>
              <p:nvPr/>
            </p:nvSpPr>
            <p:spPr>
              <a:xfrm>
                <a:off x="3994631" y="5518709"/>
                <a:ext cx="2254335" cy="5309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800" i="1" smtClean="0">
                              <a:latin typeface="Cambria Math" panose="02040503050406030204" pitchFamily="18" charset="0"/>
                            </a:rPr>
                          </m:ctrlPr>
                        </m:sSupPr>
                        <m:e>
                          <m:r>
                            <a:rPr lang="en-US" sz="2800" b="1">
                              <a:latin typeface="Cambria Math" panose="02040503050406030204" pitchFamily="18" charset="0"/>
                            </a:rPr>
                            <m:t>𝐰</m:t>
                          </m:r>
                        </m:e>
                        <m:sup>
                          <m:r>
                            <m:rPr>
                              <m:sty m:val="p"/>
                            </m:rPr>
                            <a:rPr lang="en-US" sz="2800">
                              <a:latin typeface="Cambria Math" panose="02040503050406030204" pitchFamily="18" charset="0"/>
                            </a:rPr>
                            <m:t>T</m:t>
                          </m:r>
                        </m:sup>
                      </m:sSup>
                      <m:r>
                        <a:rPr lang="en-US" sz="2800" b="1">
                          <a:latin typeface="Cambria Math" panose="02040503050406030204" pitchFamily="18" charset="0"/>
                        </a:rPr>
                        <m:t>𝐱</m:t>
                      </m:r>
                      <m:r>
                        <a:rPr lang="en-US" sz="2800">
                          <a:latin typeface="Cambria Math" panose="02040503050406030204" pitchFamily="18" charset="0"/>
                        </a:rPr>
                        <m:t>+</m:t>
                      </m:r>
                      <m:r>
                        <m:rPr>
                          <m:sty m:val="p"/>
                        </m:rPr>
                        <a:rPr lang="en-US" sz="2800">
                          <a:latin typeface="Cambria Math" panose="02040503050406030204" pitchFamily="18" charset="0"/>
                        </a:rPr>
                        <m:t>b</m:t>
                      </m:r>
                      <m:r>
                        <a:rPr lang="en-US" sz="2800" b="0" i="0" smtClean="0">
                          <a:latin typeface="Cambria Math" panose="02040503050406030204" pitchFamily="18" charset="0"/>
                        </a:rPr>
                        <m:t>=0</m:t>
                      </m:r>
                    </m:oMath>
                  </m:oMathPara>
                </a14:m>
                <a:endParaRPr lang="en-US" sz="2800"/>
              </a:p>
            </p:txBody>
          </p:sp>
        </mc:Choice>
        <mc:Fallback xmlns="">
          <p:sp>
            <p:nvSpPr>
              <p:cNvPr id="3" name="Rectangle 2">
                <a:extLst>
                  <a:ext uri="{FF2B5EF4-FFF2-40B4-BE49-F238E27FC236}">
                    <a16:creationId xmlns:a16="http://schemas.microsoft.com/office/drawing/2014/main" id="{2383BE3A-7DB5-4377-94E0-B00A2C312031}"/>
                  </a:ext>
                </a:extLst>
              </p:cNvPr>
              <p:cNvSpPr>
                <a:spLocks noRot="1" noChangeAspect="1" noMove="1" noResize="1" noEditPoints="1" noAdjustHandles="1" noChangeArrowheads="1" noChangeShapeType="1" noTextEdit="1"/>
              </p:cNvSpPr>
              <p:nvPr/>
            </p:nvSpPr>
            <p:spPr>
              <a:xfrm>
                <a:off x="3994631" y="5518709"/>
                <a:ext cx="2254335" cy="530915"/>
              </a:xfrm>
              <a:prstGeom prst="rect">
                <a:avLst/>
              </a:prstGeom>
              <a:blipFill>
                <a:blip r:embed="rId2"/>
                <a:stretch>
                  <a:fillRect/>
                </a:stretch>
              </a:blipFill>
            </p:spPr>
            <p:txBody>
              <a:bodyPr/>
              <a:lstStyle/>
              <a:p>
                <a:r>
                  <a:rPr lang="en-US">
                    <a:noFill/>
                  </a:rPr>
                  <a:t> </a:t>
                </a:r>
              </a:p>
            </p:txBody>
          </p:sp>
        </mc:Fallback>
      </mc:AlternateContent>
      <p:sp>
        <p:nvSpPr>
          <p:cNvPr id="33" name="Line 28">
            <a:extLst>
              <a:ext uri="{FF2B5EF4-FFF2-40B4-BE49-F238E27FC236}">
                <a16:creationId xmlns:a16="http://schemas.microsoft.com/office/drawing/2014/main" id="{77D6B95A-ECEE-4611-83E7-84FE879432A3}"/>
              </a:ext>
            </a:extLst>
          </p:cNvPr>
          <p:cNvSpPr>
            <a:spLocks noChangeShapeType="1"/>
          </p:cNvSpPr>
          <p:nvPr/>
        </p:nvSpPr>
        <p:spPr bwMode="auto">
          <a:xfrm flipV="1">
            <a:off x="1219199" y="2087572"/>
            <a:ext cx="1913470" cy="1046141"/>
          </a:xfrm>
          <a:prstGeom prst="line">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6F581D20-F59D-426A-841F-FEC1FCEE5F8C}"/>
                  </a:ext>
                </a:extLst>
              </p:cNvPr>
              <p:cNvSpPr/>
              <p:nvPr/>
            </p:nvSpPr>
            <p:spPr>
              <a:xfrm>
                <a:off x="3055278" y="1739556"/>
                <a:ext cx="57419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1">
                          <a:latin typeface="Cambria Math" panose="02040503050406030204" pitchFamily="18" charset="0"/>
                        </a:rPr>
                        <m:t>𝐰</m:t>
                      </m:r>
                    </m:oMath>
                  </m:oMathPara>
                </a14:m>
                <a:endParaRPr lang="en-US" sz="2800"/>
              </a:p>
            </p:txBody>
          </p:sp>
        </mc:Choice>
        <mc:Fallback xmlns="">
          <p:sp>
            <p:nvSpPr>
              <p:cNvPr id="39" name="Rectangle 38">
                <a:extLst>
                  <a:ext uri="{FF2B5EF4-FFF2-40B4-BE49-F238E27FC236}">
                    <a16:creationId xmlns:a16="http://schemas.microsoft.com/office/drawing/2014/main" id="{6F581D20-F59D-426A-841F-FEC1FCEE5F8C}"/>
                  </a:ext>
                </a:extLst>
              </p:cNvPr>
              <p:cNvSpPr>
                <a:spLocks noRot="1" noChangeAspect="1" noMove="1" noResize="1" noEditPoints="1" noAdjustHandles="1" noChangeArrowheads="1" noChangeShapeType="1" noTextEdit="1"/>
              </p:cNvSpPr>
              <p:nvPr/>
            </p:nvSpPr>
            <p:spPr>
              <a:xfrm>
                <a:off x="3055278" y="1739556"/>
                <a:ext cx="574195"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29FB4122-7BE5-42B2-A20E-90FD1CC207BE}"/>
                  </a:ext>
                </a:extLst>
              </p:cNvPr>
              <p:cNvSpPr/>
              <p:nvPr/>
            </p:nvSpPr>
            <p:spPr>
              <a:xfrm>
                <a:off x="3525464" y="2944953"/>
                <a:ext cx="47320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1" i="0" smtClean="0">
                          <a:latin typeface="Cambria Math" panose="02040503050406030204" pitchFamily="18" charset="0"/>
                        </a:rPr>
                        <m:t>𝐱</m:t>
                      </m:r>
                    </m:oMath>
                  </m:oMathPara>
                </a14:m>
                <a:endParaRPr lang="en-US" sz="2800"/>
              </a:p>
            </p:txBody>
          </p:sp>
        </mc:Choice>
        <mc:Fallback xmlns="">
          <p:sp>
            <p:nvSpPr>
              <p:cNvPr id="40" name="Rectangle 39">
                <a:extLst>
                  <a:ext uri="{FF2B5EF4-FFF2-40B4-BE49-F238E27FC236}">
                    <a16:creationId xmlns:a16="http://schemas.microsoft.com/office/drawing/2014/main" id="{29FB4122-7BE5-42B2-A20E-90FD1CC207BE}"/>
                  </a:ext>
                </a:extLst>
              </p:cNvPr>
              <p:cNvSpPr>
                <a:spLocks noRot="1" noChangeAspect="1" noMove="1" noResize="1" noEditPoints="1" noAdjustHandles="1" noChangeArrowheads="1" noChangeShapeType="1" noTextEdit="1"/>
              </p:cNvSpPr>
              <p:nvPr/>
            </p:nvSpPr>
            <p:spPr>
              <a:xfrm>
                <a:off x="3525464" y="2944953"/>
                <a:ext cx="473206" cy="523220"/>
              </a:xfrm>
              <a:prstGeom prst="rect">
                <a:avLst/>
              </a:prstGeom>
              <a:blipFill>
                <a:blip r:embed="rId4"/>
                <a:stretch>
                  <a:fillRect/>
                </a:stretch>
              </a:blipFill>
            </p:spPr>
            <p:txBody>
              <a:bodyPr/>
              <a:lstStyle/>
              <a:p>
                <a:r>
                  <a:rPr lang="en-US">
                    <a:noFill/>
                  </a:rPr>
                  <a:t> </a:t>
                </a:r>
              </a:p>
            </p:txBody>
          </p:sp>
        </mc:Fallback>
      </mc:AlternateContent>
      <p:sp>
        <p:nvSpPr>
          <p:cNvPr id="51" name="Line 28">
            <a:extLst>
              <a:ext uri="{FF2B5EF4-FFF2-40B4-BE49-F238E27FC236}">
                <a16:creationId xmlns:a16="http://schemas.microsoft.com/office/drawing/2014/main" id="{8BE4E0EC-1AA2-4698-AD70-EB662327E94C}"/>
              </a:ext>
            </a:extLst>
          </p:cNvPr>
          <p:cNvSpPr>
            <a:spLocks noChangeShapeType="1"/>
          </p:cNvSpPr>
          <p:nvPr/>
        </p:nvSpPr>
        <p:spPr bwMode="auto">
          <a:xfrm flipV="1">
            <a:off x="2819399" y="3396186"/>
            <a:ext cx="530781" cy="290191"/>
          </a:xfrm>
          <a:prstGeom prst="line">
            <a:avLst/>
          </a:prstGeom>
          <a:noFill/>
          <a:ln w="38100">
            <a:solidFill>
              <a:schemeClr val="tx1"/>
            </a:solidFill>
            <a:miter lim="800000"/>
            <a:headEnd type="stealth"/>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Tree>
    <p:extLst>
      <p:ext uri="{BB962C8B-B14F-4D97-AF65-F5344CB8AC3E}">
        <p14:creationId xmlns:p14="http://schemas.microsoft.com/office/powerpoint/2010/main" val="1510368720"/>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8" name="Straight Connector 47">
            <a:extLst>
              <a:ext uri="{FF2B5EF4-FFF2-40B4-BE49-F238E27FC236}">
                <a16:creationId xmlns:a16="http://schemas.microsoft.com/office/drawing/2014/main" id="{FA558FAE-BD41-407A-9610-AAED34746A98}"/>
              </a:ext>
            </a:extLst>
          </p:cNvPr>
          <p:cNvCxnSpPr>
            <a:cxnSpLocks/>
          </p:cNvCxnSpPr>
          <p:nvPr/>
        </p:nvCxnSpPr>
        <p:spPr>
          <a:xfrm flipH="1">
            <a:off x="2172144" y="2752734"/>
            <a:ext cx="628205" cy="624722"/>
          </a:xfrm>
          <a:prstGeom prst="line">
            <a:avLst/>
          </a:prstGeom>
          <a:ln w="3810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 name="Title 1">
            <a:extLst>
              <a:ext uri="{FF2B5EF4-FFF2-40B4-BE49-F238E27FC236}">
                <a16:creationId xmlns:a16="http://schemas.microsoft.com/office/drawing/2014/main" id="{BF91E580-1D46-42BF-870E-DE4F854CD8D6}"/>
              </a:ext>
            </a:extLst>
          </p:cNvPr>
          <p:cNvSpPr>
            <a:spLocks noGrp="1"/>
          </p:cNvSpPr>
          <p:nvPr>
            <p:ph type="title"/>
          </p:nvPr>
        </p:nvSpPr>
        <p:spPr/>
        <p:txBody>
          <a:bodyPr/>
          <a:lstStyle/>
          <a:p>
            <a:r>
              <a:rPr lang="en-US" altLang="en-US"/>
              <a:t>Two Class – Linear SVM</a:t>
            </a:r>
            <a:endParaRPr lang="en-US"/>
          </a:p>
        </p:txBody>
      </p:sp>
      <mc:AlternateContent xmlns:mc="http://schemas.openxmlformats.org/markup-compatibility/2006" xmlns:a14="http://schemas.microsoft.com/office/drawing/2010/main">
        <mc:Choice Requires="a14">
          <p:sp>
            <p:nvSpPr>
              <p:cNvPr id="30" name="Content Placeholder 29">
                <a:extLst>
                  <a:ext uri="{FF2B5EF4-FFF2-40B4-BE49-F238E27FC236}">
                    <a16:creationId xmlns:a16="http://schemas.microsoft.com/office/drawing/2014/main" id="{41305498-4F2E-4B91-8CC9-2854079DD5E8}"/>
                  </a:ext>
                </a:extLst>
              </p:cNvPr>
              <p:cNvSpPr>
                <a:spLocks noGrp="1"/>
              </p:cNvSpPr>
              <p:nvPr>
                <p:ph sz="half" idx="2"/>
              </p:nvPr>
            </p:nvSpPr>
            <p:spPr/>
            <p:txBody>
              <a:bodyPr/>
              <a:lstStyle/>
              <a:p>
                <a:pPr algn="just"/>
                <a:r>
                  <a:rPr lang="en-US" altLang="en-US"/>
                  <a:t>Distance from véc tơ x</a:t>
                </a:r>
                <a:r>
                  <a:rPr lang="en-US" altLang="en-US" baseline="-25000"/>
                  <a:t>i</a:t>
                </a:r>
                <a:r>
                  <a:rPr lang="en-US" altLang="en-US"/>
                  <a:t> to the separator is </a:t>
                </a:r>
                <a14:m>
                  <m:oMath xmlns:m="http://schemas.openxmlformats.org/officeDocument/2006/math">
                    <m:r>
                      <m:rPr>
                        <m:sty m:val="p"/>
                      </m:rPr>
                      <a:rPr lang="en-US" altLang="en-US" b="0" i="0" smtClean="0">
                        <a:latin typeface="Cambria Math" panose="02040503050406030204" pitchFamily="18" charset="0"/>
                      </a:rPr>
                      <m:t>r</m:t>
                    </m:r>
                    <m:r>
                      <a:rPr lang="en-US" altLang="en-US" b="0" i="0" smtClean="0">
                        <a:latin typeface="Cambria Math" panose="02040503050406030204" pitchFamily="18" charset="0"/>
                      </a:rPr>
                      <m:t>=</m:t>
                    </m:r>
                    <m:f>
                      <m:fPr>
                        <m:ctrlPr>
                          <a:rPr lang="en-US" altLang="en-US" i="1" smtClean="0">
                            <a:latin typeface="Cambria Math" panose="02040503050406030204" pitchFamily="18" charset="0"/>
                          </a:rPr>
                        </m:ctrlPr>
                      </m:fPr>
                      <m:num>
                        <m:sSup>
                          <m:sSupPr>
                            <m:ctrlPr>
                              <a:rPr lang="en-US" altLang="en-US" i="1" smtClean="0">
                                <a:latin typeface="Cambria Math" panose="02040503050406030204" pitchFamily="18" charset="0"/>
                              </a:rPr>
                            </m:ctrlPr>
                          </m:sSupPr>
                          <m:e>
                            <m:r>
                              <a:rPr lang="en-US" altLang="en-US" b="1" i="0">
                                <a:latin typeface="Cambria Math" panose="02040503050406030204" pitchFamily="18" charset="0"/>
                              </a:rPr>
                              <m:t>𝐰</m:t>
                            </m:r>
                          </m:e>
                          <m:sup>
                            <m:r>
                              <m:rPr>
                                <m:sty m:val="p"/>
                              </m:rPr>
                              <a:rPr lang="en-US" altLang="en-US" b="0" i="0" smtClean="0">
                                <a:latin typeface="Cambria Math" panose="02040503050406030204" pitchFamily="18" charset="0"/>
                              </a:rPr>
                              <m:t>T</m:t>
                            </m:r>
                          </m:sup>
                        </m:sSup>
                        <m:sSub>
                          <m:sSubPr>
                            <m:ctrlPr>
                              <a:rPr lang="en-US" altLang="en-US" i="1" smtClean="0">
                                <a:latin typeface="Cambria Math" panose="02040503050406030204" pitchFamily="18" charset="0"/>
                              </a:rPr>
                            </m:ctrlPr>
                          </m:sSubPr>
                          <m:e>
                            <m:r>
                              <a:rPr lang="en-US" altLang="en-US" b="1" i="0" smtClean="0">
                                <a:latin typeface="Cambria Math" panose="02040503050406030204" pitchFamily="18" charset="0"/>
                              </a:rPr>
                              <m:t>𝐱</m:t>
                            </m:r>
                          </m:e>
                          <m:sub>
                            <m:r>
                              <m:rPr>
                                <m:sty m:val="p"/>
                              </m:rPr>
                              <a:rPr lang="en-US" altLang="en-US" b="0" i="0" smtClean="0">
                                <a:latin typeface="Cambria Math" panose="02040503050406030204" pitchFamily="18" charset="0"/>
                              </a:rPr>
                              <m:t>i</m:t>
                            </m:r>
                          </m:sub>
                        </m:sSub>
                        <m:r>
                          <a:rPr lang="en-US" altLang="en-US" b="0" i="0" smtClean="0">
                            <a:latin typeface="Cambria Math" panose="02040503050406030204" pitchFamily="18" charset="0"/>
                          </a:rPr>
                          <m:t>+ </m:t>
                        </m:r>
                        <m:r>
                          <m:rPr>
                            <m:sty m:val="p"/>
                          </m:rPr>
                          <a:rPr lang="en-US" altLang="en-US" b="0" i="0" smtClean="0">
                            <a:latin typeface="Cambria Math" panose="02040503050406030204" pitchFamily="18" charset="0"/>
                          </a:rPr>
                          <m:t>b</m:t>
                        </m:r>
                      </m:num>
                      <m:den>
                        <m:d>
                          <m:dPr>
                            <m:begChr m:val="‖"/>
                            <m:endChr m:val="‖"/>
                            <m:ctrlPr>
                              <a:rPr lang="en-US" altLang="en-US" i="1" smtClean="0">
                                <a:latin typeface="Cambria Math" panose="02040503050406030204" pitchFamily="18" charset="0"/>
                              </a:rPr>
                            </m:ctrlPr>
                          </m:dPr>
                          <m:e>
                            <m:r>
                              <a:rPr lang="en-US" altLang="en-US" b="1" i="0" smtClean="0">
                                <a:latin typeface="Cambria Math" panose="02040503050406030204" pitchFamily="18" charset="0"/>
                              </a:rPr>
                              <m:t>𝐰</m:t>
                            </m:r>
                          </m:e>
                        </m:d>
                      </m:den>
                    </m:f>
                  </m:oMath>
                </a14:m>
                <a:r>
                  <a:rPr lang="en-US" altLang="en-US"/>
                  <a:t>.</a:t>
                </a:r>
              </a:p>
              <a:p>
                <a:pPr algn="just"/>
                <a:r>
                  <a:rPr lang="en-US" altLang="en-US">
                    <a:solidFill>
                      <a:srgbClr val="FF0000"/>
                    </a:solidFill>
                  </a:rPr>
                  <a:t>Khoảng cách từ véc t</a:t>
                </a:r>
                <a:r>
                  <a:rPr lang="vi-VN" altLang="en-US">
                    <a:solidFill>
                      <a:srgbClr val="FF0000"/>
                    </a:solidFill>
                  </a:rPr>
                  <a:t>ơ</a:t>
                </a:r>
                <a:r>
                  <a:rPr lang="en-US" altLang="en-US">
                    <a:solidFill>
                      <a:srgbClr val="FF0000"/>
                    </a:solidFill>
                  </a:rPr>
                  <a:t> </a:t>
                </a:r>
                <a14:m>
                  <m:oMath xmlns:m="http://schemas.openxmlformats.org/officeDocument/2006/math">
                    <m:sSub>
                      <m:sSubPr>
                        <m:ctrlPr>
                          <a:rPr lang="en-US" altLang="en-US" i="1">
                            <a:latin typeface="Cambria Math" panose="02040503050406030204" pitchFamily="18" charset="0"/>
                          </a:rPr>
                        </m:ctrlPr>
                      </m:sSubPr>
                      <m:e>
                        <m:r>
                          <a:rPr lang="en-US" altLang="en-US" b="1">
                            <a:latin typeface="Cambria Math" panose="02040503050406030204" pitchFamily="18" charset="0"/>
                          </a:rPr>
                          <m:t>𝐱</m:t>
                        </m:r>
                      </m:e>
                      <m:sub>
                        <m:r>
                          <m:rPr>
                            <m:sty m:val="p"/>
                          </m:rPr>
                          <a:rPr lang="en-US" altLang="en-US">
                            <a:latin typeface="Cambria Math" panose="02040503050406030204" pitchFamily="18" charset="0"/>
                          </a:rPr>
                          <m:t>i</m:t>
                        </m:r>
                      </m:sub>
                    </m:sSub>
                  </m:oMath>
                </a14:m>
                <a:r>
                  <a:rPr lang="en-US" altLang="en-US">
                    <a:solidFill>
                      <a:srgbClr val="FF0000"/>
                    </a:solidFill>
                  </a:rPr>
                  <a:t> tới siêu phẳng </a:t>
                </a:r>
                <a14:m>
                  <m:oMath xmlns:m="http://schemas.openxmlformats.org/officeDocument/2006/math">
                    <m:sSup>
                      <m:sSupPr>
                        <m:ctrlPr>
                          <a:rPr lang="en-US" altLang="en-US" i="1" smtClean="0">
                            <a:solidFill>
                              <a:srgbClr val="FF0000"/>
                            </a:solidFill>
                            <a:latin typeface="Cambria Math" panose="02040503050406030204" pitchFamily="18" charset="0"/>
                          </a:rPr>
                        </m:ctrlPr>
                      </m:sSupPr>
                      <m:e>
                        <m:r>
                          <m:rPr>
                            <m:sty m:val="p"/>
                          </m:rPr>
                          <a:rPr lang="en-US" altLang="en-US" b="0" i="0" smtClean="0">
                            <a:solidFill>
                              <a:srgbClr val="FF0000"/>
                            </a:solidFill>
                            <a:latin typeface="Cambria Math" panose="02040503050406030204" pitchFamily="18" charset="0"/>
                          </a:rPr>
                          <m:t>w</m:t>
                        </m:r>
                      </m:e>
                      <m:sup>
                        <m:r>
                          <m:rPr>
                            <m:sty m:val="p"/>
                          </m:rPr>
                          <a:rPr lang="en-US" altLang="en-US" b="0" i="0" smtClean="0">
                            <a:solidFill>
                              <a:srgbClr val="FF0000"/>
                            </a:solidFill>
                            <a:latin typeface="Cambria Math" panose="02040503050406030204" pitchFamily="18" charset="0"/>
                          </a:rPr>
                          <m:t>T</m:t>
                        </m:r>
                      </m:sup>
                    </m:sSup>
                    <m:r>
                      <m:rPr>
                        <m:sty m:val="p"/>
                      </m:rPr>
                      <a:rPr lang="en-US" altLang="en-US" b="0" i="0" smtClean="0">
                        <a:solidFill>
                          <a:srgbClr val="FF0000"/>
                        </a:solidFill>
                        <a:latin typeface="Cambria Math" panose="02040503050406030204" pitchFamily="18" charset="0"/>
                      </a:rPr>
                      <m:t>x</m:t>
                    </m:r>
                    <m:r>
                      <a:rPr lang="en-US" altLang="en-US" b="0" i="0" smtClean="0">
                        <a:solidFill>
                          <a:srgbClr val="FF0000"/>
                        </a:solidFill>
                        <a:latin typeface="Cambria Math" panose="02040503050406030204" pitchFamily="18" charset="0"/>
                      </a:rPr>
                      <m:t>+</m:t>
                    </m:r>
                    <m:r>
                      <m:rPr>
                        <m:sty m:val="p"/>
                      </m:rPr>
                      <a:rPr lang="en-US" altLang="en-US" b="0" i="0" smtClean="0">
                        <a:solidFill>
                          <a:srgbClr val="FF0000"/>
                        </a:solidFill>
                        <a:latin typeface="Cambria Math" panose="02040503050406030204" pitchFamily="18" charset="0"/>
                      </a:rPr>
                      <m:t>b</m:t>
                    </m:r>
                    <m:r>
                      <a:rPr lang="en-US" altLang="en-US" b="0" i="1" smtClean="0">
                        <a:solidFill>
                          <a:srgbClr val="FF0000"/>
                        </a:solidFill>
                        <a:latin typeface="Cambria Math" panose="02040503050406030204" pitchFamily="18" charset="0"/>
                      </a:rPr>
                      <m:t>=0</m:t>
                    </m:r>
                  </m:oMath>
                </a14:m>
                <a:r>
                  <a:rPr lang="en-US" altLang="en-US">
                    <a:solidFill>
                      <a:srgbClr val="FF0000"/>
                    </a:solidFill>
                  </a:rPr>
                  <a:t> là </a:t>
                </a:r>
                <a14:m>
                  <m:oMath xmlns:m="http://schemas.openxmlformats.org/officeDocument/2006/math">
                    <m:r>
                      <m:rPr>
                        <m:sty m:val="p"/>
                      </m:rPr>
                      <a:rPr lang="en-US" altLang="en-US">
                        <a:latin typeface="Cambria Math" panose="02040503050406030204" pitchFamily="18" charset="0"/>
                      </a:rPr>
                      <m:t>r</m:t>
                    </m:r>
                    <m:r>
                      <a:rPr lang="en-US" altLang="en-US">
                        <a:latin typeface="Cambria Math" panose="02040503050406030204" pitchFamily="18" charset="0"/>
                      </a:rPr>
                      <m:t>=</m:t>
                    </m:r>
                    <m:f>
                      <m:fPr>
                        <m:ctrlPr>
                          <a:rPr lang="en-US" altLang="en-US" i="1">
                            <a:latin typeface="Cambria Math" panose="02040503050406030204" pitchFamily="18" charset="0"/>
                          </a:rPr>
                        </m:ctrlPr>
                      </m:fPr>
                      <m:num>
                        <m:sSup>
                          <m:sSupPr>
                            <m:ctrlPr>
                              <a:rPr lang="en-US" altLang="en-US" i="1">
                                <a:latin typeface="Cambria Math" panose="02040503050406030204" pitchFamily="18" charset="0"/>
                              </a:rPr>
                            </m:ctrlPr>
                          </m:sSupPr>
                          <m:e>
                            <m:r>
                              <a:rPr lang="en-US" altLang="en-US" b="1">
                                <a:latin typeface="Cambria Math" panose="02040503050406030204" pitchFamily="18" charset="0"/>
                              </a:rPr>
                              <m:t>𝐰</m:t>
                            </m:r>
                          </m:e>
                          <m:sup>
                            <m:r>
                              <m:rPr>
                                <m:sty m:val="p"/>
                              </m:rPr>
                              <a:rPr lang="en-US" altLang="en-US">
                                <a:latin typeface="Cambria Math" panose="02040503050406030204" pitchFamily="18" charset="0"/>
                              </a:rPr>
                              <m:t>T</m:t>
                            </m:r>
                          </m:sup>
                        </m:sSup>
                        <m:sSub>
                          <m:sSubPr>
                            <m:ctrlPr>
                              <a:rPr lang="en-US" altLang="en-US" i="1">
                                <a:latin typeface="Cambria Math" panose="02040503050406030204" pitchFamily="18" charset="0"/>
                              </a:rPr>
                            </m:ctrlPr>
                          </m:sSubPr>
                          <m:e>
                            <m:r>
                              <a:rPr lang="en-US" altLang="en-US" b="1">
                                <a:latin typeface="Cambria Math" panose="02040503050406030204" pitchFamily="18" charset="0"/>
                              </a:rPr>
                              <m:t>𝐱</m:t>
                            </m:r>
                          </m:e>
                          <m:sub>
                            <m:r>
                              <m:rPr>
                                <m:sty m:val="p"/>
                              </m:rPr>
                              <a:rPr lang="en-US" altLang="en-US">
                                <a:latin typeface="Cambria Math" panose="02040503050406030204" pitchFamily="18" charset="0"/>
                              </a:rPr>
                              <m:t>i</m:t>
                            </m:r>
                          </m:sub>
                        </m:sSub>
                        <m:r>
                          <a:rPr lang="en-US" altLang="en-US">
                            <a:latin typeface="Cambria Math" panose="02040503050406030204" pitchFamily="18" charset="0"/>
                          </a:rPr>
                          <m:t>+ </m:t>
                        </m:r>
                        <m:r>
                          <m:rPr>
                            <m:sty m:val="p"/>
                          </m:rPr>
                          <a:rPr lang="en-US" altLang="en-US">
                            <a:latin typeface="Cambria Math" panose="02040503050406030204" pitchFamily="18" charset="0"/>
                          </a:rPr>
                          <m:t>b</m:t>
                        </m:r>
                      </m:num>
                      <m:den>
                        <m:d>
                          <m:dPr>
                            <m:begChr m:val="‖"/>
                            <m:endChr m:val="‖"/>
                            <m:ctrlPr>
                              <a:rPr lang="en-US" altLang="en-US" i="1">
                                <a:latin typeface="Cambria Math" panose="02040503050406030204" pitchFamily="18" charset="0"/>
                              </a:rPr>
                            </m:ctrlPr>
                          </m:dPr>
                          <m:e>
                            <m:r>
                              <a:rPr lang="en-US" altLang="en-US" b="1">
                                <a:latin typeface="Cambria Math" panose="02040503050406030204" pitchFamily="18" charset="0"/>
                              </a:rPr>
                              <m:t>𝐰</m:t>
                            </m:r>
                          </m:e>
                        </m:d>
                      </m:den>
                    </m:f>
                  </m:oMath>
                </a14:m>
                <a:r>
                  <a:rPr lang="en-US" altLang="en-US">
                    <a:solidFill>
                      <a:srgbClr val="FF0000"/>
                    </a:solidFill>
                  </a:rPr>
                  <a:t>.</a:t>
                </a:r>
              </a:p>
            </p:txBody>
          </p:sp>
        </mc:Choice>
        <mc:Fallback xmlns="">
          <p:sp>
            <p:nvSpPr>
              <p:cNvPr id="30" name="Content Placeholder 29">
                <a:extLst>
                  <a:ext uri="{FF2B5EF4-FFF2-40B4-BE49-F238E27FC236}">
                    <a16:creationId xmlns:a16="http://schemas.microsoft.com/office/drawing/2014/main" id="{41305498-4F2E-4B91-8CC9-2854079DD5E8}"/>
                  </a:ext>
                </a:extLst>
              </p:cNvPr>
              <p:cNvSpPr>
                <a:spLocks noGrp="1" noRot="1" noChangeAspect="1" noMove="1" noResize="1" noEditPoints="1" noAdjustHandles="1" noChangeArrowheads="1" noChangeShapeType="1" noTextEdit="1"/>
              </p:cNvSpPr>
              <p:nvPr>
                <p:ph sz="half" idx="2"/>
              </p:nvPr>
            </p:nvSpPr>
            <p:spPr>
              <a:blipFill>
                <a:blip r:embed="rId2"/>
                <a:stretch>
                  <a:fillRect l="-2039" t="-1482" r="-2265"/>
                </a:stretch>
              </a:blipFill>
            </p:spPr>
            <p:txBody>
              <a:bodyPr/>
              <a:lstStyle/>
              <a:p>
                <a:r>
                  <a:rPr lang="en-US">
                    <a:noFill/>
                  </a:rPr>
                  <a:t> </a:t>
                </a:r>
              </a:p>
            </p:txBody>
          </p:sp>
        </mc:Fallback>
      </mc:AlternateContent>
      <p:sp>
        <p:nvSpPr>
          <p:cNvPr id="3" name="Line 4">
            <a:extLst>
              <a:ext uri="{FF2B5EF4-FFF2-40B4-BE49-F238E27FC236}">
                <a16:creationId xmlns:a16="http://schemas.microsoft.com/office/drawing/2014/main" id="{1D59E12E-0A99-406A-B700-36214FC6E09D}"/>
              </a:ext>
            </a:extLst>
          </p:cNvPr>
          <p:cNvSpPr>
            <a:spLocks noChangeShapeType="1"/>
          </p:cNvSpPr>
          <p:nvPr/>
        </p:nvSpPr>
        <p:spPr bwMode="auto">
          <a:xfrm flipV="1">
            <a:off x="695325" y="1682750"/>
            <a:ext cx="0" cy="3581400"/>
          </a:xfrm>
          <a:prstGeom prst="line">
            <a:avLst/>
          </a:prstGeom>
          <a:noFill/>
          <a:ln w="38100">
            <a:solidFill>
              <a:schemeClr val="tx1"/>
            </a:solidFill>
            <a:miter lim="800000"/>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 name="Line 5">
            <a:extLst>
              <a:ext uri="{FF2B5EF4-FFF2-40B4-BE49-F238E27FC236}">
                <a16:creationId xmlns:a16="http://schemas.microsoft.com/office/drawing/2014/main" id="{5A8CF049-19F9-4985-8E78-3F9EF6F62CDB}"/>
              </a:ext>
            </a:extLst>
          </p:cNvPr>
          <p:cNvSpPr>
            <a:spLocks noChangeShapeType="1"/>
          </p:cNvSpPr>
          <p:nvPr/>
        </p:nvSpPr>
        <p:spPr bwMode="auto">
          <a:xfrm flipV="1">
            <a:off x="685800" y="5254625"/>
            <a:ext cx="4648200" cy="0"/>
          </a:xfrm>
          <a:prstGeom prst="line">
            <a:avLst/>
          </a:prstGeom>
          <a:noFill/>
          <a:ln w="38100">
            <a:solidFill>
              <a:schemeClr val="tx1"/>
            </a:solidFill>
            <a:miter lim="800000"/>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 name="Oval 6">
            <a:extLst>
              <a:ext uri="{FF2B5EF4-FFF2-40B4-BE49-F238E27FC236}">
                <a16:creationId xmlns:a16="http://schemas.microsoft.com/office/drawing/2014/main" id="{16B11EFC-0FBE-415A-B16A-0CD2D5ED27DF}"/>
              </a:ext>
            </a:extLst>
          </p:cNvPr>
          <p:cNvSpPr>
            <a:spLocks noChangeArrowheads="1"/>
          </p:cNvSpPr>
          <p:nvPr/>
        </p:nvSpPr>
        <p:spPr bwMode="auto">
          <a:xfrm>
            <a:off x="2743200" y="2663825"/>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Oval 7">
            <a:extLst>
              <a:ext uri="{FF2B5EF4-FFF2-40B4-BE49-F238E27FC236}">
                <a16:creationId xmlns:a16="http://schemas.microsoft.com/office/drawing/2014/main" id="{ADFDEEB9-F5C2-42A6-BF28-5672779085C3}"/>
              </a:ext>
            </a:extLst>
          </p:cNvPr>
          <p:cNvSpPr>
            <a:spLocks noChangeArrowheads="1"/>
          </p:cNvSpPr>
          <p:nvPr/>
        </p:nvSpPr>
        <p:spPr bwMode="auto">
          <a:xfrm>
            <a:off x="2971800" y="3273425"/>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Oval 8">
            <a:extLst>
              <a:ext uri="{FF2B5EF4-FFF2-40B4-BE49-F238E27FC236}">
                <a16:creationId xmlns:a16="http://schemas.microsoft.com/office/drawing/2014/main" id="{540BFB6C-D1F8-4806-B2C7-D8883EF303CA}"/>
              </a:ext>
            </a:extLst>
          </p:cNvPr>
          <p:cNvSpPr>
            <a:spLocks noChangeArrowheads="1"/>
          </p:cNvSpPr>
          <p:nvPr/>
        </p:nvSpPr>
        <p:spPr bwMode="auto">
          <a:xfrm>
            <a:off x="3810000" y="3502025"/>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Oval 9">
            <a:extLst>
              <a:ext uri="{FF2B5EF4-FFF2-40B4-BE49-F238E27FC236}">
                <a16:creationId xmlns:a16="http://schemas.microsoft.com/office/drawing/2014/main" id="{257D9B57-CC14-43DC-A83C-62BD19FE5F90}"/>
              </a:ext>
            </a:extLst>
          </p:cNvPr>
          <p:cNvSpPr>
            <a:spLocks noChangeArrowheads="1"/>
          </p:cNvSpPr>
          <p:nvPr/>
        </p:nvSpPr>
        <p:spPr bwMode="auto">
          <a:xfrm>
            <a:off x="2286000" y="2816225"/>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Oval 10">
            <a:extLst>
              <a:ext uri="{FF2B5EF4-FFF2-40B4-BE49-F238E27FC236}">
                <a16:creationId xmlns:a16="http://schemas.microsoft.com/office/drawing/2014/main" id="{4D459E55-3E26-4E9E-88DE-A27F30A52187}"/>
              </a:ext>
            </a:extLst>
          </p:cNvPr>
          <p:cNvSpPr>
            <a:spLocks noChangeArrowheads="1"/>
          </p:cNvSpPr>
          <p:nvPr/>
        </p:nvSpPr>
        <p:spPr bwMode="auto">
          <a:xfrm>
            <a:off x="3276600" y="3806825"/>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Rectangle 11">
            <a:extLst>
              <a:ext uri="{FF2B5EF4-FFF2-40B4-BE49-F238E27FC236}">
                <a16:creationId xmlns:a16="http://schemas.microsoft.com/office/drawing/2014/main" id="{51E8E650-D166-4291-B1F1-F4254D351914}"/>
              </a:ext>
            </a:extLst>
          </p:cNvPr>
          <p:cNvSpPr>
            <a:spLocks noChangeArrowheads="1"/>
          </p:cNvSpPr>
          <p:nvPr/>
        </p:nvSpPr>
        <p:spPr bwMode="auto">
          <a:xfrm>
            <a:off x="990600" y="3730625"/>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Rectangle 12">
            <a:extLst>
              <a:ext uri="{FF2B5EF4-FFF2-40B4-BE49-F238E27FC236}">
                <a16:creationId xmlns:a16="http://schemas.microsoft.com/office/drawing/2014/main" id="{86C137AD-D90D-4915-952E-0C0EB06E2A29}"/>
              </a:ext>
            </a:extLst>
          </p:cNvPr>
          <p:cNvSpPr>
            <a:spLocks noChangeArrowheads="1"/>
          </p:cNvSpPr>
          <p:nvPr/>
        </p:nvSpPr>
        <p:spPr bwMode="auto">
          <a:xfrm>
            <a:off x="2209800" y="4187825"/>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Rectangle 13">
            <a:extLst>
              <a:ext uri="{FF2B5EF4-FFF2-40B4-BE49-F238E27FC236}">
                <a16:creationId xmlns:a16="http://schemas.microsoft.com/office/drawing/2014/main" id="{39CD0813-7E8B-49C4-A2D1-182AFF1DADD7}"/>
              </a:ext>
            </a:extLst>
          </p:cNvPr>
          <p:cNvSpPr>
            <a:spLocks noChangeArrowheads="1"/>
          </p:cNvSpPr>
          <p:nvPr/>
        </p:nvSpPr>
        <p:spPr bwMode="auto">
          <a:xfrm>
            <a:off x="2057400" y="4645025"/>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Rectangle 14">
            <a:extLst>
              <a:ext uri="{FF2B5EF4-FFF2-40B4-BE49-F238E27FC236}">
                <a16:creationId xmlns:a16="http://schemas.microsoft.com/office/drawing/2014/main" id="{3288D920-6FE0-4A7E-960C-E7D9E6CD1877}"/>
              </a:ext>
            </a:extLst>
          </p:cNvPr>
          <p:cNvSpPr>
            <a:spLocks noChangeArrowheads="1"/>
          </p:cNvSpPr>
          <p:nvPr/>
        </p:nvSpPr>
        <p:spPr bwMode="auto">
          <a:xfrm>
            <a:off x="1447800" y="4187825"/>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Rectangle 15">
            <a:extLst>
              <a:ext uri="{FF2B5EF4-FFF2-40B4-BE49-F238E27FC236}">
                <a16:creationId xmlns:a16="http://schemas.microsoft.com/office/drawing/2014/main" id="{163A132E-2933-4FB3-96F4-381BD979201C}"/>
              </a:ext>
            </a:extLst>
          </p:cNvPr>
          <p:cNvSpPr>
            <a:spLocks noChangeArrowheads="1"/>
          </p:cNvSpPr>
          <p:nvPr/>
        </p:nvSpPr>
        <p:spPr bwMode="auto">
          <a:xfrm>
            <a:off x="1143000" y="4568825"/>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Rectangle 16">
            <a:extLst>
              <a:ext uri="{FF2B5EF4-FFF2-40B4-BE49-F238E27FC236}">
                <a16:creationId xmlns:a16="http://schemas.microsoft.com/office/drawing/2014/main" id="{F59D5F24-F229-4C4A-93FA-50A850069472}"/>
              </a:ext>
            </a:extLst>
          </p:cNvPr>
          <p:cNvSpPr>
            <a:spLocks noChangeArrowheads="1"/>
          </p:cNvSpPr>
          <p:nvPr/>
        </p:nvSpPr>
        <p:spPr bwMode="auto">
          <a:xfrm>
            <a:off x="1295400" y="3425825"/>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Text Box 17">
            <a:extLst>
              <a:ext uri="{FF2B5EF4-FFF2-40B4-BE49-F238E27FC236}">
                <a16:creationId xmlns:a16="http://schemas.microsoft.com/office/drawing/2014/main" id="{A411E530-EC3D-4591-828A-350DA6A925FC}"/>
              </a:ext>
            </a:extLst>
          </p:cNvPr>
          <p:cNvSpPr txBox="1">
            <a:spLocks noChangeArrowheads="1"/>
          </p:cNvSpPr>
          <p:nvPr/>
        </p:nvSpPr>
        <p:spPr bwMode="auto">
          <a:xfrm>
            <a:off x="990600" y="4770438"/>
            <a:ext cx="13003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800">
                <a:latin typeface="Tahoma" panose="020B0604030504040204" pitchFamily="34" charset="0"/>
              </a:rPr>
              <a:t>Class 1</a:t>
            </a:r>
          </a:p>
        </p:txBody>
      </p:sp>
      <p:sp>
        <p:nvSpPr>
          <p:cNvPr id="17" name="Text Box 18">
            <a:extLst>
              <a:ext uri="{FF2B5EF4-FFF2-40B4-BE49-F238E27FC236}">
                <a16:creationId xmlns:a16="http://schemas.microsoft.com/office/drawing/2014/main" id="{2C12ECF5-4C4A-4B01-BD94-526AAAD817CD}"/>
              </a:ext>
            </a:extLst>
          </p:cNvPr>
          <p:cNvSpPr txBox="1">
            <a:spLocks noChangeArrowheads="1"/>
          </p:cNvSpPr>
          <p:nvPr/>
        </p:nvSpPr>
        <p:spPr bwMode="auto">
          <a:xfrm>
            <a:off x="3429000" y="3578225"/>
            <a:ext cx="13003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800">
                <a:latin typeface="Tahoma" panose="020B0604030504040204" pitchFamily="34" charset="0"/>
              </a:rPr>
              <a:t>Class 2</a:t>
            </a:r>
          </a:p>
        </p:txBody>
      </p:sp>
      <p:sp>
        <p:nvSpPr>
          <p:cNvPr id="18" name="Line 19">
            <a:extLst>
              <a:ext uri="{FF2B5EF4-FFF2-40B4-BE49-F238E27FC236}">
                <a16:creationId xmlns:a16="http://schemas.microsoft.com/office/drawing/2014/main" id="{CF529CCD-04A6-45E1-8B0C-5EEA2E02F34F}"/>
              </a:ext>
            </a:extLst>
          </p:cNvPr>
          <p:cNvSpPr>
            <a:spLocks noChangeShapeType="1"/>
          </p:cNvSpPr>
          <p:nvPr/>
        </p:nvSpPr>
        <p:spPr bwMode="auto">
          <a:xfrm>
            <a:off x="1752600" y="2282825"/>
            <a:ext cx="2514600" cy="2514600"/>
          </a:xfrm>
          <a:prstGeom prst="line">
            <a:avLst/>
          </a:prstGeom>
          <a:noFill/>
          <a:ln w="38100">
            <a:solidFill>
              <a:schemeClr val="folHlink"/>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 name="Line 20">
            <a:extLst>
              <a:ext uri="{FF2B5EF4-FFF2-40B4-BE49-F238E27FC236}">
                <a16:creationId xmlns:a16="http://schemas.microsoft.com/office/drawing/2014/main" id="{7C7CA8CA-A50C-4C59-AB00-1C6AB2A17788}"/>
              </a:ext>
            </a:extLst>
          </p:cNvPr>
          <p:cNvSpPr>
            <a:spLocks noChangeShapeType="1"/>
          </p:cNvSpPr>
          <p:nvPr/>
        </p:nvSpPr>
        <p:spPr bwMode="auto">
          <a:xfrm>
            <a:off x="762000" y="2663825"/>
            <a:ext cx="2971800" cy="2971800"/>
          </a:xfrm>
          <a:prstGeom prst="line">
            <a:avLst/>
          </a:prstGeom>
          <a:noFill/>
          <a:ln w="38100">
            <a:solidFill>
              <a:schemeClr val="folHlink"/>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0" name="Line 21">
            <a:extLst>
              <a:ext uri="{FF2B5EF4-FFF2-40B4-BE49-F238E27FC236}">
                <a16:creationId xmlns:a16="http://schemas.microsoft.com/office/drawing/2014/main" id="{457E4896-CA33-4B02-BA2C-661E214C8954}"/>
              </a:ext>
            </a:extLst>
          </p:cNvPr>
          <p:cNvSpPr>
            <a:spLocks noChangeShapeType="1"/>
          </p:cNvSpPr>
          <p:nvPr/>
        </p:nvSpPr>
        <p:spPr bwMode="auto">
          <a:xfrm>
            <a:off x="348320" y="1564344"/>
            <a:ext cx="4071280" cy="4071273"/>
          </a:xfrm>
          <a:prstGeom prst="line">
            <a:avLst/>
          </a:prstGeom>
          <a:noFill/>
          <a:ln w="38100">
            <a:solidFill>
              <a:schemeClr val="fo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3" name="Rectangle 32">
            <a:extLst>
              <a:ext uri="{FF2B5EF4-FFF2-40B4-BE49-F238E27FC236}">
                <a16:creationId xmlns:a16="http://schemas.microsoft.com/office/drawing/2014/main" id="{65E66E94-C6B7-48B9-ADFC-0E5FEB5DC960}"/>
              </a:ext>
            </a:extLst>
          </p:cNvPr>
          <p:cNvSpPr/>
          <p:nvPr/>
        </p:nvSpPr>
        <p:spPr>
          <a:xfrm>
            <a:off x="678044" y="1852475"/>
            <a:ext cx="1705916" cy="523220"/>
          </a:xfrm>
          <a:prstGeom prst="rect">
            <a:avLst/>
          </a:prstGeom>
        </p:spPr>
        <p:txBody>
          <a:bodyPr wrap="none">
            <a:spAutoFit/>
          </a:bodyPr>
          <a:lstStyle/>
          <a:p>
            <a:r>
              <a:rPr lang="en-US" altLang="en-US" sz="2800">
                <a:solidFill>
                  <a:srgbClr val="0066FF"/>
                </a:solidFill>
              </a:rPr>
              <a:t>separator</a:t>
            </a:r>
            <a:endParaRPr lang="en-US" sz="2800">
              <a:solidFill>
                <a:srgbClr val="0066FF"/>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3C7FFD9E-3B94-409E-87D5-C22E51D415AF}"/>
                  </a:ext>
                </a:extLst>
              </p:cNvPr>
              <p:cNvSpPr txBox="1"/>
              <p:nvPr/>
            </p:nvSpPr>
            <p:spPr>
              <a:xfrm>
                <a:off x="3451439" y="5563032"/>
                <a:ext cx="2069669" cy="4385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800" i="1" smtClean="0">
                              <a:latin typeface="Cambria Math" panose="02040503050406030204" pitchFamily="18" charset="0"/>
                            </a:rPr>
                          </m:ctrlPr>
                        </m:sSupPr>
                        <m:e>
                          <m:r>
                            <a:rPr lang="en-US" sz="2800" b="1" i="0" smtClean="0">
                              <a:latin typeface="Cambria Math" panose="02040503050406030204" pitchFamily="18" charset="0"/>
                            </a:rPr>
                            <m:t>𝐰</m:t>
                          </m:r>
                        </m:e>
                        <m:sup>
                          <m:r>
                            <m:rPr>
                              <m:sty m:val="p"/>
                            </m:rPr>
                            <a:rPr lang="en-US" sz="2800" b="0" i="0" smtClean="0">
                              <a:latin typeface="Cambria Math" panose="02040503050406030204" pitchFamily="18" charset="0"/>
                            </a:rPr>
                            <m:t>T</m:t>
                          </m:r>
                        </m:sup>
                      </m:sSup>
                      <m:r>
                        <a:rPr lang="en-US" sz="2800" b="1" i="0" smtClean="0">
                          <a:latin typeface="Cambria Math" panose="02040503050406030204" pitchFamily="18" charset="0"/>
                        </a:rPr>
                        <m:t>𝐱</m:t>
                      </m:r>
                      <m:r>
                        <a:rPr lang="en-US" sz="2800" b="0" i="0" smtClean="0">
                          <a:latin typeface="Cambria Math" panose="02040503050406030204" pitchFamily="18" charset="0"/>
                        </a:rPr>
                        <m:t>+</m:t>
                      </m:r>
                      <m:r>
                        <m:rPr>
                          <m:sty m:val="p"/>
                        </m:rPr>
                        <a:rPr lang="en-US" sz="2800" b="0" i="0" smtClean="0">
                          <a:latin typeface="Cambria Math" panose="02040503050406030204" pitchFamily="18" charset="0"/>
                        </a:rPr>
                        <m:t>b</m:t>
                      </m:r>
                      <m:r>
                        <a:rPr lang="en-US" sz="2800" b="0" i="0" smtClean="0">
                          <a:latin typeface="Cambria Math" panose="02040503050406030204" pitchFamily="18" charset="0"/>
                        </a:rPr>
                        <m:t>=0</m:t>
                      </m:r>
                    </m:oMath>
                  </m:oMathPara>
                </a14:m>
                <a:endParaRPr lang="en-US" sz="2800"/>
              </a:p>
            </p:txBody>
          </p:sp>
        </mc:Choice>
        <mc:Fallback xmlns="">
          <p:sp>
            <p:nvSpPr>
              <p:cNvPr id="34" name="TextBox 33">
                <a:extLst>
                  <a:ext uri="{FF2B5EF4-FFF2-40B4-BE49-F238E27FC236}">
                    <a16:creationId xmlns:a16="http://schemas.microsoft.com/office/drawing/2014/main" id="{3C7FFD9E-3B94-409E-87D5-C22E51D415AF}"/>
                  </a:ext>
                </a:extLst>
              </p:cNvPr>
              <p:cNvSpPr txBox="1">
                <a:spLocks noRot="1" noChangeAspect="1" noMove="1" noResize="1" noEditPoints="1" noAdjustHandles="1" noChangeArrowheads="1" noChangeShapeType="1" noTextEdit="1"/>
              </p:cNvSpPr>
              <p:nvPr/>
            </p:nvSpPr>
            <p:spPr>
              <a:xfrm>
                <a:off x="3451439" y="5563032"/>
                <a:ext cx="2069669" cy="43858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CA33A16-E89F-4FBA-AFF5-C1142838F416}"/>
                  </a:ext>
                </a:extLst>
              </p:cNvPr>
              <p:cNvSpPr txBox="1"/>
              <p:nvPr/>
            </p:nvSpPr>
            <p:spPr>
              <a:xfrm>
                <a:off x="3124200" y="2304618"/>
                <a:ext cx="2071273" cy="4385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800" i="1" smtClean="0">
                              <a:latin typeface="Cambria Math" panose="02040503050406030204" pitchFamily="18" charset="0"/>
                            </a:rPr>
                          </m:ctrlPr>
                        </m:sSupPr>
                        <m:e>
                          <m:r>
                            <a:rPr lang="en-US" sz="2800" b="1" i="0" smtClean="0">
                              <a:latin typeface="Cambria Math" panose="02040503050406030204" pitchFamily="18" charset="0"/>
                            </a:rPr>
                            <m:t>𝐰</m:t>
                          </m:r>
                        </m:e>
                        <m:sup>
                          <m:r>
                            <m:rPr>
                              <m:sty m:val="p"/>
                            </m:rPr>
                            <a:rPr lang="en-US" sz="2800" b="0" i="0" smtClean="0">
                              <a:latin typeface="Cambria Math" panose="02040503050406030204" pitchFamily="18" charset="0"/>
                            </a:rPr>
                            <m:t>T</m:t>
                          </m:r>
                        </m:sup>
                      </m:sSup>
                      <m:r>
                        <a:rPr lang="en-US" sz="2800" b="1" i="0" smtClean="0">
                          <a:latin typeface="Cambria Math" panose="02040503050406030204" pitchFamily="18" charset="0"/>
                        </a:rPr>
                        <m:t>𝐱</m:t>
                      </m:r>
                      <m:r>
                        <a:rPr lang="en-US" sz="2800" b="0" i="0" smtClean="0">
                          <a:latin typeface="Cambria Math" panose="02040503050406030204" pitchFamily="18" charset="0"/>
                        </a:rPr>
                        <m:t>+</m:t>
                      </m:r>
                      <m:r>
                        <m:rPr>
                          <m:sty m:val="p"/>
                        </m:rPr>
                        <a:rPr lang="en-US" sz="2800" b="0" i="0" smtClean="0">
                          <a:latin typeface="Cambria Math" panose="02040503050406030204" pitchFamily="18" charset="0"/>
                        </a:rPr>
                        <m:t>b</m:t>
                      </m:r>
                      <m:r>
                        <a:rPr lang="en-US" sz="2800" b="0" i="0" smtClean="0">
                          <a:latin typeface="Cambria Math" panose="02040503050406030204" pitchFamily="18" charset="0"/>
                        </a:rPr>
                        <m:t>&gt;0</m:t>
                      </m:r>
                    </m:oMath>
                  </m:oMathPara>
                </a14:m>
                <a:endParaRPr lang="en-US" sz="2800"/>
              </a:p>
            </p:txBody>
          </p:sp>
        </mc:Choice>
        <mc:Fallback xmlns="">
          <p:sp>
            <p:nvSpPr>
              <p:cNvPr id="35" name="TextBox 34">
                <a:extLst>
                  <a:ext uri="{FF2B5EF4-FFF2-40B4-BE49-F238E27FC236}">
                    <a16:creationId xmlns:a16="http://schemas.microsoft.com/office/drawing/2014/main" id="{BCA33A16-E89F-4FBA-AFF5-C1142838F416}"/>
                  </a:ext>
                </a:extLst>
              </p:cNvPr>
              <p:cNvSpPr txBox="1">
                <a:spLocks noRot="1" noChangeAspect="1" noMove="1" noResize="1" noEditPoints="1" noAdjustHandles="1" noChangeArrowheads="1" noChangeShapeType="1" noTextEdit="1"/>
              </p:cNvSpPr>
              <p:nvPr/>
            </p:nvSpPr>
            <p:spPr>
              <a:xfrm>
                <a:off x="3124200" y="2304618"/>
                <a:ext cx="2071273" cy="43858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2DEC701-1752-436D-A33D-A8BF774CB6A1}"/>
                  </a:ext>
                </a:extLst>
              </p:cNvPr>
              <p:cNvSpPr txBox="1"/>
              <p:nvPr/>
            </p:nvSpPr>
            <p:spPr>
              <a:xfrm>
                <a:off x="742950" y="5286375"/>
                <a:ext cx="2071273" cy="4385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800" i="1" smtClean="0">
                              <a:latin typeface="Cambria Math" panose="02040503050406030204" pitchFamily="18" charset="0"/>
                            </a:rPr>
                          </m:ctrlPr>
                        </m:sSupPr>
                        <m:e>
                          <m:r>
                            <a:rPr lang="en-US" sz="2800" b="1" i="0" smtClean="0">
                              <a:latin typeface="Cambria Math" panose="02040503050406030204" pitchFamily="18" charset="0"/>
                            </a:rPr>
                            <m:t>𝐰</m:t>
                          </m:r>
                        </m:e>
                        <m:sup>
                          <m:r>
                            <m:rPr>
                              <m:sty m:val="p"/>
                            </m:rPr>
                            <a:rPr lang="en-US" sz="2800" b="0" i="0" smtClean="0">
                              <a:latin typeface="Cambria Math" panose="02040503050406030204" pitchFamily="18" charset="0"/>
                            </a:rPr>
                            <m:t>T</m:t>
                          </m:r>
                        </m:sup>
                      </m:sSup>
                      <m:r>
                        <a:rPr lang="en-US" sz="2800" b="1" i="0" smtClean="0">
                          <a:latin typeface="Cambria Math" panose="02040503050406030204" pitchFamily="18" charset="0"/>
                        </a:rPr>
                        <m:t>𝐱</m:t>
                      </m:r>
                      <m:r>
                        <a:rPr lang="en-US" sz="2800" b="0" i="0" smtClean="0">
                          <a:latin typeface="Cambria Math" panose="02040503050406030204" pitchFamily="18" charset="0"/>
                        </a:rPr>
                        <m:t>+</m:t>
                      </m:r>
                      <m:r>
                        <m:rPr>
                          <m:sty m:val="p"/>
                        </m:rPr>
                        <a:rPr lang="en-US" sz="2800" b="0" i="0" smtClean="0">
                          <a:latin typeface="Cambria Math" panose="02040503050406030204" pitchFamily="18" charset="0"/>
                        </a:rPr>
                        <m:t>b</m:t>
                      </m:r>
                      <m:r>
                        <a:rPr lang="en-US" sz="2800" b="0" i="0" smtClean="0">
                          <a:latin typeface="Cambria Math" panose="02040503050406030204" pitchFamily="18" charset="0"/>
                        </a:rPr>
                        <m:t>&lt;0</m:t>
                      </m:r>
                    </m:oMath>
                  </m:oMathPara>
                </a14:m>
                <a:endParaRPr lang="en-US" sz="2800"/>
              </a:p>
            </p:txBody>
          </p:sp>
        </mc:Choice>
        <mc:Fallback xmlns="">
          <p:sp>
            <p:nvSpPr>
              <p:cNvPr id="36" name="TextBox 35">
                <a:extLst>
                  <a:ext uri="{FF2B5EF4-FFF2-40B4-BE49-F238E27FC236}">
                    <a16:creationId xmlns:a16="http://schemas.microsoft.com/office/drawing/2014/main" id="{82DEC701-1752-436D-A33D-A8BF774CB6A1}"/>
                  </a:ext>
                </a:extLst>
              </p:cNvPr>
              <p:cNvSpPr txBox="1">
                <a:spLocks noRot="1" noChangeAspect="1" noMove="1" noResize="1" noEditPoints="1" noAdjustHandles="1" noChangeArrowheads="1" noChangeShapeType="1" noTextEdit="1"/>
              </p:cNvSpPr>
              <p:nvPr/>
            </p:nvSpPr>
            <p:spPr>
              <a:xfrm>
                <a:off x="742950" y="5286375"/>
                <a:ext cx="2071273" cy="438582"/>
              </a:xfrm>
              <a:prstGeom prst="rect">
                <a:avLst/>
              </a:prstGeom>
              <a:blipFill>
                <a:blip r:embed="rId5"/>
                <a:stretch>
                  <a:fillRect/>
                </a:stretch>
              </a:blipFill>
            </p:spPr>
            <p:txBody>
              <a:bodyPr/>
              <a:lstStyle/>
              <a:p>
                <a:r>
                  <a:rPr lang="en-US">
                    <a:noFill/>
                  </a:rPr>
                  <a:t> </a:t>
                </a:r>
              </a:p>
            </p:txBody>
          </p:sp>
        </mc:Fallback>
      </mc:AlternateContent>
      <p:cxnSp>
        <p:nvCxnSpPr>
          <p:cNvPr id="40" name="Straight Connector 39">
            <a:extLst>
              <a:ext uri="{FF2B5EF4-FFF2-40B4-BE49-F238E27FC236}">
                <a16:creationId xmlns:a16="http://schemas.microsoft.com/office/drawing/2014/main" id="{4ECF85C4-6883-455A-ADDA-5B204AA8532D}"/>
              </a:ext>
            </a:extLst>
          </p:cNvPr>
          <p:cNvCxnSpPr>
            <a:cxnSpLocks/>
          </p:cNvCxnSpPr>
          <p:nvPr/>
        </p:nvCxnSpPr>
        <p:spPr>
          <a:xfrm flipH="1">
            <a:off x="2020337" y="2909889"/>
            <a:ext cx="303759" cy="307975"/>
          </a:xfrm>
          <a:prstGeom prst="line">
            <a:avLst/>
          </a:prstGeom>
          <a:ln w="3810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1" name="Straight Connector 50">
            <a:extLst>
              <a:ext uri="{FF2B5EF4-FFF2-40B4-BE49-F238E27FC236}">
                <a16:creationId xmlns:a16="http://schemas.microsoft.com/office/drawing/2014/main" id="{A9149E9A-54E3-4554-9D58-F0187CD08D5C}"/>
              </a:ext>
            </a:extLst>
          </p:cNvPr>
          <p:cNvCxnSpPr>
            <a:cxnSpLocks/>
          </p:cNvCxnSpPr>
          <p:nvPr/>
        </p:nvCxnSpPr>
        <p:spPr>
          <a:xfrm flipH="1">
            <a:off x="2362200" y="3904038"/>
            <a:ext cx="313883" cy="318238"/>
          </a:xfrm>
          <a:prstGeom prst="line">
            <a:avLst/>
          </a:prstGeom>
          <a:ln w="3810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3" name="Straight Connector 52">
            <a:extLst>
              <a:ext uri="{FF2B5EF4-FFF2-40B4-BE49-F238E27FC236}">
                <a16:creationId xmlns:a16="http://schemas.microsoft.com/office/drawing/2014/main" id="{1AB11A06-D778-4DC1-9D3F-9943D6BAF9D6}"/>
              </a:ext>
            </a:extLst>
          </p:cNvPr>
          <p:cNvCxnSpPr>
            <a:cxnSpLocks/>
          </p:cNvCxnSpPr>
          <p:nvPr/>
        </p:nvCxnSpPr>
        <p:spPr>
          <a:xfrm flipH="1">
            <a:off x="2224087" y="4048642"/>
            <a:ext cx="608713" cy="617161"/>
          </a:xfrm>
          <a:prstGeom prst="line">
            <a:avLst/>
          </a:prstGeom>
          <a:ln w="3810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55" name="Rectangle 54">
                <a:extLst>
                  <a:ext uri="{FF2B5EF4-FFF2-40B4-BE49-F238E27FC236}">
                    <a16:creationId xmlns:a16="http://schemas.microsoft.com/office/drawing/2014/main" id="{595F4396-84F8-4C8A-8BBD-E2D07DCEC4F2}"/>
                  </a:ext>
                </a:extLst>
              </p:cNvPr>
              <p:cNvSpPr/>
              <p:nvPr/>
            </p:nvSpPr>
            <p:spPr>
              <a:xfrm>
                <a:off x="1482820" y="3560218"/>
                <a:ext cx="43313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b="0" i="0" smtClean="0">
                          <a:latin typeface="Cambria Math" panose="02040503050406030204" pitchFamily="18" charset="0"/>
                        </a:rPr>
                        <m:t>r</m:t>
                      </m:r>
                    </m:oMath>
                  </m:oMathPara>
                </a14:m>
                <a:endParaRPr lang="en-US" sz="2800"/>
              </a:p>
            </p:txBody>
          </p:sp>
        </mc:Choice>
        <mc:Fallback xmlns="">
          <p:sp>
            <p:nvSpPr>
              <p:cNvPr id="55" name="Rectangle 54">
                <a:extLst>
                  <a:ext uri="{FF2B5EF4-FFF2-40B4-BE49-F238E27FC236}">
                    <a16:creationId xmlns:a16="http://schemas.microsoft.com/office/drawing/2014/main" id="{595F4396-84F8-4C8A-8BBD-E2D07DCEC4F2}"/>
                  </a:ext>
                </a:extLst>
              </p:cNvPr>
              <p:cNvSpPr>
                <a:spLocks noRot="1" noChangeAspect="1" noMove="1" noResize="1" noEditPoints="1" noAdjustHandles="1" noChangeArrowheads="1" noChangeShapeType="1" noTextEdit="1"/>
              </p:cNvSpPr>
              <p:nvPr/>
            </p:nvSpPr>
            <p:spPr>
              <a:xfrm>
                <a:off x="1482820" y="3560218"/>
                <a:ext cx="433132" cy="523220"/>
              </a:xfrm>
              <a:prstGeom prst="rect">
                <a:avLst/>
              </a:prstGeom>
              <a:blipFill>
                <a:blip r:embed="rId6"/>
                <a:stretch>
                  <a:fillRect/>
                </a:stretch>
              </a:blipFill>
            </p:spPr>
            <p:txBody>
              <a:bodyPr/>
              <a:lstStyle/>
              <a:p>
                <a:r>
                  <a:rPr lang="en-US">
                    <a:noFill/>
                  </a:rPr>
                  <a:t> </a:t>
                </a:r>
              </a:p>
            </p:txBody>
          </p:sp>
        </mc:Fallback>
      </mc:AlternateContent>
      <p:cxnSp>
        <p:nvCxnSpPr>
          <p:cNvPr id="56" name="Straight Connector 55">
            <a:extLst>
              <a:ext uri="{FF2B5EF4-FFF2-40B4-BE49-F238E27FC236}">
                <a16:creationId xmlns:a16="http://schemas.microsoft.com/office/drawing/2014/main" id="{9B3636B4-3E9C-42BD-A203-E1B6972B8F3A}"/>
              </a:ext>
            </a:extLst>
          </p:cNvPr>
          <p:cNvCxnSpPr>
            <a:cxnSpLocks/>
          </p:cNvCxnSpPr>
          <p:nvPr/>
        </p:nvCxnSpPr>
        <p:spPr>
          <a:xfrm flipH="1">
            <a:off x="1610610" y="3509078"/>
            <a:ext cx="666737" cy="675991"/>
          </a:xfrm>
          <a:prstGeom prst="line">
            <a:avLst/>
          </a:prstGeom>
          <a:ln w="3810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36360580"/>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8" name="Straight Connector 47">
            <a:extLst>
              <a:ext uri="{FF2B5EF4-FFF2-40B4-BE49-F238E27FC236}">
                <a16:creationId xmlns:a16="http://schemas.microsoft.com/office/drawing/2014/main" id="{FA558FAE-BD41-407A-9610-AAED34746A98}"/>
              </a:ext>
            </a:extLst>
          </p:cNvPr>
          <p:cNvCxnSpPr>
            <a:cxnSpLocks/>
          </p:cNvCxnSpPr>
          <p:nvPr/>
        </p:nvCxnSpPr>
        <p:spPr>
          <a:xfrm flipH="1">
            <a:off x="2172144" y="2752734"/>
            <a:ext cx="628205" cy="624722"/>
          </a:xfrm>
          <a:prstGeom prst="line">
            <a:avLst/>
          </a:prstGeom>
          <a:ln w="3810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 name="Title 1">
            <a:extLst>
              <a:ext uri="{FF2B5EF4-FFF2-40B4-BE49-F238E27FC236}">
                <a16:creationId xmlns:a16="http://schemas.microsoft.com/office/drawing/2014/main" id="{BF91E580-1D46-42BF-870E-DE4F854CD8D6}"/>
              </a:ext>
            </a:extLst>
          </p:cNvPr>
          <p:cNvSpPr>
            <a:spLocks noGrp="1"/>
          </p:cNvSpPr>
          <p:nvPr>
            <p:ph type="title"/>
          </p:nvPr>
        </p:nvSpPr>
        <p:spPr/>
        <p:txBody>
          <a:bodyPr/>
          <a:lstStyle/>
          <a:p>
            <a:r>
              <a:rPr lang="en-US" altLang="en-US"/>
              <a:t>Two Class – Linear SVM</a:t>
            </a:r>
            <a:endParaRPr lang="en-US"/>
          </a:p>
        </p:txBody>
      </p:sp>
      <p:sp>
        <p:nvSpPr>
          <p:cNvPr id="30" name="Content Placeholder 29">
            <a:extLst>
              <a:ext uri="{FF2B5EF4-FFF2-40B4-BE49-F238E27FC236}">
                <a16:creationId xmlns:a16="http://schemas.microsoft.com/office/drawing/2014/main" id="{41305498-4F2E-4B91-8CC9-2854079DD5E8}"/>
              </a:ext>
            </a:extLst>
          </p:cNvPr>
          <p:cNvSpPr>
            <a:spLocks noGrp="1"/>
          </p:cNvSpPr>
          <p:nvPr>
            <p:ph sz="half" idx="2"/>
          </p:nvPr>
        </p:nvSpPr>
        <p:spPr/>
        <p:txBody>
          <a:bodyPr/>
          <a:lstStyle/>
          <a:p>
            <a:pPr algn="just"/>
            <a:r>
              <a:rPr lang="en-US" altLang="en-US"/>
              <a:t>Maximizing the margin is good according to intuition and PAC theory.</a:t>
            </a:r>
          </a:p>
          <a:p>
            <a:pPr algn="just"/>
            <a:r>
              <a:rPr lang="en-US" altLang="en-US">
                <a:solidFill>
                  <a:srgbClr val="FF0000"/>
                </a:solidFill>
              </a:rPr>
              <a:t>Implies that only support vectors matter; other training examples are ignorable.</a:t>
            </a:r>
          </a:p>
          <a:p>
            <a:pPr algn="just"/>
            <a:endParaRPr lang="en-US"/>
          </a:p>
        </p:txBody>
      </p:sp>
      <p:sp>
        <p:nvSpPr>
          <p:cNvPr id="3" name="Line 4">
            <a:extLst>
              <a:ext uri="{FF2B5EF4-FFF2-40B4-BE49-F238E27FC236}">
                <a16:creationId xmlns:a16="http://schemas.microsoft.com/office/drawing/2014/main" id="{1D59E12E-0A99-406A-B700-36214FC6E09D}"/>
              </a:ext>
            </a:extLst>
          </p:cNvPr>
          <p:cNvSpPr>
            <a:spLocks noChangeShapeType="1"/>
          </p:cNvSpPr>
          <p:nvPr/>
        </p:nvSpPr>
        <p:spPr bwMode="auto">
          <a:xfrm flipV="1">
            <a:off x="695325" y="1682750"/>
            <a:ext cx="0" cy="3581400"/>
          </a:xfrm>
          <a:prstGeom prst="line">
            <a:avLst/>
          </a:prstGeom>
          <a:noFill/>
          <a:ln w="38100">
            <a:solidFill>
              <a:schemeClr val="tx1"/>
            </a:solidFill>
            <a:miter lim="800000"/>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 name="Line 5">
            <a:extLst>
              <a:ext uri="{FF2B5EF4-FFF2-40B4-BE49-F238E27FC236}">
                <a16:creationId xmlns:a16="http://schemas.microsoft.com/office/drawing/2014/main" id="{5A8CF049-19F9-4985-8E78-3F9EF6F62CDB}"/>
              </a:ext>
            </a:extLst>
          </p:cNvPr>
          <p:cNvSpPr>
            <a:spLocks noChangeShapeType="1"/>
          </p:cNvSpPr>
          <p:nvPr/>
        </p:nvSpPr>
        <p:spPr bwMode="auto">
          <a:xfrm flipV="1">
            <a:off x="685800" y="5254625"/>
            <a:ext cx="4648200" cy="0"/>
          </a:xfrm>
          <a:prstGeom prst="line">
            <a:avLst/>
          </a:prstGeom>
          <a:noFill/>
          <a:ln w="38100">
            <a:solidFill>
              <a:schemeClr val="tx1"/>
            </a:solidFill>
            <a:miter lim="800000"/>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 name="Oval 6">
            <a:extLst>
              <a:ext uri="{FF2B5EF4-FFF2-40B4-BE49-F238E27FC236}">
                <a16:creationId xmlns:a16="http://schemas.microsoft.com/office/drawing/2014/main" id="{16B11EFC-0FBE-415A-B16A-0CD2D5ED27DF}"/>
              </a:ext>
            </a:extLst>
          </p:cNvPr>
          <p:cNvSpPr>
            <a:spLocks noChangeArrowheads="1"/>
          </p:cNvSpPr>
          <p:nvPr/>
        </p:nvSpPr>
        <p:spPr bwMode="auto">
          <a:xfrm>
            <a:off x="2743200" y="2663825"/>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Oval 7">
            <a:extLst>
              <a:ext uri="{FF2B5EF4-FFF2-40B4-BE49-F238E27FC236}">
                <a16:creationId xmlns:a16="http://schemas.microsoft.com/office/drawing/2014/main" id="{ADFDEEB9-F5C2-42A6-BF28-5672779085C3}"/>
              </a:ext>
            </a:extLst>
          </p:cNvPr>
          <p:cNvSpPr>
            <a:spLocks noChangeArrowheads="1"/>
          </p:cNvSpPr>
          <p:nvPr/>
        </p:nvSpPr>
        <p:spPr bwMode="auto">
          <a:xfrm>
            <a:off x="2971800" y="3273425"/>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Oval 8">
            <a:extLst>
              <a:ext uri="{FF2B5EF4-FFF2-40B4-BE49-F238E27FC236}">
                <a16:creationId xmlns:a16="http://schemas.microsoft.com/office/drawing/2014/main" id="{540BFB6C-D1F8-4806-B2C7-D8883EF303CA}"/>
              </a:ext>
            </a:extLst>
          </p:cNvPr>
          <p:cNvSpPr>
            <a:spLocks noChangeArrowheads="1"/>
          </p:cNvSpPr>
          <p:nvPr/>
        </p:nvSpPr>
        <p:spPr bwMode="auto">
          <a:xfrm>
            <a:off x="3810000" y="3502025"/>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Oval 9">
            <a:extLst>
              <a:ext uri="{FF2B5EF4-FFF2-40B4-BE49-F238E27FC236}">
                <a16:creationId xmlns:a16="http://schemas.microsoft.com/office/drawing/2014/main" id="{257D9B57-CC14-43DC-A83C-62BD19FE5F90}"/>
              </a:ext>
            </a:extLst>
          </p:cNvPr>
          <p:cNvSpPr>
            <a:spLocks noChangeArrowheads="1"/>
          </p:cNvSpPr>
          <p:nvPr/>
        </p:nvSpPr>
        <p:spPr bwMode="auto">
          <a:xfrm>
            <a:off x="2286000" y="2816225"/>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Oval 10">
            <a:extLst>
              <a:ext uri="{FF2B5EF4-FFF2-40B4-BE49-F238E27FC236}">
                <a16:creationId xmlns:a16="http://schemas.microsoft.com/office/drawing/2014/main" id="{4D459E55-3E26-4E9E-88DE-A27F30A52187}"/>
              </a:ext>
            </a:extLst>
          </p:cNvPr>
          <p:cNvSpPr>
            <a:spLocks noChangeArrowheads="1"/>
          </p:cNvSpPr>
          <p:nvPr/>
        </p:nvSpPr>
        <p:spPr bwMode="auto">
          <a:xfrm>
            <a:off x="3276600" y="3806825"/>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Rectangle 11">
            <a:extLst>
              <a:ext uri="{FF2B5EF4-FFF2-40B4-BE49-F238E27FC236}">
                <a16:creationId xmlns:a16="http://schemas.microsoft.com/office/drawing/2014/main" id="{51E8E650-D166-4291-B1F1-F4254D351914}"/>
              </a:ext>
            </a:extLst>
          </p:cNvPr>
          <p:cNvSpPr>
            <a:spLocks noChangeArrowheads="1"/>
          </p:cNvSpPr>
          <p:nvPr/>
        </p:nvSpPr>
        <p:spPr bwMode="auto">
          <a:xfrm>
            <a:off x="990600" y="3730625"/>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Rectangle 12">
            <a:extLst>
              <a:ext uri="{FF2B5EF4-FFF2-40B4-BE49-F238E27FC236}">
                <a16:creationId xmlns:a16="http://schemas.microsoft.com/office/drawing/2014/main" id="{86C137AD-D90D-4915-952E-0C0EB06E2A29}"/>
              </a:ext>
            </a:extLst>
          </p:cNvPr>
          <p:cNvSpPr>
            <a:spLocks noChangeArrowheads="1"/>
          </p:cNvSpPr>
          <p:nvPr/>
        </p:nvSpPr>
        <p:spPr bwMode="auto">
          <a:xfrm>
            <a:off x="2209800" y="4187825"/>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Rectangle 13">
            <a:extLst>
              <a:ext uri="{FF2B5EF4-FFF2-40B4-BE49-F238E27FC236}">
                <a16:creationId xmlns:a16="http://schemas.microsoft.com/office/drawing/2014/main" id="{39CD0813-7E8B-49C4-A2D1-182AFF1DADD7}"/>
              </a:ext>
            </a:extLst>
          </p:cNvPr>
          <p:cNvSpPr>
            <a:spLocks noChangeArrowheads="1"/>
          </p:cNvSpPr>
          <p:nvPr/>
        </p:nvSpPr>
        <p:spPr bwMode="auto">
          <a:xfrm>
            <a:off x="2057400" y="4645025"/>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Rectangle 14">
            <a:extLst>
              <a:ext uri="{FF2B5EF4-FFF2-40B4-BE49-F238E27FC236}">
                <a16:creationId xmlns:a16="http://schemas.microsoft.com/office/drawing/2014/main" id="{3288D920-6FE0-4A7E-960C-E7D9E6CD1877}"/>
              </a:ext>
            </a:extLst>
          </p:cNvPr>
          <p:cNvSpPr>
            <a:spLocks noChangeArrowheads="1"/>
          </p:cNvSpPr>
          <p:nvPr/>
        </p:nvSpPr>
        <p:spPr bwMode="auto">
          <a:xfrm>
            <a:off x="1447800" y="4187825"/>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Rectangle 15">
            <a:extLst>
              <a:ext uri="{FF2B5EF4-FFF2-40B4-BE49-F238E27FC236}">
                <a16:creationId xmlns:a16="http://schemas.microsoft.com/office/drawing/2014/main" id="{163A132E-2933-4FB3-96F4-381BD979201C}"/>
              </a:ext>
            </a:extLst>
          </p:cNvPr>
          <p:cNvSpPr>
            <a:spLocks noChangeArrowheads="1"/>
          </p:cNvSpPr>
          <p:nvPr/>
        </p:nvSpPr>
        <p:spPr bwMode="auto">
          <a:xfrm>
            <a:off x="1143000" y="4568825"/>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Rectangle 16">
            <a:extLst>
              <a:ext uri="{FF2B5EF4-FFF2-40B4-BE49-F238E27FC236}">
                <a16:creationId xmlns:a16="http://schemas.microsoft.com/office/drawing/2014/main" id="{F59D5F24-F229-4C4A-93FA-50A850069472}"/>
              </a:ext>
            </a:extLst>
          </p:cNvPr>
          <p:cNvSpPr>
            <a:spLocks noChangeArrowheads="1"/>
          </p:cNvSpPr>
          <p:nvPr/>
        </p:nvSpPr>
        <p:spPr bwMode="auto">
          <a:xfrm>
            <a:off x="1295400" y="3425825"/>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Text Box 17">
            <a:extLst>
              <a:ext uri="{FF2B5EF4-FFF2-40B4-BE49-F238E27FC236}">
                <a16:creationId xmlns:a16="http://schemas.microsoft.com/office/drawing/2014/main" id="{A411E530-EC3D-4591-828A-350DA6A925FC}"/>
              </a:ext>
            </a:extLst>
          </p:cNvPr>
          <p:cNvSpPr txBox="1">
            <a:spLocks noChangeArrowheads="1"/>
          </p:cNvSpPr>
          <p:nvPr/>
        </p:nvSpPr>
        <p:spPr bwMode="auto">
          <a:xfrm>
            <a:off x="990600" y="4770438"/>
            <a:ext cx="13003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800">
                <a:latin typeface="Tahoma" panose="020B0604030504040204" pitchFamily="34" charset="0"/>
              </a:rPr>
              <a:t>Class 1</a:t>
            </a:r>
          </a:p>
        </p:txBody>
      </p:sp>
      <p:sp>
        <p:nvSpPr>
          <p:cNvPr id="17" name="Text Box 18">
            <a:extLst>
              <a:ext uri="{FF2B5EF4-FFF2-40B4-BE49-F238E27FC236}">
                <a16:creationId xmlns:a16="http://schemas.microsoft.com/office/drawing/2014/main" id="{2C12ECF5-4C4A-4B01-BD94-526AAAD817CD}"/>
              </a:ext>
            </a:extLst>
          </p:cNvPr>
          <p:cNvSpPr txBox="1">
            <a:spLocks noChangeArrowheads="1"/>
          </p:cNvSpPr>
          <p:nvPr/>
        </p:nvSpPr>
        <p:spPr bwMode="auto">
          <a:xfrm>
            <a:off x="3429000" y="3578225"/>
            <a:ext cx="13003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800">
                <a:latin typeface="Tahoma" panose="020B0604030504040204" pitchFamily="34" charset="0"/>
              </a:rPr>
              <a:t>Class 2</a:t>
            </a:r>
          </a:p>
        </p:txBody>
      </p:sp>
      <p:sp>
        <p:nvSpPr>
          <p:cNvPr id="18" name="Line 19">
            <a:extLst>
              <a:ext uri="{FF2B5EF4-FFF2-40B4-BE49-F238E27FC236}">
                <a16:creationId xmlns:a16="http://schemas.microsoft.com/office/drawing/2014/main" id="{CF529CCD-04A6-45E1-8B0C-5EEA2E02F34F}"/>
              </a:ext>
            </a:extLst>
          </p:cNvPr>
          <p:cNvSpPr>
            <a:spLocks noChangeShapeType="1"/>
          </p:cNvSpPr>
          <p:nvPr/>
        </p:nvSpPr>
        <p:spPr bwMode="auto">
          <a:xfrm>
            <a:off x="1752600" y="2282825"/>
            <a:ext cx="2514600" cy="2514600"/>
          </a:xfrm>
          <a:prstGeom prst="line">
            <a:avLst/>
          </a:prstGeom>
          <a:noFill/>
          <a:ln w="38100">
            <a:solidFill>
              <a:schemeClr val="folHlink"/>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 name="Line 20">
            <a:extLst>
              <a:ext uri="{FF2B5EF4-FFF2-40B4-BE49-F238E27FC236}">
                <a16:creationId xmlns:a16="http://schemas.microsoft.com/office/drawing/2014/main" id="{7C7CA8CA-A50C-4C59-AB00-1C6AB2A17788}"/>
              </a:ext>
            </a:extLst>
          </p:cNvPr>
          <p:cNvSpPr>
            <a:spLocks noChangeShapeType="1"/>
          </p:cNvSpPr>
          <p:nvPr/>
        </p:nvSpPr>
        <p:spPr bwMode="auto">
          <a:xfrm>
            <a:off x="762000" y="2663825"/>
            <a:ext cx="2971800" cy="2971800"/>
          </a:xfrm>
          <a:prstGeom prst="line">
            <a:avLst/>
          </a:prstGeom>
          <a:noFill/>
          <a:ln w="38100">
            <a:solidFill>
              <a:schemeClr val="folHlink"/>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0" name="Line 21">
            <a:extLst>
              <a:ext uri="{FF2B5EF4-FFF2-40B4-BE49-F238E27FC236}">
                <a16:creationId xmlns:a16="http://schemas.microsoft.com/office/drawing/2014/main" id="{457E4896-CA33-4B02-BA2C-661E214C8954}"/>
              </a:ext>
            </a:extLst>
          </p:cNvPr>
          <p:cNvSpPr>
            <a:spLocks noChangeShapeType="1"/>
          </p:cNvSpPr>
          <p:nvPr/>
        </p:nvSpPr>
        <p:spPr bwMode="auto">
          <a:xfrm>
            <a:off x="348320" y="1564344"/>
            <a:ext cx="4071280" cy="4071273"/>
          </a:xfrm>
          <a:prstGeom prst="line">
            <a:avLst/>
          </a:prstGeom>
          <a:noFill/>
          <a:ln w="38100">
            <a:solidFill>
              <a:schemeClr val="fo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3" name="Rectangle 32">
            <a:extLst>
              <a:ext uri="{FF2B5EF4-FFF2-40B4-BE49-F238E27FC236}">
                <a16:creationId xmlns:a16="http://schemas.microsoft.com/office/drawing/2014/main" id="{65E66E94-C6B7-48B9-ADFC-0E5FEB5DC960}"/>
              </a:ext>
            </a:extLst>
          </p:cNvPr>
          <p:cNvSpPr/>
          <p:nvPr/>
        </p:nvSpPr>
        <p:spPr>
          <a:xfrm>
            <a:off x="678044" y="1852475"/>
            <a:ext cx="1705916" cy="523220"/>
          </a:xfrm>
          <a:prstGeom prst="rect">
            <a:avLst/>
          </a:prstGeom>
        </p:spPr>
        <p:txBody>
          <a:bodyPr wrap="none">
            <a:spAutoFit/>
          </a:bodyPr>
          <a:lstStyle/>
          <a:p>
            <a:r>
              <a:rPr lang="en-US" altLang="en-US" sz="2800">
                <a:solidFill>
                  <a:srgbClr val="0066FF"/>
                </a:solidFill>
              </a:rPr>
              <a:t>separator</a:t>
            </a:r>
            <a:endParaRPr lang="en-US" sz="2800">
              <a:solidFill>
                <a:srgbClr val="0066FF"/>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3C7FFD9E-3B94-409E-87D5-C22E51D415AF}"/>
                  </a:ext>
                </a:extLst>
              </p:cNvPr>
              <p:cNvSpPr txBox="1"/>
              <p:nvPr/>
            </p:nvSpPr>
            <p:spPr>
              <a:xfrm>
                <a:off x="3451439" y="5563032"/>
                <a:ext cx="2069669" cy="4385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800" i="1" smtClean="0">
                              <a:latin typeface="Cambria Math" panose="02040503050406030204" pitchFamily="18" charset="0"/>
                            </a:rPr>
                          </m:ctrlPr>
                        </m:sSupPr>
                        <m:e>
                          <m:r>
                            <a:rPr lang="en-US" sz="2800" b="1" i="0" smtClean="0">
                              <a:latin typeface="Cambria Math" panose="02040503050406030204" pitchFamily="18" charset="0"/>
                            </a:rPr>
                            <m:t>𝐰</m:t>
                          </m:r>
                        </m:e>
                        <m:sup>
                          <m:r>
                            <m:rPr>
                              <m:sty m:val="p"/>
                            </m:rPr>
                            <a:rPr lang="en-US" sz="2800" b="0" i="0" smtClean="0">
                              <a:latin typeface="Cambria Math" panose="02040503050406030204" pitchFamily="18" charset="0"/>
                            </a:rPr>
                            <m:t>T</m:t>
                          </m:r>
                        </m:sup>
                      </m:sSup>
                      <m:r>
                        <a:rPr lang="en-US" sz="2800" b="1" i="0" smtClean="0">
                          <a:latin typeface="Cambria Math" panose="02040503050406030204" pitchFamily="18" charset="0"/>
                        </a:rPr>
                        <m:t>𝐱</m:t>
                      </m:r>
                      <m:r>
                        <a:rPr lang="en-US" sz="2800" b="0" i="0" smtClean="0">
                          <a:latin typeface="Cambria Math" panose="02040503050406030204" pitchFamily="18" charset="0"/>
                        </a:rPr>
                        <m:t>+</m:t>
                      </m:r>
                      <m:r>
                        <m:rPr>
                          <m:sty m:val="p"/>
                        </m:rPr>
                        <a:rPr lang="en-US" sz="2800" b="0" i="0" smtClean="0">
                          <a:latin typeface="Cambria Math" panose="02040503050406030204" pitchFamily="18" charset="0"/>
                        </a:rPr>
                        <m:t>b</m:t>
                      </m:r>
                      <m:r>
                        <a:rPr lang="en-US" sz="2800" b="0" i="0" smtClean="0">
                          <a:latin typeface="Cambria Math" panose="02040503050406030204" pitchFamily="18" charset="0"/>
                        </a:rPr>
                        <m:t>=0</m:t>
                      </m:r>
                    </m:oMath>
                  </m:oMathPara>
                </a14:m>
                <a:endParaRPr lang="en-US" sz="2800"/>
              </a:p>
            </p:txBody>
          </p:sp>
        </mc:Choice>
        <mc:Fallback xmlns="">
          <p:sp>
            <p:nvSpPr>
              <p:cNvPr id="34" name="TextBox 33">
                <a:extLst>
                  <a:ext uri="{FF2B5EF4-FFF2-40B4-BE49-F238E27FC236}">
                    <a16:creationId xmlns:a16="http://schemas.microsoft.com/office/drawing/2014/main" id="{3C7FFD9E-3B94-409E-87D5-C22E51D415AF}"/>
                  </a:ext>
                </a:extLst>
              </p:cNvPr>
              <p:cNvSpPr txBox="1">
                <a:spLocks noRot="1" noChangeAspect="1" noMove="1" noResize="1" noEditPoints="1" noAdjustHandles="1" noChangeArrowheads="1" noChangeShapeType="1" noTextEdit="1"/>
              </p:cNvSpPr>
              <p:nvPr/>
            </p:nvSpPr>
            <p:spPr>
              <a:xfrm>
                <a:off x="3451439" y="5563032"/>
                <a:ext cx="2069669" cy="43858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CA33A16-E89F-4FBA-AFF5-C1142838F416}"/>
                  </a:ext>
                </a:extLst>
              </p:cNvPr>
              <p:cNvSpPr txBox="1"/>
              <p:nvPr/>
            </p:nvSpPr>
            <p:spPr>
              <a:xfrm>
                <a:off x="3124200" y="2304618"/>
                <a:ext cx="2071273" cy="4385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800" i="1" smtClean="0">
                              <a:latin typeface="Cambria Math" panose="02040503050406030204" pitchFamily="18" charset="0"/>
                            </a:rPr>
                          </m:ctrlPr>
                        </m:sSupPr>
                        <m:e>
                          <m:r>
                            <a:rPr lang="en-US" sz="2800" b="1" i="0" smtClean="0">
                              <a:latin typeface="Cambria Math" panose="02040503050406030204" pitchFamily="18" charset="0"/>
                            </a:rPr>
                            <m:t>𝐰</m:t>
                          </m:r>
                        </m:e>
                        <m:sup>
                          <m:r>
                            <m:rPr>
                              <m:sty m:val="p"/>
                            </m:rPr>
                            <a:rPr lang="en-US" sz="2800" b="0" i="0" smtClean="0">
                              <a:latin typeface="Cambria Math" panose="02040503050406030204" pitchFamily="18" charset="0"/>
                            </a:rPr>
                            <m:t>T</m:t>
                          </m:r>
                        </m:sup>
                      </m:sSup>
                      <m:r>
                        <a:rPr lang="en-US" sz="2800" b="1" i="0" smtClean="0">
                          <a:latin typeface="Cambria Math" panose="02040503050406030204" pitchFamily="18" charset="0"/>
                        </a:rPr>
                        <m:t>𝐱</m:t>
                      </m:r>
                      <m:r>
                        <a:rPr lang="en-US" sz="2800" b="0" i="0" smtClean="0">
                          <a:latin typeface="Cambria Math" panose="02040503050406030204" pitchFamily="18" charset="0"/>
                        </a:rPr>
                        <m:t>+</m:t>
                      </m:r>
                      <m:r>
                        <m:rPr>
                          <m:sty m:val="p"/>
                        </m:rPr>
                        <a:rPr lang="en-US" sz="2800" b="0" i="0" smtClean="0">
                          <a:latin typeface="Cambria Math" panose="02040503050406030204" pitchFamily="18" charset="0"/>
                        </a:rPr>
                        <m:t>b</m:t>
                      </m:r>
                      <m:r>
                        <a:rPr lang="en-US" sz="2800" b="0" i="0" smtClean="0">
                          <a:latin typeface="Cambria Math" panose="02040503050406030204" pitchFamily="18" charset="0"/>
                        </a:rPr>
                        <m:t>&gt;0</m:t>
                      </m:r>
                    </m:oMath>
                  </m:oMathPara>
                </a14:m>
                <a:endParaRPr lang="en-US" sz="2800"/>
              </a:p>
            </p:txBody>
          </p:sp>
        </mc:Choice>
        <mc:Fallback xmlns="">
          <p:sp>
            <p:nvSpPr>
              <p:cNvPr id="35" name="TextBox 34">
                <a:extLst>
                  <a:ext uri="{FF2B5EF4-FFF2-40B4-BE49-F238E27FC236}">
                    <a16:creationId xmlns:a16="http://schemas.microsoft.com/office/drawing/2014/main" id="{BCA33A16-E89F-4FBA-AFF5-C1142838F416}"/>
                  </a:ext>
                </a:extLst>
              </p:cNvPr>
              <p:cNvSpPr txBox="1">
                <a:spLocks noRot="1" noChangeAspect="1" noMove="1" noResize="1" noEditPoints="1" noAdjustHandles="1" noChangeArrowheads="1" noChangeShapeType="1" noTextEdit="1"/>
              </p:cNvSpPr>
              <p:nvPr/>
            </p:nvSpPr>
            <p:spPr>
              <a:xfrm>
                <a:off x="3124200" y="2304618"/>
                <a:ext cx="2071273" cy="43858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2DEC701-1752-436D-A33D-A8BF774CB6A1}"/>
                  </a:ext>
                </a:extLst>
              </p:cNvPr>
              <p:cNvSpPr txBox="1"/>
              <p:nvPr/>
            </p:nvSpPr>
            <p:spPr>
              <a:xfrm>
                <a:off x="742950" y="5286375"/>
                <a:ext cx="2071273" cy="4385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800" i="1" smtClean="0">
                              <a:latin typeface="Cambria Math" panose="02040503050406030204" pitchFamily="18" charset="0"/>
                            </a:rPr>
                          </m:ctrlPr>
                        </m:sSupPr>
                        <m:e>
                          <m:r>
                            <a:rPr lang="en-US" sz="2800" b="1" i="0" smtClean="0">
                              <a:latin typeface="Cambria Math" panose="02040503050406030204" pitchFamily="18" charset="0"/>
                            </a:rPr>
                            <m:t>𝐰</m:t>
                          </m:r>
                        </m:e>
                        <m:sup>
                          <m:r>
                            <m:rPr>
                              <m:sty m:val="p"/>
                            </m:rPr>
                            <a:rPr lang="en-US" sz="2800" b="0" i="0" smtClean="0">
                              <a:latin typeface="Cambria Math" panose="02040503050406030204" pitchFamily="18" charset="0"/>
                            </a:rPr>
                            <m:t>T</m:t>
                          </m:r>
                        </m:sup>
                      </m:sSup>
                      <m:r>
                        <a:rPr lang="en-US" sz="2800" b="1" i="0" smtClean="0">
                          <a:latin typeface="Cambria Math" panose="02040503050406030204" pitchFamily="18" charset="0"/>
                        </a:rPr>
                        <m:t>𝐱</m:t>
                      </m:r>
                      <m:r>
                        <a:rPr lang="en-US" sz="2800" b="0" i="0" smtClean="0">
                          <a:latin typeface="Cambria Math" panose="02040503050406030204" pitchFamily="18" charset="0"/>
                        </a:rPr>
                        <m:t>+</m:t>
                      </m:r>
                      <m:r>
                        <m:rPr>
                          <m:sty m:val="p"/>
                        </m:rPr>
                        <a:rPr lang="en-US" sz="2800" b="0" i="0" smtClean="0">
                          <a:latin typeface="Cambria Math" panose="02040503050406030204" pitchFamily="18" charset="0"/>
                        </a:rPr>
                        <m:t>b</m:t>
                      </m:r>
                      <m:r>
                        <a:rPr lang="en-US" sz="2800" b="0" i="0" smtClean="0">
                          <a:latin typeface="Cambria Math" panose="02040503050406030204" pitchFamily="18" charset="0"/>
                        </a:rPr>
                        <m:t>&lt;0</m:t>
                      </m:r>
                    </m:oMath>
                  </m:oMathPara>
                </a14:m>
                <a:endParaRPr lang="en-US" sz="2800"/>
              </a:p>
            </p:txBody>
          </p:sp>
        </mc:Choice>
        <mc:Fallback xmlns="">
          <p:sp>
            <p:nvSpPr>
              <p:cNvPr id="36" name="TextBox 35">
                <a:extLst>
                  <a:ext uri="{FF2B5EF4-FFF2-40B4-BE49-F238E27FC236}">
                    <a16:creationId xmlns:a16="http://schemas.microsoft.com/office/drawing/2014/main" id="{82DEC701-1752-436D-A33D-A8BF774CB6A1}"/>
                  </a:ext>
                </a:extLst>
              </p:cNvPr>
              <p:cNvSpPr txBox="1">
                <a:spLocks noRot="1" noChangeAspect="1" noMove="1" noResize="1" noEditPoints="1" noAdjustHandles="1" noChangeArrowheads="1" noChangeShapeType="1" noTextEdit="1"/>
              </p:cNvSpPr>
              <p:nvPr/>
            </p:nvSpPr>
            <p:spPr>
              <a:xfrm>
                <a:off x="742950" y="5286375"/>
                <a:ext cx="2071273" cy="438582"/>
              </a:xfrm>
              <a:prstGeom prst="rect">
                <a:avLst/>
              </a:prstGeom>
              <a:blipFill>
                <a:blip r:embed="rId4"/>
                <a:stretch>
                  <a:fillRect/>
                </a:stretch>
              </a:blipFill>
            </p:spPr>
            <p:txBody>
              <a:bodyPr/>
              <a:lstStyle/>
              <a:p>
                <a:r>
                  <a:rPr lang="en-US">
                    <a:noFill/>
                  </a:rPr>
                  <a:t> </a:t>
                </a:r>
              </a:p>
            </p:txBody>
          </p:sp>
        </mc:Fallback>
      </mc:AlternateContent>
      <p:cxnSp>
        <p:nvCxnSpPr>
          <p:cNvPr id="40" name="Straight Connector 39">
            <a:extLst>
              <a:ext uri="{FF2B5EF4-FFF2-40B4-BE49-F238E27FC236}">
                <a16:creationId xmlns:a16="http://schemas.microsoft.com/office/drawing/2014/main" id="{4ECF85C4-6883-455A-ADDA-5B204AA8532D}"/>
              </a:ext>
            </a:extLst>
          </p:cNvPr>
          <p:cNvCxnSpPr>
            <a:cxnSpLocks/>
          </p:cNvCxnSpPr>
          <p:nvPr/>
        </p:nvCxnSpPr>
        <p:spPr>
          <a:xfrm flipH="1">
            <a:off x="2020337" y="2909889"/>
            <a:ext cx="303759" cy="307975"/>
          </a:xfrm>
          <a:prstGeom prst="line">
            <a:avLst/>
          </a:prstGeom>
          <a:ln w="3810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1" name="Straight Connector 50">
            <a:extLst>
              <a:ext uri="{FF2B5EF4-FFF2-40B4-BE49-F238E27FC236}">
                <a16:creationId xmlns:a16="http://schemas.microsoft.com/office/drawing/2014/main" id="{A9149E9A-54E3-4554-9D58-F0187CD08D5C}"/>
              </a:ext>
            </a:extLst>
          </p:cNvPr>
          <p:cNvCxnSpPr>
            <a:cxnSpLocks/>
          </p:cNvCxnSpPr>
          <p:nvPr/>
        </p:nvCxnSpPr>
        <p:spPr>
          <a:xfrm flipH="1">
            <a:off x="2362200" y="3904038"/>
            <a:ext cx="313883" cy="318238"/>
          </a:xfrm>
          <a:prstGeom prst="line">
            <a:avLst/>
          </a:prstGeom>
          <a:ln w="3810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3" name="Straight Connector 52">
            <a:extLst>
              <a:ext uri="{FF2B5EF4-FFF2-40B4-BE49-F238E27FC236}">
                <a16:creationId xmlns:a16="http://schemas.microsoft.com/office/drawing/2014/main" id="{1AB11A06-D778-4DC1-9D3F-9943D6BAF9D6}"/>
              </a:ext>
            </a:extLst>
          </p:cNvPr>
          <p:cNvCxnSpPr>
            <a:cxnSpLocks/>
          </p:cNvCxnSpPr>
          <p:nvPr/>
        </p:nvCxnSpPr>
        <p:spPr>
          <a:xfrm flipH="1">
            <a:off x="2224087" y="4048642"/>
            <a:ext cx="608713" cy="617161"/>
          </a:xfrm>
          <a:prstGeom prst="line">
            <a:avLst/>
          </a:prstGeom>
          <a:ln w="3810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55" name="Rectangle 54">
                <a:extLst>
                  <a:ext uri="{FF2B5EF4-FFF2-40B4-BE49-F238E27FC236}">
                    <a16:creationId xmlns:a16="http://schemas.microsoft.com/office/drawing/2014/main" id="{595F4396-84F8-4C8A-8BBD-E2D07DCEC4F2}"/>
                  </a:ext>
                </a:extLst>
              </p:cNvPr>
              <p:cNvSpPr/>
              <p:nvPr/>
            </p:nvSpPr>
            <p:spPr>
              <a:xfrm>
                <a:off x="1482820" y="3560218"/>
                <a:ext cx="43313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b="0" i="0" smtClean="0">
                          <a:latin typeface="Cambria Math" panose="02040503050406030204" pitchFamily="18" charset="0"/>
                        </a:rPr>
                        <m:t>r</m:t>
                      </m:r>
                    </m:oMath>
                  </m:oMathPara>
                </a14:m>
                <a:endParaRPr lang="en-US" sz="2800"/>
              </a:p>
            </p:txBody>
          </p:sp>
        </mc:Choice>
        <mc:Fallback xmlns="">
          <p:sp>
            <p:nvSpPr>
              <p:cNvPr id="55" name="Rectangle 54">
                <a:extLst>
                  <a:ext uri="{FF2B5EF4-FFF2-40B4-BE49-F238E27FC236}">
                    <a16:creationId xmlns:a16="http://schemas.microsoft.com/office/drawing/2014/main" id="{595F4396-84F8-4C8A-8BBD-E2D07DCEC4F2}"/>
                  </a:ext>
                </a:extLst>
              </p:cNvPr>
              <p:cNvSpPr>
                <a:spLocks noRot="1" noChangeAspect="1" noMove="1" noResize="1" noEditPoints="1" noAdjustHandles="1" noChangeArrowheads="1" noChangeShapeType="1" noTextEdit="1"/>
              </p:cNvSpPr>
              <p:nvPr/>
            </p:nvSpPr>
            <p:spPr>
              <a:xfrm>
                <a:off x="1482820" y="3560218"/>
                <a:ext cx="433132" cy="523220"/>
              </a:xfrm>
              <a:prstGeom prst="rect">
                <a:avLst/>
              </a:prstGeom>
              <a:blipFill>
                <a:blip r:embed="rId5"/>
                <a:stretch>
                  <a:fillRect/>
                </a:stretch>
              </a:blipFill>
            </p:spPr>
            <p:txBody>
              <a:bodyPr/>
              <a:lstStyle/>
              <a:p>
                <a:r>
                  <a:rPr lang="en-US">
                    <a:noFill/>
                  </a:rPr>
                  <a:t> </a:t>
                </a:r>
              </a:p>
            </p:txBody>
          </p:sp>
        </mc:Fallback>
      </mc:AlternateContent>
      <p:cxnSp>
        <p:nvCxnSpPr>
          <p:cNvPr id="56" name="Straight Connector 55">
            <a:extLst>
              <a:ext uri="{FF2B5EF4-FFF2-40B4-BE49-F238E27FC236}">
                <a16:creationId xmlns:a16="http://schemas.microsoft.com/office/drawing/2014/main" id="{9B3636B4-3E9C-42BD-A203-E1B6972B8F3A}"/>
              </a:ext>
            </a:extLst>
          </p:cNvPr>
          <p:cNvCxnSpPr>
            <a:cxnSpLocks/>
          </p:cNvCxnSpPr>
          <p:nvPr/>
        </p:nvCxnSpPr>
        <p:spPr>
          <a:xfrm flipH="1">
            <a:off x="1610610" y="3509078"/>
            <a:ext cx="666737" cy="675991"/>
          </a:xfrm>
          <a:prstGeom prst="line">
            <a:avLst/>
          </a:prstGeom>
          <a:ln w="3810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193690945"/>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1E580-1D46-42BF-870E-DE4F854CD8D6}"/>
              </a:ext>
            </a:extLst>
          </p:cNvPr>
          <p:cNvSpPr>
            <a:spLocks noGrp="1"/>
          </p:cNvSpPr>
          <p:nvPr>
            <p:ph type="title"/>
          </p:nvPr>
        </p:nvSpPr>
        <p:spPr/>
        <p:txBody>
          <a:bodyPr/>
          <a:lstStyle/>
          <a:p>
            <a:r>
              <a:rPr lang="en-US" altLang="en-US"/>
              <a:t>Two Class – Linear SVM</a:t>
            </a:r>
            <a:endParaRPr lang="en-US"/>
          </a:p>
        </p:txBody>
      </p:sp>
      <p:sp>
        <p:nvSpPr>
          <p:cNvPr id="30" name="Content Placeholder 29">
            <a:extLst>
              <a:ext uri="{FF2B5EF4-FFF2-40B4-BE49-F238E27FC236}">
                <a16:creationId xmlns:a16="http://schemas.microsoft.com/office/drawing/2014/main" id="{41305498-4F2E-4B91-8CC9-2854079DD5E8}"/>
              </a:ext>
            </a:extLst>
          </p:cNvPr>
          <p:cNvSpPr>
            <a:spLocks noGrp="1"/>
          </p:cNvSpPr>
          <p:nvPr>
            <p:ph sz="half" idx="2"/>
          </p:nvPr>
        </p:nvSpPr>
        <p:spPr/>
        <p:txBody>
          <a:bodyPr/>
          <a:lstStyle/>
          <a:p>
            <a:pPr algn="just"/>
            <a:r>
              <a:rPr lang="en-US" altLang="en-US"/>
              <a:t>The decision boundary should be as far away from the data of both classes as possible.</a:t>
            </a:r>
          </a:p>
          <a:p>
            <a:pPr algn="just"/>
            <a:r>
              <a:rPr lang="en-US">
                <a:solidFill>
                  <a:srgbClr val="FF0000"/>
                </a:solidFill>
              </a:rPr>
              <a:t>Quyết định chọn siêu phẳng nào nên chọn siêu phẳng càng xa càng tốt dữ liệu của cả hai lớp có thể.</a:t>
            </a:r>
          </a:p>
        </p:txBody>
      </p:sp>
      <p:sp>
        <p:nvSpPr>
          <p:cNvPr id="3" name="Line 4">
            <a:extLst>
              <a:ext uri="{FF2B5EF4-FFF2-40B4-BE49-F238E27FC236}">
                <a16:creationId xmlns:a16="http://schemas.microsoft.com/office/drawing/2014/main" id="{1D59E12E-0A99-406A-B700-36214FC6E09D}"/>
              </a:ext>
            </a:extLst>
          </p:cNvPr>
          <p:cNvSpPr>
            <a:spLocks noChangeShapeType="1"/>
          </p:cNvSpPr>
          <p:nvPr/>
        </p:nvSpPr>
        <p:spPr bwMode="auto">
          <a:xfrm flipV="1">
            <a:off x="695325" y="1682750"/>
            <a:ext cx="0" cy="3581400"/>
          </a:xfrm>
          <a:prstGeom prst="line">
            <a:avLst/>
          </a:prstGeom>
          <a:noFill/>
          <a:ln w="38100">
            <a:solidFill>
              <a:schemeClr val="tx1"/>
            </a:solidFill>
            <a:miter lim="800000"/>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 name="Line 5">
            <a:extLst>
              <a:ext uri="{FF2B5EF4-FFF2-40B4-BE49-F238E27FC236}">
                <a16:creationId xmlns:a16="http://schemas.microsoft.com/office/drawing/2014/main" id="{5A8CF049-19F9-4985-8E78-3F9EF6F62CDB}"/>
              </a:ext>
            </a:extLst>
          </p:cNvPr>
          <p:cNvSpPr>
            <a:spLocks noChangeShapeType="1"/>
          </p:cNvSpPr>
          <p:nvPr/>
        </p:nvSpPr>
        <p:spPr bwMode="auto">
          <a:xfrm flipV="1">
            <a:off x="685800" y="5254625"/>
            <a:ext cx="4648200" cy="0"/>
          </a:xfrm>
          <a:prstGeom prst="line">
            <a:avLst/>
          </a:prstGeom>
          <a:noFill/>
          <a:ln w="38100">
            <a:solidFill>
              <a:schemeClr val="tx1"/>
            </a:solidFill>
            <a:miter lim="800000"/>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 name="Oval 6">
            <a:extLst>
              <a:ext uri="{FF2B5EF4-FFF2-40B4-BE49-F238E27FC236}">
                <a16:creationId xmlns:a16="http://schemas.microsoft.com/office/drawing/2014/main" id="{16B11EFC-0FBE-415A-B16A-0CD2D5ED27DF}"/>
              </a:ext>
            </a:extLst>
          </p:cNvPr>
          <p:cNvSpPr>
            <a:spLocks noChangeArrowheads="1"/>
          </p:cNvSpPr>
          <p:nvPr/>
        </p:nvSpPr>
        <p:spPr bwMode="auto">
          <a:xfrm>
            <a:off x="2743200" y="2663825"/>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Oval 7">
            <a:extLst>
              <a:ext uri="{FF2B5EF4-FFF2-40B4-BE49-F238E27FC236}">
                <a16:creationId xmlns:a16="http://schemas.microsoft.com/office/drawing/2014/main" id="{ADFDEEB9-F5C2-42A6-BF28-5672779085C3}"/>
              </a:ext>
            </a:extLst>
          </p:cNvPr>
          <p:cNvSpPr>
            <a:spLocks noChangeArrowheads="1"/>
          </p:cNvSpPr>
          <p:nvPr/>
        </p:nvSpPr>
        <p:spPr bwMode="auto">
          <a:xfrm>
            <a:off x="2971800" y="3273425"/>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Oval 8">
            <a:extLst>
              <a:ext uri="{FF2B5EF4-FFF2-40B4-BE49-F238E27FC236}">
                <a16:creationId xmlns:a16="http://schemas.microsoft.com/office/drawing/2014/main" id="{540BFB6C-D1F8-4806-B2C7-D8883EF303CA}"/>
              </a:ext>
            </a:extLst>
          </p:cNvPr>
          <p:cNvSpPr>
            <a:spLocks noChangeArrowheads="1"/>
          </p:cNvSpPr>
          <p:nvPr/>
        </p:nvSpPr>
        <p:spPr bwMode="auto">
          <a:xfrm>
            <a:off x="3810000" y="3502025"/>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Oval 9">
            <a:extLst>
              <a:ext uri="{FF2B5EF4-FFF2-40B4-BE49-F238E27FC236}">
                <a16:creationId xmlns:a16="http://schemas.microsoft.com/office/drawing/2014/main" id="{257D9B57-CC14-43DC-A83C-62BD19FE5F90}"/>
              </a:ext>
            </a:extLst>
          </p:cNvPr>
          <p:cNvSpPr>
            <a:spLocks noChangeArrowheads="1"/>
          </p:cNvSpPr>
          <p:nvPr/>
        </p:nvSpPr>
        <p:spPr bwMode="auto">
          <a:xfrm>
            <a:off x="2286000" y="2816225"/>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Oval 10">
            <a:extLst>
              <a:ext uri="{FF2B5EF4-FFF2-40B4-BE49-F238E27FC236}">
                <a16:creationId xmlns:a16="http://schemas.microsoft.com/office/drawing/2014/main" id="{4D459E55-3E26-4E9E-88DE-A27F30A52187}"/>
              </a:ext>
            </a:extLst>
          </p:cNvPr>
          <p:cNvSpPr>
            <a:spLocks noChangeArrowheads="1"/>
          </p:cNvSpPr>
          <p:nvPr/>
        </p:nvSpPr>
        <p:spPr bwMode="auto">
          <a:xfrm>
            <a:off x="3276600" y="3806825"/>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Rectangle 11">
            <a:extLst>
              <a:ext uri="{FF2B5EF4-FFF2-40B4-BE49-F238E27FC236}">
                <a16:creationId xmlns:a16="http://schemas.microsoft.com/office/drawing/2014/main" id="{51E8E650-D166-4291-B1F1-F4254D351914}"/>
              </a:ext>
            </a:extLst>
          </p:cNvPr>
          <p:cNvSpPr>
            <a:spLocks noChangeArrowheads="1"/>
          </p:cNvSpPr>
          <p:nvPr/>
        </p:nvSpPr>
        <p:spPr bwMode="auto">
          <a:xfrm>
            <a:off x="990600" y="3730625"/>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Rectangle 12">
            <a:extLst>
              <a:ext uri="{FF2B5EF4-FFF2-40B4-BE49-F238E27FC236}">
                <a16:creationId xmlns:a16="http://schemas.microsoft.com/office/drawing/2014/main" id="{86C137AD-D90D-4915-952E-0C0EB06E2A29}"/>
              </a:ext>
            </a:extLst>
          </p:cNvPr>
          <p:cNvSpPr>
            <a:spLocks noChangeArrowheads="1"/>
          </p:cNvSpPr>
          <p:nvPr/>
        </p:nvSpPr>
        <p:spPr bwMode="auto">
          <a:xfrm>
            <a:off x="2209800" y="4187825"/>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Rectangle 13">
            <a:extLst>
              <a:ext uri="{FF2B5EF4-FFF2-40B4-BE49-F238E27FC236}">
                <a16:creationId xmlns:a16="http://schemas.microsoft.com/office/drawing/2014/main" id="{39CD0813-7E8B-49C4-A2D1-182AFF1DADD7}"/>
              </a:ext>
            </a:extLst>
          </p:cNvPr>
          <p:cNvSpPr>
            <a:spLocks noChangeArrowheads="1"/>
          </p:cNvSpPr>
          <p:nvPr/>
        </p:nvSpPr>
        <p:spPr bwMode="auto">
          <a:xfrm>
            <a:off x="2057400" y="4645025"/>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Rectangle 14">
            <a:extLst>
              <a:ext uri="{FF2B5EF4-FFF2-40B4-BE49-F238E27FC236}">
                <a16:creationId xmlns:a16="http://schemas.microsoft.com/office/drawing/2014/main" id="{3288D920-6FE0-4A7E-960C-E7D9E6CD1877}"/>
              </a:ext>
            </a:extLst>
          </p:cNvPr>
          <p:cNvSpPr>
            <a:spLocks noChangeArrowheads="1"/>
          </p:cNvSpPr>
          <p:nvPr/>
        </p:nvSpPr>
        <p:spPr bwMode="auto">
          <a:xfrm>
            <a:off x="1447800" y="4187825"/>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Rectangle 15">
            <a:extLst>
              <a:ext uri="{FF2B5EF4-FFF2-40B4-BE49-F238E27FC236}">
                <a16:creationId xmlns:a16="http://schemas.microsoft.com/office/drawing/2014/main" id="{163A132E-2933-4FB3-96F4-381BD979201C}"/>
              </a:ext>
            </a:extLst>
          </p:cNvPr>
          <p:cNvSpPr>
            <a:spLocks noChangeArrowheads="1"/>
          </p:cNvSpPr>
          <p:nvPr/>
        </p:nvSpPr>
        <p:spPr bwMode="auto">
          <a:xfrm>
            <a:off x="1143000" y="4568825"/>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Rectangle 16">
            <a:extLst>
              <a:ext uri="{FF2B5EF4-FFF2-40B4-BE49-F238E27FC236}">
                <a16:creationId xmlns:a16="http://schemas.microsoft.com/office/drawing/2014/main" id="{F59D5F24-F229-4C4A-93FA-50A850069472}"/>
              </a:ext>
            </a:extLst>
          </p:cNvPr>
          <p:cNvSpPr>
            <a:spLocks noChangeArrowheads="1"/>
          </p:cNvSpPr>
          <p:nvPr/>
        </p:nvSpPr>
        <p:spPr bwMode="auto">
          <a:xfrm>
            <a:off x="1295400" y="3425825"/>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Text Box 17">
            <a:extLst>
              <a:ext uri="{FF2B5EF4-FFF2-40B4-BE49-F238E27FC236}">
                <a16:creationId xmlns:a16="http://schemas.microsoft.com/office/drawing/2014/main" id="{A411E530-EC3D-4591-828A-350DA6A925FC}"/>
              </a:ext>
            </a:extLst>
          </p:cNvPr>
          <p:cNvSpPr txBox="1">
            <a:spLocks noChangeArrowheads="1"/>
          </p:cNvSpPr>
          <p:nvPr/>
        </p:nvSpPr>
        <p:spPr bwMode="auto">
          <a:xfrm>
            <a:off x="990600" y="4770438"/>
            <a:ext cx="13003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800">
                <a:latin typeface="Tahoma" panose="020B0604030504040204" pitchFamily="34" charset="0"/>
              </a:rPr>
              <a:t>Class 1</a:t>
            </a:r>
          </a:p>
        </p:txBody>
      </p:sp>
      <p:sp>
        <p:nvSpPr>
          <p:cNvPr id="17" name="Text Box 18">
            <a:extLst>
              <a:ext uri="{FF2B5EF4-FFF2-40B4-BE49-F238E27FC236}">
                <a16:creationId xmlns:a16="http://schemas.microsoft.com/office/drawing/2014/main" id="{2C12ECF5-4C4A-4B01-BD94-526AAAD817CD}"/>
              </a:ext>
            </a:extLst>
          </p:cNvPr>
          <p:cNvSpPr txBox="1">
            <a:spLocks noChangeArrowheads="1"/>
          </p:cNvSpPr>
          <p:nvPr/>
        </p:nvSpPr>
        <p:spPr bwMode="auto">
          <a:xfrm>
            <a:off x="3429000" y="3578225"/>
            <a:ext cx="13003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800">
                <a:latin typeface="Tahoma" panose="020B0604030504040204" pitchFamily="34" charset="0"/>
              </a:rPr>
              <a:t>Class 2</a:t>
            </a:r>
          </a:p>
        </p:txBody>
      </p:sp>
      <p:sp>
        <p:nvSpPr>
          <p:cNvPr id="18" name="Line 19">
            <a:extLst>
              <a:ext uri="{FF2B5EF4-FFF2-40B4-BE49-F238E27FC236}">
                <a16:creationId xmlns:a16="http://schemas.microsoft.com/office/drawing/2014/main" id="{CF529CCD-04A6-45E1-8B0C-5EEA2E02F34F}"/>
              </a:ext>
            </a:extLst>
          </p:cNvPr>
          <p:cNvSpPr>
            <a:spLocks noChangeShapeType="1"/>
          </p:cNvSpPr>
          <p:nvPr/>
        </p:nvSpPr>
        <p:spPr bwMode="auto">
          <a:xfrm>
            <a:off x="1752600" y="2282825"/>
            <a:ext cx="2514600" cy="2514600"/>
          </a:xfrm>
          <a:prstGeom prst="line">
            <a:avLst/>
          </a:prstGeom>
          <a:noFill/>
          <a:ln w="38100">
            <a:solidFill>
              <a:schemeClr val="folHlink"/>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 name="Line 20">
            <a:extLst>
              <a:ext uri="{FF2B5EF4-FFF2-40B4-BE49-F238E27FC236}">
                <a16:creationId xmlns:a16="http://schemas.microsoft.com/office/drawing/2014/main" id="{7C7CA8CA-A50C-4C59-AB00-1C6AB2A17788}"/>
              </a:ext>
            </a:extLst>
          </p:cNvPr>
          <p:cNvSpPr>
            <a:spLocks noChangeShapeType="1"/>
          </p:cNvSpPr>
          <p:nvPr/>
        </p:nvSpPr>
        <p:spPr bwMode="auto">
          <a:xfrm>
            <a:off x="762000" y="2663825"/>
            <a:ext cx="2971800" cy="2971800"/>
          </a:xfrm>
          <a:prstGeom prst="line">
            <a:avLst/>
          </a:prstGeom>
          <a:noFill/>
          <a:ln w="38100">
            <a:solidFill>
              <a:schemeClr val="folHlink"/>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0" name="Line 21">
            <a:extLst>
              <a:ext uri="{FF2B5EF4-FFF2-40B4-BE49-F238E27FC236}">
                <a16:creationId xmlns:a16="http://schemas.microsoft.com/office/drawing/2014/main" id="{457E4896-CA33-4B02-BA2C-661E214C8954}"/>
              </a:ext>
            </a:extLst>
          </p:cNvPr>
          <p:cNvSpPr>
            <a:spLocks noChangeShapeType="1"/>
          </p:cNvSpPr>
          <p:nvPr/>
        </p:nvSpPr>
        <p:spPr bwMode="auto">
          <a:xfrm>
            <a:off x="348320" y="1564345"/>
            <a:ext cx="3995080" cy="3995080"/>
          </a:xfrm>
          <a:prstGeom prst="line">
            <a:avLst/>
          </a:prstGeom>
          <a:noFill/>
          <a:ln w="38100">
            <a:solidFill>
              <a:schemeClr val="fo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5" name="Text Box 27">
            <a:extLst>
              <a:ext uri="{FF2B5EF4-FFF2-40B4-BE49-F238E27FC236}">
                <a16:creationId xmlns:a16="http://schemas.microsoft.com/office/drawing/2014/main" id="{F0B9BFC3-5962-4A73-A399-E5866ADA7D43}"/>
              </a:ext>
            </a:extLst>
          </p:cNvPr>
          <p:cNvSpPr txBox="1">
            <a:spLocks noChangeArrowheads="1"/>
          </p:cNvSpPr>
          <p:nvPr/>
        </p:nvSpPr>
        <p:spPr bwMode="auto">
          <a:xfrm>
            <a:off x="3657600" y="4492625"/>
            <a:ext cx="48603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800" i="1">
                <a:solidFill>
                  <a:srgbClr val="CC00CC"/>
                </a:solidFill>
                <a:latin typeface="Tahoma" panose="020B0604030504040204" pitchFamily="34" charset="0"/>
              </a:rPr>
              <a:t>m</a:t>
            </a:r>
          </a:p>
        </p:txBody>
      </p:sp>
      <p:sp>
        <p:nvSpPr>
          <p:cNvPr id="26" name="Line 28">
            <a:extLst>
              <a:ext uri="{FF2B5EF4-FFF2-40B4-BE49-F238E27FC236}">
                <a16:creationId xmlns:a16="http://schemas.microsoft.com/office/drawing/2014/main" id="{713A8131-A40E-4A44-B3F9-437F39540C0F}"/>
              </a:ext>
            </a:extLst>
          </p:cNvPr>
          <p:cNvSpPr>
            <a:spLocks noChangeShapeType="1"/>
          </p:cNvSpPr>
          <p:nvPr/>
        </p:nvSpPr>
        <p:spPr bwMode="auto">
          <a:xfrm flipV="1">
            <a:off x="1905000" y="2663825"/>
            <a:ext cx="1600200" cy="1676400"/>
          </a:xfrm>
          <a:prstGeom prst="line">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B8C3E1B0-925B-4971-8351-2BF0332EF268}"/>
                  </a:ext>
                </a:extLst>
              </p:cNvPr>
              <p:cNvSpPr txBox="1"/>
              <p:nvPr/>
            </p:nvSpPr>
            <p:spPr>
              <a:xfrm>
                <a:off x="4343400" y="5572125"/>
                <a:ext cx="2069669" cy="4385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800" i="1" smtClean="0">
                              <a:latin typeface="Cambria Math" panose="02040503050406030204" pitchFamily="18" charset="0"/>
                            </a:rPr>
                          </m:ctrlPr>
                        </m:sSupPr>
                        <m:e>
                          <m:r>
                            <a:rPr lang="en-US" sz="2800" b="1" i="0" smtClean="0">
                              <a:latin typeface="Cambria Math" panose="02040503050406030204" pitchFamily="18" charset="0"/>
                            </a:rPr>
                            <m:t>𝐰</m:t>
                          </m:r>
                        </m:e>
                        <m:sup>
                          <m:r>
                            <m:rPr>
                              <m:sty m:val="p"/>
                            </m:rPr>
                            <a:rPr lang="en-US" sz="2800" b="0" i="0" smtClean="0">
                              <a:latin typeface="Cambria Math" panose="02040503050406030204" pitchFamily="18" charset="0"/>
                            </a:rPr>
                            <m:t>T</m:t>
                          </m:r>
                        </m:sup>
                      </m:sSup>
                      <m:r>
                        <a:rPr lang="en-US" sz="2800" b="1" i="0" smtClean="0">
                          <a:latin typeface="Cambria Math" panose="02040503050406030204" pitchFamily="18" charset="0"/>
                        </a:rPr>
                        <m:t>𝐱</m:t>
                      </m:r>
                      <m:r>
                        <a:rPr lang="en-US" sz="2800" b="0" i="0" smtClean="0">
                          <a:latin typeface="Cambria Math" panose="02040503050406030204" pitchFamily="18" charset="0"/>
                        </a:rPr>
                        <m:t>+</m:t>
                      </m:r>
                      <m:r>
                        <m:rPr>
                          <m:sty m:val="p"/>
                        </m:rPr>
                        <a:rPr lang="en-US" sz="2800" b="0" i="0" smtClean="0">
                          <a:latin typeface="Cambria Math" panose="02040503050406030204" pitchFamily="18" charset="0"/>
                        </a:rPr>
                        <m:t>b</m:t>
                      </m:r>
                      <m:r>
                        <a:rPr lang="en-US" sz="2800" b="0" i="0" smtClean="0">
                          <a:latin typeface="Cambria Math" panose="02040503050406030204" pitchFamily="18" charset="0"/>
                        </a:rPr>
                        <m:t>=0</m:t>
                      </m:r>
                    </m:oMath>
                  </m:oMathPara>
                </a14:m>
                <a:endParaRPr lang="en-US" sz="2800"/>
              </a:p>
            </p:txBody>
          </p:sp>
        </mc:Choice>
        <mc:Fallback xmlns="">
          <p:sp>
            <p:nvSpPr>
              <p:cNvPr id="28" name="TextBox 27">
                <a:extLst>
                  <a:ext uri="{FF2B5EF4-FFF2-40B4-BE49-F238E27FC236}">
                    <a16:creationId xmlns:a16="http://schemas.microsoft.com/office/drawing/2014/main" id="{B8C3E1B0-925B-4971-8351-2BF0332EF268}"/>
                  </a:ext>
                </a:extLst>
              </p:cNvPr>
              <p:cNvSpPr txBox="1">
                <a:spLocks noRot="1" noChangeAspect="1" noMove="1" noResize="1" noEditPoints="1" noAdjustHandles="1" noChangeArrowheads="1" noChangeShapeType="1" noTextEdit="1"/>
              </p:cNvSpPr>
              <p:nvPr/>
            </p:nvSpPr>
            <p:spPr>
              <a:xfrm>
                <a:off x="4343400" y="5572125"/>
                <a:ext cx="2069669" cy="43858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C175709D-839D-404E-ABF3-03F82F9CBB81}"/>
                  </a:ext>
                </a:extLst>
              </p:cNvPr>
              <p:cNvSpPr txBox="1"/>
              <p:nvPr/>
            </p:nvSpPr>
            <p:spPr>
              <a:xfrm>
                <a:off x="1600200" y="1695018"/>
                <a:ext cx="2069669" cy="4385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800" i="1" smtClean="0">
                              <a:latin typeface="Cambria Math" panose="02040503050406030204" pitchFamily="18" charset="0"/>
                            </a:rPr>
                          </m:ctrlPr>
                        </m:sSupPr>
                        <m:e>
                          <m:r>
                            <a:rPr lang="en-US" sz="2800" b="1" i="0" smtClean="0">
                              <a:latin typeface="Cambria Math" panose="02040503050406030204" pitchFamily="18" charset="0"/>
                            </a:rPr>
                            <m:t>𝐰</m:t>
                          </m:r>
                        </m:e>
                        <m:sup>
                          <m:r>
                            <m:rPr>
                              <m:sty m:val="p"/>
                            </m:rPr>
                            <a:rPr lang="en-US" sz="2800" b="0" i="0" smtClean="0">
                              <a:latin typeface="Cambria Math" panose="02040503050406030204" pitchFamily="18" charset="0"/>
                            </a:rPr>
                            <m:t>T</m:t>
                          </m:r>
                        </m:sup>
                      </m:sSup>
                      <m:r>
                        <a:rPr lang="en-US" sz="2800" b="1" i="0" smtClean="0">
                          <a:latin typeface="Cambria Math" panose="02040503050406030204" pitchFamily="18" charset="0"/>
                        </a:rPr>
                        <m:t>𝐱</m:t>
                      </m:r>
                      <m:r>
                        <a:rPr lang="en-US" sz="2800" b="0" i="0" smtClean="0">
                          <a:latin typeface="Cambria Math" panose="02040503050406030204" pitchFamily="18" charset="0"/>
                        </a:rPr>
                        <m:t>+</m:t>
                      </m:r>
                      <m:r>
                        <m:rPr>
                          <m:sty m:val="p"/>
                        </m:rPr>
                        <a:rPr lang="en-US" sz="2800" b="0" i="0" smtClean="0">
                          <a:latin typeface="Cambria Math" panose="02040503050406030204" pitchFamily="18" charset="0"/>
                        </a:rPr>
                        <m:t>b</m:t>
                      </m:r>
                      <m:r>
                        <a:rPr lang="en-US" sz="2800" b="0" i="0" smtClean="0">
                          <a:latin typeface="Cambria Math" panose="02040503050406030204" pitchFamily="18" charset="0"/>
                        </a:rPr>
                        <m:t>=1</m:t>
                      </m:r>
                    </m:oMath>
                  </m:oMathPara>
                </a14:m>
                <a:endParaRPr lang="en-US" sz="2800"/>
              </a:p>
            </p:txBody>
          </p:sp>
        </mc:Choice>
        <mc:Fallback xmlns="">
          <p:sp>
            <p:nvSpPr>
              <p:cNvPr id="31" name="TextBox 30">
                <a:extLst>
                  <a:ext uri="{FF2B5EF4-FFF2-40B4-BE49-F238E27FC236}">
                    <a16:creationId xmlns:a16="http://schemas.microsoft.com/office/drawing/2014/main" id="{C175709D-839D-404E-ABF3-03F82F9CBB81}"/>
                  </a:ext>
                </a:extLst>
              </p:cNvPr>
              <p:cNvSpPr txBox="1">
                <a:spLocks noRot="1" noChangeAspect="1" noMove="1" noResize="1" noEditPoints="1" noAdjustHandles="1" noChangeArrowheads="1" noChangeShapeType="1" noTextEdit="1"/>
              </p:cNvSpPr>
              <p:nvPr/>
            </p:nvSpPr>
            <p:spPr>
              <a:xfrm>
                <a:off x="1600200" y="1695018"/>
                <a:ext cx="2069669" cy="43858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32539B10-EE48-458D-B788-FD9D74054523}"/>
                  </a:ext>
                </a:extLst>
              </p:cNvPr>
              <p:cNvSpPr txBox="1"/>
              <p:nvPr/>
            </p:nvSpPr>
            <p:spPr>
              <a:xfrm>
                <a:off x="742950" y="5286375"/>
                <a:ext cx="2337371" cy="4385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800" i="1" smtClean="0">
                              <a:latin typeface="Cambria Math" panose="02040503050406030204" pitchFamily="18" charset="0"/>
                            </a:rPr>
                          </m:ctrlPr>
                        </m:sSupPr>
                        <m:e>
                          <m:r>
                            <a:rPr lang="en-US" sz="2800" b="1" i="0" smtClean="0">
                              <a:latin typeface="Cambria Math" panose="02040503050406030204" pitchFamily="18" charset="0"/>
                            </a:rPr>
                            <m:t>𝐰</m:t>
                          </m:r>
                        </m:e>
                        <m:sup>
                          <m:r>
                            <m:rPr>
                              <m:sty m:val="p"/>
                            </m:rPr>
                            <a:rPr lang="en-US" sz="2800" b="0" i="0" smtClean="0">
                              <a:latin typeface="Cambria Math" panose="02040503050406030204" pitchFamily="18" charset="0"/>
                            </a:rPr>
                            <m:t>T</m:t>
                          </m:r>
                        </m:sup>
                      </m:sSup>
                      <m:r>
                        <a:rPr lang="en-US" sz="2800" b="1" i="0" smtClean="0">
                          <a:latin typeface="Cambria Math" panose="02040503050406030204" pitchFamily="18" charset="0"/>
                        </a:rPr>
                        <m:t>𝐱</m:t>
                      </m:r>
                      <m:r>
                        <a:rPr lang="en-US" sz="2800" b="0" i="0" smtClean="0">
                          <a:latin typeface="Cambria Math" panose="02040503050406030204" pitchFamily="18" charset="0"/>
                        </a:rPr>
                        <m:t>+</m:t>
                      </m:r>
                      <m:r>
                        <m:rPr>
                          <m:sty m:val="p"/>
                        </m:rPr>
                        <a:rPr lang="en-US" sz="2800" b="0" i="0" smtClean="0">
                          <a:latin typeface="Cambria Math" panose="02040503050406030204" pitchFamily="18" charset="0"/>
                        </a:rPr>
                        <m:t>b</m:t>
                      </m:r>
                      <m:r>
                        <a:rPr lang="en-US" sz="2800" b="0" i="0" smtClean="0">
                          <a:latin typeface="Cambria Math" panose="02040503050406030204" pitchFamily="18" charset="0"/>
                        </a:rPr>
                        <m:t>=−1</m:t>
                      </m:r>
                    </m:oMath>
                  </m:oMathPara>
                </a14:m>
                <a:endParaRPr lang="en-US" sz="2800"/>
              </a:p>
            </p:txBody>
          </p:sp>
        </mc:Choice>
        <mc:Fallback xmlns="">
          <p:sp>
            <p:nvSpPr>
              <p:cNvPr id="32" name="TextBox 31">
                <a:extLst>
                  <a:ext uri="{FF2B5EF4-FFF2-40B4-BE49-F238E27FC236}">
                    <a16:creationId xmlns:a16="http://schemas.microsoft.com/office/drawing/2014/main" id="{32539B10-EE48-458D-B788-FD9D74054523}"/>
                  </a:ext>
                </a:extLst>
              </p:cNvPr>
              <p:cNvSpPr txBox="1">
                <a:spLocks noRot="1" noChangeAspect="1" noMove="1" noResize="1" noEditPoints="1" noAdjustHandles="1" noChangeArrowheads="1" noChangeShapeType="1" noTextEdit="1"/>
              </p:cNvSpPr>
              <p:nvPr/>
            </p:nvSpPr>
            <p:spPr>
              <a:xfrm>
                <a:off x="742950" y="5286375"/>
                <a:ext cx="2337371" cy="43858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316A5874-0537-48BA-9B7C-79C70527D515}"/>
                  </a:ext>
                </a:extLst>
              </p:cNvPr>
              <p:cNvSpPr/>
              <p:nvPr/>
            </p:nvSpPr>
            <p:spPr>
              <a:xfrm>
                <a:off x="3326420" y="2252990"/>
                <a:ext cx="57419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1">
                          <a:latin typeface="Cambria Math" panose="02040503050406030204" pitchFamily="18" charset="0"/>
                        </a:rPr>
                        <m:t>𝐰</m:t>
                      </m:r>
                    </m:oMath>
                  </m:oMathPara>
                </a14:m>
                <a:endParaRPr lang="en-US" sz="2800"/>
              </a:p>
            </p:txBody>
          </p:sp>
        </mc:Choice>
        <mc:Fallback xmlns="">
          <p:sp>
            <p:nvSpPr>
              <p:cNvPr id="21" name="Rectangle 20">
                <a:extLst>
                  <a:ext uri="{FF2B5EF4-FFF2-40B4-BE49-F238E27FC236}">
                    <a16:creationId xmlns:a16="http://schemas.microsoft.com/office/drawing/2014/main" id="{316A5874-0537-48BA-9B7C-79C70527D515}"/>
                  </a:ext>
                </a:extLst>
              </p:cNvPr>
              <p:cNvSpPr>
                <a:spLocks noRot="1" noChangeAspect="1" noMove="1" noResize="1" noEditPoints="1" noAdjustHandles="1" noChangeArrowheads="1" noChangeShapeType="1" noTextEdit="1"/>
              </p:cNvSpPr>
              <p:nvPr/>
            </p:nvSpPr>
            <p:spPr>
              <a:xfrm>
                <a:off x="3326420" y="2252990"/>
                <a:ext cx="574195" cy="523220"/>
              </a:xfrm>
              <a:prstGeom prst="rect">
                <a:avLst/>
              </a:prstGeom>
              <a:blipFill>
                <a:blip r:embed="rId6"/>
                <a:stretch>
                  <a:fillRect/>
                </a:stretch>
              </a:blipFill>
            </p:spPr>
            <p:txBody>
              <a:bodyPr/>
              <a:lstStyle/>
              <a:p>
                <a:r>
                  <a:rPr lang="en-US">
                    <a:noFill/>
                  </a:rPr>
                  <a:t> </a:t>
                </a:r>
              </a:p>
            </p:txBody>
          </p:sp>
        </mc:Fallback>
      </mc:AlternateContent>
      <p:sp>
        <p:nvSpPr>
          <p:cNvPr id="33" name="Line 25">
            <a:extLst>
              <a:ext uri="{FF2B5EF4-FFF2-40B4-BE49-F238E27FC236}">
                <a16:creationId xmlns:a16="http://schemas.microsoft.com/office/drawing/2014/main" id="{786C3985-2BC1-4DE7-B316-69643EFB6311}"/>
              </a:ext>
            </a:extLst>
          </p:cNvPr>
          <p:cNvSpPr>
            <a:spLocks noChangeShapeType="1"/>
          </p:cNvSpPr>
          <p:nvPr/>
        </p:nvSpPr>
        <p:spPr bwMode="auto">
          <a:xfrm flipH="1">
            <a:off x="3200400" y="4445000"/>
            <a:ext cx="723900" cy="733425"/>
          </a:xfrm>
          <a:prstGeom prst="line">
            <a:avLst/>
          </a:prstGeom>
          <a:noFill/>
          <a:ln w="38100">
            <a:solidFill>
              <a:srgbClr val="0066FF"/>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Tree>
    <p:extLst>
      <p:ext uri="{BB962C8B-B14F-4D97-AF65-F5344CB8AC3E}">
        <p14:creationId xmlns:p14="http://schemas.microsoft.com/office/powerpoint/2010/main" val="258945788"/>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1E580-1D46-42BF-870E-DE4F854CD8D6}"/>
              </a:ext>
            </a:extLst>
          </p:cNvPr>
          <p:cNvSpPr>
            <a:spLocks noGrp="1"/>
          </p:cNvSpPr>
          <p:nvPr>
            <p:ph type="title"/>
          </p:nvPr>
        </p:nvSpPr>
        <p:spPr/>
        <p:txBody>
          <a:bodyPr/>
          <a:lstStyle/>
          <a:p>
            <a:r>
              <a:rPr lang="en-US" altLang="en-US"/>
              <a:t>Two Class – Linear SVM</a:t>
            </a:r>
            <a:endParaRPr lang="en-US"/>
          </a:p>
        </p:txBody>
      </p:sp>
      <mc:AlternateContent xmlns:mc="http://schemas.openxmlformats.org/markup-compatibility/2006" xmlns:a14="http://schemas.microsoft.com/office/drawing/2010/main">
        <mc:Choice Requires="a14">
          <p:sp>
            <p:nvSpPr>
              <p:cNvPr id="30" name="Content Placeholder 29">
                <a:extLst>
                  <a:ext uri="{FF2B5EF4-FFF2-40B4-BE49-F238E27FC236}">
                    <a16:creationId xmlns:a16="http://schemas.microsoft.com/office/drawing/2014/main" id="{41305498-4F2E-4B91-8CC9-2854079DD5E8}"/>
                  </a:ext>
                </a:extLst>
              </p:cNvPr>
              <p:cNvSpPr>
                <a:spLocks noGrp="1"/>
              </p:cNvSpPr>
              <p:nvPr>
                <p:ph sz="half" idx="2"/>
              </p:nvPr>
            </p:nvSpPr>
            <p:spPr/>
            <p:txBody>
              <a:bodyPr/>
              <a:lstStyle/>
              <a:p>
                <a:pPr algn="just"/>
                <a:r>
                  <a:rPr lang="en-US" altLang="en-US">
                    <a:solidFill>
                      <a:srgbClr val="0066FF"/>
                    </a:solidFill>
                  </a:rPr>
                  <a:t>Margin </a:t>
                </a:r>
                <a14:m>
                  <m:oMath xmlns:m="http://schemas.openxmlformats.org/officeDocument/2006/math">
                    <m:r>
                      <a:rPr lang="en-US" altLang="en-US" i="1">
                        <a:solidFill>
                          <a:srgbClr val="0066FF"/>
                        </a:solidFill>
                        <a:latin typeface="Cambria Math" panose="02040503050406030204" pitchFamily="18" charset="0"/>
                      </a:rPr>
                      <m:t>𝑚</m:t>
                    </m:r>
                  </m:oMath>
                </a14:m>
                <a:r>
                  <a:rPr lang="en-US" altLang="en-US">
                    <a:solidFill>
                      <a:srgbClr val="0066FF"/>
                    </a:solidFill>
                  </a:rPr>
                  <a:t> of the separator is the distance between support vectors.</a:t>
                </a:r>
              </a:p>
              <a:p>
                <a:pPr algn="just"/>
                <a:r>
                  <a:rPr lang="en-US" altLang="en-US">
                    <a:solidFill>
                      <a:srgbClr val="FF0000"/>
                    </a:solidFill>
                  </a:rPr>
                  <a:t>Margin </a:t>
                </a:r>
                <a14:m>
                  <m:oMath xmlns:m="http://schemas.openxmlformats.org/officeDocument/2006/math">
                    <m:r>
                      <a:rPr lang="en-US" altLang="en-US" i="1">
                        <a:solidFill>
                          <a:srgbClr val="FF0000"/>
                        </a:solidFill>
                        <a:latin typeface="Cambria Math" panose="02040503050406030204" pitchFamily="18" charset="0"/>
                      </a:rPr>
                      <m:t>𝑚</m:t>
                    </m:r>
                  </m:oMath>
                </a14:m>
                <a:r>
                  <a:rPr lang="en-US" altLang="en-US">
                    <a:solidFill>
                      <a:srgbClr val="FF0000"/>
                    </a:solidFill>
                  </a:rPr>
                  <a:t> của siêu phẳng là khoảng cách giữa các support vector.</a:t>
                </a:r>
              </a:p>
              <a:p>
                <a:pPr algn="just"/>
                <a:endParaRPr lang="en-US">
                  <a:solidFill>
                    <a:srgbClr val="FF0000"/>
                  </a:solidFill>
                </a:endParaRPr>
              </a:p>
            </p:txBody>
          </p:sp>
        </mc:Choice>
        <mc:Fallback xmlns="">
          <p:sp>
            <p:nvSpPr>
              <p:cNvPr id="30" name="Content Placeholder 29">
                <a:extLst>
                  <a:ext uri="{FF2B5EF4-FFF2-40B4-BE49-F238E27FC236}">
                    <a16:creationId xmlns:a16="http://schemas.microsoft.com/office/drawing/2014/main" id="{41305498-4F2E-4B91-8CC9-2854079DD5E8}"/>
                  </a:ext>
                </a:extLst>
              </p:cNvPr>
              <p:cNvSpPr>
                <a:spLocks noGrp="1" noRot="1" noChangeAspect="1" noMove="1" noResize="1" noEditPoints="1" noAdjustHandles="1" noChangeArrowheads="1" noChangeShapeType="1" noTextEdit="1"/>
              </p:cNvSpPr>
              <p:nvPr>
                <p:ph sz="half" idx="2"/>
              </p:nvPr>
            </p:nvSpPr>
            <p:spPr>
              <a:blipFill>
                <a:blip r:embed="rId2"/>
                <a:stretch>
                  <a:fillRect l="-2039" t="-1482" r="-2265"/>
                </a:stretch>
              </a:blipFill>
            </p:spPr>
            <p:txBody>
              <a:bodyPr/>
              <a:lstStyle/>
              <a:p>
                <a:r>
                  <a:rPr lang="en-US">
                    <a:noFill/>
                  </a:rPr>
                  <a:t> </a:t>
                </a:r>
              </a:p>
            </p:txBody>
          </p:sp>
        </mc:Fallback>
      </mc:AlternateContent>
      <p:sp>
        <p:nvSpPr>
          <p:cNvPr id="3" name="Line 4">
            <a:extLst>
              <a:ext uri="{FF2B5EF4-FFF2-40B4-BE49-F238E27FC236}">
                <a16:creationId xmlns:a16="http://schemas.microsoft.com/office/drawing/2014/main" id="{1D59E12E-0A99-406A-B700-36214FC6E09D}"/>
              </a:ext>
            </a:extLst>
          </p:cNvPr>
          <p:cNvSpPr>
            <a:spLocks noChangeShapeType="1"/>
          </p:cNvSpPr>
          <p:nvPr/>
        </p:nvSpPr>
        <p:spPr bwMode="auto">
          <a:xfrm flipV="1">
            <a:off x="695325" y="1682750"/>
            <a:ext cx="0" cy="3581400"/>
          </a:xfrm>
          <a:prstGeom prst="line">
            <a:avLst/>
          </a:prstGeom>
          <a:noFill/>
          <a:ln w="38100">
            <a:solidFill>
              <a:schemeClr val="tx1"/>
            </a:solidFill>
            <a:miter lim="800000"/>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 name="Line 5">
            <a:extLst>
              <a:ext uri="{FF2B5EF4-FFF2-40B4-BE49-F238E27FC236}">
                <a16:creationId xmlns:a16="http://schemas.microsoft.com/office/drawing/2014/main" id="{5A8CF049-19F9-4985-8E78-3F9EF6F62CDB}"/>
              </a:ext>
            </a:extLst>
          </p:cNvPr>
          <p:cNvSpPr>
            <a:spLocks noChangeShapeType="1"/>
          </p:cNvSpPr>
          <p:nvPr/>
        </p:nvSpPr>
        <p:spPr bwMode="auto">
          <a:xfrm flipV="1">
            <a:off x="685800" y="5254625"/>
            <a:ext cx="4648200" cy="0"/>
          </a:xfrm>
          <a:prstGeom prst="line">
            <a:avLst/>
          </a:prstGeom>
          <a:noFill/>
          <a:ln w="38100">
            <a:solidFill>
              <a:schemeClr val="tx1"/>
            </a:solidFill>
            <a:miter lim="800000"/>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 name="Oval 6">
            <a:extLst>
              <a:ext uri="{FF2B5EF4-FFF2-40B4-BE49-F238E27FC236}">
                <a16:creationId xmlns:a16="http://schemas.microsoft.com/office/drawing/2014/main" id="{16B11EFC-0FBE-415A-B16A-0CD2D5ED27DF}"/>
              </a:ext>
            </a:extLst>
          </p:cNvPr>
          <p:cNvSpPr>
            <a:spLocks noChangeArrowheads="1"/>
          </p:cNvSpPr>
          <p:nvPr/>
        </p:nvSpPr>
        <p:spPr bwMode="auto">
          <a:xfrm>
            <a:off x="2743200" y="2663825"/>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Oval 7">
            <a:extLst>
              <a:ext uri="{FF2B5EF4-FFF2-40B4-BE49-F238E27FC236}">
                <a16:creationId xmlns:a16="http://schemas.microsoft.com/office/drawing/2014/main" id="{ADFDEEB9-F5C2-42A6-BF28-5672779085C3}"/>
              </a:ext>
            </a:extLst>
          </p:cNvPr>
          <p:cNvSpPr>
            <a:spLocks noChangeArrowheads="1"/>
          </p:cNvSpPr>
          <p:nvPr/>
        </p:nvSpPr>
        <p:spPr bwMode="auto">
          <a:xfrm>
            <a:off x="2971800" y="3273425"/>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Oval 8">
            <a:extLst>
              <a:ext uri="{FF2B5EF4-FFF2-40B4-BE49-F238E27FC236}">
                <a16:creationId xmlns:a16="http://schemas.microsoft.com/office/drawing/2014/main" id="{540BFB6C-D1F8-4806-B2C7-D8883EF303CA}"/>
              </a:ext>
            </a:extLst>
          </p:cNvPr>
          <p:cNvSpPr>
            <a:spLocks noChangeArrowheads="1"/>
          </p:cNvSpPr>
          <p:nvPr/>
        </p:nvSpPr>
        <p:spPr bwMode="auto">
          <a:xfrm>
            <a:off x="3810000" y="3502025"/>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Oval 9">
            <a:extLst>
              <a:ext uri="{FF2B5EF4-FFF2-40B4-BE49-F238E27FC236}">
                <a16:creationId xmlns:a16="http://schemas.microsoft.com/office/drawing/2014/main" id="{257D9B57-CC14-43DC-A83C-62BD19FE5F90}"/>
              </a:ext>
            </a:extLst>
          </p:cNvPr>
          <p:cNvSpPr>
            <a:spLocks noChangeArrowheads="1"/>
          </p:cNvSpPr>
          <p:nvPr/>
        </p:nvSpPr>
        <p:spPr bwMode="auto">
          <a:xfrm>
            <a:off x="2286000" y="2816225"/>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Oval 10">
            <a:extLst>
              <a:ext uri="{FF2B5EF4-FFF2-40B4-BE49-F238E27FC236}">
                <a16:creationId xmlns:a16="http://schemas.microsoft.com/office/drawing/2014/main" id="{4D459E55-3E26-4E9E-88DE-A27F30A52187}"/>
              </a:ext>
            </a:extLst>
          </p:cNvPr>
          <p:cNvSpPr>
            <a:spLocks noChangeArrowheads="1"/>
          </p:cNvSpPr>
          <p:nvPr/>
        </p:nvSpPr>
        <p:spPr bwMode="auto">
          <a:xfrm>
            <a:off x="3276600" y="3806825"/>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Rectangle 11">
            <a:extLst>
              <a:ext uri="{FF2B5EF4-FFF2-40B4-BE49-F238E27FC236}">
                <a16:creationId xmlns:a16="http://schemas.microsoft.com/office/drawing/2014/main" id="{51E8E650-D166-4291-B1F1-F4254D351914}"/>
              </a:ext>
            </a:extLst>
          </p:cNvPr>
          <p:cNvSpPr>
            <a:spLocks noChangeArrowheads="1"/>
          </p:cNvSpPr>
          <p:nvPr/>
        </p:nvSpPr>
        <p:spPr bwMode="auto">
          <a:xfrm>
            <a:off x="990600" y="3730625"/>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Rectangle 12">
            <a:extLst>
              <a:ext uri="{FF2B5EF4-FFF2-40B4-BE49-F238E27FC236}">
                <a16:creationId xmlns:a16="http://schemas.microsoft.com/office/drawing/2014/main" id="{86C137AD-D90D-4915-952E-0C0EB06E2A29}"/>
              </a:ext>
            </a:extLst>
          </p:cNvPr>
          <p:cNvSpPr>
            <a:spLocks noChangeArrowheads="1"/>
          </p:cNvSpPr>
          <p:nvPr/>
        </p:nvSpPr>
        <p:spPr bwMode="auto">
          <a:xfrm>
            <a:off x="2209800" y="4187825"/>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Rectangle 13">
            <a:extLst>
              <a:ext uri="{FF2B5EF4-FFF2-40B4-BE49-F238E27FC236}">
                <a16:creationId xmlns:a16="http://schemas.microsoft.com/office/drawing/2014/main" id="{39CD0813-7E8B-49C4-A2D1-182AFF1DADD7}"/>
              </a:ext>
            </a:extLst>
          </p:cNvPr>
          <p:cNvSpPr>
            <a:spLocks noChangeArrowheads="1"/>
          </p:cNvSpPr>
          <p:nvPr/>
        </p:nvSpPr>
        <p:spPr bwMode="auto">
          <a:xfrm>
            <a:off x="2057400" y="4645025"/>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Rectangle 14">
            <a:extLst>
              <a:ext uri="{FF2B5EF4-FFF2-40B4-BE49-F238E27FC236}">
                <a16:creationId xmlns:a16="http://schemas.microsoft.com/office/drawing/2014/main" id="{3288D920-6FE0-4A7E-960C-E7D9E6CD1877}"/>
              </a:ext>
            </a:extLst>
          </p:cNvPr>
          <p:cNvSpPr>
            <a:spLocks noChangeArrowheads="1"/>
          </p:cNvSpPr>
          <p:nvPr/>
        </p:nvSpPr>
        <p:spPr bwMode="auto">
          <a:xfrm>
            <a:off x="1447800" y="4187825"/>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Rectangle 15">
            <a:extLst>
              <a:ext uri="{FF2B5EF4-FFF2-40B4-BE49-F238E27FC236}">
                <a16:creationId xmlns:a16="http://schemas.microsoft.com/office/drawing/2014/main" id="{163A132E-2933-4FB3-96F4-381BD979201C}"/>
              </a:ext>
            </a:extLst>
          </p:cNvPr>
          <p:cNvSpPr>
            <a:spLocks noChangeArrowheads="1"/>
          </p:cNvSpPr>
          <p:nvPr/>
        </p:nvSpPr>
        <p:spPr bwMode="auto">
          <a:xfrm>
            <a:off x="1143000" y="4568825"/>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Rectangle 16">
            <a:extLst>
              <a:ext uri="{FF2B5EF4-FFF2-40B4-BE49-F238E27FC236}">
                <a16:creationId xmlns:a16="http://schemas.microsoft.com/office/drawing/2014/main" id="{F59D5F24-F229-4C4A-93FA-50A850069472}"/>
              </a:ext>
            </a:extLst>
          </p:cNvPr>
          <p:cNvSpPr>
            <a:spLocks noChangeArrowheads="1"/>
          </p:cNvSpPr>
          <p:nvPr/>
        </p:nvSpPr>
        <p:spPr bwMode="auto">
          <a:xfrm>
            <a:off x="1295400" y="3425825"/>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Text Box 17">
            <a:extLst>
              <a:ext uri="{FF2B5EF4-FFF2-40B4-BE49-F238E27FC236}">
                <a16:creationId xmlns:a16="http://schemas.microsoft.com/office/drawing/2014/main" id="{A411E530-EC3D-4591-828A-350DA6A925FC}"/>
              </a:ext>
            </a:extLst>
          </p:cNvPr>
          <p:cNvSpPr txBox="1">
            <a:spLocks noChangeArrowheads="1"/>
          </p:cNvSpPr>
          <p:nvPr/>
        </p:nvSpPr>
        <p:spPr bwMode="auto">
          <a:xfrm>
            <a:off x="990600" y="4770438"/>
            <a:ext cx="13003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800">
                <a:latin typeface="Tahoma" panose="020B0604030504040204" pitchFamily="34" charset="0"/>
              </a:rPr>
              <a:t>Class 1</a:t>
            </a:r>
          </a:p>
        </p:txBody>
      </p:sp>
      <p:sp>
        <p:nvSpPr>
          <p:cNvPr id="17" name="Text Box 18">
            <a:extLst>
              <a:ext uri="{FF2B5EF4-FFF2-40B4-BE49-F238E27FC236}">
                <a16:creationId xmlns:a16="http://schemas.microsoft.com/office/drawing/2014/main" id="{2C12ECF5-4C4A-4B01-BD94-526AAAD817CD}"/>
              </a:ext>
            </a:extLst>
          </p:cNvPr>
          <p:cNvSpPr txBox="1">
            <a:spLocks noChangeArrowheads="1"/>
          </p:cNvSpPr>
          <p:nvPr/>
        </p:nvSpPr>
        <p:spPr bwMode="auto">
          <a:xfrm>
            <a:off x="3429000" y="3578225"/>
            <a:ext cx="13003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800">
                <a:latin typeface="Tahoma" panose="020B0604030504040204" pitchFamily="34" charset="0"/>
              </a:rPr>
              <a:t>Class 2</a:t>
            </a:r>
          </a:p>
        </p:txBody>
      </p:sp>
      <p:sp>
        <p:nvSpPr>
          <p:cNvPr id="18" name="Line 19">
            <a:extLst>
              <a:ext uri="{FF2B5EF4-FFF2-40B4-BE49-F238E27FC236}">
                <a16:creationId xmlns:a16="http://schemas.microsoft.com/office/drawing/2014/main" id="{CF529CCD-04A6-45E1-8B0C-5EEA2E02F34F}"/>
              </a:ext>
            </a:extLst>
          </p:cNvPr>
          <p:cNvSpPr>
            <a:spLocks noChangeShapeType="1"/>
          </p:cNvSpPr>
          <p:nvPr/>
        </p:nvSpPr>
        <p:spPr bwMode="auto">
          <a:xfrm>
            <a:off x="1752600" y="2282825"/>
            <a:ext cx="2514600" cy="2514600"/>
          </a:xfrm>
          <a:prstGeom prst="line">
            <a:avLst/>
          </a:prstGeom>
          <a:noFill/>
          <a:ln w="38100">
            <a:solidFill>
              <a:schemeClr val="folHlink"/>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 name="Line 20">
            <a:extLst>
              <a:ext uri="{FF2B5EF4-FFF2-40B4-BE49-F238E27FC236}">
                <a16:creationId xmlns:a16="http://schemas.microsoft.com/office/drawing/2014/main" id="{7C7CA8CA-A50C-4C59-AB00-1C6AB2A17788}"/>
              </a:ext>
            </a:extLst>
          </p:cNvPr>
          <p:cNvSpPr>
            <a:spLocks noChangeShapeType="1"/>
          </p:cNvSpPr>
          <p:nvPr/>
        </p:nvSpPr>
        <p:spPr bwMode="auto">
          <a:xfrm>
            <a:off x="762000" y="2663825"/>
            <a:ext cx="2971800" cy="2971800"/>
          </a:xfrm>
          <a:prstGeom prst="line">
            <a:avLst/>
          </a:prstGeom>
          <a:noFill/>
          <a:ln w="38100">
            <a:solidFill>
              <a:schemeClr val="folHlink"/>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0" name="Line 21">
            <a:extLst>
              <a:ext uri="{FF2B5EF4-FFF2-40B4-BE49-F238E27FC236}">
                <a16:creationId xmlns:a16="http://schemas.microsoft.com/office/drawing/2014/main" id="{457E4896-CA33-4B02-BA2C-661E214C8954}"/>
              </a:ext>
            </a:extLst>
          </p:cNvPr>
          <p:cNvSpPr>
            <a:spLocks noChangeShapeType="1"/>
          </p:cNvSpPr>
          <p:nvPr/>
        </p:nvSpPr>
        <p:spPr bwMode="auto">
          <a:xfrm>
            <a:off x="348320" y="1564345"/>
            <a:ext cx="3995080" cy="3995080"/>
          </a:xfrm>
          <a:prstGeom prst="line">
            <a:avLst/>
          </a:prstGeom>
          <a:noFill/>
          <a:ln w="38100">
            <a:solidFill>
              <a:schemeClr val="fo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5" name="Text Box 27">
            <a:extLst>
              <a:ext uri="{FF2B5EF4-FFF2-40B4-BE49-F238E27FC236}">
                <a16:creationId xmlns:a16="http://schemas.microsoft.com/office/drawing/2014/main" id="{F0B9BFC3-5962-4A73-A399-E5866ADA7D43}"/>
              </a:ext>
            </a:extLst>
          </p:cNvPr>
          <p:cNvSpPr txBox="1">
            <a:spLocks noChangeArrowheads="1"/>
          </p:cNvSpPr>
          <p:nvPr/>
        </p:nvSpPr>
        <p:spPr bwMode="auto">
          <a:xfrm>
            <a:off x="3657600" y="4492625"/>
            <a:ext cx="48603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800" i="1">
                <a:solidFill>
                  <a:srgbClr val="CC00CC"/>
                </a:solidFill>
                <a:latin typeface="Tahoma" panose="020B0604030504040204" pitchFamily="34" charset="0"/>
              </a:rPr>
              <a:t>m</a:t>
            </a:r>
          </a:p>
        </p:txBody>
      </p:sp>
      <p:sp>
        <p:nvSpPr>
          <p:cNvPr id="26" name="Line 28">
            <a:extLst>
              <a:ext uri="{FF2B5EF4-FFF2-40B4-BE49-F238E27FC236}">
                <a16:creationId xmlns:a16="http://schemas.microsoft.com/office/drawing/2014/main" id="{713A8131-A40E-4A44-B3F9-437F39540C0F}"/>
              </a:ext>
            </a:extLst>
          </p:cNvPr>
          <p:cNvSpPr>
            <a:spLocks noChangeShapeType="1"/>
          </p:cNvSpPr>
          <p:nvPr/>
        </p:nvSpPr>
        <p:spPr bwMode="auto">
          <a:xfrm flipV="1">
            <a:off x="1905000" y="2663825"/>
            <a:ext cx="1600200" cy="1676400"/>
          </a:xfrm>
          <a:prstGeom prst="line">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B8C3E1B0-925B-4971-8351-2BF0332EF268}"/>
                  </a:ext>
                </a:extLst>
              </p:cNvPr>
              <p:cNvSpPr txBox="1"/>
              <p:nvPr/>
            </p:nvSpPr>
            <p:spPr>
              <a:xfrm>
                <a:off x="4343400" y="5572125"/>
                <a:ext cx="2069669" cy="4385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800" i="1" smtClean="0">
                              <a:latin typeface="Cambria Math" panose="02040503050406030204" pitchFamily="18" charset="0"/>
                            </a:rPr>
                          </m:ctrlPr>
                        </m:sSupPr>
                        <m:e>
                          <m:r>
                            <a:rPr lang="en-US" sz="2800" b="1" i="0" smtClean="0">
                              <a:latin typeface="Cambria Math" panose="02040503050406030204" pitchFamily="18" charset="0"/>
                            </a:rPr>
                            <m:t>𝐰</m:t>
                          </m:r>
                        </m:e>
                        <m:sup>
                          <m:r>
                            <m:rPr>
                              <m:sty m:val="p"/>
                            </m:rPr>
                            <a:rPr lang="en-US" sz="2800" b="0" i="0" smtClean="0">
                              <a:latin typeface="Cambria Math" panose="02040503050406030204" pitchFamily="18" charset="0"/>
                            </a:rPr>
                            <m:t>T</m:t>
                          </m:r>
                        </m:sup>
                      </m:sSup>
                      <m:r>
                        <a:rPr lang="en-US" sz="2800" b="1" i="0" smtClean="0">
                          <a:latin typeface="Cambria Math" panose="02040503050406030204" pitchFamily="18" charset="0"/>
                        </a:rPr>
                        <m:t>𝐱</m:t>
                      </m:r>
                      <m:r>
                        <a:rPr lang="en-US" sz="2800" b="0" i="0" smtClean="0">
                          <a:latin typeface="Cambria Math" panose="02040503050406030204" pitchFamily="18" charset="0"/>
                        </a:rPr>
                        <m:t>+</m:t>
                      </m:r>
                      <m:r>
                        <m:rPr>
                          <m:sty m:val="p"/>
                        </m:rPr>
                        <a:rPr lang="en-US" sz="2800" b="0" i="0" smtClean="0">
                          <a:latin typeface="Cambria Math" panose="02040503050406030204" pitchFamily="18" charset="0"/>
                        </a:rPr>
                        <m:t>b</m:t>
                      </m:r>
                      <m:r>
                        <a:rPr lang="en-US" sz="2800" b="0" i="0" smtClean="0">
                          <a:latin typeface="Cambria Math" panose="02040503050406030204" pitchFamily="18" charset="0"/>
                        </a:rPr>
                        <m:t>=0</m:t>
                      </m:r>
                    </m:oMath>
                  </m:oMathPara>
                </a14:m>
                <a:endParaRPr lang="en-US" sz="2800"/>
              </a:p>
            </p:txBody>
          </p:sp>
        </mc:Choice>
        <mc:Fallback xmlns="">
          <p:sp>
            <p:nvSpPr>
              <p:cNvPr id="28" name="TextBox 27">
                <a:extLst>
                  <a:ext uri="{FF2B5EF4-FFF2-40B4-BE49-F238E27FC236}">
                    <a16:creationId xmlns:a16="http://schemas.microsoft.com/office/drawing/2014/main" id="{B8C3E1B0-925B-4971-8351-2BF0332EF268}"/>
                  </a:ext>
                </a:extLst>
              </p:cNvPr>
              <p:cNvSpPr txBox="1">
                <a:spLocks noRot="1" noChangeAspect="1" noMove="1" noResize="1" noEditPoints="1" noAdjustHandles="1" noChangeArrowheads="1" noChangeShapeType="1" noTextEdit="1"/>
              </p:cNvSpPr>
              <p:nvPr/>
            </p:nvSpPr>
            <p:spPr>
              <a:xfrm>
                <a:off x="4343400" y="5572125"/>
                <a:ext cx="2069669" cy="43858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C175709D-839D-404E-ABF3-03F82F9CBB81}"/>
                  </a:ext>
                </a:extLst>
              </p:cNvPr>
              <p:cNvSpPr txBox="1"/>
              <p:nvPr/>
            </p:nvSpPr>
            <p:spPr>
              <a:xfrm>
                <a:off x="1600200" y="1695018"/>
                <a:ext cx="2069669" cy="4385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800" i="1" smtClean="0">
                              <a:latin typeface="Cambria Math" panose="02040503050406030204" pitchFamily="18" charset="0"/>
                            </a:rPr>
                          </m:ctrlPr>
                        </m:sSupPr>
                        <m:e>
                          <m:r>
                            <a:rPr lang="en-US" sz="2800" b="1" i="0" smtClean="0">
                              <a:latin typeface="Cambria Math" panose="02040503050406030204" pitchFamily="18" charset="0"/>
                            </a:rPr>
                            <m:t>𝐰</m:t>
                          </m:r>
                        </m:e>
                        <m:sup>
                          <m:r>
                            <m:rPr>
                              <m:sty m:val="p"/>
                            </m:rPr>
                            <a:rPr lang="en-US" sz="2800" b="0" i="0" smtClean="0">
                              <a:latin typeface="Cambria Math" panose="02040503050406030204" pitchFamily="18" charset="0"/>
                            </a:rPr>
                            <m:t>T</m:t>
                          </m:r>
                        </m:sup>
                      </m:sSup>
                      <m:r>
                        <a:rPr lang="en-US" sz="2800" b="1" i="0" smtClean="0">
                          <a:latin typeface="Cambria Math" panose="02040503050406030204" pitchFamily="18" charset="0"/>
                        </a:rPr>
                        <m:t>𝐱</m:t>
                      </m:r>
                      <m:r>
                        <a:rPr lang="en-US" sz="2800" b="0" i="0" smtClean="0">
                          <a:latin typeface="Cambria Math" panose="02040503050406030204" pitchFamily="18" charset="0"/>
                        </a:rPr>
                        <m:t>+</m:t>
                      </m:r>
                      <m:r>
                        <m:rPr>
                          <m:sty m:val="p"/>
                        </m:rPr>
                        <a:rPr lang="en-US" sz="2800" b="0" i="0" smtClean="0">
                          <a:latin typeface="Cambria Math" panose="02040503050406030204" pitchFamily="18" charset="0"/>
                        </a:rPr>
                        <m:t>b</m:t>
                      </m:r>
                      <m:r>
                        <a:rPr lang="en-US" sz="2800" b="0" i="0" smtClean="0">
                          <a:latin typeface="Cambria Math" panose="02040503050406030204" pitchFamily="18" charset="0"/>
                        </a:rPr>
                        <m:t>=1</m:t>
                      </m:r>
                    </m:oMath>
                  </m:oMathPara>
                </a14:m>
                <a:endParaRPr lang="en-US" sz="2800"/>
              </a:p>
            </p:txBody>
          </p:sp>
        </mc:Choice>
        <mc:Fallback xmlns="">
          <p:sp>
            <p:nvSpPr>
              <p:cNvPr id="31" name="TextBox 30">
                <a:extLst>
                  <a:ext uri="{FF2B5EF4-FFF2-40B4-BE49-F238E27FC236}">
                    <a16:creationId xmlns:a16="http://schemas.microsoft.com/office/drawing/2014/main" id="{C175709D-839D-404E-ABF3-03F82F9CBB81}"/>
                  </a:ext>
                </a:extLst>
              </p:cNvPr>
              <p:cNvSpPr txBox="1">
                <a:spLocks noRot="1" noChangeAspect="1" noMove="1" noResize="1" noEditPoints="1" noAdjustHandles="1" noChangeArrowheads="1" noChangeShapeType="1" noTextEdit="1"/>
              </p:cNvSpPr>
              <p:nvPr/>
            </p:nvSpPr>
            <p:spPr>
              <a:xfrm>
                <a:off x="1600200" y="1695018"/>
                <a:ext cx="2069669" cy="43858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32539B10-EE48-458D-B788-FD9D74054523}"/>
                  </a:ext>
                </a:extLst>
              </p:cNvPr>
              <p:cNvSpPr txBox="1"/>
              <p:nvPr/>
            </p:nvSpPr>
            <p:spPr>
              <a:xfrm>
                <a:off x="742950" y="5286375"/>
                <a:ext cx="2337371" cy="4385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800" i="1" smtClean="0">
                              <a:latin typeface="Cambria Math" panose="02040503050406030204" pitchFamily="18" charset="0"/>
                            </a:rPr>
                          </m:ctrlPr>
                        </m:sSupPr>
                        <m:e>
                          <m:r>
                            <a:rPr lang="en-US" sz="2800" b="1" i="0" smtClean="0">
                              <a:latin typeface="Cambria Math" panose="02040503050406030204" pitchFamily="18" charset="0"/>
                            </a:rPr>
                            <m:t>𝐰</m:t>
                          </m:r>
                        </m:e>
                        <m:sup>
                          <m:r>
                            <m:rPr>
                              <m:sty m:val="p"/>
                            </m:rPr>
                            <a:rPr lang="en-US" sz="2800" b="0" i="0" smtClean="0">
                              <a:latin typeface="Cambria Math" panose="02040503050406030204" pitchFamily="18" charset="0"/>
                            </a:rPr>
                            <m:t>T</m:t>
                          </m:r>
                        </m:sup>
                      </m:sSup>
                      <m:r>
                        <a:rPr lang="en-US" sz="2800" b="1" i="0" smtClean="0">
                          <a:latin typeface="Cambria Math" panose="02040503050406030204" pitchFamily="18" charset="0"/>
                        </a:rPr>
                        <m:t>𝐱</m:t>
                      </m:r>
                      <m:r>
                        <a:rPr lang="en-US" sz="2800" b="0" i="0" smtClean="0">
                          <a:latin typeface="Cambria Math" panose="02040503050406030204" pitchFamily="18" charset="0"/>
                        </a:rPr>
                        <m:t>+</m:t>
                      </m:r>
                      <m:r>
                        <m:rPr>
                          <m:sty m:val="p"/>
                        </m:rPr>
                        <a:rPr lang="en-US" sz="2800" b="0" i="0" smtClean="0">
                          <a:latin typeface="Cambria Math" panose="02040503050406030204" pitchFamily="18" charset="0"/>
                        </a:rPr>
                        <m:t>b</m:t>
                      </m:r>
                      <m:r>
                        <a:rPr lang="en-US" sz="2800" b="0" i="0" smtClean="0">
                          <a:latin typeface="Cambria Math" panose="02040503050406030204" pitchFamily="18" charset="0"/>
                        </a:rPr>
                        <m:t>=−1</m:t>
                      </m:r>
                    </m:oMath>
                  </m:oMathPara>
                </a14:m>
                <a:endParaRPr lang="en-US" sz="2800"/>
              </a:p>
            </p:txBody>
          </p:sp>
        </mc:Choice>
        <mc:Fallback xmlns="">
          <p:sp>
            <p:nvSpPr>
              <p:cNvPr id="32" name="TextBox 31">
                <a:extLst>
                  <a:ext uri="{FF2B5EF4-FFF2-40B4-BE49-F238E27FC236}">
                    <a16:creationId xmlns:a16="http://schemas.microsoft.com/office/drawing/2014/main" id="{32539B10-EE48-458D-B788-FD9D74054523}"/>
                  </a:ext>
                </a:extLst>
              </p:cNvPr>
              <p:cNvSpPr txBox="1">
                <a:spLocks noRot="1" noChangeAspect="1" noMove="1" noResize="1" noEditPoints="1" noAdjustHandles="1" noChangeArrowheads="1" noChangeShapeType="1" noTextEdit="1"/>
              </p:cNvSpPr>
              <p:nvPr/>
            </p:nvSpPr>
            <p:spPr>
              <a:xfrm>
                <a:off x="742950" y="5286375"/>
                <a:ext cx="2337371" cy="43858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316A5874-0537-48BA-9B7C-79C70527D515}"/>
                  </a:ext>
                </a:extLst>
              </p:cNvPr>
              <p:cNvSpPr/>
              <p:nvPr/>
            </p:nvSpPr>
            <p:spPr>
              <a:xfrm>
                <a:off x="3326420" y="2252990"/>
                <a:ext cx="57419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1">
                          <a:latin typeface="Cambria Math" panose="02040503050406030204" pitchFamily="18" charset="0"/>
                        </a:rPr>
                        <m:t>𝐰</m:t>
                      </m:r>
                    </m:oMath>
                  </m:oMathPara>
                </a14:m>
                <a:endParaRPr lang="en-US" sz="2800"/>
              </a:p>
            </p:txBody>
          </p:sp>
        </mc:Choice>
        <mc:Fallback xmlns="">
          <p:sp>
            <p:nvSpPr>
              <p:cNvPr id="21" name="Rectangle 20">
                <a:extLst>
                  <a:ext uri="{FF2B5EF4-FFF2-40B4-BE49-F238E27FC236}">
                    <a16:creationId xmlns:a16="http://schemas.microsoft.com/office/drawing/2014/main" id="{316A5874-0537-48BA-9B7C-79C70527D515}"/>
                  </a:ext>
                </a:extLst>
              </p:cNvPr>
              <p:cNvSpPr>
                <a:spLocks noRot="1" noChangeAspect="1" noMove="1" noResize="1" noEditPoints="1" noAdjustHandles="1" noChangeArrowheads="1" noChangeShapeType="1" noTextEdit="1"/>
              </p:cNvSpPr>
              <p:nvPr/>
            </p:nvSpPr>
            <p:spPr>
              <a:xfrm>
                <a:off x="3326420" y="2252990"/>
                <a:ext cx="574195" cy="523220"/>
              </a:xfrm>
              <a:prstGeom prst="rect">
                <a:avLst/>
              </a:prstGeom>
              <a:blipFill>
                <a:blip r:embed="rId6"/>
                <a:stretch>
                  <a:fillRect/>
                </a:stretch>
              </a:blipFill>
            </p:spPr>
            <p:txBody>
              <a:bodyPr/>
              <a:lstStyle/>
              <a:p>
                <a:r>
                  <a:rPr lang="en-US">
                    <a:noFill/>
                  </a:rPr>
                  <a:t> </a:t>
                </a:r>
              </a:p>
            </p:txBody>
          </p:sp>
        </mc:Fallback>
      </mc:AlternateContent>
      <p:sp>
        <p:nvSpPr>
          <p:cNvPr id="33" name="Line 25">
            <a:extLst>
              <a:ext uri="{FF2B5EF4-FFF2-40B4-BE49-F238E27FC236}">
                <a16:creationId xmlns:a16="http://schemas.microsoft.com/office/drawing/2014/main" id="{786C3985-2BC1-4DE7-B316-69643EFB6311}"/>
              </a:ext>
            </a:extLst>
          </p:cNvPr>
          <p:cNvSpPr>
            <a:spLocks noChangeShapeType="1"/>
          </p:cNvSpPr>
          <p:nvPr/>
        </p:nvSpPr>
        <p:spPr bwMode="auto">
          <a:xfrm flipH="1">
            <a:off x="3200400" y="4445000"/>
            <a:ext cx="723900" cy="733425"/>
          </a:xfrm>
          <a:prstGeom prst="line">
            <a:avLst/>
          </a:prstGeom>
          <a:noFill/>
          <a:ln w="38100">
            <a:solidFill>
              <a:srgbClr val="0066FF"/>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Tree>
    <p:extLst>
      <p:ext uri="{BB962C8B-B14F-4D97-AF65-F5344CB8AC3E}">
        <p14:creationId xmlns:p14="http://schemas.microsoft.com/office/powerpoint/2010/main" val="3640756148"/>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E21EA2C-D481-4F92-A729-886C9F18E2DF}"/>
              </a:ext>
            </a:extLst>
          </p:cNvPr>
          <p:cNvSpPr>
            <a:spLocks noGrp="1"/>
          </p:cNvSpPr>
          <p:nvPr>
            <p:ph type="title"/>
          </p:nvPr>
        </p:nvSpPr>
        <p:spPr/>
        <p:txBody>
          <a:bodyPr/>
          <a:lstStyle/>
          <a:p>
            <a:r>
              <a:rPr lang="en-US" altLang="en-US"/>
              <a:t>Two Class – Linear SVM</a:t>
            </a:r>
            <a:endParaRPr lang="en-US"/>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359C25D0-F1F8-45B9-B1AB-D6F95CC47BEF}"/>
                  </a:ext>
                </a:extLst>
              </p:cNvPr>
              <p:cNvSpPr>
                <a:spLocks noGrp="1"/>
              </p:cNvSpPr>
              <p:nvPr>
                <p:ph idx="1"/>
              </p:nvPr>
            </p:nvSpPr>
            <p:spPr/>
            <p:txBody>
              <a:bodyPr/>
              <a:lstStyle/>
              <a:p>
                <a:pPr algn="just"/>
                <a:r>
                  <a:rPr lang="en-US">
                    <a:solidFill>
                      <a:srgbClr val="0066FF"/>
                    </a:solidFill>
                  </a:rPr>
                  <a:t>Let training set </a:t>
                </a:r>
                <a14:m>
                  <m:oMath xmlns:m="http://schemas.openxmlformats.org/officeDocument/2006/math">
                    <m:sSub>
                      <m:sSubPr>
                        <m:ctrlPr>
                          <a:rPr lang="en-US" i="1" smtClean="0">
                            <a:solidFill>
                              <a:srgbClr val="0066FF"/>
                            </a:solidFill>
                            <a:latin typeface="Cambria Math" panose="02040503050406030204" pitchFamily="18" charset="0"/>
                          </a:rPr>
                        </m:ctrlPr>
                      </m:sSubPr>
                      <m:e>
                        <m:d>
                          <m:dPr>
                            <m:begChr m:val="{"/>
                            <m:endChr m:val="}"/>
                            <m:ctrlPr>
                              <a:rPr lang="en-US" i="1" smtClean="0">
                                <a:solidFill>
                                  <a:srgbClr val="0066FF"/>
                                </a:solidFill>
                                <a:latin typeface="Cambria Math" panose="02040503050406030204" pitchFamily="18" charset="0"/>
                              </a:rPr>
                            </m:ctrlPr>
                          </m:dPr>
                          <m:e>
                            <m:d>
                              <m:dPr>
                                <m:ctrlPr>
                                  <a:rPr lang="en-US" i="1" smtClean="0">
                                    <a:solidFill>
                                      <a:srgbClr val="0066FF"/>
                                    </a:solidFill>
                                    <a:latin typeface="Cambria Math" panose="02040503050406030204" pitchFamily="18" charset="0"/>
                                  </a:rPr>
                                </m:ctrlPr>
                              </m:dPr>
                              <m:e>
                                <m:sSub>
                                  <m:sSubPr>
                                    <m:ctrlPr>
                                      <a:rPr lang="en-US" i="1" smtClean="0">
                                        <a:solidFill>
                                          <a:srgbClr val="0066FF"/>
                                        </a:solidFill>
                                        <a:latin typeface="Cambria Math" panose="02040503050406030204" pitchFamily="18" charset="0"/>
                                      </a:rPr>
                                    </m:ctrlPr>
                                  </m:sSubPr>
                                  <m:e>
                                    <m:r>
                                      <a:rPr lang="en-US" b="1" i="0" smtClean="0">
                                        <a:solidFill>
                                          <a:srgbClr val="0066FF"/>
                                        </a:solidFill>
                                        <a:latin typeface="Cambria Math" panose="02040503050406030204" pitchFamily="18" charset="0"/>
                                      </a:rPr>
                                      <m:t>𝐱</m:t>
                                    </m:r>
                                  </m:e>
                                  <m:sub>
                                    <m:r>
                                      <a:rPr lang="en-US" b="0" i="1" smtClean="0">
                                        <a:solidFill>
                                          <a:srgbClr val="0066FF"/>
                                        </a:solidFill>
                                        <a:latin typeface="Cambria Math" panose="02040503050406030204" pitchFamily="18" charset="0"/>
                                      </a:rPr>
                                      <m:t>𝑖</m:t>
                                    </m:r>
                                  </m:sub>
                                </m:sSub>
                                <m:r>
                                  <a:rPr lang="en-US" b="0" i="1" smtClean="0">
                                    <a:solidFill>
                                      <a:srgbClr val="0066FF"/>
                                    </a:solidFill>
                                    <a:latin typeface="Cambria Math" panose="02040503050406030204" pitchFamily="18" charset="0"/>
                                  </a:rPr>
                                  <m:t>,</m:t>
                                </m:r>
                                <m:sSub>
                                  <m:sSubPr>
                                    <m:ctrlPr>
                                      <a:rPr lang="en-US" i="1">
                                        <a:solidFill>
                                          <a:srgbClr val="0066FF"/>
                                        </a:solidFill>
                                        <a:latin typeface="Cambria Math" panose="02040503050406030204" pitchFamily="18" charset="0"/>
                                      </a:rPr>
                                    </m:ctrlPr>
                                  </m:sSubPr>
                                  <m:e>
                                    <m:r>
                                      <a:rPr lang="en-US" b="0" i="1" smtClean="0">
                                        <a:solidFill>
                                          <a:srgbClr val="0066FF"/>
                                        </a:solidFill>
                                        <a:latin typeface="Cambria Math" panose="02040503050406030204" pitchFamily="18" charset="0"/>
                                      </a:rPr>
                                      <m:t>𝑦</m:t>
                                    </m:r>
                                  </m:e>
                                  <m:sub>
                                    <m:r>
                                      <a:rPr lang="en-US" i="1">
                                        <a:solidFill>
                                          <a:srgbClr val="0066FF"/>
                                        </a:solidFill>
                                        <a:latin typeface="Cambria Math" panose="02040503050406030204" pitchFamily="18" charset="0"/>
                                      </a:rPr>
                                      <m:t>𝑖</m:t>
                                    </m:r>
                                  </m:sub>
                                </m:sSub>
                              </m:e>
                            </m:d>
                          </m:e>
                        </m:d>
                      </m:e>
                      <m:sub>
                        <m:r>
                          <a:rPr lang="en-US" b="0" i="1" smtClean="0">
                            <a:solidFill>
                              <a:srgbClr val="0066FF"/>
                            </a:solidFill>
                            <a:latin typeface="Cambria Math" panose="02040503050406030204" pitchFamily="18" charset="0"/>
                          </a:rPr>
                          <m:t>𝑖</m:t>
                        </m:r>
                        <m:r>
                          <a:rPr lang="en-US" b="0" i="1" smtClean="0">
                            <a:solidFill>
                              <a:srgbClr val="0066FF"/>
                            </a:solidFill>
                            <a:latin typeface="Cambria Math" panose="02040503050406030204" pitchFamily="18" charset="0"/>
                          </a:rPr>
                          <m:t>=1..</m:t>
                        </m:r>
                        <m:r>
                          <a:rPr lang="en-US" b="0" i="1" smtClean="0">
                            <a:solidFill>
                              <a:srgbClr val="0066FF"/>
                            </a:solidFill>
                            <a:latin typeface="Cambria Math" panose="02040503050406030204" pitchFamily="18" charset="0"/>
                          </a:rPr>
                          <m:t>𝑛</m:t>
                        </m:r>
                      </m:sub>
                    </m:sSub>
                  </m:oMath>
                </a14:m>
                <a:r>
                  <a:rPr lang="en-US">
                    <a:solidFill>
                      <a:srgbClr val="0066FF"/>
                    </a:solidFill>
                  </a:rPr>
                  <a:t>, </a:t>
                </a:r>
                <a14:m>
                  <m:oMath xmlns:m="http://schemas.openxmlformats.org/officeDocument/2006/math">
                    <m:sSub>
                      <m:sSubPr>
                        <m:ctrlPr>
                          <a:rPr lang="en-US" i="1">
                            <a:solidFill>
                              <a:srgbClr val="0066FF"/>
                            </a:solidFill>
                            <a:latin typeface="Cambria Math" panose="02040503050406030204" pitchFamily="18" charset="0"/>
                          </a:rPr>
                        </m:ctrlPr>
                      </m:sSubPr>
                      <m:e>
                        <m:r>
                          <a:rPr lang="en-US" b="1" i="0">
                            <a:solidFill>
                              <a:srgbClr val="0066FF"/>
                            </a:solidFill>
                            <a:latin typeface="Cambria Math" panose="02040503050406030204" pitchFamily="18" charset="0"/>
                          </a:rPr>
                          <m:t>𝐱</m:t>
                        </m:r>
                      </m:e>
                      <m:sub>
                        <m:r>
                          <a:rPr lang="en-US" i="1">
                            <a:solidFill>
                              <a:srgbClr val="0066FF"/>
                            </a:solidFill>
                            <a:latin typeface="Cambria Math" panose="02040503050406030204" pitchFamily="18" charset="0"/>
                          </a:rPr>
                          <m:t>𝑖</m:t>
                        </m:r>
                      </m:sub>
                    </m:sSub>
                    <m:r>
                      <a:rPr lang="en-US" i="1" smtClean="0">
                        <a:solidFill>
                          <a:srgbClr val="0066FF"/>
                        </a:solidFill>
                        <a:latin typeface="Cambria Math" panose="02040503050406030204" pitchFamily="18" charset="0"/>
                        <a:ea typeface="Cambria Math" panose="02040503050406030204" pitchFamily="18" charset="0"/>
                      </a:rPr>
                      <m:t>∈</m:t>
                    </m:r>
                    <m:sSup>
                      <m:sSupPr>
                        <m:ctrlPr>
                          <a:rPr lang="en-US" i="1" smtClean="0">
                            <a:solidFill>
                              <a:srgbClr val="0066FF"/>
                            </a:solidFill>
                            <a:latin typeface="Cambria Math" panose="02040503050406030204" pitchFamily="18" charset="0"/>
                            <a:ea typeface="Cambria Math" panose="02040503050406030204" pitchFamily="18" charset="0"/>
                          </a:rPr>
                        </m:ctrlPr>
                      </m:sSupPr>
                      <m:e>
                        <m:r>
                          <a:rPr lang="en-US" i="1" smtClean="0">
                            <a:solidFill>
                              <a:srgbClr val="0066FF"/>
                            </a:solidFill>
                            <a:latin typeface="Cambria Math" panose="02040503050406030204" pitchFamily="18" charset="0"/>
                            <a:ea typeface="Cambria Math" panose="02040503050406030204" pitchFamily="18" charset="0"/>
                          </a:rPr>
                          <m:t>ℝ</m:t>
                        </m:r>
                      </m:e>
                      <m:sup>
                        <m:r>
                          <a:rPr lang="en-US" b="0" i="1" smtClean="0">
                            <a:solidFill>
                              <a:srgbClr val="0066FF"/>
                            </a:solidFill>
                            <a:latin typeface="Cambria Math" panose="02040503050406030204" pitchFamily="18" charset="0"/>
                            <a:ea typeface="Cambria Math" panose="02040503050406030204" pitchFamily="18" charset="0"/>
                          </a:rPr>
                          <m:t>𝑑</m:t>
                        </m:r>
                      </m:sup>
                    </m:sSup>
                  </m:oMath>
                </a14:m>
                <a:r>
                  <a:rPr lang="en-US">
                    <a:solidFill>
                      <a:srgbClr val="0066FF"/>
                    </a:solidFill>
                  </a:rPr>
                  <a:t>, </a:t>
                </a:r>
                <a14:m>
                  <m:oMath xmlns:m="http://schemas.openxmlformats.org/officeDocument/2006/math">
                    <m:sSub>
                      <m:sSubPr>
                        <m:ctrlPr>
                          <a:rPr lang="en-US" i="1">
                            <a:solidFill>
                              <a:srgbClr val="0066FF"/>
                            </a:solidFill>
                            <a:latin typeface="Cambria Math" panose="02040503050406030204" pitchFamily="18" charset="0"/>
                          </a:rPr>
                        </m:ctrlPr>
                      </m:sSubPr>
                      <m:e>
                        <m:r>
                          <a:rPr lang="en-US" i="1">
                            <a:solidFill>
                              <a:srgbClr val="0066FF"/>
                            </a:solidFill>
                            <a:latin typeface="Cambria Math" panose="02040503050406030204" pitchFamily="18" charset="0"/>
                          </a:rPr>
                          <m:t>𝑦</m:t>
                        </m:r>
                      </m:e>
                      <m:sub>
                        <m:r>
                          <a:rPr lang="en-US" i="1">
                            <a:solidFill>
                              <a:srgbClr val="0066FF"/>
                            </a:solidFill>
                            <a:latin typeface="Cambria Math" panose="02040503050406030204" pitchFamily="18" charset="0"/>
                          </a:rPr>
                          <m:t>𝑖</m:t>
                        </m:r>
                      </m:sub>
                    </m:sSub>
                    <m:r>
                      <a:rPr lang="en-US" i="1">
                        <a:solidFill>
                          <a:srgbClr val="0066FF"/>
                        </a:solidFill>
                        <a:latin typeface="Cambria Math" panose="02040503050406030204" pitchFamily="18" charset="0"/>
                        <a:ea typeface="Cambria Math" panose="02040503050406030204" pitchFamily="18" charset="0"/>
                      </a:rPr>
                      <m:t>∈</m:t>
                    </m:r>
                    <m:d>
                      <m:dPr>
                        <m:begChr m:val="{"/>
                        <m:endChr m:val="}"/>
                        <m:ctrlPr>
                          <a:rPr lang="en-US" i="1" smtClean="0">
                            <a:solidFill>
                              <a:srgbClr val="0066FF"/>
                            </a:solidFill>
                            <a:latin typeface="Cambria Math" panose="02040503050406030204" pitchFamily="18" charset="0"/>
                            <a:ea typeface="Cambria Math" panose="02040503050406030204" pitchFamily="18" charset="0"/>
                          </a:rPr>
                        </m:ctrlPr>
                      </m:dPr>
                      <m:e>
                        <m:r>
                          <a:rPr lang="en-US" b="0" i="1" smtClean="0">
                            <a:solidFill>
                              <a:srgbClr val="0066FF"/>
                            </a:solidFill>
                            <a:latin typeface="Cambria Math" panose="02040503050406030204" pitchFamily="18" charset="0"/>
                            <a:ea typeface="Cambria Math" panose="02040503050406030204" pitchFamily="18" charset="0"/>
                          </a:rPr>
                          <m:t>−1,+1</m:t>
                        </m:r>
                      </m:e>
                    </m:d>
                  </m:oMath>
                </a14:m>
                <a:r>
                  <a:rPr lang="en-US">
                    <a:solidFill>
                      <a:srgbClr val="0066FF"/>
                    </a:solidFill>
                  </a:rPr>
                  <a:t> be separated by a hyperplane with margin </a:t>
                </a:r>
                <a14:m>
                  <m:oMath xmlns:m="http://schemas.openxmlformats.org/officeDocument/2006/math">
                    <m:r>
                      <a:rPr lang="en-US" i="1" smtClean="0">
                        <a:solidFill>
                          <a:srgbClr val="0066FF"/>
                        </a:solidFill>
                        <a:latin typeface="Cambria Math" panose="02040503050406030204" pitchFamily="18" charset="0"/>
                      </a:rPr>
                      <m:t>𝑚</m:t>
                    </m:r>
                  </m:oMath>
                </a14:m>
                <a:r>
                  <a:rPr lang="en-US">
                    <a:solidFill>
                      <a:srgbClr val="0066FF"/>
                    </a:solidFill>
                  </a:rPr>
                  <a:t>. </a:t>
                </a:r>
              </a:p>
              <a:p>
                <a:pPr algn="just"/>
                <a:r>
                  <a:rPr lang="en-US">
                    <a:solidFill>
                      <a:srgbClr val="FF0000"/>
                    </a:solidFill>
                  </a:rPr>
                  <a:t>Then for each training example </a:t>
                </a:r>
                <a14:m>
                  <m:oMath xmlns:m="http://schemas.openxmlformats.org/officeDocument/2006/math">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r>
                              <a:rPr lang="en-US" b="1">
                                <a:solidFill>
                                  <a:srgbClr val="FF0000"/>
                                </a:solidFill>
                                <a:latin typeface="Cambria Math" panose="02040503050406030204" pitchFamily="18" charset="0"/>
                              </a:rPr>
                              <m:t>𝐱</m:t>
                            </m:r>
                          </m:e>
                          <m:sub>
                            <m:r>
                              <a:rPr lang="en-US" i="1">
                                <a:solidFill>
                                  <a:srgbClr val="FF0000"/>
                                </a:solidFill>
                                <a:latin typeface="Cambria Math" panose="02040503050406030204" pitchFamily="18" charset="0"/>
                              </a:rPr>
                              <m:t>𝑖</m:t>
                            </m:r>
                          </m:sub>
                        </m:sSub>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𝑦</m:t>
                            </m:r>
                          </m:e>
                          <m:sub>
                            <m:r>
                              <a:rPr lang="en-US" i="1">
                                <a:solidFill>
                                  <a:srgbClr val="FF0000"/>
                                </a:solidFill>
                                <a:latin typeface="Cambria Math" panose="02040503050406030204" pitchFamily="18" charset="0"/>
                              </a:rPr>
                              <m:t>𝑖</m:t>
                            </m:r>
                          </m:sub>
                        </m:sSub>
                      </m:e>
                    </m:d>
                  </m:oMath>
                </a14:m>
                <a:r>
                  <a:rPr lang="en-US">
                    <a:solidFill>
                      <a:srgbClr val="FF0000"/>
                    </a:solidFill>
                  </a:rPr>
                  <a:t>:</a:t>
                </a:r>
              </a:p>
              <a:p>
                <a:pPr lvl="1"/>
                <a14:m>
                  <m:oMath xmlns:m="http://schemas.openxmlformats.org/officeDocument/2006/math">
                    <m:sSup>
                      <m:sSupPr>
                        <m:ctrlPr>
                          <a:rPr lang="en-US" i="1" smtClean="0">
                            <a:solidFill>
                              <a:srgbClr val="0066FF"/>
                            </a:solidFill>
                            <a:latin typeface="Cambria Math" panose="02040503050406030204" pitchFamily="18" charset="0"/>
                          </a:rPr>
                        </m:ctrlPr>
                      </m:sSupPr>
                      <m:e>
                        <m:r>
                          <a:rPr lang="en-US" b="1">
                            <a:solidFill>
                              <a:srgbClr val="0066FF"/>
                            </a:solidFill>
                            <a:latin typeface="Cambria Math" panose="02040503050406030204" pitchFamily="18" charset="0"/>
                          </a:rPr>
                          <m:t>𝐰</m:t>
                        </m:r>
                      </m:e>
                      <m:sup>
                        <m:r>
                          <m:rPr>
                            <m:sty m:val="p"/>
                          </m:rPr>
                          <a:rPr lang="en-US">
                            <a:solidFill>
                              <a:srgbClr val="0066FF"/>
                            </a:solidFill>
                            <a:latin typeface="Cambria Math" panose="02040503050406030204" pitchFamily="18" charset="0"/>
                          </a:rPr>
                          <m:t>T</m:t>
                        </m:r>
                      </m:sup>
                    </m:sSup>
                    <m:r>
                      <a:rPr lang="en-US" b="1">
                        <a:solidFill>
                          <a:srgbClr val="0066FF"/>
                        </a:solidFill>
                        <a:latin typeface="Cambria Math" panose="02040503050406030204" pitchFamily="18" charset="0"/>
                      </a:rPr>
                      <m:t>𝐱</m:t>
                    </m:r>
                    <m:r>
                      <a:rPr lang="en-US">
                        <a:solidFill>
                          <a:srgbClr val="0066FF"/>
                        </a:solidFill>
                        <a:latin typeface="Cambria Math" panose="02040503050406030204" pitchFamily="18" charset="0"/>
                      </a:rPr>
                      <m:t>+</m:t>
                    </m:r>
                    <m:r>
                      <m:rPr>
                        <m:sty m:val="p"/>
                      </m:rPr>
                      <a:rPr lang="en-US">
                        <a:solidFill>
                          <a:srgbClr val="0066FF"/>
                        </a:solidFill>
                        <a:latin typeface="Cambria Math" panose="02040503050406030204" pitchFamily="18" charset="0"/>
                      </a:rPr>
                      <m:t>b</m:t>
                    </m:r>
                    <m:r>
                      <a:rPr lang="en-US" i="1" smtClean="0">
                        <a:solidFill>
                          <a:srgbClr val="0066FF"/>
                        </a:solidFill>
                        <a:latin typeface="Cambria Math" panose="02040503050406030204" pitchFamily="18" charset="0"/>
                        <a:ea typeface="Cambria Math" panose="02040503050406030204" pitchFamily="18" charset="0"/>
                      </a:rPr>
                      <m:t>≤</m:t>
                    </m:r>
                    <m:f>
                      <m:fPr>
                        <m:ctrlPr>
                          <a:rPr lang="en-US" i="1" smtClean="0">
                            <a:solidFill>
                              <a:srgbClr val="0066FF"/>
                            </a:solidFill>
                            <a:latin typeface="Cambria Math" panose="02040503050406030204" pitchFamily="18" charset="0"/>
                            <a:ea typeface="Cambria Math" panose="02040503050406030204" pitchFamily="18" charset="0"/>
                          </a:rPr>
                        </m:ctrlPr>
                      </m:fPr>
                      <m:num>
                        <m:r>
                          <a:rPr lang="en-US" b="0" i="1" smtClean="0">
                            <a:solidFill>
                              <a:srgbClr val="0066FF"/>
                            </a:solidFill>
                            <a:latin typeface="Cambria Math" panose="02040503050406030204" pitchFamily="18" charset="0"/>
                            <a:ea typeface="Cambria Math" panose="02040503050406030204" pitchFamily="18" charset="0"/>
                          </a:rPr>
                          <m:t>−</m:t>
                        </m:r>
                        <m:r>
                          <a:rPr lang="en-US" b="0" i="1" smtClean="0">
                            <a:solidFill>
                              <a:srgbClr val="0066FF"/>
                            </a:solidFill>
                            <a:latin typeface="Cambria Math" panose="02040503050406030204" pitchFamily="18" charset="0"/>
                            <a:ea typeface="Cambria Math" panose="02040503050406030204" pitchFamily="18" charset="0"/>
                          </a:rPr>
                          <m:t>𝑚</m:t>
                        </m:r>
                      </m:num>
                      <m:den>
                        <m:r>
                          <a:rPr lang="en-US" b="0" i="1" smtClean="0">
                            <a:solidFill>
                              <a:srgbClr val="0066FF"/>
                            </a:solidFill>
                            <a:latin typeface="Cambria Math" panose="02040503050406030204" pitchFamily="18" charset="0"/>
                            <a:ea typeface="Cambria Math" panose="02040503050406030204" pitchFamily="18" charset="0"/>
                          </a:rPr>
                          <m:t>2</m:t>
                        </m:r>
                      </m:den>
                    </m:f>
                  </m:oMath>
                </a14:m>
                <a:r>
                  <a:rPr lang="en-US">
                    <a:solidFill>
                      <a:srgbClr val="0066FF"/>
                    </a:solidFill>
                  </a:rPr>
                  <a:t> nếu </a:t>
                </a:r>
                <a14:m>
                  <m:oMath xmlns:m="http://schemas.openxmlformats.org/officeDocument/2006/math">
                    <m:sSub>
                      <m:sSubPr>
                        <m:ctrlPr>
                          <a:rPr lang="en-US" i="1">
                            <a:solidFill>
                              <a:srgbClr val="0066FF"/>
                            </a:solidFill>
                            <a:latin typeface="Cambria Math" panose="02040503050406030204" pitchFamily="18" charset="0"/>
                          </a:rPr>
                        </m:ctrlPr>
                      </m:sSubPr>
                      <m:e>
                        <m:r>
                          <a:rPr lang="en-US" i="1">
                            <a:solidFill>
                              <a:srgbClr val="0066FF"/>
                            </a:solidFill>
                            <a:latin typeface="Cambria Math" panose="02040503050406030204" pitchFamily="18" charset="0"/>
                          </a:rPr>
                          <m:t>𝑦</m:t>
                        </m:r>
                      </m:e>
                      <m:sub>
                        <m:r>
                          <a:rPr lang="en-US" i="1">
                            <a:solidFill>
                              <a:srgbClr val="0066FF"/>
                            </a:solidFill>
                            <a:latin typeface="Cambria Math" panose="02040503050406030204" pitchFamily="18" charset="0"/>
                          </a:rPr>
                          <m:t>𝑖</m:t>
                        </m:r>
                      </m:sub>
                    </m:sSub>
                    <m:r>
                      <a:rPr lang="en-US" b="0" i="1" smtClean="0">
                        <a:solidFill>
                          <a:srgbClr val="0066FF"/>
                        </a:solidFill>
                        <a:latin typeface="Cambria Math" panose="02040503050406030204" pitchFamily="18" charset="0"/>
                      </a:rPr>
                      <m:t>=−1</m:t>
                    </m:r>
                  </m:oMath>
                </a14:m>
                <a:r>
                  <a:rPr lang="en-US">
                    <a:solidFill>
                      <a:srgbClr val="0066FF"/>
                    </a:solidFill>
                  </a:rPr>
                  <a:t>.</a:t>
                </a:r>
              </a:p>
              <a:p>
                <a:pPr lvl="1"/>
                <a14:m>
                  <m:oMath xmlns:m="http://schemas.openxmlformats.org/officeDocument/2006/math">
                    <m:sSup>
                      <m:sSupPr>
                        <m:ctrlPr>
                          <a:rPr lang="en-US" i="1">
                            <a:solidFill>
                              <a:srgbClr val="FF0000"/>
                            </a:solidFill>
                            <a:latin typeface="Cambria Math" panose="02040503050406030204" pitchFamily="18" charset="0"/>
                          </a:rPr>
                        </m:ctrlPr>
                      </m:sSupPr>
                      <m:e>
                        <m:r>
                          <a:rPr lang="en-US" b="1">
                            <a:solidFill>
                              <a:srgbClr val="FF0000"/>
                            </a:solidFill>
                            <a:latin typeface="Cambria Math" panose="02040503050406030204" pitchFamily="18" charset="0"/>
                          </a:rPr>
                          <m:t>𝐰</m:t>
                        </m:r>
                      </m:e>
                      <m:sup>
                        <m:r>
                          <m:rPr>
                            <m:sty m:val="p"/>
                          </m:rPr>
                          <a:rPr lang="en-US">
                            <a:solidFill>
                              <a:srgbClr val="FF0000"/>
                            </a:solidFill>
                            <a:latin typeface="Cambria Math" panose="02040503050406030204" pitchFamily="18" charset="0"/>
                          </a:rPr>
                          <m:t>T</m:t>
                        </m:r>
                      </m:sup>
                    </m:sSup>
                    <m:r>
                      <a:rPr lang="en-US" b="1">
                        <a:solidFill>
                          <a:srgbClr val="FF0000"/>
                        </a:solidFill>
                        <a:latin typeface="Cambria Math" panose="02040503050406030204" pitchFamily="18" charset="0"/>
                      </a:rPr>
                      <m:t>𝐱</m:t>
                    </m:r>
                    <m:r>
                      <a:rPr lang="en-US">
                        <a:solidFill>
                          <a:srgbClr val="FF0000"/>
                        </a:solidFill>
                        <a:latin typeface="Cambria Math" panose="02040503050406030204" pitchFamily="18" charset="0"/>
                      </a:rPr>
                      <m:t>+</m:t>
                    </m:r>
                    <m:r>
                      <m:rPr>
                        <m:sty m:val="p"/>
                      </m:rPr>
                      <a:rPr lang="en-US">
                        <a:solidFill>
                          <a:srgbClr val="FF0000"/>
                        </a:solidFill>
                        <a:latin typeface="Cambria Math" panose="02040503050406030204" pitchFamily="18" charset="0"/>
                      </a:rPr>
                      <m:t>b</m:t>
                    </m:r>
                    <m:r>
                      <a:rPr lang="en-US" i="1" smtClean="0">
                        <a:solidFill>
                          <a:srgbClr val="FF0000"/>
                        </a:solidFill>
                        <a:latin typeface="Cambria Math" panose="02040503050406030204" pitchFamily="18" charset="0"/>
                        <a:ea typeface="Cambria Math" panose="02040503050406030204" pitchFamily="18" charset="0"/>
                      </a:rPr>
                      <m:t>≥</m:t>
                    </m:r>
                    <m:f>
                      <m:fPr>
                        <m:ctrlPr>
                          <a:rPr lang="en-US" i="1">
                            <a:solidFill>
                              <a:srgbClr val="FF0000"/>
                            </a:solidFill>
                            <a:latin typeface="Cambria Math" panose="02040503050406030204" pitchFamily="18" charset="0"/>
                            <a:ea typeface="Cambria Math" panose="02040503050406030204" pitchFamily="18" charset="0"/>
                          </a:rPr>
                        </m:ctrlPr>
                      </m:fPr>
                      <m:num>
                        <m:r>
                          <a:rPr lang="en-US" i="1">
                            <a:solidFill>
                              <a:srgbClr val="FF0000"/>
                            </a:solidFill>
                            <a:latin typeface="Cambria Math" panose="02040503050406030204" pitchFamily="18" charset="0"/>
                            <a:ea typeface="Cambria Math" panose="02040503050406030204" pitchFamily="18" charset="0"/>
                          </a:rPr>
                          <m:t>𝑚</m:t>
                        </m:r>
                      </m:num>
                      <m:den>
                        <m:r>
                          <a:rPr lang="en-US" i="1">
                            <a:solidFill>
                              <a:srgbClr val="FF0000"/>
                            </a:solidFill>
                            <a:latin typeface="Cambria Math" panose="02040503050406030204" pitchFamily="18" charset="0"/>
                            <a:ea typeface="Cambria Math" panose="02040503050406030204" pitchFamily="18" charset="0"/>
                          </a:rPr>
                          <m:t>2</m:t>
                        </m:r>
                      </m:den>
                    </m:f>
                  </m:oMath>
                </a14:m>
                <a:r>
                  <a:rPr lang="en-US">
                    <a:solidFill>
                      <a:srgbClr val="FF0000"/>
                    </a:solidFill>
                  </a:rPr>
                  <a:t> nếu </a:t>
                </a: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𝑦</m:t>
                        </m:r>
                      </m:e>
                      <m:sub>
                        <m:r>
                          <a:rPr lang="en-US" i="1">
                            <a:solidFill>
                              <a:srgbClr val="FF0000"/>
                            </a:solidFill>
                            <a:latin typeface="Cambria Math" panose="02040503050406030204" pitchFamily="18" charset="0"/>
                          </a:rPr>
                          <m:t>𝑖</m:t>
                        </m:r>
                      </m:sub>
                    </m:sSub>
                    <m:r>
                      <a:rPr lang="en-US" i="1">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m:t>
                    </m:r>
                    <m:r>
                      <a:rPr lang="en-US" i="1">
                        <a:solidFill>
                          <a:srgbClr val="FF0000"/>
                        </a:solidFill>
                        <a:latin typeface="Cambria Math" panose="02040503050406030204" pitchFamily="18" charset="0"/>
                      </a:rPr>
                      <m:t>1</m:t>
                    </m:r>
                  </m:oMath>
                </a14:m>
                <a:r>
                  <a:rPr lang="en-US">
                    <a:solidFill>
                      <a:srgbClr val="FF0000"/>
                    </a:solidFill>
                  </a:rPr>
                  <a:t>.</a:t>
                </a:r>
              </a:p>
              <a:p>
                <a:r>
                  <a:rPr lang="en-US">
                    <a:solidFill>
                      <a:srgbClr val="0066FF"/>
                    </a:solidFill>
                  </a:rPr>
                  <a:t>Suy ra: </a:t>
                </a:r>
                <a14:m>
                  <m:oMath xmlns:m="http://schemas.openxmlformats.org/officeDocument/2006/math">
                    <m:sSub>
                      <m:sSubPr>
                        <m:ctrlPr>
                          <a:rPr lang="en-US" i="1">
                            <a:solidFill>
                              <a:srgbClr val="0066FF"/>
                            </a:solidFill>
                            <a:latin typeface="Cambria Math" panose="02040503050406030204" pitchFamily="18" charset="0"/>
                          </a:rPr>
                        </m:ctrlPr>
                      </m:sSubPr>
                      <m:e>
                        <m:r>
                          <a:rPr lang="en-US" i="1">
                            <a:solidFill>
                              <a:srgbClr val="0066FF"/>
                            </a:solidFill>
                            <a:latin typeface="Cambria Math" panose="02040503050406030204" pitchFamily="18" charset="0"/>
                          </a:rPr>
                          <m:t>𝑦</m:t>
                        </m:r>
                      </m:e>
                      <m:sub>
                        <m:r>
                          <a:rPr lang="en-US" i="1">
                            <a:solidFill>
                              <a:srgbClr val="0066FF"/>
                            </a:solidFill>
                            <a:latin typeface="Cambria Math" panose="02040503050406030204" pitchFamily="18" charset="0"/>
                          </a:rPr>
                          <m:t>𝑖</m:t>
                        </m:r>
                      </m:sub>
                    </m:sSub>
                    <m:d>
                      <m:dPr>
                        <m:ctrlPr>
                          <a:rPr lang="en-US" i="1" smtClean="0">
                            <a:solidFill>
                              <a:srgbClr val="0066FF"/>
                            </a:solidFill>
                            <a:latin typeface="Cambria Math" panose="02040503050406030204" pitchFamily="18" charset="0"/>
                          </a:rPr>
                        </m:ctrlPr>
                      </m:dPr>
                      <m:e>
                        <m:sSup>
                          <m:sSupPr>
                            <m:ctrlPr>
                              <a:rPr lang="en-US" i="1">
                                <a:solidFill>
                                  <a:srgbClr val="0066FF"/>
                                </a:solidFill>
                                <a:latin typeface="Cambria Math" panose="02040503050406030204" pitchFamily="18" charset="0"/>
                              </a:rPr>
                            </m:ctrlPr>
                          </m:sSupPr>
                          <m:e>
                            <m:r>
                              <a:rPr lang="en-US" b="1">
                                <a:solidFill>
                                  <a:srgbClr val="0066FF"/>
                                </a:solidFill>
                                <a:latin typeface="Cambria Math" panose="02040503050406030204" pitchFamily="18" charset="0"/>
                              </a:rPr>
                              <m:t>𝐰</m:t>
                            </m:r>
                          </m:e>
                          <m:sup>
                            <m:r>
                              <m:rPr>
                                <m:sty m:val="p"/>
                              </m:rPr>
                              <a:rPr lang="en-US">
                                <a:solidFill>
                                  <a:srgbClr val="0066FF"/>
                                </a:solidFill>
                                <a:latin typeface="Cambria Math" panose="02040503050406030204" pitchFamily="18" charset="0"/>
                              </a:rPr>
                              <m:t>T</m:t>
                            </m:r>
                          </m:sup>
                        </m:sSup>
                        <m:r>
                          <a:rPr lang="en-US" b="1">
                            <a:solidFill>
                              <a:srgbClr val="0066FF"/>
                            </a:solidFill>
                            <a:latin typeface="Cambria Math" panose="02040503050406030204" pitchFamily="18" charset="0"/>
                          </a:rPr>
                          <m:t>𝐱</m:t>
                        </m:r>
                        <m:r>
                          <a:rPr lang="en-US">
                            <a:solidFill>
                              <a:srgbClr val="0066FF"/>
                            </a:solidFill>
                            <a:latin typeface="Cambria Math" panose="02040503050406030204" pitchFamily="18" charset="0"/>
                          </a:rPr>
                          <m:t>+</m:t>
                        </m:r>
                        <m:r>
                          <m:rPr>
                            <m:sty m:val="p"/>
                          </m:rPr>
                          <a:rPr lang="en-US">
                            <a:solidFill>
                              <a:srgbClr val="0066FF"/>
                            </a:solidFill>
                            <a:latin typeface="Cambria Math" panose="02040503050406030204" pitchFamily="18" charset="0"/>
                          </a:rPr>
                          <m:t>b</m:t>
                        </m:r>
                      </m:e>
                    </m:d>
                    <m:r>
                      <a:rPr lang="en-US" i="1">
                        <a:solidFill>
                          <a:srgbClr val="0066FF"/>
                        </a:solidFill>
                        <a:latin typeface="Cambria Math" panose="02040503050406030204" pitchFamily="18" charset="0"/>
                        <a:ea typeface="Cambria Math" panose="02040503050406030204" pitchFamily="18" charset="0"/>
                      </a:rPr>
                      <m:t>≥</m:t>
                    </m:r>
                    <m:f>
                      <m:fPr>
                        <m:ctrlPr>
                          <a:rPr lang="en-US" i="1">
                            <a:solidFill>
                              <a:srgbClr val="0066FF"/>
                            </a:solidFill>
                            <a:latin typeface="Cambria Math" panose="02040503050406030204" pitchFamily="18" charset="0"/>
                            <a:ea typeface="Cambria Math" panose="02040503050406030204" pitchFamily="18" charset="0"/>
                          </a:rPr>
                        </m:ctrlPr>
                      </m:fPr>
                      <m:num>
                        <m:r>
                          <a:rPr lang="en-US" i="1">
                            <a:solidFill>
                              <a:srgbClr val="0066FF"/>
                            </a:solidFill>
                            <a:latin typeface="Cambria Math" panose="02040503050406030204" pitchFamily="18" charset="0"/>
                            <a:ea typeface="Cambria Math" panose="02040503050406030204" pitchFamily="18" charset="0"/>
                          </a:rPr>
                          <m:t>𝑚</m:t>
                        </m:r>
                      </m:num>
                      <m:den>
                        <m:r>
                          <a:rPr lang="en-US" i="1">
                            <a:solidFill>
                              <a:srgbClr val="0066FF"/>
                            </a:solidFill>
                            <a:latin typeface="Cambria Math" panose="02040503050406030204" pitchFamily="18" charset="0"/>
                            <a:ea typeface="Cambria Math" panose="02040503050406030204" pitchFamily="18" charset="0"/>
                          </a:rPr>
                          <m:t>2</m:t>
                        </m:r>
                      </m:den>
                    </m:f>
                  </m:oMath>
                </a14:m>
                <a:r>
                  <a:rPr lang="en-US">
                    <a:solidFill>
                      <a:srgbClr val="0066FF"/>
                    </a:solidFill>
                  </a:rPr>
                  <a:t>.</a:t>
                </a:r>
              </a:p>
            </p:txBody>
          </p:sp>
        </mc:Choice>
        <mc:Fallback xmlns="">
          <p:sp>
            <p:nvSpPr>
              <p:cNvPr id="6" name="Content Placeholder 5">
                <a:extLst>
                  <a:ext uri="{FF2B5EF4-FFF2-40B4-BE49-F238E27FC236}">
                    <a16:creationId xmlns:a16="http://schemas.microsoft.com/office/drawing/2014/main" id="{359C25D0-F1F8-45B9-B1AB-D6F95CC47BEF}"/>
                  </a:ext>
                </a:extLst>
              </p:cNvPr>
              <p:cNvSpPr>
                <a:spLocks noGrp="1" noRot="1" noChangeAspect="1" noMove="1" noResize="1" noEditPoints="1" noAdjustHandles="1" noChangeArrowheads="1" noChangeShapeType="1" noTextEdit="1"/>
              </p:cNvSpPr>
              <p:nvPr>
                <p:ph idx="1"/>
              </p:nvPr>
            </p:nvSpPr>
            <p:spPr>
              <a:blipFill>
                <a:blip r:embed="rId2"/>
                <a:stretch>
                  <a:fillRect l="-1000" t="-1348" r="-1111"/>
                </a:stretch>
              </a:blipFill>
            </p:spPr>
            <p:txBody>
              <a:bodyPr/>
              <a:lstStyle/>
              <a:p>
                <a:r>
                  <a:rPr lang="en-US">
                    <a:noFill/>
                  </a:rPr>
                  <a:t> </a:t>
                </a:r>
              </a:p>
            </p:txBody>
          </p:sp>
        </mc:Fallback>
      </mc:AlternateContent>
    </p:spTree>
    <p:extLst>
      <p:ext uri="{BB962C8B-B14F-4D97-AF65-F5344CB8AC3E}">
        <p14:creationId xmlns:p14="http://schemas.microsoft.com/office/powerpoint/2010/main" val="2319123860"/>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6DAC7-4CE5-4839-9530-938B773D6CEA}"/>
              </a:ext>
            </a:extLst>
          </p:cNvPr>
          <p:cNvSpPr>
            <a:spLocks noGrp="1"/>
          </p:cNvSpPr>
          <p:nvPr>
            <p:ph type="title"/>
          </p:nvPr>
        </p:nvSpPr>
        <p:spPr/>
        <p:txBody>
          <a:bodyPr/>
          <a:lstStyle/>
          <a:p>
            <a:r>
              <a:rPr lang="en-US" altLang="en-US"/>
              <a:t>Two Class – Linear SVM</a:t>
            </a: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390C8B7-02B6-43A4-AFE7-99DD8C4E9B63}"/>
                  </a:ext>
                </a:extLst>
              </p:cNvPr>
              <p:cNvSpPr>
                <a:spLocks noGrp="1"/>
              </p:cNvSpPr>
              <p:nvPr>
                <p:ph idx="1"/>
              </p:nvPr>
            </p:nvSpPr>
            <p:spPr/>
            <p:txBody>
              <a:bodyPr/>
              <a:lstStyle/>
              <a:p>
                <a:pPr algn="just"/>
                <a:r>
                  <a:rPr lang="en-US"/>
                  <a:t>For every support vector </a:t>
                </a:r>
                <a14:m>
                  <m:oMath xmlns:m="http://schemas.openxmlformats.org/officeDocument/2006/math">
                    <m:sSub>
                      <m:sSubPr>
                        <m:ctrlPr>
                          <a:rPr lang="en-US" i="1">
                            <a:latin typeface="Cambria Math" panose="02040503050406030204" pitchFamily="18" charset="0"/>
                          </a:rPr>
                        </m:ctrlPr>
                      </m:sSubPr>
                      <m:e>
                        <m:r>
                          <a:rPr lang="en-US" b="1">
                            <a:latin typeface="Cambria Math" panose="02040503050406030204" pitchFamily="18" charset="0"/>
                          </a:rPr>
                          <m:t>𝐱</m:t>
                        </m:r>
                      </m:e>
                      <m:sub>
                        <m:r>
                          <a:rPr lang="en-US" b="0" i="1" smtClean="0">
                            <a:latin typeface="Cambria Math" panose="02040503050406030204" pitchFamily="18" charset="0"/>
                          </a:rPr>
                          <m:t>𝑠</m:t>
                        </m:r>
                      </m:sub>
                    </m:sSub>
                  </m:oMath>
                </a14:m>
                <a:r>
                  <a:rPr lang="en-US"/>
                  <a:t> the above inequality is an equality.    After rescaling </a:t>
                </a:r>
                <a14:m>
                  <m:oMath xmlns:m="http://schemas.openxmlformats.org/officeDocument/2006/math">
                    <m:r>
                      <a:rPr lang="en-US" b="1" i="0" smtClean="0">
                        <a:latin typeface="Cambria Math" panose="02040503050406030204" pitchFamily="18" charset="0"/>
                      </a:rPr>
                      <m:t>𝐰</m:t>
                    </m:r>
                  </m:oMath>
                </a14:m>
                <a:r>
                  <a:rPr lang="en-US"/>
                  <a:t> and </a:t>
                </a:r>
                <a14:m>
                  <m:oMath xmlns:m="http://schemas.openxmlformats.org/officeDocument/2006/math">
                    <m:r>
                      <m:rPr>
                        <m:sty m:val="p"/>
                      </m:rPr>
                      <a:rPr lang="en-US" i="0" smtClean="0">
                        <a:latin typeface="Cambria Math" panose="02040503050406030204" pitchFamily="18" charset="0"/>
                      </a:rPr>
                      <m:t>b</m:t>
                    </m:r>
                  </m:oMath>
                </a14:m>
                <a:r>
                  <a:rPr lang="en-US"/>
                  <a:t> by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𝑚</m:t>
                        </m:r>
                      </m:num>
                      <m:den>
                        <m:r>
                          <a:rPr lang="en-US" b="0" i="1" smtClean="0">
                            <a:latin typeface="Cambria Math" panose="02040503050406030204" pitchFamily="18" charset="0"/>
                          </a:rPr>
                          <m:t>2</m:t>
                        </m:r>
                      </m:den>
                    </m:f>
                  </m:oMath>
                </a14:m>
                <a:r>
                  <a:rPr lang="en-US"/>
                  <a:t> in the equality, we obtain that distance between each </a:t>
                </a:r>
                <a14:m>
                  <m:oMath xmlns:m="http://schemas.openxmlformats.org/officeDocument/2006/math">
                    <m:sSub>
                      <m:sSubPr>
                        <m:ctrlPr>
                          <a:rPr lang="en-US" i="1">
                            <a:latin typeface="Cambria Math" panose="02040503050406030204" pitchFamily="18" charset="0"/>
                          </a:rPr>
                        </m:ctrlPr>
                      </m:sSubPr>
                      <m:e>
                        <m:r>
                          <a:rPr lang="en-US" b="1">
                            <a:latin typeface="Cambria Math" panose="02040503050406030204" pitchFamily="18" charset="0"/>
                          </a:rPr>
                          <m:t>𝐱</m:t>
                        </m:r>
                      </m:e>
                      <m:sub>
                        <m:r>
                          <a:rPr lang="en-US" i="1">
                            <a:latin typeface="Cambria Math" panose="02040503050406030204" pitchFamily="18" charset="0"/>
                          </a:rPr>
                          <m:t>𝑠</m:t>
                        </m:r>
                      </m:sub>
                    </m:sSub>
                  </m:oMath>
                </a14:m>
                <a:r>
                  <a:rPr lang="en-US"/>
                  <a:t> and the hyperplane is </a:t>
                </a:r>
                <a14:m>
                  <m:oMath xmlns:m="http://schemas.openxmlformats.org/officeDocument/2006/math">
                    <m:r>
                      <m:rPr>
                        <m:sty m:val="p"/>
                      </m:rPr>
                      <a:rPr lang="en-US" altLang="en-US">
                        <a:latin typeface="Cambria Math" panose="02040503050406030204" pitchFamily="18" charset="0"/>
                      </a:rPr>
                      <m:t>r</m:t>
                    </m:r>
                    <m:r>
                      <a:rPr lang="en-US" altLang="en-US">
                        <a:latin typeface="Cambria Math" panose="02040503050406030204" pitchFamily="18" charset="0"/>
                      </a:rPr>
                      <m:t>=</m:t>
                    </m:r>
                    <m:f>
                      <m:fPr>
                        <m:ctrlPr>
                          <a:rPr lang="en-US" altLang="en-US" i="1">
                            <a:latin typeface="Cambria Math" panose="02040503050406030204" pitchFamily="18" charset="0"/>
                          </a:rPr>
                        </m:ctrlPr>
                      </m:fPr>
                      <m:num>
                        <m:sSub>
                          <m:sSubPr>
                            <m:ctrlPr>
                              <a:rPr lang="en-US" i="1">
                                <a:latin typeface="Cambria Math" panose="02040503050406030204" pitchFamily="18" charset="0"/>
                              </a:rPr>
                            </m:ctrlPr>
                          </m:sSubPr>
                          <m:e>
                            <m:r>
                              <m:rPr>
                                <m:sty m:val="p"/>
                              </m:rPr>
                              <a:rPr lang="en-US" b="0" i="0" smtClean="0">
                                <a:latin typeface="Cambria Math" panose="02040503050406030204" pitchFamily="18" charset="0"/>
                              </a:rPr>
                              <m:t>y</m:t>
                            </m:r>
                          </m:e>
                          <m:sub>
                            <m:r>
                              <a:rPr lang="en-US" i="1">
                                <a:latin typeface="Cambria Math" panose="02040503050406030204" pitchFamily="18" charset="0"/>
                              </a:rPr>
                              <m:t>𝑠</m:t>
                            </m:r>
                          </m:sub>
                        </m:sSub>
                        <m:d>
                          <m:dPr>
                            <m:ctrlPr>
                              <a:rPr lang="en-US" altLang="en-US" i="1" smtClean="0">
                                <a:latin typeface="Cambria Math" panose="02040503050406030204" pitchFamily="18" charset="0"/>
                              </a:rPr>
                            </m:ctrlPr>
                          </m:dPr>
                          <m:e>
                            <m:sSup>
                              <m:sSupPr>
                                <m:ctrlPr>
                                  <a:rPr lang="en-US" altLang="en-US" i="1">
                                    <a:latin typeface="Cambria Math" panose="02040503050406030204" pitchFamily="18" charset="0"/>
                                  </a:rPr>
                                </m:ctrlPr>
                              </m:sSupPr>
                              <m:e>
                                <m:r>
                                  <a:rPr lang="en-US" altLang="en-US" b="1">
                                    <a:latin typeface="Cambria Math" panose="02040503050406030204" pitchFamily="18" charset="0"/>
                                  </a:rPr>
                                  <m:t>𝐰</m:t>
                                </m:r>
                              </m:e>
                              <m:sup>
                                <m:r>
                                  <m:rPr>
                                    <m:sty m:val="p"/>
                                  </m:rPr>
                                  <a:rPr lang="en-US" altLang="en-US">
                                    <a:latin typeface="Cambria Math" panose="02040503050406030204" pitchFamily="18" charset="0"/>
                                  </a:rPr>
                                  <m:t>T</m:t>
                                </m:r>
                              </m:sup>
                            </m:sSup>
                            <m:sSub>
                              <m:sSubPr>
                                <m:ctrlPr>
                                  <a:rPr lang="en-US" altLang="en-US" i="1">
                                    <a:latin typeface="Cambria Math" panose="02040503050406030204" pitchFamily="18" charset="0"/>
                                  </a:rPr>
                                </m:ctrlPr>
                              </m:sSubPr>
                              <m:e>
                                <m:r>
                                  <a:rPr lang="en-US" altLang="en-US" b="1">
                                    <a:latin typeface="Cambria Math" panose="02040503050406030204" pitchFamily="18" charset="0"/>
                                  </a:rPr>
                                  <m:t>𝐱</m:t>
                                </m:r>
                              </m:e>
                              <m:sub>
                                <m:r>
                                  <a:rPr lang="en-US" altLang="en-US" b="0" i="1" smtClean="0">
                                    <a:latin typeface="Cambria Math" panose="02040503050406030204" pitchFamily="18" charset="0"/>
                                  </a:rPr>
                                  <m:t>𝑠</m:t>
                                </m:r>
                              </m:sub>
                            </m:sSub>
                            <m:r>
                              <a:rPr lang="en-US" altLang="en-US">
                                <a:latin typeface="Cambria Math" panose="02040503050406030204" pitchFamily="18" charset="0"/>
                              </a:rPr>
                              <m:t>+ </m:t>
                            </m:r>
                            <m:r>
                              <m:rPr>
                                <m:sty m:val="p"/>
                              </m:rPr>
                              <a:rPr lang="en-US" altLang="en-US">
                                <a:latin typeface="Cambria Math" panose="02040503050406030204" pitchFamily="18" charset="0"/>
                              </a:rPr>
                              <m:t>b</m:t>
                            </m:r>
                          </m:e>
                        </m:d>
                      </m:num>
                      <m:den>
                        <m:d>
                          <m:dPr>
                            <m:begChr m:val="‖"/>
                            <m:endChr m:val="‖"/>
                            <m:ctrlPr>
                              <a:rPr lang="en-US" altLang="en-US" i="1">
                                <a:latin typeface="Cambria Math" panose="02040503050406030204" pitchFamily="18" charset="0"/>
                              </a:rPr>
                            </m:ctrlPr>
                          </m:dPr>
                          <m:e>
                            <m:r>
                              <a:rPr lang="en-US" altLang="en-US" b="1">
                                <a:latin typeface="Cambria Math" panose="02040503050406030204" pitchFamily="18" charset="0"/>
                              </a:rPr>
                              <m:t>𝐰</m:t>
                            </m:r>
                          </m:e>
                        </m:d>
                      </m:den>
                    </m:f>
                    <m:r>
                      <a:rPr lang="en-US" altLang="en-US" b="1" i="1" smtClean="0">
                        <a:latin typeface="Cambria Math" panose="02040503050406030204" pitchFamily="18" charset="0"/>
                      </a:rPr>
                      <m:t>=</m:t>
                    </m:r>
                    <m:f>
                      <m:fPr>
                        <m:ctrlPr>
                          <a:rPr lang="en-US" altLang="en-US" i="1">
                            <a:latin typeface="Cambria Math" panose="02040503050406030204" pitchFamily="18" charset="0"/>
                          </a:rPr>
                        </m:ctrlPr>
                      </m:fPr>
                      <m:num>
                        <m:r>
                          <a:rPr lang="en-US" i="1" smtClean="0">
                            <a:latin typeface="Cambria Math" panose="02040503050406030204" pitchFamily="18" charset="0"/>
                          </a:rPr>
                          <m:t>1</m:t>
                        </m:r>
                      </m:num>
                      <m:den>
                        <m:d>
                          <m:dPr>
                            <m:begChr m:val="‖"/>
                            <m:endChr m:val="‖"/>
                            <m:ctrlPr>
                              <a:rPr lang="en-US" altLang="en-US" i="1">
                                <a:latin typeface="Cambria Math" panose="02040503050406030204" pitchFamily="18" charset="0"/>
                              </a:rPr>
                            </m:ctrlPr>
                          </m:dPr>
                          <m:e>
                            <m:r>
                              <a:rPr lang="en-US" altLang="en-US" b="1">
                                <a:latin typeface="Cambria Math" panose="02040503050406030204" pitchFamily="18" charset="0"/>
                              </a:rPr>
                              <m:t>𝐰</m:t>
                            </m:r>
                          </m:e>
                        </m:d>
                      </m:den>
                    </m:f>
                  </m:oMath>
                </a14:m>
                <a:r>
                  <a:rPr lang="en-US"/>
                  <a:t>.</a:t>
                </a:r>
              </a:p>
              <a:p>
                <a:pPr algn="just"/>
                <a:r>
                  <a:rPr lang="en-US" altLang="en-US">
                    <a:solidFill>
                      <a:srgbClr val="FF0000"/>
                    </a:solidFill>
                  </a:rPr>
                  <a:t>Then the margin can be expressed through (rescaled) </a:t>
                </a:r>
                <a:r>
                  <a:rPr lang="en-US" altLang="en-US" b="1">
                    <a:solidFill>
                      <a:srgbClr val="FF0000"/>
                    </a:solidFill>
                  </a:rPr>
                  <a:t>w</a:t>
                </a:r>
                <a:r>
                  <a:rPr lang="en-US" altLang="en-US">
                    <a:solidFill>
                      <a:srgbClr val="FF0000"/>
                    </a:solidFill>
                  </a:rPr>
                  <a:t> and b as: </a:t>
                </a:r>
                <a14:m>
                  <m:oMath xmlns:m="http://schemas.openxmlformats.org/officeDocument/2006/math">
                    <m:r>
                      <a:rPr lang="en-US" altLang="en-US" b="0" i="1" smtClean="0">
                        <a:solidFill>
                          <a:srgbClr val="FF0000"/>
                        </a:solidFill>
                        <a:latin typeface="Cambria Math" panose="02040503050406030204" pitchFamily="18" charset="0"/>
                      </a:rPr>
                      <m:t>𝑚</m:t>
                    </m:r>
                    <m:r>
                      <a:rPr lang="en-US" altLang="en-US" b="0" i="1" smtClean="0">
                        <a:solidFill>
                          <a:srgbClr val="FF0000"/>
                        </a:solidFill>
                        <a:latin typeface="Cambria Math" panose="02040503050406030204" pitchFamily="18" charset="0"/>
                      </a:rPr>
                      <m:t>=2</m:t>
                    </m:r>
                    <m:r>
                      <a:rPr lang="en-US" altLang="en-US" b="0" i="1" smtClean="0">
                        <a:solidFill>
                          <a:srgbClr val="FF0000"/>
                        </a:solidFill>
                        <a:latin typeface="Cambria Math" panose="02040503050406030204" pitchFamily="18" charset="0"/>
                      </a:rPr>
                      <m:t>𝑟</m:t>
                    </m:r>
                    <m:r>
                      <a:rPr lang="en-US" altLang="en-US" b="0" i="1" smtClean="0">
                        <a:solidFill>
                          <a:srgbClr val="FF0000"/>
                        </a:solidFill>
                        <a:latin typeface="Cambria Math" panose="02040503050406030204" pitchFamily="18" charset="0"/>
                      </a:rPr>
                      <m:t>=</m:t>
                    </m:r>
                    <m:f>
                      <m:fPr>
                        <m:ctrlPr>
                          <a:rPr lang="en-US" altLang="en-US" b="0" i="1" smtClean="0">
                            <a:solidFill>
                              <a:srgbClr val="FF0000"/>
                            </a:solidFill>
                            <a:latin typeface="Cambria Math" panose="02040503050406030204" pitchFamily="18" charset="0"/>
                          </a:rPr>
                        </m:ctrlPr>
                      </m:fPr>
                      <m:num>
                        <m:r>
                          <a:rPr lang="en-US" altLang="en-US" b="0" i="1" smtClean="0">
                            <a:solidFill>
                              <a:srgbClr val="FF0000"/>
                            </a:solidFill>
                            <a:latin typeface="Cambria Math" panose="02040503050406030204" pitchFamily="18" charset="0"/>
                          </a:rPr>
                          <m:t>2</m:t>
                        </m:r>
                      </m:num>
                      <m:den>
                        <m:d>
                          <m:dPr>
                            <m:begChr m:val="‖"/>
                            <m:endChr m:val="‖"/>
                            <m:ctrlPr>
                              <a:rPr lang="en-US" altLang="en-US" i="1">
                                <a:solidFill>
                                  <a:srgbClr val="FF0000"/>
                                </a:solidFill>
                                <a:latin typeface="Cambria Math" panose="02040503050406030204" pitchFamily="18" charset="0"/>
                              </a:rPr>
                            </m:ctrlPr>
                          </m:dPr>
                          <m:e>
                            <m:r>
                              <a:rPr lang="en-US" altLang="en-US" b="1">
                                <a:solidFill>
                                  <a:srgbClr val="FF0000"/>
                                </a:solidFill>
                                <a:latin typeface="Cambria Math" panose="02040503050406030204" pitchFamily="18" charset="0"/>
                              </a:rPr>
                              <m:t>𝐰</m:t>
                            </m:r>
                          </m:e>
                        </m:d>
                      </m:den>
                    </m:f>
                  </m:oMath>
                </a14:m>
                <a:r>
                  <a:rPr lang="en-US">
                    <a:solidFill>
                      <a:srgbClr val="FF0000"/>
                    </a:solidFill>
                  </a:rPr>
                  <a:t>.</a:t>
                </a:r>
              </a:p>
              <a:p>
                <a:pPr algn="just"/>
                <a:r>
                  <a:rPr lang="en-US" altLang="en-US"/>
                  <a:t>We should maximize the margin, </a:t>
                </a:r>
                <a14:m>
                  <m:oMath xmlns:m="http://schemas.openxmlformats.org/officeDocument/2006/math">
                    <m:r>
                      <a:rPr lang="en-US" altLang="en-US" i="1">
                        <a:latin typeface="Cambria Math" panose="02040503050406030204" pitchFamily="18" charset="0"/>
                      </a:rPr>
                      <m:t>𝑚</m:t>
                    </m:r>
                    <m:r>
                      <a:rPr lang="en-US" altLang="en-US" i="1">
                        <a:latin typeface="Cambria Math" panose="02040503050406030204" pitchFamily="18" charset="0"/>
                      </a:rPr>
                      <m:t>=</m:t>
                    </m:r>
                    <m:f>
                      <m:fPr>
                        <m:ctrlPr>
                          <a:rPr lang="en-US" altLang="en-US" i="1">
                            <a:latin typeface="Cambria Math" panose="02040503050406030204" pitchFamily="18" charset="0"/>
                          </a:rPr>
                        </m:ctrlPr>
                      </m:fPr>
                      <m:num>
                        <m:r>
                          <a:rPr lang="en-US" altLang="en-US" i="1">
                            <a:latin typeface="Cambria Math" panose="02040503050406030204" pitchFamily="18" charset="0"/>
                          </a:rPr>
                          <m:t>2</m:t>
                        </m:r>
                      </m:num>
                      <m:den>
                        <m:d>
                          <m:dPr>
                            <m:begChr m:val="‖"/>
                            <m:endChr m:val="‖"/>
                            <m:ctrlPr>
                              <a:rPr lang="en-US" altLang="en-US" i="1">
                                <a:latin typeface="Cambria Math" panose="02040503050406030204" pitchFamily="18" charset="0"/>
                              </a:rPr>
                            </m:ctrlPr>
                          </m:dPr>
                          <m:e>
                            <m:r>
                              <m:rPr>
                                <m:sty m:val="p"/>
                              </m:rPr>
                              <a:rPr lang="en-US" altLang="en-US">
                                <a:latin typeface="Cambria Math" panose="02040503050406030204" pitchFamily="18" charset="0"/>
                              </a:rPr>
                              <m:t>w</m:t>
                            </m:r>
                          </m:e>
                        </m:d>
                      </m:den>
                    </m:f>
                  </m:oMath>
                </a14:m>
                <a:r>
                  <a:rPr lang="en-US"/>
                  <a:t>.</a:t>
                </a:r>
              </a:p>
              <a:p>
                <a:endParaRPr lang="en-US"/>
              </a:p>
            </p:txBody>
          </p:sp>
        </mc:Choice>
        <mc:Fallback xmlns="">
          <p:sp>
            <p:nvSpPr>
              <p:cNvPr id="3" name="Content Placeholder 2">
                <a:extLst>
                  <a:ext uri="{FF2B5EF4-FFF2-40B4-BE49-F238E27FC236}">
                    <a16:creationId xmlns:a16="http://schemas.microsoft.com/office/drawing/2014/main" id="{C390C8B7-02B6-43A4-AFE7-99DD8C4E9B63}"/>
                  </a:ext>
                </a:extLst>
              </p:cNvPr>
              <p:cNvSpPr>
                <a:spLocks noGrp="1" noRot="1" noChangeAspect="1" noMove="1" noResize="1" noEditPoints="1" noAdjustHandles="1" noChangeArrowheads="1" noChangeShapeType="1" noTextEdit="1"/>
              </p:cNvSpPr>
              <p:nvPr>
                <p:ph idx="1"/>
              </p:nvPr>
            </p:nvSpPr>
            <p:spPr>
              <a:blipFill>
                <a:blip r:embed="rId2"/>
                <a:stretch>
                  <a:fillRect l="-1000" t="-1482" r="-1111"/>
                </a:stretch>
              </a:blipFill>
            </p:spPr>
            <p:txBody>
              <a:bodyPr/>
              <a:lstStyle/>
              <a:p>
                <a:r>
                  <a:rPr lang="en-US">
                    <a:noFill/>
                  </a:rPr>
                  <a:t> </a:t>
                </a:r>
              </a:p>
            </p:txBody>
          </p:sp>
        </mc:Fallback>
      </mc:AlternateContent>
    </p:spTree>
    <p:extLst>
      <p:ext uri="{BB962C8B-B14F-4D97-AF65-F5344CB8AC3E}">
        <p14:creationId xmlns:p14="http://schemas.microsoft.com/office/powerpoint/2010/main" val="3789483890"/>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FC7C1-31B1-4D69-B041-631BC1E2467C}"/>
              </a:ext>
            </a:extLst>
          </p:cNvPr>
          <p:cNvSpPr>
            <a:spLocks noGrp="1"/>
          </p:cNvSpPr>
          <p:nvPr>
            <p:ph type="title"/>
          </p:nvPr>
        </p:nvSpPr>
        <p:spPr/>
        <p:txBody>
          <a:bodyPr/>
          <a:lstStyle/>
          <a:p>
            <a:r>
              <a:rPr lang="en-US" altLang="en-US"/>
              <a:t>Two Class – Linear SVM</a:t>
            </a: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AC71B69-52B8-4FD4-BAF6-EF1B13579B82}"/>
                  </a:ext>
                </a:extLst>
              </p:cNvPr>
              <p:cNvSpPr>
                <a:spLocks noGrp="1"/>
              </p:cNvSpPr>
              <p:nvPr>
                <p:ph idx="1"/>
              </p:nvPr>
            </p:nvSpPr>
            <p:spPr/>
            <p:txBody>
              <a:bodyPr/>
              <a:lstStyle/>
              <a:p>
                <a:r>
                  <a:rPr lang="en-US"/>
                  <a:t>Then we can formulate the quadratic optimization problem: </a:t>
                </a:r>
              </a:p>
              <a:p>
                <a:pPr lvl="1"/>
                <a:r>
                  <a:rPr lang="en-US" altLang="en-US">
                    <a:solidFill>
                      <a:srgbClr val="FF0000"/>
                    </a:solidFill>
                  </a:rPr>
                  <a:t>Find </a:t>
                </a:r>
                <a:r>
                  <a:rPr lang="en-US" altLang="en-US" b="1">
                    <a:solidFill>
                      <a:srgbClr val="FF0000"/>
                    </a:solidFill>
                  </a:rPr>
                  <a:t>w</a:t>
                </a:r>
                <a:r>
                  <a:rPr lang="en-US" altLang="en-US">
                    <a:solidFill>
                      <a:srgbClr val="FF0000"/>
                    </a:solidFill>
                  </a:rPr>
                  <a:t> and </a:t>
                </a:r>
                <a:r>
                  <a:rPr lang="en-US" altLang="en-US" i="1">
                    <a:solidFill>
                      <a:srgbClr val="FF0000"/>
                    </a:solidFill>
                  </a:rPr>
                  <a:t>b</a:t>
                </a:r>
                <a:r>
                  <a:rPr lang="en-US" altLang="en-US">
                    <a:solidFill>
                      <a:srgbClr val="FF0000"/>
                    </a:solidFill>
                  </a:rPr>
                  <a:t> such that </a:t>
                </a:r>
                <a14:m>
                  <m:oMath xmlns:m="http://schemas.openxmlformats.org/officeDocument/2006/math">
                    <m:r>
                      <a:rPr lang="en-US" altLang="en-US" i="1">
                        <a:solidFill>
                          <a:srgbClr val="FF0000"/>
                        </a:solidFill>
                        <a:latin typeface="Cambria Math" panose="02040503050406030204" pitchFamily="18" charset="0"/>
                      </a:rPr>
                      <m:t>𝑚</m:t>
                    </m:r>
                    <m:r>
                      <a:rPr lang="en-US" altLang="en-US" i="1">
                        <a:solidFill>
                          <a:srgbClr val="FF0000"/>
                        </a:solidFill>
                        <a:latin typeface="Cambria Math" panose="02040503050406030204" pitchFamily="18" charset="0"/>
                      </a:rPr>
                      <m:t>=</m:t>
                    </m:r>
                    <m:f>
                      <m:fPr>
                        <m:ctrlPr>
                          <a:rPr lang="en-US" altLang="en-US" i="1">
                            <a:solidFill>
                              <a:srgbClr val="FF0000"/>
                            </a:solidFill>
                            <a:latin typeface="Cambria Math" panose="02040503050406030204" pitchFamily="18" charset="0"/>
                          </a:rPr>
                        </m:ctrlPr>
                      </m:fPr>
                      <m:num>
                        <m:r>
                          <a:rPr lang="en-US" altLang="en-US" i="1">
                            <a:solidFill>
                              <a:srgbClr val="FF0000"/>
                            </a:solidFill>
                            <a:latin typeface="Cambria Math" panose="02040503050406030204" pitchFamily="18" charset="0"/>
                          </a:rPr>
                          <m:t>2</m:t>
                        </m:r>
                      </m:num>
                      <m:den>
                        <m:d>
                          <m:dPr>
                            <m:begChr m:val="‖"/>
                            <m:endChr m:val="‖"/>
                            <m:ctrlPr>
                              <a:rPr lang="en-US" altLang="en-US" i="1">
                                <a:solidFill>
                                  <a:srgbClr val="FF0000"/>
                                </a:solidFill>
                                <a:latin typeface="Cambria Math" panose="02040503050406030204" pitchFamily="18" charset="0"/>
                              </a:rPr>
                            </m:ctrlPr>
                          </m:dPr>
                          <m:e>
                            <m:r>
                              <m:rPr>
                                <m:sty m:val="p"/>
                              </m:rPr>
                              <a:rPr lang="en-US" altLang="en-US">
                                <a:solidFill>
                                  <a:srgbClr val="FF0000"/>
                                </a:solidFill>
                                <a:latin typeface="Cambria Math" panose="02040503050406030204" pitchFamily="18" charset="0"/>
                              </a:rPr>
                              <m:t>w</m:t>
                            </m:r>
                          </m:e>
                        </m:d>
                      </m:den>
                    </m:f>
                  </m:oMath>
                </a14:m>
                <a:r>
                  <a:rPr lang="en-US" altLang="en-US">
                    <a:solidFill>
                      <a:srgbClr val="FF0000"/>
                    </a:solidFill>
                  </a:rPr>
                  <a:t> is maximized.</a:t>
                </a:r>
              </a:p>
              <a:p>
                <a:pPr lvl="1"/>
                <a:r>
                  <a:rPr lang="en-US" altLang="en-US"/>
                  <a:t>and for all </a:t>
                </a:r>
                <a14:m>
                  <m:oMath xmlns:m="http://schemas.openxmlformats.org/officeDocument/2006/math">
                    <m:sSub>
                      <m:sSubPr>
                        <m:ctrlPr>
                          <a:rPr lang="en-US" i="1">
                            <a:latin typeface="Cambria Math" panose="02040503050406030204" pitchFamily="18" charset="0"/>
                          </a:rPr>
                        </m:ctrlPr>
                      </m:sSubPr>
                      <m:e>
                        <m:d>
                          <m:dPr>
                            <m:begChr m:val="{"/>
                            <m:endChr m:val="}"/>
                            <m:ctrlPr>
                              <a:rPr lang="en-US" i="1">
                                <a:latin typeface="Cambria Math" panose="02040503050406030204" pitchFamily="18" charset="0"/>
                              </a:rPr>
                            </m:ctrlPr>
                          </m:d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1">
                                        <a:latin typeface="Cambria Math" panose="02040503050406030204" pitchFamily="18" charset="0"/>
                                      </a:rPr>
                                      <m:t>𝐱</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e>
                            </m:d>
                          </m:e>
                        </m:d>
                      </m:e>
                      <m:sub>
                        <m:r>
                          <a:rPr lang="en-US" i="1">
                            <a:latin typeface="Cambria Math" panose="02040503050406030204" pitchFamily="18" charset="0"/>
                          </a:rPr>
                          <m:t>𝑖</m:t>
                        </m:r>
                        <m:r>
                          <a:rPr lang="en-US" i="1">
                            <a:latin typeface="Cambria Math" panose="02040503050406030204" pitchFamily="18" charset="0"/>
                          </a:rPr>
                          <m:t>=1..</m:t>
                        </m:r>
                        <m:r>
                          <a:rPr lang="en-US" i="1">
                            <a:latin typeface="Cambria Math" panose="02040503050406030204" pitchFamily="18" charset="0"/>
                          </a:rPr>
                          <m:t>𝑛</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𝑖</m:t>
                        </m:r>
                      </m:sub>
                    </m:sSub>
                    <m:d>
                      <m:dPr>
                        <m:ctrlPr>
                          <a:rPr lang="en-US" altLang="en-US" i="1">
                            <a:latin typeface="Cambria Math" panose="02040503050406030204" pitchFamily="18" charset="0"/>
                          </a:rPr>
                        </m:ctrlPr>
                      </m:dPr>
                      <m:e>
                        <m:sSup>
                          <m:sSupPr>
                            <m:ctrlPr>
                              <a:rPr lang="en-US" altLang="en-US" i="1">
                                <a:latin typeface="Cambria Math" panose="02040503050406030204" pitchFamily="18" charset="0"/>
                              </a:rPr>
                            </m:ctrlPr>
                          </m:sSupPr>
                          <m:e>
                            <m:r>
                              <a:rPr lang="en-US" altLang="en-US" b="1">
                                <a:latin typeface="Cambria Math" panose="02040503050406030204" pitchFamily="18" charset="0"/>
                              </a:rPr>
                              <m:t>𝐰</m:t>
                            </m:r>
                          </m:e>
                          <m:sup>
                            <m:r>
                              <m:rPr>
                                <m:sty m:val="p"/>
                              </m:rPr>
                              <a:rPr lang="en-US" altLang="en-US">
                                <a:latin typeface="Cambria Math" panose="02040503050406030204" pitchFamily="18" charset="0"/>
                              </a:rPr>
                              <m:t>T</m:t>
                            </m:r>
                          </m:sup>
                        </m:sSup>
                        <m:sSub>
                          <m:sSubPr>
                            <m:ctrlPr>
                              <a:rPr lang="en-US" altLang="en-US" i="1">
                                <a:latin typeface="Cambria Math" panose="02040503050406030204" pitchFamily="18" charset="0"/>
                              </a:rPr>
                            </m:ctrlPr>
                          </m:sSubPr>
                          <m:e>
                            <m:r>
                              <a:rPr lang="en-US" altLang="en-US" b="1">
                                <a:latin typeface="Cambria Math" panose="02040503050406030204" pitchFamily="18" charset="0"/>
                              </a:rPr>
                              <m:t>𝐱</m:t>
                            </m:r>
                          </m:e>
                          <m:sub>
                            <m:r>
                              <a:rPr lang="en-US" altLang="en-US" b="0" i="1" smtClean="0">
                                <a:latin typeface="Cambria Math" panose="02040503050406030204" pitchFamily="18" charset="0"/>
                              </a:rPr>
                              <m:t>𝑖</m:t>
                            </m:r>
                          </m:sub>
                        </m:sSub>
                        <m:r>
                          <a:rPr lang="en-US" altLang="en-US">
                            <a:latin typeface="Cambria Math" panose="02040503050406030204" pitchFamily="18" charset="0"/>
                          </a:rPr>
                          <m:t>+ </m:t>
                        </m:r>
                        <m:r>
                          <m:rPr>
                            <m:sty m:val="p"/>
                          </m:rPr>
                          <a:rPr lang="en-US" altLang="en-US">
                            <a:latin typeface="Cambria Math" panose="02040503050406030204" pitchFamily="18" charset="0"/>
                          </a:rPr>
                          <m:t>b</m:t>
                        </m:r>
                      </m:e>
                    </m:d>
                    <m:r>
                      <a:rPr lang="en-US" altLang="en-US" i="1" smtClean="0">
                        <a:latin typeface="Cambria Math" panose="02040503050406030204" pitchFamily="18" charset="0"/>
                        <a:ea typeface="Cambria Math" panose="02040503050406030204" pitchFamily="18" charset="0"/>
                      </a:rPr>
                      <m:t>≥</m:t>
                    </m:r>
                    <m:r>
                      <a:rPr lang="en-US" altLang="en-US" b="0" i="1" smtClean="0">
                        <a:latin typeface="Cambria Math" panose="02040503050406030204" pitchFamily="18" charset="0"/>
                        <a:ea typeface="Cambria Math" panose="02040503050406030204" pitchFamily="18" charset="0"/>
                      </a:rPr>
                      <m:t>1</m:t>
                    </m:r>
                  </m:oMath>
                </a14:m>
                <a:r>
                  <a:rPr lang="en-US" altLang="en-US"/>
                  <a:t>.</a:t>
                </a:r>
              </a:p>
              <a:p>
                <a:r>
                  <a:rPr lang="en-US" altLang="en-US">
                    <a:solidFill>
                      <a:srgbClr val="FF0000"/>
                    </a:solidFill>
                  </a:rPr>
                  <a:t>Which can be reformulated as: Find </a:t>
                </a:r>
                <a:r>
                  <a:rPr lang="en-US" altLang="en-US" b="1">
                    <a:solidFill>
                      <a:srgbClr val="FF0000"/>
                    </a:solidFill>
                  </a:rPr>
                  <a:t>w</a:t>
                </a:r>
                <a:r>
                  <a:rPr lang="en-US" altLang="en-US">
                    <a:solidFill>
                      <a:srgbClr val="FF0000"/>
                    </a:solidFill>
                  </a:rPr>
                  <a:t> and </a:t>
                </a:r>
                <a:r>
                  <a:rPr lang="en-US" altLang="en-US" i="1">
                    <a:solidFill>
                      <a:srgbClr val="FF0000"/>
                    </a:solidFill>
                  </a:rPr>
                  <a:t>b</a:t>
                </a:r>
                <a:r>
                  <a:rPr lang="en-US" altLang="en-US">
                    <a:solidFill>
                      <a:srgbClr val="FF0000"/>
                    </a:solidFill>
                  </a:rPr>
                  <a:t> such that</a:t>
                </a:r>
              </a:p>
              <a:p>
                <a:pPr lvl="1"/>
                <a14:m>
                  <m:oMath xmlns:m="http://schemas.openxmlformats.org/officeDocument/2006/math">
                    <m:r>
                      <a:rPr lang="el-GR" altLang="en-US" b="1" i="1" smtClean="0">
                        <a:latin typeface="Cambria Math" panose="02040503050406030204" pitchFamily="18" charset="0"/>
                        <a:ea typeface="Cambria Math" panose="02040503050406030204" pitchFamily="18" charset="0"/>
                        <a:cs typeface="Times New Roman" panose="02020603050405020304" pitchFamily="18" charset="0"/>
                      </a:rPr>
                      <m:t>𝚽</m:t>
                    </m:r>
                    <m:d>
                      <m:dPr>
                        <m:ctrlPr>
                          <a:rPr lang="el-GR" altLang="en-US" b="1"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en-US" b="1" i="0" smtClean="0">
                            <a:latin typeface="Cambria Math" panose="02040503050406030204" pitchFamily="18" charset="0"/>
                            <a:ea typeface="Cambria Math" panose="02040503050406030204" pitchFamily="18" charset="0"/>
                            <a:cs typeface="Times New Roman" panose="02020603050405020304" pitchFamily="18" charset="0"/>
                          </a:rPr>
                          <m:t>𝐰</m:t>
                        </m:r>
                      </m:e>
                    </m:d>
                    <m:r>
                      <a:rPr lang="en-US" altLang="en-US" b="1"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en-US" b="1" i="1" smtClean="0">
                            <a:latin typeface="Cambria Math" panose="02040503050406030204" pitchFamily="18" charset="0"/>
                            <a:ea typeface="Cambria Math" panose="02040503050406030204" pitchFamily="18" charset="0"/>
                            <a:cs typeface="Times New Roman" panose="02020603050405020304" pitchFamily="18" charset="0"/>
                          </a:rPr>
                        </m:ctrlPr>
                      </m:sSupPr>
                      <m:e>
                        <m:d>
                          <m:dPr>
                            <m:begChr m:val="‖"/>
                            <m:endChr m:val="‖"/>
                            <m:ctrlPr>
                              <a:rPr lang="en-US" altLang="en-US" b="1"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en-US" b="1" i="0" smtClean="0">
                                <a:latin typeface="Cambria Math" panose="02040503050406030204" pitchFamily="18" charset="0"/>
                                <a:ea typeface="Cambria Math" panose="02040503050406030204" pitchFamily="18" charset="0"/>
                                <a:cs typeface="Times New Roman" panose="02020603050405020304" pitchFamily="18" charset="0"/>
                              </a:rPr>
                              <m:t>𝐰</m:t>
                            </m:r>
                          </m:e>
                        </m:d>
                      </m:e>
                      <m:sup>
                        <m:r>
                          <a:rPr lang="en-US" altLang="en-US" b="1" i="1" smtClean="0">
                            <a:latin typeface="Cambria Math" panose="02040503050406030204" pitchFamily="18" charset="0"/>
                            <a:ea typeface="Cambria Math" panose="02040503050406030204" pitchFamily="18" charset="0"/>
                            <a:cs typeface="Times New Roman" panose="02020603050405020304" pitchFamily="18" charset="0"/>
                          </a:rPr>
                          <m:t>𝟐</m:t>
                        </m:r>
                      </m:sup>
                    </m:sSup>
                    <m:r>
                      <a:rPr lang="en-US" altLang="en-US" b="1"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en-US" b="1"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en-US" b="1" i="0" smtClean="0">
                            <a:latin typeface="Cambria Math" panose="02040503050406030204" pitchFamily="18" charset="0"/>
                            <a:ea typeface="Cambria Math" panose="02040503050406030204" pitchFamily="18" charset="0"/>
                            <a:cs typeface="Times New Roman" panose="02020603050405020304" pitchFamily="18" charset="0"/>
                          </a:rPr>
                          <m:t>𝐰</m:t>
                        </m:r>
                      </m:e>
                      <m:sup>
                        <m:r>
                          <a:rPr lang="en-US" altLang="en-US" b="0" i="1" smtClean="0">
                            <a:latin typeface="Cambria Math" panose="02040503050406030204" pitchFamily="18" charset="0"/>
                            <a:ea typeface="Cambria Math" panose="02040503050406030204" pitchFamily="18" charset="0"/>
                            <a:cs typeface="Times New Roman" panose="02020603050405020304" pitchFamily="18" charset="0"/>
                          </a:rPr>
                          <m:t>𝑇</m:t>
                        </m:r>
                      </m:sup>
                    </m:sSup>
                    <m:r>
                      <a:rPr lang="en-US" altLang="en-US" b="1">
                        <a:latin typeface="Cambria Math" panose="02040503050406030204" pitchFamily="18" charset="0"/>
                        <a:ea typeface="Cambria Math" panose="02040503050406030204" pitchFamily="18" charset="0"/>
                        <a:cs typeface="Times New Roman" panose="02020603050405020304" pitchFamily="18" charset="0"/>
                      </a:rPr>
                      <m:t>𝐰</m:t>
                    </m:r>
                  </m:oMath>
                </a14:m>
                <a:r>
                  <a:rPr lang="en-US" altLang="en-US"/>
                  <a:t> is minimized</a:t>
                </a:r>
              </a:p>
              <a:p>
                <a:pPr lvl="1"/>
                <a:r>
                  <a:rPr lang="en-US" altLang="en-US">
                    <a:solidFill>
                      <a:srgbClr val="FF0000"/>
                    </a:solidFill>
                  </a:rPr>
                  <a:t>and for all </a:t>
                </a:r>
                <a14:m>
                  <m:oMath xmlns:m="http://schemas.openxmlformats.org/officeDocument/2006/math">
                    <m:sSub>
                      <m:sSubPr>
                        <m:ctrlPr>
                          <a:rPr lang="en-US" i="1">
                            <a:solidFill>
                              <a:srgbClr val="FF0000"/>
                            </a:solidFill>
                            <a:latin typeface="Cambria Math" panose="02040503050406030204" pitchFamily="18" charset="0"/>
                          </a:rPr>
                        </m:ctrlPr>
                      </m:sSubPr>
                      <m:e>
                        <m:d>
                          <m:dPr>
                            <m:begChr m:val="{"/>
                            <m:endChr m:val="}"/>
                            <m:ctrlPr>
                              <a:rPr lang="en-US" i="1">
                                <a:solidFill>
                                  <a:srgbClr val="FF0000"/>
                                </a:solidFill>
                                <a:latin typeface="Cambria Math" panose="02040503050406030204" pitchFamily="18" charset="0"/>
                              </a:rPr>
                            </m:ctrlPr>
                          </m:dPr>
                          <m:e>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r>
                                      <a:rPr lang="en-US" b="1">
                                        <a:solidFill>
                                          <a:srgbClr val="FF0000"/>
                                        </a:solidFill>
                                        <a:latin typeface="Cambria Math" panose="02040503050406030204" pitchFamily="18" charset="0"/>
                                      </a:rPr>
                                      <m:t>𝐱</m:t>
                                    </m:r>
                                  </m:e>
                                  <m:sub>
                                    <m:r>
                                      <a:rPr lang="en-US" i="1">
                                        <a:solidFill>
                                          <a:srgbClr val="FF0000"/>
                                        </a:solidFill>
                                        <a:latin typeface="Cambria Math" panose="02040503050406030204" pitchFamily="18" charset="0"/>
                                      </a:rPr>
                                      <m:t>𝑖</m:t>
                                    </m:r>
                                  </m:sub>
                                </m:sSub>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𝑦</m:t>
                                    </m:r>
                                  </m:e>
                                  <m:sub>
                                    <m:r>
                                      <a:rPr lang="en-US" i="1">
                                        <a:solidFill>
                                          <a:srgbClr val="FF0000"/>
                                        </a:solidFill>
                                        <a:latin typeface="Cambria Math" panose="02040503050406030204" pitchFamily="18" charset="0"/>
                                      </a:rPr>
                                      <m:t>𝑖</m:t>
                                    </m:r>
                                  </m:sub>
                                </m:sSub>
                              </m:e>
                            </m:d>
                          </m:e>
                        </m:d>
                      </m:e>
                      <m:sub>
                        <m:r>
                          <a:rPr lang="en-US" i="1">
                            <a:solidFill>
                              <a:srgbClr val="FF0000"/>
                            </a:solidFill>
                            <a:latin typeface="Cambria Math" panose="02040503050406030204" pitchFamily="18" charset="0"/>
                          </a:rPr>
                          <m:t>𝑖</m:t>
                        </m:r>
                        <m:r>
                          <a:rPr lang="en-US" i="1">
                            <a:solidFill>
                              <a:srgbClr val="FF0000"/>
                            </a:solidFill>
                            <a:latin typeface="Cambria Math" panose="02040503050406030204" pitchFamily="18" charset="0"/>
                          </a:rPr>
                          <m:t>=1..</m:t>
                        </m:r>
                        <m:r>
                          <a:rPr lang="en-US" i="1">
                            <a:solidFill>
                              <a:srgbClr val="FF0000"/>
                            </a:solidFill>
                            <a:latin typeface="Cambria Math" panose="02040503050406030204" pitchFamily="18" charset="0"/>
                          </a:rPr>
                          <m:t>𝑛</m:t>
                        </m:r>
                      </m:sub>
                    </m:sSub>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𝑦</m:t>
                        </m:r>
                      </m:e>
                      <m:sub>
                        <m:r>
                          <a:rPr lang="en-US" i="1">
                            <a:solidFill>
                              <a:srgbClr val="FF0000"/>
                            </a:solidFill>
                            <a:latin typeface="Cambria Math" panose="02040503050406030204" pitchFamily="18" charset="0"/>
                          </a:rPr>
                          <m:t>𝑖</m:t>
                        </m:r>
                      </m:sub>
                    </m:sSub>
                    <m:d>
                      <m:dPr>
                        <m:ctrlPr>
                          <a:rPr lang="en-US" altLang="en-US" i="1">
                            <a:solidFill>
                              <a:srgbClr val="FF0000"/>
                            </a:solidFill>
                            <a:latin typeface="Cambria Math" panose="02040503050406030204" pitchFamily="18" charset="0"/>
                          </a:rPr>
                        </m:ctrlPr>
                      </m:dPr>
                      <m:e>
                        <m:sSup>
                          <m:sSupPr>
                            <m:ctrlPr>
                              <a:rPr lang="en-US" altLang="en-US" i="1">
                                <a:solidFill>
                                  <a:srgbClr val="FF0000"/>
                                </a:solidFill>
                                <a:latin typeface="Cambria Math" panose="02040503050406030204" pitchFamily="18" charset="0"/>
                              </a:rPr>
                            </m:ctrlPr>
                          </m:sSupPr>
                          <m:e>
                            <m:r>
                              <a:rPr lang="en-US" altLang="en-US" b="1">
                                <a:solidFill>
                                  <a:srgbClr val="FF0000"/>
                                </a:solidFill>
                                <a:latin typeface="Cambria Math" panose="02040503050406030204" pitchFamily="18" charset="0"/>
                              </a:rPr>
                              <m:t>𝐰</m:t>
                            </m:r>
                          </m:e>
                          <m:sup>
                            <m:r>
                              <m:rPr>
                                <m:sty m:val="p"/>
                              </m:rPr>
                              <a:rPr lang="en-US" altLang="en-US">
                                <a:solidFill>
                                  <a:srgbClr val="FF0000"/>
                                </a:solidFill>
                                <a:latin typeface="Cambria Math" panose="02040503050406030204" pitchFamily="18" charset="0"/>
                              </a:rPr>
                              <m:t>T</m:t>
                            </m:r>
                          </m:sup>
                        </m:sSup>
                        <m:sSub>
                          <m:sSubPr>
                            <m:ctrlPr>
                              <a:rPr lang="en-US" altLang="en-US" i="1">
                                <a:solidFill>
                                  <a:srgbClr val="FF0000"/>
                                </a:solidFill>
                                <a:latin typeface="Cambria Math" panose="02040503050406030204" pitchFamily="18" charset="0"/>
                              </a:rPr>
                            </m:ctrlPr>
                          </m:sSubPr>
                          <m:e>
                            <m:r>
                              <a:rPr lang="en-US" altLang="en-US" b="1">
                                <a:solidFill>
                                  <a:srgbClr val="FF0000"/>
                                </a:solidFill>
                                <a:latin typeface="Cambria Math" panose="02040503050406030204" pitchFamily="18" charset="0"/>
                              </a:rPr>
                              <m:t>𝐱</m:t>
                            </m:r>
                          </m:e>
                          <m:sub>
                            <m:r>
                              <a:rPr lang="en-US" altLang="en-US" i="1">
                                <a:solidFill>
                                  <a:srgbClr val="FF0000"/>
                                </a:solidFill>
                                <a:latin typeface="Cambria Math" panose="02040503050406030204" pitchFamily="18" charset="0"/>
                              </a:rPr>
                              <m:t>𝑖</m:t>
                            </m:r>
                          </m:sub>
                        </m:sSub>
                        <m:r>
                          <a:rPr lang="en-US" altLang="en-US">
                            <a:solidFill>
                              <a:srgbClr val="FF0000"/>
                            </a:solidFill>
                            <a:latin typeface="Cambria Math" panose="02040503050406030204" pitchFamily="18" charset="0"/>
                          </a:rPr>
                          <m:t>+ </m:t>
                        </m:r>
                        <m:r>
                          <m:rPr>
                            <m:sty m:val="p"/>
                          </m:rPr>
                          <a:rPr lang="en-US" altLang="en-US">
                            <a:solidFill>
                              <a:srgbClr val="FF0000"/>
                            </a:solidFill>
                            <a:latin typeface="Cambria Math" panose="02040503050406030204" pitchFamily="18" charset="0"/>
                          </a:rPr>
                          <m:t>b</m:t>
                        </m:r>
                      </m:e>
                    </m:d>
                    <m:r>
                      <a:rPr lang="en-US" altLang="en-US" i="1">
                        <a:solidFill>
                          <a:srgbClr val="FF0000"/>
                        </a:solidFill>
                        <a:latin typeface="Cambria Math" panose="02040503050406030204" pitchFamily="18" charset="0"/>
                        <a:ea typeface="Cambria Math" panose="02040503050406030204" pitchFamily="18" charset="0"/>
                      </a:rPr>
                      <m:t>≥1</m:t>
                    </m:r>
                  </m:oMath>
                </a14:m>
                <a:r>
                  <a:rPr lang="en-US" altLang="en-US">
                    <a:solidFill>
                      <a:srgbClr val="FF0000"/>
                    </a:solidFill>
                  </a:rPr>
                  <a:t>.</a:t>
                </a:r>
                <a:endParaRPr lang="en-US">
                  <a:solidFill>
                    <a:srgbClr val="FF0000"/>
                  </a:solidFill>
                </a:endParaRPr>
              </a:p>
            </p:txBody>
          </p:sp>
        </mc:Choice>
        <mc:Fallback xmlns="">
          <p:sp>
            <p:nvSpPr>
              <p:cNvPr id="3" name="Content Placeholder 2">
                <a:extLst>
                  <a:ext uri="{FF2B5EF4-FFF2-40B4-BE49-F238E27FC236}">
                    <a16:creationId xmlns:a16="http://schemas.microsoft.com/office/drawing/2014/main" id="{9AC71B69-52B8-4FD4-BAF6-EF1B13579B82}"/>
                  </a:ext>
                </a:extLst>
              </p:cNvPr>
              <p:cNvSpPr>
                <a:spLocks noGrp="1" noRot="1" noChangeAspect="1" noMove="1" noResize="1" noEditPoints="1" noAdjustHandles="1" noChangeArrowheads="1" noChangeShapeType="1" noTextEdit="1"/>
              </p:cNvSpPr>
              <p:nvPr>
                <p:ph idx="1"/>
              </p:nvPr>
            </p:nvSpPr>
            <p:spPr>
              <a:blipFill>
                <a:blip r:embed="rId2"/>
                <a:stretch>
                  <a:fillRect l="-1000" t="-1482"/>
                </a:stretch>
              </a:blipFill>
            </p:spPr>
            <p:txBody>
              <a:bodyPr/>
              <a:lstStyle/>
              <a:p>
                <a:r>
                  <a:rPr lang="en-US">
                    <a:noFill/>
                  </a:rPr>
                  <a:t> </a:t>
                </a:r>
              </a:p>
            </p:txBody>
          </p:sp>
        </mc:Fallback>
      </mc:AlternateContent>
    </p:spTree>
    <p:extLst>
      <p:ext uri="{BB962C8B-B14F-4D97-AF65-F5344CB8AC3E}">
        <p14:creationId xmlns:p14="http://schemas.microsoft.com/office/powerpoint/2010/main" val="1906366024"/>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58B6A-8827-4027-ADB9-C2D689D05DBD}"/>
              </a:ext>
            </a:extLst>
          </p:cNvPr>
          <p:cNvSpPr>
            <a:spLocks noGrp="1"/>
          </p:cNvSpPr>
          <p:nvPr>
            <p:ph type="title"/>
          </p:nvPr>
        </p:nvSpPr>
        <p:spPr/>
        <p:txBody>
          <a:bodyPr/>
          <a:lstStyle/>
          <a:p>
            <a:r>
              <a:rPr lang="en-US" altLang="en-US"/>
              <a:t>Linear SVMs Mathematically</a:t>
            </a: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CF0294E-A694-48C4-8A2B-317325E3CAC4}"/>
                  </a:ext>
                </a:extLst>
              </p:cNvPr>
              <p:cNvSpPr>
                <a:spLocks noGrp="1"/>
              </p:cNvSpPr>
              <p:nvPr>
                <p:ph idx="1"/>
              </p:nvPr>
            </p:nvSpPr>
            <p:spPr/>
            <p:txBody>
              <a:bodyPr/>
              <a:lstStyle/>
              <a:p>
                <a:r>
                  <a:rPr lang="en-US" altLang="en-US"/>
                  <a:t>Which can be reformulated as: Find </a:t>
                </a:r>
                <a:r>
                  <a:rPr lang="en-US" altLang="en-US" b="1"/>
                  <a:t>w</a:t>
                </a:r>
                <a:r>
                  <a:rPr lang="en-US" altLang="en-US"/>
                  <a:t> and </a:t>
                </a:r>
                <a:r>
                  <a:rPr lang="en-US" altLang="en-US" i="1"/>
                  <a:t>b</a:t>
                </a:r>
                <a:r>
                  <a:rPr lang="en-US" altLang="en-US"/>
                  <a:t> such that</a:t>
                </a:r>
              </a:p>
              <a:p>
                <a:pPr lvl="1"/>
                <a14:m>
                  <m:oMath xmlns:m="http://schemas.openxmlformats.org/officeDocument/2006/math">
                    <m:r>
                      <a:rPr lang="el-GR" altLang="en-US"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𝚽</m:t>
                    </m:r>
                    <m:d>
                      <m:dPr>
                        <m:ctrlPr>
                          <a:rPr lang="el-GR" altLang="en-US"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en-US" b="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𝐰</m:t>
                        </m:r>
                      </m:e>
                    </m:d>
                    <m:r>
                      <a:rPr lang="en-US" altLang="en-US"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en-US"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pPr>
                      <m:e>
                        <m:d>
                          <m:dPr>
                            <m:begChr m:val="‖"/>
                            <m:endChr m:val="‖"/>
                            <m:ctrlPr>
                              <a:rPr lang="en-US" altLang="en-US"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en-US" b="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𝐰</m:t>
                            </m:r>
                          </m:e>
                        </m:d>
                      </m:e>
                      <m:sup>
                        <m:r>
                          <a:rPr lang="en-US" altLang="en-US"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𝟐</m:t>
                        </m:r>
                      </m:sup>
                    </m:sSup>
                    <m:r>
                      <a:rPr lang="en-US" altLang="en-US"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en-US"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en-US" b="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𝐰</m:t>
                        </m:r>
                      </m:e>
                      <m:sup>
                        <m:r>
                          <a:rPr lang="en-US" altLang="en-US"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𝑇</m:t>
                        </m:r>
                      </m:sup>
                    </m:sSup>
                    <m:r>
                      <a:rPr lang="en-US" altLang="en-US" b="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𝐰</m:t>
                    </m:r>
                  </m:oMath>
                </a14:m>
                <a:r>
                  <a:rPr lang="en-US" altLang="en-US">
                    <a:solidFill>
                      <a:srgbClr val="FF0000"/>
                    </a:solidFill>
                  </a:rPr>
                  <a:t> is minimized</a:t>
                </a:r>
              </a:p>
              <a:p>
                <a:pPr lvl="1"/>
                <a:r>
                  <a:rPr lang="en-US" altLang="en-US"/>
                  <a:t>and for all </a:t>
                </a:r>
                <a14:m>
                  <m:oMath xmlns:m="http://schemas.openxmlformats.org/officeDocument/2006/math">
                    <m:sSub>
                      <m:sSubPr>
                        <m:ctrlPr>
                          <a:rPr lang="en-US" i="1">
                            <a:latin typeface="Cambria Math" panose="02040503050406030204" pitchFamily="18" charset="0"/>
                          </a:rPr>
                        </m:ctrlPr>
                      </m:sSubPr>
                      <m:e>
                        <m:d>
                          <m:dPr>
                            <m:begChr m:val="{"/>
                            <m:endChr m:val="}"/>
                            <m:ctrlPr>
                              <a:rPr lang="en-US" i="1">
                                <a:latin typeface="Cambria Math" panose="02040503050406030204" pitchFamily="18" charset="0"/>
                              </a:rPr>
                            </m:ctrlPr>
                          </m:d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1">
                                        <a:latin typeface="Cambria Math" panose="02040503050406030204" pitchFamily="18" charset="0"/>
                                      </a:rPr>
                                      <m:t>𝐱</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e>
                            </m:d>
                          </m:e>
                        </m:d>
                      </m:e>
                      <m:sub>
                        <m:r>
                          <a:rPr lang="en-US" i="1">
                            <a:latin typeface="Cambria Math" panose="02040503050406030204" pitchFamily="18" charset="0"/>
                          </a:rPr>
                          <m:t>𝑖</m:t>
                        </m:r>
                        <m:r>
                          <a:rPr lang="en-US" i="1">
                            <a:latin typeface="Cambria Math" panose="02040503050406030204" pitchFamily="18" charset="0"/>
                          </a:rPr>
                          <m:t>=1..</m:t>
                        </m:r>
                        <m:r>
                          <a:rPr lang="en-US" i="1">
                            <a:latin typeface="Cambria Math" panose="02040503050406030204" pitchFamily="18" charset="0"/>
                          </a:rPr>
                          <m:t>𝑛</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d>
                      <m:dPr>
                        <m:ctrlPr>
                          <a:rPr lang="en-US" altLang="en-US" i="1">
                            <a:latin typeface="Cambria Math" panose="02040503050406030204" pitchFamily="18" charset="0"/>
                          </a:rPr>
                        </m:ctrlPr>
                      </m:dPr>
                      <m:e>
                        <m:sSup>
                          <m:sSupPr>
                            <m:ctrlPr>
                              <a:rPr lang="en-US" altLang="en-US" i="1">
                                <a:latin typeface="Cambria Math" panose="02040503050406030204" pitchFamily="18" charset="0"/>
                              </a:rPr>
                            </m:ctrlPr>
                          </m:sSupPr>
                          <m:e>
                            <m:r>
                              <a:rPr lang="en-US" altLang="en-US" b="1">
                                <a:latin typeface="Cambria Math" panose="02040503050406030204" pitchFamily="18" charset="0"/>
                              </a:rPr>
                              <m:t>𝐰</m:t>
                            </m:r>
                          </m:e>
                          <m:sup>
                            <m:r>
                              <m:rPr>
                                <m:sty m:val="p"/>
                              </m:rPr>
                              <a:rPr lang="en-US" altLang="en-US">
                                <a:latin typeface="Cambria Math" panose="02040503050406030204" pitchFamily="18" charset="0"/>
                              </a:rPr>
                              <m:t>T</m:t>
                            </m:r>
                          </m:sup>
                        </m:sSup>
                        <m:sSub>
                          <m:sSubPr>
                            <m:ctrlPr>
                              <a:rPr lang="en-US" altLang="en-US" i="1">
                                <a:latin typeface="Cambria Math" panose="02040503050406030204" pitchFamily="18" charset="0"/>
                              </a:rPr>
                            </m:ctrlPr>
                          </m:sSubPr>
                          <m:e>
                            <m:r>
                              <a:rPr lang="en-US" altLang="en-US" b="1">
                                <a:latin typeface="Cambria Math" panose="02040503050406030204" pitchFamily="18" charset="0"/>
                              </a:rPr>
                              <m:t>𝐱</m:t>
                            </m:r>
                          </m:e>
                          <m:sub>
                            <m:r>
                              <a:rPr lang="en-US" altLang="en-US" i="1">
                                <a:latin typeface="Cambria Math" panose="02040503050406030204" pitchFamily="18" charset="0"/>
                              </a:rPr>
                              <m:t>𝑖</m:t>
                            </m:r>
                          </m:sub>
                        </m:sSub>
                        <m:r>
                          <a:rPr lang="en-US" altLang="en-US">
                            <a:latin typeface="Cambria Math" panose="02040503050406030204" pitchFamily="18" charset="0"/>
                          </a:rPr>
                          <m:t>+ </m:t>
                        </m:r>
                        <m:r>
                          <m:rPr>
                            <m:sty m:val="p"/>
                          </m:rPr>
                          <a:rPr lang="en-US" altLang="en-US">
                            <a:latin typeface="Cambria Math" panose="02040503050406030204" pitchFamily="18" charset="0"/>
                          </a:rPr>
                          <m:t>b</m:t>
                        </m:r>
                      </m:e>
                    </m:d>
                    <m:r>
                      <a:rPr lang="en-US" altLang="en-US" i="1">
                        <a:latin typeface="Cambria Math" panose="02040503050406030204" pitchFamily="18" charset="0"/>
                        <a:ea typeface="Cambria Math" panose="02040503050406030204" pitchFamily="18" charset="0"/>
                      </a:rPr>
                      <m:t>≥1</m:t>
                    </m:r>
                  </m:oMath>
                </a14:m>
                <a:r>
                  <a:rPr lang="en-US" altLang="en-US"/>
                  <a:t>.</a:t>
                </a:r>
                <a:endParaRPr lang="en-US"/>
              </a:p>
              <a:p>
                <a:pPr algn="just"/>
                <a:r>
                  <a:rPr lang="en-US" altLang="en-US">
                    <a:solidFill>
                      <a:srgbClr val="FF0000"/>
                    </a:solidFill>
                  </a:rPr>
                  <a:t>Need to optimize a quadratic function subject to linear constraints.</a:t>
                </a:r>
              </a:p>
              <a:p>
                <a:pPr algn="just"/>
                <a:r>
                  <a:rPr lang="en-US" altLang="en-US"/>
                  <a:t>Quadratic optimization problems are a well-known class of mathematical programming problems for which several (non-trivial) algorithms exist.</a:t>
                </a:r>
                <a:endParaRPr lang="en-US"/>
              </a:p>
            </p:txBody>
          </p:sp>
        </mc:Choice>
        <mc:Fallback xmlns="">
          <p:sp>
            <p:nvSpPr>
              <p:cNvPr id="3" name="Content Placeholder 2">
                <a:extLst>
                  <a:ext uri="{FF2B5EF4-FFF2-40B4-BE49-F238E27FC236}">
                    <a16:creationId xmlns:a16="http://schemas.microsoft.com/office/drawing/2014/main" id="{ACF0294E-A694-48C4-8A2B-317325E3CAC4}"/>
                  </a:ext>
                </a:extLst>
              </p:cNvPr>
              <p:cNvSpPr>
                <a:spLocks noGrp="1" noRot="1" noChangeAspect="1" noMove="1" noResize="1" noEditPoints="1" noAdjustHandles="1" noChangeArrowheads="1" noChangeShapeType="1" noTextEdit="1"/>
              </p:cNvSpPr>
              <p:nvPr>
                <p:ph idx="1"/>
              </p:nvPr>
            </p:nvSpPr>
            <p:spPr>
              <a:blipFill>
                <a:blip r:embed="rId2"/>
                <a:stretch>
                  <a:fillRect l="-1000" t="-1482" r="-1111"/>
                </a:stretch>
              </a:blipFill>
            </p:spPr>
            <p:txBody>
              <a:bodyPr/>
              <a:lstStyle/>
              <a:p>
                <a:r>
                  <a:rPr lang="en-US">
                    <a:noFill/>
                  </a:rPr>
                  <a:t> </a:t>
                </a:r>
              </a:p>
            </p:txBody>
          </p:sp>
        </mc:Fallback>
      </mc:AlternateContent>
    </p:spTree>
    <p:extLst>
      <p:ext uri="{BB962C8B-B14F-4D97-AF65-F5344CB8AC3E}">
        <p14:creationId xmlns:p14="http://schemas.microsoft.com/office/powerpoint/2010/main" val="451020507"/>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2275DCE-45DA-4F91-86BA-B55F538E14C0}"/>
              </a:ext>
            </a:extLst>
          </p:cNvPr>
          <p:cNvSpPr>
            <a:spLocks noGrp="1"/>
          </p:cNvSpPr>
          <p:nvPr>
            <p:ph type="title"/>
          </p:nvPr>
        </p:nvSpPr>
        <p:spPr/>
        <p:txBody>
          <a:bodyPr/>
          <a:lstStyle/>
          <a:p>
            <a:r>
              <a:rPr lang="en-US"/>
              <a:t>TÓM TẮT</a:t>
            </a:r>
          </a:p>
        </p:txBody>
      </p:sp>
      <p:sp>
        <p:nvSpPr>
          <p:cNvPr id="6" name="Text Placeholder 5">
            <a:extLst>
              <a:ext uri="{FF2B5EF4-FFF2-40B4-BE49-F238E27FC236}">
                <a16:creationId xmlns:a16="http://schemas.microsoft.com/office/drawing/2014/main" id="{3C0FFF4B-22FB-4941-9ED4-53EC9DAFE536}"/>
              </a:ext>
            </a:extLst>
          </p:cNvPr>
          <p:cNvSpPr>
            <a:spLocks noGrp="1"/>
          </p:cNvSpPr>
          <p:nvPr>
            <p:ph type="body" idx="1"/>
          </p:nvPr>
        </p:nvSpPr>
        <p:spPr/>
        <p:txBody>
          <a:bodyPr/>
          <a:lstStyle/>
          <a:p>
            <a:endParaRPr lang="en-US"/>
          </a:p>
        </p:txBody>
      </p:sp>
      <p:pic>
        <p:nvPicPr>
          <p:cNvPr id="4" name="Picture 3">
            <a:extLst>
              <a:ext uri="{FF2B5EF4-FFF2-40B4-BE49-F238E27FC236}">
                <a16:creationId xmlns:a16="http://schemas.microsoft.com/office/drawing/2014/main" id="{D8427F03-26B2-4CFB-91E3-FBC03798AA0B}"/>
              </a:ext>
            </a:extLst>
          </p:cNvPr>
          <p:cNvPicPr>
            <a:picLocks noChangeAspect="1" noChangeArrowheads="1"/>
          </p:cNvPicPr>
          <p:nvPr/>
        </p:nvPicPr>
        <p:blipFill>
          <a:blip r:embed="rId2" cstate="print"/>
          <a:srcRect/>
          <a:stretch>
            <a:fillRect/>
          </a:stretch>
        </p:blipFill>
        <p:spPr bwMode="auto">
          <a:xfrm>
            <a:off x="7267330" y="695919"/>
            <a:ext cx="4738365" cy="3571281"/>
          </a:xfrm>
          <a:prstGeom prst="rect">
            <a:avLst/>
          </a:prstGeom>
          <a:noFill/>
        </p:spPr>
      </p:pic>
    </p:spTree>
    <p:extLst>
      <p:ext uri="{BB962C8B-B14F-4D97-AF65-F5344CB8AC3E}">
        <p14:creationId xmlns:p14="http://schemas.microsoft.com/office/powerpoint/2010/main" val="107142309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B4A64A-993A-4044-8A59-E214EBC1147C}"/>
              </a:ext>
            </a:extLst>
          </p:cNvPr>
          <p:cNvSpPr>
            <a:spLocks noGrp="1"/>
          </p:cNvSpPr>
          <p:nvPr>
            <p:ph type="title"/>
          </p:nvPr>
        </p:nvSpPr>
        <p:spPr/>
        <p:txBody>
          <a:bodyPr/>
          <a:lstStyle/>
          <a:p>
            <a:r>
              <a:rPr lang="en-US"/>
              <a:t>Tóm tắt</a:t>
            </a:r>
          </a:p>
        </p:txBody>
      </p:sp>
      <p:sp>
        <p:nvSpPr>
          <p:cNvPr id="5" name="Content Placeholder 4">
            <a:extLst>
              <a:ext uri="{FF2B5EF4-FFF2-40B4-BE49-F238E27FC236}">
                <a16:creationId xmlns:a16="http://schemas.microsoft.com/office/drawing/2014/main" id="{CEAA09E2-631A-4DC2-BA62-0EECCF1B4753}"/>
              </a:ext>
            </a:extLst>
          </p:cNvPr>
          <p:cNvSpPr>
            <a:spLocks noGrp="1"/>
          </p:cNvSpPr>
          <p:nvPr>
            <p:ph idx="1"/>
          </p:nvPr>
        </p:nvSpPr>
        <p:spPr/>
        <p:txBody>
          <a:bodyPr/>
          <a:lstStyle/>
          <a:p>
            <a:pPr algn="just"/>
            <a:r>
              <a:rPr lang="vi-VN"/>
              <a:t>SVM (Support Vector Machine) là một thuật toán học máy có giám sát được sử dụng rất phổ biến ngày nay trong các bài toán phân lớp (classification) hay hồi qui (Regression).</a:t>
            </a:r>
          </a:p>
          <a:p>
            <a:pPr algn="just"/>
            <a:r>
              <a:rPr lang="vi-VN">
                <a:solidFill>
                  <a:srgbClr val="FF0000"/>
                </a:solidFill>
              </a:rPr>
              <a:t>SVM là mô hình xây dựng một siêu phẳng hoặc một tập hợp các siêu phẳng trong một không gian nhiều chiều hoặc vô hạn chiều, có thể được sử dụng cho phân loại, hồi quy, hoặc các nhiệm vụ khác</a:t>
            </a:r>
            <a:r>
              <a:rPr lang="en-US">
                <a:solidFill>
                  <a:srgbClr val="FF0000"/>
                </a:solidFill>
              </a:rPr>
              <a:t>.</a:t>
            </a:r>
          </a:p>
        </p:txBody>
      </p:sp>
    </p:spTree>
    <p:extLst>
      <p:ext uri="{BB962C8B-B14F-4D97-AF65-F5344CB8AC3E}">
        <p14:creationId xmlns:p14="http://schemas.microsoft.com/office/powerpoint/2010/main" val="460334143"/>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2BC5DDF-57A0-4105-8ACF-7FCE683FCECC}"/>
              </a:ext>
            </a:extLst>
          </p:cNvPr>
          <p:cNvSpPr>
            <a:spLocks noGrp="1"/>
          </p:cNvSpPr>
          <p:nvPr>
            <p:ph type="title"/>
          </p:nvPr>
        </p:nvSpPr>
        <p:spPr/>
        <p:txBody>
          <a:bodyPr/>
          <a:lstStyle/>
          <a:p>
            <a:r>
              <a:rPr lang="en-US"/>
              <a:t>Tóm tắt</a:t>
            </a:r>
          </a:p>
        </p:txBody>
      </p:sp>
      <p:sp>
        <p:nvSpPr>
          <p:cNvPr id="5" name="Content Placeholder 4">
            <a:extLst>
              <a:ext uri="{FF2B5EF4-FFF2-40B4-BE49-F238E27FC236}">
                <a16:creationId xmlns:a16="http://schemas.microsoft.com/office/drawing/2014/main" id="{FB40D510-D109-46ED-80B5-E81641B76B8E}"/>
              </a:ext>
            </a:extLst>
          </p:cNvPr>
          <p:cNvSpPr>
            <a:spLocks noGrp="1"/>
          </p:cNvSpPr>
          <p:nvPr>
            <p:ph idx="1"/>
          </p:nvPr>
        </p:nvSpPr>
        <p:spPr/>
        <p:txBody>
          <a:bodyPr/>
          <a:lstStyle/>
          <a:p>
            <a:pPr algn="just"/>
            <a:r>
              <a:rPr lang="en-US"/>
              <a:t>Để phân loại tốt nhất thì phải xác định siêu phẳng (Optimal hyperplane) nằm ở càng xa các điểm dữ liệu của tất cả các lớp (Hàm lề) càng tốt, vì nói chung lề càng lớn thì sai số tổng quát hóa của thuật toán phân loại càng bé.</a:t>
            </a:r>
          </a:p>
          <a:p>
            <a:pPr algn="just"/>
            <a:r>
              <a:rPr lang="vi-VN">
                <a:solidFill>
                  <a:srgbClr val="FF0000"/>
                </a:solidFill>
              </a:rPr>
              <a:t>Muốn các điểm dữ liệu có thể được chia tách một cách tuyến tính, thì bạn phải cần chọn hai siêu phẳng của lề sao cho không có điểm nào ở giữa chúng và khoảng cách giữa chúng là tối đa.</a:t>
            </a:r>
            <a:endParaRPr lang="en-US">
              <a:solidFill>
                <a:srgbClr val="FF0000"/>
              </a:solidFill>
            </a:endParaRPr>
          </a:p>
        </p:txBody>
      </p:sp>
    </p:spTree>
    <p:extLst>
      <p:ext uri="{BB962C8B-B14F-4D97-AF65-F5344CB8AC3E}">
        <p14:creationId xmlns:p14="http://schemas.microsoft.com/office/powerpoint/2010/main" val="46466642"/>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B2842-E1A3-4645-820D-4AC9CA525186}"/>
              </a:ext>
            </a:extLst>
          </p:cNvPr>
          <p:cNvSpPr>
            <a:spLocks noGrp="1"/>
          </p:cNvSpPr>
          <p:nvPr>
            <p:ph type="title"/>
          </p:nvPr>
        </p:nvSpPr>
        <p:spPr/>
        <p:txBody>
          <a:bodyPr/>
          <a:lstStyle/>
          <a:p>
            <a:r>
              <a:rPr lang="en-US"/>
              <a:t>Tóm tắt</a:t>
            </a:r>
          </a:p>
        </p:txBody>
      </p:sp>
      <p:sp>
        <p:nvSpPr>
          <p:cNvPr id="3" name="Content Placeholder 2">
            <a:extLst>
              <a:ext uri="{FF2B5EF4-FFF2-40B4-BE49-F238E27FC236}">
                <a16:creationId xmlns:a16="http://schemas.microsoft.com/office/drawing/2014/main" id="{24F61CC1-FB6F-46E3-889A-42DACF969D68}"/>
              </a:ext>
            </a:extLst>
          </p:cNvPr>
          <p:cNvSpPr>
            <a:spLocks noGrp="1"/>
          </p:cNvSpPr>
          <p:nvPr>
            <p:ph idx="1"/>
          </p:nvPr>
        </p:nvSpPr>
        <p:spPr/>
        <p:txBody>
          <a:bodyPr/>
          <a:lstStyle/>
          <a:p>
            <a:pPr algn="just"/>
            <a:r>
              <a:rPr lang="vi-VN"/>
              <a:t>Trong nhiều trường hợp, không thể phân chia các lớp dữ liệu một cách tuyến tính trong một không gian ban đầu được dùng để mô tả một vấn đề.</a:t>
            </a:r>
            <a:endParaRPr lang="en-US"/>
          </a:p>
          <a:p>
            <a:pPr algn="just"/>
            <a:r>
              <a:rPr lang="vi-VN">
                <a:solidFill>
                  <a:srgbClr val="FF0000"/>
                </a:solidFill>
              </a:rPr>
              <a:t>Vì vậy, nhiều khi cần phải ánh xạ các điểm dữ liệu trong không gian ban đầu vào một không gian mới nhiều chiều hơn, để việc phân tách chúng trở nên dễ dàng hơn trong không gian mới.</a:t>
            </a:r>
            <a:endParaRPr lang="en-US">
              <a:solidFill>
                <a:srgbClr val="FF0000"/>
              </a:solidFill>
            </a:endParaRPr>
          </a:p>
        </p:txBody>
      </p:sp>
    </p:spTree>
    <p:extLst>
      <p:ext uri="{BB962C8B-B14F-4D97-AF65-F5344CB8AC3E}">
        <p14:creationId xmlns:p14="http://schemas.microsoft.com/office/powerpoint/2010/main" val="4132885746"/>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029751D-41C3-4A4C-9AC9-CCB7A061F0BB}"/>
              </a:ext>
            </a:extLst>
          </p:cNvPr>
          <p:cNvSpPr>
            <a:spLocks noGrp="1"/>
          </p:cNvSpPr>
          <p:nvPr>
            <p:ph type="title"/>
          </p:nvPr>
        </p:nvSpPr>
        <p:spPr/>
        <p:txBody>
          <a:bodyPr/>
          <a:lstStyle/>
          <a:p>
            <a:r>
              <a:rPr lang="vi-VN" dirty="0"/>
              <a:t>DATASET</a:t>
            </a:r>
          </a:p>
        </p:txBody>
      </p:sp>
      <p:sp>
        <p:nvSpPr>
          <p:cNvPr id="6" name="Text Placeholder 5">
            <a:extLst>
              <a:ext uri="{FF2B5EF4-FFF2-40B4-BE49-F238E27FC236}">
                <a16:creationId xmlns:a16="http://schemas.microsoft.com/office/drawing/2014/main" id="{19BF91FE-C018-4D25-9A03-0B4B71F42B9A}"/>
              </a:ext>
            </a:extLst>
          </p:cNvPr>
          <p:cNvSpPr>
            <a:spLocks noGrp="1"/>
          </p:cNvSpPr>
          <p:nvPr>
            <p:ph type="body" idx="1"/>
          </p:nvPr>
        </p:nvSpPr>
        <p:spPr/>
        <p:txBody>
          <a:bodyPr/>
          <a:lstStyle/>
          <a:p>
            <a:endParaRPr lang="vi-VN"/>
          </a:p>
        </p:txBody>
      </p:sp>
    </p:spTree>
    <p:extLst>
      <p:ext uri="{BB962C8B-B14F-4D97-AF65-F5344CB8AC3E}">
        <p14:creationId xmlns:p14="http://schemas.microsoft.com/office/powerpoint/2010/main" val="3562748461"/>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E8E49B6-FFB9-48FE-A4A6-A7632629FC33}"/>
              </a:ext>
            </a:extLst>
          </p:cNvPr>
          <p:cNvSpPr>
            <a:spLocks noGrp="1"/>
          </p:cNvSpPr>
          <p:nvPr>
            <p:ph type="title"/>
          </p:nvPr>
        </p:nvSpPr>
        <p:spPr/>
        <p:txBody>
          <a:bodyPr/>
          <a:lstStyle/>
          <a:p>
            <a:r>
              <a:rPr lang="vi-VN" dirty="0" err="1"/>
              <a:t>Dataset</a:t>
            </a:r>
            <a:endParaRPr lang="vi-VN" dirty="0"/>
          </a:p>
        </p:txBody>
      </p:sp>
      <p:sp>
        <p:nvSpPr>
          <p:cNvPr id="7" name="Content Placeholder 6">
            <a:extLst>
              <a:ext uri="{FF2B5EF4-FFF2-40B4-BE49-F238E27FC236}">
                <a16:creationId xmlns:a16="http://schemas.microsoft.com/office/drawing/2014/main" id="{24A5EA7F-8FCE-416E-9B84-E4673825CC4B}"/>
              </a:ext>
            </a:extLst>
          </p:cNvPr>
          <p:cNvSpPr>
            <a:spLocks noGrp="1"/>
          </p:cNvSpPr>
          <p:nvPr>
            <p:ph idx="1"/>
          </p:nvPr>
        </p:nvSpPr>
        <p:spPr/>
        <p:txBody>
          <a:bodyPr/>
          <a:lstStyle/>
          <a:p>
            <a:pPr algn="just"/>
            <a:r>
              <a:rPr lang="vi-VN" sz="2800" dirty="0">
                <a:solidFill>
                  <a:srgbClr val="0066FF"/>
                </a:solidFill>
              </a:rPr>
              <a:t>Tên </a:t>
            </a:r>
            <a:r>
              <a:rPr lang="vi-VN" sz="2800" dirty="0" err="1">
                <a:solidFill>
                  <a:srgbClr val="0066FF"/>
                </a:solidFill>
              </a:rPr>
              <a:t>tập</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a:t>
            </a:r>
            <a:r>
              <a:rPr lang="vi-VN" sz="2800" dirty="0" err="1">
                <a:solidFill>
                  <a:srgbClr val="0066FF"/>
                </a:solidFill>
              </a:rPr>
              <a:t>Social</a:t>
            </a:r>
            <a:r>
              <a:rPr lang="vi-VN" sz="2800" dirty="0">
                <a:solidFill>
                  <a:srgbClr val="0066FF"/>
                </a:solidFill>
              </a:rPr>
              <a:t> </a:t>
            </a:r>
            <a:r>
              <a:rPr lang="vi-VN" sz="2800" dirty="0" err="1">
                <a:solidFill>
                  <a:srgbClr val="0066FF"/>
                </a:solidFill>
              </a:rPr>
              <a:t>Network</a:t>
            </a:r>
            <a:r>
              <a:rPr lang="vi-VN" sz="2800" dirty="0">
                <a:solidFill>
                  <a:srgbClr val="0066FF"/>
                </a:solidFill>
              </a:rPr>
              <a:t> </a:t>
            </a:r>
            <a:r>
              <a:rPr lang="vi-VN" sz="2800" dirty="0" err="1">
                <a:solidFill>
                  <a:srgbClr val="0066FF"/>
                </a:solidFill>
              </a:rPr>
              <a:t>Ads</a:t>
            </a:r>
            <a:r>
              <a:rPr lang="vi-VN" sz="2800" dirty="0">
                <a:solidFill>
                  <a:srgbClr val="0066FF"/>
                </a:solidFill>
              </a:rPr>
              <a:t>.</a:t>
            </a:r>
          </a:p>
          <a:p>
            <a:pPr algn="just"/>
            <a:r>
              <a:rPr lang="vi-VN" sz="2800" dirty="0" err="1">
                <a:solidFill>
                  <a:srgbClr val="FF0000"/>
                </a:solidFill>
              </a:rPr>
              <a:t>Nguồn</a:t>
            </a:r>
            <a:r>
              <a:rPr lang="vi-VN" sz="2800" dirty="0">
                <a:solidFill>
                  <a:srgbClr val="FF0000"/>
                </a:solidFill>
              </a:rPr>
              <a:t>:</a:t>
            </a:r>
            <a:r>
              <a:rPr lang="vi-VN" sz="2800" dirty="0">
                <a:solidFill>
                  <a:srgbClr val="0066FF"/>
                </a:solidFill>
              </a:rPr>
              <a:t> </a:t>
            </a:r>
            <a:r>
              <a:rPr lang="vi-VN" sz="2800" dirty="0">
                <a:solidFill>
                  <a:srgbClr val="008000"/>
                </a:solidFill>
                <a:hlinkClick r:id="rId2">
                  <a:extLst>
                    <a:ext uri="{A12FA001-AC4F-418D-AE19-62706E023703}">
                      <ahyp:hlinkClr xmlns:ahyp="http://schemas.microsoft.com/office/drawing/2018/hyperlinkcolor" val="tx"/>
                    </a:ext>
                  </a:extLst>
                </a:hlinkClick>
              </a:rPr>
              <a:t>https://www.superdatascience.com/pages/machine-learning</a:t>
            </a:r>
            <a:r>
              <a:rPr lang="vi-VN" sz="2800" dirty="0">
                <a:solidFill>
                  <a:srgbClr val="0066FF"/>
                </a:solidFill>
              </a:rPr>
              <a:t>.</a:t>
            </a:r>
          </a:p>
          <a:p>
            <a:pPr algn="just"/>
            <a:r>
              <a:rPr lang="vi-VN" sz="2800" dirty="0" err="1">
                <a:solidFill>
                  <a:srgbClr val="0066FF"/>
                </a:solidFill>
              </a:rPr>
              <a:t>Tập</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cho </a:t>
            </a:r>
            <a:r>
              <a:rPr lang="vi-VN" sz="2800" dirty="0" err="1">
                <a:solidFill>
                  <a:srgbClr val="0066FF"/>
                </a:solidFill>
              </a:rPr>
              <a:t>biết</a:t>
            </a:r>
            <a:r>
              <a:rPr lang="vi-VN" sz="2800" dirty="0">
                <a:solidFill>
                  <a:srgbClr val="0066FF"/>
                </a:solidFill>
              </a:rPr>
              <a:t> </a:t>
            </a:r>
            <a:r>
              <a:rPr lang="vi-VN" sz="2800" dirty="0" err="1">
                <a:solidFill>
                  <a:srgbClr val="0066FF"/>
                </a:solidFill>
              </a:rPr>
              <a:t>các</a:t>
            </a:r>
            <a:r>
              <a:rPr lang="vi-VN" sz="2800" dirty="0">
                <a:solidFill>
                  <a:srgbClr val="0066FF"/>
                </a:solidFill>
              </a:rPr>
              <a:t> thông tin </a:t>
            </a:r>
            <a:r>
              <a:rPr lang="vi-VN" sz="2800" dirty="0" err="1">
                <a:solidFill>
                  <a:srgbClr val="0066FF"/>
                </a:solidFill>
              </a:rPr>
              <a:t>của</a:t>
            </a:r>
            <a:r>
              <a:rPr lang="vi-VN" sz="2800" dirty="0">
                <a:solidFill>
                  <a:srgbClr val="0066FF"/>
                </a:solidFill>
              </a:rPr>
              <a:t> </a:t>
            </a:r>
            <a:r>
              <a:rPr lang="vi-VN" sz="2800" dirty="0" err="1">
                <a:solidFill>
                  <a:srgbClr val="0066FF"/>
                </a:solidFill>
              </a:rPr>
              <a:t>khách</a:t>
            </a:r>
            <a:r>
              <a:rPr lang="vi-VN" sz="2800" dirty="0">
                <a:solidFill>
                  <a:srgbClr val="0066FF"/>
                </a:solidFill>
              </a:rPr>
              <a:t> </a:t>
            </a:r>
            <a:r>
              <a:rPr lang="vi-VN" sz="2800" dirty="0" err="1">
                <a:solidFill>
                  <a:srgbClr val="0066FF"/>
                </a:solidFill>
              </a:rPr>
              <a:t>hàng</a:t>
            </a:r>
            <a:r>
              <a:rPr lang="vi-VN" sz="2800" dirty="0">
                <a:solidFill>
                  <a:srgbClr val="0066FF"/>
                </a:solidFill>
              </a:rPr>
              <a:t> </a:t>
            </a:r>
            <a:r>
              <a:rPr lang="vi-VN" sz="2800" dirty="0" err="1">
                <a:solidFill>
                  <a:srgbClr val="0066FF"/>
                </a:solidFill>
              </a:rPr>
              <a:t>và</a:t>
            </a:r>
            <a:r>
              <a:rPr lang="vi-VN" sz="2800" dirty="0">
                <a:solidFill>
                  <a:srgbClr val="0066FF"/>
                </a:solidFill>
              </a:rPr>
              <a:t> </a:t>
            </a:r>
            <a:r>
              <a:rPr lang="vi-VN" sz="2800" dirty="0" err="1">
                <a:solidFill>
                  <a:srgbClr val="0066FF"/>
                </a:solidFill>
              </a:rPr>
              <a:t>họ</a:t>
            </a:r>
            <a:r>
              <a:rPr lang="vi-VN" sz="2800" dirty="0">
                <a:solidFill>
                  <a:srgbClr val="0066FF"/>
                </a:solidFill>
              </a:rPr>
              <a:t> </a:t>
            </a:r>
            <a:r>
              <a:rPr lang="vi-VN" sz="2800" dirty="0" err="1">
                <a:solidFill>
                  <a:srgbClr val="0066FF"/>
                </a:solidFill>
              </a:rPr>
              <a:t>có</a:t>
            </a:r>
            <a:r>
              <a:rPr lang="vi-VN" sz="2800" dirty="0">
                <a:solidFill>
                  <a:srgbClr val="0066FF"/>
                </a:solidFill>
              </a:rPr>
              <a:t> mua </a:t>
            </a:r>
            <a:r>
              <a:rPr lang="vi-VN" sz="2800" dirty="0" err="1">
                <a:solidFill>
                  <a:srgbClr val="0066FF"/>
                </a:solidFill>
              </a:rPr>
              <a:t>hàng</a:t>
            </a:r>
            <a:r>
              <a:rPr lang="vi-VN" sz="2800" dirty="0">
                <a:solidFill>
                  <a:srgbClr val="0066FF"/>
                </a:solidFill>
              </a:rPr>
              <a:t> hay không.</a:t>
            </a:r>
          </a:p>
        </p:txBody>
      </p:sp>
    </p:spTree>
    <p:extLst>
      <p:ext uri="{BB962C8B-B14F-4D97-AF65-F5344CB8AC3E}">
        <p14:creationId xmlns:p14="http://schemas.microsoft.com/office/powerpoint/2010/main" val="3577725186"/>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E8E49B6-FFB9-48FE-A4A6-A7632629FC33}"/>
              </a:ext>
            </a:extLst>
          </p:cNvPr>
          <p:cNvSpPr>
            <a:spLocks noGrp="1"/>
          </p:cNvSpPr>
          <p:nvPr>
            <p:ph type="title"/>
          </p:nvPr>
        </p:nvSpPr>
        <p:spPr/>
        <p:txBody>
          <a:bodyPr/>
          <a:lstStyle/>
          <a:p>
            <a:r>
              <a:rPr lang="vi-VN" dirty="0" err="1"/>
              <a:t>Dataset</a:t>
            </a:r>
            <a:endParaRPr lang="vi-VN" dirty="0"/>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24A5EA7F-8FCE-416E-9B84-E4673825CC4B}"/>
                  </a:ext>
                </a:extLst>
              </p:cNvPr>
              <p:cNvSpPr>
                <a:spLocks noGrp="1"/>
              </p:cNvSpPr>
              <p:nvPr>
                <p:ph idx="1"/>
              </p:nvPr>
            </p:nvSpPr>
            <p:spPr/>
            <p:txBody>
              <a:bodyPr/>
              <a:lstStyle/>
              <a:p>
                <a:pPr algn="just"/>
                <a:r>
                  <a:rPr lang="vi-VN" sz="2800" dirty="0" err="1">
                    <a:solidFill>
                      <a:srgbClr val="0066FF"/>
                    </a:solidFill>
                  </a:rPr>
                  <a:t>Tập</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a:t>
                </a:r>
                <a:r>
                  <a:rPr lang="vi-VN" sz="2800" dirty="0" err="1">
                    <a:solidFill>
                      <a:srgbClr val="0066FF"/>
                    </a:solidFill>
                  </a:rPr>
                  <a:t>chứa</a:t>
                </a:r>
                <a:r>
                  <a:rPr lang="vi-VN" sz="2800" dirty="0">
                    <a:solidFill>
                      <a:srgbClr val="0066FF"/>
                    </a:solidFill>
                  </a:rPr>
                  <a:t> 400 </a:t>
                </a:r>
                <a:r>
                  <a:rPr lang="vi-VN" sz="2800" dirty="0" err="1">
                    <a:solidFill>
                      <a:srgbClr val="0066FF"/>
                    </a:solidFill>
                  </a:rPr>
                  <a:t>điểm</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a:t>
                </a:r>
                <a:r>
                  <a:rPr lang="vi-VN" sz="2800" dirty="0" err="1">
                    <a:solidFill>
                      <a:srgbClr val="0066FF"/>
                    </a:solidFill>
                  </a:rPr>
                  <a:t>mỗi</a:t>
                </a:r>
                <a:r>
                  <a:rPr lang="vi-VN" sz="2800" dirty="0">
                    <a:solidFill>
                      <a:srgbClr val="0066FF"/>
                    </a:solidFill>
                  </a:rPr>
                  <a:t> </a:t>
                </a:r>
                <a:r>
                  <a:rPr lang="vi-VN" sz="2800" dirty="0" err="1">
                    <a:solidFill>
                      <a:srgbClr val="0066FF"/>
                    </a:solidFill>
                  </a:rPr>
                  <a:t>điểm</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a:t>
                </a:r>
                <a:r>
                  <a:rPr lang="vi-VN" sz="2800" dirty="0" err="1">
                    <a:solidFill>
                      <a:srgbClr val="0066FF"/>
                    </a:solidFill>
                  </a:rPr>
                  <a:t>có</a:t>
                </a:r>
                <a:r>
                  <a:rPr lang="vi-VN" sz="2800" dirty="0">
                    <a:solidFill>
                      <a:srgbClr val="0066FF"/>
                    </a:solidFill>
                  </a:rPr>
                  <a:t> 5 </a:t>
                </a:r>
                <a:r>
                  <a:rPr lang="vi-VN" sz="2800" dirty="0" err="1">
                    <a:solidFill>
                      <a:srgbClr val="0066FF"/>
                    </a:solidFill>
                  </a:rPr>
                  <a:t>thuộc</a:t>
                </a:r>
                <a:r>
                  <a:rPr lang="vi-VN" sz="2800" dirty="0">
                    <a:solidFill>
                      <a:srgbClr val="0066FF"/>
                    </a:solidFill>
                  </a:rPr>
                  <a:t> </a:t>
                </a:r>
                <a:r>
                  <a:rPr lang="vi-VN" sz="2800" dirty="0" err="1">
                    <a:solidFill>
                      <a:srgbClr val="0066FF"/>
                    </a:solidFill>
                  </a:rPr>
                  <a:t>tính</a:t>
                </a:r>
                <a:r>
                  <a:rPr lang="vi-VN" sz="2800" dirty="0">
                    <a:solidFill>
                      <a:srgbClr val="0066FF"/>
                    </a:solidFill>
                  </a:rPr>
                  <a:t> </a:t>
                </a:r>
                <a:r>
                  <a:rPr lang="vi-VN" sz="2800" dirty="0" err="1">
                    <a:solidFill>
                      <a:srgbClr val="0066FF"/>
                    </a:solidFill>
                  </a:rPr>
                  <a:t>gồm</a:t>
                </a:r>
                <a:r>
                  <a:rPr lang="vi-VN" sz="2800" dirty="0">
                    <a:solidFill>
                      <a:srgbClr val="0066FF"/>
                    </a:solidFill>
                  </a:rPr>
                  <a:t>:</a:t>
                </a:r>
              </a:p>
              <a:p>
                <a:pPr lvl="1" algn="just"/>
                <a:r>
                  <a:rPr lang="vi-VN" sz="2800" dirty="0" err="1">
                    <a:solidFill>
                      <a:schemeClr val="tx1"/>
                    </a:solidFill>
                    <a:highlight>
                      <a:srgbClr val="FFFF00"/>
                    </a:highlight>
                  </a:rPr>
                  <a:t>UserID</a:t>
                </a:r>
                <a:r>
                  <a:rPr lang="vi-VN" sz="2800" dirty="0">
                    <a:solidFill>
                      <a:srgbClr val="FF0000"/>
                    </a:solidFill>
                  </a:rPr>
                  <a:t>: </a:t>
                </a:r>
                <a:r>
                  <a:rPr lang="vi-VN" sz="2800" dirty="0" err="1">
                    <a:solidFill>
                      <a:srgbClr val="FF0000"/>
                    </a:solidFill>
                  </a:rPr>
                  <a:t>Mã</a:t>
                </a:r>
                <a:r>
                  <a:rPr lang="vi-VN" sz="2800" dirty="0">
                    <a:solidFill>
                      <a:srgbClr val="FF0000"/>
                    </a:solidFill>
                  </a:rPr>
                  <a:t> </a:t>
                </a:r>
                <a:r>
                  <a:rPr lang="vi-VN" sz="2800" dirty="0" err="1">
                    <a:solidFill>
                      <a:srgbClr val="FF0000"/>
                    </a:solidFill>
                  </a:rPr>
                  <a:t>số</a:t>
                </a:r>
                <a:r>
                  <a:rPr lang="vi-VN" sz="2800" dirty="0">
                    <a:solidFill>
                      <a:srgbClr val="FF0000"/>
                    </a:solidFill>
                  </a:rPr>
                  <a:t> </a:t>
                </a:r>
                <a:r>
                  <a:rPr lang="vi-VN" sz="2800" dirty="0" err="1">
                    <a:solidFill>
                      <a:srgbClr val="FF0000"/>
                    </a:solidFill>
                  </a:rPr>
                  <a:t>định</a:t>
                </a:r>
                <a:r>
                  <a:rPr lang="vi-VN" sz="2800" dirty="0">
                    <a:solidFill>
                      <a:srgbClr val="FF0000"/>
                    </a:solidFill>
                  </a:rPr>
                  <a:t> danh </a:t>
                </a:r>
                <a:r>
                  <a:rPr lang="vi-VN" sz="2800" dirty="0" err="1">
                    <a:solidFill>
                      <a:srgbClr val="FF0000"/>
                    </a:solidFill>
                  </a:rPr>
                  <a:t>của</a:t>
                </a:r>
                <a:r>
                  <a:rPr lang="vi-VN" sz="2800" dirty="0">
                    <a:solidFill>
                      <a:srgbClr val="FF0000"/>
                    </a:solidFill>
                  </a:rPr>
                  <a:t> </a:t>
                </a:r>
                <a:r>
                  <a:rPr lang="vi-VN" sz="2800" dirty="0" err="1">
                    <a:solidFill>
                      <a:srgbClr val="FF0000"/>
                    </a:solidFill>
                  </a:rPr>
                  <a:t>người</a:t>
                </a:r>
                <a:r>
                  <a:rPr lang="vi-VN" sz="2800" dirty="0">
                    <a:solidFill>
                      <a:srgbClr val="FF0000"/>
                    </a:solidFill>
                  </a:rPr>
                  <a:t> </a:t>
                </a:r>
                <a:r>
                  <a:rPr lang="vi-VN" sz="2800" dirty="0" err="1">
                    <a:solidFill>
                      <a:srgbClr val="FF0000"/>
                    </a:solidFill>
                  </a:rPr>
                  <a:t>dùng</a:t>
                </a:r>
                <a:r>
                  <a:rPr lang="vi-VN" sz="2800" dirty="0">
                    <a:solidFill>
                      <a:srgbClr val="FF0000"/>
                    </a:solidFill>
                  </a:rPr>
                  <a:t>.</a:t>
                </a:r>
              </a:p>
              <a:p>
                <a:pPr lvl="1" algn="just"/>
                <a:r>
                  <a:rPr lang="vi-VN" sz="2800" dirty="0" err="1">
                    <a:solidFill>
                      <a:schemeClr val="tx1"/>
                    </a:solidFill>
                    <a:highlight>
                      <a:srgbClr val="FFFF00"/>
                    </a:highlight>
                  </a:rPr>
                  <a:t>Gender</a:t>
                </a:r>
                <a:r>
                  <a:rPr lang="vi-VN" sz="2800" dirty="0">
                    <a:solidFill>
                      <a:srgbClr val="0066FF"/>
                    </a:solidFill>
                  </a:rPr>
                  <a:t>: </a:t>
                </a:r>
                <a:r>
                  <a:rPr lang="vi-VN" sz="2800" dirty="0" err="1">
                    <a:solidFill>
                      <a:srgbClr val="0066FF"/>
                    </a:solidFill>
                  </a:rPr>
                  <a:t>Giới</a:t>
                </a:r>
                <a:r>
                  <a:rPr lang="vi-VN" sz="2800" dirty="0">
                    <a:solidFill>
                      <a:srgbClr val="0066FF"/>
                    </a:solidFill>
                  </a:rPr>
                  <a:t> </a:t>
                </a:r>
                <a:r>
                  <a:rPr lang="vi-VN" sz="2800" dirty="0" err="1">
                    <a:solidFill>
                      <a:srgbClr val="0066FF"/>
                    </a:solidFill>
                  </a:rPr>
                  <a:t>tính</a:t>
                </a:r>
                <a:r>
                  <a:rPr lang="vi-VN" sz="2800" dirty="0">
                    <a:solidFill>
                      <a:srgbClr val="0066FF"/>
                    </a:solidFill>
                  </a:rPr>
                  <a:t> </a:t>
                </a:r>
                <a:r>
                  <a:rPr lang="vi-VN" sz="2800" dirty="0" err="1">
                    <a:solidFill>
                      <a:srgbClr val="0066FF"/>
                    </a:solidFill>
                  </a:rPr>
                  <a:t>của</a:t>
                </a:r>
                <a:r>
                  <a:rPr lang="vi-VN" sz="2800" dirty="0">
                    <a:solidFill>
                      <a:srgbClr val="0066FF"/>
                    </a:solidFill>
                  </a:rPr>
                  <a:t> </a:t>
                </a:r>
                <a:r>
                  <a:rPr lang="vi-VN" sz="2800" dirty="0" err="1">
                    <a:solidFill>
                      <a:srgbClr val="0066FF"/>
                    </a:solidFill>
                  </a:rPr>
                  <a:t>người</a:t>
                </a:r>
                <a:r>
                  <a:rPr lang="vi-VN" sz="2800" dirty="0">
                    <a:solidFill>
                      <a:srgbClr val="0066FF"/>
                    </a:solidFill>
                  </a:rPr>
                  <a:t> </a:t>
                </a:r>
                <a:r>
                  <a:rPr lang="vi-VN" sz="2800" dirty="0" err="1">
                    <a:solidFill>
                      <a:srgbClr val="0066FF"/>
                    </a:solidFill>
                  </a:rPr>
                  <a:t>dùng</a:t>
                </a:r>
                <a:r>
                  <a:rPr lang="vi-VN" sz="2800" dirty="0">
                    <a:solidFill>
                      <a:srgbClr val="0066FF"/>
                    </a:solidFill>
                  </a:rPr>
                  <a:t>.</a:t>
                </a:r>
              </a:p>
              <a:p>
                <a:pPr lvl="1" algn="just"/>
                <a:r>
                  <a:rPr lang="vi-VN" sz="2800" dirty="0" err="1">
                    <a:solidFill>
                      <a:schemeClr val="tx1"/>
                    </a:solidFill>
                    <a:highlight>
                      <a:srgbClr val="FFFF00"/>
                    </a:highlight>
                  </a:rPr>
                  <a:t>Age</a:t>
                </a:r>
                <a:r>
                  <a:rPr lang="vi-VN" sz="2800" dirty="0">
                    <a:solidFill>
                      <a:srgbClr val="FF0000"/>
                    </a:solidFill>
                  </a:rPr>
                  <a:t>: </a:t>
                </a:r>
                <a:r>
                  <a:rPr lang="vi-VN" sz="2800" dirty="0" err="1">
                    <a:solidFill>
                      <a:srgbClr val="FF0000"/>
                    </a:solidFill>
                  </a:rPr>
                  <a:t>Độ</a:t>
                </a:r>
                <a:r>
                  <a:rPr lang="vi-VN" sz="2800" dirty="0">
                    <a:solidFill>
                      <a:srgbClr val="FF0000"/>
                    </a:solidFill>
                  </a:rPr>
                  <a:t> </a:t>
                </a:r>
                <a:r>
                  <a:rPr lang="vi-VN" sz="2800" dirty="0" err="1">
                    <a:solidFill>
                      <a:srgbClr val="FF0000"/>
                    </a:solidFill>
                  </a:rPr>
                  <a:t>tuổi</a:t>
                </a:r>
                <a:r>
                  <a:rPr lang="vi-VN" sz="2800" dirty="0">
                    <a:solidFill>
                      <a:srgbClr val="FF0000"/>
                    </a:solidFill>
                  </a:rPr>
                  <a:t> </a:t>
                </a:r>
                <a:r>
                  <a:rPr lang="vi-VN" sz="2800" dirty="0" err="1">
                    <a:solidFill>
                      <a:srgbClr val="FF0000"/>
                    </a:solidFill>
                  </a:rPr>
                  <a:t>người</a:t>
                </a:r>
                <a:r>
                  <a:rPr lang="vi-VN" sz="2800" dirty="0">
                    <a:solidFill>
                      <a:srgbClr val="FF0000"/>
                    </a:solidFill>
                  </a:rPr>
                  <a:t> </a:t>
                </a:r>
                <a:r>
                  <a:rPr lang="vi-VN" sz="2800" dirty="0" err="1">
                    <a:solidFill>
                      <a:srgbClr val="FF0000"/>
                    </a:solidFill>
                  </a:rPr>
                  <a:t>dùng</a:t>
                </a:r>
                <a:r>
                  <a:rPr lang="vi-VN" sz="2800" dirty="0">
                    <a:solidFill>
                      <a:srgbClr val="FF0000"/>
                    </a:solidFill>
                  </a:rPr>
                  <a:t>.</a:t>
                </a:r>
              </a:p>
              <a:p>
                <a:pPr lvl="1" algn="just"/>
                <a:r>
                  <a:rPr lang="vi-VN" sz="2800" dirty="0" err="1">
                    <a:solidFill>
                      <a:schemeClr val="tx1"/>
                    </a:solidFill>
                    <a:highlight>
                      <a:srgbClr val="FFFF00"/>
                    </a:highlight>
                  </a:rPr>
                  <a:t>Estimated</a:t>
                </a:r>
                <a:r>
                  <a:rPr lang="vi-VN" sz="2800" dirty="0">
                    <a:highlight>
                      <a:srgbClr val="FFFF00"/>
                    </a:highlight>
                  </a:rPr>
                  <a:t> </a:t>
                </a:r>
                <a:r>
                  <a:rPr lang="vi-VN" sz="2800" dirty="0" err="1">
                    <a:solidFill>
                      <a:schemeClr val="tx1"/>
                    </a:solidFill>
                    <a:highlight>
                      <a:srgbClr val="FFFF00"/>
                    </a:highlight>
                  </a:rPr>
                  <a:t>Salary</a:t>
                </a:r>
                <a:r>
                  <a:rPr lang="vi-VN" sz="2800" dirty="0">
                    <a:solidFill>
                      <a:srgbClr val="0066FF"/>
                    </a:solidFill>
                  </a:rPr>
                  <a:t>: </a:t>
                </a:r>
                <a:r>
                  <a:rPr lang="vi-VN" sz="2800" dirty="0" err="1">
                    <a:solidFill>
                      <a:srgbClr val="0066FF"/>
                    </a:solidFill>
                  </a:rPr>
                  <a:t>Mức</a:t>
                </a:r>
                <a:r>
                  <a:rPr lang="vi-VN" sz="2800" dirty="0">
                    <a:solidFill>
                      <a:srgbClr val="0066FF"/>
                    </a:solidFill>
                  </a:rPr>
                  <a:t> lương </a:t>
                </a:r>
                <a:r>
                  <a:rPr lang="vi-VN" sz="2800" dirty="0" err="1">
                    <a:solidFill>
                      <a:srgbClr val="0066FF"/>
                    </a:solidFill>
                  </a:rPr>
                  <a:t>ước</a:t>
                </a:r>
                <a:r>
                  <a:rPr lang="vi-VN" sz="2800" dirty="0">
                    <a:solidFill>
                      <a:srgbClr val="0066FF"/>
                    </a:solidFill>
                  </a:rPr>
                  <a:t> </a:t>
                </a:r>
                <a:r>
                  <a:rPr lang="vi-VN" sz="2800" dirty="0" err="1">
                    <a:solidFill>
                      <a:srgbClr val="0066FF"/>
                    </a:solidFill>
                  </a:rPr>
                  <a:t>đoán</a:t>
                </a:r>
                <a:r>
                  <a:rPr lang="vi-VN" sz="2800" dirty="0">
                    <a:solidFill>
                      <a:srgbClr val="0066FF"/>
                    </a:solidFill>
                  </a:rPr>
                  <a:t> </a:t>
                </a:r>
                <a:r>
                  <a:rPr lang="vi-VN" sz="2800" dirty="0" err="1">
                    <a:solidFill>
                      <a:srgbClr val="0066FF"/>
                    </a:solidFill>
                  </a:rPr>
                  <a:t>của</a:t>
                </a:r>
                <a:r>
                  <a:rPr lang="vi-VN" sz="2800" dirty="0">
                    <a:solidFill>
                      <a:srgbClr val="0066FF"/>
                    </a:solidFill>
                  </a:rPr>
                  <a:t> </a:t>
                </a:r>
                <a:r>
                  <a:rPr lang="vi-VN" sz="2800" dirty="0" err="1">
                    <a:solidFill>
                      <a:srgbClr val="0066FF"/>
                    </a:solidFill>
                  </a:rPr>
                  <a:t>người</a:t>
                </a:r>
                <a:r>
                  <a:rPr lang="vi-VN" sz="2800" dirty="0">
                    <a:solidFill>
                      <a:srgbClr val="0066FF"/>
                    </a:solidFill>
                  </a:rPr>
                  <a:t> </a:t>
                </a:r>
                <a:r>
                  <a:rPr lang="vi-VN" sz="2800" dirty="0" err="1">
                    <a:solidFill>
                      <a:srgbClr val="0066FF"/>
                    </a:solidFill>
                  </a:rPr>
                  <a:t>dùng</a:t>
                </a:r>
                <a:r>
                  <a:rPr lang="vi-VN" sz="2800" dirty="0">
                    <a:solidFill>
                      <a:srgbClr val="0066FF"/>
                    </a:solidFill>
                  </a:rPr>
                  <a:t>.</a:t>
                </a:r>
              </a:p>
              <a:p>
                <a:pPr lvl="1" algn="just"/>
                <a:r>
                  <a:rPr lang="vi-VN" sz="2800" dirty="0" err="1">
                    <a:solidFill>
                      <a:schemeClr val="tx1"/>
                    </a:solidFill>
                    <a:highlight>
                      <a:srgbClr val="FFFF00"/>
                    </a:highlight>
                  </a:rPr>
                  <a:t>Purchased</a:t>
                </a:r>
                <a:r>
                  <a:rPr lang="vi-VN" sz="2800" dirty="0">
                    <a:solidFill>
                      <a:srgbClr val="FF0000"/>
                    </a:solidFill>
                  </a:rPr>
                  <a:t>: </a:t>
                </a:r>
                <a:r>
                  <a:rPr lang="vi-VN" sz="2800" dirty="0" err="1">
                    <a:solidFill>
                      <a:srgbClr val="FF0000"/>
                    </a:solidFill>
                  </a:rPr>
                  <a:t>Là</a:t>
                </a:r>
                <a:r>
                  <a:rPr lang="vi-VN" sz="2800" dirty="0">
                    <a:solidFill>
                      <a:srgbClr val="FF0000"/>
                    </a:solidFill>
                  </a:rPr>
                  <a:t> </a:t>
                </a:r>
                <a:r>
                  <a:rPr lang="vi-VN" sz="2800" dirty="0" err="1">
                    <a:solidFill>
                      <a:srgbClr val="FF0000"/>
                    </a:solidFill>
                  </a:rPr>
                  <a:t>một</a:t>
                </a:r>
                <a:r>
                  <a:rPr lang="vi-VN" sz="2800" dirty="0">
                    <a:solidFill>
                      <a:srgbClr val="FF0000"/>
                    </a:solidFill>
                  </a:rPr>
                  <a:t> trong hai </a:t>
                </a:r>
                <a:r>
                  <a:rPr lang="vi-VN" sz="2800" dirty="0" err="1">
                    <a:solidFill>
                      <a:srgbClr val="FF0000"/>
                    </a:solidFill>
                  </a:rPr>
                  <a:t>số</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0</m:t>
                    </m:r>
                  </m:oMath>
                </a14:m>
                <a:r>
                  <a:rPr lang="vi-VN" sz="2800" dirty="0">
                    <a:solidFill>
                      <a:srgbClr val="FF0000"/>
                    </a:solidFill>
                  </a:rPr>
                  <a:t> </a:t>
                </a:r>
                <a:r>
                  <a:rPr lang="vi-VN" sz="2800" dirty="0" err="1">
                    <a:solidFill>
                      <a:srgbClr val="FF0000"/>
                    </a:solidFill>
                  </a:rPr>
                  <a:t>và</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1</m:t>
                    </m:r>
                  </m:oMath>
                </a14:m>
                <a:r>
                  <a:rPr lang="vi-VN" sz="2800" dirty="0">
                    <a:solidFill>
                      <a:srgbClr val="FF0000"/>
                    </a:solidFill>
                  </a:rPr>
                  <a:t>. </a:t>
                </a:r>
                <a:r>
                  <a:rPr lang="vi-VN" sz="2800" dirty="0" err="1">
                    <a:solidFill>
                      <a:srgbClr val="FF0000"/>
                    </a:solidFill>
                  </a:rPr>
                  <a:t>Số</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0</m:t>
                    </m:r>
                  </m:oMath>
                </a14:m>
                <a:r>
                  <a:rPr lang="vi-VN" sz="2800" dirty="0">
                    <a:solidFill>
                      <a:srgbClr val="FF0000"/>
                    </a:solidFill>
                  </a:rPr>
                  <a:t> cho </a:t>
                </a:r>
                <a:r>
                  <a:rPr lang="vi-VN" sz="2800" dirty="0" err="1">
                    <a:solidFill>
                      <a:srgbClr val="FF0000"/>
                    </a:solidFill>
                  </a:rPr>
                  <a:t>biết</a:t>
                </a:r>
                <a:r>
                  <a:rPr lang="vi-VN" sz="2800" dirty="0">
                    <a:solidFill>
                      <a:srgbClr val="FF0000"/>
                    </a:solidFill>
                  </a:rPr>
                  <a:t> </a:t>
                </a:r>
                <a:r>
                  <a:rPr lang="vi-VN" sz="2800" dirty="0" err="1">
                    <a:solidFill>
                      <a:srgbClr val="FF0000"/>
                    </a:solidFill>
                  </a:rPr>
                  <a:t>khách</a:t>
                </a:r>
                <a:r>
                  <a:rPr lang="vi-VN" sz="2800" dirty="0">
                    <a:solidFill>
                      <a:srgbClr val="FF0000"/>
                    </a:solidFill>
                  </a:rPr>
                  <a:t> </a:t>
                </a:r>
                <a:r>
                  <a:rPr lang="vi-VN" sz="2800" dirty="0" err="1">
                    <a:solidFill>
                      <a:srgbClr val="FF0000"/>
                    </a:solidFill>
                  </a:rPr>
                  <a:t>hàng</a:t>
                </a:r>
                <a:r>
                  <a:rPr lang="vi-VN" sz="2800" dirty="0">
                    <a:solidFill>
                      <a:srgbClr val="FF0000"/>
                    </a:solidFill>
                  </a:rPr>
                  <a:t> không mua </a:t>
                </a:r>
                <a:r>
                  <a:rPr lang="vi-VN" sz="2800" dirty="0" err="1">
                    <a:solidFill>
                      <a:srgbClr val="FF0000"/>
                    </a:solidFill>
                  </a:rPr>
                  <a:t>hàng</a:t>
                </a:r>
                <a:r>
                  <a:rPr lang="vi-VN" sz="2800" dirty="0">
                    <a:solidFill>
                      <a:srgbClr val="FF0000"/>
                    </a:solidFill>
                  </a:rPr>
                  <a:t> </a:t>
                </a:r>
                <a:r>
                  <a:rPr lang="vi-VN" sz="2800" dirty="0" err="1">
                    <a:solidFill>
                      <a:srgbClr val="FF0000"/>
                    </a:solidFill>
                  </a:rPr>
                  <a:t>và</a:t>
                </a:r>
                <a:r>
                  <a:rPr lang="vi-VN" sz="2800" dirty="0">
                    <a:solidFill>
                      <a:srgbClr val="FF0000"/>
                    </a:solidFill>
                  </a:rPr>
                  <a:t> </a:t>
                </a:r>
                <a:r>
                  <a:rPr lang="vi-VN" sz="2800" dirty="0" err="1">
                    <a:solidFill>
                      <a:srgbClr val="FF0000"/>
                    </a:solidFill>
                  </a:rPr>
                  <a:t>số</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1</m:t>
                    </m:r>
                  </m:oMath>
                </a14:m>
                <a:r>
                  <a:rPr lang="vi-VN" sz="2800" dirty="0">
                    <a:solidFill>
                      <a:srgbClr val="FF0000"/>
                    </a:solidFill>
                  </a:rPr>
                  <a:t> cho </a:t>
                </a:r>
                <a:r>
                  <a:rPr lang="vi-VN" sz="2800" dirty="0" err="1">
                    <a:solidFill>
                      <a:srgbClr val="FF0000"/>
                    </a:solidFill>
                  </a:rPr>
                  <a:t>biết</a:t>
                </a:r>
                <a:r>
                  <a:rPr lang="vi-VN" sz="2800" dirty="0">
                    <a:solidFill>
                      <a:srgbClr val="FF0000"/>
                    </a:solidFill>
                  </a:rPr>
                  <a:t> </a:t>
                </a:r>
                <a:r>
                  <a:rPr lang="vi-VN" sz="2800" dirty="0" err="1">
                    <a:solidFill>
                      <a:srgbClr val="FF0000"/>
                    </a:solidFill>
                  </a:rPr>
                  <a:t>khách</a:t>
                </a:r>
                <a:r>
                  <a:rPr lang="vi-VN" sz="2800" dirty="0">
                    <a:solidFill>
                      <a:srgbClr val="FF0000"/>
                    </a:solidFill>
                  </a:rPr>
                  <a:t> </a:t>
                </a:r>
                <a:r>
                  <a:rPr lang="vi-VN" sz="2800" dirty="0" err="1">
                    <a:solidFill>
                      <a:srgbClr val="FF0000"/>
                    </a:solidFill>
                  </a:rPr>
                  <a:t>hàng</a:t>
                </a:r>
                <a:r>
                  <a:rPr lang="vi-VN" sz="2800" dirty="0">
                    <a:solidFill>
                      <a:srgbClr val="FF0000"/>
                    </a:solidFill>
                  </a:rPr>
                  <a:t> </a:t>
                </a:r>
                <a:r>
                  <a:rPr lang="vi-VN" sz="2800" dirty="0" err="1">
                    <a:solidFill>
                      <a:srgbClr val="FF0000"/>
                    </a:solidFill>
                  </a:rPr>
                  <a:t>có</a:t>
                </a:r>
                <a:r>
                  <a:rPr lang="vi-VN" sz="2800" dirty="0">
                    <a:solidFill>
                      <a:srgbClr val="FF0000"/>
                    </a:solidFill>
                  </a:rPr>
                  <a:t> mua </a:t>
                </a:r>
                <a:r>
                  <a:rPr lang="vi-VN" sz="2800" dirty="0" err="1">
                    <a:solidFill>
                      <a:srgbClr val="FF0000"/>
                    </a:solidFill>
                  </a:rPr>
                  <a:t>hàng</a:t>
                </a:r>
                <a:r>
                  <a:rPr lang="vi-VN" sz="2800" dirty="0">
                    <a:solidFill>
                      <a:srgbClr val="FF0000"/>
                    </a:solidFill>
                  </a:rPr>
                  <a:t>.</a:t>
                </a:r>
              </a:p>
            </p:txBody>
          </p:sp>
        </mc:Choice>
        <mc:Fallback xmlns="">
          <p:sp>
            <p:nvSpPr>
              <p:cNvPr id="7" name="Content Placeholder 6">
                <a:extLst>
                  <a:ext uri="{FF2B5EF4-FFF2-40B4-BE49-F238E27FC236}">
                    <a16:creationId xmlns:a16="http://schemas.microsoft.com/office/drawing/2014/main" id="{24A5EA7F-8FCE-416E-9B84-E4673825CC4B}"/>
                  </a:ext>
                </a:extLst>
              </p:cNvPr>
              <p:cNvSpPr>
                <a:spLocks noGrp="1" noRot="1" noChangeAspect="1" noMove="1" noResize="1" noEditPoints="1" noAdjustHandles="1" noChangeArrowheads="1" noChangeShapeType="1" noTextEdit="1"/>
              </p:cNvSpPr>
              <p:nvPr>
                <p:ph idx="1"/>
              </p:nvPr>
            </p:nvSpPr>
            <p:spPr>
              <a:blipFill>
                <a:blip r:embed="rId2"/>
                <a:stretch>
                  <a:fillRect l="-1000" t="-1482" r="-1111"/>
                </a:stretch>
              </a:blipFill>
            </p:spPr>
            <p:txBody>
              <a:bodyPr/>
              <a:lstStyle/>
              <a:p>
                <a:r>
                  <a:rPr lang="en-US">
                    <a:noFill/>
                  </a:rPr>
                  <a:t> </a:t>
                </a:r>
              </a:p>
            </p:txBody>
          </p:sp>
        </mc:Fallback>
      </mc:AlternateContent>
    </p:spTree>
    <p:extLst>
      <p:ext uri="{BB962C8B-B14F-4D97-AF65-F5344CB8AC3E}">
        <p14:creationId xmlns:p14="http://schemas.microsoft.com/office/powerpoint/2010/main" val="2943382993"/>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F6701-EC67-4BAE-885F-6D32DA238613}"/>
              </a:ext>
            </a:extLst>
          </p:cNvPr>
          <p:cNvSpPr>
            <a:spLocks noGrp="1"/>
          </p:cNvSpPr>
          <p:nvPr>
            <p:ph type="title"/>
          </p:nvPr>
        </p:nvSpPr>
        <p:spPr/>
        <p:txBody>
          <a:bodyPr/>
          <a:lstStyle/>
          <a:p>
            <a:r>
              <a:rPr lang="vi-VN" dirty="0" err="1"/>
              <a:t>Dataset</a:t>
            </a:r>
            <a:endParaRPr lang="vi-VN" dirty="0"/>
          </a:p>
        </p:txBody>
      </p:sp>
      <p:sp>
        <p:nvSpPr>
          <p:cNvPr id="3" name="Content Placeholder 2">
            <a:extLst>
              <a:ext uri="{FF2B5EF4-FFF2-40B4-BE49-F238E27FC236}">
                <a16:creationId xmlns:a16="http://schemas.microsoft.com/office/drawing/2014/main" id="{342EE472-166E-4206-903F-85F9C5F94B82}"/>
              </a:ext>
            </a:extLst>
          </p:cNvPr>
          <p:cNvSpPr>
            <a:spLocks noGrp="1"/>
          </p:cNvSpPr>
          <p:nvPr>
            <p:ph idx="1"/>
          </p:nvPr>
        </p:nvSpPr>
        <p:spPr/>
        <p:txBody>
          <a:bodyPr/>
          <a:lstStyle/>
          <a:p>
            <a:r>
              <a:rPr lang="vi-VN" sz="2800" dirty="0" err="1">
                <a:solidFill>
                  <a:srgbClr val="0066FF"/>
                </a:solidFill>
              </a:rPr>
              <a:t>Dưới</a:t>
            </a:r>
            <a:r>
              <a:rPr lang="vi-VN" sz="2800" dirty="0">
                <a:solidFill>
                  <a:srgbClr val="0066FF"/>
                </a:solidFill>
              </a:rPr>
              <a:t> đây </a:t>
            </a:r>
            <a:r>
              <a:rPr lang="vi-VN" sz="2800" dirty="0" err="1">
                <a:solidFill>
                  <a:srgbClr val="0066FF"/>
                </a:solidFill>
              </a:rPr>
              <a:t>là</a:t>
            </a:r>
            <a:r>
              <a:rPr lang="vi-VN" sz="2800" dirty="0">
                <a:solidFill>
                  <a:srgbClr val="0066FF"/>
                </a:solidFill>
              </a:rPr>
              <a:t> 5 </a:t>
            </a:r>
            <a:r>
              <a:rPr lang="vi-VN" sz="2800" dirty="0" err="1">
                <a:solidFill>
                  <a:srgbClr val="0066FF"/>
                </a:solidFill>
              </a:rPr>
              <a:t>điểm</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a:t>
            </a:r>
            <a:r>
              <a:rPr lang="vi-VN" sz="2800" dirty="0" err="1">
                <a:solidFill>
                  <a:srgbClr val="0066FF"/>
                </a:solidFill>
              </a:rPr>
              <a:t>ngẫu</a:t>
            </a:r>
            <a:r>
              <a:rPr lang="vi-VN" sz="2800" dirty="0">
                <a:solidFill>
                  <a:srgbClr val="0066FF"/>
                </a:solidFill>
              </a:rPr>
              <a:t> nhiên trong </a:t>
            </a:r>
            <a:r>
              <a:rPr lang="vi-VN" sz="2800" dirty="0" err="1">
                <a:solidFill>
                  <a:srgbClr val="0066FF"/>
                </a:solidFill>
              </a:rPr>
              <a:t>tập</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a:t>
            </a:r>
          </a:p>
        </p:txBody>
      </p:sp>
      <mc:AlternateContent xmlns:mc="http://schemas.openxmlformats.org/markup-compatibility/2006" xmlns:a14="http://schemas.microsoft.com/office/drawing/2010/main">
        <mc:Choice Requires="a14">
          <p:graphicFrame>
            <p:nvGraphicFramePr>
              <p:cNvPr id="5" name="Content Placeholder 3">
                <a:extLst>
                  <a:ext uri="{FF2B5EF4-FFF2-40B4-BE49-F238E27FC236}">
                    <a16:creationId xmlns:a16="http://schemas.microsoft.com/office/drawing/2014/main" id="{264C7AE0-BA47-456B-A146-198F1D3F3BBC}"/>
                  </a:ext>
                </a:extLst>
              </p:cNvPr>
              <p:cNvGraphicFramePr>
                <a:graphicFrameLocks/>
              </p:cNvGraphicFramePr>
              <p:nvPr/>
            </p:nvGraphicFramePr>
            <p:xfrm>
              <a:off x="586409" y="2286000"/>
              <a:ext cx="10972800" cy="3535680"/>
            </p:xfrm>
            <a:graphic>
              <a:graphicData uri="http://schemas.openxmlformats.org/drawingml/2006/table">
                <a:tbl>
                  <a:tblPr firstRow="1" bandRow="1">
                    <a:tableStyleId>{21E4AEA4-8DFA-4A89-87EB-49C32662AFE0}</a:tableStyleId>
                  </a:tblPr>
                  <a:tblGrid>
                    <a:gridCol w="2194560">
                      <a:extLst>
                        <a:ext uri="{9D8B030D-6E8A-4147-A177-3AD203B41FA5}">
                          <a16:colId xmlns:a16="http://schemas.microsoft.com/office/drawing/2014/main" val="196782862"/>
                        </a:ext>
                      </a:extLst>
                    </a:gridCol>
                    <a:gridCol w="2194560">
                      <a:extLst>
                        <a:ext uri="{9D8B030D-6E8A-4147-A177-3AD203B41FA5}">
                          <a16:colId xmlns:a16="http://schemas.microsoft.com/office/drawing/2014/main" val="2182850202"/>
                        </a:ext>
                      </a:extLst>
                    </a:gridCol>
                    <a:gridCol w="2194560">
                      <a:extLst>
                        <a:ext uri="{9D8B030D-6E8A-4147-A177-3AD203B41FA5}">
                          <a16:colId xmlns:a16="http://schemas.microsoft.com/office/drawing/2014/main" val="3600337692"/>
                        </a:ext>
                      </a:extLst>
                    </a:gridCol>
                    <a:gridCol w="2194560">
                      <a:extLst>
                        <a:ext uri="{9D8B030D-6E8A-4147-A177-3AD203B41FA5}">
                          <a16:colId xmlns:a16="http://schemas.microsoft.com/office/drawing/2014/main" val="3658340494"/>
                        </a:ext>
                      </a:extLst>
                    </a:gridCol>
                    <a:gridCol w="2194560">
                      <a:extLst>
                        <a:ext uri="{9D8B030D-6E8A-4147-A177-3AD203B41FA5}">
                          <a16:colId xmlns:a16="http://schemas.microsoft.com/office/drawing/2014/main" val="1278605173"/>
                        </a:ext>
                      </a:extLst>
                    </a:gridCol>
                  </a:tblGrid>
                  <a:tr h="370840">
                    <a:tc>
                      <a:txBody>
                        <a:bodyPr/>
                        <a:lstStyle/>
                        <a:p>
                          <a:pPr algn="ctr"/>
                          <a:r>
                            <a:rPr lang="vi-VN" sz="2800" dirty="0" err="1"/>
                            <a:t>UserID</a:t>
                          </a:r>
                          <a:endParaRPr lang="vi-VN" sz="2800" dirty="0"/>
                        </a:p>
                      </a:txBody>
                      <a:tcPr anchor="ctr"/>
                    </a:tc>
                    <a:tc>
                      <a:txBody>
                        <a:bodyPr/>
                        <a:lstStyle/>
                        <a:p>
                          <a:pPr algn="ctr"/>
                          <a:r>
                            <a:rPr lang="vi-VN" sz="2800" dirty="0" err="1"/>
                            <a:t>Gender</a:t>
                          </a:r>
                          <a:endParaRPr lang="vi-VN" sz="2800" dirty="0"/>
                        </a:p>
                      </a:txBody>
                      <a:tcPr anchor="ctr"/>
                    </a:tc>
                    <a:tc>
                      <a:txBody>
                        <a:bodyPr/>
                        <a:lstStyle/>
                        <a:p>
                          <a:pPr algn="ctr"/>
                          <a:r>
                            <a:rPr lang="vi-VN" sz="2800" dirty="0" err="1"/>
                            <a:t>Age</a:t>
                          </a:r>
                          <a:endParaRPr lang="vi-VN" sz="2800" dirty="0"/>
                        </a:p>
                      </a:txBody>
                      <a:tcPr anchor="ctr"/>
                    </a:tc>
                    <a:tc>
                      <a:txBody>
                        <a:bodyPr/>
                        <a:lstStyle/>
                        <a:p>
                          <a:pPr algn="ctr"/>
                          <a:r>
                            <a:rPr lang="vi-VN" sz="2800" dirty="0" err="1"/>
                            <a:t>Estimated</a:t>
                          </a:r>
                          <a:r>
                            <a:rPr lang="vi-VN" sz="2800" dirty="0"/>
                            <a:t> </a:t>
                          </a:r>
                          <a:r>
                            <a:rPr lang="vi-VN" sz="2800" dirty="0" err="1"/>
                            <a:t>Salary</a:t>
                          </a:r>
                          <a:endParaRPr lang="vi-VN" sz="2800" dirty="0"/>
                        </a:p>
                      </a:txBody>
                      <a:tcPr anchor="ctr"/>
                    </a:tc>
                    <a:tc>
                      <a:txBody>
                        <a:bodyPr/>
                        <a:lstStyle/>
                        <a:p>
                          <a:pPr algn="ctr"/>
                          <a:r>
                            <a:rPr lang="vi-VN" sz="2800" dirty="0" err="1"/>
                            <a:t>Purchased</a:t>
                          </a:r>
                          <a:endParaRPr lang="vi-VN" sz="2800" dirty="0"/>
                        </a:p>
                      </a:txBody>
                      <a:tcPr anchor="ctr"/>
                    </a:tc>
                    <a:extLst>
                      <a:ext uri="{0D108BD9-81ED-4DB2-BD59-A6C34878D82A}">
                        <a16:rowId xmlns:a16="http://schemas.microsoft.com/office/drawing/2014/main" val="2231562568"/>
                      </a:ext>
                    </a:extLst>
                  </a:tr>
                  <a:tr h="370840">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15624510</m:t>
                                </m:r>
                              </m:oMath>
                            </m:oMathPara>
                          </a14:m>
                          <a:endParaRPr lang="vi-VN" sz="2800" dirty="0"/>
                        </a:p>
                      </a:txBody>
                      <a:tcPr anchor="ctr"/>
                    </a:tc>
                    <a:tc>
                      <a:txBody>
                        <a:bodyPr/>
                        <a:lstStyle/>
                        <a:p>
                          <a:pPr algn="l"/>
                          <a:r>
                            <a:rPr lang="vi-VN" sz="2800" dirty="0" err="1"/>
                            <a:t>Male</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19</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19,000</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0</m:t>
                                </m:r>
                              </m:oMath>
                            </m:oMathPara>
                          </a14:m>
                          <a:endParaRPr lang="vi-VN" sz="2800" dirty="0"/>
                        </a:p>
                      </a:txBody>
                      <a:tcPr anchor="ctr"/>
                    </a:tc>
                    <a:extLst>
                      <a:ext uri="{0D108BD9-81ED-4DB2-BD59-A6C34878D82A}">
                        <a16:rowId xmlns:a16="http://schemas.microsoft.com/office/drawing/2014/main" val="2485347973"/>
                      </a:ext>
                    </a:extLst>
                  </a:tr>
                  <a:tr h="447040">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15810944</m:t>
                                </m:r>
                              </m:oMath>
                            </m:oMathPara>
                          </a14:m>
                          <a:endParaRPr lang="vi-VN" sz="2800" dirty="0"/>
                        </a:p>
                      </a:txBody>
                      <a:tcPr anchor="ctr"/>
                    </a:tc>
                    <a:tc>
                      <a:txBody>
                        <a:bodyPr/>
                        <a:lstStyle/>
                        <a:p>
                          <a:pPr algn="l"/>
                          <a:r>
                            <a:rPr lang="vi-VN" sz="2800" dirty="0" err="1"/>
                            <a:t>Male</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35</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20,000</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m:t>
                                </m:r>
                              </m:oMath>
                            </m:oMathPara>
                          </a14:m>
                          <a:endParaRPr lang="vi-VN" sz="2800" dirty="0"/>
                        </a:p>
                      </a:txBody>
                      <a:tcPr anchor="ctr"/>
                    </a:tc>
                    <a:extLst>
                      <a:ext uri="{0D108BD9-81ED-4DB2-BD59-A6C34878D82A}">
                        <a16:rowId xmlns:a16="http://schemas.microsoft.com/office/drawing/2014/main" val="2391906055"/>
                      </a:ext>
                    </a:extLst>
                  </a:tr>
                  <a:tr h="370840">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15668575</m:t>
                                </m:r>
                              </m:oMath>
                            </m:oMathPara>
                          </a14:m>
                          <a:endParaRPr lang="vi-VN" sz="2800" dirty="0"/>
                        </a:p>
                      </a:txBody>
                      <a:tcPr anchor="ctr">
                        <a:solidFill>
                          <a:srgbClr val="FFC000"/>
                        </a:solidFill>
                      </a:tcPr>
                    </a:tc>
                    <a:tc>
                      <a:txBody>
                        <a:bodyPr/>
                        <a:lstStyle/>
                        <a:p>
                          <a:pPr algn="l"/>
                          <a:r>
                            <a:rPr lang="vi-VN" sz="2800" dirty="0" err="1"/>
                            <a:t>Female</a:t>
                          </a:r>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26</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43,000</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0</m:t>
                                </m:r>
                              </m:oMath>
                            </m:oMathPara>
                          </a14:m>
                          <a:endParaRPr lang="vi-VN" sz="2800" dirty="0"/>
                        </a:p>
                      </a:txBody>
                      <a:tcPr anchor="ctr">
                        <a:solidFill>
                          <a:srgbClr val="FFC000"/>
                        </a:solidFill>
                      </a:tcPr>
                    </a:tc>
                    <a:extLst>
                      <a:ext uri="{0D108BD9-81ED-4DB2-BD59-A6C34878D82A}">
                        <a16:rowId xmlns:a16="http://schemas.microsoft.com/office/drawing/2014/main" val="68464354"/>
                      </a:ext>
                    </a:extLst>
                  </a:tr>
                  <a:tr h="370840">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15603246</m:t>
                                </m:r>
                              </m:oMath>
                            </m:oMathPara>
                          </a14:m>
                          <a:endParaRPr lang="vi-VN" sz="2800" dirty="0"/>
                        </a:p>
                      </a:txBody>
                      <a:tcPr anchor="ctr"/>
                    </a:tc>
                    <a:tc>
                      <a:txBody>
                        <a:bodyPr/>
                        <a:lstStyle/>
                        <a:p>
                          <a:pPr algn="l"/>
                          <a:r>
                            <a:rPr lang="vi-VN" sz="2800" dirty="0" err="1"/>
                            <a:t>Female</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27</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57,000</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0</m:t>
                                </m:r>
                              </m:oMath>
                            </m:oMathPara>
                          </a14:m>
                          <a:endParaRPr lang="vi-VN" sz="2800" dirty="0"/>
                        </a:p>
                      </a:txBody>
                      <a:tcPr anchor="ctr"/>
                    </a:tc>
                    <a:extLst>
                      <a:ext uri="{0D108BD9-81ED-4DB2-BD59-A6C34878D82A}">
                        <a16:rowId xmlns:a16="http://schemas.microsoft.com/office/drawing/2014/main" val="4192353787"/>
                      </a:ext>
                    </a:extLst>
                  </a:tr>
                  <a:tr h="370840">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15804002</m:t>
                                </m:r>
                              </m:oMath>
                            </m:oMathPara>
                          </a14:m>
                          <a:endParaRPr lang="vi-VN" sz="2800" dirty="0"/>
                        </a:p>
                      </a:txBody>
                      <a:tcPr anchor="ctr"/>
                    </a:tc>
                    <a:tc>
                      <a:txBody>
                        <a:bodyPr/>
                        <a:lstStyle/>
                        <a:p>
                          <a:pPr algn="l"/>
                          <a:r>
                            <a:rPr lang="vi-VN" sz="2800" dirty="0" err="1"/>
                            <a:t>Male</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19</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76,000</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m:t>
                                </m:r>
                              </m:oMath>
                            </m:oMathPara>
                          </a14:m>
                          <a:endParaRPr lang="vi-VN" sz="2800" dirty="0"/>
                        </a:p>
                      </a:txBody>
                      <a:tcPr anchor="ctr"/>
                    </a:tc>
                    <a:extLst>
                      <a:ext uri="{0D108BD9-81ED-4DB2-BD59-A6C34878D82A}">
                        <a16:rowId xmlns:a16="http://schemas.microsoft.com/office/drawing/2014/main" val="251226265"/>
                      </a:ext>
                    </a:extLst>
                  </a:tr>
                </a:tbl>
              </a:graphicData>
            </a:graphic>
          </p:graphicFrame>
        </mc:Choice>
        <mc:Fallback xmlns="">
          <p:graphicFrame>
            <p:nvGraphicFramePr>
              <p:cNvPr id="5" name="Content Placeholder 3">
                <a:extLst>
                  <a:ext uri="{FF2B5EF4-FFF2-40B4-BE49-F238E27FC236}">
                    <a16:creationId xmlns:a16="http://schemas.microsoft.com/office/drawing/2014/main" id="{264C7AE0-BA47-456B-A146-198F1D3F3BBC}"/>
                  </a:ext>
                </a:extLst>
              </p:cNvPr>
              <p:cNvGraphicFramePr>
                <a:graphicFrameLocks/>
              </p:cNvGraphicFramePr>
              <p:nvPr>
                <p:extLst>
                  <p:ext uri="{D42A27DB-BD31-4B8C-83A1-F6EECF244321}">
                    <p14:modId xmlns:p14="http://schemas.microsoft.com/office/powerpoint/2010/main" val="4197469802"/>
                  </p:ext>
                </p:extLst>
              </p:nvPr>
            </p:nvGraphicFramePr>
            <p:xfrm>
              <a:off x="586409" y="2286000"/>
              <a:ext cx="10972800" cy="3535680"/>
            </p:xfrm>
            <a:graphic>
              <a:graphicData uri="http://schemas.openxmlformats.org/drawingml/2006/table">
                <a:tbl>
                  <a:tblPr firstRow="1" bandRow="1">
                    <a:tableStyleId>{21E4AEA4-8DFA-4A89-87EB-49C32662AFE0}</a:tableStyleId>
                  </a:tblPr>
                  <a:tblGrid>
                    <a:gridCol w="2194560">
                      <a:extLst>
                        <a:ext uri="{9D8B030D-6E8A-4147-A177-3AD203B41FA5}">
                          <a16:colId xmlns:a16="http://schemas.microsoft.com/office/drawing/2014/main" val="196782862"/>
                        </a:ext>
                      </a:extLst>
                    </a:gridCol>
                    <a:gridCol w="2194560">
                      <a:extLst>
                        <a:ext uri="{9D8B030D-6E8A-4147-A177-3AD203B41FA5}">
                          <a16:colId xmlns:a16="http://schemas.microsoft.com/office/drawing/2014/main" val="2182850202"/>
                        </a:ext>
                      </a:extLst>
                    </a:gridCol>
                    <a:gridCol w="2194560">
                      <a:extLst>
                        <a:ext uri="{9D8B030D-6E8A-4147-A177-3AD203B41FA5}">
                          <a16:colId xmlns:a16="http://schemas.microsoft.com/office/drawing/2014/main" val="3600337692"/>
                        </a:ext>
                      </a:extLst>
                    </a:gridCol>
                    <a:gridCol w="2194560">
                      <a:extLst>
                        <a:ext uri="{9D8B030D-6E8A-4147-A177-3AD203B41FA5}">
                          <a16:colId xmlns:a16="http://schemas.microsoft.com/office/drawing/2014/main" val="3658340494"/>
                        </a:ext>
                      </a:extLst>
                    </a:gridCol>
                    <a:gridCol w="2194560">
                      <a:extLst>
                        <a:ext uri="{9D8B030D-6E8A-4147-A177-3AD203B41FA5}">
                          <a16:colId xmlns:a16="http://schemas.microsoft.com/office/drawing/2014/main" val="1278605173"/>
                        </a:ext>
                      </a:extLst>
                    </a:gridCol>
                  </a:tblGrid>
                  <a:tr h="944880">
                    <a:tc>
                      <a:txBody>
                        <a:bodyPr/>
                        <a:lstStyle/>
                        <a:p>
                          <a:pPr algn="ctr"/>
                          <a:r>
                            <a:rPr lang="vi-VN" sz="2800" dirty="0" err="1"/>
                            <a:t>UserID</a:t>
                          </a:r>
                          <a:endParaRPr lang="vi-VN" sz="2800" dirty="0"/>
                        </a:p>
                      </a:txBody>
                      <a:tcPr anchor="ctr"/>
                    </a:tc>
                    <a:tc>
                      <a:txBody>
                        <a:bodyPr/>
                        <a:lstStyle/>
                        <a:p>
                          <a:pPr algn="ctr"/>
                          <a:r>
                            <a:rPr lang="vi-VN" sz="2800" dirty="0" err="1"/>
                            <a:t>Gender</a:t>
                          </a:r>
                          <a:endParaRPr lang="vi-VN" sz="2800" dirty="0"/>
                        </a:p>
                      </a:txBody>
                      <a:tcPr anchor="ctr"/>
                    </a:tc>
                    <a:tc>
                      <a:txBody>
                        <a:bodyPr/>
                        <a:lstStyle/>
                        <a:p>
                          <a:pPr algn="ctr"/>
                          <a:r>
                            <a:rPr lang="vi-VN" sz="2800" dirty="0" err="1"/>
                            <a:t>Age</a:t>
                          </a:r>
                          <a:endParaRPr lang="vi-VN" sz="2800" dirty="0"/>
                        </a:p>
                      </a:txBody>
                      <a:tcPr anchor="ctr"/>
                    </a:tc>
                    <a:tc>
                      <a:txBody>
                        <a:bodyPr/>
                        <a:lstStyle/>
                        <a:p>
                          <a:pPr algn="ctr"/>
                          <a:r>
                            <a:rPr lang="vi-VN" sz="2800" dirty="0" err="1"/>
                            <a:t>Estimated</a:t>
                          </a:r>
                          <a:r>
                            <a:rPr lang="vi-VN" sz="2800" dirty="0"/>
                            <a:t> </a:t>
                          </a:r>
                          <a:r>
                            <a:rPr lang="vi-VN" sz="2800" dirty="0" err="1"/>
                            <a:t>Salary</a:t>
                          </a:r>
                          <a:endParaRPr lang="vi-VN" sz="2800" dirty="0"/>
                        </a:p>
                      </a:txBody>
                      <a:tcPr anchor="ctr"/>
                    </a:tc>
                    <a:tc>
                      <a:txBody>
                        <a:bodyPr/>
                        <a:lstStyle/>
                        <a:p>
                          <a:pPr algn="ctr"/>
                          <a:r>
                            <a:rPr lang="vi-VN" sz="2800" dirty="0" err="1"/>
                            <a:t>Purchased</a:t>
                          </a:r>
                          <a:endParaRPr lang="vi-VN" sz="2800" dirty="0"/>
                        </a:p>
                      </a:txBody>
                      <a:tcPr anchor="ctr"/>
                    </a:tc>
                    <a:extLst>
                      <a:ext uri="{0D108BD9-81ED-4DB2-BD59-A6C34878D82A}">
                        <a16:rowId xmlns:a16="http://schemas.microsoft.com/office/drawing/2014/main" val="2231562568"/>
                      </a:ext>
                    </a:extLst>
                  </a:tr>
                  <a:tr h="518160">
                    <a:tc>
                      <a:txBody>
                        <a:bodyPr/>
                        <a:lstStyle/>
                        <a:p>
                          <a:endParaRPr lang="en-US"/>
                        </a:p>
                      </a:txBody>
                      <a:tcPr anchor="ctr">
                        <a:blipFill>
                          <a:blip r:embed="rId2"/>
                          <a:stretch>
                            <a:fillRect l="-278" t="-194118" r="-401389" b="-432941"/>
                          </a:stretch>
                        </a:blipFill>
                      </a:tcPr>
                    </a:tc>
                    <a:tc>
                      <a:txBody>
                        <a:bodyPr/>
                        <a:lstStyle/>
                        <a:p>
                          <a:pPr algn="l"/>
                          <a:r>
                            <a:rPr lang="vi-VN" sz="2800" dirty="0" err="1"/>
                            <a:t>Male</a:t>
                          </a:r>
                          <a:endParaRPr lang="vi-VN" sz="2800" dirty="0"/>
                        </a:p>
                      </a:txBody>
                      <a:tcPr anchor="ctr"/>
                    </a:tc>
                    <a:tc>
                      <a:txBody>
                        <a:bodyPr/>
                        <a:lstStyle/>
                        <a:p>
                          <a:endParaRPr lang="en-US"/>
                        </a:p>
                      </a:txBody>
                      <a:tcPr anchor="ctr">
                        <a:blipFill>
                          <a:blip r:embed="rId2"/>
                          <a:stretch>
                            <a:fillRect l="-199723" t="-194118" r="-200554" b="-432941"/>
                          </a:stretch>
                        </a:blipFill>
                      </a:tcPr>
                    </a:tc>
                    <a:tc>
                      <a:txBody>
                        <a:bodyPr/>
                        <a:lstStyle/>
                        <a:p>
                          <a:endParaRPr lang="en-US"/>
                        </a:p>
                      </a:txBody>
                      <a:tcPr anchor="ctr">
                        <a:blipFill>
                          <a:blip r:embed="rId2"/>
                          <a:stretch>
                            <a:fillRect l="-300556" t="-194118" r="-101111" b="-432941"/>
                          </a:stretch>
                        </a:blipFill>
                      </a:tcPr>
                    </a:tc>
                    <a:tc>
                      <a:txBody>
                        <a:bodyPr/>
                        <a:lstStyle/>
                        <a:p>
                          <a:endParaRPr lang="en-US"/>
                        </a:p>
                      </a:txBody>
                      <a:tcPr anchor="ctr">
                        <a:blipFill>
                          <a:blip r:embed="rId2"/>
                          <a:stretch>
                            <a:fillRect l="-400556" t="-194118" r="-1111" b="-432941"/>
                          </a:stretch>
                        </a:blipFill>
                      </a:tcPr>
                    </a:tc>
                    <a:extLst>
                      <a:ext uri="{0D108BD9-81ED-4DB2-BD59-A6C34878D82A}">
                        <a16:rowId xmlns:a16="http://schemas.microsoft.com/office/drawing/2014/main" val="2485347973"/>
                      </a:ext>
                    </a:extLst>
                  </a:tr>
                  <a:tr h="518160">
                    <a:tc>
                      <a:txBody>
                        <a:bodyPr/>
                        <a:lstStyle/>
                        <a:p>
                          <a:endParaRPr lang="en-US"/>
                        </a:p>
                      </a:txBody>
                      <a:tcPr anchor="ctr">
                        <a:blipFill>
                          <a:blip r:embed="rId2"/>
                          <a:stretch>
                            <a:fillRect l="-278" t="-294118" r="-401389" b="-332941"/>
                          </a:stretch>
                        </a:blipFill>
                      </a:tcPr>
                    </a:tc>
                    <a:tc>
                      <a:txBody>
                        <a:bodyPr/>
                        <a:lstStyle/>
                        <a:p>
                          <a:pPr algn="l"/>
                          <a:r>
                            <a:rPr lang="vi-VN" sz="2800" dirty="0" err="1"/>
                            <a:t>Male</a:t>
                          </a:r>
                          <a:endParaRPr lang="vi-VN" sz="2800" dirty="0"/>
                        </a:p>
                      </a:txBody>
                      <a:tcPr anchor="ctr"/>
                    </a:tc>
                    <a:tc>
                      <a:txBody>
                        <a:bodyPr/>
                        <a:lstStyle/>
                        <a:p>
                          <a:endParaRPr lang="en-US"/>
                        </a:p>
                      </a:txBody>
                      <a:tcPr anchor="ctr">
                        <a:blipFill>
                          <a:blip r:embed="rId2"/>
                          <a:stretch>
                            <a:fillRect l="-199723" t="-294118" r="-200554" b="-332941"/>
                          </a:stretch>
                        </a:blipFill>
                      </a:tcPr>
                    </a:tc>
                    <a:tc>
                      <a:txBody>
                        <a:bodyPr/>
                        <a:lstStyle/>
                        <a:p>
                          <a:endParaRPr lang="en-US"/>
                        </a:p>
                      </a:txBody>
                      <a:tcPr anchor="ctr">
                        <a:blipFill>
                          <a:blip r:embed="rId2"/>
                          <a:stretch>
                            <a:fillRect l="-300556" t="-294118" r="-101111" b="-332941"/>
                          </a:stretch>
                        </a:blipFill>
                      </a:tcPr>
                    </a:tc>
                    <a:tc>
                      <a:txBody>
                        <a:bodyPr/>
                        <a:lstStyle/>
                        <a:p>
                          <a:endParaRPr lang="en-US"/>
                        </a:p>
                      </a:txBody>
                      <a:tcPr anchor="ctr">
                        <a:blipFill>
                          <a:blip r:embed="rId2"/>
                          <a:stretch>
                            <a:fillRect l="-400556" t="-294118" r="-1111" b="-332941"/>
                          </a:stretch>
                        </a:blipFill>
                      </a:tcPr>
                    </a:tc>
                    <a:extLst>
                      <a:ext uri="{0D108BD9-81ED-4DB2-BD59-A6C34878D82A}">
                        <a16:rowId xmlns:a16="http://schemas.microsoft.com/office/drawing/2014/main" val="2391906055"/>
                      </a:ext>
                    </a:extLst>
                  </a:tr>
                  <a:tr h="518160">
                    <a:tc>
                      <a:txBody>
                        <a:bodyPr/>
                        <a:lstStyle/>
                        <a:p>
                          <a:endParaRPr lang="en-US"/>
                        </a:p>
                      </a:txBody>
                      <a:tcPr anchor="ctr">
                        <a:blipFill>
                          <a:blip r:embed="rId2"/>
                          <a:stretch>
                            <a:fillRect l="-278" t="-394118" r="-401389" b="-232941"/>
                          </a:stretch>
                        </a:blipFill>
                      </a:tcPr>
                    </a:tc>
                    <a:tc>
                      <a:txBody>
                        <a:bodyPr/>
                        <a:lstStyle/>
                        <a:p>
                          <a:pPr algn="l"/>
                          <a:r>
                            <a:rPr lang="vi-VN" sz="2800" dirty="0" err="1"/>
                            <a:t>Female</a:t>
                          </a:r>
                          <a:endParaRPr lang="vi-VN" sz="2800" dirty="0"/>
                        </a:p>
                      </a:txBody>
                      <a:tcPr anchor="ctr">
                        <a:solidFill>
                          <a:srgbClr val="FFC000"/>
                        </a:solidFill>
                      </a:tcPr>
                    </a:tc>
                    <a:tc>
                      <a:txBody>
                        <a:bodyPr/>
                        <a:lstStyle/>
                        <a:p>
                          <a:endParaRPr lang="en-US"/>
                        </a:p>
                      </a:txBody>
                      <a:tcPr anchor="ctr">
                        <a:blipFill>
                          <a:blip r:embed="rId2"/>
                          <a:stretch>
                            <a:fillRect l="-199723" t="-394118" r="-200554" b="-232941"/>
                          </a:stretch>
                        </a:blipFill>
                      </a:tcPr>
                    </a:tc>
                    <a:tc>
                      <a:txBody>
                        <a:bodyPr/>
                        <a:lstStyle/>
                        <a:p>
                          <a:endParaRPr lang="en-US"/>
                        </a:p>
                      </a:txBody>
                      <a:tcPr anchor="ctr">
                        <a:blipFill>
                          <a:blip r:embed="rId2"/>
                          <a:stretch>
                            <a:fillRect l="-300556" t="-394118" r="-101111" b="-232941"/>
                          </a:stretch>
                        </a:blipFill>
                      </a:tcPr>
                    </a:tc>
                    <a:tc>
                      <a:txBody>
                        <a:bodyPr/>
                        <a:lstStyle/>
                        <a:p>
                          <a:endParaRPr lang="en-US"/>
                        </a:p>
                      </a:txBody>
                      <a:tcPr anchor="ctr">
                        <a:blipFill>
                          <a:blip r:embed="rId2"/>
                          <a:stretch>
                            <a:fillRect l="-400556" t="-394118" r="-1111" b="-232941"/>
                          </a:stretch>
                        </a:blipFill>
                      </a:tcPr>
                    </a:tc>
                    <a:extLst>
                      <a:ext uri="{0D108BD9-81ED-4DB2-BD59-A6C34878D82A}">
                        <a16:rowId xmlns:a16="http://schemas.microsoft.com/office/drawing/2014/main" val="68464354"/>
                      </a:ext>
                    </a:extLst>
                  </a:tr>
                  <a:tr h="518160">
                    <a:tc>
                      <a:txBody>
                        <a:bodyPr/>
                        <a:lstStyle/>
                        <a:p>
                          <a:endParaRPr lang="en-US"/>
                        </a:p>
                      </a:txBody>
                      <a:tcPr anchor="ctr">
                        <a:blipFill>
                          <a:blip r:embed="rId2"/>
                          <a:stretch>
                            <a:fillRect l="-278" t="-494118" r="-401389" b="-132941"/>
                          </a:stretch>
                        </a:blipFill>
                      </a:tcPr>
                    </a:tc>
                    <a:tc>
                      <a:txBody>
                        <a:bodyPr/>
                        <a:lstStyle/>
                        <a:p>
                          <a:pPr algn="l"/>
                          <a:r>
                            <a:rPr lang="vi-VN" sz="2800" dirty="0" err="1"/>
                            <a:t>Female</a:t>
                          </a:r>
                          <a:endParaRPr lang="vi-VN" sz="2800" dirty="0"/>
                        </a:p>
                      </a:txBody>
                      <a:tcPr anchor="ctr"/>
                    </a:tc>
                    <a:tc>
                      <a:txBody>
                        <a:bodyPr/>
                        <a:lstStyle/>
                        <a:p>
                          <a:endParaRPr lang="en-US"/>
                        </a:p>
                      </a:txBody>
                      <a:tcPr anchor="ctr">
                        <a:blipFill>
                          <a:blip r:embed="rId2"/>
                          <a:stretch>
                            <a:fillRect l="-199723" t="-494118" r="-200554" b="-132941"/>
                          </a:stretch>
                        </a:blipFill>
                      </a:tcPr>
                    </a:tc>
                    <a:tc>
                      <a:txBody>
                        <a:bodyPr/>
                        <a:lstStyle/>
                        <a:p>
                          <a:endParaRPr lang="en-US"/>
                        </a:p>
                      </a:txBody>
                      <a:tcPr anchor="ctr">
                        <a:blipFill>
                          <a:blip r:embed="rId2"/>
                          <a:stretch>
                            <a:fillRect l="-300556" t="-494118" r="-101111" b="-132941"/>
                          </a:stretch>
                        </a:blipFill>
                      </a:tcPr>
                    </a:tc>
                    <a:tc>
                      <a:txBody>
                        <a:bodyPr/>
                        <a:lstStyle/>
                        <a:p>
                          <a:endParaRPr lang="en-US"/>
                        </a:p>
                      </a:txBody>
                      <a:tcPr anchor="ctr">
                        <a:blipFill>
                          <a:blip r:embed="rId2"/>
                          <a:stretch>
                            <a:fillRect l="-400556" t="-494118" r="-1111" b="-132941"/>
                          </a:stretch>
                        </a:blipFill>
                      </a:tcPr>
                    </a:tc>
                    <a:extLst>
                      <a:ext uri="{0D108BD9-81ED-4DB2-BD59-A6C34878D82A}">
                        <a16:rowId xmlns:a16="http://schemas.microsoft.com/office/drawing/2014/main" val="4192353787"/>
                      </a:ext>
                    </a:extLst>
                  </a:tr>
                  <a:tr h="518160">
                    <a:tc>
                      <a:txBody>
                        <a:bodyPr/>
                        <a:lstStyle/>
                        <a:p>
                          <a:endParaRPr lang="en-US"/>
                        </a:p>
                      </a:txBody>
                      <a:tcPr anchor="ctr">
                        <a:blipFill>
                          <a:blip r:embed="rId2"/>
                          <a:stretch>
                            <a:fillRect l="-278" t="-594118" r="-401389" b="-32941"/>
                          </a:stretch>
                        </a:blipFill>
                      </a:tcPr>
                    </a:tc>
                    <a:tc>
                      <a:txBody>
                        <a:bodyPr/>
                        <a:lstStyle/>
                        <a:p>
                          <a:pPr algn="l"/>
                          <a:r>
                            <a:rPr lang="vi-VN" sz="2800" dirty="0" err="1"/>
                            <a:t>Male</a:t>
                          </a:r>
                          <a:endParaRPr lang="vi-VN" sz="2800" dirty="0"/>
                        </a:p>
                      </a:txBody>
                      <a:tcPr anchor="ctr"/>
                    </a:tc>
                    <a:tc>
                      <a:txBody>
                        <a:bodyPr/>
                        <a:lstStyle/>
                        <a:p>
                          <a:endParaRPr lang="en-US"/>
                        </a:p>
                      </a:txBody>
                      <a:tcPr anchor="ctr">
                        <a:blipFill>
                          <a:blip r:embed="rId2"/>
                          <a:stretch>
                            <a:fillRect l="-199723" t="-594118" r="-200554" b="-32941"/>
                          </a:stretch>
                        </a:blipFill>
                      </a:tcPr>
                    </a:tc>
                    <a:tc>
                      <a:txBody>
                        <a:bodyPr/>
                        <a:lstStyle/>
                        <a:p>
                          <a:endParaRPr lang="en-US"/>
                        </a:p>
                      </a:txBody>
                      <a:tcPr anchor="ctr">
                        <a:blipFill>
                          <a:blip r:embed="rId2"/>
                          <a:stretch>
                            <a:fillRect l="-300556" t="-594118" r="-101111" b="-32941"/>
                          </a:stretch>
                        </a:blipFill>
                      </a:tcPr>
                    </a:tc>
                    <a:tc>
                      <a:txBody>
                        <a:bodyPr/>
                        <a:lstStyle/>
                        <a:p>
                          <a:endParaRPr lang="en-US"/>
                        </a:p>
                      </a:txBody>
                      <a:tcPr anchor="ctr">
                        <a:blipFill>
                          <a:blip r:embed="rId2"/>
                          <a:stretch>
                            <a:fillRect l="-400556" t="-594118" r="-1111" b="-32941"/>
                          </a:stretch>
                        </a:blipFill>
                      </a:tcPr>
                    </a:tc>
                    <a:extLst>
                      <a:ext uri="{0D108BD9-81ED-4DB2-BD59-A6C34878D82A}">
                        <a16:rowId xmlns:a16="http://schemas.microsoft.com/office/drawing/2014/main" val="251226265"/>
                      </a:ext>
                    </a:extLst>
                  </a:tr>
                </a:tbl>
              </a:graphicData>
            </a:graphic>
          </p:graphicFrame>
        </mc:Fallback>
      </mc:AlternateContent>
    </p:spTree>
    <p:extLst>
      <p:ext uri="{BB962C8B-B14F-4D97-AF65-F5344CB8AC3E}">
        <p14:creationId xmlns:p14="http://schemas.microsoft.com/office/powerpoint/2010/main" val="3131933106"/>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F6701-EC67-4BAE-885F-6D32DA238613}"/>
              </a:ext>
            </a:extLst>
          </p:cNvPr>
          <p:cNvSpPr>
            <a:spLocks noGrp="1"/>
          </p:cNvSpPr>
          <p:nvPr>
            <p:ph type="title"/>
          </p:nvPr>
        </p:nvSpPr>
        <p:spPr/>
        <p:txBody>
          <a:bodyPr/>
          <a:lstStyle/>
          <a:p>
            <a:r>
              <a:rPr lang="vi-VN" dirty="0" err="1"/>
              <a:t>Dataset</a:t>
            </a:r>
            <a:endParaRPr lang="vi-VN" dirty="0"/>
          </a:p>
        </p:txBody>
      </p:sp>
      <p:sp>
        <p:nvSpPr>
          <p:cNvPr id="3" name="Content Placeholder 2">
            <a:extLst>
              <a:ext uri="{FF2B5EF4-FFF2-40B4-BE49-F238E27FC236}">
                <a16:creationId xmlns:a16="http://schemas.microsoft.com/office/drawing/2014/main" id="{342EE472-166E-4206-903F-85F9C5F94B82}"/>
              </a:ext>
            </a:extLst>
          </p:cNvPr>
          <p:cNvSpPr>
            <a:spLocks noGrp="1"/>
          </p:cNvSpPr>
          <p:nvPr>
            <p:ph idx="1"/>
          </p:nvPr>
        </p:nvSpPr>
        <p:spPr/>
        <p:txBody>
          <a:bodyPr/>
          <a:lstStyle/>
          <a:p>
            <a:pPr algn="just"/>
            <a:r>
              <a:rPr lang="en-US" sz="2800" dirty="0" err="1">
                <a:solidFill>
                  <a:srgbClr val="0066FF"/>
                </a:solidFill>
              </a:rPr>
              <a:t>Yêu</a:t>
            </a:r>
            <a:r>
              <a:rPr lang="en-US" sz="2800" dirty="0">
                <a:solidFill>
                  <a:srgbClr val="0066FF"/>
                </a:solidFill>
              </a:rPr>
              <a:t> </a:t>
            </a:r>
            <a:r>
              <a:rPr lang="en-US" sz="2800" dirty="0" err="1">
                <a:solidFill>
                  <a:srgbClr val="0066FF"/>
                </a:solidFill>
              </a:rPr>
              <a:t>cầu</a:t>
            </a:r>
            <a:r>
              <a:rPr lang="en-US" sz="2800" dirty="0">
                <a:solidFill>
                  <a:srgbClr val="0066FF"/>
                </a:solidFill>
              </a:rPr>
              <a:t> </a:t>
            </a:r>
            <a:r>
              <a:rPr lang="en-US" sz="2800" dirty="0" err="1">
                <a:solidFill>
                  <a:srgbClr val="0066FF"/>
                </a:solidFill>
              </a:rPr>
              <a:t>với</a:t>
            </a:r>
            <a:r>
              <a:rPr lang="en-US" sz="2800" dirty="0">
                <a:solidFill>
                  <a:srgbClr val="0066FF"/>
                </a:solidFill>
              </a:rPr>
              <a:t> 2 </a:t>
            </a:r>
            <a:r>
              <a:rPr lang="en-US" sz="2800" dirty="0" err="1">
                <a:solidFill>
                  <a:srgbClr val="0066FF"/>
                </a:solidFill>
              </a:rPr>
              <a:t>thuộc</a:t>
            </a:r>
            <a:r>
              <a:rPr lang="en-US" sz="2800" dirty="0">
                <a:solidFill>
                  <a:srgbClr val="0066FF"/>
                </a:solidFill>
              </a:rPr>
              <a:t> </a:t>
            </a:r>
            <a:r>
              <a:rPr lang="en-US" sz="2800" dirty="0" err="1">
                <a:solidFill>
                  <a:srgbClr val="0066FF"/>
                </a:solidFill>
              </a:rPr>
              <a:t>tính</a:t>
            </a:r>
            <a:r>
              <a:rPr lang="en-US" sz="2800" dirty="0">
                <a:solidFill>
                  <a:srgbClr val="0066FF"/>
                </a:solidFill>
              </a:rPr>
              <a:t>:</a:t>
            </a:r>
          </a:p>
          <a:p>
            <a:pPr lvl="1" algn="just"/>
            <a:r>
              <a:rPr lang="en-US" sz="2800" dirty="0" err="1">
                <a:solidFill>
                  <a:srgbClr val="FF0000"/>
                </a:solidFill>
              </a:rPr>
              <a:t>Độ</a:t>
            </a:r>
            <a:r>
              <a:rPr lang="en-US" sz="2800" dirty="0">
                <a:solidFill>
                  <a:srgbClr val="FF0000"/>
                </a:solidFill>
              </a:rPr>
              <a:t> </a:t>
            </a:r>
            <a:r>
              <a:rPr lang="en-US" sz="2800" dirty="0" err="1">
                <a:solidFill>
                  <a:srgbClr val="FF0000"/>
                </a:solidFill>
              </a:rPr>
              <a:t>tuổi</a:t>
            </a:r>
            <a:r>
              <a:rPr lang="en-US" sz="2800" dirty="0">
                <a:solidFill>
                  <a:srgbClr val="FF0000"/>
                </a:solidFill>
              </a:rPr>
              <a:t> (Age)</a:t>
            </a:r>
          </a:p>
          <a:p>
            <a:pPr lvl="1" algn="just"/>
            <a:r>
              <a:rPr lang="en-US" sz="2800" dirty="0" err="1">
                <a:solidFill>
                  <a:srgbClr val="0066FF"/>
                </a:solidFill>
              </a:rPr>
              <a:t>Mức</a:t>
            </a:r>
            <a:r>
              <a:rPr lang="en-US" sz="2800" dirty="0">
                <a:solidFill>
                  <a:srgbClr val="0066FF"/>
                </a:solidFill>
              </a:rPr>
              <a:t> l</a:t>
            </a:r>
            <a:r>
              <a:rPr lang="vi-VN" sz="2800" dirty="0">
                <a:solidFill>
                  <a:srgbClr val="0066FF"/>
                </a:solidFill>
              </a:rPr>
              <a:t>ư</a:t>
            </a:r>
            <a:r>
              <a:rPr lang="en-US" sz="2800" dirty="0" err="1">
                <a:solidFill>
                  <a:srgbClr val="0066FF"/>
                </a:solidFill>
              </a:rPr>
              <a:t>ơng</a:t>
            </a:r>
            <a:r>
              <a:rPr lang="en-US" sz="2800" dirty="0">
                <a:solidFill>
                  <a:srgbClr val="0066FF"/>
                </a:solidFill>
              </a:rPr>
              <a:t> </a:t>
            </a:r>
            <a:r>
              <a:rPr lang="vi-VN" sz="2800" dirty="0" err="1">
                <a:solidFill>
                  <a:srgbClr val="0066FF"/>
                </a:solidFill>
              </a:rPr>
              <a:t>ước</a:t>
            </a:r>
            <a:r>
              <a:rPr lang="vi-VN" sz="2800" dirty="0">
                <a:solidFill>
                  <a:srgbClr val="0066FF"/>
                </a:solidFill>
              </a:rPr>
              <a:t> </a:t>
            </a:r>
            <a:r>
              <a:rPr lang="vi-VN" sz="2800" dirty="0" err="1">
                <a:solidFill>
                  <a:srgbClr val="0066FF"/>
                </a:solidFill>
              </a:rPr>
              <a:t>đoán</a:t>
            </a:r>
            <a:r>
              <a:rPr lang="vi-VN" sz="2800" dirty="0">
                <a:solidFill>
                  <a:srgbClr val="0066FF"/>
                </a:solidFill>
              </a:rPr>
              <a:t> (</a:t>
            </a:r>
            <a:r>
              <a:rPr lang="vi-VN" sz="2800" dirty="0" err="1">
                <a:solidFill>
                  <a:srgbClr val="0066FF"/>
                </a:solidFill>
              </a:rPr>
              <a:t>Estimated</a:t>
            </a:r>
            <a:r>
              <a:rPr lang="vi-VN" sz="2800" dirty="0">
                <a:solidFill>
                  <a:srgbClr val="0066FF"/>
                </a:solidFill>
              </a:rPr>
              <a:t> </a:t>
            </a:r>
            <a:r>
              <a:rPr lang="vi-VN" sz="2800" dirty="0" err="1">
                <a:solidFill>
                  <a:srgbClr val="0066FF"/>
                </a:solidFill>
              </a:rPr>
              <a:t>Salary</a:t>
            </a:r>
            <a:r>
              <a:rPr lang="vi-VN" sz="2800" dirty="0">
                <a:solidFill>
                  <a:srgbClr val="0066FF"/>
                </a:solidFill>
              </a:rPr>
              <a:t>)</a:t>
            </a:r>
          </a:p>
          <a:p>
            <a:pPr marL="0" indent="0" algn="just">
              <a:buNone/>
            </a:pPr>
            <a:r>
              <a:rPr lang="en-US" sz="4000" dirty="0">
                <a:solidFill>
                  <a:srgbClr val="FF0000"/>
                </a:solidFill>
              </a:rPr>
              <a:t>D</a:t>
            </a:r>
            <a:r>
              <a:rPr lang="vi-VN" sz="4000" dirty="0">
                <a:solidFill>
                  <a:srgbClr val="FF0000"/>
                </a:solidFill>
              </a:rPr>
              <a:t>ự </a:t>
            </a:r>
            <a:r>
              <a:rPr lang="vi-VN" sz="4000" dirty="0" err="1">
                <a:solidFill>
                  <a:srgbClr val="FF0000"/>
                </a:solidFill>
              </a:rPr>
              <a:t>đoán</a:t>
            </a:r>
            <a:r>
              <a:rPr lang="vi-VN" sz="4000" dirty="0">
                <a:solidFill>
                  <a:srgbClr val="FF0000"/>
                </a:solidFill>
              </a:rPr>
              <a:t> </a:t>
            </a:r>
            <a:r>
              <a:rPr lang="vi-VN" sz="4000" dirty="0" err="1">
                <a:solidFill>
                  <a:srgbClr val="FF0000"/>
                </a:solidFill>
              </a:rPr>
              <a:t>khách</a:t>
            </a:r>
            <a:r>
              <a:rPr lang="vi-VN" sz="4000" dirty="0">
                <a:solidFill>
                  <a:srgbClr val="FF0000"/>
                </a:solidFill>
              </a:rPr>
              <a:t> </a:t>
            </a:r>
            <a:r>
              <a:rPr lang="vi-VN" sz="4000" dirty="0" err="1">
                <a:solidFill>
                  <a:srgbClr val="FF0000"/>
                </a:solidFill>
              </a:rPr>
              <a:t>hàng</a:t>
            </a:r>
            <a:r>
              <a:rPr lang="vi-VN" sz="4000" dirty="0">
                <a:solidFill>
                  <a:srgbClr val="FF0000"/>
                </a:solidFill>
              </a:rPr>
              <a:t> </a:t>
            </a:r>
            <a:r>
              <a:rPr lang="vi-VN" sz="4000" dirty="0" err="1">
                <a:solidFill>
                  <a:srgbClr val="FF0000"/>
                </a:solidFill>
              </a:rPr>
              <a:t>sẽ</a:t>
            </a:r>
            <a:r>
              <a:rPr lang="vi-VN" sz="4000" dirty="0">
                <a:solidFill>
                  <a:srgbClr val="FF0000"/>
                </a:solidFill>
              </a:rPr>
              <a:t> mua </a:t>
            </a:r>
            <a:r>
              <a:rPr lang="vi-VN" sz="4000" dirty="0" err="1">
                <a:solidFill>
                  <a:srgbClr val="FF0000"/>
                </a:solidFill>
              </a:rPr>
              <a:t>hàng</a:t>
            </a:r>
            <a:r>
              <a:rPr lang="vi-VN" sz="4000" dirty="0">
                <a:solidFill>
                  <a:srgbClr val="FF0000"/>
                </a:solidFill>
              </a:rPr>
              <a:t> hay không?</a:t>
            </a:r>
            <a:endParaRPr lang="en-US" sz="4000" dirty="0">
              <a:solidFill>
                <a:srgbClr val="FF0000"/>
              </a:solidFill>
            </a:endParaRPr>
          </a:p>
        </p:txBody>
      </p:sp>
    </p:spTree>
    <p:extLst>
      <p:ext uri="{BB962C8B-B14F-4D97-AF65-F5344CB8AC3E}">
        <p14:creationId xmlns:p14="http://schemas.microsoft.com/office/powerpoint/2010/main" val="684020194"/>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4B3B2F-8C78-45AD-9334-804B534314E5}"/>
              </a:ext>
            </a:extLst>
          </p:cNvPr>
          <p:cNvSpPr>
            <a:spLocks noGrp="1"/>
          </p:cNvSpPr>
          <p:nvPr>
            <p:ph type="title"/>
          </p:nvPr>
        </p:nvSpPr>
        <p:spPr/>
        <p:txBody>
          <a:bodyPr/>
          <a:lstStyle/>
          <a:p>
            <a:r>
              <a:rPr lang="en-US" dirty="0" err="1"/>
              <a:t>Tiền</a:t>
            </a:r>
            <a:r>
              <a:rPr lang="en-US" dirty="0"/>
              <a:t> </a:t>
            </a:r>
            <a:r>
              <a:rPr lang="en-US" dirty="0" err="1"/>
              <a:t>xử</a:t>
            </a:r>
            <a:r>
              <a:rPr lang="en-US" dirty="0"/>
              <a:t> </a:t>
            </a:r>
            <a:r>
              <a:rPr lang="en-US" dirty="0" err="1"/>
              <a:t>lý</a:t>
            </a:r>
            <a:r>
              <a:rPr lang="en-US" dirty="0"/>
              <a:t> </a:t>
            </a:r>
            <a:r>
              <a:rPr lang="en-US" dirty="0" err="1"/>
              <a:t>dữ</a:t>
            </a:r>
            <a:r>
              <a:rPr lang="en-US" dirty="0"/>
              <a:t> </a:t>
            </a:r>
            <a:r>
              <a:rPr lang="en-US" dirty="0" err="1"/>
              <a:t>liệu</a:t>
            </a:r>
            <a:endParaRPr lang="vi-VN" dirty="0"/>
          </a:p>
        </p:txBody>
      </p:sp>
      <p:sp>
        <p:nvSpPr>
          <p:cNvPr id="5" name="Text Placeholder 4">
            <a:extLst>
              <a:ext uri="{FF2B5EF4-FFF2-40B4-BE49-F238E27FC236}">
                <a16:creationId xmlns:a16="http://schemas.microsoft.com/office/drawing/2014/main" id="{E4E648CF-DA24-4949-AFDB-25EC09D4A46E}"/>
              </a:ext>
            </a:extLst>
          </p:cNvPr>
          <p:cNvSpPr>
            <a:spLocks noGrp="1"/>
          </p:cNvSpPr>
          <p:nvPr>
            <p:ph type="body" idx="1"/>
          </p:nvPr>
        </p:nvSpPr>
        <p:spPr/>
        <p:txBody>
          <a:bodyPr/>
          <a:lstStyle/>
          <a:p>
            <a:endParaRPr lang="vi-VN"/>
          </a:p>
        </p:txBody>
      </p:sp>
    </p:spTree>
    <p:extLst>
      <p:ext uri="{BB962C8B-B14F-4D97-AF65-F5344CB8AC3E}">
        <p14:creationId xmlns:p14="http://schemas.microsoft.com/office/powerpoint/2010/main" val="1449699795"/>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4B3B2F-8C78-45AD-9334-804B534314E5}"/>
              </a:ext>
            </a:extLst>
          </p:cNvPr>
          <p:cNvSpPr>
            <a:spLocks noGrp="1"/>
          </p:cNvSpPr>
          <p:nvPr>
            <p:ph type="title"/>
          </p:nvPr>
        </p:nvSpPr>
        <p:spPr/>
        <p:txBody>
          <a:bodyPr/>
          <a:lstStyle/>
          <a:p>
            <a:r>
              <a:rPr lang="en-US" dirty="0" err="1"/>
              <a:t>Tiền</a:t>
            </a:r>
            <a:r>
              <a:rPr lang="en-US" dirty="0"/>
              <a:t> </a:t>
            </a:r>
            <a:r>
              <a:rPr lang="en-US" dirty="0" err="1"/>
              <a:t>xử</a:t>
            </a:r>
            <a:r>
              <a:rPr lang="en-US" dirty="0"/>
              <a:t> </a:t>
            </a:r>
            <a:r>
              <a:rPr lang="en-US" dirty="0" err="1"/>
              <a:t>lý</a:t>
            </a:r>
            <a:r>
              <a:rPr lang="en-US" dirty="0"/>
              <a:t> </a:t>
            </a:r>
            <a:r>
              <a:rPr lang="en-US" dirty="0" err="1"/>
              <a:t>dữ</a:t>
            </a:r>
            <a:r>
              <a:rPr lang="en-US" dirty="0"/>
              <a:t> </a:t>
            </a:r>
            <a:r>
              <a:rPr lang="en-US" dirty="0" err="1"/>
              <a:t>liệu</a:t>
            </a:r>
            <a:endParaRPr lang="vi-VN" dirty="0"/>
          </a:p>
        </p:txBody>
      </p:sp>
      <p:sp>
        <p:nvSpPr>
          <p:cNvPr id="2" name="Content Placeholder 1">
            <a:extLst>
              <a:ext uri="{FF2B5EF4-FFF2-40B4-BE49-F238E27FC236}">
                <a16:creationId xmlns:a16="http://schemas.microsoft.com/office/drawing/2014/main" id="{27A14EBF-6606-4138-BF0B-F8C2D0B7EF91}"/>
              </a:ext>
            </a:extLst>
          </p:cNvPr>
          <p:cNvSpPr>
            <a:spLocks noGrp="1"/>
          </p:cNvSpPr>
          <p:nvPr>
            <p:ph idx="1"/>
          </p:nvPr>
        </p:nvSpPr>
        <p:spPr/>
        <p:txBody>
          <a:bodyPr/>
          <a:lstStyle/>
          <a:p>
            <a:pPr algn="just"/>
            <a:r>
              <a:rPr lang="en-US" sz="2800" dirty="0">
                <a:solidFill>
                  <a:srgbClr val="0066FF"/>
                </a:solidFill>
              </a:rPr>
              <a:t>Ở </a:t>
            </a:r>
            <a:r>
              <a:rPr lang="en-US" sz="2800" dirty="0" err="1">
                <a:solidFill>
                  <a:srgbClr val="0066FF"/>
                </a:solidFill>
              </a:rPr>
              <a:t>bài</a:t>
            </a:r>
            <a:r>
              <a:rPr lang="en-US" sz="2800" dirty="0">
                <a:solidFill>
                  <a:srgbClr val="0066FF"/>
                </a:solidFill>
              </a:rPr>
              <a:t> </a:t>
            </a:r>
            <a:r>
              <a:rPr lang="en-US" sz="2800" dirty="0" err="1">
                <a:solidFill>
                  <a:srgbClr val="0066FF"/>
                </a:solidFill>
              </a:rPr>
              <a:t>này</a:t>
            </a:r>
            <a:r>
              <a:rPr lang="en-US" sz="2800" dirty="0">
                <a:solidFill>
                  <a:srgbClr val="0066FF"/>
                </a:solidFill>
              </a:rPr>
              <a:t>, ta </a:t>
            </a:r>
            <a:r>
              <a:rPr lang="en-US" sz="2800" dirty="0" err="1">
                <a:solidFill>
                  <a:srgbClr val="0066FF"/>
                </a:solidFill>
              </a:rPr>
              <a:t>chỉ</a:t>
            </a:r>
            <a:r>
              <a:rPr lang="en-US" sz="2800" dirty="0">
                <a:solidFill>
                  <a:srgbClr val="0066FF"/>
                </a:solidFill>
              </a:rPr>
              <a:t> </a:t>
            </a:r>
            <a:r>
              <a:rPr lang="en-US" sz="2800" dirty="0" err="1">
                <a:solidFill>
                  <a:srgbClr val="0066FF"/>
                </a:solidFill>
              </a:rPr>
              <a:t>quan</a:t>
            </a:r>
            <a:r>
              <a:rPr lang="en-US" sz="2800" dirty="0">
                <a:solidFill>
                  <a:srgbClr val="0066FF"/>
                </a:solidFill>
              </a:rPr>
              <a:t> </a:t>
            </a:r>
            <a:r>
              <a:rPr lang="en-US" sz="2800" dirty="0" err="1">
                <a:solidFill>
                  <a:srgbClr val="0066FF"/>
                </a:solidFill>
              </a:rPr>
              <a:t>tâm</a:t>
            </a:r>
            <a:r>
              <a:rPr lang="en-US" sz="2800" dirty="0">
                <a:solidFill>
                  <a:srgbClr val="0066FF"/>
                </a:solidFill>
              </a:rPr>
              <a:t> </a:t>
            </a:r>
            <a:r>
              <a:rPr lang="en-US" sz="2800" dirty="0" err="1">
                <a:solidFill>
                  <a:srgbClr val="0066FF"/>
                </a:solidFill>
              </a:rPr>
              <a:t>đến</a:t>
            </a:r>
            <a:r>
              <a:rPr lang="en-US" sz="2800" dirty="0">
                <a:solidFill>
                  <a:srgbClr val="0066FF"/>
                </a:solidFill>
              </a:rPr>
              <a:t> </a:t>
            </a:r>
            <a:r>
              <a:rPr lang="en-US" sz="2800" dirty="0" err="1">
                <a:solidFill>
                  <a:srgbClr val="0066FF"/>
                </a:solidFill>
              </a:rPr>
              <a:t>hai</a:t>
            </a:r>
            <a:r>
              <a:rPr lang="en-US" sz="2800" dirty="0">
                <a:solidFill>
                  <a:srgbClr val="0066FF"/>
                </a:solidFill>
              </a:rPr>
              <a:t> </a:t>
            </a:r>
            <a:r>
              <a:rPr lang="en-US" sz="2800" dirty="0" err="1">
                <a:solidFill>
                  <a:srgbClr val="0066FF"/>
                </a:solidFill>
              </a:rPr>
              <a:t>thuộc</a:t>
            </a:r>
            <a:r>
              <a:rPr lang="en-US" sz="2800" dirty="0">
                <a:solidFill>
                  <a:srgbClr val="0066FF"/>
                </a:solidFill>
              </a:rPr>
              <a:t> </a:t>
            </a:r>
            <a:r>
              <a:rPr lang="en-US" sz="2800" dirty="0" err="1">
                <a:solidFill>
                  <a:srgbClr val="0066FF"/>
                </a:solidFill>
              </a:rPr>
              <a:t>tính</a:t>
            </a:r>
            <a:r>
              <a:rPr lang="en-US" sz="2800" dirty="0">
                <a:solidFill>
                  <a:srgbClr val="0066FF"/>
                </a:solidFill>
              </a:rPr>
              <a:t> </a:t>
            </a:r>
            <a:r>
              <a:rPr lang="en-US" sz="2800" dirty="0" err="1">
                <a:solidFill>
                  <a:srgbClr val="0066FF"/>
                </a:solidFill>
              </a:rPr>
              <a:t>tuổi</a:t>
            </a:r>
            <a:r>
              <a:rPr lang="en-US" sz="2800" dirty="0">
                <a:solidFill>
                  <a:srgbClr val="0066FF"/>
                </a:solidFill>
              </a:rPr>
              <a:t> </a:t>
            </a:r>
            <a:r>
              <a:rPr lang="en-US" sz="2800" dirty="0" err="1">
                <a:solidFill>
                  <a:srgbClr val="0066FF"/>
                </a:solidFill>
              </a:rPr>
              <a:t>và</a:t>
            </a:r>
            <a:r>
              <a:rPr lang="en-US" sz="2800" dirty="0">
                <a:solidFill>
                  <a:srgbClr val="0066FF"/>
                </a:solidFill>
              </a:rPr>
              <a:t> </a:t>
            </a:r>
            <a:r>
              <a:rPr lang="en-US" sz="2800" dirty="0" err="1">
                <a:solidFill>
                  <a:srgbClr val="0066FF"/>
                </a:solidFill>
              </a:rPr>
              <a:t>mức</a:t>
            </a:r>
            <a:r>
              <a:rPr lang="en-US" sz="2800" dirty="0">
                <a:solidFill>
                  <a:srgbClr val="0066FF"/>
                </a:solidFill>
              </a:rPr>
              <a:t> l</a:t>
            </a:r>
            <a:r>
              <a:rPr lang="vi-VN" sz="2800" dirty="0">
                <a:solidFill>
                  <a:srgbClr val="0066FF"/>
                </a:solidFill>
              </a:rPr>
              <a:t>ư</a:t>
            </a:r>
            <a:r>
              <a:rPr lang="en-US" sz="2800" dirty="0" err="1">
                <a:solidFill>
                  <a:srgbClr val="0066FF"/>
                </a:solidFill>
              </a:rPr>
              <a:t>ơng</a:t>
            </a:r>
            <a:r>
              <a:rPr lang="en-US" sz="2800" dirty="0">
                <a:solidFill>
                  <a:srgbClr val="0066FF"/>
                </a:solidFill>
              </a:rPr>
              <a:t> </a:t>
            </a:r>
            <a:r>
              <a:rPr lang="vi-VN" sz="2800" dirty="0">
                <a:solidFill>
                  <a:srgbClr val="0066FF"/>
                </a:solidFill>
              </a:rPr>
              <a:t>ư</a:t>
            </a:r>
            <a:r>
              <a:rPr lang="en-US" sz="2800" dirty="0" err="1">
                <a:solidFill>
                  <a:srgbClr val="0066FF"/>
                </a:solidFill>
              </a:rPr>
              <a:t>ớc</a:t>
            </a:r>
            <a:r>
              <a:rPr lang="en-US" sz="2800" dirty="0">
                <a:solidFill>
                  <a:srgbClr val="0066FF"/>
                </a:solidFill>
              </a:rPr>
              <a:t> </a:t>
            </a:r>
            <a:r>
              <a:rPr lang="en-US" sz="2800" dirty="0" err="1">
                <a:solidFill>
                  <a:srgbClr val="0066FF"/>
                </a:solidFill>
              </a:rPr>
              <a:t>đoán</a:t>
            </a:r>
            <a:r>
              <a:rPr lang="en-US" sz="2800" dirty="0">
                <a:solidFill>
                  <a:srgbClr val="0066FF"/>
                </a:solidFill>
              </a:rPr>
              <a:t>.</a:t>
            </a:r>
          </a:p>
          <a:p>
            <a:pPr marL="457200" indent="-457200" algn="just">
              <a:buFont typeface="+mj-lt"/>
              <a:buAutoNum type="arabicPeriod"/>
            </a:pPr>
            <a:endParaRPr lang="vi-VN" dirty="0">
              <a:solidFill>
                <a:srgbClr val="AF00DB"/>
              </a:solidFill>
              <a:latin typeface="Consolas" panose="020B0609020204030204" pitchFamily="49" charset="0"/>
            </a:endParaRPr>
          </a:p>
          <a:p>
            <a:pPr marL="457200" indent="-457200" algn="just">
              <a:buFont typeface="+mj-lt"/>
              <a:buAutoNum type="arabicPeriod"/>
            </a:pPr>
            <a:endParaRPr lang="vi-VN" dirty="0">
              <a:solidFill>
                <a:srgbClr val="AF00DB"/>
              </a:solidFill>
              <a:latin typeface="Consolas" panose="020B0609020204030204" pitchFamily="49" charset="0"/>
            </a:endParaRPr>
          </a:p>
          <a:p>
            <a:pPr marL="457200" indent="-457200" algn="just">
              <a:buFont typeface="+mj-lt"/>
              <a:buAutoNum type="arabicPeriod"/>
            </a:pPr>
            <a:r>
              <a:rPr lang="vi-VN" dirty="0" err="1">
                <a:solidFill>
                  <a:srgbClr val="AF00DB"/>
                </a:solidFill>
                <a:latin typeface="Consolas" panose="020B0609020204030204" pitchFamily="49" charset="0"/>
              </a:rPr>
              <a:t>import</a:t>
            </a:r>
            <a:r>
              <a:rPr lang="vi-VN" dirty="0">
                <a:solidFill>
                  <a:srgbClr val="000000"/>
                </a:solidFill>
                <a:latin typeface="Consolas" panose="020B0609020204030204" pitchFamily="49" charset="0"/>
              </a:rPr>
              <a:t> </a:t>
            </a:r>
            <a:r>
              <a:rPr lang="vi-VN" dirty="0" err="1">
                <a:solidFill>
                  <a:srgbClr val="000000"/>
                </a:solidFill>
                <a:latin typeface="Consolas" panose="020B0609020204030204" pitchFamily="49" charset="0"/>
              </a:rPr>
              <a:t>pandas</a:t>
            </a:r>
            <a:r>
              <a:rPr lang="vi-VN" dirty="0">
                <a:solidFill>
                  <a:srgbClr val="000000"/>
                </a:solidFill>
                <a:latin typeface="Consolas" panose="020B0609020204030204" pitchFamily="49" charset="0"/>
              </a:rPr>
              <a:t> </a:t>
            </a:r>
            <a:r>
              <a:rPr lang="vi-VN" dirty="0" err="1">
                <a:solidFill>
                  <a:srgbClr val="AF00DB"/>
                </a:solidFill>
                <a:latin typeface="Consolas" panose="020B0609020204030204" pitchFamily="49" charset="0"/>
              </a:rPr>
              <a:t>as</a:t>
            </a:r>
            <a:r>
              <a:rPr lang="vi-VN" dirty="0">
                <a:solidFill>
                  <a:srgbClr val="000000"/>
                </a:solidFill>
                <a:latin typeface="Consolas" panose="020B0609020204030204" pitchFamily="49" charset="0"/>
              </a:rPr>
              <a:t> </a:t>
            </a:r>
            <a:r>
              <a:rPr lang="vi-VN" dirty="0" err="1">
                <a:solidFill>
                  <a:srgbClr val="000000"/>
                </a:solidFill>
                <a:latin typeface="Consolas" panose="020B0609020204030204" pitchFamily="49" charset="0"/>
              </a:rPr>
              <a:t>pd</a:t>
            </a:r>
            <a:endParaRPr lang="vi-VN" dirty="0">
              <a:solidFill>
                <a:srgbClr val="000000"/>
              </a:solidFill>
              <a:latin typeface="Consolas" panose="020B0609020204030204" pitchFamily="49" charset="0"/>
            </a:endParaRPr>
          </a:p>
          <a:p>
            <a:pPr marL="457200" indent="-457200" algn="just">
              <a:buFont typeface="+mj-lt"/>
              <a:buAutoNum type="arabicPeriod"/>
            </a:pPr>
            <a:r>
              <a:rPr lang="vi-VN" dirty="0" err="1">
                <a:solidFill>
                  <a:srgbClr val="AF00DB"/>
                </a:solidFill>
                <a:latin typeface="Consolas" panose="020B0609020204030204" pitchFamily="49" charset="0"/>
              </a:rPr>
              <a:t>import</a:t>
            </a:r>
            <a:r>
              <a:rPr lang="vi-VN" dirty="0">
                <a:solidFill>
                  <a:srgbClr val="000000"/>
                </a:solidFill>
                <a:latin typeface="Consolas" panose="020B0609020204030204" pitchFamily="49" charset="0"/>
              </a:rPr>
              <a:t> </a:t>
            </a:r>
            <a:r>
              <a:rPr lang="vi-VN" dirty="0" err="1">
                <a:solidFill>
                  <a:srgbClr val="000000"/>
                </a:solidFill>
                <a:latin typeface="Consolas" panose="020B0609020204030204" pitchFamily="49" charset="0"/>
              </a:rPr>
              <a:t>numpy</a:t>
            </a:r>
            <a:r>
              <a:rPr lang="vi-VN" dirty="0">
                <a:solidFill>
                  <a:srgbClr val="000000"/>
                </a:solidFill>
                <a:latin typeface="Consolas" panose="020B0609020204030204" pitchFamily="49" charset="0"/>
              </a:rPr>
              <a:t> </a:t>
            </a:r>
            <a:r>
              <a:rPr lang="vi-VN" dirty="0" err="1">
                <a:solidFill>
                  <a:srgbClr val="AF00DB"/>
                </a:solidFill>
                <a:latin typeface="Consolas" panose="020B0609020204030204" pitchFamily="49" charset="0"/>
              </a:rPr>
              <a:t>as</a:t>
            </a:r>
            <a:r>
              <a:rPr lang="vi-VN" dirty="0">
                <a:solidFill>
                  <a:srgbClr val="000000"/>
                </a:solidFill>
                <a:latin typeface="Consolas" panose="020B0609020204030204" pitchFamily="49" charset="0"/>
              </a:rPr>
              <a:t> </a:t>
            </a:r>
            <a:r>
              <a:rPr lang="vi-VN" dirty="0" err="1">
                <a:solidFill>
                  <a:srgbClr val="000000"/>
                </a:solidFill>
                <a:latin typeface="Consolas" panose="020B0609020204030204" pitchFamily="49" charset="0"/>
              </a:rPr>
              <a:t>np</a:t>
            </a:r>
            <a:endParaRPr lang="vi-VN" dirty="0">
              <a:solidFill>
                <a:srgbClr val="000000"/>
              </a:solidFill>
              <a:latin typeface="Consolas" panose="020B0609020204030204" pitchFamily="49" charset="0"/>
            </a:endParaRPr>
          </a:p>
          <a:p>
            <a:pPr marL="457200" indent="-457200" algn="just">
              <a:buFont typeface="+mj-lt"/>
              <a:buAutoNum type="arabicPeriod"/>
            </a:pPr>
            <a:r>
              <a:rPr lang="vi-VN" dirty="0" err="1">
                <a:highlight>
                  <a:srgbClr val="FFFF00"/>
                </a:highlight>
                <a:latin typeface="Consolas" panose="020B0609020204030204" pitchFamily="49" charset="0"/>
              </a:rPr>
              <a:t>dataset</a:t>
            </a:r>
            <a:r>
              <a:rPr lang="vi-VN" dirty="0">
                <a:highlight>
                  <a:srgbClr val="FFFF00"/>
                </a:highlight>
                <a:latin typeface="Consolas" panose="020B0609020204030204" pitchFamily="49" charset="0"/>
              </a:rPr>
              <a:t> = </a:t>
            </a:r>
            <a:r>
              <a:rPr lang="vi-VN" dirty="0" err="1">
                <a:highlight>
                  <a:srgbClr val="FFFF00"/>
                </a:highlight>
                <a:latin typeface="Consolas" panose="020B0609020204030204" pitchFamily="49" charset="0"/>
              </a:rPr>
              <a:t>pd.read_csv</a:t>
            </a:r>
            <a:r>
              <a:rPr lang="vi-VN" dirty="0">
                <a:highlight>
                  <a:srgbClr val="FFFF00"/>
                </a:highlight>
                <a:latin typeface="Consolas" panose="020B0609020204030204" pitchFamily="49" charset="0"/>
              </a:rPr>
              <a:t>("Social_Network_Ads.csv")</a:t>
            </a:r>
          </a:p>
          <a:p>
            <a:pPr marL="457200" indent="-457200" algn="just">
              <a:buFont typeface="+mj-lt"/>
              <a:buAutoNum type="arabicPeriod"/>
            </a:pPr>
            <a:r>
              <a:rPr lang="fi-FI" dirty="0">
                <a:solidFill>
                  <a:srgbClr val="000000"/>
                </a:solidFill>
                <a:latin typeface="Consolas" panose="020B0609020204030204" pitchFamily="49" charset="0"/>
              </a:rPr>
              <a:t>X = dataset.iloc[:, [</a:t>
            </a:r>
            <a:r>
              <a:rPr lang="fi-FI" dirty="0">
                <a:solidFill>
                  <a:srgbClr val="09885A"/>
                </a:solidFill>
                <a:latin typeface="Consolas" panose="020B0609020204030204" pitchFamily="49" charset="0"/>
              </a:rPr>
              <a:t>2</a:t>
            </a:r>
            <a:r>
              <a:rPr lang="fi-FI" dirty="0">
                <a:solidFill>
                  <a:srgbClr val="000000"/>
                </a:solidFill>
                <a:latin typeface="Consolas" panose="020B0609020204030204" pitchFamily="49" charset="0"/>
              </a:rPr>
              <a:t>, </a:t>
            </a:r>
            <a:r>
              <a:rPr lang="fi-FI" dirty="0">
                <a:solidFill>
                  <a:srgbClr val="09885A"/>
                </a:solidFill>
                <a:latin typeface="Consolas" panose="020B0609020204030204" pitchFamily="49" charset="0"/>
              </a:rPr>
              <a:t>3</a:t>
            </a:r>
            <a:r>
              <a:rPr lang="fi-FI" dirty="0">
                <a:solidFill>
                  <a:srgbClr val="000000"/>
                </a:solidFill>
                <a:latin typeface="Consolas" panose="020B0609020204030204" pitchFamily="49" charset="0"/>
              </a:rPr>
              <a:t>]].values</a:t>
            </a:r>
          </a:p>
          <a:p>
            <a:pPr marL="457200" indent="-457200" algn="just">
              <a:buFont typeface="+mj-lt"/>
              <a:buAutoNum type="arabicPeriod"/>
            </a:pPr>
            <a:r>
              <a:rPr lang="es-ES" dirty="0">
                <a:solidFill>
                  <a:srgbClr val="000000"/>
                </a:solidFill>
                <a:latin typeface="Consolas" panose="020B0609020204030204" pitchFamily="49" charset="0"/>
              </a:rPr>
              <a:t>y = </a:t>
            </a:r>
            <a:r>
              <a:rPr lang="es-ES" dirty="0" err="1">
                <a:solidFill>
                  <a:srgbClr val="000000"/>
                </a:solidFill>
                <a:latin typeface="Consolas" panose="020B0609020204030204" pitchFamily="49" charset="0"/>
              </a:rPr>
              <a:t>dataset.iloc</a:t>
            </a:r>
            <a:r>
              <a:rPr lang="es-ES" dirty="0">
                <a:solidFill>
                  <a:srgbClr val="000000"/>
                </a:solidFill>
                <a:latin typeface="Consolas" panose="020B0609020204030204" pitchFamily="49" charset="0"/>
              </a:rPr>
              <a:t>[:, </a:t>
            </a:r>
            <a:r>
              <a:rPr lang="es-ES" dirty="0">
                <a:solidFill>
                  <a:srgbClr val="09885A"/>
                </a:solidFill>
                <a:latin typeface="Consolas" panose="020B0609020204030204" pitchFamily="49" charset="0"/>
              </a:rPr>
              <a:t>4</a:t>
            </a:r>
            <a:r>
              <a:rPr lang="es-ES" dirty="0">
                <a:solidFill>
                  <a:srgbClr val="000000"/>
                </a:solidFill>
                <a:latin typeface="Consolas" panose="020B0609020204030204" pitchFamily="49" charset="0"/>
              </a:rPr>
              <a:t>].</a:t>
            </a:r>
            <a:r>
              <a:rPr lang="es-ES" dirty="0" err="1">
                <a:solidFill>
                  <a:srgbClr val="000000"/>
                </a:solidFill>
                <a:latin typeface="Consolas" panose="020B0609020204030204" pitchFamily="49" charset="0"/>
              </a:rPr>
              <a:t>values</a:t>
            </a:r>
            <a:endParaRPr lang="es-ES"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1417126933"/>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4B3B2F-8C78-45AD-9334-804B534314E5}"/>
              </a:ext>
            </a:extLst>
          </p:cNvPr>
          <p:cNvSpPr>
            <a:spLocks noGrp="1"/>
          </p:cNvSpPr>
          <p:nvPr>
            <p:ph type="title"/>
          </p:nvPr>
        </p:nvSpPr>
        <p:spPr/>
        <p:txBody>
          <a:bodyPr/>
          <a:lstStyle/>
          <a:p>
            <a:r>
              <a:rPr lang="en-US" dirty="0" err="1"/>
              <a:t>Tiền</a:t>
            </a:r>
            <a:r>
              <a:rPr lang="en-US" dirty="0"/>
              <a:t> </a:t>
            </a:r>
            <a:r>
              <a:rPr lang="en-US" dirty="0" err="1"/>
              <a:t>xử</a:t>
            </a:r>
            <a:r>
              <a:rPr lang="en-US" dirty="0"/>
              <a:t> </a:t>
            </a:r>
            <a:r>
              <a:rPr lang="en-US" dirty="0" err="1"/>
              <a:t>lý</a:t>
            </a:r>
            <a:r>
              <a:rPr lang="en-US" dirty="0"/>
              <a:t> </a:t>
            </a:r>
            <a:r>
              <a:rPr lang="en-US" dirty="0" err="1"/>
              <a:t>dữ</a:t>
            </a:r>
            <a:r>
              <a:rPr lang="en-US" dirty="0"/>
              <a:t> </a:t>
            </a:r>
            <a:r>
              <a:rPr lang="en-US" dirty="0" err="1"/>
              <a:t>liệu</a:t>
            </a:r>
            <a:endParaRPr lang="vi-VN" dirty="0"/>
          </a:p>
        </p:txBody>
      </p:sp>
      <p:sp>
        <p:nvSpPr>
          <p:cNvPr id="2" name="Content Placeholder 1">
            <a:extLst>
              <a:ext uri="{FF2B5EF4-FFF2-40B4-BE49-F238E27FC236}">
                <a16:creationId xmlns:a16="http://schemas.microsoft.com/office/drawing/2014/main" id="{27A14EBF-6606-4138-BF0B-F8C2D0B7EF91}"/>
              </a:ext>
            </a:extLst>
          </p:cNvPr>
          <p:cNvSpPr>
            <a:spLocks noGrp="1"/>
          </p:cNvSpPr>
          <p:nvPr>
            <p:ph idx="1"/>
          </p:nvPr>
        </p:nvSpPr>
        <p:spPr/>
        <p:txBody>
          <a:bodyPr/>
          <a:lstStyle/>
          <a:p>
            <a:pPr algn="just">
              <a:spcBef>
                <a:spcPts val="400"/>
              </a:spcBef>
            </a:pPr>
            <a:r>
              <a:rPr lang="vi-VN" sz="2800" dirty="0" err="1">
                <a:solidFill>
                  <a:srgbClr val="0066FF"/>
                </a:solidFill>
              </a:rPr>
              <a:t>Với</a:t>
            </a:r>
            <a:r>
              <a:rPr lang="vi-VN" sz="2800" dirty="0">
                <a:solidFill>
                  <a:srgbClr val="0066FF"/>
                </a:solidFill>
              </a:rPr>
              <a:t> </a:t>
            </a:r>
            <a:r>
              <a:rPr lang="vi-VN" sz="2800" dirty="0" err="1">
                <a:solidFill>
                  <a:srgbClr val="0066FF"/>
                </a:solidFill>
              </a:rPr>
              <a:t>mục</a:t>
            </a:r>
            <a:r>
              <a:rPr lang="vi-VN" sz="2800" dirty="0">
                <a:solidFill>
                  <a:srgbClr val="0066FF"/>
                </a:solidFill>
              </a:rPr>
              <a:t> </a:t>
            </a:r>
            <a:r>
              <a:rPr lang="vi-VN" sz="2800" dirty="0" err="1">
                <a:solidFill>
                  <a:srgbClr val="0066FF"/>
                </a:solidFill>
              </a:rPr>
              <a:t>đích</a:t>
            </a:r>
            <a:r>
              <a:rPr lang="vi-VN" sz="2800" dirty="0">
                <a:solidFill>
                  <a:srgbClr val="0066FF"/>
                </a:solidFill>
              </a:rPr>
              <a:t>:</a:t>
            </a:r>
          </a:p>
          <a:p>
            <a:pPr lvl="1" algn="just">
              <a:spcBef>
                <a:spcPts val="400"/>
              </a:spcBef>
            </a:pPr>
            <a:r>
              <a:rPr lang="vi-VN" sz="2800" dirty="0" err="1">
                <a:solidFill>
                  <a:srgbClr val="FF0000"/>
                </a:solidFill>
              </a:rPr>
              <a:t>Thuận</a:t>
            </a:r>
            <a:r>
              <a:rPr lang="vi-VN" sz="2800" dirty="0">
                <a:solidFill>
                  <a:srgbClr val="FF0000"/>
                </a:solidFill>
              </a:rPr>
              <a:t> </a:t>
            </a:r>
            <a:r>
              <a:rPr lang="vi-VN" sz="2800" dirty="0" err="1">
                <a:solidFill>
                  <a:srgbClr val="FF0000"/>
                </a:solidFill>
              </a:rPr>
              <a:t>tiện</a:t>
            </a:r>
            <a:r>
              <a:rPr lang="vi-VN" sz="2800" dirty="0">
                <a:solidFill>
                  <a:srgbClr val="FF0000"/>
                </a:solidFill>
              </a:rPr>
              <a:t> cho </a:t>
            </a:r>
            <a:r>
              <a:rPr lang="vi-VN" sz="2800" dirty="0" err="1">
                <a:solidFill>
                  <a:srgbClr val="FF0000"/>
                </a:solidFill>
              </a:rPr>
              <a:t>trực</a:t>
            </a:r>
            <a:r>
              <a:rPr lang="vi-VN" sz="2800" dirty="0">
                <a:solidFill>
                  <a:srgbClr val="FF0000"/>
                </a:solidFill>
              </a:rPr>
              <a:t> quan </a:t>
            </a:r>
            <a:r>
              <a:rPr lang="vi-VN" sz="2800" dirty="0" err="1">
                <a:solidFill>
                  <a:srgbClr val="FF0000"/>
                </a:solidFill>
              </a:rPr>
              <a:t>hóa</a:t>
            </a:r>
            <a:r>
              <a:rPr lang="vi-VN" sz="2800" dirty="0">
                <a:solidFill>
                  <a:srgbClr val="FF0000"/>
                </a:solidFill>
              </a:rPr>
              <a:t> </a:t>
            </a:r>
            <a:r>
              <a:rPr lang="vi-VN" sz="2800" dirty="0" err="1">
                <a:solidFill>
                  <a:srgbClr val="FF0000"/>
                </a:solidFill>
              </a:rPr>
              <a:t>kết</a:t>
            </a:r>
            <a:r>
              <a:rPr lang="vi-VN" sz="2800" dirty="0">
                <a:solidFill>
                  <a:srgbClr val="FF0000"/>
                </a:solidFill>
              </a:rPr>
              <a:t> </a:t>
            </a:r>
            <a:r>
              <a:rPr lang="vi-VN" sz="2800" dirty="0" err="1">
                <a:solidFill>
                  <a:srgbClr val="FF0000"/>
                </a:solidFill>
              </a:rPr>
              <a:t>quả</a:t>
            </a:r>
            <a:r>
              <a:rPr lang="vi-VN" sz="2800" dirty="0">
                <a:solidFill>
                  <a:srgbClr val="FF0000"/>
                </a:solidFill>
              </a:rPr>
              <a:t> sau khi </a:t>
            </a:r>
            <a:r>
              <a:rPr lang="vi-VN" sz="2800" dirty="0" err="1">
                <a:solidFill>
                  <a:srgbClr val="FF0000"/>
                </a:solidFill>
              </a:rPr>
              <a:t>huấn</a:t>
            </a:r>
            <a:r>
              <a:rPr lang="vi-VN" sz="2800" dirty="0">
                <a:solidFill>
                  <a:srgbClr val="FF0000"/>
                </a:solidFill>
              </a:rPr>
              <a:t> </a:t>
            </a:r>
            <a:r>
              <a:rPr lang="vi-VN" sz="2800" dirty="0" err="1">
                <a:solidFill>
                  <a:srgbClr val="FF0000"/>
                </a:solidFill>
              </a:rPr>
              <a:t>luyện</a:t>
            </a:r>
            <a:endParaRPr lang="vi-VN" sz="2800" dirty="0">
              <a:solidFill>
                <a:srgbClr val="FF0000"/>
              </a:solidFill>
            </a:endParaRPr>
          </a:p>
          <a:p>
            <a:pPr lvl="1" algn="just">
              <a:spcBef>
                <a:spcPts val="400"/>
              </a:spcBef>
            </a:pPr>
            <a:r>
              <a:rPr lang="vi-VN" sz="2800">
                <a:solidFill>
                  <a:srgbClr val="0066FF"/>
                </a:solidFill>
              </a:rPr>
              <a:t>Tăng </a:t>
            </a:r>
            <a:r>
              <a:rPr lang="vi-VN" sz="2800" dirty="0" err="1">
                <a:solidFill>
                  <a:srgbClr val="0066FF"/>
                </a:solidFill>
              </a:rPr>
              <a:t>hiệu</a:t>
            </a:r>
            <a:r>
              <a:rPr lang="vi-VN" sz="2800" dirty="0">
                <a:solidFill>
                  <a:srgbClr val="0066FF"/>
                </a:solidFill>
              </a:rPr>
              <a:t> </a:t>
            </a:r>
            <a:r>
              <a:rPr lang="vi-VN" sz="2800" dirty="0" err="1">
                <a:solidFill>
                  <a:srgbClr val="0066FF"/>
                </a:solidFill>
              </a:rPr>
              <a:t>quả</a:t>
            </a:r>
            <a:r>
              <a:rPr lang="vi-VN" sz="2800" dirty="0">
                <a:solidFill>
                  <a:srgbClr val="0066FF"/>
                </a:solidFill>
              </a:rPr>
              <a:t> khi </a:t>
            </a:r>
            <a:r>
              <a:rPr lang="vi-VN" sz="2800" dirty="0" err="1">
                <a:solidFill>
                  <a:srgbClr val="0066FF"/>
                </a:solidFill>
              </a:rPr>
              <a:t>huấn</a:t>
            </a:r>
            <a:r>
              <a:rPr lang="vi-VN" sz="2800" dirty="0">
                <a:solidFill>
                  <a:srgbClr val="0066FF"/>
                </a:solidFill>
              </a:rPr>
              <a:t> </a:t>
            </a:r>
            <a:r>
              <a:rPr lang="vi-VN" sz="2800" dirty="0" err="1">
                <a:solidFill>
                  <a:srgbClr val="0066FF"/>
                </a:solidFill>
              </a:rPr>
              <a:t>luyện</a:t>
            </a:r>
            <a:r>
              <a:rPr lang="vi-VN" sz="2800" dirty="0">
                <a:solidFill>
                  <a:srgbClr val="0066FF"/>
                </a:solidFill>
              </a:rPr>
              <a:t> trên mô </a:t>
            </a:r>
            <a:r>
              <a:rPr lang="vi-VN" sz="2800" dirty="0" err="1">
                <a:solidFill>
                  <a:srgbClr val="0066FF"/>
                </a:solidFill>
              </a:rPr>
              <a:t>hình</a:t>
            </a:r>
            <a:r>
              <a:rPr lang="vi-VN" sz="2800" dirty="0">
                <a:solidFill>
                  <a:srgbClr val="0066FF"/>
                </a:solidFill>
              </a:rPr>
              <a:t> SVM</a:t>
            </a:r>
          </a:p>
          <a:p>
            <a:pPr marL="57150" indent="0" algn="just">
              <a:spcBef>
                <a:spcPts val="400"/>
              </a:spcBef>
              <a:buNone/>
            </a:pPr>
            <a:r>
              <a:rPr lang="vi-VN" sz="2800" dirty="0">
                <a:solidFill>
                  <a:srgbClr val="FF0000"/>
                </a:solidFill>
              </a:rPr>
              <a:t>Ta </a:t>
            </a:r>
            <a:r>
              <a:rPr lang="vi-VN" sz="2800" dirty="0" err="1">
                <a:solidFill>
                  <a:srgbClr val="FF0000"/>
                </a:solidFill>
              </a:rPr>
              <a:t>chuẩn</a:t>
            </a:r>
            <a:r>
              <a:rPr lang="vi-VN" sz="2800" dirty="0">
                <a:solidFill>
                  <a:srgbClr val="FF0000"/>
                </a:solidFill>
              </a:rPr>
              <a:t> </a:t>
            </a:r>
            <a:r>
              <a:rPr lang="vi-VN" sz="2800" dirty="0" err="1">
                <a:solidFill>
                  <a:srgbClr val="FF0000"/>
                </a:solidFill>
              </a:rPr>
              <a:t>hóa</a:t>
            </a:r>
            <a:r>
              <a:rPr lang="vi-VN" sz="2800" dirty="0">
                <a:solidFill>
                  <a:srgbClr val="FF0000"/>
                </a:solidFill>
              </a:rPr>
              <a:t> </a:t>
            </a:r>
            <a:r>
              <a:rPr lang="vi-VN" sz="2800" dirty="0" err="1">
                <a:solidFill>
                  <a:srgbClr val="FF0000"/>
                </a:solidFill>
              </a:rPr>
              <a:t>dữ</a:t>
            </a:r>
            <a:r>
              <a:rPr lang="vi-VN" sz="2800" dirty="0">
                <a:solidFill>
                  <a:srgbClr val="FF0000"/>
                </a:solidFill>
              </a:rPr>
              <a:t> </a:t>
            </a:r>
            <a:r>
              <a:rPr lang="vi-VN" sz="2800" dirty="0" err="1">
                <a:solidFill>
                  <a:srgbClr val="FF0000"/>
                </a:solidFill>
              </a:rPr>
              <a:t>liệu</a:t>
            </a:r>
            <a:r>
              <a:rPr lang="vi-VN" sz="2800" dirty="0">
                <a:solidFill>
                  <a:srgbClr val="FF0000"/>
                </a:solidFill>
              </a:rPr>
              <a:t> </a:t>
            </a:r>
            <a:r>
              <a:rPr lang="vi-VN" sz="2800" dirty="0" err="1">
                <a:solidFill>
                  <a:srgbClr val="FF0000"/>
                </a:solidFill>
              </a:rPr>
              <a:t>về</a:t>
            </a:r>
            <a:r>
              <a:rPr lang="vi-VN" sz="2800" dirty="0">
                <a:solidFill>
                  <a:srgbClr val="FF0000"/>
                </a:solidFill>
              </a:rPr>
              <a:t> </a:t>
            </a:r>
            <a:r>
              <a:rPr lang="vi-VN" sz="2800" dirty="0" err="1">
                <a:solidFill>
                  <a:srgbClr val="FF0000"/>
                </a:solidFill>
              </a:rPr>
              <a:t>dạng</a:t>
            </a:r>
            <a:r>
              <a:rPr lang="vi-VN" sz="2800" dirty="0">
                <a:solidFill>
                  <a:srgbClr val="FF0000"/>
                </a:solidFill>
              </a:rPr>
              <a:t> </a:t>
            </a:r>
            <a:r>
              <a:rPr lang="vi-VN" sz="2800" dirty="0" err="1">
                <a:solidFill>
                  <a:srgbClr val="FF0000"/>
                </a:solidFill>
              </a:rPr>
              <a:t>có</a:t>
            </a:r>
            <a:r>
              <a:rPr lang="vi-VN" sz="2800" dirty="0">
                <a:solidFill>
                  <a:srgbClr val="FF0000"/>
                </a:solidFill>
              </a:rPr>
              <a:t> </a:t>
            </a:r>
            <a:r>
              <a:rPr lang="vi-VN" sz="2800" dirty="0" err="1">
                <a:solidFill>
                  <a:srgbClr val="FF0000"/>
                </a:solidFill>
              </a:rPr>
              <a:t>kỳ</a:t>
            </a:r>
            <a:r>
              <a:rPr lang="vi-VN" sz="2800" dirty="0">
                <a:solidFill>
                  <a:srgbClr val="FF0000"/>
                </a:solidFill>
              </a:rPr>
              <a:t> </a:t>
            </a:r>
            <a:r>
              <a:rPr lang="vi-VN" sz="2800" dirty="0" err="1">
                <a:solidFill>
                  <a:srgbClr val="FF0000"/>
                </a:solidFill>
              </a:rPr>
              <a:t>vọng</a:t>
            </a:r>
            <a:r>
              <a:rPr lang="vi-VN" sz="2800" dirty="0">
                <a:solidFill>
                  <a:srgbClr val="FF0000"/>
                </a:solidFill>
              </a:rPr>
              <a:t> </a:t>
            </a:r>
            <a:r>
              <a:rPr lang="vi-VN" sz="2800" dirty="0" err="1">
                <a:solidFill>
                  <a:srgbClr val="FF0000"/>
                </a:solidFill>
              </a:rPr>
              <a:t>bằng</a:t>
            </a:r>
            <a:r>
              <a:rPr lang="vi-VN" sz="2800" dirty="0">
                <a:solidFill>
                  <a:srgbClr val="FF0000"/>
                </a:solidFill>
              </a:rPr>
              <a:t> 0 </a:t>
            </a:r>
            <a:r>
              <a:rPr lang="vi-VN" sz="2800" dirty="0" err="1">
                <a:solidFill>
                  <a:srgbClr val="FF0000"/>
                </a:solidFill>
              </a:rPr>
              <a:t>và</a:t>
            </a:r>
            <a:r>
              <a:rPr lang="vi-VN" sz="2800" dirty="0">
                <a:solidFill>
                  <a:srgbClr val="FF0000"/>
                </a:solidFill>
              </a:rPr>
              <a:t> phương sai </a:t>
            </a:r>
            <a:r>
              <a:rPr lang="vi-VN" sz="2800" dirty="0" err="1">
                <a:solidFill>
                  <a:srgbClr val="FF0000"/>
                </a:solidFill>
              </a:rPr>
              <a:t>bằng</a:t>
            </a:r>
            <a:r>
              <a:rPr lang="vi-VN" sz="2800" dirty="0">
                <a:solidFill>
                  <a:srgbClr val="FF0000"/>
                </a:solidFill>
              </a:rPr>
              <a:t> 1.</a:t>
            </a:r>
          </a:p>
          <a:p>
            <a:pPr marL="514350" indent="-457200" algn="just">
              <a:spcBef>
                <a:spcPts val="400"/>
              </a:spcBef>
            </a:pPr>
            <a:r>
              <a:rPr lang="vi-VN" sz="2800" dirty="0" err="1">
                <a:solidFill>
                  <a:srgbClr val="0066FF"/>
                </a:solidFill>
              </a:rPr>
              <a:t>Lớp</a:t>
            </a:r>
            <a:r>
              <a:rPr lang="vi-VN" sz="2800" dirty="0">
                <a:solidFill>
                  <a:srgbClr val="FF0000"/>
                </a:solidFill>
              </a:rPr>
              <a:t> </a:t>
            </a:r>
            <a:r>
              <a:rPr lang="vi-VN" sz="2800" dirty="0" err="1">
                <a:highlight>
                  <a:srgbClr val="FFFF00"/>
                </a:highlight>
                <a:latin typeface="Consolas" panose="020B0609020204030204" pitchFamily="49" charset="0"/>
              </a:rPr>
              <a:t>StandardScaler</a:t>
            </a:r>
            <a:r>
              <a:rPr lang="vi-VN" sz="2800" dirty="0">
                <a:solidFill>
                  <a:srgbClr val="FF0000"/>
                </a:solidFill>
              </a:rPr>
              <a:t> </a:t>
            </a:r>
            <a:r>
              <a:rPr lang="vi-VN" sz="2800" dirty="0">
                <a:solidFill>
                  <a:srgbClr val="0066FF"/>
                </a:solidFill>
              </a:rPr>
              <a:t>trong </a:t>
            </a:r>
            <a:r>
              <a:rPr lang="vi-VN" sz="2800" dirty="0" err="1">
                <a:solidFill>
                  <a:srgbClr val="0066FF"/>
                </a:solidFill>
              </a:rPr>
              <a:t>module</a:t>
            </a:r>
            <a:r>
              <a:rPr lang="vi-VN" sz="2800" dirty="0">
                <a:solidFill>
                  <a:srgbClr val="0066FF"/>
                </a:solidFill>
              </a:rPr>
              <a:t> </a:t>
            </a:r>
            <a:r>
              <a:rPr lang="vi-VN" sz="2800" dirty="0" err="1">
                <a:highlight>
                  <a:srgbClr val="FFFF00"/>
                </a:highlight>
                <a:latin typeface="Consolas" panose="020B0609020204030204" pitchFamily="49" charset="0"/>
              </a:rPr>
              <a:t>sklearn.preprocessing</a:t>
            </a:r>
            <a:r>
              <a:rPr lang="vi-VN" sz="2800" dirty="0">
                <a:solidFill>
                  <a:srgbClr val="FF0000"/>
                </a:solidFill>
              </a:rPr>
              <a:t> </a:t>
            </a:r>
            <a:r>
              <a:rPr lang="vi-VN" sz="2800" dirty="0" err="1">
                <a:solidFill>
                  <a:srgbClr val="0066FF"/>
                </a:solidFill>
              </a:rPr>
              <a:t>đã</a:t>
            </a:r>
            <a:r>
              <a:rPr lang="vi-VN" sz="2800" dirty="0">
                <a:solidFill>
                  <a:srgbClr val="0066FF"/>
                </a:solidFill>
              </a:rPr>
              <a:t> </a:t>
            </a:r>
            <a:r>
              <a:rPr lang="vi-VN" sz="2800" dirty="0" err="1">
                <a:solidFill>
                  <a:srgbClr val="0066FF"/>
                </a:solidFill>
              </a:rPr>
              <a:t>được</a:t>
            </a:r>
            <a:r>
              <a:rPr lang="vi-VN" sz="2800" dirty="0">
                <a:solidFill>
                  <a:srgbClr val="0066FF"/>
                </a:solidFill>
              </a:rPr>
              <a:t> xây </a:t>
            </a:r>
            <a:r>
              <a:rPr lang="vi-VN" sz="2800" dirty="0" err="1">
                <a:solidFill>
                  <a:srgbClr val="0066FF"/>
                </a:solidFill>
              </a:rPr>
              <a:t>dựng</a:t>
            </a:r>
            <a:r>
              <a:rPr lang="vi-VN" sz="2800" dirty="0">
                <a:solidFill>
                  <a:srgbClr val="0066FF"/>
                </a:solidFill>
              </a:rPr>
              <a:t> </a:t>
            </a:r>
            <a:r>
              <a:rPr lang="vi-VN" sz="2800" dirty="0" err="1">
                <a:solidFill>
                  <a:srgbClr val="0066FF"/>
                </a:solidFill>
              </a:rPr>
              <a:t>sẵn</a:t>
            </a:r>
            <a:r>
              <a:rPr lang="vi-VN" sz="2800" dirty="0">
                <a:solidFill>
                  <a:srgbClr val="0066FF"/>
                </a:solidFill>
              </a:rPr>
              <a:t> </a:t>
            </a:r>
            <a:r>
              <a:rPr lang="vi-VN" sz="2800" dirty="0" err="1">
                <a:solidFill>
                  <a:srgbClr val="0066FF"/>
                </a:solidFill>
              </a:rPr>
              <a:t>để</a:t>
            </a:r>
            <a:r>
              <a:rPr lang="vi-VN" sz="2800" dirty="0">
                <a:solidFill>
                  <a:srgbClr val="0066FF"/>
                </a:solidFill>
              </a:rPr>
              <a:t> </a:t>
            </a:r>
            <a:r>
              <a:rPr lang="vi-VN" sz="2800" dirty="0" err="1">
                <a:solidFill>
                  <a:srgbClr val="0066FF"/>
                </a:solidFill>
              </a:rPr>
              <a:t>chuẩn</a:t>
            </a:r>
            <a:r>
              <a:rPr lang="vi-VN" sz="2800" dirty="0">
                <a:solidFill>
                  <a:srgbClr val="0066FF"/>
                </a:solidFill>
              </a:rPr>
              <a:t> </a:t>
            </a:r>
            <a:r>
              <a:rPr lang="vi-VN" sz="2800" dirty="0" err="1">
                <a:solidFill>
                  <a:srgbClr val="0066FF"/>
                </a:solidFill>
              </a:rPr>
              <a:t>hóa</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a:t>
            </a:r>
          </a:p>
          <a:p>
            <a:pPr marL="457200" indent="-457200" algn="just">
              <a:spcBef>
                <a:spcPts val="400"/>
              </a:spcBef>
              <a:buFont typeface="+mj-lt"/>
              <a:buAutoNum type="arabicPeriod" startAt="7"/>
            </a:pPr>
            <a:r>
              <a:rPr lang="en-US" dirty="0">
                <a:solidFill>
                  <a:srgbClr val="AF00DB"/>
                </a:solidFill>
                <a:latin typeface="Consolas" panose="020B0609020204030204" pitchFamily="49" charset="0"/>
              </a:rPr>
              <a:t>from</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sklearn.preprocessing</a:t>
            </a:r>
            <a:r>
              <a:rPr lang="en-US" dirty="0">
                <a:solidFill>
                  <a:srgbClr val="000000"/>
                </a:solidFill>
                <a:latin typeface="Consolas" panose="020B0609020204030204" pitchFamily="49" charset="0"/>
              </a:rPr>
              <a:t> </a:t>
            </a:r>
            <a:r>
              <a:rPr lang="en-US" dirty="0">
                <a:solidFill>
                  <a:srgbClr val="AF00DB"/>
                </a:solidFill>
                <a:latin typeface="Consolas" panose="020B0609020204030204" pitchFamily="49" charset="0"/>
              </a:rPr>
              <a:t>import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StandardScaler</a:t>
            </a:r>
            <a:endParaRPr lang="en-US" dirty="0">
              <a:solidFill>
                <a:srgbClr val="000000"/>
              </a:solidFill>
              <a:latin typeface="Consolas" panose="020B0609020204030204" pitchFamily="49" charset="0"/>
            </a:endParaRPr>
          </a:p>
          <a:p>
            <a:pPr marL="457200" indent="-457200" algn="just">
              <a:spcBef>
                <a:spcPts val="400"/>
              </a:spcBef>
              <a:buFont typeface="+mj-lt"/>
              <a:buAutoNum type="arabicPeriod" startAt="7"/>
            </a:pPr>
            <a:r>
              <a:rPr lang="vi-VN" dirty="0">
                <a:solidFill>
                  <a:srgbClr val="000000"/>
                </a:solidFill>
                <a:latin typeface="Consolas" panose="020B0609020204030204" pitchFamily="49" charset="0"/>
              </a:rPr>
              <a:t>SC = </a:t>
            </a:r>
            <a:r>
              <a:rPr lang="vi-VN" dirty="0" err="1">
                <a:solidFill>
                  <a:srgbClr val="000000"/>
                </a:solidFill>
                <a:latin typeface="Consolas" panose="020B0609020204030204" pitchFamily="49" charset="0"/>
              </a:rPr>
              <a:t>StandardScaler</a:t>
            </a:r>
            <a:r>
              <a:rPr lang="vi-VN" dirty="0">
                <a:solidFill>
                  <a:srgbClr val="000000"/>
                </a:solidFill>
                <a:latin typeface="Consolas" panose="020B0609020204030204" pitchFamily="49" charset="0"/>
              </a:rPr>
              <a:t>()</a:t>
            </a:r>
          </a:p>
          <a:p>
            <a:pPr marL="457200" indent="-457200" algn="just">
              <a:spcBef>
                <a:spcPts val="400"/>
              </a:spcBef>
              <a:buFont typeface="+mj-lt"/>
              <a:buAutoNum type="arabicPeriod" startAt="7"/>
            </a:pPr>
            <a:r>
              <a:rPr lang="fr-FR" dirty="0">
                <a:solidFill>
                  <a:srgbClr val="000000"/>
                </a:solidFill>
                <a:latin typeface="Consolas" panose="020B0609020204030204" pitchFamily="49" charset="0"/>
              </a:rPr>
              <a:t>X = </a:t>
            </a:r>
            <a:r>
              <a:rPr lang="fr-FR" dirty="0" err="1">
                <a:solidFill>
                  <a:srgbClr val="000000"/>
                </a:solidFill>
                <a:latin typeface="Consolas" panose="020B0609020204030204" pitchFamily="49" charset="0"/>
              </a:rPr>
              <a:t>SC.fit_transform</a:t>
            </a:r>
            <a:r>
              <a:rPr lang="fr-FR" dirty="0">
                <a:solidFill>
                  <a:srgbClr val="000000"/>
                </a:solidFill>
                <a:latin typeface="Consolas" panose="020B0609020204030204" pitchFamily="49" charset="0"/>
              </a:rPr>
              <a:t>(X)</a:t>
            </a:r>
          </a:p>
        </p:txBody>
      </p:sp>
    </p:spTree>
    <p:extLst>
      <p:ext uri="{BB962C8B-B14F-4D97-AF65-F5344CB8AC3E}">
        <p14:creationId xmlns:p14="http://schemas.microsoft.com/office/powerpoint/2010/main" val="593623768"/>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4B3B2F-8C78-45AD-9334-804B534314E5}"/>
              </a:ext>
            </a:extLst>
          </p:cNvPr>
          <p:cNvSpPr>
            <a:spLocks noGrp="1"/>
          </p:cNvSpPr>
          <p:nvPr>
            <p:ph type="title"/>
          </p:nvPr>
        </p:nvSpPr>
        <p:spPr/>
        <p:txBody>
          <a:bodyPr/>
          <a:lstStyle/>
          <a:p>
            <a:r>
              <a:rPr lang="en-US" dirty="0" err="1"/>
              <a:t>Tiền</a:t>
            </a:r>
            <a:r>
              <a:rPr lang="en-US" dirty="0"/>
              <a:t> </a:t>
            </a:r>
            <a:r>
              <a:rPr lang="en-US" dirty="0" err="1"/>
              <a:t>xử</a:t>
            </a:r>
            <a:r>
              <a:rPr lang="en-US" dirty="0"/>
              <a:t> </a:t>
            </a:r>
            <a:r>
              <a:rPr lang="en-US" dirty="0" err="1"/>
              <a:t>lý</a:t>
            </a:r>
            <a:r>
              <a:rPr lang="en-US" dirty="0"/>
              <a:t> </a:t>
            </a:r>
            <a:r>
              <a:rPr lang="en-US" dirty="0" err="1"/>
              <a:t>dữ</a:t>
            </a:r>
            <a:r>
              <a:rPr lang="en-US" dirty="0"/>
              <a:t> </a:t>
            </a:r>
            <a:r>
              <a:rPr lang="en-US" dirty="0" err="1"/>
              <a:t>liệu</a:t>
            </a:r>
            <a:endParaRPr lang="vi-VN" dirty="0"/>
          </a:p>
        </p:txBody>
      </p:sp>
      <p:sp>
        <p:nvSpPr>
          <p:cNvPr id="2" name="Content Placeholder 1">
            <a:extLst>
              <a:ext uri="{FF2B5EF4-FFF2-40B4-BE49-F238E27FC236}">
                <a16:creationId xmlns:a16="http://schemas.microsoft.com/office/drawing/2014/main" id="{27A14EBF-6606-4138-BF0B-F8C2D0B7EF91}"/>
              </a:ext>
            </a:extLst>
          </p:cNvPr>
          <p:cNvSpPr>
            <a:spLocks noGrp="1"/>
          </p:cNvSpPr>
          <p:nvPr>
            <p:ph idx="1"/>
          </p:nvPr>
        </p:nvSpPr>
        <p:spPr/>
        <p:txBody>
          <a:bodyPr/>
          <a:lstStyle/>
          <a:p>
            <a:pPr algn="just"/>
            <a:r>
              <a:rPr lang="en-US" sz="2800" dirty="0">
                <a:solidFill>
                  <a:srgbClr val="0066FF"/>
                </a:solidFill>
              </a:rPr>
              <a:t>Chia </a:t>
            </a:r>
            <a:r>
              <a:rPr lang="en-US" sz="2800" dirty="0" err="1">
                <a:solidFill>
                  <a:srgbClr val="0066FF"/>
                </a:solidFill>
              </a:rPr>
              <a:t>dữ</a:t>
            </a:r>
            <a:r>
              <a:rPr lang="en-US" sz="2800" dirty="0">
                <a:solidFill>
                  <a:srgbClr val="0066FF"/>
                </a:solidFill>
              </a:rPr>
              <a:t> </a:t>
            </a:r>
            <a:r>
              <a:rPr lang="en-US" sz="2800" dirty="0" err="1">
                <a:solidFill>
                  <a:srgbClr val="0066FF"/>
                </a:solidFill>
              </a:rPr>
              <a:t>liệu</a:t>
            </a:r>
            <a:r>
              <a:rPr lang="en-US" sz="2800" dirty="0">
                <a:solidFill>
                  <a:srgbClr val="0066FF"/>
                </a:solidFill>
              </a:rPr>
              <a:t> </a:t>
            </a:r>
            <a:r>
              <a:rPr lang="en-US" sz="2800" dirty="0" err="1">
                <a:solidFill>
                  <a:srgbClr val="0066FF"/>
                </a:solidFill>
              </a:rPr>
              <a:t>thành</a:t>
            </a:r>
            <a:r>
              <a:rPr lang="en-US" sz="2800" dirty="0">
                <a:solidFill>
                  <a:srgbClr val="0066FF"/>
                </a:solidFill>
              </a:rPr>
              <a:t> </a:t>
            </a:r>
            <a:r>
              <a:rPr lang="en-US" sz="2800" dirty="0" err="1">
                <a:solidFill>
                  <a:srgbClr val="0066FF"/>
                </a:solidFill>
              </a:rPr>
              <a:t>hai</a:t>
            </a:r>
            <a:r>
              <a:rPr lang="en-US" sz="2800" dirty="0">
                <a:solidFill>
                  <a:srgbClr val="0066FF"/>
                </a:solidFill>
              </a:rPr>
              <a:t> </a:t>
            </a:r>
            <a:r>
              <a:rPr lang="en-US" sz="2800" dirty="0" err="1">
                <a:solidFill>
                  <a:srgbClr val="0066FF"/>
                </a:solidFill>
              </a:rPr>
              <a:t>tập</a:t>
            </a:r>
            <a:r>
              <a:rPr lang="en-US" sz="2800" dirty="0">
                <a:solidFill>
                  <a:srgbClr val="0066FF"/>
                </a:solidFill>
              </a:rPr>
              <a:t> training set </a:t>
            </a:r>
            <a:r>
              <a:rPr lang="en-US" sz="2800" dirty="0" err="1">
                <a:solidFill>
                  <a:srgbClr val="0066FF"/>
                </a:solidFill>
              </a:rPr>
              <a:t>và</a:t>
            </a:r>
            <a:r>
              <a:rPr lang="en-US" sz="2800" dirty="0">
                <a:solidFill>
                  <a:srgbClr val="0066FF"/>
                </a:solidFill>
              </a:rPr>
              <a:t> test set.</a:t>
            </a:r>
          </a:p>
          <a:p>
            <a:pPr algn="just"/>
            <a:r>
              <a:rPr lang="en-US" sz="2800" dirty="0">
                <a:solidFill>
                  <a:srgbClr val="FF0000"/>
                </a:solidFill>
              </a:rPr>
              <a:t>Ta </a:t>
            </a:r>
            <a:r>
              <a:rPr lang="en-US" sz="2800" dirty="0" err="1">
                <a:solidFill>
                  <a:srgbClr val="FF0000"/>
                </a:solidFill>
              </a:rPr>
              <a:t>dùng</a:t>
            </a:r>
            <a:r>
              <a:rPr lang="en-US" sz="2800" dirty="0">
                <a:solidFill>
                  <a:srgbClr val="FF0000"/>
                </a:solidFill>
              </a:rPr>
              <a:t> </a:t>
            </a:r>
            <a:r>
              <a:rPr lang="en-US" sz="2800" dirty="0" err="1">
                <a:solidFill>
                  <a:srgbClr val="FF0000"/>
                </a:solidFill>
              </a:rPr>
              <a:t>hàm</a:t>
            </a:r>
            <a:r>
              <a:rPr lang="en-US" sz="2800" dirty="0">
                <a:solidFill>
                  <a:srgbClr val="FF0000"/>
                </a:solidFill>
              </a:rPr>
              <a:t> </a:t>
            </a:r>
            <a:r>
              <a:rPr lang="en-US" sz="2800" dirty="0" err="1">
                <a:solidFill>
                  <a:schemeClr val="tx1"/>
                </a:solidFill>
                <a:highlight>
                  <a:srgbClr val="FFFF00"/>
                </a:highlight>
                <a:latin typeface="Consolas" panose="020B0609020204030204" pitchFamily="49" charset="0"/>
              </a:rPr>
              <a:t>train_test_split</a:t>
            </a:r>
            <a:r>
              <a:rPr lang="en-US" sz="2800" dirty="0">
                <a:solidFill>
                  <a:srgbClr val="FF0000"/>
                </a:solidFill>
              </a:rPr>
              <a:t> đ</a:t>
            </a:r>
            <a:r>
              <a:rPr lang="vi-VN" sz="2800" dirty="0" err="1">
                <a:solidFill>
                  <a:srgbClr val="FF0000"/>
                </a:solidFill>
              </a:rPr>
              <a:t>ược</a:t>
            </a:r>
            <a:r>
              <a:rPr lang="vi-VN" sz="2800" dirty="0">
                <a:solidFill>
                  <a:srgbClr val="FF0000"/>
                </a:solidFill>
              </a:rPr>
              <a:t> cung </a:t>
            </a:r>
            <a:r>
              <a:rPr lang="vi-VN" sz="2800" dirty="0" err="1">
                <a:solidFill>
                  <a:srgbClr val="FF0000"/>
                </a:solidFill>
              </a:rPr>
              <a:t>cấp</a:t>
            </a:r>
            <a:r>
              <a:rPr lang="vi-VN" sz="2800" dirty="0">
                <a:solidFill>
                  <a:srgbClr val="FF0000"/>
                </a:solidFill>
              </a:rPr>
              <a:t> trong </a:t>
            </a:r>
            <a:r>
              <a:rPr lang="vi-VN" sz="2800" dirty="0" err="1">
                <a:solidFill>
                  <a:srgbClr val="FF0000"/>
                </a:solidFill>
              </a:rPr>
              <a:t>module</a:t>
            </a:r>
            <a:r>
              <a:rPr lang="vi-VN" sz="2800" dirty="0">
                <a:solidFill>
                  <a:srgbClr val="FF0000"/>
                </a:solidFill>
              </a:rPr>
              <a:t> </a:t>
            </a:r>
            <a:r>
              <a:rPr lang="vi-VN" sz="2800" dirty="0" err="1">
                <a:solidFill>
                  <a:schemeClr val="tx1"/>
                </a:solidFill>
                <a:highlight>
                  <a:srgbClr val="FFFF00"/>
                </a:highlight>
                <a:latin typeface="Consolas" panose="020B0609020204030204" pitchFamily="49" charset="0"/>
              </a:rPr>
              <a:t>sklearn.model_selection</a:t>
            </a:r>
            <a:r>
              <a:rPr lang="vi-VN" sz="2800" dirty="0">
                <a:solidFill>
                  <a:srgbClr val="FF0000"/>
                </a:solidFill>
              </a:rPr>
              <a:t>.</a:t>
            </a:r>
            <a:endParaRPr lang="en-US" dirty="0">
              <a:solidFill>
                <a:srgbClr val="FF0000"/>
              </a:solidFill>
              <a:latin typeface="Consolas" panose="020B0609020204030204" pitchFamily="49" charset="0"/>
            </a:endParaRPr>
          </a:p>
          <a:p>
            <a:pPr marL="457200" indent="-457200" algn="just">
              <a:buFont typeface="+mj-lt"/>
              <a:buAutoNum type="arabicPeriod"/>
            </a:pPr>
            <a:endParaRPr lang="en-US" dirty="0">
              <a:solidFill>
                <a:srgbClr val="AF00DB"/>
              </a:solidFill>
              <a:latin typeface="Consolas" panose="020B0609020204030204" pitchFamily="49" charset="0"/>
            </a:endParaRPr>
          </a:p>
          <a:p>
            <a:pPr marL="457200" indent="-457200" algn="just">
              <a:buFont typeface="+mj-lt"/>
              <a:buAutoNum type="arabicPeriod" startAt="10"/>
            </a:pPr>
            <a:r>
              <a:rPr lang="en-US" dirty="0">
                <a:solidFill>
                  <a:srgbClr val="AF00DB"/>
                </a:solidFill>
                <a:latin typeface="Consolas" panose="020B0609020204030204" pitchFamily="49" charset="0"/>
              </a:rPr>
              <a:t>from</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sklearn.model_selection</a:t>
            </a:r>
            <a:r>
              <a:rPr lang="en-US" dirty="0">
                <a:solidFill>
                  <a:srgbClr val="000000"/>
                </a:solidFill>
                <a:latin typeface="Consolas" panose="020B0609020204030204" pitchFamily="49" charset="0"/>
              </a:rPr>
              <a:t> </a:t>
            </a:r>
            <a:r>
              <a:rPr lang="en-US" dirty="0">
                <a:solidFill>
                  <a:srgbClr val="AF00DB"/>
                </a:solidFill>
                <a:latin typeface="Consolas" panose="020B0609020204030204" pitchFamily="49" charset="0"/>
              </a:rPr>
              <a:t>import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train_test_split</a:t>
            </a:r>
            <a:endParaRPr lang="en-US" dirty="0">
              <a:solidFill>
                <a:srgbClr val="000000"/>
              </a:solidFill>
              <a:latin typeface="Consolas" panose="020B0609020204030204" pitchFamily="49" charset="0"/>
            </a:endParaRPr>
          </a:p>
          <a:p>
            <a:pPr marL="457200" indent="-457200" algn="just">
              <a:buFont typeface="+mj-lt"/>
              <a:buAutoNum type="arabicPeriod" startAt="10"/>
            </a:pPr>
            <a:r>
              <a:rPr>
                <a:solidFill>
                  <a:srgbClr val="000000"/>
                </a:solidFill>
                <a:latin typeface="Consolas"/>
              </a:rPr>
              <a:t>X_train</a:t>
            </a:r>
            <a:r>
              <a:rPr>
                <a:solidFill>
                  <a:srgbClr val="000000"/>
                </a:solidFill>
                <a:latin typeface="Consolas"/>
              </a:rPr>
              <a:t>, </a:t>
            </a:r>
            <a:r>
              <a:rPr>
                <a:solidFill>
                  <a:srgbClr val="000000"/>
                </a:solidFill>
                <a:latin typeface="Consolas"/>
              </a:rPr>
              <a:t>X_test</a:t>
            </a:r>
            <a:r>
              <a:rPr>
                <a:solidFill>
                  <a:srgbClr val="000000"/>
                </a:solidFill>
                <a:latin typeface="Consolas"/>
              </a:rPr>
              <a:t>, </a:t>
            </a:r>
            <a:r>
              <a:rPr>
                <a:solidFill>
                  <a:srgbClr val="000000"/>
                </a:solidFill>
                <a:latin typeface="Consolas"/>
              </a:rPr>
              <a:t>y_train</a:t>
            </a:r>
            <a:r>
              <a:rPr>
                <a:solidFill>
                  <a:srgbClr val="000000"/>
                </a:solidFill>
                <a:latin typeface="Consolas"/>
              </a:rPr>
              <a:t>, </a:t>
            </a:r>
            <a:r>
              <a:rPr>
                <a:solidFill>
                  <a:srgbClr val="000000"/>
                </a:solidFill>
                <a:latin typeface="Consolas"/>
              </a:rPr>
              <a:t>y_test</a:t>
            </a:r>
            <a:r>
              <a:rPr>
                <a:solidFill>
                  <a:srgbClr val="000000"/>
                </a:solidFill>
                <a:latin typeface="Consolas"/>
              </a:rPr>
              <a:t> = </a:t>
            </a:r>
            <a:r>
              <a:rPr>
                <a:solidFill>
                  <a:srgbClr val="000000"/>
                </a:solidFill>
                <a:latin typeface="Consolas"/>
              </a:rPr>
              <a:t>train_test_split</a:t>
            </a:r>
            <a:r>
              <a:rPr>
                <a:solidFill>
                  <a:srgbClr val="000000"/>
                </a:solidFill>
                <a:latin typeface="Consolas"/>
              </a:rPr>
              <a:t>(X, y, </a:t>
            </a:r>
            <a:r>
              <a:rPr>
                <a:solidFill>
                  <a:srgbClr val="001080"/>
                </a:solidFill>
                <a:latin typeface="Consolas"/>
              </a:rPr>
              <a:t>train_size</a:t>
            </a:r>
            <a:r>
              <a:rPr>
                <a:solidFill>
                  <a:srgbClr val="000000"/>
                </a:solidFill>
                <a:latin typeface="Consolas"/>
              </a:rPr>
              <a:t> = </a:t>
            </a:r>
            <a:r>
              <a:rPr>
                <a:solidFill>
                  <a:srgbClr val="09885A"/>
                </a:solidFill>
                <a:latin typeface="Consolas"/>
              </a:rPr>
              <a:t>0.8</a:t>
            </a:r>
            <a:r>
              <a:rPr>
                <a:solidFill>
                  <a:srgbClr val="000000"/>
                </a:solidFill>
                <a:latin typeface="Consolas"/>
              </a:rPr>
              <a:t>, </a:t>
            </a:r>
            <a:r>
              <a:rPr>
                <a:solidFill>
                  <a:srgbClr val="001080"/>
                </a:solidFill>
                <a:latin typeface="Consolas"/>
              </a:rPr>
              <a:t>random_state</a:t>
            </a:r>
            <a:r>
              <a:rPr>
                <a:solidFill>
                  <a:srgbClr val="000000"/>
                </a:solidFill>
                <a:latin typeface="Consolas"/>
              </a:rPr>
              <a:t> = </a:t>
            </a:r>
            <a:r>
              <a:rPr>
                <a:solidFill>
                  <a:srgbClr val="09885A"/>
                </a:solidFill>
                <a:latin typeface="Consolas"/>
              </a:rPr>
              <a:t>0</a:t>
            </a:r>
            <a:r>
              <a:rPr>
                <a:solidFill>
                  <a:srgbClr val="000000"/>
                </a:solidFill>
                <a:latin typeface="Consolas"/>
              </a:rPr>
              <a:t>)</a:t>
            </a:r>
          </a:p>
        </p:txBody>
      </p:sp>
    </p:spTree>
    <p:extLst>
      <p:ext uri="{BB962C8B-B14F-4D97-AF65-F5344CB8AC3E}">
        <p14:creationId xmlns:p14="http://schemas.microsoft.com/office/powerpoint/2010/main" val="3772112026"/>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8EF05E-C092-4A0A-963A-B4B827D2FE3E}"/>
              </a:ext>
            </a:extLst>
          </p:cNvPr>
          <p:cNvSpPr>
            <a:spLocks noGrp="1"/>
          </p:cNvSpPr>
          <p:nvPr>
            <p:ph type="title"/>
          </p:nvPr>
        </p:nvSpPr>
        <p:spPr/>
        <p:txBody>
          <a:bodyPr/>
          <a:lstStyle/>
          <a:p>
            <a:r>
              <a:rPr lang="en-US" dirty="0" err="1"/>
              <a:t>Trực</a:t>
            </a:r>
            <a:r>
              <a:rPr lang="en-US" dirty="0"/>
              <a:t> </a:t>
            </a:r>
            <a:r>
              <a:rPr lang="en-US" dirty="0" err="1"/>
              <a:t>quan</a:t>
            </a:r>
            <a:r>
              <a:rPr lang="en-US" dirty="0"/>
              <a:t> </a:t>
            </a:r>
            <a:r>
              <a:rPr lang="en-US" dirty="0" err="1"/>
              <a:t>hóa</a:t>
            </a:r>
            <a:r>
              <a:rPr lang="en-US" dirty="0"/>
              <a:t> </a:t>
            </a:r>
            <a:r>
              <a:rPr lang="en-US" dirty="0" err="1"/>
              <a:t>dữ</a:t>
            </a:r>
            <a:r>
              <a:rPr lang="en-US" dirty="0"/>
              <a:t> </a:t>
            </a:r>
            <a:r>
              <a:rPr lang="en-US" dirty="0" err="1"/>
              <a:t>liệu</a:t>
            </a:r>
            <a:endParaRPr lang="vi-VN" dirty="0"/>
          </a:p>
        </p:txBody>
      </p:sp>
      <p:sp>
        <p:nvSpPr>
          <p:cNvPr id="5" name="Text Placeholder 4">
            <a:extLst>
              <a:ext uri="{FF2B5EF4-FFF2-40B4-BE49-F238E27FC236}">
                <a16:creationId xmlns:a16="http://schemas.microsoft.com/office/drawing/2014/main" id="{5A8DD0D7-166E-4EC1-B249-66AF94207919}"/>
              </a:ext>
            </a:extLst>
          </p:cNvPr>
          <p:cNvSpPr>
            <a:spLocks noGrp="1"/>
          </p:cNvSpPr>
          <p:nvPr>
            <p:ph type="body" idx="1"/>
          </p:nvPr>
        </p:nvSpPr>
        <p:spPr/>
        <p:txBody>
          <a:bodyPr/>
          <a:lstStyle/>
          <a:p>
            <a:endParaRPr lang="vi-VN"/>
          </a:p>
        </p:txBody>
      </p:sp>
    </p:spTree>
    <p:extLst>
      <p:ext uri="{BB962C8B-B14F-4D97-AF65-F5344CB8AC3E}">
        <p14:creationId xmlns:p14="http://schemas.microsoft.com/office/powerpoint/2010/main" val="344472650"/>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8EF05E-C092-4A0A-963A-B4B827D2FE3E}"/>
              </a:ext>
            </a:extLst>
          </p:cNvPr>
          <p:cNvSpPr>
            <a:spLocks noGrp="1"/>
          </p:cNvSpPr>
          <p:nvPr>
            <p:ph type="title"/>
          </p:nvPr>
        </p:nvSpPr>
        <p:spPr/>
        <p:txBody>
          <a:bodyPr/>
          <a:lstStyle/>
          <a:p>
            <a:r>
              <a:rPr lang="en-US" dirty="0" err="1"/>
              <a:t>Trực</a:t>
            </a:r>
            <a:r>
              <a:rPr lang="en-US" dirty="0"/>
              <a:t> </a:t>
            </a:r>
            <a:r>
              <a:rPr lang="en-US" dirty="0" err="1"/>
              <a:t>quan</a:t>
            </a:r>
            <a:r>
              <a:rPr lang="en-US" dirty="0"/>
              <a:t> </a:t>
            </a:r>
            <a:r>
              <a:rPr lang="en-US" dirty="0" err="1"/>
              <a:t>hóa</a:t>
            </a:r>
            <a:r>
              <a:rPr lang="en-US" dirty="0"/>
              <a:t> </a:t>
            </a:r>
            <a:r>
              <a:rPr lang="en-US" dirty="0" err="1"/>
              <a:t>dữ</a:t>
            </a:r>
            <a:r>
              <a:rPr lang="en-US" dirty="0"/>
              <a:t> </a:t>
            </a:r>
            <a:r>
              <a:rPr lang="en-US" dirty="0" err="1"/>
              <a:t>liệu</a:t>
            </a:r>
            <a:endParaRPr lang="vi-VN" dirty="0"/>
          </a:p>
        </p:txBody>
      </p:sp>
      <p:pic>
        <p:nvPicPr>
          <p:cNvPr id="5" name="Content Placeholder 4">
            <a:extLst>
              <a:ext uri="{FF2B5EF4-FFF2-40B4-BE49-F238E27FC236}">
                <a16:creationId xmlns:a16="http://schemas.microsoft.com/office/drawing/2014/main" id="{F3D79ADC-34B1-4E7E-BF88-45FE6E454EE9}"/>
              </a:ext>
            </a:extLst>
          </p:cNvPr>
          <p:cNvPicPr>
            <a:picLocks noGrp="1" noChangeAspect="1"/>
          </p:cNvPicPr>
          <p:nvPr>
            <p:ph idx="1"/>
          </p:nvPr>
        </p:nvPicPr>
        <p:blipFill>
          <a:blip r:embed="rId2"/>
          <a:stretch>
            <a:fillRect/>
          </a:stretch>
        </p:blipFill>
        <p:spPr>
          <a:xfrm>
            <a:off x="3157537" y="1762919"/>
            <a:ext cx="5876925" cy="4200525"/>
          </a:xfrm>
          <a:prstGeom prst="rect">
            <a:avLst/>
          </a:prstGeom>
        </p:spPr>
      </p:pic>
    </p:spTree>
    <p:extLst>
      <p:ext uri="{BB962C8B-B14F-4D97-AF65-F5344CB8AC3E}">
        <p14:creationId xmlns:p14="http://schemas.microsoft.com/office/powerpoint/2010/main" val="2855731740"/>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8EF05E-C092-4A0A-963A-B4B827D2FE3E}"/>
              </a:ext>
            </a:extLst>
          </p:cNvPr>
          <p:cNvSpPr>
            <a:spLocks noGrp="1"/>
          </p:cNvSpPr>
          <p:nvPr>
            <p:ph type="title"/>
          </p:nvPr>
        </p:nvSpPr>
        <p:spPr/>
        <p:txBody>
          <a:bodyPr/>
          <a:lstStyle/>
          <a:p>
            <a:r>
              <a:rPr lang="en-US" dirty="0" err="1"/>
              <a:t>Trực</a:t>
            </a:r>
            <a:r>
              <a:rPr lang="en-US" dirty="0"/>
              <a:t> </a:t>
            </a:r>
            <a:r>
              <a:rPr lang="en-US" dirty="0" err="1"/>
              <a:t>quan</a:t>
            </a:r>
            <a:r>
              <a:rPr lang="en-US" dirty="0"/>
              <a:t> </a:t>
            </a:r>
            <a:r>
              <a:rPr lang="en-US" dirty="0" err="1"/>
              <a:t>hóa</a:t>
            </a:r>
            <a:r>
              <a:rPr lang="en-US" dirty="0"/>
              <a:t> </a:t>
            </a:r>
            <a:r>
              <a:rPr lang="en-US" dirty="0" err="1"/>
              <a:t>dữ</a:t>
            </a:r>
            <a:r>
              <a:rPr lang="en-US" dirty="0"/>
              <a:t> </a:t>
            </a:r>
            <a:r>
              <a:rPr lang="en-US" dirty="0" err="1"/>
              <a:t>liệu</a:t>
            </a:r>
            <a:endParaRPr lang="vi-VN" dirty="0"/>
          </a:p>
        </p:txBody>
      </p:sp>
      <p:sp>
        <p:nvSpPr>
          <p:cNvPr id="2" name="Content Placeholder 1">
            <a:extLst>
              <a:ext uri="{FF2B5EF4-FFF2-40B4-BE49-F238E27FC236}">
                <a16:creationId xmlns:a16="http://schemas.microsoft.com/office/drawing/2014/main" id="{BE01BD90-68F2-4043-A681-4CE496AAF3D5}"/>
              </a:ext>
            </a:extLst>
          </p:cNvPr>
          <p:cNvSpPr>
            <a:spLocks noGrp="1"/>
          </p:cNvSpPr>
          <p:nvPr>
            <p:ph idx="1"/>
          </p:nvPr>
        </p:nvSpPr>
        <p:spPr/>
        <p:txBody>
          <a:bodyPr/>
          <a:lstStyle/>
          <a:p>
            <a:pPr algn="just"/>
            <a:r>
              <a:rPr lang="en-US" sz="2800" dirty="0" err="1">
                <a:solidFill>
                  <a:srgbClr val="0066FF"/>
                </a:solidFill>
              </a:rPr>
              <a:t>Xây</a:t>
            </a:r>
            <a:r>
              <a:rPr lang="en-US" sz="2800" dirty="0">
                <a:solidFill>
                  <a:srgbClr val="0066FF"/>
                </a:solidFill>
              </a:rPr>
              <a:t> </a:t>
            </a:r>
            <a:r>
              <a:rPr lang="en-US" sz="2800" dirty="0" err="1">
                <a:solidFill>
                  <a:srgbClr val="0066FF"/>
                </a:solidFill>
              </a:rPr>
              <a:t>dựng</a:t>
            </a:r>
            <a:r>
              <a:rPr lang="en-US" sz="2800" dirty="0">
                <a:solidFill>
                  <a:srgbClr val="0066FF"/>
                </a:solidFill>
              </a:rPr>
              <a:t> </a:t>
            </a:r>
            <a:r>
              <a:rPr lang="en-US" sz="2800" dirty="0" err="1">
                <a:solidFill>
                  <a:srgbClr val="0066FF"/>
                </a:solidFill>
              </a:rPr>
              <a:t>hàm</a:t>
            </a:r>
            <a:r>
              <a:rPr lang="en-US" sz="2800" dirty="0">
                <a:solidFill>
                  <a:srgbClr val="0066FF"/>
                </a:solidFill>
              </a:rPr>
              <a:t> </a:t>
            </a:r>
            <a:r>
              <a:rPr lang="en-US" sz="2800" dirty="0" err="1">
                <a:solidFill>
                  <a:srgbClr val="0066FF"/>
                </a:solidFill>
              </a:rPr>
              <a:t>trực</a:t>
            </a:r>
            <a:r>
              <a:rPr lang="en-US" sz="2800" dirty="0">
                <a:solidFill>
                  <a:srgbClr val="0066FF"/>
                </a:solidFill>
              </a:rPr>
              <a:t> </a:t>
            </a:r>
            <a:r>
              <a:rPr lang="en-US" sz="2800" dirty="0" err="1">
                <a:solidFill>
                  <a:srgbClr val="0066FF"/>
                </a:solidFill>
              </a:rPr>
              <a:t>quan</a:t>
            </a:r>
            <a:r>
              <a:rPr lang="en-US" sz="2800" dirty="0">
                <a:solidFill>
                  <a:srgbClr val="0066FF"/>
                </a:solidFill>
              </a:rPr>
              <a:t> </a:t>
            </a:r>
            <a:r>
              <a:rPr lang="en-US" sz="2800" dirty="0" err="1">
                <a:solidFill>
                  <a:srgbClr val="0066FF"/>
                </a:solidFill>
              </a:rPr>
              <a:t>hóa</a:t>
            </a:r>
            <a:r>
              <a:rPr lang="en-US" sz="2800" dirty="0">
                <a:solidFill>
                  <a:srgbClr val="0066FF"/>
                </a:solidFill>
              </a:rPr>
              <a:t> </a:t>
            </a:r>
            <a:r>
              <a:rPr lang="en-US" sz="2800" dirty="0" err="1">
                <a:solidFill>
                  <a:srgbClr val="0066FF"/>
                </a:solidFill>
              </a:rPr>
              <a:t>các</a:t>
            </a:r>
            <a:r>
              <a:rPr lang="en-US" sz="2800" dirty="0">
                <a:solidFill>
                  <a:srgbClr val="0066FF"/>
                </a:solidFill>
              </a:rPr>
              <a:t> </a:t>
            </a:r>
            <a:r>
              <a:rPr lang="en-US" sz="2800" dirty="0" err="1">
                <a:solidFill>
                  <a:srgbClr val="0066FF"/>
                </a:solidFill>
              </a:rPr>
              <a:t>điểm</a:t>
            </a:r>
            <a:r>
              <a:rPr lang="en-US" sz="2800" dirty="0">
                <a:solidFill>
                  <a:srgbClr val="0066FF"/>
                </a:solidFill>
              </a:rPr>
              <a:t> </a:t>
            </a:r>
            <a:r>
              <a:rPr lang="en-US" sz="2800" dirty="0" err="1">
                <a:solidFill>
                  <a:srgbClr val="0066FF"/>
                </a:solidFill>
              </a:rPr>
              <a:t>dữ</a:t>
            </a:r>
            <a:r>
              <a:rPr lang="en-US" sz="2800" dirty="0">
                <a:solidFill>
                  <a:srgbClr val="0066FF"/>
                </a:solidFill>
              </a:rPr>
              <a:t> </a:t>
            </a:r>
            <a:r>
              <a:rPr lang="en-US" sz="2800" dirty="0" err="1">
                <a:solidFill>
                  <a:srgbClr val="0066FF"/>
                </a:solidFill>
              </a:rPr>
              <a:t>liệu</a:t>
            </a:r>
            <a:r>
              <a:rPr lang="en-US" sz="2800" dirty="0">
                <a:solidFill>
                  <a:srgbClr val="0066FF"/>
                </a:solidFill>
              </a:rPr>
              <a:t>.</a:t>
            </a:r>
          </a:p>
          <a:p>
            <a:pPr marL="457200" indent="-457200" algn="just">
              <a:buFont typeface="+mj-lt"/>
              <a:buAutoNum type="arabicPeriod" startAt="11"/>
            </a:pPr>
            <a:endParaRPr lang="en-US">
              <a:solidFill>
                <a:srgbClr val="AF00DB"/>
              </a:solidFill>
              <a:latin typeface="Consolas" panose="020B0609020204030204" pitchFamily="49" charset="0"/>
            </a:endParaRPr>
          </a:p>
          <a:p>
            <a:pPr marL="457200" indent="-457200" algn="just">
              <a:buFont typeface="+mj-lt"/>
              <a:buAutoNum type="arabicPeriod" startAt="11"/>
            </a:pPr>
            <a:r>
              <a:rPr lang="vi-VN">
                <a:solidFill>
                  <a:srgbClr val="AF00DB"/>
                </a:solidFill>
                <a:latin typeface="Consolas" panose="020B0609020204030204" pitchFamily="49" charset="0"/>
              </a:rPr>
              <a:t>from</a:t>
            </a:r>
            <a:r>
              <a:rPr lang="vi-VN" dirty="0">
                <a:solidFill>
                  <a:srgbClr val="000000"/>
                </a:solidFill>
                <a:latin typeface="Consolas" panose="020B0609020204030204" pitchFamily="49" charset="0"/>
              </a:rPr>
              <a:t> </a:t>
            </a:r>
            <a:r>
              <a:rPr lang="vi-VN" dirty="0" err="1">
                <a:solidFill>
                  <a:srgbClr val="000000"/>
                </a:solidFill>
                <a:latin typeface="Consolas" panose="020B0609020204030204" pitchFamily="49" charset="0"/>
              </a:rPr>
              <a:t>matplotlib.colors</a:t>
            </a:r>
            <a:r>
              <a:rPr lang="vi-VN" dirty="0">
                <a:solidFill>
                  <a:srgbClr val="000000"/>
                </a:solidFill>
                <a:latin typeface="Consolas" panose="020B0609020204030204" pitchFamily="49" charset="0"/>
              </a:rPr>
              <a:t> </a:t>
            </a:r>
            <a:r>
              <a:rPr lang="vi-VN" dirty="0" err="1">
                <a:solidFill>
                  <a:srgbClr val="AF00DB"/>
                </a:solidFill>
                <a:latin typeface="Consolas" panose="020B0609020204030204" pitchFamily="49" charset="0"/>
              </a:rPr>
              <a:t>import</a:t>
            </a:r>
            <a:r>
              <a:rPr lang="vi-VN" dirty="0">
                <a:solidFill>
                  <a:srgbClr val="000000"/>
                </a:solidFill>
                <a:latin typeface="Consolas" panose="020B0609020204030204" pitchFamily="49" charset="0"/>
              </a:rPr>
              <a:t> </a:t>
            </a:r>
            <a:r>
              <a:rPr lang="vi-VN" dirty="0" err="1">
                <a:solidFill>
                  <a:srgbClr val="000000"/>
                </a:solidFill>
                <a:latin typeface="Consolas" panose="020B0609020204030204" pitchFamily="49" charset="0"/>
              </a:rPr>
              <a:t>ListedColormap</a:t>
            </a:r>
            <a:endParaRPr lang="vi-VN" dirty="0">
              <a:solidFill>
                <a:srgbClr val="000000"/>
              </a:solidFill>
              <a:latin typeface="Consolas" panose="020B0609020204030204" pitchFamily="49" charset="0"/>
            </a:endParaRPr>
          </a:p>
          <a:p>
            <a:pPr marL="457200" indent="-457200">
              <a:buFont typeface="+mj-lt"/>
              <a:buAutoNum type="arabicPeriod" startAt="11"/>
            </a:pPr>
            <a:r>
              <a:rPr lang="en-US" dirty="0">
                <a:solidFill>
                  <a:srgbClr val="AF00DB"/>
                </a:solidFill>
                <a:latin typeface="Consolas" panose="020B0609020204030204" pitchFamily="49" charset="0"/>
              </a:rPr>
              <a:t>import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matplotlib.pyplot</a:t>
            </a:r>
            <a:r>
              <a:rPr lang="en-US" dirty="0">
                <a:solidFill>
                  <a:srgbClr val="000000"/>
                </a:solidFill>
                <a:latin typeface="Consolas" panose="020B0609020204030204" pitchFamily="49" charset="0"/>
              </a:rPr>
              <a:t> </a:t>
            </a:r>
            <a:r>
              <a:rPr lang="en-US" dirty="0">
                <a:solidFill>
                  <a:srgbClr val="AF00DB"/>
                </a:solidFill>
                <a:latin typeface="Consolas" panose="020B0609020204030204" pitchFamily="49" charset="0"/>
              </a:rPr>
              <a:t>as</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plt</a:t>
            </a:r>
            <a:endParaRPr lang="vi-VN" dirty="0">
              <a:solidFill>
                <a:srgbClr val="000000"/>
              </a:solidFill>
              <a:latin typeface="Consolas" panose="020B0609020204030204" pitchFamily="49" charset="0"/>
            </a:endParaRPr>
          </a:p>
          <a:p>
            <a:pPr marL="457200" indent="-457200" algn="just">
              <a:buFont typeface="+mj-lt"/>
              <a:buAutoNum type="arabicPeriod" startAt="11"/>
            </a:pPr>
            <a:r>
              <a:rPr lang="vi-VN" dirty="0" err="1">
                <a:solidFill>
                  <a:srgbClr val="0000FF"/>
                </a:solidFill>
                <a:latin typeface="Consolas" panose="020B0609020204030204" pitchFamily="49" charset="0"/>
              </a:rPr>
              <a:t>def</a:t>
            </a:r>
            <a:r>
              <a:rPr lang="vi-VN" dirty="0">
                <a:solidFill>
                  <a:srgbClr val="000000"/>
                </a:solidFill>
                <a:latin typeface="Consolas" panose="020B0609020204030204" pitchFamily="49" charset="0"/>
              </a:rPr>
              <a:t> </a:t>
            </a:r>
            <a:r>
              <a:rPr lang="vi-VN" dirty="0" err="1">
                <a:solidFill>
                  <a:srgbClr val="795E26"/>
                </a:solidFill>
                <a:latin typeface="Consolas" panose="020B0609020204030204" pitchFamily="49" charset="0"/>
              </a:rPr>
              <a:t>VisualizingDataset</a:t>
            </a:r>
            <a:r>
              <a:rPr lang="vi-VN" dirty="0">
                <a:solidFill>
                  <a:srgbClr val="000000"/>
                </a:solidFill>
                <a:latin typeface="Consolas" panose="020B0609020204030204" pitchFamily="49" charset="0"/>
              </a:rPr>
              <a:t>(</a:t>
            </a:r>
            <a:r>
              <a:rPr lang="vi-VN" dirty="0">
                <a:solidFill>
                  <a:srgbClr val="001080"/>
                </a:solidFill>
                <a:latin typeface="Consolas" panose="020B0609020204030204" pitchFamily="49" charset="0"/>
              </a:rPr>
              <a:t>X_</a:t>
            </a:r>
            <a:r>
              <a:rPr lang="vi-VN" dirty="0">
                <a:solidFill>
                  <a:srgbClr val="000000"/>
                </a:solidFill>
                <a:latin typeface="Consolas" panose="020B0609020204030204" pitchFamily="49" charset="0"/>
              </a:rPr>
              <a:t>, </a:t>
            </a:r>
            <a:r>
              <a:rPr lang="vi-VN" dirty="0">
                <a:solidFill>
                  <a:srgbClr val="001080"/>
                </a:solidFill>
                <a:latin typeface="Consolas" panose="020B0609020204030204" pitchFamily="49" charset="0"/>
              </a:rPr>
              <a:t>y_</a:t>
            </a:r>
            <a:r>
              <a:rPr lang="vi-VN" dirty="0">
                <a:solidFill>
                  <a:srgbClr val="000000"/>
                </a:solidFill>
                <a:latin typeface="Consolas" panose="020B0609020204030204" pitchFamily="49" charset="0"/>
              </a:rPr>
              <a:t>):</a:t>
            </a:r>
          </a:p>
          <a:p>
            <a:pPr marL="457200" indent="-457200" algn="just">
              <a:buFont typeface="+mj-lt"/>
              <a:buAutoNum type="arabicPeriod" startAt="11"/>
            </a:pPr>
            <a:r>
              <a:rPr lang="vi-VN" dirty="0">
                <a:solidFill>
                  <a:srgbClr val="000000"/>
                </a:solidFill>
                <a:latin typeface="Consolas" panose="020B0609020204030204" pitchFamily="49" charset="0"/>
              </a:rPr>
              <a:t>    X1 = X_[:, </a:t>
            </a:r>
            <a:r>
              <a:rPr lang="vi-VN" dirty="0">
                <a:solidFill>
                  <a:srgbClr val="09885A"/>
                </a:solidFill>
                <a:latin typeface="Consolas" panose="020B0609020204030204" pitchFamily="49" charset="0"/>
              </a:rPr>
              <a:t>0</a:t>
            </a:r>
            <a:r>
              <a:rPr lang="vi-VN" dirty="0">
                <a:solidFill>
                  <a:srgbClr val="000000"/>
                </a:solidFill>
                <a:latin typeface="Consolas" panose="020B0609020204030204" pitchFamily="49" charset="0"/>
              </a:rPr>
              <a:t>]</a:t>
            </a:r>
          </a:p>
          <a:p>
            <a:pPr marL="457200" indent="-457200" algn="just">
              <a:buFont typeface="+mj-lt"/>
              <a:buAutoNum type="arabicPeriod" startAt="11"/>
            </a:pPr>
            <a:r>
              <a:rPr lang="vi-VN" dirty="0">
                <a:solidFill>
                  <a:srgbClr val="000000"/>
                </a:solidFill>
                <a:latin typeface="Consolas" panose="020B0609020204030204" pitchFamily="49" charset="0"/>
              </a:rPr>
              <a:t>    X2 = X_[:, </a:t>
            </a:r>
            <a:r>
              <a:rPr lang="vi-VN" dirty="0">
                <a:solidFill>
                  <a:srgbClr val="09885A"/>
                </a:solidFill>
                <a:latin typeface="Consolas" panose="020B0609020204030204" pitchFamily="49" charset="0"/>
              </a:rPr>
              <a:t>1</a:t>
            </a:r>
            <a:r>
              <a:rPr lang="vi-VN" dirty="0">
                <a:solidFill>
                  <a:srgbClr val="000000"/>
                </a:solidFill>
                <a:latin typeface="Consolas" panose="020B0609020204030204" pitchFamily="49" charset="0"/>
              </a:rPr>
              <a:t>]</a:t>
            </a:r>
          </a:p>
          <a:p>
            <a:pPr marL="457200" indent="-457200" algn="just">
              <a:buFont typeface="+mj-lt"/>
              <a:buAutoNum type="arabicPeriod" startAt="11"/>
            </a:pPr>
            <a:r>
              <a:rPr lang="en-US" dirty="0">
                <a:solidFill>
                  <a:srgbClr val="000000"/>
                </a:solidFill>
                <a:latin typeface="Consolas" panose="020B0609020204030204" pitchFamily="49" charset="0"/>
              </a:rPr>
              <a:t>    </a:t>
            </a:r>
            <a:r>
              <a:rPr lang="en-US" dirty="0">
                <a:solidFill>
                  <a:srgbClr val="AF00DB"/>
                </a:solidFill>
                <a:latin typeface="Consolas" panose="020B0609020204030204" pitchFamily="49" charset="0"/>
              </a:rPr>
              <a:t>for</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label </a:t>
            </a:r>
            <a:r>
              <a:rPr lang="en-US" dirty="0">
                <a:solidFill>
                  <a:srgbClr val="0000FF"/>
                </a:solidFill>
                <a:latin typeface="Consolas" panose="020B0609020204030204" pitchFamily="49" charset="0"/>
              </a:rPr>
              <a:t>in</a:t>
            </a:r>
            <a:r>
              <a:rPr lang="en-US" dirty="0">
                <a:solidFill>
                  <a:srgbClr val="000000"/>
                </a:solidFill>
                <a:latin typeface="Consolas" panose="020B0609020204030204" pitchFamily="49" charset="0"/>
              </a:rPr>
              <a:t> </a:t>
            </a:r>
            <a:r>
              <a:rPr lang="en-US" dirty="0">
                <a:solidFill>
                  <a:srgbClr val="795E26"/>
                </a:solidFill>
                <a:latin typeface="Consolas" panose="020B0609020204030204" pitchFamily="49" charset="0"/>
              </a:rPr>
              <a:t>enumerate</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np.unique</a:t>
            </a:r>
            <a:r>
              <a:rPr lang="en-US" dirty="0">
                <a:solidFill>
                  <a:srgbClr val="000000"/>
                </a:solidFill>
                <a:latin typeface="Consolas" panose="020B0609020204030204" pitchFamily="49" charset="0"/>
              </a:rPr>
              <a:t>(y_)):</a:t>
            </a:r>
          </a:p>
          <a:p>
            <a:pPr marL="457200" indent="-457200" algn="just">
              <a:buFont typeface="+mj-lt"/>
              <a:buAutoNum type="arabicPeriod" startAt="11"/>
            </a:pPr>
            <a:r>
              <a:rPr lang="es-ES" dirty="0">
                <a:solidFill>
                  <a:srgbClr val="000000"/>
                </a:solidFill>
                <a:latin typeface="Consolas" panose="020B0609020204030204" pitchFamily="49" charset="0"/>
              </a:rPr>
              <a:t>        </a:t>
            </a:r>
            <a:r>
              <a:rPr lang="es-ES" dirty="0" err="1">
                <a:solidFill>
                  <a:srgbClr val="000000"/>
                </a:solidFill>
                <a:latin typeface="Consolas" panose="020B0609020204030204" pitchFamily="49" charset="0"/>
              </a:rPr>
              <a:t>plt.scatter</a:t>
            </a:r>
            <a:r>
              <a:rPr lang="es-ES" dirty="0">
                <a:solidFill>
                  <a:srgbClr val="000000"/>
                </a:solidFill>
                <a:latin typeface="Consolas" panose="020B0609020204030204" pitchFamily="49" charset="0"/>
              </a:rPr>
              <a:t>(X1[y_ == </a:t>
            </a:r>
            <a:r>
              <a:rPr lang="es-ES" dirty="0" err="1">
                <a:solidFill>
                  <a:srgbClr val="000000"/>
                </a:solidFill>
                <a:latin typeface="Consolas" panose="020B0609020204030204" pitchFamily="49" charset="0"/>
              </a:rPr>
              <a:t>label</a:t>
            </a:r>
            <a:r>
              <a:rPr lang="es-ES" dirty="0">
                <a:solidFill>
                  <a:srgbClr val="000000"/>
                </a:solidFill>
                <a:latin typeface="Consolas" panose="020B0609020204030204" pitchFamily="49" charset="0"/>
              </a:rPr>
              <a:t>], X2[y_ == </a:t>
            </a:r>
            <a:r>
              <a:rPr lang="es-ES" dirty="0" err="1">
                <a:solidFill>
                  <a:srgbClr val="000000"/>
                </a:solidFill>
                <a:latin typeface="Consolas" panose="020B0609020204030204" pitchFamily="49" charset="0"/>
              </a:rPr>
              <a:t>label</a:t>
            </a:r>
            <a:r>
              <a:rPr lang="es-ES" dirty="0">
                <a:solidFill>
                  <a:srgbClr val="000000"/>
                </a:solidFill>
                <a:latin typeface="Consolas" panose="020B0609020204030204" pitchFamily="49" charset="0"/>
              </a:rPr>
              <a:t>], </a:t>
            </a:r>
          </a:p>
          <a:p>
            <a:pPr marL="0" indent="0" algn="just">
              <a:buNone/>
            </a:pPr>
            <a:r>
              <a:rPr lang="en-US" dirty="0">
                <a:solidFill>
                  <a:srgbClr val="000000"/>
                </a:solidFill>
                <a:latin typeface="Consolas" panose="020B0609020204030204" pitchFamily="49" charset="0"/>
              </a:rPr>
              <a:t>           	</a:t>
            </a:r>
            <a:r>
              <a:rPr lang="en-US" dirty="0">
                <a:solidFill>
                  <a:srgbClr val="001080"/>
                </a:solidFill>
                <a:latin typeface="Consolas" panose="020B0609020204030204" pitchFamily="49" charset="0"/>
              </a:rPr>
              <a:t>color</a:t>
            </a:r>
            <a:r>
              <a:rPr lang="en-US" dirty="0">
                <a:solidFill>
                  <a:srgbClr val="000000"/>
                </a:solidFill>
                <a:latin typeface="Consolas" panose="020B0609020204030204" pitchFamily="49" charset="0"/>
              </a:rPr>
              <a:t> = </a:t>
            </a:r>
            <a:r>
              <a:rPr lang="en-US" dirty="0" err="1">
                <a:solidFill>
                  <a:srgbClr val="000000"/>
                </a:solidFill>
                <a:latin typeface="Consolas" panose="020B0609020204030204" pitchFamily="49" charset="0"/>
              </a:rPr>
              <a:t>ListedColormap</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"red"</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"green"</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2654170458"/>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367E4-70E5-4178-8021-580FFB07B9C1}"/>
              </a:ext>
            </a:extLst>
          </p:cNvPr>
          <p:cNvSpPr>
            <a:spLocks noGrp="1"/>
          </p:cNvSpPr>
          <p:nvPr>
            <p:ph type="title"/>
          </p:nvPr>
        </p:nvSpPr>
        <p:spPr/>
        <p:txBody>
          <a:bodyPr/>
          <a:lstStyle/>
          <a:p>
            <a:r>
              <a:rPr lang="en-US" dirty="0" err="1"/>
              <a:t>Trực</a:t>
            </a:r>
            <a:r>
              <a:rPr lang="en-US" dirty="0"/>
              <a:t> </a:t>
            </a:r>
            <a:r>
              <a:rPr lang="en-US" dirty="0" err="1"/>
              <a:t>quan</a:t>
            </a:r>
            <a:r>
              <a:rPr lang="en-US" dirty="0"/>
              <a:t> </a:t>
            </a:r>
            <a:r>
              <a:rPr lang="en-US" dirty="0" err="1"/>
              <a:t>hóa</a:t>
            </a:r>
            <a:r>
              <a:rPr lang="en-US" dirty="0"/>
              <a:t> </a:t>
            </a:r>
            <a:r>
              <a:rPr lang="en-US" dirty="0" err="1"/>
              <a:t>dữ</a:t>
            </a:r>
            <a:r>
              <a:rPr lang="en-US" dirty="0"/>
              <a:t> </a:t>
            </a:r>
            <a:r>
              <a:rPr lang="en-US" dirty="0" err="1"/>
              <a:t>liệu</a:t>
            </a:r>
            <a:endParaRPr lang="vi-VN" dirty="0"/>
          </a:p>
        </p:txBody>
      </p:sp>
      <p:sp>
        <p:nvSpPr>
          <p:cNvPr id="3" name="Content Placeholder 2">
            <a:extLst>
              <a:ext uri="{FF2B5EF4-FFF2-40B4-BE49-F238E27FC236}">
                <a16:creationId xmlns:a16="http://schemas.microsoft.com/office/drawing/2014/main" id="{50A2091A-AA45-4AC6-8CDE-21216FC81D96}"/>
              </a:ext>
            </a:extLst>
          </p:cNvPr>
          <p:cNvSpPr>
            <a:spLocks noGrp="1"/>
          </p:cNvSpPr>
          <p:nvPr>
            <p:ph idx="1"/>
          </p:nvPr>
        </p:nvSpPr>
        <p:spPr/>
        <p:txBody>
          <a:bodyPr/>
          <a:lstStyle/>
          <a:p>
            <a:pPr algn="just"/>
            <a:r>
              <a:rPr lang="vi-VN" sz="2800" dirty="0" err="1">
                <a:solidFill>
                  <a:srgbClr val="0066FF"/>
                </a:solidFill>
              </a:rPr>
              <a:t>Gọi</a:t>
            </a:r>
            <a:r>
              <a:rPr lang="vi-VN" sz="2800" dirty="0">
                <a:solidFill>
                  <a:srgbClr val="0066FF"/>
                </a:solidFill>
              </a:rPr>
              <a:t> </a:t>
            </a:r>
            <a:r>
              <a:rPr lang="vi-VN" sz="2800" dirty="0" err="1">
                <a:solidFill>
                  <a:srgbClr val="0066FF"/>
                </a:solidFill>
              </a:rPr>
              <a:t>hàm</a:t>
            </a:r>
            <a:r>
              <a:rPr lang="vi-VN" sz="2800" dirty="0">
                <a:solidFill>
                  <a:srgbClr val="0066FF"/>
                </a:solidFill>
              </a:rPr>
              <a:t> </a:t>
            </a:r>
            <a:r>
              <a:rPr lang="vi-VN" sz="2800" dirty="0" err="1">
                <a:solidFill>
                  <a:srgbClr val="0066FF"/>
                </a:solidFill>
              </a:rPr>
              <a:t>trực</a:t>
            </a:r>
            <a:r>
              <a:rPr lang="vi-VN" sz="2800" dirty="0">
                <a:solidFill>
                  <a:srgbClr val="0066FF"/>
                </a:solidFill>
              </a:rPr>
              <a:t> quan </a:t>
            </a:r>
            <a:r>
              <a:rPr lang="vi-VN" sz="2800" dirty="0" err="1">
                <a:solidFill>
                  <a:srgbClr val="0066FF"/>
                </a:solidFill>
              </a:rPr>
              <a:t>hóa</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a:t>
            </a:r>
          </a:p>
          <a:p>
            <a:pPr marL="457200" indent="-457200" algn="just">
              <a:buFont typeface="+mj-lt"/>
              <a:buAutoNum type="arabicPeriod"/>
            </a:pPr>
            <a:endParaRPr lang="vi-VN" dirty="0">
              <a:solidFill>
                <a:srgbClr val="000000"/>
              </a:solidFill>
              <a:latin typeface="Consolas" panose="020B0609020204030204" pitchFamily="49" charset="0"/>
            </a:endParaRPr>
          </a:p>
          <a:p>
            <a:pPr marL="457200" indent="-457200" algn="just">
              <a:buFont typeface="+mj-lt"/>
              <a:buAutoNum type="arabicPeriod"/>
            </a:pPr>
            <a:endParaRPr lang="vi-VN" dirty="0">
              <a:solidFill>
                <a:srgbClr val="000000"/>
              </a:solidFill>
              <a:latin typeface="Consolas" panose="020B0609020204030204" pitchFamily="49" charset="0"/>
            </a:endParaRPr>
          </a:p>
          <a:p>
            <a:pPr marL="457200" indent="-457200" algn="just">
              <a:buFont typeface="+mj-lt"/>
              <a:buAutoNum type="arabicPeriod" startAt="18"/>
            </a:pPr>
            <a:r>
              <a:rPr lang="vi-VN" dirty="0" err="1">
                <a:solidFill>
                  <a:srgbClr val="000000"/>
                </a:solidFill>
                <a:latin typeface="Consolas" panose="020B0609020204030204" pitchFamily="49" charset="0"/>
              </a:rPr>
              <a:t>VisualizingDataset</a:t>
            </a:r>
            <a:r>
              <a:rPr lang="vi-VN" dirty="0">
                <a:solidFill>
                  <a:srgbClr val="000000"/>
                </a:solidFill>
                <a:latin typeface="Consolas" panose="020B0609020204030204" pitchFamily="49" charset="0"/>
              </a:rPr>
              <a:t>(X, y)</a:t>
            </a:r>
          </a:p>
          <a:p>
            <a:pPr marL="457200" indent="-457200" algn="just">
              <a:buFont typeface="+mj-lt"/>
              <a:buAutoNum type="arabicPeriod" startAt="18"/>
            </a:pPr>
            <a:r>
              <a:rPr lang="vi-VN" dirty="0" err="1">
                <a:solidFill>
                  <a:srgbClr val="000000"/>
                </a:solidFill>
                <a:latin typeface="Consolas" panose="020B0609020204030204" pitchFamily="49" charset="0"/>
              </a:rPr>
              <a:t>plt.show</a:t>
            </a:r>
            <a:r>
              <a:rPr lang="vi-VN"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301889458"/>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367E4-70E5-4178-8021-580FFB07B9C1}"/>
              </a:ext>
            </a:extLst>
          </p:cNvPr>
          <p:cNvSpPr>
            <a:spLocks noGrp="1"/>
          </p:cNvSpPr>
          <p:nvPr>
            <p:ph type="title"/>
          </p:nvPr>
        </p:nvSpPr>
        <p:spPr/>
        <p:txBody>
          <a:bodyPr/>
          <a:lstStyle/>
          <a:p>
            <a:r>
              <a:rPr lang="en-US" dirty="0" err="1"/>
              <a:t>Trực</a:t>
            </a:r>
            <a:r>
              <a:rPr lang="en-US" dirty="0"/>
              <a:t> </a:t>
            </a:r>
            <a:r>
              <a:rPr lang="en-US" dirty="0" err="1"/>
              <a:t>quan</a:t>
            </a:r>
            <a:r>
              <a:rPr lang="en-US" dirty="0"/>
              <a:t> </a:t>
            </a:r>
            <a:r>
              <a:rPr lang="en-US" dirty="0" err="1"/>
              <a:t>hóa</a:t>
            </a:r>
            <a:r>
              <a:rPr lang="en-US" dirty="0"/>
              <a:t> </a:t>
            </a:r>
            <a:r>
              <a:rPr lang="en-US" dirty="0" err="1"/>
              <a:t>dữ</a:t>
            </a:r>
            <a:r>
              <a:rPr lang="en-US" dirty="0"/>
              <a:t> </a:t>
            </a:r>
            <a:r>
              <a:rPr lang="en-US" dirty="0" err="1"/>
              <a:t>liệu</a:t>
            </a:r>
            <a:endParaRPr lang="vi-VN" dirty="0"/>
          </a:p>
        </p:txBody>
      </p:sp>
      <p:pic>
        <p:nvPicPr>
          <p:cNvPr id="5" name="Content Placeholder 4">
            <a:extLst>
              <a:ext uri="{FF2B5EF4-FFF2-40B4-BE49-F238E27FC236}">
                <a16:creationId xmlns:a16="http://schemas.microsoft.com/office/drawing/2014/main" id="{09E9A416-4274-4410-9F60-93605379AA64}"/>
              </a:ext>
            </a:extLst>
          </p:cNvPr>
          <p:cNvPicPr>
            <a:picLocks noGrp="1" noChangeAspect="1"/>
          </p:cNvPicPr>
          <p:nvPr>
            <p:ph sz="half" idx="1"/>
          </p:nvPr>
        </p:nvPicPr>
        <p:blipFill>
          <a:blip r:embed="rId2"/>
          <a:stretch>
            <a:fillRect/>
          </a:stretch>
        </p:blipFill>
        <p:spPr>
          <a:xfrm>
            <a:off x="0" y="1335314"/>
            <a:ext cx="6324600" cy="4790850"/>
          </a:xfrm>
          <a:prstGeom prst="rect">
            <a:avLst/>
          </a:prstGeom>
        </p:spPr>
      </p:pic>
      <p:sp>
        <p:nvSpPr>
          <p:cNvPr id="3" name="Content Placeholder 2">
            <a:extLst>
              <a:ext uri="{FF2B5EF4-FFF2-40B4-BE49-F238E27FC236}">
                <a16:creationId xmlns:a16="http://schemas.microsoft.com/office/drawing/2014/main" id="{75612C6F-9A97-4651-AFB9-ADB638D4C964}"/>
              </a:ext>
            </a:extLst>
          </p:cNvPr>
          <p:cNvSpPr>
            <a:spLocks noGrp="1"/>
          </p:cNvSpPr>
          <p:nvPr>
            <p:ph sz="half" idx="2"/>
          </p:nvPr>
        </p:nvSpPr>
        <p:spPr/>
        <p:txBody>
          <a:bodyPr/>
          <a:lstStyle/>
          <a:p>
            <a:pPr algn="just"/>
            <a:r>
              <a:rPr lang="en-US" sz="2800" dirty="0">
                <a:solidFill>
                  <a:srgbClr val="0066FF"/>
                </a:solidFill>
              </a:rPr>
              <a:t>Theo </a:t>
            </a:r>
            <a:r>
              <a:rPr lang="en-US" sz="2800" dirty="0" err="1">
                <a:solidFill>
                  <a:srgbClr val="0066FF"/>
                </a:solidFill>
              </a:rPr>
              <a:t>hình</a:t>
            </a:r>
            <a:r>
              <a:rPr lang="en-US" sz="2800" dirty="0">
                <a:solidFill>
                  <a:srgbClr val="0066FF"/>
                </a:solidFill>
              </a:rPr>
              <a:t> </a:t>
            </a:r>
            <a:r>
              <a:rPr lang="en-US" sz="2800" dirty="0" err="1">
                <a:solidFill>
                  <a:srgbClr val="0066FF"/>
                </a:solidFill>
              </a:rPr>
              <a:t>vẽ</a:t>
            </a:r>
            <a:r>
              <a:rPr lang="en-US" sz="2800" dirty="0">
                <a:solidFill>
                  <a:srgbClr val="0066FF"/>
                </a:solidFill>
              </a:rPr>
              <a:t>, ta </a:t>
            </a:r>
            <a:r>
              <a:rPr lang="en-US" sz="2800" dirty="0" err="1">
                <a:solidFill>
                  <a:srgbClr val="0066FF"/>
                </a:solidFill>
              </a:rPr>
              <a:t>thấy</a:t>
            </a:r>
            <a:r>
              <a:rPr lang="en-US" sz="2800" dirty="0">
                <a:solidFill>
                  <a:srgbClr val="0066FF"/>
                </a:solidFill>
              </a:rPr>
              <a:t> </a:t>
            </a:r>
            <a:r>
              <a:rPr lang="en-US" sz="2800" dirty="0" err="1">
                <a:solidFill>
                  <a:srgbClr val="0066FF"/>
                </a:solidFill>
              </a:rPr>
              <a:t>các</a:t>
            </a:r>
            <a:r>
              <a:rPr lang="en-US" sz="2800" dirty="0">
                <a:solidFill>
                  <a:srgbClr val="0066FF"/>
                </a:solidFill>
              </a:rPr>
              <a:t> </a:t>
            </a:r>
            <a:r>
              <a:rPr lang="en-US" sz="2800" dirty="0" err="1">
                <a:solidFill>
                  <a:srgbClr val="0066FF"/>
                </a:solidFill>
              </a:rPr>
              <a:t>điểm</a:t>
            </a:r>
            <a:r>
              <a:rPr lang="en-US" sz="2800" dirty="0">
                <a:solidFill>
                  <a:srgbClr val="0066FF"/>
                </a:solidFill>
              </a:rPr>
              <a:t> </a:t>
            </a:r>
            <a:r>
              <a:rPr lang="en-US" sz="2800" dirty="0" err="1">
                <a:solidFill>
                  <a:srgbClr val="0066FF"/>
                </a:solidFill>
              </a:rPr>
              <a:t>có</a:t>
            </a:r>
            <a:r>
              <a:rPr lang="en-US" sz="2800" dirty="0">
                <a:solidFill>
                  <a:srgbClr val="0066FF"/>
                </a:solidFill>
              </a:rPr>
              <a:t> </a:t>
            </a:r>
            <a:r>
              <a:rPr lang="en-US" sz="2800" dirty="0" err="1">
                <a:solidFill>
                  <a:srgbClr val="0066FF"/>
                </a:solidFill>
              </a:rPr>
              <a:t>sự</a:t>
            </a:r>
            <a:r>
              <a:rPr lang="en-US" sz="2800" dirty="0">
                <a:solidFill>
                  <a:srgbClr val="0066FF"/>
                </a:solidFill>
              </a:rPr>
              <a:t> </a:t>
            </a:r>
            <a:r>
              <a:rPr lang="en-US" sz="2800" dirty="0" err="1">
                <a:solidFill>
                  <a:srgbClr val="0066FF"/>
                </a:solidFill>
              </a:rPr>
              <a:t>phân</a:t>
            </a:r>
            <a:r>
              <a:rPr lang="en-US" sz="2800" dirty="0">
                <a:solidFill>
                  <a:srgbClr val="0066FF"/>
                </a:solidFill>
              </a:rPr>
              <a:t> </a:t>
            </a:r>
            <a:r>
              <a:rPr lang="en-US" sz="2800" dirty="0" err="1">
                <a:solidFill>
                  <a:srgbClr val="0066FF"/>
                </a:solidFill>
              </a:rPr>
              <a:t>bố</a:t>
            </a:r>
            <a:r>
              <a:rPr lang="en-US" sz="2800" dirty="0">
                <a:solidFill>
                  <a:srgbClr val="0066FF"/>
                </a:solidFill>
              </a:rPr>
              <a:t> </a:t>
            </a:r>
            <a:r>
              <a:rPr lang="en-US" sz="2800" dirty="0" err="1">
                <a:solidFill>
                  <a:srgbClr val="0066FF"/>
                </a:solidFill>
              </a:rPr>
              <a:t>thành</a:t>
            </a:r>
            <a:r>
              <a:rPr lang="en-US" sz="2800" dirty="0">
                <a:solidFill>
                  <a:srgbClr val="0066FF"/>
                </a:solidFill>
              </a:rPr>
              <a:t> 2 </a:t>
            </a:r>
            <a:r>
              <a:rPr lang="en-US" sz="2800" dirty="0" err="1">
                <a:solidFill>
                  <a:srgbClr val="0066FF"/>
                </a:solidFill>
              </a:rPr>
              <a:t>mảng</a:t>
            </a:r>
            <a:r>
              <a:rPr lang="en-US" sz="2800" dirty="0">
                <a:solidFill>
                  <a:srgbClr val="0066FF"/>
                </a:solidFill>
              </a:rPr>
              <a:t>. </a:t>
            </a:r>
          </a:p>
          <a:p>
            <a:pPr lvl="1" algn="just"/>
            <a:r>
              <a:rPr lang="en-US" sz="2800" dirty="0" err="1">
                <a:solidFill>
                  <a:srgbClr val="FF0000"/>
                </a:solidFill>
              </a:rPr>
              <a:t>Mảng</a:t>
            </a:r>
            <a:r>
              <a:rPr lang="en-US" sz="2800" dirty="0">
                <a:solidFill>
                  <a:srgbClr val="FF0000"/>
                </a:solidFill>
              </a:rPr>
              <a:t> d</a:t>
            </a:r>
            <a:r>
              <a:rPr lang="vi-VN" sz="2800" dirty="0" err="1">
                <a:solidFill>
                  <a:srgbClr val="FF0000"/>
                </a:solidFill>
              </a:rPr>
              <a:t>ưới</a:t>
            </a:r>
            <a:r>
              <a:rPr lang="vi-VN" sz="2800" dirty="0">
                <a:solidFill>
                  <a:srgbClr val="FF0000"/>
                </a:solidFill>
              </a:rPr>
              <a:t> </a:t>
            </a:r>
            <a:r>
              <a:rPr lang="vi-VN" sz="2800" dirty="0" err="1">
                <a:solidFill>
                  <a:srgbClr val="FF0000"/>
                </a:solidFill>
              </a:rPr>
              <a:t>trái</a:t>
            </a:r>
            <a:r>
              <a:rPr lang="vi-VN" sz="2800" dirty="0">
                <a:solidFill>
                  <a:srgbClr val="FF0000"/>
                </a:solidFill>
              </a:rPr>
              <a:t> </a:t>
            </a:r>
            <a:r>
              <a:rPr lang="vi-VN" sz="2800" dirty="0" err="1">
                <a:solidFill>
                  <a:srgbClr val="FF0000"/>
                </a:solidFill>
              </a:rPr>
              <a:t>phần</a:t>
            </a:r>
            <a:r>
              <a:rPr lang="vi-VN" sz="2800" dirty="0">
                <a:solidFill>
                  <a:srgbClr val="FF0000"/>
                </a:solidFill>
              </a:rPr>
              <a:t> </a:t>
            </a:r>
            <a:r>
              <a:rPr lang="vi-VN" sz="2800" dirty="0" err="1">
                <a:solidFill>
                  <a:srgbClr val="FF0000"/>
                </a:solidFill>
              </a:rPr>
              <a:t>lớn</a:t>
            </a:r>
            <a:r>
              <a:rPr lang="vi-VN" sz="2800" dirty="0">
                <a:solidFill>
                  <a:srgbClr val="FF0000"/>
                </a:solidFill>
              </a:rPr>
              <a:t> </a:t>
            </a:r>
            <a:r>
              <a:rPr lang="vi-VN" sz="2800" dirty="0" err="1">
                <a:solidFill>
                  <a:srgbClr val="FF0000"/>
                </a:solidFill>
              </a:rPr>
              <a:t>có</a:t>
            </a:r>
            <a:r>
              <a:rPr lang="vi-VN" sz="2800" dirty="0">
                <a:solidFill>
                  <a:srgbClr val="FF0000"/>
                </a:solidFill>
              </a:rPr>
              <a:t> </a:t>
            </a:r>
            <a:r>
              <a:rPr lang="vi-VN" sz="2800" dirty="0" err="1">
                <a:solidFill>
                  <a:srgbClr val="FF0000"/>
                </a:solidFill>
              </a:rPr>
              <a:t>màu</a:t>
            </a:r>
            <a:r>
              <a:rPr lang="vi-VN" sz="2800" dirty="0">
                <a:solidFill>
                  <a:srgbClr val="FF0000"/>
                </a:solidFill>
              </a:rPr>
              <a:t> </a:t>
            </a:r>
            <a:r>
              <a:rPr lang="vi-VN" sz="2800" dirty="0" err="1">
                <a:solidFill>
                  <a:srgbClr val="FF0000"/>
                </a:solidFill>
              </a:rPr>
              <a:t>đỏ</a:t>
            </a:r>
            <a:r>
              <a:rPr lang="vi-VN" sz="2800" dirty="0">
                <a:solidFill>
                  <a:srgbClr val="FF0000"/>
                </a:solidFill>
              </a:rPr>
              <a:t>, </a:t>
            </a:r>
            <a:r>
              <a:rPr lang="vi-VN" sz="2800" dirty="0" err="1">
                <a:solidFill>
                  <a:srgbClr val="FF0000"/>
                </a:solidFill>
              </a:rPr>
              <a:t>tức</a:t>
            </a:r>
            <a:r>
              <a:rPr lang="vi-VN" sz="2800" dirty="0">
                <a:solidFill>
                  <a:srgbClr val="FF0000"/>
                </a:solidFill>
              </a:rPr>
              <a:t> </a:t>
            </a:r>
            <a:r>
              <a:rPr lang="vi-VN" sz="2800" dirty="0" err="1">
                <a:solidFill>
                  <a:srgbClr val="FF0000"/>
                </a:solidFill>
              </a:rPr>
              <a:t>khách</a:t>
            </a:r>
            <a:r>
              <a:rPr lang="vi-VN" sz="2800" dirty="0">
                <a:solidFill>
                  <a:srgbClr val="FF0000"/>
                </a:solidFill>
              </a:rPr>
              <a:t> </a:t>
            </a:r>
            <a:r>
              <a:rPr lang="vi-VN" sz="2800" dirty="0" err="1">
                <a:solidFill>
                  <a:srgbClr val="FF0000"/>
                </a:solidFill>
              </a:rPr>
              <a:t>hàng</a:t>
            </a:r>
            <a:r>
              <a:rPr lang="vi-VN" sz="2800" dirty="0">
                <a:solidFill>
                  <a:srgbClr val="FF0000"/>
                </a:solidFill>
              </a:rPr>
              <a:t> không mua </a:t>
            </a:r>
            <a:r>
              <a:rPr lang="vi-VN" sz="2800" dirty="0" err="1">
                <a:solidFill>
                  <a:srgbClr val="FF0000"/>
                </a:solidFill>
              </a:rPr>
              <a:t>hàng</a:t>
            </a:r>
            <a:r>
              <a:rPr lang="vi-VN" sz="2800" dirty="0">
                <a:solidFill>
                  <a:srgbClr val="FF0000"/>
                </a:solidFill>
              </a:rPr>
              <a:t>.</a:t>
            </a:r>
          </a:p>
          <a:p>
            <a:pPr lvl="1" algn="just"/>
            <a:r>
              <a:rPr lang="vi-VN" sz="2800" dirty="0" err="1">
                <a:solidFill>
                  <a:srgbClr val="0066FF"/>
                </a:solidFill>
              </a:rPr>
              <a:t>Mảng</a:t>
            </a:r>
            <a:r>
              <a:rPr lang="vi-VN" sz="2800" dirty="0">
                <a:solidFill>
                  <a:srgbClr val="0066FF"/>
                </a:solidFill>
              </a:rPr>
              <a:t> bên </a:t>
            </a:r>
            <a:r>
              <a:rPr lang="vi-VN" sz="2800" dirty="0" err="1">
                <a:solidFill>
                  <a:srgbClr val="0066FF"/>
                </a:solidFill>
              </a:rPr>
              <a:t>phải</a:t>
            </a:r>
            <a:r>
              <a:rPr lang="vi-VN" sz="2800" dirty="0">
                <a:solidFill>
                  <a:srgbClr val="0066FF"/>
                </a:solidFill>
              </a:rPr>
              <a:t> </a:t>
            </a:r>
            <a:r>
              <a:rPr lang="vi-VN" sz="2800" dirty="0" err="1">
                <a:solidFill>
                  <a:srgbClr val="0066FF"/>
                </a:solidFill>
              </a:rPr>
              <a:t>và</a:t>
            </a:r>
            <a:r>
              <a:rPr lang="vi-VN" sz="2800" dirty="0">
                <a:solidFill>
                  <a:srgbClr val="0066FF"/>
                </a:solidFill>
              </a:rPr>
              <a:t> </a:t>
            </a:r>
            <a:r>
              <a:rPr lang="vi-VN" sz="2800" dirty="0" err="1">
                <a:solidFill>
                  <a:srgbClr val="0066FF"/>
                </a:solidFill>
              </a:rPr>
              <a:t>mảng</a:t>
            </a:r>
            <a:r>
              <a:rPr lang="vi-VN" sz="2800" dirty="0">
                <a:solidFill>
                  <a:srgbClr val="0066FF"/>
                </a:solidFill>
              </a:rPr>
              <a:t> bên trên </a:t>
            </a:r>
            <a:r>
              <a:rPr lang="vi-VN" sz="2800" dirty="0" err="1">
                <a:solidFill>
                  <a:srgbClr val="0066FF"/>
                </a:solidFill>
              </a:rPr>
              <a:t>phần</a:t>
            </a:r>
            <a:r>
              <a:rPr lang="vi-VN" sz="2800" dirty="0">
                <a:solidFill>
                  <a:srgbClr val="0066FF"/>
                </a:solidFill>
              </a:rPr>
              <a:t> </a:t>
            </a:r>
            <a:r>
              <a:rPr lang="vi-VN" sz="2800" dirty="0" err="1">
                <a:solidFill>
                  <a:srgbClr val="0066FF"/>
                </a:solidFill>
              </a:rPr>
              <a:t>lớn</a:t>
            </a:r>
            <a:r>
              <a:rPr lang="vi-VN" sz="2800" dirty="0">
                <a:solidFill>
                  <a:srgbClr val="0066FF"/>
                </a:solidFill>
              </a:rPr>
              <a:t> </a:t>
            </a:r>
            <a:r>
              <a:rPr lang="vi-VN" sz="2800" dirty="0" err="1">
                <a:solidFill>
                  <a:srgbClr val="0066FF"/>
                </a:solidFill>
              </a:rPr>
              <a:t>có</a:t>
            </a:r>
            <a:r>
              <a:rPr lang="vi-VN" sz="2800" dirty="0">
                <a:solidFill>
                  <a:srgbClr val="0066FF"/>
                </a:solidFill>
              </a:rPr>
              <a:t> </a:t>
            </a:r>
            <a:r>
              <a:rPr lang="vi-VN" sz="2800" dirty="0" err="1">
                <a:solidFill>
                  <a:srgbClr val="0066FF"/>
                </a:solidFill>
              </a:rPr>
              <a:t>màu</a:t>
            </a:r>
            <a:r>
              <a:rPr lang="vi-VN" sz="2800" dirty="0">
                <a:solidFill>
                  <a:srgbClr val="0066FF"/>
                </a:solidFill>
              </a:rPr>
              <a:t> xanh, </a:t>
            </a:r>
            <a:r>
              <a:rPr lang="vi-VN" sz="2800" dirty="0" err="1">
                <a:solidFill>
                  <a:srgbClr val="0066FF"/>
                </a:solidFill>
              </a:rPr>
              <a:t>tức</a:t>
            </a:r>
            <a:r>
              <a:rPr lang="vi-VN" sz="2800" dirty="0">
                <a:solidFill>
                  <a:srgbClr val="0066FF"/>
                </a:solidFill>
              </a:rPr>
              <a:t> </a:t>
            </a:r>
            <a:r>
              <a:rPr lang="vi-VN" sz="2800" dirty="0" err="1">
                <a:solidFill>
                  <a:srgbClr val="0066FF"/>
                </a:solidFill>
              </a:rPr>
              <a:t>khách</a:t>
            </a:r>
            <a:r>
              <a:rPr lang="vi-VN" sz="2800" dirty="0">
                <a:solidFill>
                  <a:srgbClr val="0066FF"/>
                </a:solidFill>
              </a:rPr>
              <a:t> </a:t>
            </a:r>
            <a:r>
              <a:rPr lang="vi-VN" sz="2800" dirty="0" err="1">
                <a:solidFill>
                  <a:srgbClr val="0066FF"/>
                </a:solidFill>
              </a:rPr>
              <a:t>hàng</a:t>
            </a:r>
            <a:r>
              <a:rPr lang="vi-VN" sz="2800" dirty="0">
                <a:solidFill>
                  <a:srgbClr val="0066FF"/>
                </a:solidFill>
              </a:rPr>
              <a:t> </a:t>
            </a:r>
            <a:r>
              <a:rPr lang="vi-VN" sz="2800" dirty="0" err="1">
                <a:solidFill>
                  <a:srgbClr val="0066FF"/>
                </a:solidFill>
              </a:rPr>
              <a:t>có</a:t>
            </a:r>
            <a:r>
              <a:rPr lang="vi-VN" sz="2800" dirty="0">
                <a:solidFill>
                  <a:srgbClr val="0066FF"/>
                </a:solidFill>
              </a:rPr>
              <a:t> mua </a:t>
            </a:r>
            <a:r>
              <a:rPr lang="vi-VN" sz="2800" dirty="0" err="1">
                <a:solidFill>
                  <a:srgbClr val="0066FF"/>
                </a:solidFill>
              </a:rPr>
              <a:t>hàng</a:t>
            </a:r>
            <a:r>
              <a:rPr lang="vi-VN" sz="2800" dirty="0">
                <a:solidFill>
                  <a:srgbClr val="0066FF"/>
                </a:solidFill>
              </a:rPr>
              <a:t>. </a:t>
            </a:r>
            <a:endParaRPr lang="vi-VN" sz="3200" dirty="0">
              <a:solidFill>
                <a:srgbClr val="0066FF"/>
              </a:solidFill>
            </a:endParaRPr>
          </a:p>
        </p:txBody>
      </p:sp>
    </p:spTree>
    <p:extLst>
      <p:ext uri="{BB962C8B-B14F-4D97-AF65-F5344CB8AC3E}">
        <p14:creationId xmlns:p14="http://schemas.microsoft.com/office/powerpoint/2010/main" val="4261644637"/>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367E4-70E5-4178-8021-580FFB07B9C1}"/>
              </a:ext>
            </a:extLst>
          </p:cNvPr>
          <p:cNvSpPr>
            <a:spLocks noGrp="1"/>
          </p:cNvSpPr>
          <p:nvPr>
            <p:ph type="title"/>
          </p:nvPr>
        </p:nvSpPr>
        <p:spPr/>
        <p:txBody>
          <a:bodyPr/>
          <a:lstStyle/>
          <a:p>
            <a:r>
              <a:rPr lang="en-US" dirty="0" err="1"/>
              <a:t>Trực</a:t>
            </a:r>
            <a:r>
              <a:rPr lang="en-US" dirty="0"/>
              <a:t> </a:t>
            </a:r>
            <a:r>
              <a:rPr lang="en-US" dirty="0" err="1"/>
              <a:t>quan</a:t>
            </a:r>
            <a:r>
              <a:rPr lang="en-US" dirty="0"/>
              <a:t> </a:t>
            </a:r>
            <a:r>
              <a:rPr lang="en-US" dirty="0" err="1"/>
              <a:t>hóa</a:t>
            </a:r>
            <a:r>
              <a:rPr lang="en-US" dirty="0"/>
              <a:t> </a:t>
            </a:r>
            <a:r>
              <a:rPr lang="en-US" dirty="0" err="1"/>
              <a:t>dữ</a:t>
            </a:r>
            <a:r>
              <a:rPr lang="en-US" dirty="0"/>
              <a:t> </a:t>
            </a:r>
            <a:r>
              <a:rPr lang="en-US" dirty="0" err="1"/>
              <a:t>liệu</a:t>
            </a:r>
            <a:endParaRPr lang="vi-VN" dirty="0"/>
          </a:p>
        </p:txBody>
      </p:sp>
      <p:pic>
        <p:nvPicPr>
          <p:cNvPr id="5" name="Content Placeholder 4">
            <a:extLst>
              <a:ext uri="{FF2B5EF4-FFF2-40B4-BE49-F238E27FC236}">
                <a16:creationId xmlns:a16="http://schemas.microsoft.com/office/drawing/2014/main" id="{09E9A416-4274-4410-9F60-93605379AA64}"/>
              </a:ext>
            </a:extLst>
          </p:cNvPr>
          <p:cNvPicPr>
            <a:picLocks noGrp="1" noChangeAspect="1"/>
          </p:cNvPicPr>
          <p:nvPr>
            <p:ph sz="half" idx="1"/>
          </p:nvPr>
        </p:nvPicPr>
        <p:blipFill>
          <a:blip r:embed="rId2"/>
          <a:stretch>
            <a:fillRect/>
          </a:stretch>
        </p:blipFill>
        <p:spPr>
          <a:xfrm>
            <a:off x="0" y="1335314"/>
            <a:ext cx="6324600" cy="4790850"/>
          </a:xfrm>
          <a:prstGeom prst="rect">
            <a:avLst/>
          </a:prstGeom>
        </p:spPr>
      </p:pic>
      <p:sp>
        <p:nvSpPr>
          <p:cNvPr id="3" name="Content Placeholder 2">
            <a:extLst>
              <a:ext uri="{FF2B5EF4-FFF2-40B4-BE49-F238E27FC236}">
                <a16:creationId xmlns:a16="http://schemas.microsoft.com/office/drawing/2014/main" id="{75612C6F-9A97-4651-AFB9-ADB638D4C964}"/>
              </a:ext>
            </a:extLst>
          </p:cNvPr>
          <p:cNvSpPr>
            <a:spLocks noGrp="1"/>
          </p:cNvSpPr>
          <p:nvPr>
            <p:ph sz="half" idx="2"/>
          </p:nvPr>
        </p:nvSpPr>
        <p:spPr/>
        <p:txBody>
          <a:bodyPr/>
          <a:lstStyle/>
          <a:p>
            <a:pPr algn="just"/>
            <a:r>
              <a:rPr lang="vi-VN" sz="3200" dirty="0" err="1">
                <a:solidFill>
                  <a:srgbClr val="0066FF"/>
                </a:solidFill>
              </a:rPr>
              <a:t>Điều</a:t>
            </a:r>
            <a:r>
              <a:rPr lang="vi-VN" sz="3200" dirty="0">
                <a:solidFill>
                  <a:srgbClr val="0066FF"/>
                </a:solidFill>
              </a:rPr>
              <a:t> </a:t>
            </a:r>
            <a:r>
              <a:rPr lang="vi-VN" sz="3200" dirty="0" err="1">
                <a:solidFill>
                  <a:srgbClr val="0066FF"/>
                </a:solidFill>
              </a:rPr>
              <a:t>này</a:t>
            </a:r>
            <a:r>
              <a:rPr lang="vi-VN" sz="3200" dirty="0">
                <a:solidFill>
                  <a:srgbClr val="0066FF"/>
                </a:solidFill>
              </a:rPr>
              <a:t> </a:t>
            </a:r>
            <a:r>
              <a:rPr lang="vi-VN" sz="3200" dirty="0" err="1">
                <a:solidFill>
                  <a:srgbClr val="0066FF"/>
                </a:solidFill>
              </a:rPr>
              <a:t>là</a:t>
            </a:r>
            <a:r>
              <a:rPr lang="vi-VN" sz="3200" dirty="0">
                <a:solidFill>
                  <a:srgbClr val="0066FF"/>
                </a:solidFill>
              </a:rPr>
              <a:t> </a:t>
            </a:r>
            <a:r>
              <a:rPr lang="vi-VN" sz="3200" dirty="0" err="1">
                <a:solidFill>
                  <a:srgbClr val="0066FF"/>
                </a:solidFill>
              </a:rPr>
              <a:t>phù</a:t>
            </a:r>
            <a:r>
              <a:rPr lang="vi-VN" sz="3200" dirty="0">
                <a:solidFill>
                  <a:srgbClr val="0066FF"/>
                </a:solidFill>
              </a:rPr>
              <a:t> </a:t>
            </a:r>
            <a:r>
              <a:rPr lang="vi-VN" sz="3200" dirty="0" err="1">
                <a:solidFill>
                  <a:srgbClr val="0066FF"/>
                </a:solidFill>
              </a:rPr>
              <a:t>hợp</a:t>
            </a:r>
            <a:r>
              <a:rPr lang="vi-VN" sz="3200" dirty="0">
                <a:solidFill>
                  <a:srgbClr val="0066FF"/>
                </a:solidFill>
              </a:rPr>
              <a:t> </a:t>
            </a:r>
            <a:r>
              <a:rPr lang="vi-VN" sz="3200" dirty="0" err="1">
                <a:solidFill>
                  <a:srgbClr val="0066FF"/>
                </a:solidFill>
              </a:rPr>
              <a:t>vì</a:t>
            </a:r>
            <a:r>
              <a:rPr lang="vi-VN" sz="3200" dirty="0">
                <a:solidFill>
                  <a:srgbClr val="0066FF"/>
                </a:solidFill>
              </a:rPr>
              <a:t> </a:t>
            </a:r>
            <a:r>
              <a:rPr lang="vi-VN" sz="3200" dirty="0" err="1">
                <a:solidFill>
                  <a:srgbClr val="0066FF"/>
                </a:solidFill>
              </a:rPr>
              <a:t>các</a:t>
            </a:r>
            <a:r>
              <a:rPr lang="vi-VN" sz="3200" dirty="0">
                <a:solidFill>
                  <a:srgbClr val="0066FF"/>
                </a:solidFill>
              </a:rPr>
              <a:t> </a:t>
            </a:r>
            <a:r>
              <a:rPr lang="vi-VN" sz="3200" dirty="0" err="1">
                <a:solidFill>
                  <a:srgbClr val="0066FF"/>
                </a:solidFill>
              </a:rPr>
              <a:t>khách</a:t>
            </a:r>
            <a:r>
              <a:rPr lang="vi-VN" sz="3200" dirty="0">
                <a:solidFill>
                  <a:srgbClr val="0066FF"/>
                </a:solidFill>
              </a:rPr>
              <a:t> </a:t>
            </a:r>
            <a:r>
              <a:rPr lang="vi-VN" sz="3200" dirty="0" err="1">
                <a:solidFill>
                  <a:srgbClr val="0066FF"/>
                </a:solidFill>
              </a:rPr>
              <a:t>hàng</a:t>
            </a:r>
            <a:r>
              <a:rPr lang="vi-VN" sz="3200" dirty="0">
                <a:solidFill>
                  <a:srgbClr val="0066FF"/>
                </a:solidFill>
              </a:rPr>
              <a:t> </a:t>
            </a:r>
            <a:r>
              <a:rPr lang="vi-VN" sz="3200" dirty="0" err="1">
                <a:solidFill>
                  <a:srgbClr val="0066FF"/>
                </a:solidFill>
              </a:rPr>
              <a:t>trẻ</a:t>
            </a:r>
            <a:r>
              <a:rPr lang="vi-VN" sz="3200" dirty="0">
                <a:solidFill>
                  <a:srgbClr val="0066FF"/>
                </a:solidFill>
              </a:rPr>
              <a:t> </a:t>
            </a:r>
            <a:r>
              <a:rPr lang="vi-VN" sz="3200" dirty="0" err="1">
                <a:solidFill>
                  <a:srgbClr val="0066FF"/>
                </a:solidFill>
              </a:rPr>
              <a:t>và</a:t>
            </a:r>
            <a:r>
              <a:rPr lang="vi-VN" sz="3200" dirty="0">
                <a:solidFill>
                  <a:srgbClr val="0066FF"/>
                </a:solidFill>
              </a:rPr>
              <a:t> </a:t>
            </a:r>
            <a:r>
              <a:rPr lang="vi-VN" sz="3200" dirty="0" err="1">
                <a:solidFill>
                  <a:srgbClr val="0066FF"/>
                </a:solidFill>
              </a:rPr>
              <a:t>có</a:t>
            </a:r>
            <a:r>
              <a:rPr lang="vi-VN" sz="3200" dirty="0">
                <a:solidFill>
                  <a:srgbClr val="0066FF"/>
                </a:solidFill>
              </a:rPr>
              <a:t> </a:t>
            </a:r>
            <a:r>
              <a:rPr lang="vi-VN" sz="3200" dirty="0" err="1">
                <a:solidFill>
                  <a:srgbClr val="0066FF"/>
                </a:solidFill>
              </a:rPr>
              <a:t>mức</a:t>
            </a:r>
            <a:r>
              <a:rPr lang="vi-VN" sz="3200" dirty="0">
                <a:solidFill>
                  <a:srgbClr val="0066FF"/>
                </a:solidFill>
              </a:rPr>
              <a:t> lương </a:t>
            </a:r>
            <a:r>
              <a:rPr lang="vi-VN" sz="3200" dirty="0" err="1">
                <a:solidFill>
                  <a:srgbClr val="0066FF"/>
                </a:solidFill>
              </a:rPr>
              <a:t>thấp</a:t>
            </a:r>
            <a:r>
              <a:rPr lang="vi-VN" sz="3200" dirty="0">
                <a:solidFill>
                  <a:srgbClr val="0066FF"/>
                </a:solidFill>
              </a:rPr>
              <a:t> </a:t>
            </a:r>
            <a:r>
              <a:rPr lang="vi-VN" sz="3200" dirty="0" err="1">
                <a:solidFill>
                  <a:srgbClr val="0066FF"/>
                </a:solidFill>
              </a:rPr>
              <a:t>sẽ</a:t>
            </a:r>
            <a:r>
              <a:rPr lang="vi-VN" sz="3200" dirty="0">
                <a:solidFill>
                  <a:srgbClr val="0066FF"/>
                </a:solidFill>
              </a:rPr>
              <a:t> </a:t>
            </a:r>
            <a:r>
              <a:rPr lang="vi-VN" sz="3200" dirty="0" err="1">
                <a:solidFill>
                  <a:srgbClr val="0066FF"/>
                </a:solidFill>
              </a:rPr>
              <a:t>thường</a:t>
            </a:r>
            <a:r>
              <a:rPr lang="vi-VN" sz="3200" dirty="0">
                <a:solidFill>
                  <a:srgbClr val="0066FF"/>
                </a:solidFill>
              </a:rPr>
              <a:t> không mua </a:t>
            </a:r>
            <a:r>
              <a:rPr lang="vi-VN" sz="3200" dirty="0" err="1">
                <a:solidFill>
                  <a:srgbClr val="0066FF"/>
                </a:solidFill>
              </a:rPr>
              <a:t>hàng</a:t>
            </a:r>
            <a:r>
              <a:rPr lang="vi-VN" sz="3200" dirty="0">
                <a:solidFill>
                  <a:srgbClr val="0066FF"/>
                </a:solidFill>
              </a:rPr>
              <a:t>. </a:t>
            </a:r>
          </a:p>
          <a:p>
            <a:pPr algn="just"/>
            <a:r>
              <a:rPr lang="vi-VN" sz="3200" dirty="0" err="1">
                <a:solidFill>
                  <a:srgbClr val="FF0000"/>
                </a:solidFill>
              </a:rPr>
              <a:t>Ngược</a:t>
            </a:r>
            <a:r>
              <a:rPr lang="vi-VN" sz="3200" dirty="0">
                <a:solidFill>
                  <a:srgbClr val="FF0000"/>
                </a:solidFill>
              </a:rPr>
              <a:t> </a:t>
            </a:r>
            <a:r>
              <a:rPr lang="vi-VN" sz="3200" dirty="0" err="1">
                <a:solidFill>
                  <a:srgbClr val="FF0000"/>
                </a:solidFill>
              </a:rPr>
              <a:t>lại</a:t>
            </a:r>
            <a:r>
              <a:rPr lang="vi-VN" sz="3200" dirty="0">
                <a:solidFill>
                  <a:srgbClr val="FF0000"/>
                </a:solidFill>
              </a:rPr>
              <a:t>, </a:t>
            </a:r>
            <a:r>
              <a:rPr lang="vi-VN" sz="3200" dirty="0" err="1">
                <a:solidFill>
                  <a:srgbClr val="FF0000"/>
                </a:solidFill>
              </a:rPr>
              <a:t>khách</a:t>
            </a:r>
            <a:r>
              <a:rPr lang="vi-VN" sz="3200" dirty="0">
                <a:solidFill>
                  <a:srgbClr val="FF0000"/>
                </a:solidFill>
              </a:rPr>
              <a:t> </a:t>
            </a:r>
            <a:r>
              <a:rPr lang="vi-VN" sz="3200" dirty="0" err="1">
                <a:solidFill>
                  <a:srgbClr val="FF0000"/>
                </a:solidFill>
              </a:rPr>
              <a:t>hàng</a:t>
            </a:r>
            <a:r>
              <a:rPr lang="vi-VN" sz="3200" dirty="0">
                <a:solidFill>
                  <a:srgbClr val="FF0000"/>
                </a:solidFill>
              </a:rPr>
              <a:t> cao </a:t>
            </a:r>
            <a:r>
              <a:rPr lang="vi-VN" sz="3200" dirty="0" err="1">
                <a:solidFill>
                  <a:srgbClr val="FF0000"/>
                </a:solidFill>
              </a:rPr>
              <a:t>tuổi</a:t>
            </a:r>
            <a:r>
              <a:rPr lang="vi-VN" sz="3200" dirty="0">
                <a:solidFill>
                  <a:srgbClr val="FF0000"/>
                </a:solidFill>
              </a:rPr>
              <a:t> </a:t>
            </a:r>
            <a:r>
              <a:rPr lang="vi-VN" sz="3200" dirty="0" err="1">
                <a:solidFill>
                  <a:srgbClr val="FF0000"/>
                </a:solidFill>
              </a:rPr>
              <a:t>hoặc</a:t>
            </a:r>
            <a:r>
              <a:rPr lang="vi-VN" sz="3200" dirty="0">
                <a:solidFill>
                  <a:srgbClr val="FF0000"/>
                </a:solidFill>
              </a:rPr>
              <a:t> </a:t>
            </a:r>
            <a:r>
              <a:rPr lang="vi-VN" sz="3200" dirty="0" err="1">
                <a:solidFill>
                  <a:srgbClr val="FF0000"/>
                </a:solidFill>
              </a:rPr>
              <a:t>có</a:t>
            </a:r>
            <a:r>
              <a:rPr lang="vi-VN" sz="3200" dirty="0">
                <a:solidFill>
                  <a:srgbClr val="FF0000"/>
                </a:solidFill>
              </a:rPr>
              <a:t> lương cao </a:t>
            </a:r>
            <a:r>
              <a:rPr lang="vi-VN" sz="3200" dirty="0" err="1">
                <a:solidFill>
                  <a:srgbClr val="FF0000"/>
                </a:solidFill>
              </a:rPr>
              <a:t>sẽ</a:t>
            </a:r>
            <a:r>
              <a:rPr lang="vi-VN" sz="3200" dirty="0">
                <a:solidFill>
                  <a:srgbClr val="FF0000"/>
                </a:solidFill>
              </a:rPr>
              <a:t> </a:t>
            </a:r>
            <a:r>
              <a:rPr lang="vi-VN" sz="3200" dirty="0" err="1">
                <a:solidFill>
                  <a:srgbClr val="FF0000"/>
                </a:solidFill>
              </a:rPr>
              <a:t>thường</a:t>
            </a:r>
            <a:r>
              <a:rPr lang="vi-VN" sz="3200" dirty="0">
                <a:solidFill>
                  <a:srgbClr val="FF0000"/>
                </a:solidFill>
              </a:rPr>
              <a:t> mua </a:t>
            </a:r>
            <a:r>
              <a:rPr lang="vi-VN" sz="3200" dirty="0" err="1">
                <a:solidFill>
                  <a:srgbClr val="FF0000"/>
                </a:solidFill>
              </a:rPr>
              <a:t>hàng</a:t>
            </a:r>
            <a:r>
              <a:rPr lang="vi-VN" sz="3200" dirty="0">
                <a:solidFill>
                  <a:srgbClr val="FF0000"/>
                </a:solidFill>
              </a:rPr>
              <a:t> </a:t>
            </a:r>
            <a:r>
              <a:rPr lang="vi-VN" sz="3200" dirty="0" err="1">
                <a:solidFill>
                  <a:srgbClr val="FF0000"/>
                </a:solidFill>
              </a:rPr>
              <a:t>nhiều</a:t>
            </a:r>
            <a:r>
              <a:rPr lang="vi-VN" sz="3200" dirty="0">
                <a:solidFill>
                  <a:srgbClr val="FF0000"/>
                </a:solidFill>
              </a:rPr>
              <a:t> hơn.</a:t>
            </a:r>
          </a:p>
        </p:txBody>
      </p:sp>
    </p:spTree>
    <p:extLst>
      <p:ext uri="{BB962C8B-B14F-4D97-AF65-F5344CB8AC3E}">
        <p14:creationId xmlns:p14="http://schemas.microsoft.com/office/powerpoint/2010/main" val="2246326939"/>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89129D-638B-4DCA-830A-FBF9871433CE}"/>
              </a:ext>
            </a:extLst>
          </p:cNvPr>
          <p:cNvSpPr>
            <a:spLocks noGrp="1"/>
          </p:cNvSpPr>
          <p:nvPr>
            <p:ph type="title"/>
          </p:nvPr>
        </p:nvSpPr>
        <p:spPr/>
        <p:txBody>
          <a:bodyPr/>
          <a:lstStyle/>
          <a:p>
            <a:r>
              <a:rPr lang="en-US" dirty="0"/>
              <a:t>Support Vector Machine</a:t>
            </a:r>
            <a:endParaRPr lang="vi-VN" dirty="0"/>
          </a:p>
        </p:txBody>
      </p:sp>
      <p:sp>
        <p:nvSpPr>
          <p:cNvPr id="5" name="Text Placeholder 4">
            <a:extLst>
              <a:ext uri="{FF2B5EF4-FFF2-40B4-BE49-F238E27FC236}">
                <a16:creationId xmlns:a16="http://schemas.microsoft.com/office/drawing/2014/main" id="{0FB32012-D23F-4B9D-95F7-BA4EBADD5ACF}"/>
              </a:ext>
            </a:extLst>
          </p:cNvPr>
          <p:cNvSpPr>
            <a:spLocks noGrp="1"/>
          </p:cNvSpPr>
          <p:nvPr>
            <p:ph type="body" idx="1"/>
          </p:nvPr>
        </p:nvSpPr>
        <p:spPr/>
        <p:txBody>
          <a:bodyPr/>
          <a:lstStyle/>
          <a:p>
            <a:endParaRPr lang="vi-VN"/>
          </a:p>
        </p:txBody>
      </p:sp>
    </p:spTree>
    <p:extLst>
      <p:ext uri="{BB962C8B-B14F-4D97-AF65-F5344CB8AC3E}">
        <p14:creationId xmlns:p14="http://schemas.microsoft.com/office/powerpoint/2010/main" val="94658682"/>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89129D-638B-4DCA-830A-FBF9871433CE}"/>
              </a:ext>
            </a:extLst>
          </p:cNvPr>
          <p:cNvSpPr>
            <a:spLocks noGrp="1"/>
          </p:cNvSpPr>
          <p:nvPr>
            <p:ph type="title"/>
          </p:nvPr>
        </p:nvSpPr>
        <p:spPr>
          <a:xfrm>
            <a:off x="609600" y="274638"/>
            <a:ext cx="10972800" cy="1143000"/>
          </a:xfrm>
        </p:spPr>
        <p:txBody>
          <a:bodyPr/>
          <a:lstStyle/>
          <a:p>
            <a:r>
              <a:rPr lang="en-US" dirty="0"/>
              <a:t>Support Vector Machine</a:t>
            </a:r>
            <a:endParaRPr lang="vi-VN" dirty="0"/>
          </a:p>
        </p:txBody>
      </p:sp>
      <p:sp>
        <p:nvSpPr>
          <p:cNvPr id="2" name="Content Placeholder 1">
            <a:extLst>
              <a:ext uri="{FF2B5EF4-FFF2-40B4-BE49-F238E27FC236}">
                <a16:creationId xmlns:a16="http://schemas.microsoft.com/office/drawing/2014/main" id="{ED2CFB27-AAF2-4E13-B6AB-2FE55B0739B0}"/>
              </a:ext>
            </a:extLst>
          </p:cNvPr>
          <p:cNvSpPr>
            <a:spLocks noGrp="1"/>
          </p:cNvSpPr>
          <p:nvPr>
            <p:ph idx="1"/>
          </p:nvPr>
        </p:nvSpPr>
        <p:spPr>
          <a:xfrm>
            <a:off x="609600" y="1600201"/>
            <a:ext cx="10972800" cy="4525963"/>
          </a:xfrm>
        </p:spPr>
        <p:txBody>
          <a:bodyPr/>
          <a:lstStyle/>
          <a:p>
            <a:pPr algn="just"/>
            <a:r>
              <a:rPr lang="vi-VN" sz="2800" i="1" dirty="0" err="1">
                <a:solidFill>
                  <a:srgbClr val="0066FF"/>
                </a:solidFill>
              </a:rPr>
              <a:t>Support</a:t>
            </a:r>
            <a:r>
              <a:rPr lang="vi-VN" sz="2800" i="1" dirty="0">
                <a:solidFill>
                  <a:srgbClr val="0066FF"/>
                </a:solidFill>
              </a:rPr>
              <a:t> </a:t>
            </a:r>
            <a:r>
              <a:rPr lang="vi-VN" sz="2800" i="1" dirty="0" err="1">
                <a:solidFill>
                  <a:srgbClr val="0066FF"/>
                </a:solidFill>
              </a:rPr>
              <a:t>Vector</a:t>
            </a:r>
            <a:r>
              <a:rPr lang="vi-VN" sz="2800" i="1" dirty="0">
                <a:solidFill>
                  <a:srgbClr val="0066FF"/>
                </a:solidFill>
              </a:rPr>
              <a:t> </a:t>
            </a:r>
            <a:r>
              <a:rPr lang="vi-VN" sz="2800" i="1" dirty="0" err="1">
                <a:solidFill>
                  <a:srgbClr val="0066FF"/>
                </a:solidFill>
              </a:rPr>
              <a:t>Machine</a:t>
            </a:r>
            <a:r>
              <a:rPr lang="vi-VN" sz="2800" i="1" dirty="0">
                <a:solidFill>
                  <a:srgbClr val="0066FF"/>
                </a:solidFill>
              </a:rPr>
              <a:t> </a:t>
            </a:r>
            <a:r>
              <a:rPr lang="vi-VN" sz="2800" dirty="0" err="1">
                <a:solidFill>
                  <a:srgbClr val="0066FF"/>
                </a:solidFill>
              </a:rPr>
              <a:t>là</a:t>
            </a:r>
            <a:r>
              <a:rPr lang="vi-VN" sz="2800" dirty="0">
                <a:solidFill>
                  <a:srgbClr val="0066FF"/>
                </a:solidFill>
              </a:rPr>
              <a:t> </a:t>
            </a:r>
            <a:r>
              <a:rPr lang="vi-VN" sz="2800" dirty="0" err="1">
                <a:solidFill>
                  <a:srgbClr val="0066FF"/>
                </a:solidFill>
              </a:rPr>
              <a:t>một</a:t>
            </a:r>
            <a:r>
              <a:rPr lang="vi-VN" sz="2800" dirty="0">
                <a:solidFill>
                  <a:srgbClr val="0066FF"/>
                </a:solidFill>
              </a:rPr>
              <a:t> trong </a:t>
            </a:r>
            <a:r>
              <a:rPr lang="vi-VN" sz="2800" dirty="0" err="1">
                <a:solidFill>
                  <a:srgbClr val="0066FF"/>
                </a:solidFill>
              </a:rPr>
              <a:t>các</a:t>
            </a:r>
            <a:r>
              <a:rPr lang="vi-VN" sz="2800" dirty="0">
                <a:solidFill>
                  <a:srgbClr val="0066FF"/>
                </a:solidFill>
              </a:rPr>
              <a:t> </a:t>
            </a:r>
            <a:r>
              <a:rPr lang="vi-VN" sz="2800" dirty="0" err="1">
                <a:solidFill>
                  <a:srgbClr val="0066FF"/>
                </a:solidFill>
              </a:rPr>
              <a:t>thuật</a:t>
            </a:r>
            <a:r>
              <a:rPr lang="vi-VN" sz="2800" dirty="0">
                <a:solidFill>
                  <a:srgbClr val="0066FF"/>
                </a:solidFill>
              </a:rPr>
              <a:t> </a:t>
            </a:r>
            <a:r>
              <a:rPr lang="vi-VN" sz="2800" dirty="0" err="1">
                <a:solidFill>
                  <a:srgbClr val="0066FF"/>
                </a:solidFill>
              </a:rPr>
              <a:t>toán</a:t>
            </a:r>
            <a:r>
              <a:rPr lang="vi-VN" sz="2800" dirty="0">
                <a:solidFill>
                  <a:srgbClr val="0066FF"/>
                </a:solidFill>
              </a:rPr>
              <a:t> phân </a:t>
            </a:r>
            <a:r>
              <a:rPr lang="vi-VN" sz="2800" dirty="0" err="1">
                <a:solidFill>
                  <a:srgbClr val="0066FF"/>
                </a:solidFill>
              </a:rPr>
              <a:t>loại</a:t>
            </a:r>
            <a:r>
              <a:rPr lang="vi-VN" sz="2800" dirty="0">
                <a:solidFill>
                  <a:srgbClr val="0066FF"/>
                </a:solidFill>
              </a:rPr>
              <a:t> </a:t>
            </a:r>
            <a:r>
              <a:rPr lang="vi-VN" sz="2800" dirty="0" err="1">
                <a:solidFill>
                  <a:srgbClr val="0066FF"/>
                </a:solidFill>
              </a:rPr>
              <a:t>được</a:t>
            </a:r>
            <a:r>
              <a:rPr lang="vi-VN" sz="2800" dirty="0">
                <a:solidFill>
                  <a:srgbClr val="0066FF"/>
                </a:solidFill>
              </a:rPr>
              <a:t> </a:t>
            </a:r>
            <a:r>
              <a:rPr lang="vi-VN" sz="2800" dirty="0" err="1">
                <a:solidFill>
                  <a:srgbClr val="0066FF"/>
                </a:solidFill>
              </a:rPr>
              <a:t>sử</a:t>
            </a:r>
            <a:r>
              <a:rPr lang="vi-VN" sz="2800" dirty="0">
                <a:solidFill>
                  <a:srgbClr val="0066FF"/>
                </a:solidFill>
              </a:rPr>
              <a:t> </a:t>
            </a:r>
            <a:r>
              <a:rPr lang="vi-VN" sz="2800" dirty="0" err="1">
                <a:solidFill>
                  <a:srgbClr val="0066FF"/>
                </a:solidFill>
              </a:rPr>
              <a:t>dụng</a:t>
            </a:r>
            <a:r>
              <a:rPr lang="vi-VN" sz="2800" dirty="0">
                <a:solidFill>
                  <a:srgbClr val="0066FF"/>
                </a:solidFill>
              </a:rPr>
              <a:t> </a:t>
            </a:r>
            <a:r>
              <a:rPr lang="vi-VN" sz="2800" dirty="0" err="1">
                <a:solidFill>
                  <a:srgbClr val="0066FF"/>
                </a:solidFill>
              </a:rPr>
              <a:t>phổ</a:t>
            </a:r>
            <a:r>
              <a:rPr lang="vi-VN" sz="2800" dirty="0">
                <a:solidFill>
                  <a:srgbClr val="0066FF"/>
                </a:solidFill>
              </a:rPr>
              <a:t> </a:t>
            </a:r>
            <a:r>
              <a:rPr lang="vi-VN" sz="2800" dirty="0" err="1">
                <a:solidFill>
                  <a:srgbClr val="0066FF"/>
                </a:solidFill>
              </a:rPr>
              <a:t>biến</a:t>
            </a:r>
            <a:r>
              <a:rPr lang="vi-VN" sz="2800" dirty="0">
                <a:solidFill>
                  <a:srgbClr val="0066FF"/>
                </a:solidFill>
              </a:rPr>
              <a:t> </a:t>
            </a:r>
            <a:r>
              <a:rPr lang="vi-VN" sz="2800" dirty="0" err="1">
                <a:solidFill>
                  <a:srgbClr val="0066FF"/>
                </a:solidFill>
              </a:rPr>
              <a:t>nhất</a:t>
            </a:r>
            <a:r>
              <a:rPr lang="vi-VN" sz="2800" dirty="0">
                <a:solidFill>
                  <a:srgbClr val="0066FF"/>
                </a:solidFill>
              </a:rPr>
              <a:t> trong </a:t>
            </a:r>
            <a:r>
              <a:rPr lang="vi-VN" sz="2800" dirty="0" err="1">
                <a:solidFill>
                  <a:srgbClr val="0066FF"/>
                </a:solidFill>
              </a:rPr>
              <a:t>Machine</a:t>
            </a:r>
            <a:r>
              <a:rPr lang="vi-VN" sz="2800" dirty="0">
                <a:solidFill>
                  <a:srgbClr val="0066FF"/>
                </a:solidFill>
              </a:rPr>
              <a:t> </a:t>
            </a:r>
            <a:r>
              <a:rPr lang="vi-VN" sz="2800" dirty="0" err="1">
                <a:solidFill>
                  <a:srgbClr val="0066FF"/>
                </a:solidFill>
              </a:rPr>
              <a:t>Learning</a:t>
            </a:r>
            <a:r>
              <a:rPr lang="vi-VN" sz="2800" dirty="0">
                <a:solidFill>
                  <a:srgbClr val="0066FF"/>
                </a:solidFill>
              </a:rPr>
              <a:t>.</a:t>
            </a:r>
          </a:p>
          <a:p>
            <a:pPr algn="just"/>
            <a:r>
              <a:rPr lang="vi-VN" sz="2800" dirty="0">
                <a:solidFill>
                  <a:srgbClr val="FF0000"/>
                </a:solidFill>
              </a:rPr>
              <a:t>Đây </a:t>
            </a:r>
            <a:r>
              <a:rPr lang="vi-VN" sz="2800" dirty="0" err="1">
                <a:solidFill>
                  <a:srgbClr val="FF0000"/>
                </a:solidFill>
              </a:rPr>
              <a:t>là</a:t>
            </a:r>
            <a:r>
              <a:rPr lang="vi-VN" sz="2800" dirty="0">
                <a:solidFill>
                  <a:srgbClr val="FF0000"/>
                </a:solidFill>
              </a:rPr>
              <a:t> </a:t>
            </a:r>
            <a:r>
              <a:rPr lang="vi-VN" sz="2800" dirty="0" err="1">
                <a:solidFill>
                  <a:srgbClr val="FF0000"/>
                </a:solidFill>
              </a:rPr>
              <a:t>một</a:t>
            </a:r>
            <a:r>
              <a:rPr lang="vi-VN" sz="2800" dirty="0">
                <a:solidFill>
                  <a:srgbClr val="FF0000"/>
                </a:solidFill>
              </a:rPr>
              <a:t> </a:t>
            </a:r>
            <a:r>
              <a:rPr lang="vi-VN" sz="2800" dirty="0" err="1">
                <a:solidFill>
                  <a:srgbClr val="FF0000"/>
                </a:solidFill>
              </a:rPr>
              <a:t>thuật</a:t>
            </a:r>
            <a:r>
              <a:rPr lang="vi-VN" sz="2800" dirty="0">
                <a:solidFill>
                  <a:srgbClr val="FF0000"/>
                </a:solidFill>
              </a:rPr>
              <a:t> </a:t>
            </a:r>
            <a:r>
              <a:rPr lang="vi-VN" sz="2800" dirty="0" err="1">
                <a:solidFill>
                  <a:srgbClr val="FF0000"/>
                </a:solidFill>
              </a:rPr>
              <a:t>toán</a:t>
            </a:r>
            <a:r>
              <a:rPr lang="vi-VN" sz="2800" dirty="0">
                <a:solidFill>
                  <a:srgbClr val="FF0000"/>
                </a:solidFill>
              </a:rPr>
              <a:t> phân </a:t>
            </a:r>
            <a:r>
              <a:rPr lang="vi-VN" sz="2800" dirty="0" err="1">
                <a:solidFill>
                  <a:srgbClr val="FF0000"/>
                </a:solidFill>
              </a:rPr>
              <a:t>loại</a:t>
            </a:r>
            <a:r>
              <a:rPr lang="vi-VN" sz="2800" dirty="0">
                <a:solidFill>
                  <a:srgbClr val="FF0000"/>
                </a:solidFill>
              </a:rPr>
              <a:t> </a:t>
            </a:r>
            <a:r>
              <a:rPr lang="vi-VN" sz="2800" dirty="0" err="1">
                <a:solidFill>
                  <a:srgbClr val="FF0000"/>
                </a:solidFill>
              </a:rPr>
              <a:t>tuyến</a:t>
            </a:r>
            <a:r>
              <a:rPr lang="vi-VN" sz="2800" dirty="0">
                <a:solidFill>
                  <a:srgbClr val="FF0000"/>
                </a:solidFill>
              </a:rPr>
              <a:t> </a:t>
            </a:r>
            <a:r>
              <a:rPr lang="vi-VN" sz="2800" dirty="0" err="1">
                <a:solidFill>
                  <a:srgbClr val="FF0000"/>
                </a:solidFill>
              </a:rPr>
              <a:t>tính</a:t>
            </a:r>
            <a:r>
              <a:rPr lang="vi-VN" sz="2800" dirty="0">
                <a:solidFill>
                  <a:srgbClr val="FF0000"/>
                </a:solidFill>
              </a:rPr>
              <a:t>. </a:t>
            </a:r>
            <a:r>
              <a:rPr lang="vi-VN" sz="2800" dirty="0" err="1">
                <a:solidFill>
                  <a:srgbClr val="FF0000"/>
                </a:solidFill>
              </a:rPr>
              <a:t>Tức</a:t>
            </a:r>
            <a:r>
              <a:rPr lang="vi-VN" sz="2800" dirty="0">
                <a:solidFill>
                  <a:srgbClr val="FF0000"/>
                </a:solidFill>
              </a:rPr>
              <a:t> </a:t>
            </a:r>
            <a:r>
              <a:rPr lang="vi-VN" sz="2800" dirty="0" err="1">
                <a:solidFill>
                  <a:srgbClr val="FF0000"/>
                </a:solidFill>
              </a:rPr>
              <a:t>là</a:t>
            </a:r>
            <a:r>
              <a:rPr lang="vi-VN" sz="2800" dirty="0">
                <a:solidFill>
                  <a:srgbClr val="FF0000"/>
                </a:solidFill>
              </a:rPr>
              <a:t> sau khi </a:t>
            </a:r>
            <a:r>
              <a:rPr lang="vi-VN" sz="2800" dirty="0" err="1">
                <a:solidFill>
                  <a:srgbClr val="FF0000"/>
                </a:solidFill>
              </a:rPr>
              <a:t>huấn</a:t>
            </a:r>
            <a:r>
              <a:rPr lang="vi-VN" sz="2800" dirty="0">
                <a:solidFill>
                  <a:srgbClr val="FF0000"/>
                </a:solidFill>
              </a:rPr>
              <a:t> </a:t>
            </a:r>
            <a:r>
              <a:rPr lang="vi-VN" sz="2800" dirty="0" err="1">
                <a:solidFill>
                  <a:srgbClr val="FF0000"/>
                </a:solidFill>
              </a:rPr>
              <a:t>luyện</a:t>
            </a:r>
            <a:r>
              <a:rPr lang="vi-VN" sz="2800" dirty="0">
                <a:solidFill>
                  <a:srgbClr val="FF0000"/>
                </a:solidFill>
              </a:rPr>
              <a:t>, ta thu </a:t>
            </a:r>
            <a:r>
              <a:rPr lang="vi-VN" sz="2800" dirty="0" err="1">
                <a:solidFill>
                  <a:srgbClr val="FF0000"/>
                </a:solidFill>
              </a:rPr>
              <a:t>được</a:t>
            </a:r>
            <a:r>
              <a:rPr lang="vi-VN" sz="2800" dirty="0">
                <a:solidFill>
                  <a:srgbClr val="FF0000"/>
                </a:solidFill>
              </a:rPr>
              <a:t> </a:t>
            </a:r>
            <a:r>
              <a:rPr lang="vi-VN" sz="2800" dirty="0" err="1">
                <a:solidFill>
                  <a:srgbClr val="FF0000"/>
                </a:solidFill>
              </a:rPr>
              <a:t>các</a:t>
            </a:r>
            <a:r>
              <a:rPr lang="vi-VN" sz="2800" dirty="0">
                <a:solidFill>
                  <a:srgbClr val="FF0000"/>
                </a:solidFill>
              </a:rPr>
              <a:t> siêu </a:t>
            </a:r>
            <a:r>
              <a:rPr lang="vi-VN" sz="2800">
                <a:solidFill>
                  <a:srgbClr val="FF0000"/>
                </a:solidFill>
              </a:rPr>
              <a:t>phẳng</a:t>
            </a:r>
            <a:r>
              <a:rPr lang="vi-VN" sz="2800" dirty="0">
                <a:solidFill>
                  <a:srgbClr val="FF0000"/>
                </a:solidFill>
              </a:rPr>
              <a:t> phân chia </a:t>
            </a:r>
            <a:r>
              <a:rPr lang="vi-VN" sz="2800" dirty="0" err="1">
                <a:solidFill>
                  <a:srgbClr val="FF0000"/>
                </a:solidFill>
              </a:rPr>
              <a:t>các</a:t>
            </a:r>
            <a:r>
              <a:rPr lang="vi-VN" sz="2800" dirty="0">
                <a:solidFill>
                  <a:srgbClr val="FF0000"/>
                </a:solidFill>
              </a:rPr>
              <a:t> </a:t>
            </a:r>
            <a:r>
              <a:rPr lang="vi-VN" sz="2800" dirty="0" err="1">
                <a:solidFill>
                  <a:srgbClr val="FF0000"/>
                </a:solidFill>
              </a:rPr>
              <a:t>lớp</a:t>
            </a:r>
            <a:r>
              <a:rPr lang="vi-VN" sz="2800" dirty="0">
                <a:solidFill>
                  <a:srgbClr val="FF0000"/>
                </a:solidFill>
              </a:rPr>
              <a:t> </a:t>
            </a:r>
            <a:r>
              <a:rPr lang="vi-VN" sz="2800" dirty="0" err="1">
                <a:solidFill>
                  <a:srgbClr val="FF0000"/>
                </a:solidFill>
              </a:rPr>
              <a:t>dữ</a:t>
            </a:r>
            <a:r>
              <a:rPr lang="vi-VN" sz="2800" dirty="0">
                <a:solidFill>
                  <a:srgbClr val="FF0000"/>
                </a:solidFill>
              </a:rPr>
              <a:t> </a:t>
            </a:r>
            <a:r>
              <a:rPr lang="vi-VN" sz="2800" dirty="0" err="1">
                <a:solidFill>
                  <a:srgbClr val="FF0000"/>
                </a:solidFill>
              </a:rPr>
              <a:t>liệu</a:t>
            </a:r>
            <a:r>
              <a:rPr lang="vi-VN" sz="2800" dirty="0">
                <a:solidFill>
                  <a:srgbClr val="FF0000"/>
                </a:solidFill>
              </a:rPr>
              <a:t> </a:t>
            </a:r>
            <a:r>
              <a:rPr lang="vi-VN" sz="2800" dirty="0" err="1">
                <a:solidFill>
                  <a:srgbClr val="FF0000"/>
                </a:solidFill>
              </a:rPr>
              <a:t>với</a:t>
            </a:r>
            <a:r>
              <a:rPr lang="vi-VN" sz="2800" dirty="0">
                <a:solidFill>
                  <a:srgbClr val="FF0000"/>
                </a:solidFill>
              </a:rPr>
              <a:t> nhau, </a:t>
            </a:r>
            <a:r>
              <a:rPr lang="vi-VN" sz="2800" dirty="0" err="1">
                <a:solidFill>
                  <a:srgbClr val="FF0000"/>
                </a:solidFill>
              </a:rPr>
              <a:t>giống</a:t>
            </a:r>
            <a:r>
              <a:rPr lang="vi-VN" sz="2800" dirty="0">
                <a:solidFill>
                  <a:srgbClr val="FF0000"/>
                </a:solidFill>
              </a:rPr>
              <a:t> như </a:t>
            </a:r>
            <a:r>
              <a:rPr lang="vi-VN" sz="2800" dirty="0" err="1">
                <a:solidFill>
                  <a:srgbClr val="FF0000"/>
                </a:solidFill>
              </a:rPr>
              <a:t>thuật</a:t>
            </a:r>
            <a:r>
              <a:rPr lang="vi-VN" sz="2800" dirty="0">
                <a:solidFill>
                  <a:srgbClr val="FF0000"/>
                </a:solidFill>
              </a:rPr>
              <a:t> </a:t>
            </a:r>
            <a:r>
              <a:rPr lang="vi-VN" sz="2800" dirty="0" err="1">
                <a:solidFill>
                  <a:srgbClr val="FF0000"/>
                </a:solidFill>
              </a:rPr>
              <a:t>toán</a:t>
            </a:r>
            <a:r>
              <a:rPr lang="vi-VN" sz="2800" dirty="0">
                <a:solidFill>
                  <a:srgbClr val="FF0000"/>
                </a:solidFill>
              </a:rPr>
              <a:t> </a:t>
            </a:r>
            <a:r>
              <a:rPr lang="vi-VN" sz="2800" dirty="0" err="1">
                <a:solidFill>
                  <a:srgbClr val="FF0000"/>
                </a:solidFill>
              </a:rPr>
              <a:t>Logistic</a:t>
            </a:r>
            <a:r>
              <a:rPr lang="vi-VN" sz="2800" dirty="0">
                <a:solidFill>
                  <a:srgbClr val="FF0000"/>
                </a:solidFill>
              </a:rPr>
              <a:t> </a:t>
            </a:r>
            <a:r>
              <a:rPr lang="vi-VN" sz="2800" dirty="0" err="1">
                <a:solidFill>
                  <a:srgbClr val="FF0000"/>
                </a:solidFill>
              </a:rPr>
              <a:t>Regression</a:t>
            </a:r>
            <a:r>
              <a:rPr lang="vi-VN" sz="2800" dirty="0">
                <a:solidFill>
                  <a:srgbClr val="FF0000"/>
                </a:solidFill>
              </a:rPr>
              <a:t>.</a:t>
            </a:r>
          </a:p>
          <a:p>
            <a:pPr algn="just"/>
            <a:r>
              <a:rPr lang="vi-VN" sz="2800" dirty="0" err="1">
                <a:solidFill>
                  <a:srgbClr val="0066FF"/>
                </a:solidFill>
              </a:rPr>
              <a:t>Mục</a:t>
            </a:r>
            <a:r>
              <a:rPr lang="vi-VN" sz="2800" dirty="0">
                <a:solidFill>
                  <a:srgbClr val="0066FF"/>
                </a:solidFill>
              </a:rPr>
              <a:t> tiêu </a:t>
            </a:r>
            <a:r>
              <a:rPr lang="vi-VN" sz="2800" dirty="0" err="1">
                <a:solidFill>
                  <a:srgbClr val="0066FF"/>
                </a:solidFill>
              </a:rPr>
              <a:t>của</a:t>
            </a:r>
            <a:r>
              <a:rPr lang="vi-VN" sz="2800" dirty="0">
                <a:solidFill>
                  <a:srgbClr val="0066FF"/>
                </a:solidFill>
              </a:rPr>
              <a:t> </a:t>
            </a:r>
            <a:r>
              <a:rPr lang="vi-VN" sz="2800" dirty="0" err="1">
                <a:solidFill>
                  <a:srgbClr val="0066FF"/>
                </a:solidFill>
              </a:rPr>
              <a:t>thuật</a:t>
            </a:r>
            <a:r>
              <a:rPr lang="vi-VN" sz="2800" dirty="0">
                <a:solidFill>
                  <a:srgbClr val="0066FF"/>
                </a:solidFill>
              </a:rPr>
              <a:t> </a:t>
            </a:r>
            <a:r>
              <a:rPr lang="vi-VN" sz="2800" dirty="0" err="1">
                <a:solidFill>
                  <a:srgbClr val="0066FF"/>
                </a:solidFill>
              </a:rPr>
              <a:t>toán</a:t>
            </a:r>
            <a:r>
              <a:rPr lang="vi-VN" sz="2800" dirty="0">
                <a:solidFill>
                  <a:srgbClr val="0066FF"/>
                </a:solidFill>
              </a:rPr>
              <a:t> </a:t>
            </a:r>
            <a:r>
              <a:rPr lang="vi-VN" sz="2800" dirty="0" err="1">
                <a:solidFill>
                  <a:srgbClr val="0066FF"/>
                </a:solidFill>
              </a:rPr>
              <a:t>này</a:t>
            </a:r>
            <a:r>
              <a:rPr lang="vi-VN" sz="2800" dirty="0">
                <a:solidFill>
                  <a:srgbClr val="0066FF"/>
                </a:solidFill>
              </a:rPr>
              <a:t> không </a:t>
            </a:r>
            <a:r>
              <a:rPr lang="vi-VN" sz="2800" dirty="0" err="1">
                <a:solidFill>
                  <a:srgbClr val="0066FF"/>
                </a:solidFill>
              </a:rPr>
              <a:t>những</a:t>
            </a:r>
            <a:r>
              <a:rPr lang="vi-VN" sz="2800" dirty="0">
                <a:solidFill>
                  <a:srgbClr val="0066FF"/>
                </a:solidFill>
              </a:rPr>
              <a:t> phân chia </a:t>
            </a:r>
            <a:r>
              <a:rPr lang="vi-VN" sz="2800" dirty="0" err="1">
                <a:solidFill>
                  <a:srgbClr val="0066FF"/>
                </a:solidFill>
              </a:rPr>
              <a:t>được</a:t>
            </a:r>
            <a:r>
              <a:rPr lang="vi-VN" sz="2800" dirty="0">
                <a:solidFill>
                  <a:srgbClr val="0066FF"/>
                </a:solidFill>
              </a:rPr>
              <a:t> </a:t>
            </a:r>
            <a:r>
              <a:rPr lang="vi-VN" sz="2800" dirty="0" err="1">
                <a:solidFill>
                  <a:srgbClr val="0066FF"/>
                </a:solidFill>
              </a:rPr>
              <a:t>các</a:t>
            </a:r>
            <a:r>
              <a:rPr lang="vi-VN" sz="2800" dirty="0">
                <a:solidFill>
                  <a:srgbClr val="0066FF"/>
                </a:solidFill>
              </a:rPr>
              <a:t> </a:t>
            </a:r>
            <a:r>
              <a:rPr lang="vi-VN" sz="2800" dirty="0" err="1">
                <a:solidFill>
                  <a:srgbClr val="0066FF"/>
                </a:solidFill>
              </a:rPr>
              <a:t>lớp</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a:t>
            </a:r>
            <a:r>
              <a:rPr lang="vi-VN" sz="2800" dirty="0" err="1">
                <a:solidFill>
                  <a:srgbClr val="0066FF"/>
                </a:solidFill>
              </a:rPr>
              <a:t>với</a:t>
            </a:r>
            <a:r>
              <a:rPr lang="vi-VN" sz="2800" dirty="0">
                <a:solidFill>
                  <a:srgbClr val="0066FF"/>
                </a:solidFill>
              </a:rPr>
              <a:t> nhau, </a:t>
            </a:r>
            <a:r>
              <a:rPr lang="vi-VN" sz="2800" dirty="0" err="1">
                <a:solidFill>
                  <a:srgbClr val="0066FF"/>
                </a:solidFill>
              </a:rPr>
              <a:t>mà</a:t>
            </a:r>
            <a:r>
              <a:rPr lang="vi-VN" sz="2800" dirty="0">
                <a:solidFill>
                  <a:srgbClr val="0066FF"/>
                </a:solidFill>
              </a:rPr>
              <a:t> </a:t>
            </a:r>
            <a:r>
              <a:rPr lang="vi-VN" sz="2800" dirty="0" err="1">
                <a:solidFill>
                  <a:srgbClr val="0066FF"/>
                </a:solidFill>
              </a:rPr>
              <a:t>còn</a:t>
            </a:r>
            <a:r>
              <a:rPr lang="vi-VN" sz="2800" dirty="0">
                <a:solidFill>
                  <a:srgbClr val="0066FF"/>
                </a:solidFill>
              </a:rPr>
              <a:t> </a:t>
            </a:r>
            <a:r>
              <a:rPr lang="vi-VN" sz="2800" dirty="0" err="1">
                <a:solidFill>
                  <a:srgbClr val="0066FF"/>
                </a:solidFill>
              </a:rPr>
              <a:t>tìm</a:t>
            </a:r>
            <a:r>
              <a:rPr lang="vi-VN" sz="2800" dirty="0">
                <a:solidFill>
                  <a:srgbClr val="0066FF"/>
                </a:solidFill>
              </a:rPr>
              <a:t> </a:t>
            </a:r>
            <a:r>
              <a:rPr lang="vi-VN" sz="2800" dirty="0" err="1">
                <a:solidFill>
                  <a:srgbClr val="0066FF"/>
                </a:solidFill>
              </a:rPr>
              <a:t>cách</a:t>
            </a:r>
            <a:r>
              <a:rPr lang="vi-VN" sz="2800" dirty="0">
                <a:solidFill>
                  <a:srgbClr val="0066FF"/>
                </a:solidFill>
              </a:rPr>
              <a:t> </a:t>
            </a:r>
            <a:r>
              <a:rPr lang="vi-VN" sz="2800" dirty="0" err="1">
                <a:solidFill>
                  <a:srgbClr val="0066FF"/>
                </a:solidFill>
              </a:rPr>
              <a:t>để</a:t>
            </a:r>
            <a:r>
              <a:rPr lang="vi-VN" sz="2800" dirty="0">
                <a:solidFill>
                  <a:srgbClr val="0066FF"/>
                </a:solidFill>
              </a:rPr>
              <a:t> </a:t>
            </a:r>
            <a:r>
              <a:rPr lang="vi-VN" sz="2800" dirty="0" err="1">
                <a:solidFill>
                  <a:srgbClr val="0066FF"/>
                </a:solidFill>
              </a:rPr>
              <a:t>tối</a:t>
            </a:r>
            <a:r>
              <a:rPr lang="vi-VN" sz="2800" dirty="0">
                <a:solidFill>
                  <a:srgbClr val="0066FF"/>
                </a:solidFill>
              </a:rPr>
              <a:t> đa </a:t>
            </a:r>
            <a:r>
              <a:rPr lang="vi-VN" sz="2800" dirty="0" err="1">
                <a:solidFill>
                  <a:srgbClr val="0066FF"/>
                </a:solidFill>
              </a:rPr>
              <a:t>khoảng</a:t>
            </a:r>
            <a:r>
              <a:rPr lang="vi-VN" sz="2800" dirty="0">
                <a:solidFill>
                  <a:srgbClr val="0066FF"/>
                </a:solidFill>
              </a:rPr>
              <a:t> </a:t>
            </a:r>
            <a:r>
              <a:rPr lang="vi-VN" sz="2800" dirty="0" err="1">
                <a:solidFill>
                  <a:srgbClr val="0066FF"/>
                </a:solidFill>
              </a:rPr>
              <a:t>cách</a:t>
            </a:r>
            <a:r>
              <a:rPr lang="vi-VN" sz="2800" dirty="0">
                <a:solidFill>
                  <a:srgbClr val="0066FF"/>
                </a:solidFill>
              </a:rPr>
              <a:t> </a:t>
            </a:r>
            <a:r>
              <a:rPr lang="vi-VN" sz="2800" dirty="0" err="1">
                <a:solidFill>
                  <a:srgbClr val="0066FF"/>
                </a:solidFill>
              </a:rPr>
              <a:t>giữa</a:t>
            </a:r>
            <a:r>
              <a:rPr lang="vi-VN" sz="2800" dirty="0">
                <a:solidFill>
                  <a:srgbClr val="0066FF"/>
                </a:solidFill>
              </a:rPr>
              <a:t> </a:t>
            </a:r>
            <a:r>
              <a:rPr lang="vi-VN" sz="2800" dirty="0" err="1">
                <a:solidFill>
                  <a:srgbClr val="0066FF"/>
                </a:solidFill>
              </a:rPr>
              <a:t>đường</a:t>
            </a:r>
            <a:r>
              <a:rPr lang="vi-VN" sz="2800" dirty="0">
                <a:solidFill>
                  <a:srgbClr val="0066FF"/>
                </a:solidFill>
              </a:rPr>
              <a:t> phân chia </a:t>
            </a:r>
            <a:r>
              <a:rPr lang="vi-VN" sz="2800" dirty="0" err="1">
                <a:solidFill>
                  <a:srgbClr val="0066FF"/>
                </a:solidFill>
              </a:rPr>
              <a:t>với</a:t>
            </a:r>
            <a:r>
              <a:rPr lang="vi-VN" sz="2800" dirty="0">
                <a:solidFill>
                  <a:srgbClr val="0066FF"/>
                </a:solidFill>
              </a:rPr>
              <a:t> </a:t>
            </a:r>
            <a:r>
              <a:rPr lang="vi-VN" sz="2800" dirty="0" err="1">
                <a:solidFill>
                  <a:srgbClr val="0066FF"/>
                </a:solidFill>
              </a:rPr>
              <a:t>các</a:t>
            </a:r>
            <a:r>
              <a:rPr lang="vi-VN" sz="2800" dirty="0">
                <a:solidFill>
                  <a:srgbClr val="0066FF"/>
                </a:solidFill>
              </a:rPr>
              <a:t> </a:t>
            </a:r>
            <a:r>
              <a:rPr lang="vi-VN" sz="2800" dirty="0" err="1">
                <a:solidFill>
                  <a:srgbClr val="0066FF"/>
                </a:solidFill>
              </a:rPr>
              <a:t>điểm</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a:t>
            </a:r>
            <a:r>
              <a:rPr lang="vi-VN" sz="2800" dirty="0" err="1">
                <a:solidFill>
                  <a:srgbClr val="0066FF"/>
                </a:solidFill>
              </a:rPr>
              <a:t>giữa</a:t>
            </a:r>
            <a:r>
              <a:rPr lang="vi-VN" sz="2800" dirty="0">
                <a:solidFill>
                  <a:srgbClr val="0066FF"/>
                </a:solidFill>
              </a:rPr>
              <a:t> </a:t>
            </a:r>
            <a:r>
              <a:rPr lang="vi-VN" sz="2800" dirty="0" err="1">
                <a:solidFill>
                  <a:srgbClr val="0066FF"/>
                </a:solidFill>
              </a:rPr>
              <a:t>các</a:t>
            </a:r>
            <a:r>
              <a:rPr lang="vi-VN" sz="2800" dirty="0">
                <a:solidFill>
                  <a:srgbClr val="0066FF"/>
                </a:solidFill>
              </a:rPr>
              <a:t> </a:t>
            </a:r>
            <a:r>
              <a:rPr lang="vi-VN" sz="2800" dirty="0" err="1">
                <a:solidFill>
                  <a:srgbClr val="0066FF"/>
                </a:solidFill>
              </a:rPr>
              <a:t>lớp</a:t>
            </a:r>
            <a:r>
              <a:rPr lang="vi-VN" sz="2800" dirty="0">
                <a:solidFill>
                  <a:srgbClr val="0066FF"/>
                </a:solidFill>
              </a:rPr>
              <a:t> (</a:t>
            </a:r>
            <a:r>
              <a:rPr lang="vi-VN" sz="2800" dirty="0" err="1">
                <a:solidFill>
                  <a:srgbClr val="0066FF"/>
                </a:solidFill>
              </a:rPr>
              <a:t>maximum</a:t>
            </a:r>
            <a:r>
              <a:rPr lang="vi-VN" sz="2800" dirty="0">
                <a:solidFill>
                  <a:srgbClr val="0066FF"/>
                </a:solidFill>
              </a:rPr>
              <a:t> </a:t>
            </a:r>
            <a:r>
              <a:rPr lang="vi-VN" sz="2800" dirty="0" err="1">
                <a:solidFill>
                  <a:srgbClr val="0066FF"/>
                </a:solidFill>
              </a:rPr>
              <a:t>margin</a:t>
            </a:r>
            <a:r>
              <a:rPr lang="vi-VN" sz="2800" dirty="0">
                <a:solidFill>
                  <a:srgbClr val="0066FF"/>
                </a:solidFill>
              </a:rPr>
              <a:t>).</a:t>
            </a:r>
          </a:p>
        </p:txBody>
      </p:sp>
    </p:spTree>
    <p:extLst>
      <p:ext uri="{BB962C8B-B14F-4D97-AF65-F5344CB8AC3E}">
        <p14:creationId xmlns:p14="http://schemas.microsoft.com/office/powerpoint/2010/main" val="1553660186"/>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89129D-638B-4DCA-830A-FBF9871433CE}"/>
              </a:ext>
            </a:extLst>
          </p:cNvPr>
          <p:cNvSpPr>
            <a:spLocks noGrp="1"/>
          </p:cNvSpPr>
          <p:nvPr>
            <p:ph type="title"/>
          </p:nvPr>
        </p:nvSpPr>
        <p:spPr>
          <a:xfrm>
            <a:off x="609600" y="274638"/>
            <a:ext cx="10972800" cy="1143000"/>
          </a:xfrm>
        </p:spPr>
        <p:txBody>
          <a:bodyPr/>
          <a:lstStyle/>
          <a:p>
            <a:r>
              <a:rPr lang="en-US" dirty="0"/>
              <a:t>Support Vector Machine</a:t>
            </a:r>
            <a:endParaRPr lang="vi-VN" dirty="0"/>
          </a:p>
        </p:txBody>
      </p:sp>
      <p:sp>
        <p:nvSpPr>
          <p:cNvPr id="2" name="Content Placeholder 1">
            <a:extLst>
              <a:ext uri="{FF2B5EF4-FFF2-40B4-BE49-F238E27FC236}">
                <a16:creationId xmlns:a16="http://schemas.microsoft.com/office/drawing/2014/main" id="{ED2CFB27-AAF2-4E13-B6AB-2FE55B0739B0}"/>
              </a:ext>
            </a:extLst>
          </p:cNvPr>
          <p:cNvSpPr>
            <a:spLocks noGrp="1"/>
          </p:cNvSpPr>
          <p:nvPr>
            <p:ph idx="1"/>
          </p:nvPr>
        </p:nvSpPr>
        <p:spPr>
          <a:xfrm>
            <a:off x="609600" y="1600201"/>
            <a:ext cx="10972800" cy="4525963"/>
          </a:xfrm>
        </p:spPr>
        <p:txBody>
          <a:bodyPr/>
          <a:lstStyle/>
          <a:p>
            <a:pPr algn="just"/>
            <a:r>
              <a:rPr lang="vi-VN" sz="2800" dirty="0" err="1">
                <a:solidFill>
                  <a:srgbClr val="0066FF"/>
                </a:solidFill>
              </a:rPr>
              <a:t>Các</a:t>
            </a:r>
            <a:r>
              <a:rPr lang="vi-VN" sz="2800" dirty="0">
                <a:solidFill>
                  <a:srgbClr val="0066FF"/>
                </a:solidFill>
              </a:rPr>
              <a:t> mô </a:t>
            </a:r>
            <a:r>
              <a:rPr lang="vi-VN" sz="2800" dirty="0" err="1">
                <a:solidFill>
                  <a:srgbClr val="0066FF"/>
                </a:solidFill>
              </a:rPr>
              <a:t>hình</a:t>
            </a:r>
            <a:r>
              <a:rPr lang="vi-VN" sz="2800" dirty="0">
                <a:solidFill>
                  <a:srgbClr val="0066FF"/>
                </a:solidFill>
              </a:rPr>
              <a:t> phân </a:t>
            </a:r>
            <a:r>
              <a:rPr lang="vi-VN" sz="2800" dirty="0" err="1">
                <a:solidFill>
                  <a:srgbClr val="0066FF"/>
                </a:solidFill>
              </a:rPr>
              <a:t>loại</a:t>
            </a:r>
            <a:r>
              <a:rPr lang="vi-VN" sz="2800" dirty="0">
                <a:solidFill>
                  <a:srgbClr val="0066FF"/>
                </a:solidFill>
              </a:rPr>
              <a:t> </a:t>
            </a:r>
            <a:r>
              <a:rPr lang="vi-VN" sz="2800" dirty="0" err="1">
                <a:solidFill>
                  <a:srgbClr val="0066FF"/>
                </a:solidFill>
              </a:rPr>
              <a:t>tuyến</a:t>
            </a:r>
            <a:r>
              <a:rPr lang="vi-VN" sz="2800" dirty="0">
                <a:solidFill>
                  <a:srgbClr val="0066FF"/>
                </a:solidFill>
              </a:rPr>
              <a:t> </a:t>
            </a:r>
            <a:r>
              <a:rPr lang="vi-VN" sz="2800" dirty="0" err="1">
                <a:solidFill>
                  <a:srgbClr val="0066FF"/>
                </a:solidFill>
              </a:rPr>
              <a:t>tính</a:t>
            </a:r>
            <a:r>
              <a:rPr lang="vi-VN" sz="2800" dirty="0">
                <a:solidFill>
                  <a:srgbClr val="0066FF"/>
                </a:solidFill>
              </a:rPr>
              <a:t> </a:t>
            </a:r>
            <a:r>
              <a:rPr lang="vi-VN" sz="2800" dirty="0" err="1">
                <a:solidFill>
                  <a:srgbClr val="0066FF"/>
                </a:solidFill>
              </a:rPr>
              <a:t>khác</a:t>
            </a:r>
            <a:r>
              <a:rPr lang="vi-VN" sz="2800" dirty="0">
                <a:solidFill>
                  <a:srgbClr val="0066FF"/>
                </a:solidFill>
              </a:rPr>
              <a:t>.</a:t>
            </a:r>
          </a:p>
        </p:txBody>
      </p:sp>
      <p:pic>
        <p:nvPicPr>
          <p:cNvPr id="7" name="Picture 6">
            <a:extLst>
              <a:ext uri="{FF2B5EF4-FFF2-40B4-BE49-F238E27FC236}">
                <a16:creationId xmlns:a16="http://schemas.microsoft.com/office/drawing/2014/main" id="{58DA730D-38C6-4006-915F-6C4759A32D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0900" y="2150534"/>
            <a:ext cx="5410200" cy="3938249"/>
          </a:xfrm>
          <a:prstGeom prst="rect">
            <a:avLst/>
          </a:prstGeom>
        </p:spPr>
      </p:pic>
    </p:spTree>
    <p:extLst>
      <p:ext uri="{BB962C8B-B14F-4D97-AF65-F5344CB8AC3E}">
        <p14:creationId xmlns:p14="http://schemas.microsoft.com/office/powerpoint/2010/main" val="3329663816"/>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89129D-638B-4DCA-830A-FBF9871433CE}"/>
              </a:ext>
            </a:extLst>
          </p:cNvPr>
          <p:cNvSpPr>
            <a:spLocks noGrp="1"/>
          </p:cNvSpPr>
          <p:nvPr>
            <p:ph type="title"/>
          </p:nvPr>
        </p:nvSpPr>
        <p:spPr>
          <a:xfrm>
            <a:off x="609600" y="274638"/>
            <a:ext cx="10972800" cy="1143000"/>
          </a:xfrm>
        </p:spPr>
        <p:txBody>
          <a:bodyPr/>
          <a:lstStyle/>
          <a:p>
            <a:r>
              <a:rPr lang="en-US" dirty="0"/>
              <a:t>Support Vector Machine</a:t>
            </a:r>
            <a:endParaRPr lang="vi-VN" dirty="0"/>
          </a:p>
        </p:txBody>
      </p:sp>
      <p:sp>
        <p:nvSpPr>
          <p:cNvPr id="2" name="Content Placeholder 1">
            <a:extLst>
              <a:ext uri="{FF2B5EF4-FFF2-40B4-BE49-F238E27FC236}">
                <a16:creationId xmlns:a16="http://schemas.microsoft.com/office/drawing/2014/main" id="{ED2CFB27-AAF2-4E13-B6AB-2FE55B0739B0}"/>
              </a:ext>
            </a:extLst>
          </p:cNvPr>
          <p:cNvSpPr>
            <a:spLocks noGrp="1"/>
          </p:cNvSpPr>
          <p:nvPr>
            <p:ph idx="1"/>
          </p:nvPr>
        </p:nvSpPr>
        <p:spPr>
          <a:xfrm>
            <a:off x="609600" y="1600201"/>
            <a:ext cx="10972800" cy="4525963"/>
          </a:xfrm>
        </p:spPr>
        <p:txBody>
          <a:bodyPr/>
          <a:lstStyle/>
          <a:p>
            <a:pPr algn="just"/>
            <a:r>
              <a:rPr lang="vi-VN" sz="2800" dirty="0">
                <a:solidFill>
                  <a:srgbClr val="0066FF"/>
                </a:solidFill>
              </a:rPr>
              <a:t>Mô </a:t>
            </a:r>
            <a:r>
              <a:rPr lang="vi-VN" sz="2800" dirty="0" err="1">
                <a:solidFill>
                  <a:srgbClr val="0066FF"/>
                </a:solidFill>
              </a:rPr>
              <a:t>hình</a:t>
            </a:r>
            <a:r>
              <a:rPr lang="vi-VN" sz="2800" dirty="0">
                <a:solidFill>
                  <a:srgbClr val="0066FF"/>
                </a:solidFill>
              </a:rPr>
              <a:t> SVM.</a:t>
            </a:r>
          </a:p>
        </p:txBody>
      </p:sp>
      <p:pic>
        <p:nvPicPr>
          <p:cNvPr id="5" name="Picture 4">
            <a:extLst>
              <a:ext uri="{FF2B5EF4-FFF2-40B4-BE49-F238E27FC236}">
                <a16:creationId xmlns:a16="http://schemas.microsoft.com/office/drawing/2014/main" id="{AC34E004-72BF-4822-828C-09C6FB3625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3028" y="2138545"/>
            <a:ext cx="5436583" cy="3957455"/>
          </a:xfrm>
          <a:prstGeom prst="rect">
            <a:avLst/>
          </a:prstGeom>
        </p:spPr>
      </p:pic>
    </p:spTree>
    <p:extLst>
      <p:ext uri="{BB962C8B-B14F-4D97-AF65-F5344CB8AC3E}">
        <p14:creationId xmlns:p14="http://schemas.microsoft.com/office/powerpoint/2010/main" val="1026161557"/>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34B4F1-145C-49B8-8273-F8AD2ADE4A82}"/>
              </a:ext>
            </a:extLst>
          </p:cNvPr>
          <p:cNvSpPr>
            <a:spLocks noGrp="1"/>
          </p:cNvSpPr>
          <p:nvPr>
            <p:ph type="title"/>
          </p:nvPr>
        </p:nvSpPr>
        <p:spPr/>
        <p:txBody>
          <a:bodyPr/>
          <a:lstStyle/>
          <a:p>
            <a:r>
              <a:rPr lang="en-US" dirty="0"/>
              <a:t>Support Vector Machine</a:t>
            </a:r>
            <a:endParaRPr lang="vi-VN" dirty="0"/>
          </a:p>
        </p:txBody>
      </p:sp>
      <p:sp>
        <p:nvSpPr>
          <p:cNvPr id="2" name="Content Placeholder 1">
            <a:extLst>
              <a:ext uri="{FF2B5EF4-FFF2-40B4-BE49-F238E27FC236}">
                <a16:creationId xmlns:a16="http://schemas.microsoft.com/office/drawing/2014/main" id="{B1D6B818-FB14-46EF-BBC3-9F6C9033410F}"/>
              </a:ext>
            </a:extLst>
          </p:cNvPr>
          <p:cNvSpPr>
            <a:spLocks noGrp="1"/>
          </p:cNvSpPr>
          <p:nvPr>
            <p:ph idx="1"/>
          </p:nvPr>
        </p:nvSpPr>
        <p:spPr/>
        <p:txBody>
          <a:bodyPr/>
          <a:lstStyle/>
          <a:p>
            <a:pPr algn="just"/>
            <a:r>
              <a:rPr lang="en-US" sz="2800" dirty="0" err="1">
                <a:solidFill>
                  <a:srgbClr val="0066FF"/>
                </a:solidFill>
              </a:rPr>
              <a:t>Thuật</a:t>
            </a:r>
            <a:r>
              <a:rPr lang="en-US" sz="2800" dirty="0">
                <a:solidFill>
                  <a:srgbClr val="0066FF"/>
                </a:solidFill>
              </a:rPr>
              <a:t> </a:t>
            </a:r>
            <a:r>
              <a:rPr lang="en-US" sz="2800" dirty="0" err="1">
                <a:solidFill>
                  <a:srgbClr val="0066FF"/>
                </a:solidFill>
              </a:rPr>
              <a:t>toán</a:t>
            </a:r>
            <a:r>
              <a:rPr lang="en-US" sz="2800" dirty="0">
                <a:solidFill>
                  <a:srgbClr val="0066FF"/>
                </a:solidFill>
              </a:rPr>
              <a:t> SVM </a:t>
            </a:r>
            <a:r>
              <a:rPr lang="en-US" sz="2800" dirty="0" err="1">
                <a:solidFill>
                  <a:srgbClr val="0066FF"/>
                </a:solidFill>
              </a:rPr>
              <a:t>sẽ</a:t>
            </a:r>
            <a:r>
              <a:rPr lang="en-US" sz="2800" dirty="0">
                <a:solidFill>
                  <a:srgbClr val="0066FF"/>
                </a:solidFill>
              </a:rPr>
              <a:t> </a:t>
            </a:r>
            <a:r>
              <a:rPr lang="en-US" sz="2800" dirty="0" err="1">
                <a:solidFill>
                  <a:srgbClr val="0066FF"/>
                </a:solidFill>
              </a:rPr>
              <a:t>tìm</a:t>
            </a:r>
            <a:r>
              <a:rPr lang="en-US" sz="2800" dirty="0">
                <a:solidFill>
                  <a:srgbClr val="0066FF"/>
                </a:solidFill>
              </a:rPr>
              <a:t> </a:t>
            </a:r>
            <a:r>
              <a:rPr lang="en-US" sz="2800" dirty="0" err="1">
                <a:solidFill>
                  <a:srgbClr val="0066FF"/>
                </a:solidFill>
              </a:rPr>
              <a:t>một</a:t>
            </a:r>
            <a:r>
              <a:rPr lang="en-US" sz="2800" dirty="0">
                <a:solidFill>
                  <a:srgbClr val="0066FF"/>
                </a:solidFill>
              </a:rPr>
              <a:t> </a:t>
            </a:r>
            <a:r>
              <a:rPr lang="en-US" sz="2800" dirty="0" err="1">
                <a:solidFill>
                  <a:srgbClr val="0066FF"/>
                </a:solidFill>
              </a:rPr>
              <a:t>số</a:t>
            </a:r>
            <a:r>
              <a:rPr lang="en-US" sz="2800" dirty="0">
                <a:solidFill>
                  <a:srgbClr val="0066FF"/>
                </a:solidFill>
              </a:rPr>
              <a:t> vector </a:t>
            </a:r>
            <a:r>
              <a:rPr lang="en-US" sz="2800" dirty="0" err="1">
                <a:solidFill>
                  <a:srgbClr val="0066FF"/>
                </a:solidFill>
              </a:rPr>
              <a:t>đặc</a:t>
            </a:r>
            <a:r>
              <a:rPr lang="en-US" sz="2800" dirty="0">
                <a:solidFill>
                  <a:srgbClr val="0066FF"/>
                </a:solidFill>
              </a:rPr>
              <a:t> </a:t>
            </a:r>
            <a:r>
              <a:rPr lang="en-US" sz="2800" dirty="0" err="1">
                <a:solidFill>
                  <a:srgbClr val="0066FF"/>
                </a:solidFill>
              </a:rPr>
              <a:t>biệt</a:t>
            </a:r>
            <a:r>
              <a:rPr lang="en-US" sz="2800" dirty="0">
                <a:solidFill>
                  <a:srgbClr val="0066FF"/>
                </a:solidFill>
              </a:rPr>
              <a:t> (</a:t>
            </a:r>
            <a:r>
              <a:rPr lang="en-US" sz="2800" dirty="0" err="1">
                <a:solidFill>
                  <a:srgbClr val="0066FF"/>
                </a:solidFill>
              </a:rPr>
              <a:t>gọi</a:t>
            </a:r>
            <a:r>
              <a:rPr lang="en-US" sz="2800" dirty="0">
                <a:solidFill>
                  <a:srgbClr val="0066FF"/>
                </a:solidFill>
              </a:rPr>
              <a:t> </a:t>
            </a:r>
            <a:r>
              <a:rPr lang="en-US" sz="2800" dirty="0" err="1">
                <a:solidFill>
                  <a:srgbClr val="0066FF"/>
                </a:solidFill>
              </a:rPr>
              <a:t>là</a:t>
            </a:r>
            <a:r>
              <a:rPr lang="en-US" sz="2800" dirty="0">
                <a:solidFill>
                  <a:srgbClr val="0066FF"/>
                </a:solidFill>
              </a:rPr>
              <a:t> support vectors).</a:t>
            </a:r>
          </a:p>
          <a:p>
            <a:pPr algn="just"/>
            <a:r>
              <a:rPr lang="en-US" sz="2800" dirty="0" err="1">
                <a:solidFill>
                  <a:srgbClr val="FF0000"/>
                </a:solidFill>
              </a:rPr>
              <a:t>Mô</a:t>
            </a:r>
            <a:r>
              <a:rPr lang="en-US" sz="2800" dirty="0">
                <a:solidFill>
                  <a:srgbClr val="FF0000"/>
                </a:solidFill>
              </a:rPr>
              <a:t> </a:t>
            </a:r>
            <a:r>
              <a:rPr lang="en-US" sz="2800" dirty="0" err="1">
                <a:solidFill>
                  <a:srgbClr val="FF0000"/>
                </a:solidFill>
              </a:rPr>
              <a:t>hình</a:t>
            </a:r>
            <a:r>
              <a:rPr lang="en-US" sz="2800" dirty="0">
                <a:solidFill>
                  <a:srgbClr val="FF0000"/>
                </a:solidFill>
              </a:rPr>
              <a:t> (Model) </a:t>
            </a:r>
            <a:r>
              <a:rPr lang="en-US" sz="2800" dirty="0" err="1">
                <a:solidFill>
                  <a:srgbClr val="FF0000"/>
                </a:solidFill>
              </a:rPr>
              <a:t>dự</a:t>
            </a:r>
            <a:r>
              <a:rPr lang="en-US" sz="2800" dirty="0">
                <a:solidFill>
                  <a:srgbClr val="FF0000"/>
                </a:solidFill>
              </a:rPr>
              <a:t> </a:t>
            </a:r>
            <a:r>
              <a:rPr lang="en-US" sz="2800" dirty="0" err="1">
                <a:solidFill>
                  <a:srgbClr val="FF0000"/>
                </a:solidFill>
              </a:rPr>
              <a:t>đoán</a:t>
            </a:r>
            <a:r>
              <a:rPr lang="en-US" sz="2800" dirty="0">
                <a:solidFill>
                  <a:srgbClr val="FF0000"/>
                </a:solidFill>
              </a:rPr>
              <a:t> (predict) </a:t>
            </a:r>
            <a:r>
              <a:rPr lang="en-US" sz="2800" dirty="0" err="1">
                <a:solidFill>
                  <a:srgbClr val="FF0000"/>
                </a:solidFill>
              </a:rPr>
              <a:t>kết</a:t>
            </a:r>
            <a:r>
              <a:rPr lang="en-US" sz="2800" dirty="0">
                <a:solidFill>
                  <a:srgbClr val="FF0000"/>
                </a:solidFill>
              </a:rPr>
              <a:t> </a:t>
            </a:r>
            <a:r>
              <a:rPr lang="en-US" sz="2800" dirty="0" err="1">
                <a:solidFill>
                  <a:srgbClr val="FF0000"/>
                </a:solidFill>
              </a:rPr>
              <a:t>quả</a:t>
            </a:r>
            <a:r>
              <a:rPr lang="en-US" sz="2800" dirty="0">
                <a:solidFill>
                  <a:srgbClr val="FF0000"/>
                </a:solidFill>
              </a:rPr>
              <a:t> </a:t>
            </a:r>
            <a:r>
              <a:rPr lang="en-US" sz="2800" dirty="0" err="1">
                <a:solidFill>
                  <a:srgbClr val="FF0000"/>
                </a:solidFill>
              </a:rPr>
              <a:t>đầu</a:t>
            </a:r>
            <a:r>
              <a:rPr lang="en-US" sz="2800" dirty="0">
                <a:solidFill>
                  <a:srgbClr val="FF0000"/>
                </a:solidFill>
              </a:rPr>
              <a:t> ra </a:t>
            </a:r>
            <a:r>
              <a:rPr lang="en-US" sz="2800" dirty="0" err="1">
                <a:solidFill>
                  <a:srgbClr val="FF0000"/>
                </a:solidFill>
              </a:rPr>
              <a:t>của</a:t>
            </a:r>
            <a:r>
              <a:rPr lang="en-US" sz="2800" dirty="0">
                <a:solidFill>
                  <a:srgbClr val="FF0000"/>
                </a:solidFill>
              </a:rPr>
              <a:t> </a:t>
            </a:r>
            <a:r>
              <a:rPr lang="en-US" sz="2800" dirty="0" err="1">
                <a:solidFill>
                  <a:srgbClr val="FF0000"/>
                </a:solidFill>
              </a:rPr>
              <a:t>những</a:t>
            </a:r>
            <a:r>
              <a:rPr lang="en-US" sz="2800" dirty="0">
                <a:solidFill>
                  <a:srgbClr val="FF0000"/>
                </a:solidFill>
              </a:rPr>
              <a:t> </a:t>
            </a:r>
            <a:r>
              <a:rPr lang="en-US" sz="2800" dirty="0" err="1">
                <a:solidFill>
                  <a:srgbClr val="FF0000"/>
                </a:solidFill>
              </a:rPr>
              <a:t>điểm</a:t>
            </a:r>
            <a:r>
              <a:rPr lang="en-US" sz="2800" dirty="0">
                <a:solidFill>
                  <a:srgbClr val="FF0000"/>
                </a:solidFill>
              </a:rPr>
              <a:t> </a:t>
            </a:r>
            <a:r>
              <a:rPr lang="en-US" sz="2800" dirty="0" err="1">
                <a:solidFill>
                  <a:srgbClr val="FF0000"/>
                </a:solidFill>
              </a:rPr>
              <a:t>dữ</a:t>
            </a:r>
            <a:r>
              <a:rPr lang="en-US" sz="2800" dirty="0">
                <a:solidFill>
                  <a:srgbClr val="FF0000"/>
                </a:solidFill>
              </a:rPr>
              <a:t> </a:t>
            </a:r>
            <a:r>
              <a:rPr lang="en-US" sz="2800" dirty="0" err="1">
                <a:solidFill>
                  <a:srgbClr val="FF0000"/>
                </a:solidFill>
              </a:rPr>
              <a:t>liệu</a:t>
            </a:r>
            <a:r>
              <a:rPr lang="en-US" sz="2800" dirty="0">
                <a:solidFill>
                  <a:srgbClr val="FF0000"/>
                </a:solidFill>
              </a:rPr>
              <a:t> </a:t>
            </a:r>
            <a:r>
              <a:rPr lang="en-US" sz="2800" dirty="0" err="1">
                <a:solidFill>
                  <a:srgbClr val="FF0000"/>
                </a:solidFill>
              </a:rPr>
              <a:t>mới</a:t>
            </a:r>
            <a:r>
              <a:rPr lang="en-US" sz="2800" dirty="0">
                <a:solidFill>
                  <a:srgbClr val="FF0000"/>
                </a:solidFill>
              </a:rPr>
              <a:t> </a:t>
            </a:r>
            <a:r>
              <a:rPr lang="en-US" sz="2800" dirty="0" err="1">
                <a:solidFill>
                  <a:srgbClr val="FF0000"/>
                </a:solidFill>
              </a:rPr>
              <a:t>dựa</a:t>
            </a:r>
            <a:r>
              <a:rPr lang="en-US" sz="2800" dirty="0">
                <a:solidFill>
                  <a:srgbClr val="FF0000"/>
                </a:solidFill>
              </a:rPr>
              <a:t> </a:t>
            </a:r>
            <a:r>
              <a:rPr lang="en-US" sz="2800" dirty="0" err="1">
                <a:solidFill>
                  <a:srgbClr val="FF0000"/>
                </a:solidFill>
              </a:rPr>
              <a:t>trên</a:t>
            </a:r>
            <a:r>
              <a:rPr lang="en-US" sz="2800" dirty="0">
                <a:solidFill>
                  <a:srgbClr val="FF0000"/>
                </a:solidFill>
              </a:rPr>
              <a:t> </a:t>
            </a:r>
            <a:r>
              <a:rPr lang="en-US" sz="2800" dirty="0" err="1">
                <a:solidFill>
                  <a:srgbClr val="FF0000"/>
                </a:solidFill>
              </a:rPr>
              <a:t>các</a:t>
            </a:r>
            <a:r>
              <a:rPr lang="en-US" sz="2800" dirty="0">
                <a:solidFill>
                  <a:srgbClr val="FF0000"/>
                </a:solidFill>
              </a:rPr>
              <a:t> vector </a:t>
            </a:r>
            <a:r>
              <a:rPr lang="en-US" sz="2800" dirty="0" err="1">
                <a:solidFill>
                  <a:srgbClr val="FF0000"/>
                </a:solidFill>
              </a:rPr>
              <a:t>đặc</a:t>
            </a:r>
            <a:r>
              <a:rPr lang="en-US" sz="2800" dirty="0">
                <a:solidFill>
                  <a:srgbClr val="FF0000"/>
                </a:solidFill>
              </a:rPr>
              <a:t> </a:t>
            </a:r>
            <a:r>
              <a:rPr lang="en-US" sz="2800" dirty="0" err="1">
                <a:solidFill>
                  <a:srgbClr val="FF0000"/>
                </a:solidFill>
              </a:rPr>
              <a:t>biệt</a:t>
            </a:r>
            <a:r>
              <a:rPr lang="en-US" sz="2800" dirty="0">
                <a:solidFill>
                  <a:srgbClr val="FF0000"/>
                </a:solidFill>
              </a:rPr>
              <a:t> </a:t>
            </a:r>
            <a:r>
              <a:rPr lang="en-US" sz="2800" dirty="0" err="1">
                <a:solidFill>
                  <a:srgbClr val="FF0000"/>
                </a:solidFill>
              </a:rPr>
              <a:t>này</a:t>
            </a:r>
            <a:r>
              <a:rPr lang="en-US" sz="2800" dirty="0">
                <a:solidFill>
                  <a:srgbClr val="FF0000"/>
                </a:solidFill>
              </a:rPr>
              <a:t>.</a:t>
            </a:r>
            <a:endParaRPr lang="vi-VN" sz="2800" dirty="0">
              <a:solidFill>
                <a:srgbClr val="FF0000"/>
              </a:solidFill>
            </a:endParaRPr>
          </a:p>
        </p:txBody>
      </p:sp>
    </p:spTree>
    <p:extLst>
      <p:ext uri="{BB962C8B-B14F-4D97-AF65-F5344CB8AC3E}">
        <p14:creationId xmlns:p14="http://schemas.microsoft.com/office/powerpoint/2010/main" val="4293975192"/>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89129D-638B-4DCA-830A-FBF9871433CE}"/>
              </a:ext>
            </a:extLst>
          </p:cNvPr>
          <p:cNvSpPr>
            <a:spLocks noGrp="1"/>
          </p:cNvSpPr>
          <p:nvPr>
            <p:ph type="title"/>
          </p:nvPr>
        </p:nvSpPr>
        <p:spPr/>
        <p:txBody>
          <a:bodyPr/>
          <a:lstStyle/>
          <a:p>
            <a:r>
              <a:rPr lang="en-US" dirty="0"/>
              <a:t>Support Vector Machine</a:t>
            </a:r>
            <a:endParaRPr lang="vi-VN" dirty="0"/>
          </a:p>
        </p:txBody>
      </p:sp>
      <p:sp>
        <p:nvSpPr>
          <p:cNvPr id="2" name="Content Placeholder 1">
            <a:extLst>
              <a:ext uri="{FF2B5EF4-FFF2-40B4-BE49-F238E27FC236}">
                <a16:creationId xmlns:a16="http://schemas.microsoft.com/office/drawing/2014/main" id="{ED2CFB27-AAF2-4E13-B6AB-2FE55B0739B0}"/>
              </a:ext>
            </a:extLst>
          </p:cNvPr>
          <p:cNvSpPr>
            <a:spLocks noGrp="1"/>
          </p:cNvSpPr>
          <p:nvPr>
            <p:ph idx="1"/>
          </p:nvPr>
        </p:nvSpPr>
        <p:spPr/>
        <p:txBody>
          <a:bodyPr/>
          <a:lstStyle/>
          <a:p>
            <a:pPr algn="just"/>
            <a:r>
              <a:rPr lang="vi-VN" sz="2800" dirty="0" err="1">
                <a:solidFill>
                  <a:srgbClr val="0066FF"/>
                </a:solidFill>
              </a:rPr>
              <a:t>Điểm</a:t>
            </a:r>
            <a:r>
              <a:rPr lang="vi-VN" sz="2800" dirty="0">
                <a:solidFill>
                  <a:srgbClr val="0066FF"/>
                </a:solidFill>
              </a:rPr>
              <a:t> </a:t>
            </a:r>
            <a:r>
              <a:rPr lang="vi-VN" sz="2800" dirty="0" err="1">
                <a:solidFill>
                  <a:srgbClr val="0066FF"/>
                </a:solidFill>
              </a:rPr>
              <a:t>đặc</a:t>
            </a:r>
            <a:r>
              <a:rPr lang="vi-VN" sz="2800" dirty="0">
                <a:solidFill>
                  <a:srgbClr val="0066FF"/>
                </a:solidFill>
              </a:rPr>
              <a:t> </a:t>
            </a:r>
            <a:r>
              <a:rPr lang="vi-VN" sz="2800" dirty="0" err="1">
                <a:solidFill>
                  <a:srgbClr val="0066FF"/>
                </a:solidFill>
              </a:rPr>
              <a:t>biệt</a:t>
            </a:r>
            <a:r>
              <a:rPr lang="vi-VN" sz="2800" dirty="0">
                <a:solidFill>
                  <a:srgbClr val="0066FF"/>
                </a:solidFill>
              </a:rPr>
              <a:t> </a:t>
            </a:r>
            <a:r>
              <a:rPr lang="vi-VN" sz="2800" dirty="0" err="1">
                <a:solidFill>
                  <a:srgbClr val="0066FF"/>
                </a:solidFill>
              </a:rPr>
              <a:t>của</a:t>
            </a:r>
            <a:r>
              <a:rPr lang="vi-VN" sz="2800" dirty="0">
                <a:solidFill>
                  <a:srgbClr val="0066FF"/>
                </a:solidFill>
              </a:rPr>
              <a:t> </a:t>
            </a:r>
            <a:r>
              <a:rPr lang="vi-VN" sz="2800" dirty="0" err="1">
                <a:solidFill>
                  <a:srgbClr val="0066FF"/>
                </a:solidFill>
              </a:rPr>
              <a:t>Support</a:t>
            </a:r>
            <a:r>
              <a:rPr lang="vi-VN" sz="2800" dirty="0">
                <a:solidFill>
                  <a:srgbClr val="0066FF"/>
                </a:solidFill>
              </a:rPr>
              <a:t> </a:t>
            </a:r>
            <a:r>
              <a:rPr lang="vi-VN" sz="2800" dirty="0" err="1">
                <a:solidFill>
                  <a:srgbClr val="0066FF"/>
                </a:solidFill>
              </a:rPr>
              <a:t>Vector</a:t>
            </a:r>
            <a:r>
              <a:rPr lang="vi-VN" sz="2800" dirty="0">
                <a:solidFill>
                  <a:srgbClr val="0066FF"/>
                </a:solidFill>
              </a:rPr>
              <a:t> </a:t>
            </a:r>
            <a:r>
              <a:rPr lang="vi-VN" sz="2800" dirty="0" err="1">
                <a:solidFill>
                  <a:srgbClr val="0066FF"/>
                </a:solidFill>
              </a:rPr>
              <a:t>Machine</a:t>
            </a:r>
            <a:r>
              <a:rPr lang="vi-VN" sz="2800" dirty="0">
                <a:solidFill>
                  <a:srgbClr val="0066FF"/>
                </a:solidFill>
              </a:rPr>
              <a:t>:</a:t>
            </a:r>
          </a:p>
          <a:p>
            <a:pPr lvl="1" algn="just"/>
            <a:r>
              <a:rPr lang="vi-VN" sz="2800" dirty="0" err="1">
                <a:solidFill>
                  <a:srgbClr val="FF0000"/>
                </a:solidFill>
              </a:rPr>
              <a:t>Hầu</a:t>
            </a:r>
            <a:r>
              <a:rPr lang="vi-VN" sz="2800" dirty="0">
                <a:solidFill>
                  <a:srgbClr val="FF0000"/>
                </a:solidFill>
              </a:rPr>
              <a:t> </a:t>
            </a:r>
            <a:r>
              <a:rPr lang="vi-VN" sz="2800" dirty="0" err="1">
                <a:solidFill>
                  <a:srgbClr val="FF0000"/>
                </a:solidFill>
              </a:rPr>
              <a:t>hết</a:t>
            </a:r>
            <a:r>
              <a:rPr lang="vi-VN" sz="2800" dirty="0">
                <a:solidFill>
                  <a:srgbClr val="FF0000"/>
                </a:solidFill>
              </a:rPr>
              <a:t> </a:t>
            </a:r>
            <a:r>
              <a:rPr lang="vi-VN" sz="2800" dirty="0" err="1">
                <a:solidFill>
                  <a:srgbClr val="FF0000"/>
                </a:solidFill>
              </a:rPr>
              <a:t>các</a:t>
            </a:r>
            <a:r>
              <a:rPr lang="vi-VN" sz="2800" dirty="0">
                <a:solidFill>
                  <a:srgbClr val="FF0000"/>
                </a:solidFill>
              </a:rPr>
              <a:t> </a:t>
            </a:r>
            <a:r>
              <a:rPr lang="vi-VN" sz="2800" dirty="0" err="1">
                <a:solidFill>
                  <a:srgbClr val="FF0000"/>
                </a:solidFill>
              </a:rPr>
              <a:t>thuật</a:t>
            </a:r>
            <a:r>
              <a:rPr lang="vi-VN" sz="2800" dirty="0">
                <a:solidFill>
                  <a:srgbClr val="FF0000"/>
                </a:solidFill>
              </a:rPr>
              <a:t> </a:t>
            </a:r>
            <a:r>
              <a:rPr lang="vi-VN" sz="2800" dirty="0" err="1">
                <a:solidFill>
                  <a:srgbClr val="FF0000"/>
                </a:solidFill>
              </a:rPr>
              <a:t>toán</a:t>
            </a:r>
            <a:r>
              <a:rPr lang="vi-VN" sz="2800" dirty="0">
                <a:solidFill>
                  <a:srgbClr val="FF0000"/>
                </a:solidFill>
              </a:rPr>
              <a:t> </a:t>
            </a:r>
            <a:r>
              <a:rPr lang="vi-VN" sz="2800" dirty="0" err="1">
                <a:solidFill>
                  <a:srgbClr val="FF0000"/>
                </a:solidFill>
              </a:rPr>
              <a:t>Machine</a:t>
            </a:r>
            <a:r>
              <a:rPr lang="vi-VN" sz="2800" dirty="0">
                <a:solidFill>
                  <a:srgbClr val="FF0000"/>
                </a:solidFill>
              </a:rPr>
              <a:t> </a:t>
            </a:r>
            <a:r>
              <a:rPr lang="vi-VN" sz="2800" dirty="0" err="1">
                <a:solidFill>
                  <a:srgbClr val="FF0000"/>
                </a:solidFill>
              </a:rPr>
              <a:t>Learning</a:t>
            </a:r>
            <a:r>
              <a:rPr lang="vi-VN" sz="2800" dirty="0">
                <a:solidFill>
                  <a:srgbClr val="FF0000"/>
                </a:solidFill>
              </a:rPr>
              <a:t> </a:t>
            </a:r>
            <a:r>
              <a:rPr lang="vi-VN" sz="2800" dirty="0" err="1">
                <a:solidFill>
                  <a:srgbClr val="FF0000"/>
                </a:solidFill>
              </a:rPr>
              <a:t>khác</a:t>
            </a:r>
            <a:r>
              <a:rPr lang="vi-VN" sz="2800" dirty="0">
                <a:solidFill>
                  <a:srgbClr val="FF0000"/>
                </a:solidFill>
              </a:rPr>
              <a:t> </a:t>
            </a:r>
            <a:r>
              <a:rPr lang="vi-VN" sz="2800" dirty="0" err="1">
                <a:solidFill>
                  <a:srgbClr val="FF0000"/>
                </a:solidFill>
              </a:rPr>
              <a:t>đều</a:t>
            </a:r>
            <a:r>
              <a:rPr lang="vi-VN" sz="2800" dirty="0">
                <a:solidFill>
                  <a:srgbClr val="FF0000"/>
                </a:solidFill>
              </a:rPr>
              <a:t> phân chia </a:t>
            </a:r>
            <a:r>
              <a:rPr lang="vi-VN" sz="2800" dirty="0" err="1">
                <a:solidFill>
                  <a:srgbClr val="FF0000"/>
                </a:solidFill>
              </a:rPr>
              <a:t>dữ</a:t>
            </a:r>
            <a:r>
              <a:rPr lang="vi-VN" sz="2800" dirty="0">
                <a:solidFill>
                  <a:srgbClr val="FF0000"/>
                </a:solidFill>
              </a:rPr>
              <a:t> </a:t>
            </a:r>
            <a:r>
              <a:rPr lang="vi-VN" sz="2800" dirty="0" err="1">
                <a:solidFill>
                  <a:srgbClr val="FF0000"/>
                </a:solidFill>
              </a:rPr>
              <a:t>liệu</a:t>
            </a:r>
            <a:r>
              <a:rPr lang="vi-VN" sz="2800" dirty="0">
                <a:solidFill>
                  <a:srgbClr val="FF0000"/>
                </a:solidFill>
              </a:rPr>
              <a:t> </a:t>
            </a:r>
            <a:r>
              <a:rPr lang="vi-VN" sz="2800" dirty="0" err="1">
                <a:solidFill>
                  <a:srgbClr val="FF0000"/>
                </a:solidFill>
              </a:rPr>
              <a:t>dựa</a:t>
            </a:r>
            <a:r>
              <a:rPr lang="vi-VN" sz="2800" dirty="0">
                <a:solidFill>
                  <a:srgbClr val="FF0000"/>
                </a:solidFill>
              </a:rPr>
              <a:t> trên </a:t>
            </a:r>
            <a:r>
              <a:rPr lang="vi-VN" sz="2800" dirty="0" err="1">
                <a:solidFill>
                  <a:srgbClr val="FF0000"/>
                </a:solidFill>
              </a:rPr>
              <a:t>các</a:t>
            </a:r>
            <a:r>
              <a:rPr lang="vi-VN" sz="2800" dirty="0">
                <a:solidFill>
                  <a:srgbClr val="FF0000"/>
                </a:solidFill>
              </a:rPr>
              <a:t> </a:t>
            </a:r>
            <a:r>
              <a:rPr lang="vi-VN" sz="2800" dirty="0" err="1">
                <a:solidFill>
                  <a:srgbClr val="FF0000"/>
                </a:solidFill>
              </a:rPr>
              <a:t>điểm</a:t>
            </a:r>
            <a:r>
              <a:rPr lang="vi-VN" sz="2800" dirty="0">
                <a:solidFill>
                  <a:srgbClr val="FF0000"/>
                </a:solidFill>
              </a:rPr>
              <a:t> </a:t>
            </a:r>
            <a:r>
              <a:rPr lang="vi-VN" sz="2800" dirty="0" err="1">
                <a:solidFill>
                  <a:srgbClr val="FF0000"/>
                </a:solidFill>
              </a:rPr>
              <a:t>dữ</a:t>
            </a:r>
            <a:r>
              <a:rPr lang="vi-VN" sz="2800" dirty="0">
                <a:solidFill>
                  <a:srgbClr val="FF0000"/>
                </a:solidFill>
              </a:rPr>
              <a:t> </a:t>
            </a:r>
            <a:r>
              <a:rPr lang="vi-VN" sz="2800" dirty="0" err="1">
                <a:solidFill>
                  <a:srgbClr val="FF0000"/>
                </a:solidFill>
              </a:rPr>
              <a:t>liệu</a:t>
            </a:r>
            <a:r>
              <a:rPr lang="vi-VN" sz="2800" dirty="0">
                <a:solidFill>
                  <a:srgbClr val="FF0000"/>
                </a:solidFill>
              </a:rPr>
              <a:t> </a:t>
            </a:r>
            <a:r>
              <a:rPr lang="vi-VN" sz="2800" dirty="0" err="1">
                <a:solidFill>
                  <a:srgbClr val="FF0000"/>
                </a:solidFill>
              </a:rPr>
              <a:t>đặc</a:t>
            </a:r>
            <a:r>
              <a:rPr lang="vi-VN" sz="2800" dirty="0">
                <a:solidFill>
                  <a:srgbClr val="FF0000"/>
                </a:solidFill>
              </a:rPr>
              <a:t> trưng </a:t>
            </a:r>
            <a:r>
              <a:rPr lang="vi-VN" sz="2800" dirty="0" err="1">
                <a:solidFill>
                  <a:srgbClr val="FF0000"/>
                </a:solidFill>
              </a:rPr>
              <a:t>nhất</a:t>
            </a:r>
            <a:r>
              <a:rPr lang="vi-VN" sz="2800" dirty="0">
                <a:solidFill>
                  <a:srgbClr val="FF0000"/>
                </a:solidFill>
              </a:rPr>
              <a:t> </a:t>
            </a:r>
            <a:r>
              <a:rPr lang="vi-VN" sz="2800" dirty="0" err="1">
                <a:solidFill>
                  <a:srgbClr val="FF0000"/>
                </a:solidFill>
              </a:rPr>
              <a:t>của</a:t>
            </a:r>
            <a:r>
              <a:rPr lang="vi-VN" sz="2800" dirty="0">
                <a:solidFill>
                  <a:srgbClr val="FF0000"/>
                </a:solidFill>
              </a:rPr>
              <a:t> </a:t>
            </a:r>
            <a:r>
              <a:rPr lang="vi-VN" sz="2800" dirty="0" err="1">
                <a:solidFill>
                  <a:srgbClr val="FF0000"/>
                </a:solidFill>
              </a:rPr>
              <a:t>lớp</a:t>
            </a:r>
            <a:r>
              <a:rPr lang="vi-VN" sz="2800" dirty="0">
                <a:solidFill>
                  <a:srgbClr val="FF0000"/>
                </a:solidFill>
              </a:rPr>
              <a:t> </a:t>
            </a:r>
            <a:r>
              <a:rPr lang="vi-VN" sz="2800" dirty="0" err="1">
                <a:solidFill>
                  <a:srgbClr val="FF0000"/>
                </a:solidFill>
              </a:rPr>
              <a:t>dữ</a:t>
            </a:r>
            <a:r>
              <a:rPr lang="vi-VN" sz="2800" dirty="0">
                <a:solidFill>
                  <a:srgbClr val="FF0000"/>
                </a:solidFill>
              </a:rPr>
              <a:t> </a:t>
            </a:r>
            <a:r>
              <a:rPr lang="vi-VN" sz="2800" dirty="0" err="1">
                <a:solidFill>
                  <a:srgbClr val="FF0000"/>
                </a:solidFill>
              </a:rPr>
              <a:t>liệu</a:t>
            </a:r>
            <a:r>
              <a:rPr lang="vi-VN" sz="2800" dirty="0">
                <a:solidFill>
                  <a:srgbClr val="FF0000"/>
                </a:solidFill>
              </a:rPr>
              <a:t> </a:t>
            </a:r>
            <a:r>
              <a:rPr lang="vi-VN" sz="2800" dirty="0" err="1">
                <a:solidFill>
                  <a:srgbClr val="FF0000"/>
                </a:solidFill>
              </a:rPr>
              <a:t>đó</a:t>
            </a:r>
            <a:r>
              <a:rPr lang="vi-VN" sz="2800" dirty="0">
                <a:solidFill>
                  <a:srgbClr val="FF0000"/>
                </a:solidFill>
              </a:rPr>
              <a:t>.</a:t>
            </a:r>
          </a:p>
          <a:p>
            <a:pPr lvl="1" algn="just"/>
            <a:r>
              <a:rPr lang="vi-VN" sz="2800" dirty="0">
                <a:solidFill>
                  <a:srgbClr val="0066FF"/>
                </a:solidFill>
              </a:rPr>
              <a:t>Trong khi </a:t>
            </a:r>
            <a:r>
              <a:rPr lang="vi-VN" sz="2800" dirty="0" err="1">
                <a:solidFill>
                  <a:srgbClr val="0066FF"/>
                </a:solidFill>
              </a:rPr>
              <a:t>đó</a:t>
            </a:r>
            <a:r>
              <a:rPr lang="vi-VN" sz="2800" dirty="0">
                <a:solidFill>
                  <a:srgbClr val="0066FF"/>
                </a:solidFill>
              </a:rPr>
              <a:t>, </a:t>
            </a:r>
            <a:r>
              <a:rPr lang="vi-VN" sz="2800" dirty="0" err="1">
                <a:solidFill>
                  <a:srgbClr val="0066FF"/>
                </a:solidFill>
              </a:rPr>
              <a:t>Support</a:t>
            </a:r>
            <a:r>
              <a:rPr lang="vi-VN" sz="2800" dirty="0">
                <a:solidFill>
                  <a:srgbClr val="0066FF"/>
                </a:solidFill>
              </a:rPr>
              <a:t> </a:t>
            </a:r>
            <a:r>
              <a:rPr lang="vi-VN" sz="2800" dirty="0" err="1">
                <a:solidFill>
                  <a:srgbClr val="0066FF"/>
                </a:solidFill>
              </a:rPr>
              <a:t>Vector</a:t>
            </a:r>
            <a:r>
              <a:rPr lang="vi-VN" sz="2800" dirty="0">
                <a:solidFill>
                  <a:srgbClr val="0066FF"/>
                </a:solidFill>
              </a:rPr>
              <a:t> </a:t>
            </a:r>
            <a:r>
              <a:rPr lang="vi-VN" sz="2800" dirty="0" err="1">
                <a:solidFill>
                  <a:srgbClr val="0066FF"/>
                </a:solidFill>
              </a:rPr>
              <a:t>Machine</a:t>
            </a:r>
            <a:r>
              <a:rPr lang="vi-VN" sz="2800" dirty="0">
                <a:solidFill>
                  <a:srgbClr val="0066FF"/>
                </a:solidFill>
              </a:rPr>
              <a:t> phân chia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a:t>
            </a:r>
            <a:r>
              <a:rPr lang="vi-VN" sz="2800" dirty="0" err="1">
                <a:solidFill>
                  <a:srgbClr val="0066FF"/>
                </a:solidFill>
              </a:rPr>
              <a:t>dựa</a:t>
            </a:r>
            <a:r>
              <a:rPr lang="vi-VN" sz="2800" dirty="0">
                <a:solidFill>
                  <a:srgbClr val="0066FF"/>
                </a:solidFill>
              </a:rPr>
              <a:t> trên </a:t>
            </a:r>
            <a:r>
              <a:rPr lang="vi-VN" sz="2800" dirty="0" err="1">
                <a:solidFill>
                  <a:srgbClr val="0066FF"/>
                </a:solidFill>
              </a:rPr>
              <a:t>các</a:t>
            </a:r>
            <a:r>
              <a:rPr lang="vi-VN" sz="2800" dirty="0">
                <a:solidFill>
                  <a:srgbClr val="0066FF"/>
                </a:solidFill>
              </a:rPr>
              <a:t> </a:t>
            </a:r>
            <a:r>
              <a:rPr lang="vi-VN" sz="2800" dirty="0" err="1">
                <a:solidFill>
                  <a:srgbClr val="0066FF"/>
                </a:solidFill>
              </a:rPr>
              <a:t>điểm</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a:t>
            </a:r>
            <a:r>
              <a:rPr lang="vi-VN" sz="2800" dirty="0" err="1">
                <a:solidFill>
                  <a:srgbClr val="0066FF"/>
                </a:solidFill>
              </a:rPr>
              <a:t>dễ</a:t>
            </a:r>
            <a:r>
              <a:rPr lang="vi-VN" sz="2800" dirty="0">
                <a:solidFill>
                  <a:srgbClr val="0066FF"/>
                </a:solidFill>
              </a:rPr>
              <a:t> gây </a:t>
            </a:r>
            <a:r>
              <a:rPr lang="vi-VN" sz="2800" dirty="0" err="1">
                <a:solidFill>
                  <a:srgbClr val="0066FF"/>
                </a:solidFill>
              </a:rPr>
              <a:t>nhầm</a:t>
            </a:r>
            <a:r>
              <a:rPr lang="vi-VN" sz="2800" dirty="0">
                <a:solidFill>
                  <a:srgbClr val="0066FF"/>
                </a:solidFill>
              </a:rPr>
              <a:t> </a:t>
            </a:r>
            <a:r>
              <a:rPr lang="vi-VN" sz="2800" dirty="0" err="1">
                <a:solidFill>
                  <a:srgbClr val="0066FF"/>
                </a:solidFill>
              </a:rPr>
              <a:t>lẫn</a:t>
            </a:r>
            <a:r>
              <a:rPr lang="vi-VN" sz="2800" dirty="0">
                <a:solidFill>
                  <a:srgbClr val="0066FF"/>
                </a:solidFill>
              </a:rPr>
              <a:t> </a:t>
            </a:r>
            <a:r>
              <a:rPr lang="vi-VN" sz="2800" dirty="0" err="1">
                <a:solidFill>
                  <a:srgbClr val="0066FF"/>
                </a:solidFill>
              </a:rPr>
              <a:t>nhất</a:t>
            </a:r>
            <a:r>
              <a:rPr lang="vi-VN" sz="2800" dirty="0">
                <a:solidFill>
                  <a:srgbClr val="0066FF"/>
                </a:solidFill>
              </a:rPr>
              <a:t> </a:t>
            </a:r>
            <a:r>
              <a:rPr lang="vi-VN" sz="2800" dirty="0" err="1">
                <a:solidFill>
                  <a:srgbClr val="0066FF"/>
                </a:solidFill>
              </a:rPr>
              <a:t>giữa</a:t>
            </a:r>
            <a:r>
              <a:rPr lang="vi-VN" sz="2800" dirty="0">
                <a:solidFill>
                  <a:srgbClr val="0066FF"/>
                </a:solidFill>
              </a:rPr>
              <a:t> </a:t>
            </a:r>
            <a:r>
              <a:rPr lang="vi-VN" sz="2800" dirty="0" err="1">
                <a:solidFill>
                  <a:srgbClr val="0066FF"/>
                </a:solidFill>
              </a:rPr>
              <a:t>các</a:t>
            </a:r>
            <a:r>
              <a:rPr lang="vi-VN" sz="2800" dirty="0">
                <a:solidFill>
                  <a:srgbClr val="0066FF"/>
                </a:solidFill>
              </a:rPr>
              <a:t> </a:t>
            </a:r>
            <a:r>
              <a:rPr lang="vi-VN" sz="2800" dirty="0" err="1">
                <a:solidFill>
                  <a:srgbClr val="0066FF"/>
                </a:solidFill>
              </a:rPr>
              <a:t>lớp</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a:t>
            </a:r>
          </a:p>
        </p:txBody>
      </p:sp>
    </p:spTree>
    <p:extLst>
      <p:ext uri="{BB962C8B-B14F-4D97-AF65-F5344CB8AC3E}">
        <p14:creationId xmlns:p14="http://schemas.microsoft.com/office/powerpoint/2010/main" val="2488624278"/>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8D357-44D3-4192-9574-AEB50D07BA93}"/>
              </a:ext>
            </a:extLst>
          </p:cNvPr>
          <p:cNvSpPr>
            <a:spLocks noGrp="1"/>
          </p:cNvSpPr>
          <p:nvPr>
            <p:ph type="title"/>
          </p:nvPr>
        </p:nvSpPr>
        <p:spPr/>
        <p:txBody>
          <a:bodyPr/>
          <a:lstStyle/>
          <a:p>
            <a:r>
              <a:rPr lang="en-US" dirty="0" err="1"/>
              <a:t>Huấn</a:t>
            </a:r>
            <a:r>
              <a:rPr lang="en-US" dirty="0"/>
              <a:t> </a:t>
            </a:r>
            <a:r>
              <a:rPr lang="en-US" dirty="0" err="1"/>
              <a:t>luyện</a:t>
            </a:r>
            <a:r>
              <a:rPr lang="en-US" dirty="0"/>
              <a:t> </a:t>
            </a:r>
            <a:r>
              <a:rPr lang="en-US" dirty="0" err="1"/>
              <a:t>mô</a:t>
            </a:r>
            <a:r>
              <a:rPr lang="en-US" dirty="0"/>
              <a:t> </a:t>
            </a:r>
            <a:r>
              <a:rPr lang="en-US" dirty="0" err="1"/>
              <a:t>hình</a:t>
            </a:r>
            <a:endParaRPr lang="vi-VN" dirty="0"/>
          </a:p>
        </p:txBody>
      </p:sp>
      <p:sp>
        <p:nvSpPr>
          <p:cNvPr id="4" name="Text Placeholder 3">
            <a:extLst>
              <a:ext uri="{FF2B5EF4-FFF2-40B4-BE49-F238E27FC236}">
                <a16:creationId xmlns:a16="http://schemas.microsoft.com/office/drawing/2014/main" id="{26D308A1-220E-41D1-95C3-05079F64FB03}"/>
              </a:ext>
            </a:extLst>
          </p:cNvPr>
          <p:cNvSpPr>
            <a:spLocks noGrp="1"/>
          </p:cNvSpPr>
          <p:nvPr>
            <p:ph type="body" idx="1"/>
          </p:nvPr>
        </p:nvSpPr>
        <p:spPr/>
        <p:txBody>
          <a:bodyPr/>
          <a:lstStyle/>
          <a:p>
            <a:endParaRPr lang="vi-VN"/>
          </a:p>
        </p:txBody>
      </p:sp>
    </p:spTree>
    <p:extLst>
      <p:ext uri="{BB962C8B-B14F-4D97-AF65-F5344CB8AC3E}">
        <p14:creationId xmlns:p14="http://schemas.microsoft.com/office/powerpoint/2010/main" val="3961832058"/>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8D357-44D3-4192-9574-AEB50D07BA93}"/>
              </a:ext>
            </a:extLst>
          </p:cNvPr>
          <p:cNvSpPr>
            <a:spLocks noGrp="1"/>
          </p:cNvSpPr>
          <p:nvPr>
            <p:ph type="title"/>
          </p:nvPr>
        </p:nvSpPr>
        <p:spPr/>
        <p:txBody>
          <a:bodyPr wrap="square"/>
          <a:lstStyle/>
          <a:p>
            <a:pPr>
              <a:defRPr sz="2800" b="1">
                <a:solidFill>
                  <a:srgbClr val="002060"/>
                </a:solidFill>
                <a:latin typeface="Calibri"/>
              </a:defRPr>
            </a:pPr>
            <a:r>
              <a:t>Huấn luyện mô hình: Support Vector Classifier Tuyến Tính (In [1])</a:t>
            </a:r>
            <a:endParaRPr lang="vi-VN" dirty="0"/>
          </a:p>
        </p:txBody>
      </p:sp>
      <p:sp>
        <p:nvSpPr>
          <p:cNvPr id="3" name="Content Placeholder 2">
            <a:extLst>
              <a:ext uri="{FF2B5EF4-FFF2-40B4-BE49-F238E27FC236}">
                <a16:creationId xmlns:a16="http://schemas.microsoft.com/office/drawing/2014/main" id="{A734B11A-0C5D-4094-8818-CED3C58F0E7B}"/>
              </a:ext>
            </a:extLst>
          </p:cNvPr>
          <p:cNvSpPr>
            <a:spLocks noGrp="1"/>
          </p:cNvSpPr>
          <p:nvPr>
            <p:ph idx="1"/>
          </p:nvPr>
        </p:nvSpPr>
        <p:spPr>
          <a:xfrm>
            <a:off x="612648" y="1371600"/>
            <a:ext cx="10972800" cy="4937760"/>
          </a:xfrm>
        </p:spPr>
        <p:txBody>
          <a:bodyPr wrap="square"/>
          <a:lstStyle/>
          <a:p>
            <a:pPr algn="just">
              <a:spcBef>
                <a:spcPts val="600"/>
              </a:spcBef>
              <a:spcAft>
                <a:spcPts val="400"/>
              </a:spcAft>
              <a:defRPr sz="1700" b="1">
                <a:solidFill>
                  <a:srgbClr val="003366"/>
                </a:solidFill>
                <a:latin typeface="Calibri"/>
              </a:defRPr>
            </a:pPr>
            <a:r>
              <a:t>Huấn luyện mô hình Tuyến tính với Linear SVM:</a:t>
            </a:r>
          </a:p>
          <a:p>
            <a:pPr>
              <a:spcAft>
                <a:spcPts val="200"/>
              </a:spcAft>
              <a:defRPr sz="1300" b="0">
                <a:solidFill>
                  <a:srgbClr val="004696"/>
                </a:solidFill>
                <a:latin typeface="Consolas"/>
              </a:defRPr>
            </a:pPr>
            <a:r>
              <a:t>from sklearn.svm import SVC</a:t>
            </a:r>
          </a:p>
          <a:p>
            <a:pPr>
              <a:spcAft>
                <a:spcPts val="200"/>
              </a:spcAft>
              <a:defRPr sz="1300" b="0">
                <a:solidFill>
                  <a:srgbClr val="004696"/>
                </a:solidFill>
                <a:latin typeface="Consolas"/>
              </a:defRPr>
            </a:pPr>
            <a:r>
              <a:t>from sklearn.metrics import confusion_matrix, accuracy_score</a:t>
            </a:r>
          </a:p>
          <a:p>
            <a:pPr>
              <a:spcAft>
                <a:spcPts val="200"/>
              </a:spcAft>
              <a:defRPr sz="1300" b="0">
                <a:solidFill>
                  <a:srgbClr val="004696"/>
                </a:solidFill>
                <a:latin typeface="Consolas"/>
              </a:defRPr>
            </a:pPr>
            <a:r>
              <a:t>classifier = SVC(kernel='linear', random_state=0)</a:t>
            </a:r>
          </a:p>
          <a:p>
            <a:pPr>
              <a:spcAft>
                <a:spcPts val="200"/>
              </a:spcAft>
              <a:defRPr sz="1300" b="0">
                <a:solidFill>
                  <a:srgbClr val="004696"/>
                </a:solidFill>
                <a:latin typeface="Consolas"/>
              </a:defRPr>
            </a:pPr>
            <a:r>
              <a:t>classifier.fit(X_train_scaled, y_train)</a:t>
            </a:r>
          </a:p>
          <a:p>
            <a:pPr>
              <a:spcAft>
                <a:spcPts val="400"/>
              </a:spcAft>
              <a:defRPr sz="1300" b="0">
                <a:solidFill>
                  <a:srgbClr val="004696"/>
                </a:solidFill>
                <a:latin typeface="Consolas"/>
              </a:defRPr>
            </a:pPr>
            <a:r>
              <a:t>y_pred = classifier.predict(X_test_scaled)</a:t>
            </a:r>
          </a:p>
          <a:p>
            <a:pPr>
              <a:spcAft>
                <a:spcPts val="200"/>
              </a:spcAft>
              <a:defRPr sz="1300" b="0">
                <a:solidFill>
                  <a:srgbClr val="004696"/>
                </a:solidFill>
                <a:latin typeface="Consolas"/>
              </a:defRPr>
            </a:pPr>
            <a:r>
              <a:t>cm = confusion_matrix(y_test, y_pred)</a:t>
            </a:r>
          </a:p>
          <a:p>
            <a:pPr>
              <a:spcAft>
                <a:spcPts val="200"/>
              </a:spcAft>
              <a:defRPr sz="1300" b="0">
                <a:solidFill>
                  <a:srgbClr val="004696"/>
                </a:solidFill>
                <a:latin typeface="Consolas"/>
              </a:defRPr>
            </a:pPr>
            <a:r>
              <a:t>print(f'Accuracy: {accuracy_score(y_test, y_pred)*100:.2f}%')</a:t>
            </a:r>
          </a:p>
          <a:p>
            <a:pPr>
              <a:spcAft>
                <a:spcPts val="400"/>
              </a:spcAft>
              <a:defRPr sz="1300" b="0">
                <a:solidFill>
                  <a:srgbClr val="004696"/>
                </a:solidFill>
                <a:latin typeface="Consolas"/>
              </a:defRPr>
            </a:pPr>
            <a:r>
              <a:t>print('Confusion Matrix:\n', cm)</a:t>
            </a:r>
          </a:p>
          <a:p>
            <a:pPr>
              <a:spcAft>
                <a:spcPts val="200"/>
              </a:spcAft>
              <a:defRPr sz="1200" b="0">
                <a:solidFill>
                  <a:srgbClr val="146428"/>
                </a:solidFill>
                <a:latin typeface="Consolas"/>
              </a:defRPr>
            </a:pPr>
            <a:r>
              <a:t>📌 Kết quả: Accuracy = 90.00% | Confusion Matrix: [[66, 2], [8, 24]] (Chính xác 90/100 mẫu)</a:t>
            </a:r>
          </a:p>
        </p:txBody>
      </p:sp>
    </p:spTree>
    <p:extLst>
      <p:ext uri="{BB962C8B-B14F-4D97-AF65-F5344CB8AC3E}">
        <p14:creationId xmlns:p14="http://schemas.microsoft.com/office/powerpoint/2010/main" val="899578686"/>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303915-96E8-4D3F-AEBF-7529BD817D88}"/>
              </a:ext>
            </a:extLst>
          </p:cNvPr>
          <p:cNvSpPr>
            <a:spLocks noGrp="1"/>
          </p:cNvSpPr>
          <p:nvPr>
            <p:ph type="title"/>
          </p:nvPr>
        </p:nvSpPr>
        <p:spPr/>
        <p:txBody>
          <a:bodyPr/>
          <a:lstStyle/>
          <a:p>
            <a:r>
              <a:rPr lang="vi-VN" dirty="0" err="1"/>
              <a:t>Trực</a:t>
            </a:r>
            <a:r>
              <a:rPr lang="vi-VN" dirty="0"/>
              <a:t> quan </a:t>
            </a:r>
            <a:r>
              <a:rPr lang="vi-VN" dirty="0" err="1"/>
              <a:t>hóa</a:t>
            </a:r>
            <a:r>
              <a:rPr lang="vi-VN" dirty="0"/>
              <a:t> </a:t>
            </a:r>
            <a:r>
              <a:rPr lang="vi-VN" dirty="0" err="1"/>
              <a:t>kết</a:t>
            </a:r>
            <a:r>
              <a:rPr lang="vi-VN" dirty="0"/>
              <a:t> </a:t>
            </a:r>
            <a:r>
              <a:rPr lang="vi-VN" dirty="0" err="1"/>
              <a:t>quả</a:t>
            </a:r>
            <a:r>
              <a:rPr lang="vi-VN" dirty="0"/>
              <a:t> mô </a:t>
            </a:r>
            <a:r>
              <a:rPr lang="vi-VN" dirty="0" err="1"/>
              <a:t>hình</a:t>
            </a:r>
            <a:endParaRPr lang="vi-VN" dirty="0"/>
          </a:p>
        </p:txBody>
      </p:sp>
      <p:sp>
        <p:nvSpPr>
          <p:cNvPr id="5" name="Text Placeholder 4">
            <a:extLst>
              <a:ext uri="{FF2B5EF4-FFF2-40B4-BE49-F238E27FC236}">
                <a16:creationId xmlns:a16="http://schemas.microsoft.com/office/drawing/2014/main" id="{76631E8E-7F95-48D1-B193-056D9DF35BBA}"/>
              </a:ext>
            </a:extLst>
          </p:cNvPr>
          <p:cNvSpPr>
            <a:spLocks noGrp="1"/>
          </p:cNvSpPr>
          <p:nvPr>
            <p:ph type="body" idx="1"/>
          </p:nvPr>
        </p:nvSpPr>
        <p:spPr/>
        <p:txBody>
          <a:bodyPr/>
          <a:lstStyle/>
          <a:p>
            <a:endParaRPr lang="vi-VN"/>
          </a:p>
        </p:txBody>
      </p:sp>
    </p:spTree>
    <p:extLst>
      <p:ext uri="{BB962C8B-B14F-4D97-AF65-F5344CB8AC3E}">
        <p14:creationId xmlns:p14="http://schemas.microsoft.com/office/powerpoint/2010/main" val="258237387"/>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303915-96E8-4D3F-AEBF-7529BD817D88}"/>
              </a:ext>
            </a:extLst>
          </p:cNvPr>
          <p:cNvSpPr>
            <a:spLocks noGrp="1"/>
          </p:cNvSpPr>
          <p:nvPr>
            <p:ph type="title"/>
          </p:nvPr>
        </p:nvSpPr>
        <p:spPr/>
        <p:txBody>
          <a:bodyPr/>
          <a:lstStyle/>
          <a:p>
            <a:r>
              <a:rPr lang="vi-VN" dirty="0" err="1"/>
              <a:t>Trực</a:t>
            </a:r>
            <a:r>
              <a:rPr lang="vi-VN" dirty="0"/>
              <a:t> quan </a:t>
            </a:r>
            <a:r>
              <a:rPr lang="vi-VN" dirty="0" err="1"/>
              <a:t>hóa</a:t>
            </a:r>
            <a:r>
              <a:rPr lang="vi-VN" dirty="0"/>
              <a:t> </a:t>
            </a:r>
            <a:r>
              <a:rPr lang="vi-VN" dirty="0" err="1"/>
              <a:t>kết</a:t>
            </a:r>
            <a:r>
              <a:rPr lang="vi-VN" dirty="0"/>
              <a:t> </a:t>
            </a:r>
            <a:r>
              <a:rPr lang="vi-VN" dirty="0" err="1"/>
              <a:t>quả</a:t>
            </a:r>
            <a:r>
              <a:rPr lang="vi-VN" dirty="0"/>
              <a:t> mô </a:t>
            </a:r>
            <a:r>
              <a:rPr lang="vi-VN" dirty="0" err="1"/>
              <a:t>hình</a:t>
            </a:r>
            <a:endParaRPr lang="vi-VN" dirty="0"/>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4E7C6AE8-60A2-49FB-A20C-4375C46A913F}"/>
                  </a:ext>
                </a:extLst>
              </p:cNvPr>
              <p:cNvSpPr>
                <a:spLocks noGrp="1"/>
              </p:cNvSpPr>
              <p:nvPr>
                <p:ph idx="1"/>
              </p:nvPr>
            </p:nvSpPr>
            <p:spPr/>
            <p:txBody>
              <a:bodyPr/>
              <a:lstStyle/>
              <a:p>
                <a:pPr algn="just"/>
                <a:r>
                  <a:rPr lang="vi-VN" sz="2800" dirty="0">
                    <a:solidFill>
                      <a:srgbClr val="0066FF"/>
                    </a:solidFill>
                  </a:rPr>
                  <a:t>Ta </a:t>
                </a:r>
                <a:r>
                  <a:rPr lang="vi-VN" sz="2800" dirty="0" err="1">
                    <a:solidFill>
                      <a:srgbClr val="0066FF"/>
                    </a:solidFill>
                  </a:rPr>
                  <a:t>tạo</a:t>
                </a:r>
                <a:r>
                  <a:rPr lang="vi-VN" sz="2800" dirty="0">
                    <a:solidFill>
                      <a:srgbClr val="0066FF"/>
                    </a:solidFill>
                  </a:rPr>
                  <a:t> </a:t>
                </a:r>
                <a:r>
                  <a:rPr lang="vi-VN" sz="2800" dirty="0" err="1">
                    <a:solidFill>
                      <a:srgbClr val="0066FF"/>
                    </a:solidFill>
                  </a:rPr>
                  <a:t>một</a:t>
                </a:r>
                <a:r>
                  <a:rPr lang="vi-VN" sz="2800" dirty="0">
                    <a:solidFill>
                      <a:srgbClr val="0066FF"/>
                    </a:solidFill>
                  </a:rPr>
                  <a:t> </a:t>
                </a:r>
                <a:r>
                  <a:rPr lang="vi-VN" sz="2800" i="1" dirty="0" err="1">
                    <a:solidFill>
                      <a:srgbClr val="0066FF"/>
                    </a:solidFill>
                  </a:rPr>
                  <a:t>confusion</a:t>
                </a:r>
                <a:r>
                  <a:rPr lang="vi-VN" sz="2800" i="1" dirty="0">
                    <a:solidFill>
                      <a:srgbClr val="0066FF"/>
                    </a:solidFill>
                  </a:rPr>
                  <a:t> </a:t>
                </a:r>
                <a:r>
                  <a:rPr lang="vi-VN" sz="2800" i="1" dirty="0" err="1">
                    <a:solidFill>
                      <a:srgbClr val="0066FF"/>
                    </a:solidFill>
                  </a:rPr>
                  <a:t>matrix</a:t>
                </a:r>
                <a:r>
                  <a:rPr lang="vi-VN" sz="2800" dirty="0">
                    <a:solidFill>
                      <a:srgbClr val="0066FF"/>
                    </a:solidFill>
                  </a:rPr>
                  <a:t>. Đây </a:t>
                </a:r>
                <a:r>
                  <a:rPr lang="vi-VN" sz="2800" dirty="0" err="1">
                    <a:solidFill>
                      <a:srgbClr val="0066FF"/>
                    </a:solidFill>
                  </a:rPr>
                  <a:t>là</a:t>
                </a:r>
                <a:r>
                  <a:rPr lang="vi-VN" sz="2800" dirty="0">
                    <a:solidFill>
                      <a:srgbClr val="0066FF"/>
                    </a:solidFill>
                  </a:rPr>
                  <a:t> </a:t>
                </a:r>
                <a:r>
                  <a:rPr lang="vi-VN" sz="2800" dirty="0" err="1">
                    <a:solidFill>
                      <a:srgbClr val="0066FF"/>
                    </a:solidFill>
                  </a:rPr>
                  <a:t>một</a:t>
                </a:r>
                <a:r>
                  <a:rPr lang="vi-VN" sz="2800" dirty="0">
                    <a:solidFill>
                      <a:srgbClr val="0066FF"/>
                    </a:solidFill>
                  </a:rPr>
                  <a:t> ma </a:t>
                </a:r>
                <a:r>
                  <a:rPr lang="vi-VN" sz="2800" dirty="0" err="1">
                    <a:solidFill>
                      <a:srgbClr val="0066FF"/>
                    </a:solidFill>
                  </a:rPr>
                  <a:t>trận</a:t>
                </a:r>
                <a:r>
                  <a:rPr lang="vi-VN" sz="2800" dirty="0">
                    <a:solidFill>
                      <a:srgbClr val="0066FF"/>
                    </a:solidFill>
                  </a:rPr>
                  <a:t> </a:t>
                </a:r>
                <a:r>
                  <a:rPr lang="vi-VN" sz="2800" dirty="0" err="1">
                    <a:solidFill>
                      <a:srgbClr val="0066FF"/>
                    </a:solidFill>
                  </a:rPr>
                  <a:t>có</a:t>
                </a:r>
                <a:r>
                  <a:rPr lang="vi-VN" sz="2800" dirty="0">
                    <a:solidFill>
                      <a:srgbClr val="0066FF"/>
                    </a:solidFill>
                  </a:rPr>
                  <a:t> </a:t>
                </a:r>
                <a:r>
                  <a:rPr lang="vi-VN" sz="2800" dirty="0" err="1">
                    <a:solidFill>
                      <a:srgbClr val="0066FF"/>
                    </a:solidFill>
                  </a:rPr>
                  <a:t>kích</a:t>
                </a:r>
                <a:r>
                  <a:rPr lang="vi-VN" sz="2800" dirty="0">
                    <a:solidFill>
                      <a:srgbClr val="0066FF"/>
                    </a:solidFill>
                  </a:rPr>
                  <a:t> </a:t>
                </a:r>
                <a:r>
                  <a:rPr lang="vi-VN" sz="2800" dirty="0" err="1">
                    <a:solidFill>
                      <a:srgbClr val="0066FF"/>
                    </a:solidFill>
                  </a:rPr>
                  <a:t>thước</a:t>
                </a:r>
                <a:r>
                  <a:rPr lang="vi-VN" sz="2800" dirty="0">
                    <a:solidFill>
                      <a:srgbClr val="0066FF"/>
                    </a:solidFill>
                  </a:rPr>
                  <a:t> </a:t>
                </a:r>
                <a:r>
                  <a:rPr lang="vi-VN" sz="2800" dirty="0" err="1">
                    <a:solidFill>
                      <a:srgbClr val="0066FF"/>
                    </a:solidFill>
                  </a:rPr>
                  <a:t>là</a:t>
                </a:r>
                <a:r>
                  <a:rPr lang="vi-VN" sz="2800" dirty="0">
                    <a:solidFill>
                      <a:srgbClr val="0066FF"/>
                    </a:solidFill>
                  </a:rPr>
                  <a:t> </a:t>
                </a:r>
                <a14:m>
                  <m:oMath xmlns:m="http://schemas.openxmlformats.org/officeDocument/2006/math">
                    <m:r>
                      <a:rPr lang="vi-VN" sz="2800" i="1" dirty="0" smtClean="0">
                        <a:solidFill>
                          <a:srgbClr val="0066FF"/>
                        </a:solidFill>
                        <a:latin typeface="Cambria Math" panose="02040503050406030204" pitchFamily="18" charset="0"/>
                      </a:rPr>
                      <m:t>𝑝</m:t>
                    </m:r>
                    <m:r>
                      <a:rPr lang="vi-VN" sz="2800" i="1" dirty="0" smtClean="0">
                        <a:solidFill>
                          <a:srgbClr val="0066FF"/>
                        </a:solidFill>
                        <a:latin typeface="Cambria Math" panose="02040503050406030204" pitchFamily="18" charset="0"/>
                        <a:ea typeface="Cambria Math" panose="02040503050406030204" pitchFamily="18" charset="0"/>
                      </a:rPr>
                      <m:t>×</m:t>
                    </m:r>
                    <m:r>
                      <a:rPr lang="vi-VN" sz="2800" i="1" dirty="0" smtClean="0">
                        <a:solidFill>
                          <a:srgbClr val="0066FF"/>
                        </a:solidFill>
                        <a:latin typeface="Cambria Math" panose="02040503050406030204" pitchFamily="18" charset="0"/>
                      </a:rPr>
                      <m:t>𝑝</m:t>
                    </m:r>
                  </m:oMath>
                </a14:m>
                <a:r>
                  <a:rPr lang="vi-VN" sz="2800" dirty="0">
                    <a:solidFill>
                      <a:srgbClr val="0066FF"/>
                    </a:solidFill>
                  </a:rPr>
                  <a:t> </a:t>
                </a:r>
                <a:r>
                  <a:rPr lang="vi-VN" sz="2800" dirty="0" err="1">
                    <a:solidFill>
                      <a:srgbClr val="0066FF"/>
                    </a:solidFill>
                  </a:rPr>
                  <a:t>với</a:t>
                </a:r>
                <a:r>
                  <a:rPr lang="vi-VN" sz="2800" dirty="0">
                    <a:solidFill>
                      <a:srgbClr val="0066FF"/>
                    </a:solidFill>
                  </a:rPr>
                  <a:t> </a:t>
                </a:r>
                <a14:m>
                  <m:oMath xmlns:m="http://schemas.openxmlformats.org/officeDocument/2006/math">
                    <m:r>
                      <a:rPr lang="vi-VN" sz="2800" i="1" dirty="0" smtClean="0">
                        <a:solidFill>
                          <a:srgbClr val="0066FF"/>
                        </a:solidFill>
                        <a:latin typeface="Cambria Math" panose="02040503050406030204" pitchFamily="18" charset="0"/>
                      </a:rPr>
                      <m:t>𝑝</m:t>
                    </m:r>
                  </m:oMath>
                </a14:m>
                <a:r>
                  <a:rPr lang="vi-VN" sz="2800" dirty="0">
                    <a:solidFill>
                      <a:srgbClr val="0066FF"/>
                    </a:solidFill>
                  </a:rPr>
                  <a:t> </a:t>
                </a:r>
                <a:r>
                  <a:rPr lang="vi-VN" sz="2800" dirty="0" err="1">
                    <a:solidFill>
                      <a:srgbClr val="0066FF"/>
                    </a:solidFill>
                  </a:rPr>
                  <a:t>là</a:t>
                </a:r>
                <a:r>
                  <a:rPr lang="vi-VN" sz="2800" dirty="0">
                    <a:solidFill>
                      <a:srgbClr val="0066FF"/>
                    </a:solidFill>
                  </a:rPr>
                  <a:t> </a:t>
                </a:r>
                <a:r>
                  <a:rPr lang="vi-VN" sz="2800" dirty="0" err="1">
                    <a:solidFill>
                      <a:srgbClr val="0066FF"/>
                    </a:solidFill>
                  </a:rPr>
                  <a:t>số</a:t>
                </a:r>
                <a:r>
                  <a:rPr lang="vi-VN" sz="2800" dirty="0">
                    <a:solidFill>
                      <a:srgbClr val="0066FF"/>
                    </a:solidFill>
                  </a:rPr>
                  <a:t> phân </a:t>
                </a:r>
                <a:r>
                  <a:rPr lang="vi-VN" sz="2800" dirty="0" err="1">
                    <a:solidFill>
                      <a:srgbClr val="0066FF"/>
                    </a:solidFill>
                  </a:rPr>
                  <a:t>lớp</a:t>
                </a:r>
                <a:r>
                  <a:rPr lang="vi-VN" sz="2800" dirty="0">
                    <a:solidFill>
                      <a:srgbClr val="0066FF"/>
                    </a:solidFill>
                  </a:rPr>
                  <a:t> trong </a:t>
                </a:r>
                <a:r>
                  <a:rPr lang="vi-VN" sz="2800" dirty="0" err="1">
                    <a:solidFill>
                      <a:srgbClr val="0066FF"/>
                    </a:solidFill>
                  </a:rPr>
                  <a:t>bài</a:t>
                </a:r>
                <a:r>
                  <a:rPr lang="vi-VN" sz="2800" dirty="0">
                    <a:solidFill>
                      <a:srgbClr val="0066FF"/>
                    </a:solidFill>
                  </a:rPr>
                  <a:t> </a:t>
                </a:r>
                <a:r>
                  <a:rPr lang="vi-VN" sz="2800" dirty="0" err="1">
                    <a:solidFill>
                      <a:srgbClr val="0066FF"/>
                    </a:solidFill>
                  </a:rPr>
                  <a:t>toán</a:t>
                </a:r>
                <a:r>
                  <a:rPr lang="vi-VN" sz="2800" dirty="0">
                    <a:solidFill>
                      <a:srgbClr val="0066FF"/>
                    </a:solidFill>
                  </a:rPr>
                  <a:t> đang </a:t>
                </a:r>
                <a:r>
                  <a:rPr lang="vi-VN" sz="2800" dirty="0" err="1">
                    <a:solidFill>
                      <a:srgbClr val="0066FF"/>
                    </a:solidFill>
                  </a:rPr>
                  <a:t>xét</a:t>
                </a:r>
                <a:r>
                  <a:rPr lang="vi-VN" sz="2800" dirty="0">
                    <a:solidFill>
                      <a:srgbClr val="0066FF"/>
                    </a:solidFill>
                  </a:rPr>
                  <a:t>, ở đây </a:t>
                </a:r>
                <a:r>
                  <a:rPr lang="vi-VN" sz="2800" dirty="0" err="1">
                    <a:solidFill>
                      <a:srgbClr val="0066FF"/>
                    </a:solidFill>
                  </a:rPr>
                  <a:t>là</a:t>
                </a:r>
                <a:r>
                  <a:rPr lang="vi-VN" sz="2800" dirty="0">
                    <a:solidFill>
                      <a:srgbClr val="0066FF"/>
                    </a:solidFill>
                  </a:rPr>
                  <a:t> </a:t>
                </a:r>
                <a14:m>
                  <m:oMath xmlns:m="http://schemas.openxmlformats.org/officeDocument/2006/math">
                    <m:r>
                      <a:rPr lang="vi-VN" sz="2800" i="1" dirty="0" smtClean="0">
                        <a:solidFill>
                          <a:srgbClr val="0066FF"/>
                        </a:solidFill>
                        <a:latin typeface="Cambria Math" panose="02040503050406030204" pitchFamily="18" charset="0"/>
                      </a:rPr>
                      <m:t>2</m:t>
                    </m:r>
                  </m:oMath>
                </a14:m>
                <a:r>
                  <a:rPr lang="vi-VN" sz="2800" dirty="0">
                    <a:solidFill>
                      <a:srgbClr val="0066FF"/>
                    </a:solidFill>
                  </a:rPr>
                  <a:t>.</a:t>
                </a:r>
              </a:p>
              <a:p>
                <a:pPr algn="just"/>
                <a:r>
                  <a:rPr lang="vi-VN" sz="2800" dirty="0">
                    <a:solidFill>
                      <a:srgbClr val="FF0000"/>
                    </a:solidFill>
                  </a:rPr>
                  <a:t>Phần </a:t>
                </a:r>
                <a:r>
                  <a:rPr lang="vi-VN" sz="2800" dirty="0" err="1">
                    <a:solidFill>
                      <a:srgbClr val="FF0000"/>
                    </a:solidFill>
                  </a:rPr>
                  <a:t>tử</a:t>
                </a:r>
                <a:r>
                  <a:rPr lang="vi-VN" sz="2800" dirty="0">
                    <a:solidFill>
                      <a:srgbClr val="FF0000"/>
                    </a:solidFill>
                  </a:rPr>
                  <a:t> ở </a:t>
                </a:r>
                <a:r>
                  <a:rPr lang="vi-VN" sz="2800" dirty="0" err="1">
                    <a:solidFill>
                      <a:srgbClr val="FF0000"/>
                    </a:solidFill>
                  </a:rPr>
                  <a:t>dòng</a:t>
                </a:r>
                <a:r>
                  <a:rPr lang="vi-VN" sz="2800" dirty="0">
                    <a:solidFill>
                      <a:srgbClr val="FF0000"/>
                    </a:solidFill>
                  </a:rPr>
                  <a:t> </a:t>
                </a:r>
                <a:r>
                  <a:rPr lang="vi-VN" sz="2800" dirty="0" err="1">
                    <a:solidFill>
                      <a:srgbClr val="FF0000"/>
                    </a:solidFill>
                  </a:rPr>
                  <a:t>thứ</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𝑖</m:t>
                    </m:r>
                  </m:oMath>
                </a14:m>
                <a:r>
                  <a:rPr lang="vi-VN" sz="2800" dirty="0">
                    <a:solidFill>
                      <a:srgbClr val="FF0000"/>
                    </a:solidFill>
                  </a:rPr>
                  <a:t>, </a:t>
                </a:r>
                <a:r>
                  <a:rPr lang="vi-VN" sz="2800" dirty="0" err="1">
                    <a:solidFill>
                      <a:srgbClr val="FF0000"/>
                    </a:solidFill>
                  </a:rPr>
                  <a:t>cột</a:t>
                </a:r>
                <a:r>
                  <a:rPr lang="vi-VN" sz="2800" dirty="0">
                    <a:solidFill>
                      <a:srgbClr val="FF0000"/>
                    </a:solidFill>
                  </a:rPr>
                  <a:t> </a:t>
                </a:r>
                <a:r>
                  <a:rPr lang="vi-VN" sz="2800" dirty="0" err="1">
                    <a:solidFill>
                      <a:srgbClr val="FF0000"/>
                    </a:solidFill>
                  </a:rPr>
                  <a:t>thứ</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𝑗</m:t>
                    </m:r>
                  </m:oMath>
                </a14:m>
                <a:r>
                  <a:rPr lang="vi-VN" sz="2800" dirty="0">
                    <a:solidFill>
                      <a:srgbClr val="FF0000"/>
                    </a:solidFill>
                  </a:rPr>
                  <a:t> </a:t>
                </a:r>
                <a:r>
                  <a:rPr lang="vi-VN" sz="2800" dirty="0" err="1">
                    <a:solidFill>
                      <a:srgbClr val="FF0000"/>
                    </a:solidFill>
                  </a:rPr>
                  <a:t>của</a:t>
                </a:r>
                <a:r>
                  <a:rPr lang="vi-VN" sz="2800" dirty="0">
                    <a:solidFill>
                      <a:srgbClr val="FF0000"/>
                    </a:solidFill>
                  </a:rPr>
                  <a:t> </a:t>
                </a:r>
                <a:r>
                  <a:rPr lang="vi-VN" sz="2800" dirty="0" err="1">
                    <a:solidFill>
                      <a:srgbClr val="FF0000"/>
                    </a:solidFill>
                  </a:rPr>
                  <a:t>confusion</a:t>
                </a:r>
                <a:r>
                  <a:rPr lang="vi-VN" sz="2800" dirty="0">
                    <a:solidFill>
                      <a:srgbClr val="FF0000"/>
                    </a:solidFill>
                  </a:rPr>
                  <a:t> </a:t>
                </a:r>
                <a:r>
                  <a:rPr lang="vi-VN" sz="2800" dirty="0" err="1">
                    <a:solidFill>
                      <a:srgbClr val="FF0000"/>
                    </a:solidFill>
                  </a:rPr>
                  <a:t>matrix</a:t>
                </a:r>
                <a:r>
                  <a:rPr lang="vi-VN" sz="2800" dirty="0">
                    <a:solidFill>
                      <a:srgbClr val="FF0000"/>
                    </a:solidFill>
                  </a:rPr>
                  <a:t> </a:t>
                </a:r>
                <a:r>
                  <a:rPr lang="vi-VN" sz="2800" dirty="0" err="1">
                    <a:solidFill>
                      <a:srgbClr val="FF0000"/>
                    </a:solidFill>
                  </a:rPr>
                  <a:t>biểu</a:t>
                </a:r>
                <a:r>
                  <a:rPr lang="vi-VN" sz="2800" dirty="0">
                    <a:solidFill>
                      <a:srgbClr val="FF0000"/>
                    </a:solidFill>
                  </a:rPr>
                  <a:t> </a:t>
                </a:r>
                <a:r>
                  <a:rPr lang="vi-VN" sz="2800" dirty="0" err="1">
                    <a:solidFill>
                      <a:srgbClr val="FF0000"/>
                    </a:solidFill>
                  </a:rPr>
                  <a:t>thị</a:t>
                </a:r>
                <a:r>
                  <a:rPr lang="vi-VN" sz="2800" dirty="0">
                    <a:solidFill>
                      <a:srgbClr val="FF0000"/>
                    </a:solidFill>
                  </a:rPr>
                  <a:t> </a:t>
                </a:r>
                <a:r>
                  <a:rPr lang="vi-VN" sz="2800" dirty="0" err="1">
                    <a:solidFill>
                      <a:srgbClr val="FF0000"/>
                    </a:solidFill>
                  </a:rPr>
                  <a:t>số</a:t>
                </a:r>
                <a:r>
                  <a:rPr lang="vi-VN" sz="2800" dirty="0">
                    <a:solidFill>
                      <a:srgbClr val="FF0000"/>
                    </a:solidFill>
                  </a:rPr>
                  <a:t> </a:t>
                </a:r>
                <a:r>
                  <a:rPr lang="vi-VN" sz="2800" dirty="0" err="1">
                    <a:solidFill>
                      <a:srgbClr val="FF0000"/>
                    </a:solidFill>
                  </a:rPr>
                  <a:t>lượng</a:t>
                </a:r>
                <a:r>
                  <a:rPr lang="vi-VN" sz="2800" dirty="0">
                    <a:solidFill>
                      <a:srgbClr val="FF0000"/>
                    </a:solidFill>
                  </a:rPr>
                  <a:t> </a:t>
                </a:r>
                <a:r>
                  <a:rPr lang="vi-VN" sz="2800" dirty="0" err="1">
                    <a:solidFill>
                      <a:srgbClr val="FF0000"/>
                    </a:solidFill>
                  </a:rPr>
                  <a:t>phần</a:t>
                </a:r>
                <a:r>
                  <a:rPr lang="vi-VN" sz="2800" dirty="0">
                    <a:solidFill>
                      <a:srgbClr val="FF0000"/>
                    </a:solidFill>
                  </a:rPr>
                  <a:t> </a:t>
                </a:r>
                <a:r>
                  <a:rPr lang="vi-VN" sz="2800" dirty="0" err="1">
                    <a:solidFill>
                      <a:srgbClr val="FF0000"/>
                    </a:solidFill>
                  </a:rPr>
                  <a:t>tử</a:t>
                </a:r>
                <a:r>
                  <a:rPr lang="vi-VN" sz="2800" dirty="0">
                    <a:solidFill>
                      <a:srgbClr val="FF0000"/>
                    </a:solidFill>
                  </a:rPr>
                  <a:t> </a:t>
                </a:r>
                <a:r>
                  <a:rPr lang="vi-VN" sz="2800" dirty="0" err="1">
                    <a:solidFill>
                      <a:srgbClr val="FF0000"/>
                    </a:solidFill>
                  </a:rPr>
                  <a:t>có</a:t>
                </a:r>
                <a:r>
                  <a:rPr lang="vi-VN" sz="2800" dirty="0">
                    <a:solidFill>
                      <a:srgbClr val="FF0000"/>
                    </a:solidFill>
                  </a:rPr>
                  <a:t> </a:t>
                </a:r>
                <a:r>
                  <a:rPr lang="vi-VN" sz="2800" dirty="0" err="1">
                    <a:solidFill>
                      <a:srgbClr val="FF0000"/>
                    </a:solidFill>
                  </a:rPr>
                  <a:t>loại</a:t>
                </a:r>
                <a:r>
                  <a:rPr lang="vi-VN" sz="2800" dirty="0">
                    <a:solidFill>
                      <a:srgbClr val="FF0000"/>
                    </a:solidFill>
                  </a:rPr>
                  <a:t> </a:t>
                </a:r>
                <a:r>
                  <a:rPr lang="vi-VN" sz="2800" dirty="0" err="1">
                    <a:solidFill>
                      <a:srgbClr val="FF0000"/>
                    </a:solidFill>
                  </a:rPr>
                  <a:t>là</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𝑖</m:t>
                    </m:r>
                  </m:oMath>
                </a14:m>
                <a:r>
                  <a:rPr lang="vi-VN" sz="2800" dirty="0">
                    <a:solidFill>
                      <a:srgbClr val="FF0000"/>
                    </a:solidFill>
                  </a:rPr>
                  <a:t> </a:t>
                </a:r>
                <a:r>
                  <a:rPr lang="vi-VN" sz="2800" dirty="0" err="1">
                    <a:solidFill>
                      <a:srgbClr val="FF0000"/>
                    </a:solidFill>
                  </a:rPr>
                  <a:t>và</a:t>
                </a:r>
                <a:r>
                  <a:rPr lang="vi-VN" sz="2800" dirty="0">
                    <a:solidFill>
                      <a:srgbClr val="FF0000"/>
                    </a:solidFill>
                  </a:rPr>
                  <a:t> </a:t>
                </a:r>
                <a:r>
                  <a:rPr lang="vi-VN" sz="2800" dirty="0" err="1">
                    <a:solidFill>
                      <a:srgbClr val="FF0000"/>
                    </a:solidFill>
                  </a:rPr>
                  <a:t>được</a:t>
                </a:r>
                <a:r>
                  <a:rPr lang="vi-VN" sz="2800" dirty="0">
                    <a:solidFill>
                      <a:srgbClr val="FF0000"/>
                    </a:solidFill>
                  </a:rPr>
                  <a:t> phân </a:t>
                </a:r>
                <a:r>
                  <a:rPr lang="vi-VN" sz="2800" dirty="0" err="1">
                    <a:solidFill>
                      <a:srgbClr val="FF0000"/>
                    </a:solidFill>
                  </a:rPr>
                  <a:t>vào</a:t>
                </a:r>
                <a:r>
                  <a:rPr lang="vi-VN" sz="2800" dirty="0">
                    <a:solidFill>
                      <a:srgbClr val="FF0000"/>
                    </a:solidFill>
                  </a:rPr>
                  <a:t> </a:t>
                </a:r>
                <a:r>
                  <a:rPr lang="vi-VN" sz="2800" dirty="0" err="1">
                    <a:solidFill>
                      <a:srgbClr val="FF0000"/>
                    </a:solidFill>
                  </a:rPr>
                  <a:t>loại</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𝑗</m:t>
                    </m:r>
                  </m:oMath>
                </a14:m>
                <a:r>
                  <a:rPr lang="vi-VN" sz="2800" dirty="0">
                    <a:solidFill>
                      <a:srgbClr val="FF0000"/>
                    </a:solidFill>
                  </a:rPr>
                  <a:t>.</a:t>
                </a:r>
              </a:p>
              <a:p>
                <a:pPr algn="just"/>
                <a:r>
                  <a:rPr lang="vi-VN" sz="2800" dirty="0" err="1">
                    <a:solidFill>
                      <a:srgbClr val="0066FF"/>
                    </a:solidFill>
                  </a:rPr>
                  <a:t>Hàm</a:t>
                </a:r>
                <a:r>
                  <a:rPr lang="vi-VN" sz="2800" dirty="0">
                    <a:solidFill>
                      <a:srgbClr val="0066FF"/>
                    </a:solidFill>
                  </a:rPr>
                  <a:t> </a:t>
                </a:r>
                <a:r>
                  <a:rPr lang="vi-VN" sz="2800" dirty="0" err="1">
                    <a:solidFill>
                      <a:schemeClr val="tx1"/>
                    </a:solidFill>
                    <a:highlight>
                      <a:srgbClr val="FFFF00"/>
                    </a:highlight>
                    <a:latin typeface="Consolas" panose="020B0609020204030204" pitchFamily="49" charset="0"/>
                  </a:rPr>
                  <a:t>confusion_matrix</a:t>
                </a:r>
                <a:r>
                  <a:rPr lang="vi-VN" sz="2800" dirty="0">
                    <a:solidFill>
                      <a:srgbClr val="0066FF"/>
                    </a:solidFill>
                  </a:rPr>
                  <a:t> trong </a:t>
                </a:r>
                <a:r>
                  <a:rPr lang="vi-VN" sz="2800" dirty="0" err="1">
                    <a:solidFill>
                      <a:srgbClr val="0066FF"/>
                    </a:solidFill>
                  </a:rPr>
                  <a:t>module</a:t>
                </a:r>
                <a:r>
                  <a:rPr lang="vi-VN" sz="2800" dirty="0">
                    <a:solidFill>
                      <a:srgbClr val="0066FF"/>
                    </a:solidFill>
                  </a:rPr>
                  <a:t> </a:t>
                </a:r>
                <a:r>
                  <a:rPr lang="vi-VN" sz="2800" dirty="0" err="1">
                    <a:solidFill>
                      <a:schemeClr val="tx1"/>
                    </a:solidFill>
                    <a:highlight>
                      <a:srgbClr val="FFFF00"/>
                    </a:highlight>
                    <a:latin typeface="Consolas" panose="020B0609020204030204" pitchFamily="49" charset="0"/>
                  </a:rPr>
                  <a:t>sklearn.metrics</a:t>
                </a:r>
                <a:r>
                  <a:rPr lang="vi-VN" sz="2800" dirty="0">
                    <a:solidFill>
                      <a:srgbClr val="0066FF"/>
                    </a:solidFill>
                  </a:rPr>
                  <a:t> </a:t>
                </a:r>
                <a:r>
                  <a:rPr lang="vi-VN" sz="2800" dirty="0" err="1">
                    <a:solidFill>
                      <a:srgbClr val="0066FF"/>
                    </a:solidFill>
                  </a:rPr>
                  <a:t>sẽ</a:t>
                </a:r>
                <a:r>
                  <a:rPr lang="vi-VN" sz="2800" dirty="0">
                    <a:solidFill>
                      <a:srgbClr val="0066FF"/>
                    </a:solidFill>
                  </a:rPr>
                  <a:t> </a:t>
                </a:r>
                <a:r>
                  <a:rPr lang="vi-VN" sz="2800" dirty="0" err="1">
                    <a:solidFill>
                      <a:srgbClr val="0066FF"/>
                    </a:solidFill>
                  </a:rPr>
                  <a:t>hỗ</a:t>
                </a:r>
                <a:r>
                  <a:rPr lang="vi-VN" sz="2800" dirty="0">
                    <a:solidFill>
                      <a:srgbClr val="0066FF"/>
                    </a:solidFill>
                  </a:rPr>
                  <a:t> </a:t>
                </a:r>
                <a:r>
                  <a:rPr lang="vi-VN" sz="2800" dirty="0" err="1">
                    <a:solidFill>
                      <a:srgbClr val="0066FF"/>
                    </a:solidFill>
                  </a:rPr>
                  <a:t>trợ</a:t>
                </a:r>
                <a:r>
                  <a:rPr lang="vi-VN" sz="2800" dirty="0">
                    <a:solidFill>
                      <a:srgbClr val="0066FF"/>
                    </a:solidFill>
                  </a:rPr>
                  <a:t> ta xây </a:t>
                </a:r>
                <a:r>
                  <a:rPr lang="vi-VN" sz="2800" dirty="0" err="1">
                    <a:solidFill>
                      <a:srgbClr val="0066FF"/>
                    </a:solidFill>
                  </a:rPr>
                  <a:t>dựng</a:t>
                </a:r>
                <a:r>
                  <a:rPr lang="vi-VN" sz="2800" dirty="0">
                    <a:solidFill>
                      <a:srgbClr val="0066FF"/>
                    </a:solidFill>
                  </a:rPr>
                  <a:t> </a:t>
                </a:r>
                <a:r>
                  <a:rPr lang="vi-VN" sz="2800" dirty="0" err="1">
                    <a:solidFill>
                      <a:srgbClr val="0066FF"/>
                    </a:solidFill>
                  </a:rPr>
                  <a:t>confusion</a:t>
                </a:r>
                <a:r>
                  <a:rPr lang="vi-VN" sz="2800" dirty="0">
                    <a:solidFill>
                      <a:srgbClr val="0066FF"/>
                    </a:solidFill>
                  </a:rPr>
                  <a:t> </a:t>
                </a:r>
                <a:r>
                  <a:rPr lang="vi-VN" sz="2800" err="1">
                    <a:solidFill>
                      <a:srgbClr val="0066FF"/>
                    </a:solidFill>
                  </a:rPr>
                  <a:t>matrix</a:t>
                </a:r>
                <a:r>
                  <a:rPr lang="vi-VN" sz="2800">
                    <a:solidFill>
                      <a:srgbClr val="0066FF"/>
                    </a:solidFill>
                  </a:rPr>
                  <a:t>.</a:t>
                </a:r>
                <a:endParaRPr lang="en-US" sz="2800">
                  <a:solidFill>
                    <a:srgbClr val="0066FF"/>
                  </a:solidFill>
                </a:endParaRPr>
              </a:p>
              <a:p>
                <a:pPr algn="just"/>
                <a:endParaRPr lang="vi-VN" sz="2800" dirty="0">
                  <a:solidFill>
                    <a:srgbClr val="0066FF"/>
                  </a:solidFill>
                </a:endParaRPr>
              </a:p>
              <a:p>
                <a:pPr marL="514350" indent="-514350">
                  <a:buFont typeface="+mj-lt"/>
                  <a:buAutoNum type="arabicPeriod" startAt="23"/>
                </a:pPr>
                <a:r>
                  <a:rPr lang="vi-VN" sz="2400" dirty="0" err="1">
                    <a:solidFill>
                      <a:srgbClr val="AF00DB"/>
                    </a:solidFill>
                    <a:latin typeface="Consolas" panose="020B0609020204030204" pitchFamily="49" charset="0"/>
                  </a:rPr>
                  <a:t>from</a:t>
                </a:r>
                <a:r>
                  <a:rPr lang="vi-VN" sz="2400" dirty="0">
                    <a:solidFill>
                      <a:srgbClr val="000000"/>
                    </a:solidFill>
                    <a:latin typeface="Consolas" panose="020B0609020204030204" pitchFamily="49" charset="0"/>
                  </a:rPr>
                  <a:t> </a:t>
                </a:r>
                <a:r>
                  <a:rPr lang="vi-VN" sz="2400" dirty="0" err="1">
                    <a:solidFill>
                      <a:srgbClr val="000000"/>
                    </a:solidFill>
                    <a:latin typeface="Consolas" panose="020B0609020204030204" pitchFamily="49" charset="0"/>
                  </a:rPr>
                  <a:t>sklearn.metrics</a:t>
                </a:r>
                <a:r>
                  <a:rPr lang="vi-VN" sz="2400" dirty="0">
                    <a:solidFill>
                      <a:srgbClr val="000000"/>
                    </a:solidFill>
                    <a:latin typeface="Consolas" panose="020B0609020204030204" pitchFamily="49" charset="0"/>
                  </a:rPr>
                  <a:t> </a:t>
                </a:r>
                <a:r>
                  <a:rPr lang="vi-VN" sz="2400" dirty="0" err="1">
                    <a:solidFill>
                      <a:srgbClr val="AF00DB"/>
                    </a:solidFill>
                    <a:latin typeface="Consolas" panose="020B0609020204030204" pitchFamily="49" charset="0"/>
                  </a:rPr>
                  <a:t>import</a:t>
                </a:r>
                <a:r>
                  <a:rPr lang="vi-VN" sz="2400" dirty="0">
                    <a:solidFill>
                      <a:srgbClr val="000000"/>
                    </a:solidFill>
                    <a:latin typeface="Consolas" panose="020B0609020204030204" pitchFamily="49" charset="0"/>
                  </a:rPr>
                  <a:t> </a:t>
                </a:r>
                <a:r>
                  <a:rPr lang="vi-VN" sz="2400" dirty="0" err="1">
                    <a:solidFill>
                      <a:srgbClr val="000000"/>
                    </a:solidFill>
                    <a:latin typeface="Consolas" panose="020B0609020204030204" pitchFamily="49" charset="0"/>
                  </a:rPr>
                  <a:t>confusion_matrix</a:t>
                </a:r>
                <a:endParaRPr lang="vi-VN" sz="2400" dirty="0">
                  <a:solidFill>
                    <a:srgbClr val="000000"/>
                  </a:solidFill>
                  <a:latin typeface="Consolas" panose="020B0609020204030204" pitchFamily="49" charset="0"/>
                </a:endParaRPr>
              </a:p>
              <a:p>
                <a:pPr marL="514350" indent="-514350">
                  <a:buFont typeface="+mj-lt"/>
                  <a:buAutoNum type="arabicPeriod" startAt="23"/>
                </a:pPr>
                <a:r>
                  <a:rPr lang="fr-FR" sz="2400" dirty="0">
                    <a:solidFill>
                      <a:srgbClr val="000000"/>
                    </a:solidFill>
                    <a:latin typeface="Consolas" panose="020B0609020204030204" pitchFamily="49" charset="0"/>
                  </a:rPr>
                  <a:t>cm = </a:t>
                </a:r>
                <a:r>
                  <a:rPr lang="fr-FR" sz="2400" dirty="0" err="1">
                    <a:solidFill>
                      <a:srgbClr val="000000"/>
                    </a:solidFill>
                    <a:latin typeface="Consolas" panose="020B0609020204030204" pitchFamily="49" charset="0"/>
                  </a:rPr>
                  <a:t>confusion_matrix</a:t>
                </a:r>
                <a:r>
                  <a:rPr lang="fr-FR" sz="2400" dirty="0">
                    <a:solidFill>
                      <a:srgbClr val="000000"/>
                    </a:solidFill>
                    <a:latin typeface="Consolas" panose="020B0609020204030204" pitchFamily="49" charset="0"/>
                  </a:rPr>
                  <a:t>(</a:t>
                </a:r>
                <a:r>
                  <a:rPr lang="fr-FR" sz="2400" dirty="0" err="1">
                    <a:solidFill>
                      <a:srgbClr val="000000"/>
                    </a:solidFill>
                    <a:latin typeface="Consolas" panose="020B0609020204030204" pitchFamily="49" charset="0"/>
                  </a:rPr>
                  <a:t>Y_train</a:t>
                </a:r>
                <a:r>
                  <a:rPr lang="fr-FR" sz="2400" dirty="0">
                    <a:solidFill>
                      <a:srgbClr val="000000"/>
                    </a:solidFill>
                    <a:latin typeface="Consolas" panose="020B0609020204030204" pitchFamily="49" charset="0"/>
                  </a:rPr>
                  <a:t>, </a:t>
                </a:r>
                <a:r>
                  <a:rPr lang="fr-FR" sz="2400" dirty="0" err="1">
                    <a:solidFill>
                      <a:srgbClr val="000000"/>
                    </a:solidFill>
                    <a:latin typeface="Consolas" panose="020B0609020204030204" pitchFamily="49" charset="0"/>
                  </a:rPr>
                  <a:t>classifier.predict</a:t>
                </a:r>
                <a:r>
                  <a:rPr lang="fr-FR" sz="2400" dirty="0">
                    <a:solidFill>
                      <a:srgbClr val="000000"/>
                    </a:solidFill>
                    <a:latin typeface="Consolas" panose="020B0609020204030204" pitchFamily="49" charset="0"/>
                  </a:rPr>
                  <a:t>(</a:t>
                </a:r>
                <a:r>
                  <a:rPr lang="fr-FR" sz="2400" dirty="0" err="1">
                    <a:solidFill>
                      <a:srgbClr val="000000"/>
                    </a:solidFill>
                    <a:latin typeface="Consolas" panose="020B0609020204030204" pitchFamily="49" charset="0"/>
                  </a:rPr>
                  <a:t>X_train</a:t>
                </a:r>
                <a:r>
                  <a:rPr lang="fr-FR" sz="2400" dirty="0">
                    <a:solidFill>
                      <a:srgbClr val="000000"/>
                    </a:solidFill>
                    <a:latin typeface="Consolas" panose="020B0609020204030204" pitchFamily="49" charset="0"/>
                  </a:rPr>
                  <a:t>))</a:t>
                </a:r>
              </a:p>
              <a:p>
                <a:pPr marL="514350" indent="-514350">
                  <a:buFont typeface="+mj-lt"/>
                  <a:buAutoNum type="arabicPeriod" startAt="23"/>
                </a:pPr>
                <a:r>
                  <a:rPr lang="vi-VN" sz="2400" dirty="0" err="1">
                    <a:solidFill>
                      <a:srgbClr val="795E26"/>
                    </a:solidFill>
                    <a:latin typeface="Consolas" panose="020B0609020204030204" pitchFamily="49" charset="0"/>
                  </a:rPr>
                  <a:t>print</a:t>
                </a:r>
                <a:r>
                  <a:rPr lang="vi-VN" sz="2400" dirty="0">
                    <a:solidFill>
                      <a:srgbClr val="000000"/>
                    </a:solidFill>
                    <a:latin typeface="Consolas" panose="020B0609020204030204" pitchFamily="49" charset="0"/>
                  </a:rPr>
                  <a:t>(</a:t>
                </a:r>
                <a:r>
                  <a:rPr lang="vi-VN" sz="2400" dirty="0" err="1">
                    <a:solidFill>
                      <a:srgbClr val="000000"/>
                    </a:solidFill>
                    <a:latin typeface="Consolas" panose="020B0609020204030204" pitchFamily="49" charset="0"/>
                  </a:rPr>
                  <a:t>cm</a:t>
                </a:r>
                <a:r>
                  <a:rPr lang="vi-VN" sz="2400" dirty="0">
                    <a:solidFill>
                      <a:srgbClr val="000000"/>
                    </a:solidFill>
                    <a:latin typeface="Consolas" panose="020B0609020204030204" pitchFamily="49" charset="0"/>
                  </a:rPr>
                  <a:t>)</a:t>
                </a:r>
              </a:p>
            </p:txBody>
          </p:sp>
        </mc:Choice>
        <mc:Fallback xmlns="">
          <p:sp>
            <p:nvSpPr>
              <p:cNvPr id="2" name="Content Placeholder 1">
                <a:extLst>
                  <a:ext uri="{FF2B5EF4-FFF2-40B4-BE49-F238E27FC236}">
                    <a16:creationId xmlns:a16="http://schemas.microsoft.com/office/drawing/2014/main" id="{4E7C6AE8-60A2-49FB-A20C-4375C46A913F}"/>
                  </a:ext>
                </a:extLst>
              </p:cNvPr>
              <p:cNvSpPr>
                <a:spLocks noGrp="1" noRot="1" noChangeAspect="1" noMove="1" noResize="1" noEditPoints="1" noAdjustHandles="1" noChangeArrowheads="1" noChangeShapeType="1" noTextEdit="1"/>
              </p:cNvSpPr>
              <p:nvPr>
                <p:ph idx="1"/>
              </p:nvPr>
            </p:nvSpPr>
            <p:spPr>
              <a:blipFill>
                <a:blip r:embed="rId2"/>
                <a:stretch>
                  <a:fillRect l="-1000" t="-1482" r="-1111" b="-5795"/>
                </a:stretch>
              </a:blipFill>
            </p:spPr>
            <p:txBody>
              <a:bodyPr/>
              <a:lstStyle/>
              <a:p>
                <a:r>
                  <a:rPr lang="en-US">
                    <a:noFill/>
                  </a:rPr>
                  <a:t> </a:t>
                </a:r>
              </a:p>
            </p:txBody>
          </p:sp>
        </mc:Fallback>
      </mc:AlternateContent>
    </p:spTree>
    <p:extLst>
      <p:ext uri="{BB962C8B-B14F-4D97-AF65-F5344CB8AC3E}">
        <p14:creationId xmlns:p14="http://schemas.microsoft.com/office/powerpoint/2010/main" val="196043339"/>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01FE9-BB2E-49B4-B0F1-3693843C0196}"/>
              </a:ext>
            </a:extLst>
          </p:cNvPr>
          <p:cNvSpPr>
            <a:spLocks noGrp="1"/>
          </p:cNvSpPr>
          <p:nvPr>
            <p:ph type="title"/>
          </p:nvPr>
        </p:nvSpPr>
        <p:spPr/>
        <p:txBody>
          <a:bodyPr/>
          <a:lstStyle/>
          <a:p>
            <a:r>
              <a:rPr lang="vi-VN" dirty="0" err="1"/>
              <a:t>Trực</a:t>
            </a:r>
            <a:r>
              <a:rPr lang="vi-VN" dirty="0"/>
              <a:t> quan </a:t>
            </a:r>
            <a:r>
              <a:rPr lang="vi-VN" dirty="0" err="1"/>
              <a:t>hóa</a:t>
            </a:r>
            <a:r>
              <a:rPr lang="vi-VN" dirty="0"/>
              <a:t> </a:t>
            </a:r>
            <a:r>
              <a:rPr lang="vi-VN" dirty="0" err="1"/>
              <a:t>kết</a:t>
            </a:r>
            <a:r>
              <a:rPr lang="vi-VN" dirty="0"/>
              <a:t> </a:t>
            </a:r>
            <a:r>
              <a:rPr lang="vi-VN" dirty="0" err="1"/>
              <a:t>quả</a:t>
            </a:r>
            <a:r>
              <a:rPr lang="vi-VN" dirty="0"/>
              <a:t> mô </a:t>
            </a:r>
            <a:r>
              <a:rPr lang="vi-VN" dirty="0" err="1"/>
              <a:t>hình</a:t>
            </a:r>
            <a:endParaRPr lang="vi-V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A95AD93-52A0-4D38-8C7C-5813D54C2C62}"/>
                  </a:ext>
                </a:extLst>
              </p:cNvPr>
              <p:cNvSpPr>
                <a:spLocks noGrp="1"/>
              </p:cNvSpPr>
              <p:nvPr>
                <p:ph idx="1"/>
              </p:nvPr>
            </p:nvSpPr>
            <p:spPr/>
            <p:txBody>
              <a:bodyPr/>
              <a:lstStyle/>
              <a:p>
                <a:pPr algn="just"/>
                <a:r>
                  <a:rPr lang="vi-VN" sz="2800" dirty="0">
                    <a:solidFill>
                      <a:srgbClr val="0066FF"/>
                    </a:solidFill>
                  </a:rPr>
                  <a:t>Confusion </a:t>
                </a:r>
                <a:r>
                  <a:rPr lang="vi-VN" sz="2800" dirty="0" err="1">
                    <a:solidFill>
                      <a:srgbClr val="0066FF"/>
                    </a:solidFill>
                  </a:rPr>
                  <a:t>Matrix</a:t>
                </a:r>
                <a:r>
                  <a:rPr lang="vi-VN" sz="2800" dirty="0">
                    <a:solidFill>
                      <a:srgbClr val="0066FF"/>
                    </a:solidFill>
                  </a:rPr>
                  <a:t> </a:t>
                </a:r>
                <a:r>
                  <a:rPr lang="vi-VN" sz="2800" dirty="0" err="1">
                    <a:solidFill>
                      <a:srgbClr val="0066FF"/>
                    </a:solidFill>
                  </a:rPr>
                  <a:t>được</a:t>
                </a:r>
                <a:r>
                  <a:rPr lang="vi-VN" sz="2800" dirty="0">
                    <a:solidFill>
                      <a:srgbClr val="0066FF"/>
                    </a:solidFill>
                  </a:rPr>
                  <a:t> in ra </a:t>
                </a:r>
                <a:r>
                  <a:rPr lang="vi-VN" sz="2800" dirty="0" err="1">
                    <a:solidFill>
                      <a:srgbClr val="0066FF"/>
                    </a:solidFill>
                  </a:rPr>
                  <a:t>là</a:t>
                </a:r>
                <a:r>
                  <a:rPr lang="vi-VN" sz="2800" dirty="0">
                    <a:solidFill>
                      <a:srgbClr val="0066FF"/>
                    </a:solidFill>
                  </a:rPr>
                  <a:t>:</a:t>
                </a:r>
              </a:p>
              <a:p>
                <a:pPr algn="just"/>
                <a:endParaRPr lang="vi-VN" sz="2800" dirty="0">
                  <a:solidFill>
                    <a:srgbClr val="0066FF"/>
                  </a:solidFill>
                </a:endParaRPr>
              </a:p>
              <a:p>
                <a:pPr algn="just"/>
                <a:endParaRPr lang="vi-VN" sz="2800" dirty="0">
                  <a:solidFill>
                    <a:srgbClr val="0066FF"/>
                  </a:solidFill>
                </a:endParaRPr>
              </a:p>
              <a:p>
                <a:pPr algn="just"/>
                <a:endParaRPr lang="vi-VN" sz="2800" dirty="0">
                  <a:solidFill>
                    <a:srgbClr val="0066FF"/>
                  </a:solidFill>
                </a:endParaRPr>
              </a:p>
              <a:p>
                <a:pPr algn="just"/>
                <a:endParaRPr lang="vi-VN" sz="2800" dirty="0">
                  <a:solidFill>
                    <a:srgbClr val="0066FF"/>
                  </a:solidFill>
                </a:endParaRPr>
              </a:p>
              <a:p>
                <a:pPr algn="just"/>
                <a:r>
                  <a:rPr lang="vi-VN" sz="2800" dirty="0">
                    <a:solidFill>
                      <a:srgbClr val="FF0000"/>
                    </a:solidFill>
                  </a:rPr>
                  <a:t>Theo ma </a:t>
                </a:r>
                <a:r>
                  <a:rPr lang="vi-VN" sz="2800" dirty="0" err="1">
                    <a:solidFill>
                      <a:srgbClr val="FF0000"/>
                    </a:solidFill>
                  </a:rPr>
                  <a:t>trận</a:t>
                </a:r>
                <a:r>
                  <a:rPr lang="vi-VN" sz="2800" dirty="0">
                    <a:solidFill>
                      <a:srgbClr val="FF0000"/>
                    </a:solidFill>
                  </a:rPr>
                  <a:t> trên, </a:t>
                </a:r>
                <a:r>
                  <a:rPr lang="vi-VN" sz="2800" dirty="0" err="1">
                    <a:solidFill>
                      <a:srgbClr val="FF0000"/>
                    </a:solidFill>
                  </a:rPr>
                  <a:t>số</a:t>
                </a:r>
                <a:r>
                  <a:rPr lang="vi-VN" sz="2800" dirty="0">
                    <a:solidFill>
                      <a:srgbClr val="FF0000"/>
                    </a:solidFill>
                  </a:rPr>
                  <a:t> </a:t>
                </a:r>
                <a:r>
                  <a:rPr lang="vi-VN" sz="2800" dirty="0" err="1">
                    <a:solidFill>
                      <a:srgbClr val="FF0000"/>
                    </a:solidFill>
                  </a:rPr>
                  <a:t>lượng</a:t>
                </a:r>
                <a:r>
                  <a:rPr lang="vi-VN" sz="2800" dirty="0">
                    <a:solidFill>
                      <a:srgbClr val="FF0000"/>
                    </a:solidFill>
                  </a:rPr>
                  <a:t> </a:t>
                </a:r>
                <a:r>
                  <a:rPr lang="vi-VN" sz="2800" dirty="0" err="1">
                    <a:solidFill>
                      <a:srgbClr val="FF0000"/>
                    </a:solidFill>
                  </a:rPr>
                  <a:t>dữ</a:t>
                </a:r>
                <a:r>
                  <a:rPr lang="vi-VN" sz="2800" dirty="0">
                    <a:solidFill>
                      <a:srgbClr val="FF0000"/>
                    </a:solidFill>
                  </a:rPr>
                  <a:t> </a:t>
                </a:r>
                <a:r>
                  <a:rPr lang="vi-VN" sz="2800" dirty="0" err="1">
                    <a:solidFill>
                      <a:srgbClr val="FF0000"/>
                    </a:solidFill>
                  </a:rPr>
                  <a:t>liệu</a:t>
                </a:r>
                <a:r>
                  <a:rPr lang="vi-VN" sz="2800" dirty="0">
                    <a:solidFill>
                      <a:srgbClr val="FF0000"/>
                    </a:solidFill>
                  </a:rPr>
                  <a:t> </a:t>
                </a:r>
                <a:r>
                  <a:rPr lang="vi-VN" sz="2800" dirty="0" err="1">
                    <a:solidFill>
                      <a:srgbClr val="FF0000"/>
                    </a:solidFill>
                  </a:rPr>
                  <a:t>được</a:t>
                </a:r>
                <a:r>
                  <a:rPr lang="vi-VN" sz="2800" dirty="0">
                    <a:solidFill>
                      <a:srgbClr val="FF0000"/>
                    </a:solidFill>
                  </a:rPr>
                  <a:t> phân </a:t>
                </a:r>
                <a:r>
                  <a:rPr lang="vi-VN" sz="2800" dirty="0" err="1">
                    <a:solidFill>
                      <a:srgbClr val="FF0000"/>
                    </a:solidFill>
                  </a:rPr>
                  <a:t>loại</a:t>
                </a:r>
                <a:r>
                  <a:rPr lang="vi-VN" sz="2800" dirty="0">
                    <a:solidFill>
                      <a:srgbClr val="FF0000"/>
                    </a:solidFill>
                  </a:rPr>
                  <a:t> </a:t>
                </a:r>
                <a:r>
                  <a:rPr lang="vi-VN" sz="2800" dirty="0" err="1">
                    <a:solidFill>
                      <a:srgbClr val="FF0000"/>
                    </a:solidFill>
                  </a:rPr>
                  <a:t>đúng</a:t>
                </a:r>
                <a:r>
                  <a:rPr lang="vi-VN" sz="2800" dirty="0">
                    <a:solidFill>
                      <a:srgbClr val="FF0000"/>
                    </a:solidFill>
                  </a:rPr>
                  <a:t> </a:t>
                </a:r>
                <a:r>
                  <a:rPr lang="vi-VN" sz="2800" dirty="0" err="1">
                    <a:solidFill>
                      <a:srgbClr val="FF0000"/>
                    </a:solidFill>
                  </a:rPr>
                  <a:t>là</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1</m:t>
                    </m:r>
                    <m:r>
                      <a:rPr lang="vi-VN" sz="2800" b="0" i="1" dirty="0" smtClean="0">
                        <a:solidFill>
                          <a:srgbClr val="FF0000"/>
                        </a:solidFill>
                        <a:latin typeface="Cambria Math" panose="02040503050406030204" pitchFamily="18" charset="0"/>
                      </a:rPr>
                      <m:t>81</m:t>
                    </m:r>
                    <m:r>
                      <a:rPr lang="vi-VN" sz="2800" i="1" dirty="0" smtClean="0">
                        <a:solidFill>
                          <a:srgbClr val="FF0000"/>
                        </a:solidFill>
                        <a:latin typeface="Cambria Math" panose="02040503050406030204" pitchFamily="18" charset="0"/>
                      </a:rPr>
                      <m:t>+</m:t>
                    </m:r>
                    <m:r>
                      <a:rPr lang="vi-VN" sz="2800" b="0" i="1" dirty="0" smtClean="0">
                        <a:solidFill>
                          <a:srgbClr val="FF0000"/>
                        </a:solidFill>
                        <a:latin typeface="Cambria Math" panose="02040503050406030204" pitchFamily="18" charset="0"/>
                      </a:rPr>
                      <m:t>82</m:t>
                    </m:r>
                    <m:r>
                      <a:rPr lang="vi-VN" sz="2800" i="1" dirty="0" smtClean="0">
                        <a:solidFill>
                          <a:srgbClr val="FF0000"/>
                        </a:solidFill>
                        <a:latin typeface="Cambria Math" panose="02040503050406030204" pitchFamily="18" charset="0"/>
                      </a:rPr>
                      <m:t>=</m:t>
                    </m:r>
                    <m:r>
                      <a:rPr lang="vi-VN" sz="2800" b="0" i="1" dirty="0" smtClean="0">
                        <a:solidFill>
                          <a:srgbClr val="FF0000"/>
                        </a:solidFill>
                        <a:latin typeface="Cambria Math" panose="02040503050406030204" pitchFamily="18" charset="0"/>
                      </a:rPr>
                      <m:t>263</m:t>
                    </m:r>
                  </m:oMath>
                </a14:m>
                <a:r>
                  <a:rPr lang="vi-VN" sz="2800" dirty="0">
                    <a:solidFill>
                      <a:srgbClr val="FF0000"/>
                    </a:solidFill>
                  </a:rPr>
                  <a:t> </a:t>
                </a:r>
                <a:r>
                  <a:rPr lang="vi-VN" sz="2800" dirty="0" err="1">
                    <a:solidFill>
                      <a:srgbClr val="FF0000"/>
                    </a:solidFill>
                  </a:rPr>
                  <a:t>điểm</a:t>
                </a:r>
                <a:r>
                  <a:rPr lang="vi-VN" sz="2800" dirty="0">
                    <a:solidFill>
                      <a:srgbClr val="FF0000"/>
                    </a:solidFill>
                  </a:rPr>
                  <a:t> </a:t>
                </a:r>
                <a:r>
                  <a:rPr lang="vi-VN" sz="2800" dirty="0" err="1">
                    <a:solidFill>
                      <a:srgbClr val="FF0000"/>
                    </a:solidFill>
                  </a:rPr>
                  <a:t>dữ</a:t>
                </a:r>
                <a:r>
                  <a:rPr lang="vi-VN" sz="2800" dirty="0">
                    <a:solidFill>
                      <a:srgbClr val="FF0000"/>
                    </a:solidFill>
                  </a:rPr>
                  <a:t> </a:t>
                </a:r>
                <a:r>
                  <a:rPr lang="vi-VN" sz="2800" dirty="0" err="1">
                    <a:solidFill>
                      <a:srgbClr val="FF0000"/>
                    </a:solidFill>
                  </a:rPr>
                  <a:t>liệu</a:t>
                </a:r>
                <a:r>
                  <a:rPr lang="vi-VN" sz="2800" dirty="0">
                    <a:solidFill>
                      <a:srgbClr val="FF0000"/>
                    </a:solidFill>
                  </a:rPr>
                  <a:t>. </a:t>
                </a:r>
              </a:p>
              <a:p>
                <a:pPr algn="just"/>
                <a:r>
                  <a:rPr lang="vi-VN" sz="2800" dirty="0" err="1">
                    <a:solidFill>
                      <a:srgbClr val="0066FF"/>
                    </a:solidFill>
                  </a:rPr>
                  <a:t>Số</a:t>
                </a:r>
                <a:r>
                  <a:rPr lang="vi-VN" sz="2800" dirty="0">
                    <a:solidFill>
                      <a:srgbClr val="0066FF"/>
                    </a:solidFill>
                  </a:rPr>
                  <a:t> </a:t>
                </a:r>
                <a:r>
                  <a:rPr lang="vi-VN" sz="2800" dirty="0" err="1">
                    <a:solidFill>
                      <a:srgbClr val="0066FF"/>
                    </a:solidFill>
                  </a:rPr>
                  <a:t>lượng</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phân </a:t>
                </a:r>
                <a:r>
                  <a:rPr lang="vi-VN" sz="2800" dirty="0" err="1">
                    <a:solidFill>
                      <a:srgbClr val="0066FF"/>
                    </a:solidFill>
                  </a:rPr>
                  <a:t>loại</a:t>
                </a:r>
                <a:r>
                  <a:rPr lang="vi-VN" sz="2800" dirty="0">
                    <a:solidFill>
                      <a:srgbClr val="0066FF"/>
                    </a:solidFill>
                  </a:rPr>
                  <a:t> sai </a:t>
                </a:r>
                <a:r>
                  <a:rPr lang="vi-VN" sz="2800" dirty="0" err="1">
                    <a:solidFill>
                      <a:srgbClr val="0066FF"/>
                    </a:solidFill>
                  </a:rPr>
                  <a:t>là</a:t>
                </a:r>
                <a:r>
                  <a:rPr lang="vi-VN" sz="2800" dirty="0">
                    <a:solidFill>
                      <a:srgbClr val="0066FF"/>
                    </a:solidFill>
                  </a:rPr>
                  <a:t> </a:t>
                </a:r>
                <a14:m>
                  <m:oMath xmlns:m="http://schemas.openxmlformats.org/officeDocument/2006/math">
                    <m:r>
                      <a:rPr lang="vi-VN" sz="2800" i="1" dirty="0">
                        <a:solidFill>
                          <a:srgbClr val="0066FF"/>
                        </a:solidFill>
                        <a:latin typeface="Cambria Math" panose="02040503050406030204" pitchFamily="18" charset="0"/>
                      </a:rPr>
                      <m:t>1</m:t>
                    </m:r>
                    <m:r>
                      <a:rPr lang="vi-VN" sz="2800" b="0" i="1" dirty="0" smtClean="0">
                        <a:solidFill>
                          <a:srgbClr val="0066FF"/>
                        </a:solidFill>
                        <a:latin typeface="Cambria Math" panose="02040503050406030204" pitchFamily="18" charset="0"/>
                      </a:rPr>
                      <m:t>8</m:t>
                    </m:r>
                    <m:r>
                      <a:rPr lang="vi-VN" sz="2800" i="1" dirty="0" smtClean="0">
                        <a:solidFill>
                          <a:srgbClr val="0066FF"/>
                        </a:solidFill>
                        <a:latin typeface="Cambria Math" panose="02040503050406030204" pitchFamily="18" charset="0"/>
                      </a:rPr>
                      <m:t>+</m:t>
                    </m:r>
                    <m:r>
                      <a:rPr lang="vi-VN" sz="2800" b="0" i="1" dirty="0" smtClean="0">
                        <a:solidFill>
                          <a:srgbClr val="0066FF"/>
                        </a:solidFill>
                        <a:latin typeface="Cambria Math" panose="02040503050406030204" pitchFamily="18" charset="0"/>
                      </a:rPr>
                      <m:t>39</m:t>
                    </m:r>
                    <m:r>
                      <a:rPr lang="vi-VN" sz="2800" i="1" dirty="0" smtClean="0">
                        <a:solidFill>
                          <a:srgbClr val="0066FF"/>
                        </a:solidFill>
                        <a:latin typeface="Cambria Math" panose="02040503050406030204" pitchFamily="18" charset="0"/>
                      </a:rPr>
                      <m:t>=</m:t>
                    </m:r>
                    <m:r>
                      <a:rPr lang="vi-VN" sz="2800" b="0" i="1" dirty="0" smtClean="0">
                        <a:solidFill>
                          <a:srgbClr val="0066FF"/>
                        </a:solidFill>
                        <a:latin typeface="Cambria Math" panose="02040503050406030204" pitchFamily="18" charset="0"/>
                      </a:rPr>
                      <m:t>57</m:t>
                    </m:r>
                  </m:oMath>
                </a14:m>
                <a:r>
                  <a:rPr lang="vi-VN" sz="2800" dirty="0">
                    <a:solidFill>
                      <a:srgbClr val="0066FF"/>
                    </a:solidFill>
                  </a:rPr>
                  <a:t> </a:t>
                </a:r>
                <a:r>
                  <a:rPr lang="vi-VN" sz="2800" dirty="0" err="1">
                    <a:solidFill>
                      <a:srgbClr val="0066FF"/>
                    </a:solidFill>
                  </a:rPr>
                  <a:t>điểm</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a:t>
                </a:r>
              </a:p>
              <a:p>
                <a:pPr algn="just"/>
                <a:r>
                  <a:rPr lang="vi-VN" sz="2800" dirty="0">
                    <a:solidFill>
                      <a:srgbClr val="FF0000"/>
                    </a:solidFill>
                  </a:rPr>
                  <a:t>Tỉ </a:t>
                </a:r>
                <a:r>
                  <a:rPr lang="vi-VN" sz="2800" dirty="0" err="1">
                    <a:solidFill>
                      <a:srgbClr val="FF0000"/>
                    </a:solidFill>
                  </a:rPr>
                  <a:t>lệ</a:t>
                </a:r>
                <a:r>
                  <a:rPr lang="vi-VN" sz="2800" dirty="0">
                    <a:solidFill>
                      <a:srgbClr val="FF0000"/>
                    </a:solidFill>
                  </a:rPr>
                  <a:t> </a:t>
                </a:r>
                <a:r>
                  <a:rPr lang="vi-VN" sz="2800" dirty="0" err="1">
                    <a:solidFill>
                      <a:srgbClr val="FF0000"/>
                    </a:solidFill>
                  </a:rPr>
                  <a:t>điểm</a:t>
                </a:r>
                <a:r>
                  <a:rPr lang="vi-VN" sz="2800" dirty="0">
                    <a:solidFill>
                      <a:srgbClr val="FF0000"/>
                    </a:solidFill>
                  </a:rPr>
                  <a:t> </a:t>
                </a:r>
                <a:r>
                  <a:rPr lang="vi-VN" sz="2800" dirty="0" err="1">
                    <a:solidFill>
                      <a:srgbClr val="FF0000"/>
                    </a:solidFill>
                  </a:rPr>
                  <a:t>dữ</a:t>
                </a:r>
                <a:r>
                  <a:rPr lang="vi-VN" sz="2800" dirty="0">
                    <a:solidFill>
                      <a:srgbClr val="FF0000"/>
                    </a:solidFill>
                  </a:rPr>
                  <a:t> </a:t>
                </a:r>
                <a:r>
                  <a:rPr lang="vi-VN" sz="2800" dirty="0" err="1">
                    <a:solidFill>
                      <a:srgbClr val="FF0000"/>
                    </a:solidFill>
                  </a:rPr>
                  <a:t>liệu</a:t>
                </a:r>
                <a:r>
                  <a:rPr lang="vi-VN" sz="2800" dirty="0">
                    <a:solidFill>
                      <a:srgbClr val="FF0000"/>
                    </a:solidFill>
                  </a:rPr>
                  <a:t> phân </a:t>
                </a:r>
                <a:r>
                  <a:rPr lang="vi-VN" sz="2800" dirty="0" err="1">
                    <a:solidFill>
                      <a:srgbClr val="FF0000"/>
                    </a:solidFill>
                  </a:rPr>
                  <a:t>loại</a:t>
                </a:r>
                <a:r>
                  <a:rPr lang="vi-VN" sz="2800" dirty="0">
                    <a:solidFill>
                      <a:srgbClr val="FF0000"/>
                    </a:solidFill>
                  </a:rPr>
                  <a:t> sai </a:t>
                </a:r>
                <a:r>
                  <a:rPr lang="vi-VN" sz="2800" dirty="0" err="1">
                    <a:solidFill>
                      <a:srgbClr val="FF0000"/>
                    </a:solidFill>
                  </a:rPr>
                  <a:t>là</a:t>
                </a:r>
                <a:r>
                  <a:rPr lang="vi-VN" sz="2800" dirty="0">
                    <a:solidFill>
                      <a:srgbClr val="FF0000"/>
                    </a:solidFill>
                  </a:rPr>
                  <a:t> </a:t>
                </a:r>
                <a14:m>
                  <m:oMath xmlns:m="http://schemas.openxmlformats.org/officeDocument/2006/math">
                    <m:f>
                      <m:fPr>
                        <m:type m:val="lin"/>
                        <m:ctrlPr>
                          <a:rPr lang="vi-VN" sz="2800" b="0" i="1" dirty="0" smtClean="0">
                            <a:solidFill>
                              <a:srgbClr val="FF0000"/>
                            </a:solidFill>
                            <a:latin typeface="Cambria Math" panose="02040503050406030204" pitchFamily="18" charset="0"/>
                          </a:rPr>
                        </m:ctrlPr>
                      </m:fPr>
                      <m:num>
                        <m:r>
                          <a:rPr lang="vi-VN" sz="2800" b="0" i="1" dirty="0" smtClean="0">
                            <a:solidFill>
                              <a:srgbClr val="FF0000"/>
                            </a:solidFill>
                            <a:latin typeface="Cambria Math" panose="02040503050406030204" pitchFamily="18" charset="0"/>
                          </a:rPr>
                          <m:t>57</m:t>
                        </m:r>
                      </m:num>
                      <m:den>
                        <m:r>
                          <a:rPr lang="vi-VN" sz="2800" i="1" dirty="0" smtClean="0">
                            <a:solidFill>
                              <a:srgbClr val="FF0000"/>
                            </a:solidFill>
                            <a:latin typeface="Cambria Math" panose="02040503050406030204" pitchFamily="18" charset="0"/>
                          </a:rPr>
                          <m:t>3</m:t>
                        </m:r>
                        <m:r>
                          <a:rPr lang="vi-VN" sz="2800" b="0" i="1" dirty="0" smtClean="0">
                            <a:solidFill>
                              <a:srgbClr val="FF0000"/>
                            </a:solidFill>
                            <a:latin typeface="Cambria Math" panose="02040503050406030204" pitchFamily="18" charset="0"/>
                          </a:rPr>
                          <m:t>2</m:t>
                        </m:r>
                        <m:r>
                          <a:rPr lang="vi-VN" sz="2800" i="1" dirty="0" smtClean="0">
                            <a:solidFill>
                              <a:srgbClr val="FF0000"/>
                            </a:solidFill>
                            <a:latin typeface="Cambria Math" panose="02040503050406030204" pitchFamily="18" charset="0"/>
                          </a:rPr>
                          <m:t>0</m:t>
                        </m:r>
                      </m:den>
                    </m:f>
                    <m:r>
                      <a:rPr lang="vi-VN" sz="2800" b="0" i="1" dirty="0" smtClean="0">
                        <a:solidFill>
                          <a:srgbClr val="FF0000"/>
                        </a:solidFill>
                        <a:latin typeface="Cambria Math" panose="02040503050406030204" pitchFamily="18" charset="0"/>
                        <a:ea typeface="Cambria Math" panose="02040503050406030204" pitchFamily="18" charset="0"/>
                      </a:rPr>
                      <m:t>≈0.18</m:t>
                    </m:r>
                  </m:oMath>
                </a14:m>
                <a:r>
                  <a:rPr lang="vi-VN" sz="2800" dirty="0">
                    <a:solidFill>
                      <a:srgbClr val="FF0000"/>
                    </a:solidFill>
                  </a:rPr>
                  <a:t>.</a:t>
                </a:r>
              </a:p>
            </p:txBody>
          </p:sp>
        </mc:Choice>
        <mc:Fallback xmlns="">
          <p:sp>
            <p:nvSpPr>
              <p:cNvPr id="3" name="Content Placeholder 2">
                <a:extLst>
                  <a:ext uri="{FF2B5EF4-FFF2-40B4-BE49-F238E27FC236}">
                    <a16:creationId xmlns:a16="http://schemas.microsoft.com/office/drawing/2014/main" id="{9A95AD93-52A0-4D38-8C7C-5813D54C2C62}"/>
                  </a:ext>
                </a:extLst>
              </p:cNvPr>
              <p:cNvSpPr>
                <a:spLocks noGrp="1" noRot="1" noChangeAspect="1" noMove="1" noResize="1" noEditPoints="1" noAdjustHandles="1" noChangeArrowheads="1" noChangeShapeType="1" noTextEdit="1"/>
              </p:cNvSpPr>
              <p:nvPr>
                <p:ph idx="1"/>
              </p:nvPr>
            </p:nvSpPr>
            <p:spPr>
              <a:blipFill>
                <a:blip r:embed="rId2"/>
                <a:stretch>
                  <a:fillRect l="-1000" t="-1482" b="-3774"/>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E04C35AC-FD6B-4911-AB9C-280EA13B059B}"/>
                  </a:ext>
                </a:extLst>
              </p:cNvPr>
              <p:cNvGraphicFramePr>
                <a:graphicFrameLocks noGrp="1"/>
              </p:cNvGraphicFramePr>
              <p:nvPr/>
            </p:nvGraphicFramePr>
            <p:xfrm>
              <a:off x="4267200" y="2308702"/>
              <a:ext cx="3276600" cy="1554480"/>
            </p:xfrm>
            <a:graphic>
              <a:graphicData uri="http://schemas.openxmlformats.org/drawingml/2006/table">
                <a:tbl>
                  <a:tblPr firstRow="1" bandRow="1">
                    <a:tableStyleId>{21E4AEA4-8DFA-4A89-87EB-49C32662AFE0}</a:tableStyleId>
                  </a:tblPr>
                  <a:tblGrid>
                    <a:gridCol w="1092200">
                      <a:extLst>
                        <a:ext uri="{9D8B030D-6E8A-4147-A177-3AD203B41FA5}">
                          <a16:colId xmlns:a16="http://schemas.microsoft.com/office/drawing/2014/main" val="4171667629"/>
                        </a:ext>
                      </a:extLst>
                    </a:gridCol>
                    <a:gridCol w="1092200">
                      <a:extLst>
                        <a:ext uri="{9D8B030D-6E8A-4147-A177-3AD203B41FA5}">
                          <a16:colId xmlns:a16="http://schemas.microsoft.com/office/drawing/2014/main" val="523946260"/>
                        </a:ext>
                      </a:extLst>
                    </a:gridCol>
                    <a:gridCol w="1092200">
                      <a:extLst>
                        <a:ext uri="{9D8B030D-6E8A-4147-A177-3AD203B41FA5}">
                          <a16:colId xmlns:a16="http://schemas.microsoft.com/office/drawing/2014/main" val="1766665144"/>
                        </a:ext>
                      </a:extLst>
                    </a:gridCol>
                  </a:tblGrid>
                  <a:tr h="431800">
                    <a:tc>
                      <a:txBody>
                        <a:bodyPr/>
                        <a:lstStyle/>
                        <a:p>
                          <a:pPr algn="ctr"/>
                          <a:endParaRPr lang="vi-VN" sz="2800" dirty="0">
                            <a:solidFill>
                              <a:schemeClr val="bg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vi-VN" sz="2800" dirty="0"/>
                            <a:t>0</a:t>
                          </a:r>
                        </a:p>
                      </a:txBody>
                      <a:tcPr anchor="ctr">
                        <a:lnL w="12700" cmpd="sng">
                          <a:noFill/>
                        </a:lnL>
                      </a:tcPr>
                    </a:tc>
                    <a:tc>
                      <a:txBody>
                        <a:bodyPr/>
                        <a:lstStyle/>
                        <a:p>
                          <a:pPr algn="ctr"/>
                          <a:r>
                            <a:rPr lang="vi-VN" sz="2800" dirty="0"/>
                            <a:t>1</a:t>
                          </a:r>
                        </a:p>
                      </a:txBody>
                      <a:tcPr anchor="ctr"/>
                    </a:tc>
                    <a:extLst>
                      <a:ext uri="{0D108BD9-81ED-4DB2-BD59-A6C34878D82A}">
                        <a16:rowId xmlns:a16="http://schemas.microsoft.com/office/drawing/2014/main" val="3216580"/>
                      </a:ext>
                    </a:extLst>
                  </a:tr>
                  <a:tr h="431800">
                    <a:tc>
                      <a:txBody>
                        <a:bodyPr/>
                        <a:lstStyle/>
                        <a:p>
                          <a:pPr algn="ctr"/>
                          <a:r>
                            <a:rPr lang="vi-VN" sz="2800" b="1" dirty="0">
                              <a:solidFill>
                                <a:schemeClr val="bg1"/>
                              </a:solidFill>
                            </a:rPr>
                            <a:t>0</a:t>
                          </a:r>
                        </a:p>
                      </a:txBody>
                      <a:tcPr anchor="ctr">
                        <a:lnT w="38100" cmpd="sng">
                          <a:noFill/>
                        </a:lnT>
                        <a:solidFill>
                          <a:schemeClr val="accent2"/>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181</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18</m:t>
                                </m:r>
                              </m:oMath>
                            </m:oMathPara>
                          </a14:m>
                          <a:endParaRPr lang="vi-VN" sz="2800" dirty="0"/>
                        </a:p>
                      </a:txBody>
                      <a:tcPr anchor="ctr"/>
                    </a:tc>
                    <a:extLst>
                      <a:ext uri="{0D108BD9-81ED-4DB2-BD59-A6C34878D82A}">
                        <a16:rowId xmlns:a16="http://schemas.microsoft.com/office/drawing/2014/main" val="3641710761"/>
                      </a:ext>
                    </a:extLst>
                  </a:tr>
                  <a:tr h="431800">
                    <a:tc>
                      <a:txBody>
                        <a:bodyPr/>
                        <a:lstStyle/>
                        <a:p>
                          <a:pPr algn="ctr"/>
                          <a:r>
                            <a:rPr lang="vi-VN" sz="2800" b="1" dirty="0">
                              <a:solidFill>
                                <a:schemeClr val="bg1"/>
                              </a:solidFill>
                            </a:rPr>
                            <a:t>1</a:t>
                          </a:r>
                        </a:p>
                      </a:txBody>
                      <a:tcPr anchor="ctr">
                        <a:solidFill>
                          <a:schemeClr val="accent2"/>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39</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82</m:t>
                                </m:r>
                              </m:oMath>
                            </m:oMathPara>
                          </a14:m>
                          <a:endParaRPr lang="vi-VN" sz="2800" dirty="0"/>
                        </a:p>
                      </a:txBody>
                      <a:tcPr anchor="ctr"/>
                    </a:tc>
                    <a:extLst>
                      <a:ext uri="{0D108BD9-81ED-4DB2-BD59-A6C34878D82A}">
                        <a16:rowId xmlns:a16="http://schemas.microsoft.com/office/drawing/2014/main" val="2250376396"/>
                      </a:ext>
                    </a:extLst>
                  </a:tr>
                </a:tbl>
              </a:graphicData>
            </a:graphic>
          </p:graphicFrame>
        </mc:Choice>
        <mc:Fallback xmlns="">
          <p:graphicFrame>
            <p:nvGraphicFramePr>
              <p:cNvPr id="4" name="Table 3">
                <a:extLst>
                  <a:ext uri="{FF2B5EF4-FFF2-40B4-BE49-F238E27FC236}">
                    <a16:creationId xmlns:a16="http://schemas.microsoft.com/office/drawing/2014/main" id="{E04C35AC-FD6B-4911-AB9C-280EA13B059B}"/>
                  </a:ext>
                </a:extLst>
              </p:cNvPr>
              <p:cNvGraphicFramePr>
                <a:graphicFrameLocks noGrp="1"/>
              </p:cNvGraphicFramePr>
              <p:nvPr>
                <p:extLst>
                  <p:ext uri="{D42A27DB-BD31-4B8C-83A1-F6EECF244321}">
                    <p14:modId xmlns:p14="http://schemas.microsoft.com/office/powerpoint/2010/main" val="239160730"/>
                  </p:ext>
                </p:extLst>
              </p:nvPr>
            </p:nvGraphicFramePr>
            <p:xfrm>
              <a:off x="4267200" y="2308702"/>
              <a:ext cx="3276600" cy="1554480"/>
            </p:xfrm>
            <a:graphic>
              <a:graphicData uri="http://schemas.openxmlformats.org/drawingml/2006/table">
                <a:tbl>
                  <a:tblPr firstRow="1" bandRow="1">
                    <a:tableStyleId>{21E4AEA4-8DFA-4A89-87EB-49C32662AFE0}</a:tableStyleId>
                  </a:tblPr>
                  <a:tblGrid>
                    <a:gridCol w="1092200">
                      <a:extLst>
                        <a:ext uri="{9D8B030D-6E8A-4147-A177-3AD203B41FA5}">
                          <a16:colId xmlns:a16="http://schemas.microsoft.com/office/drawing/2014/main" val="4171667629"/>
                        </a:ext>
                      </a:extLst>
                    </a:gridCol>
                    <a:gridCol w="1092200">
                      <a:extLst>
                        <a:ext uri="{9D8B030D-6E8A-4147-A177-3AD203B41FA5}">
                          <a16:colId xmlns:a16="http://schemas.microsoft.com/office/drawing/2014/main" val="523946260"/>
                        </a:ext>
                      </a:extLst>
                    </a:gridCol>
                    <a:gridCol w="1092200">
                      <a:extLst>
                        <a:ext uri="{9D8B030D-6E8A-4147-A177-3AD203B41FA5}">
                          <a16:colId xmlns:a16="http://schemas.microsoft.com/office/drawing/2014/main" val="1766665144"/>
                        </a:ext>
                      </a:extLst>
                    </a:gridCol>
                  </a:tblGrid>
                  <a:tr h="518160">
                    <a:tc>
                      <a:txBody>
                        <a:bodyPr/>
                        <a:lstStyle/>
                        <a:p>
                          <a:pPr algn="ctr"/>
                          <a:endParaRPr lang="vi-VN" sz="2800" dirty="0">
                            <a:solidFill>
                              <a:schemeClr val="bg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vi-VN" sz="2800" dirty="0"/>
                            <a:t>0</a:t>
                          </a:r>
                        </a:p>
                      </a:txBody>
                      <a:tcPr anchor="ctr">
                        <a:lnL w="12700" cmpd="sng">
                          <a:noFill/>
                        </a:lnL>
                      </a:tcPr>
                    </a:tc>
                    <a:tc>
                      <a:txBody>
                        <a:bodyPr/>
                        <a:lstStyle/>
                        <a:p>
                          <a:pPr algn="ctr"/>
                          <a:r>
                            <a:rPr lang="vi-VN" sz="2800" dirty="0"/>
                            <a:t>1</a:t>
                          </a:r>
                        </a:p>
                      </a:txBody>
                      <a:tcPr anchor="ctr"/>
                    </a:tc>
                    <a:extLst>
                      <a:ext uri="{0D108BD9-81ED-4DB2-BD59-A6C34878D82A}">
                        <a16:rowId xmlns:a16="http://schemas.microsoft.com/office/drawing/2014/main" val="3216580"/>
                      </a:ext>
                    </a:extLst>
                  </a:tr>
                  <a:tr h="518160">
                    <a:tc>
                      <a:txBody>
                        <a:bodyPr/>
                        <a:lstStyle/>
                        <a:p>
                          <a:pPr algn="ctr"/>
                          <a:r>
                            <a:rPr lang="vi-VN" sz="2800" b="1" dirty="0">
                              <a:solidFill>
                                <a:schemeClr val="bg1"/>
                              </a:solidFill>
                            </a:rPr>
                            <a:t>0</a:t>
                          </a:r>
                        </a:p>
                      </a:txBody>
                      <a:tcPr anchor="ctr">
                        <a:lnT w="38100" cmpd="sng">
                          <a:noFill/>
                        </a:lnT>
                        <a:solidFill>
                          <a:schemeClr val="accent2"/>
                        </a:solidFill>
                      </a:tcPr>
                    </a:tc>
                    <a:tc>
                      <a:txBody>
                        <a:bodyPr/>
                        <a:lstStyle/>
                        <a:p>
                          <a:endParaRPr lang="vi-VN"/>
                        </a:p>
                      </a:txBody>
                      <a:tcPr anchor="ctr">
                        <a:blipFill>
                          <a:blip r:embed="rId3"/>
                          <a:stretch>
                            <a:fillRect l="-100556" t="-110465" r="-101667" b="-131395"/>
                          </a:stretch>
                        </a:blipFill>
                      </a:tcPr>
                    </a:tc>
                    <a:tc>
                      <a:txBody>
                        <a:bodyPr/>
                        <a:lstStyle/>
                        <a:p>
                          <a:endParaRPr lang="vi-VN"/>
                        </a:p>
                      </a:txBody>
                      <a:tcPr anchor="ctr">
                        <a:blipFill>
                          <a:blip r:embed="rId3"/>
                          <a:stretch>
                            <a:fillRect l="-201676" t="-110465" r="-2235" b="-131395"/>
                          </a:stretch>
                        </a:blipFill>
                      </a:tcPr>
                    </a:tc>
                    <a:extLst>
                      <a:ext uri="{0D108BD9-81ED-4DB2-BD59-A6C34878D82A}">
                        <a16:rowId xmlns:a16="http://schemas.microsoft.com/office/drawing/2014/main" val="3641710761"/>
                      </a:ext>
                    </a:extLst>
                  </a:tr>
                  <a:tr h="518160">
                    <a:tc>
                      <a:txBody>
                        <a:bodyPr/>
                        <a:lstStyle/>
                        <a:p>
                          <a:pPr algn="ctr"/>
                          <a:r>
                            <a:rPr lang="vi-VN" sz="2800" b="1" dirty="0">
                              <a:solidFill>
                                <a:schemeClr val="bg1"/>
                              </a:solidFill>
                            </a:rPr>
                            <a:t>1</a:t>
                          </a:r>
                        </a:p>
                      </a:txBody>
                      <a:tcPr anchor="ctr">
                        <a:solidFill>
                          <a:schemeClr val="accent2"/>
                        </a:solidFill>
                      </a:tcPr>
                    </a:tc>
                    <a:tc>
                      <a:txBody>
                        <a:bodyPr/>
                        <a:lstStyle/>
                        <a:p>
                          <a:endParaRPr lang="vi-VN"/>
                        </a:p>
                      </a:txBody>
                      <a:tcPr anchor="ctr">
                        <a:blipFill>
                          <a:blip r:embed="rId3"/>
                          <a:stretch>
                            <a:fillRect l="-100556" t="-212941" r="-101667" b="-32941"/>
                          </a:stretch>
                        </a:blipFill>
                      </a:tcPr>
                    </a:tc>
                    <a:tc>
                      <a:txBody>
                        <a:bodyPr/>
                        <a:lstStyle/>
                        <a:p>
                          <a:endParaRPr lang="vi-VN"/>
                        </a:p>
                      </a:txBody>
                      <a:tcPr anchor="ctr">
                        <a:blipFill>
                          <a:blip r:embed="rId3"/>
                          <a:stretch>
                            <a:fillRect l="-201676" t="-212941" r="-2235" b="-32941"/>
                          </a:stretch>
                        </a:blipFill>
                      </a:tcPr>
                    </a:tc>
                    <a:extLst>
                      <a:ext uri="{0D108BD9-81ED-4DB2-BD59-A6C34878D82A}">
                        <a16:rowId xmlns:a16="http://schemas.microsoft.com/office/drawing/2014/main" val="2250376396"/>
                      </a:ext>
                    </a:extLst>
                  </a:tr>
                </a:tbl>
              </a:graphicData>
            </a:graphic>
          </p:graphicFrame>
        </mc:Fallback>
      </mc:AlternateContent>
    </p:spTree>
    <p:extLst>
      <p:ext uri="{BB962C8B-B14F-4D97-AF65-F5344CB8AC3E}">
        <p14:creationId xmlns:p14="http://schemas.microsoft.com/office/powerpoint/2010/main" val="2900193934"/>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303915-96E8-4D3F-AEBF-7529BD817D88}"/>
              </a:ext>
            </a:extLst>
          </p:cNvPr>
          <p:cNvSpPr>
            <a:spLocks noGrp="1"/>
          </p:cNvSpPr>
          <p:nvPr>
            <p:ph type="title"/>
          </p:nvPr>
        </p:nvSpPr>
        <p:spPr/>
        <p:txBody>
          <a:bodyPr/>
          <a:lstStyle/>
          <a:p>
            <a:r>
              <a:rPr lang="vi-VN" dirty="0" err="1"/>
              <a:t>Trực</a:t>
            </a:r>
            <a:r>
              <a:rPr lang="vi-VN" dirty="0"/>
              <a:t> quan </a:t>
            </a:r>
            <a:r>
              <a:rPr lang="vi-VN" dirty="0" err="1"/>
              <a:t>hóa</a:t>
            </a:r>
            <a:r>
              <a:rPr lang="vi-VN" dirty="0"/>
              <a:t> </a:t>
            </a:r>
            <a:r>
              <a:rPr lang="vi-VN" dirty="0" err="1"/>
              <a:t>kết</a:t>
            </a:r>
            <a:r>
              <a:rPr lang="vi-VN" dirty="0"/>
              <a:t> </a:t>
            </a:r>
            <a:r>
              <a:rPr lang="vi-VN" dirty="0" err="1"/>
              <a:t>quả</a:t>
            </a:r>
            <a:r>
              <a:rPr lang="vi-VN" dirty="0"/>
              <a:t> mô </a:t>
            </a:r>
            <a:r>
              <a:rPr lang="vi-VN" dirty="0" err="1"/>
              <a:t>hình</a:t>
            </a:r>
            <a:endParaRPr lang="vi-VN" dirty="0"/>
          </a:p>
        </p:txBody>
      </p:sp>
      <p:sp>
        <p:nvSpPr>
          <p:cNvPr id="2" name="Content Placeholder 1">
            <a:extLst>
              <a:ext uri="{FF2B5EF4-FFF2-40B4-BE49-F238E27FC236}">
                <a16:creationId xmlns:a16="http://schemas.microsoft.com/office/drawing/2014/main" id="{5D8847BE-064C-4CB5-8E65-33ED27DF2C1C}"/>
              </a:ext>
            </a:extLst>
          </p:cNvPr>
          <p:cNvSpPr>
            <a:spLocks noGrp="1"/>
          </p:cNvSpPr>
          <p:nvPr>
            <p:ph sz="half" idx="1"/>
          </p:nvPr>
        </p:nvSpPr>
        <p:spPr/>
        <p:txBody>
          <a:bodyPr/>
          <a:lstStyle/>
          <a:p>
            <a:pPr algn="just"/>
            <a:r>
              <a:rPr lang="vi-VN" sz="2800" dirty="0">
                <a:solidFill>
                  <a:srgbClr val="0066FF"/>
                </a:solidFill>
              </a:rPr>
              <a:t>Ta </a:t>
            </a:r>
            <a:r>
              <a:rPr lang="vi-VN" sz="2800" dirty="0" err="1">
                <a:solidFill>
                  <a:srgbClr val="0066FF"/>
                </a:solidFill>
              </a:rPr>
              <a:t>trực</a:t>
            </a:r>
            <a:r>
              <a:rPr lang="vi-VN" sz="2800" dirty="0">
                <a:solidFill>
                  <a:srgbClr val="0066FF"/>
                </a:solidFill>
              </a:rPr>
              <a:t> quan </a:t>
            </a:r>
            <a:r>
              <a:rPr lang="vi-VN" sz="2800" dirty="0" err="1">
                <a:solidFill>
                  <a:srgbClr val="0066FF"/>
                </a:solidFill>
              </a:rPr>
              <a:t>hóa</a:t>
            </a:r>
            <a:r>
              <a:rPr lang="vi-VN" sz="2800" dirty="0">
                <a:solidFill>
                  <a:srgbClr val="0066FF"/>
                </a:solidFill>
              </a:rPr>
              <a:t> </a:t>
            </a:r>
            <a:r>
              <a:rPr lang="vi-VN" sz="2800" dirty="0" err="1">
                <a:solidFill>
                  <a:srgbClr val="0066FF"/>
                </a:solidFill>
              </a:rPr>
              <a:t>kết</a:t>
            </a:r>
            <a:r>
              <a:rPr lang="vi-VN" sz="2800" dirty="0">
                <a:solidFill>
                  <a:srgbClr val="0066FF"/>
                </a:solidFill>
              </a:rPr>
              <a:t> </a:t>
            </a:r>
            <a:r>
              <a:rPr lang="vi-VN" sz="2800" dirty="0" err="1">
                <a:solidFill>
                  <a:srgbClr val="0066FF"/>
                </a:solidFill>
              </a:rPr>
              <a:t>quả</a:t>
            </a:r>
            <a:r>
              <a:rPr lang="vi-VN" sz="2800" dirty="0">
                <a:solidFill>
                  <a:srgbClr val="0066FF"/>
                </a:solidFill>
              </a:rPr>
              <a:t> mô </a:t>
            </a:r>
            <a:r>
              <a:rPr lang="vi-VN" sz="2800" dirty="0" err="1">
                <a:solidFill>
                  <a:srgbClr val="0066FF"/>
                </a:solidFill>
              </a:rPr>
              <a:t>hình</a:t>
            </a:r>
            <a:r>
              <a:rPr lang="vi-VN" sz="2800" dirty="0">
                <a:solidFill>
                  <a:srgbClr val="0066FF"/>
                </a:solidFill>
              </a:rPr>
              <a:t> trên </a:t>
            </a:r>
            <a:r>
              <a:rPr lang="vi-VN" sz="2800" dirty="0" err="1">
                <a:solidFill>
                  <a:srgbClr val="0066FF"/>
                </a:solidFill>
              </a:rPr>
              <a:t>mặt</a:t>
            </a:r>
            <a:r>
              <a:rPr lang="vi-VN" sz="2800" dirty="0">
                <a:solidFill>
                  <a:srgbClr val="0066FF"/>
                </a:solidFill>
              </a:rPr>
              <a:t> </a:t>
            </a:r>
            <a:r>
              <a:rPr lang="vi-VN" sz="2800" dirty="0" err="1">
                <a:solidFill>
                  <a:srgbClr val="0066FF"/>
                </a:solidFill>
              </a:rPr>
              <a:t>phẳng</a:t>
            </a:r>
            <a:r>
              <a:rPr lang="vi-VN" sz="2800" dirty="0">
                <a:solidFill>
                  <a:srgbClr val="0066FF"/>
                </a:solidFill>
              </a:rPr>
              <a:t> </a:t>
            </a:r>
            <a:r>
              <a:rPr lang="vi-VN" sz="2800" dirty="0" err="1">
                <a:solidFill>
                  <a:srgbClr val="0066FF"/>
                </a:solidFill>
              </a:rPr>
              <a:t>tọa</a:t>
            </a:r>
            <a:r>
              <a:rPr lang="vi-VN" sz="2800" dirty="0">
                <a:solidFill>
                  <a:srgbClr val="0066FF"/>
                </a:solidFill>
              </a:rPr>
              <a:t> </a:t>
            </a:r>
            <a:r>
              <a:rPr lang="vi-VN" sz="2800" dirty="0" err="1">
                <a:solidFill>
                  <a:srgbClr val="0066FF"/>
                </a:solidFill>
              </a:rPr>
              <a:t>độ</a:t>
            </a:r>
            <a:r>
              <a:rPr lang="vi-VN" sz="2800" dirty="0">
                <a:solidFill>
                  <a:srgbClr val="0066FF"/>
                </a:solidFill>
              </a:rPr>
              <a:t> </a:t>
            </a:r>
            <a:r>
              <a:rPr lang="vi-VN" sz="2800" dirty="0" err="1">
                <a:solidFill>
                  <a:srgbClr val="0066FF"/>
                </a:solidFill>
              </a:rPr>
              <a:t>bằng</a:t>
            </a:r>
            <a:r>
              <a:rPr lang="vi-VN" sz="2800" dirty="0">
                <a:solidFill>
                  <a:srgbClr val="0066FF"/>
                </a:solidFill>
              </a:rPr>
              <a:t> </a:t>
            </a:r>
            <a:r>
              <a:rPr lang="vi-VN" sz="2800" dirty="0" err="1">
                <a:solidFill>
                  <a:srgbClr val="0066FF"/>
                </a:solidFill>
              </a:rPr>
              <a:t>cách</a:t>
            </a:r>
            <a:r>
              <a:rPr lang="vi-VN" sz="2800" dirty="0">
                <a:solidFill>
                  <a:srgbClr val="0066FF"/>
                </a:solidFill>
              </a:rPr>
              <a:t> </a:t>
            </a:r>
            <a:r>
              <a:rPr lang="vi-VN" sz="2800" dirty="0" err="1">
                <a:solidFill>
                  <a:srgbClr val="0066FF"/>
                </a:solidFill>
              </a:rPr>
              <a:t>vẽ</a:t>
            </a:r>
            <a:r>
              <a:rPr lang="vi-VN" sz="2800" dirty="0">
                <a:solidFill>
                  <a:srgbClr val="0066FF"/>
                </a:solidFill>
              </a:rPr>
              <a:t> 2 </a:t>
            </a:r>
            <a:r>
              <a:rPr lang="vi-VN" sz="2800" dirty="0" err="1">
                <a:solidFill>
                  <a:srgbClr val="0066FF"/>
                </a:solidFill>
              </a:rPr>
              <a:t>vùng</a:t>
            </a:r>
            <a:r>
              <a:rPr lang="vi-VN" sz="2800" dirty="0">
                <a:solidFill>
                  <a:srgbClr val="0066FF"/>
                </a:solidFill>
              </a:rPr>
              <a:t> phân chia </a:t>
            </a:r>
            <a:r>
              <a:rPr lang="vi-VN" sz="2800" dirty="0" err="1">
                <a:solidFill>
                  <a:srgbClr val="0066FF"/>
                </a:solidFill>
              </a:rPr>
              <a:t>mà</a:t>
            </a:r>
            <a:r>
              <a:rPr lang="vi-VN" sz="2800" dirty="0">
                <a:solidFill>
                  <a:srgbClr val="0066FF"/>
                </a:solidFill>
              </a:rPr>
              <a:t> mô </a:t>
            </a:r>
            <a:r>
              <a:rPr lang="vi-VN" sz="2800" dirty="0" err="1">
                <a:solidFill>
                  <a:srgbClr val="0066FF"/>
                </a:solidFill>
              </a:rPr>
              <a:t>hình</a:t>
            </a:r>
            <a:r>
              <a:rPr lang="vi-VN" sz="2800" dirty="0">
                <a:solidFill>
                  <a:srgbClr val="0066FF"/>
                </a:solidFill>
              </a:rPr>
              <a:t> thu </a:t>
            </a:r>
            <a:r>
              <a:rPr lang="vi-VN" sz="2800" dirty="0" err="1">
                <a:solidFill>
                  <a:srgbClr val="0066FF"/>
                </a:solidFill>
              </a:rPr>
              <a:t>được</a:t>
            </a:r>
            <a:r>
              <a:rPr lang="vi-VN" sz="2800" dirty="0">
                <a:solidFill>
                  <a:srgbClr val="0066FF"/>
                </a:solidFill>
              </a:rPr>
              <a:t> sau </a:t>
            </a:r>
            <a:r>
              <a:rPr lang="vi-VN" sz="2800" dirty="0" err="1">
                <a:solidFill>
                  <a:srgbClr val="0066FF"/>
                </a:solidFill>
              </a:rPr>
              <a:t>quá</a:t>
            </a:r>
            <a:r>
              <a:rPr lang="vi-VN" sz="2800" dirty="0">
                <a:solidFill>
                  <a:srgbClr val="0066FF"/>
                </a:solidFill>
              </a:rPr>
              <a:t> </a:t>
            </a:r>
            <a:r>
              <a:rPr lang="vi-VN" sz="2800" dirty="0" err="1">
                <a:solidFill>
                  <a:srgbClr val="0066FF"/>
                </a:solidFill>
              </a:rPr>
              <a:t>trình</a:t>
            </a:r>
            <a:r>
              <a:rPr lang="vi-VN" sz="2800" dirty="0">
                <a:solidFill>
                  <a:srgbClr val="0066FF"/>
                </a:solidFill>
              </a:rPr>
              <a:t> </a:t>
            </a:r>
            <a:r>
              <a:rPr lang="vi-VN" sz="2800" dirty="0" err="1">
                <a:solidFill>
                  <a:srgbClr val="0066FF"/>
                </a:solidFill>
              </a:rPr>
              <a:t>huấn</a:t>
            </a:r>
            <a:r>
              <a:rPr lang="vi-VN" sz="2800" dirty="0">
                <a:solidFill>
                  <a:srgbClr val="0066FF"/>
                </a:solidFill>
              </a:rPr>
              <a:t> </a:t>
            </a:r>
            <a:r>
              <a:rPr lang="vi-VN" sz="2800" dirty="0" err="1">
                <a:solidFill>
                  <a:srgbClr val="0066FF"/>
                </a:solidFill>
              </a:rPr>
              <a:t>luyện</a:t>
            </a:r>
            <a:r>
              <a:rPr lang="vi-VN" sz="2800" dirty="0">
                <a:solidFill>
                  <a:srgbClr val="0066FF"/>
                </a:solidFill>
              </a:rPr>
              <a:t>.</a:t>
            </a:r>
          </a:p>
        </p:txBody>
      </p:sp>
      <p:pic>
        <p:nvPicPr>
          <p:cNvPr id="8" name="Content Placeholder 7">
            <a:extLst>
              <a:ext uri="{FF2B5EF4-FFF2-40B4-BE49-F238E27FC236}">
                <a16:creationId xmlns:a16="http://schemas.microsoft.com/office/drawing/2014/main" id="{2760007F-527A-4C8F-945C-83E287BD2FD2}"/>
              </a:ext>
            </a:extLst>
          </p:cNvPr>
          <p:cNvPicPr>
            <a:picLocks noGrp="1" noChangeAspect="1"/>
          </p:cNvPicPr>
          <p:nvPr>
            <p:ph sz="half" idx="2"/>
          </p:nvPr>
        </p:nvPicPr>
        <p:blipFill>
          <a:blip r:embed="rId2"/>
          <a:stretch>
            <a:fillRect/>
          </a:stretch>
        </p:blipFill>
        <p:spPr>
          <a:xfrm>
            <a:off x="6197600" y="1905878"/>
            <a:ext cx="5384800" cy="3914607"/>
          </a:xfrm>
          <a:prstGeom prst="rect">
            <a:avLst/>
          </a:prstGeom>
        </p:spPr>
      </p:pic>
    </p:spTree>
    <p:extLst>
      <p:ext uri="{BB962C8B-B14F-4D97-AF65-F5344CB8AC3E}">
        <p14:creationId xmlns:p14="http://schemas.microsoft.com/office/powerpoint/2010/main" val="2210825456"/>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303915-96E8-4D3F-AEBF-7529BD817D88}"/>
              </a:ext>
            </a:extLst>
          </p:cNvPr>
          <p:cNvSpPr>
            <a:spLocks noGrp="1"/>
          </p:cNvSpPr>
          <p:nvPr>
            <p:ph type="title"/>
          </p:nvPr>
        </p:nvSpPr>
        <p:spPr/>
        <p:txBody>
          <a:bodyPr/>
          <a:lstStyle/>
          <a:p>
            <a:r>
              <a:rPr lang="vi-VN" dirty="0" err="1"/>
              <a:t>Trực</a:t>
            </a:r>
            <a:r>
              <a:rPr lang="vi-VN" dirty="0"/>
              <a:t> quan </a:t>
            </a:r>
            <a:r>
              <a:rPr lang="vi-VN" dirty="0" err="1"/>
              <a:t>hóa</a:t>
            </a:r>
            <a:r>
              <a:rPr lang="vi-VN" dirty="0"/>
              <a:t> </a:t>
            </a:r>
            <a:r>
              <a:rPr lang="vi-VN" dirty="0" err="1"/>
              <a:t>kết</a:t>
            </a:r>
            <a:r>
              <a:rPr lang="vi-VN" dirty="0"/>
              <a:t> </a:t>
            </a:r>
            <a:r>
              <a:rPr lang="vi-VN" dirty="0" err="1"/>
              <a:t>quả</a:t>
            </a:r>
            <a:r>
              <a:rPr lang="vi-VN" dirty="0"/>
              <a:t> mô </a:t>
            </a:r>
            <a:r>
              <a:rPr lang="vi-VN" dirty="0" err="1"/>
              <a:t>hình</a:t>
            </a:r>
            <a:endParaRPr lang="vi-VN" dirty="0"/>
          </a:p>
        </p:txBody>
      </p:sp>
      <p:sp>
        <p:nvSpPr>
          <p:cNvPr id="2" name="Content Placeholder 1">
            <a:extLst>
              <a:ext uri="{FF2B5EF4-FFF2-40B4-BE49-F238E27FC236}">
                <a16:creationId xmlns:a16="http://schemas.microsoft.com/office/drawing/2014/main" id="{5D8847BE-064C-4CB5-8E65-33ED27DF2C1C}"/>
              </a:ext>
            </a:extLst>
          </p:cNvPr>
          <p:cNvSpPr>
            <a:spLocks noGrp="1"/>
          </p:cNvSpPr>
          <p:nvPr>
            <p:ph idx="1"/>
          </p:nvPr>
        </p:nvSpPr>
        <p:spPr/>
        <p:txBody>
          <a:bodyPr/>
          <a:lstStyle/>
          <a:p>
            <a:pPr algn="just"/>
            <a:r>
              <a:rPr lang="vi-VN" sz="2800" dirty="0">
                <a:solidFill>
                  <a:srgbClr val="0066FF"/>
                </a:solidFill>
              </a:rPr>
              <a:t>Xây </a:t>
            </a:r>
            <a:r>
              <a:rPr lang="vi-VN" sz="2800" dirty="0" err="1">
                <a:solidFill>
                  <a:srgbClr val="0066FF"/>
                </a:solidFill>
              </a:rPr>
              <a:t>dựng</a:t>
            </a:r>
            <a:r>
              <a:rPr lang="vi-VN" sz="2800" dirty="0">
                <a:solidFill>
                  <a:srgbClr val="0066FF"/>
                </a:solidFill>
              </a:rPr>
              <a:t> </a:t>
            </a:r>
            <a:r>
              <a:rPr lang="vi-VN" sz="2800" dirty="0" err="1">
                <a:solidFill>
                  <a:srgbClr val="0066FF"/>
                </a:solidFill>
              </a:rPr>
              <a:t>hàm</a:t>
            </a:r>
            <a:r>
              <a:rPr lang="vi-VN" sz="2800" dirty="0">
                <a:solidFill>
                  <a:srgbClr val="0066FF"/>
                </a:solidFill>
              </a:rPr>
              <a:t> </a:t>
            </a:r>
            <a:r>
              <a:rPr lang="vi-VN" sz="2800" dirty="0" err="1">
                <a:solidFill>
                  <a:srgbClr val="0066FF"/>
                </a:solidFill>
              </a:rPr>
              <a:t>trực</a:t>
            </a:r>
            <a:r>
              <a:rPr lang="vi-VN" sz="2800" dirty="0">
                <a:solidFill>
                  <a:srgbClr val="0066FF"/>
                </a:solidFill>
              </a:rPr>
              <a:t> quan </a:t>
            </a:r>
            <a:r>
              <a:rPr lang="vi-VN" sz="2800" dirty="0" err="1">
                <a:solidFill>
                  <a:srgbClr val="0066FF"/>
                </a:solidFill>
              </a:rPr>
              <a:t>hóa</a:t>
            </a:r>
            <a:r>
              <a:rPr lang="vi-VN" sz="2800" dirty="0">
                <a:solidFill>
                  <a:srgbClr val="0066FF"/>
                </a:solidFill>
              </a:rPr>
              <a:t> </a:t>
            </a:r>
            <a:r>
              <a:rPr lang="vi-VN" sz="2800" dirty="0" err="1">
                <a:solidFill>
                  <a:srgbClr val="0066FF"/>
                </a:solidFill>
              </a:rPr>
              <a:t>kết</a:t>
            </a:r>
            <a:r>
              <a:rPr lang="vi-VN" sz="2800" dirty="0">
                <a:solidFill>
                  <a:srgbClr val="0066FF"/>
                </a:solidFill>
              </a:rPr>
              <a:t> </a:t>
            </a:r>
            <a:r>
              <a:rPr lang="vi-VN" sz="2800" dirty="0" err="1">
                <a:solidFill>
                  <a:srgbClr val="0066FF"/>
                </a:solidFill>
              </a:rPr>
              <a:t>quả</a:t>
            </a:r>
            <a:r>
              <a:rPr lang="vi-VN" sz="2800" dirty="0">
                <a:solidFill>
                  <a:srgbClr val="0066FF"/>
                </a:solidFill>
              </a:rPr>
              <a:t> </a:t>
            </a:r>
            <a:r>
              <a:rPr lang="vi-VN" sz="2800" dirty="0" err="1">
                <a:solidFill>
                  <a:srgbClr val="0066FF"/>
                </a:solidFill>
              </a:rPr>
              <a:t>bằng</a:t>
            </a:r>
            <a:r>
              <a:rPr lang="vi-VN" sz="2800" dirty="0">
                <a:solidFill>
                  <a:srgbClr val="0066FF"/>
                </a:solidFill>
              </a:rPr>
              <a:t> </a:t>
            </a:r>
            <a:r>
              <a:rPr lang="vi-VN" sz="2800" dirty="0" err="1">
                <a:solidFill>
                  <a:srgbClr val="0066FF"/>
                </a:solidFill>
              </a:rPr>
              <a:t>cách</a:t>
            </a:r>
            <a:r>
              <a:rPr lang="vi-VN" sz="2800" dirty="0">
                <a:solidFill>
                  <a:srgbClr val="0066FF"/>
                </a:solidFill>
              </a:rPr>
              <a:t> </a:t>
            </a:r>
            <a:r>
              <a:rPr lang="vi-VN" sz="2800" dirty="0" err="1">
                <a:solidFill>
                  <a:srgbClr val="0066FF"/>
                </a:solidFill>
              </a:rPr>
              <a:t>tạo</a:t>
            </a:r>
            <a:r>
              <a:rPr lang="vi-VN" sz="2800" dirty="0">
                <a:solidFill>
                  <a:srgbClr val="0066FF"/>
                </a:solidFill>
              </a:rPr>
              <a:t> 2 </a:t>
            </a:r>
            <a:r>
              <a:rPr lang="vi-VN" sz="2800" dirty="0" err="1">
                <a:solidFill>
                  <a:srgbClr val="0066FF"/>
                </a:solidFill>
              </a:rPr>
              <a:t>vùng</a:t>
            </a:r>
            <a:r>
              <a:rPr lang="vi-VN" sz="2800" dirty="0">
                <a:solidFill>
                  <a:srgbClr val="0066FF"/>
                </a:solidFill>
              </a:rPr>
              <a:t> phân chia </a:t>
            </a:r>
            <a:r>
              <a:rPr lang="vi-VN" sz="2800" dirty="0" err="1">
                <a:solidFill>
                  <a:srgbClr val="0066FF"/>
                </a:solidFill>
              </a:rPr>
              <a:t>mà</a:t>
            </a:r>
            <a:r>
              <a:rPr lang="vi-VN" sz="2800" dirty="0">
                <a:solidFill>
                  <a:srgbClr val="0066FF"/>
                </a:solidFill>
              </a:rPr>
              <a:t> mô </a:t>
            </a:r>
            <a:r>
              <a:rPr lang="vi-VN" sz="2800" dirty="0" err="1">
                <a:solidFill>
                  <a:srgbClr val="0066FF"/>
                </a:solidFill>
              </a:rPr>
              <a:t>hình</a:t>
            </a:r>
            <a:r>
              <a:rPr lang="vi-VN" sz="2800" dirty="0">
                <a:solidFill>
                  <a:srgbClr val="0066FF"/>
                </a:solidFill>
              </a:rPr>
              <a:t> </a:t>
            </a:r>
            <a:r>
              <a:rPr lang="vi-VN" sz="2800" dirty="0" err="1">
                <a:solidFill>
                  <a:srgbClr val="0066FF"/>
                </a:solidFill>
              </a:rPr>
              <a:t>đạt</a:t>
            </a:r>
            <a:r>
              <a:rPr lang="vi-VN" sz="2800" dirty="0">
                <a:solidFill>
                  <a:srgbClr val="0066FF"/>
                </a:solidFill>
              </a:rPr>
              <a:t> </a:t>
            </a:r>
            <a:r>
              <a:rPr lang="vi-VN" sz="2800" err="1">
                <a:solidFill>
                  <a:srgbClr val="0066FF"/>
                </a:solidFill>
              </a:rPr>
              <a:t>được</a:t>
            </a:r>
            <a:r>
              <a:rPr lang="vi-VN" sz="2800">
                <a:solidFill>
                  <a:srgbClr val="0066FF"/>
                </a:solidFill>
              </a:rPr>
              <a:t>.</a:t>
            </a:r>
            <a:endParaRPr lang="en-US" sz="2800">
              <a:solidFill>
                <a:srgbClr val="0066FF"/>
              </a:solidFill>
            </a:endParaRPr>
          </a:p>
          <a:p>
            <a:pPr algn="just"/>
            <a:endParaRPr lang="vi-VN" sz="2800" dirty="0">
              <a:solidFill>
                <a:srgbClr val="FF0000"/>
              </a:solidFill>
            </a:endParaRPr>
          </a:p>
          <a:p>
            <a:pPr marL="457200" indent="-457200">
              <a:buFont typeface="+mj-lt"/>
              <a:buAutoNum type="arabicPeriod" startAt="26"/>
            </a:pPr>
            <a:r>
              <a:rPr lang="es-ES" sz="2000" dirty="0" err="1">
                <a:solidFill>
                  <a:srgbClr val="0000FF"/>
                </a:solidFill>
                <a:latin typeface="Consolas" panose="020B0609020204030204" pitchFamily="49" charset="0"/>
              </a:rPr>
              <a:t>def</a:t>
            </a:r>
            <a:r>
              <a:rPr lang="es-ES" sz="2000" dirty="0">
                <a:solidFill>
                  <a:srgbClr val="000000"/>
                </a:solidFill>
                <a:latin typeface="Consolas" panose="020B0609020204030204" pitchFamily="49" charset="0"/>
              </a:rPr>
              <a:t> </a:t>
            </a:r>
            <a:r>
              <a:rPr lang="es-ES" sz="2000" dirty="0" err="1">
                <a:solidFill>
                  <a:srgbClr val="795E26"/>
                </a:solidFill>
                <a:latin typeface="Consolas" panose="020B0609020204030204" pitchFamily="49" charset="0"/>
              </a:rPr>
              <a:t>VisualizingResult</a:t>
            </a:r>
            <a:r>
              <a:rPr lang="es-ES" sz="2000" dirty="0">
                <a:solidFill>
                  <a:srgbClr val="000000"/>
                </a:solidFill>
                <a:latin typeface="Consolas" panose="020B0609020204030204" pitchFamily="49" charset="0"/>
              </a:rPr>
              <a:t>(</a:t>
            </a:r>
            <a:r>
              <a:rPr lang="es-ES" sz="2000" dirty="0" err="1">
                <a:solidFill>
                  <a:srgbClr val="001080"/>
                </a:solidFill>
                <a:latin typeface="Consolas" panose="020B0609020204030204" pitchFamily="49" charset="0"/>
              </a:rPr>
              <a:t>model</a:t>
            </a:r>
            <a:r>
              <a:rPr lang="es-ES" sz="2000" dirty="0">
                <a:solidFill>
                  <a:srgbClr val="000000"/>
                </a:solidFill>
                <a:latin typeface="Consolas" panose="020B0609020204030204" pitchFamily="49" charset="0"/>
              </a:rPr>
              <a:t>, </a:t>
            </a:r>
            <a:r>
              <a:rPr lang="es-ES" sz="2000" dirty="0">
                <a:solidFill>
                  <a:srgbClr val="001080"/>
                </a:solidFill>
                <a:latin typeface="Consolas" panose="020B0609020204030204" pitchFamily="49" charset="0"/>
              </a:rPr>
              <a:t>X_</a:t>
            </a:r>
            <a:r>
              <a:rPr lang="es-ES" sz="2000" dirty="0">
                <a:solidFill>
                  <a:srgbClr val="000000"/>
                </a:solidFill>
                <a:latin typeface="Consolas" panose="020B0609020204030204" pitchFamily="49" charset="0"/>
              </a:rPr>
              <a:t>):</a:t>
            </a:r>
          </a:p>
          <a:p>
            <a:pPr marL="457200" indent="-457200">
              <a:buFont typeface="+mj-lt"/>
              <a:buAutoNum type="arabicPeriod" startAt="26"/>
            </a:pPr>
            <a:r>
              <a:rPr lang="vi-VN" sz="2000" dirty="0">
                <a:solidFill>
                  <a:srgbClr val="000000"/>
                </a:solidFill>
                <a:latin typeface="Consolas" panose="020B0609020204030204" pitchFamily="49" charset="0"/>
              </a:rPr>
              <a:t>    X1 = X_[:, </a:t>
            </a:r>
            <a:r>
              <a:rPr lang="vi-VN" sz="2000" dirty="0">
                <a:solidFill>
                  <a:srgbClr val="09885A"/>
                </a:solidFill>
                <a:latin typeface="Consolas" panose="020B0609020204030204" pitchFamily="49" charset="0"/>
              </a:rPr>
              <a:t>0</a:t>
            </a:r>
            <a:r>
              <a:rPr lang="vi-VN" sz="2000" dirty="0">
                <a:solidFill>
                  <a:srgbClr val="000000"/>
                </a:solidFill>
                <a:latin typeface="Consolas" panose="020B0609020204030204" pitchFamily="49" charset="0"/>
              </a:rPr>
              <a:t>]</a:t>
            </a:r>
          </a:p>
          <a:p>
            <a:pPr marL="457200" indent="-457200">
              <a:buFont typeface="+mj-lt"/>
              <a:buAutoNum type="arabicPeriod" startAt="26"/>
            </a:pPr>
            <a:r>
              <a:rPr lang="vi-VN" sz="2000" dirty="0">
                <a:solidFill>
                  <a:srgbClr val="000000"/>
                </a:solidFill>
                <a:latin typeface="Consolas" panose="020B0609020204030204" pitchFamily="49" charset="0"/>
              </a:rPr>
              <a:t>    X2 = X_[:, </a:t>
            </a:r>
            <a:r>
              <a:rPr lang="vi-VN" sz="2000" dirty="0">
                <a:solidFill>
                  <a:srgbClr val="09885A"/>
                </a:solidFill>
                <a:latin typeface="Consolas" panose="020B0609020204030204" pitchFamily="49" charset="0"/>
              </a:rPr>
              <a:t>1</a:t>
            </a:r>
            <a:r>
              <a:rPr lang="vi-VN" sz="2000" dirty="0">
                <a:solidFill>
                  <a:srgbClr val="000000"/>
                </a:solidFill>
                <a:latin typeface="Consolas" panose="020B0609020204030204" pitchFamily="49" charset="0"/>
              </a:rPr>
              <a:t>]</a:t>
            </a:r>
          </a:p>
          <a:p>
            <a:pPr marL="457200" indent="-457200">
              <a:buFont typeface="+mj-lt"/>
              <a:buAutoNum type="arabicPeriod" startAt="26"/>
            </a:pPr>
            <a:r>
              <a:rPr lang="en-US" sz="2000" dirty="0">
                <a:solidFill>
                  <a:srgbClr val="000000"/>
                </a:solidFill>
                <a:latin typeface="Consolas" panose="020B0609020204030204" pitchFamily="49" charset="0"/>
              </a:rPr>
              <a:t>    X1_range = </a:t>
            </a:r>
            <a:r>
              <a:rPr lang="en-US" sz="2000" dirty="0" err="1">
                <a:solidFill>
                  <a:srgbClr val="000000"/>
                </a:solidFill>
                <a:latin typeface="Consolas" panose="020B0609020204030204" pitchFamily="49" charset="0"/>
              </a:rPr>
              <a:t>np.arange</a:t>
            </a:r>
            <a:r>
              <a:rPr lang="en-US" sz="2000" dirty="0">
                <a:solidFill>
                  <a:srgbClr val="000000"/>
                </a:solidFill>
                <a:latin typeface="Consolas" panose="020B0609020204030204" pitchFamily="49" charset="0"/>
              </a:rPr>
              <a:t>(</a:t>
            </a:r>
            <a:r>
              <a:rPr lang="en-US" sz="2000" dirty="0">
                <a:solidFill>
                  <a:srgbClr val="001080"/>
                </a:solidFill>
                <a:latin typeface="Consolas" panose="020B0609020204030204" pitchFamily="49" charset="0"/>
              </a:rPr>
              <a:t>start</a:t>
            </a:r>
            <a:r>
              <a:rPr lang="en-US" sz="2000" dirty="0">
                <a:solidFill>
                  <a:srgbClr val="000000"/>
                </a:solidFill>
                <a:latin typeface="Consolas" panose="020B0609020204030204" pitchFamily="49" charset="0"/>
              </a:rPr>
              <a:t>= X1.min()-</a:t>
            </a:r>
            <a:r>
              <a:rPr lang="en-US" sz="2000" dirty="0">
                <a:solidFill>
                  <a:srgbClr val="09885A"/>
                </a:solidFill>
                <a:latin typeface="Consolas" panose="020B0609020204030204" pitchFamily="49" charset="0"/>
              </a:rPr>
              <a:t>1</a:t>
            </a:r>
            <a:r>
              <a:rPr lang="en-US" sz="2000" dirty="0">
                <a:solidFill>
                  <a:srgbClr val="000000"/>
                </a:solidFill>
                <a:latin typeface="Consolas" panose="020B0609020204030204" pitchFamily="49" charset="0"/>
              </a:rPr>
              <a:t>, </a:t>
            </a:r>
            <a:r>
              <a:rPr lang="en-US" sz="2000" dirty="0">
                <a:solidFill>
                  <a:srgbClr val="001080"/>
                </a:solidFill>
                <a:latin typeface="Consolas" panose="020B0609020204030204" pitchFamily="49" charset="0"/>
              </a:rPr>
              <a:t>stop</a:t>
            </a:r>
            <a:r>
              <a:rPr lang="en-US" sz="2000" dirty="0">
                <a:solidFill>
                  <a:srgbClr val="000000"/>
                </a:solidFill>
                <a:latin typeface="Consolas" panose="020B0609020204030204" pitchFamily="49" charset="0"/>
              </a:rPr>
              <a:t>= X1.max()+</a:t>
            </a:r>
            <a:r>
              <a:rPr lang="en-US" sz="2000" dirty="0">
                <a:solidFill>
                  <a:srgbClr val="09885A"/>
                </a:solidFill>
                <a:latin typeface="Consolas" panose="020B0609020204030204" pitchFamily="49" charset="0"/>
              </a:rPr>
              <a:t>1</a:t>
            </a:r>
            <a:r>
              <a:rPr lang="en-US" sz="2000" dirty="0">
                <a:solidFill>
                  <a:srgbClr val="000000"/>
                </a:solidFill>
                <a:latin typeface="Consolas" panose="020B0609020204030204" pitchFamily="49" charset="0"/>
              </a:rPr>
              <a:t>, </a:t>
            </a:r>
            <a:r>
              <a:rPr lang="en-US" sz="2000" dirty="0">
                <a:solidFill>
                  <a:srgbClr val="001080"/>
                </a:solidFill>
                <a:latin typeface="Consolas" panose="020B0609020204030204" pitchFamily="49" charset="0"/>
              </a:rPr>
              <a:t>step </a:t>
            </a:r>
            <a:r>
              <a:rPr lang="en-US" sz="2000" dirty="0">
                <a:solidFill>
                  <a:srgbClr val="000000"/>
                </a:solidFill>
                <a:latin typeface="Consolas" panose="020B0609020204030204" pitchFamily="49" charset="0"/>
              </a:rPr>
              <a:t>= </a:t>
            </a:r>
            <a:r>
              <a:rPr lang="en-US" sz="2000" dirty="0">
                <a:solidFill>
                  <a:srgbClr val="09885A"/>
                </a:solidFill>
                <a:latin typeface="Consolas" panose="020B0609020204030204" pitchFamily="49" charset="0"/>
              </a:rPr>
              <a:t>0.01</a:t>
            </a:r>
            <a:r>
              <a:rPr lang="en-US" sz="2000" dirty="0">
                <a:solidFill>
                  <a:srgbClr val="000000"/>
                </a:solidFill>
                <a:latin typeface="Consolas" panose="020B0609020204030204" pitchFamily="49" charset="0"/>
              </a:rPr>
              <a:t>)</a:t>
            </a:r>
          </a:p>
          <a:p>
            <a:pPr marL="457200" indent="-457200">
              <a:buFont typeface="+mj-lt"/>
              <a:buAutoNum type="arabicPeriod" startAt="26"/>
            </a:pPr>
            <a:r>
              <a:rPr lang="en-US" sz="2000" dirty="0">
                <a:solidFill>
                  <a:srgbClr val="000000"/>
                </a:solidFill>
                <a:latin typeface="Consolas" panose="020B0609020204030204" pitchFamily="49" charset="0"/>
              </a:rPr>
              <a:t>    X2_range = </a:t>
            </a:r>
            <a:r>
              <a:rPr lang="en-US" sz="2000" dirty="0" err="1">
                <a:solidFill>
                  <a:srgbClr val="000000"/>
                </a:solidFill>
                <a:latin typeface="Consolas" panose="020B0609020204030204" pitchFamily="49" charset="0"/>
              </a:rPr>
              <a:t>np.arange</a:t>
            </a:r>
            <a:r>
              <a:rPr lang="en-US" sz="2000" dirty="0">
                <a:solidFill>
                  <a:srgbClr val="000000"/>
                </a:solidFill>
                <a:latin typeface="Consolas" panose="020B0609020204030204" pitchFamily="49" charset="0"/>
              </a:rPr>
              <a:t>(</a:t>
            </a:r>
            <a:r>
              <a:rPr lang="en-US" sz="2000" dirty="0">
                <a:solidFill>
                  <a:srgbClr val="001080"/>
                </a:solidFill>
                <a:latin typeface="Consolas" panose="020B0609020204030204" pitchFamily="49" charset="0"/>
              </a:rPr>
              <a:t>start</a:t>
            </a:r>
            <a:r>
              <a:rPr lang="en-US" sz="2000" dirty="0">
                <a:solidFill>
                  <a:srgbClr val="000000"/>
                </a:solidFill>
                <a:latin typeface="Consolas" panose="020B0609020204030204" pitchFamily="49" charset="0"/>
              </a:rPr>
              <a:t>= X2.min()-</a:t>
            </a:r>
            <a:r>
              <a:rPr lang="en-US" sz="2000" dirty="0">
                <a:solidFill>
                  <a:srgbClr val="09885A"/>
                </a:solidFill>
                <a:latin typeface="Consolas" panose="020B0609020204030204" pitchFamily="49" charset="0"/>
              </a:rPr>
              <a:t>1</a:t>
            </a:r>
            <a:r>
              <a:rPr lang="en-US" sz="2000" dirty="0">
                <a:solidFill>
                  <a:srgbClr val="000000"/>
                </a:solidFill>
                <a:latin typeface="Consolas" panose="020B0609020204030204" pitchFamily="49" charset="0"/>
              </a:rPr>
              <a:t>, </a:t>
            </a:r>
            <a:r>
              <a:rPr lang="en-US" sz="2000" dirty="0">
                <a:solidFill>
                  <a:srgbClr val="001080"/>
                </a:solidFill>
                <a:latin typeface="Consolas" panose="020B0609020204030204" pitchFamily="49" charset="0"/>
              </a:rPr>
              <a:t>stop</a:t>
            </a:r>
            <a:r>
              <a:rPr lang="en-US" sz="2000" dirty="0">
                <a:solidFill>
                  <a:srgbClr val="000000"/>
                </a:solidFill>
                <a:latin typeface="Consolas" panose="020B0609020204030204" pitchFamily="49" charset="0"/>
              </a:rPr>
              <a:t>= X2.max()+</a:t>
            </a:r>
            <a:r>
              <a:rPr lang="en-US" sz="2000" dirty="0">
                <a:solidFill>
                  <a:srgbClr val="09885A"/>
                </a:solidFill>
                <a:latin typeface="Consolas" panose="020B0609020204030204" pitchFamily="49" charset="0"/>
              </a:rPr>
              <a:t>1</a:t>
            </a:r>
            <a:r>
              <a:rPr lang="en-US" sz="2000" dirty="0">
                <a:solidFill>
                  <a:srgbClr val="000000"/>
                </a:solidFill>
                <a:latin typeface="Consolas" panose="020B0609020204030204" pitchFamily="49" charset="0"/>
              </a:rPr>
              <a:t>, </a:t>
            </a:r>
            <a:r>
              <a:rPr lang="en-US" sz="2000" dirty="0">
                <a:solidFill>
                  <a:srgbClr val="001080"/>
                </a:solidFill>
                <a:latin typeface="Consolas" panose="020B0609020204030204" pitchFamily="49" charset="0"/>
              </a:rPr>
              <a:t>step</a:t>
            </a:r>
            <a:r>
              <a:rPr lang="en-US" sz="2000" dirty="0">
                <a:solidFill>
                  <a:srgbClr val="000000"/>
                </a:solidFill>
                <a:latin typeface="Consolas" panose="020B0609020204030204" pitchFamily="49" charset="0"/>
              </a:rPr>
              <a:t> = </a:t>
            </a:r>
            <a:r>
              <a:rPr lang="en-US" sz="2000" dirty="0">
                <a:solidFill>
                  <a:srgbClr val="09885A"/>
                </a:solidFill>
                <a:latin typeface="Consolas" panose="020B0609020204030204" pitchFamily="49" charset="0"/>
              </a:rPr>
              <a:t>0.01</a:t>
            </a:r>
            <a:r>
              <a:rPr lang="en-US" sz="2000" dirty="0">
                <a:solidFill>
                  <a:srgbClr val="000000"/>
                </a:solidFill>
                <a:latin typeface="Consolas" panose="020B0609020204030204" pitchFamily="49" charset="0"/>
              </a:rPr>
              <a:t>)</a:t>
            </a:r>
          </a:p>
          <a:p>
            <a:pPr marL="457200" indent="-457200">
              <a:buFont typeface="+mj-lt"/>
              <a:buAutoNum type="arabicPeriod" startAt="26"/>
            </a:pPr>
            <a:r>
              <a:rPr lang="fr-FR" sz="2000" dirty="0">
                <a:solidFill>
                  <a:srgbClr val="000000"/>
                </a:solidFill>
                <a:latin typeface="Consolas" panose="020B0609020204030204" pitchFamily="49" charset="0"/>
              </a:rPr>
              <a:t>    X1_matrix, X2_matrix = </a:t>
            </a:r>
            <a:r>
              <a:rPr lang="fr-FR" sz="2000" dirty="0" err="1">
                <a:solidFill>
                  <a:srgbClr val="000000"/>
                </a:solidFill>
                <a:latin typeface="Consolas" panose="020B0609020204030204" pitchFamily="49" charset="0"/>
              </a:rPr>
              <a:t>np.meshgrid</a:t>
            </a:r>
            <a:r>
              <a:rPr lang="fr-FR" sz="2000" dirty="0">
                <a:solidFill>
                  <a:srgbClr val="000000"/>
                </a:solidFill>
                <a:latin typeface="Consolas" panose="020B0609020204030204" pitchFamily="49" charset="0"/>
              </a:rPr>
              <a:t>(X1_range, X2_range)</a:t>
            </a:r>
          </a:p>
        </p:txBody>
      </p:sp>
    </p:spTree>
    <p:extLst>
      <p:ext uri="{BB962C8B-B14F-4D97-AF65-F5344CB8AC3E}">
        <p14:creationId xmlns:p14="http://schemas.microsoft.com/office/powerpoint/2010/main" val="898501364"/>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303915-96E8-4D3F-AEBF-7529BD817D88}"/>
              </a:ext>
            </a:extLst>
          </p:cNvPr>
          <p:cNvSpPr>
            <a:spLocks noGrp="1"/>
          </p:cNvSpPr>
          <p:nvPr>
            <p:ph type="title"/>
          </p:nvPr>
        </p:nvSpPr>
        <p:spPr/>
        <p:txBody>
          <a:bodyPr/>
          <a:lstStyle/>
          <a:p>
            <a:r>
              <a:rPr lang="vi-VN" dirty="0" err="1"/>
              <a:t>Trực</a:t>
            </a:r>
            <a:r>
              <a:rPr lang="vi-VN" dirty="0"/>
              <a:t> quan </a:t>
            </a:r>
            <a:r>
              <a:rPr lang="vi-VN" dirty="0" err="1"/>
              <a:t>hóa</a:t>
            </a:r>
            <a:r>
              <a:rPr lang="vi-VN" dirty="0"/>
              <a:t> </a:t>
            </a:r>
            <a:r>
              <a:rPr lang="vi-VN" dirty="0" err="1"/>
              <a:t>kết</a:t>
            </a:r>
            <a:r>
              <a:rPr lang="vi-VN" dirty="0"/>
              <a:t> </a:t>
            </a:r>
            <a:r>
              <a:rPr lang="vi-VN" dirty="0" err="1"/>
              <a:t>quả</a:t>
            </a:r>
            <a:r>
              <a:rPr lang="vi-VN" dirty="0"/>
              <a:t> mô </a:t>
            </a:r>
            <a:r>
              <a:rPr lang="vi-VN" dirty="0" err="1"/>
              <a:t>hình</a:t>
            </a:r>
            <a:endParaRPr lang="vi-VN" dirty="0"/>
          </a:p>
        </p:txBody>
      </p:sp>
      <p:sp>
        <p:nvSpPr>
          <p:cNvPr id="2" name="Content Placeholder 1">
            <a:extLst>
              <a:ext uri="{FF2B5EF4-FFF2-40B4-BE49-F238E27FC236}">
                <a16:creationId xmlns:a16="http://schemas.microsoft.com/office/drawing/2014/main" id="{5D8847BE-064C-4CB5-8E65-33ED27DF2C1C}"/>
              </a:ext>
            </a:extLst>
          </p:cNvPr>
          <p:cNvSpPr>
            <a:spLocks noGrp="1"/>
          </p:cNvSpPr>
          <p:nvPr>
            <p:ph idx="1"/>
          </p:nvPr>
        </p:nvSpPr>
        <p:spPr>
          <a:xfrm>
            <a:off x="609600" y="1600201"/>
            <a:ext cx="11201400" cy="4525963"/>
          </a:xfrm>
        </p:spPr>
        <p:txBody>
          <a:bodyPr/>
          <a:lstStyle/>
          <a:p>
            <a:pPr algn="just"/>
            <a:r>
              <a:rPr lang="vi-VN" sz="2800" dirty="0">
                <a:solidFill>
                  <a:srgbClr val="0066FF"/>
                </a:solidFill>
              </a:rPr>
              <a:t>Xây </a:t>
            </a:r>
            <a:r>
              <a:rPr lang="vi-VN" sz="2800" dirty="0" err="1">
                <a:solidFill>
                  <a:srgbClr val="0066FF"/>
                </a:solidFill>
              </a:rPr>
              <a:t>dựng</a:t>
            </a:r>
            <a:r>
              <a:rPr lang="vi-VN" sz="2800" dirty="0">
                <a:solidFill>
                  <a:srgbClr val="0066FF"/>
                </a:solidFill>
              </a:rPr>
              <a:t> </a:t>
            </a:r>
            <a:r>
              <a:rPr lang="vi-VN" sz="2800" dirty="0" err="1">
                <a:solidFill>
                  <a:srgbClr val="0066FF"/>
                </a:solidFill>
              </a:rPr>
              <a:t>hàm</a:t>
            </a:r>
            <a:r>
              <a:rPr lang="vi-VN" sz="2800" dirty="0">
                <a:solidFill>
                  <a:srgbClr val="0066FF"/>
                </a:solidFill>
              </a:rPr>
              <a:t> </a:t>
            </a:r>
            <a:r>
              <a:rPr lang="vi-VN" sz="2800" dirty="0" err="1">
                <a:solidFill>
                  <a:srgbClr val="0066FF"/>
                </a:solidFill>
              </a:rPr>
              <a:t>trực</a:t>
            </a:r>
            <a:r>
              <a:rPr lang="vi-VN" sz="2800" dirty="0">
                <a:solidFill>
                  <a:srgbClr val="0066FF"/>
                </a:solidFill>
              </a:rPr>
              <a:t> quan </a:t>
            </a:r>
            <a:r>
              <a:rPr lang="vi-VN" sz="2800" dirty="0" err="1">
                <a:solidFill>
                  <a:srgbClr val="0066FF"/>
                </a:solidFill>
              </a:rPr>
              <a:t>hóa</a:t>
            </a:r>
            <a:r>
              <a:rPr lang="vi-VN" sz="2800" dirty="0">
                <a:solidFill>
                  <a:srgbClr val="0066FF"/>
                </a:solidFill>
              </a:rPr>
              <a:t> </a:t>
            </a:r>
            <a:r>
              <a:rPr lang="vi-VN" sz="2800" dirty="0" err="1">
                <a:solidFill>
                  <a:srgbClr val="0066FF"/>
                </a:solidFill>
              </a:rPr>
              <a:t>kết</a:t>
            </a:r>
            <a:r>
              <a:rPr lang="vi-VN" sz="2800" dirty="0">
                <a:solidFill>
                  <a:srgbClr val="0066FF"/>
                </a:solidFill>
              </a:rPr>
              <a:t> </a:t>
            </a:r>
            <a:r>
              <a:rPr lang="vi-VN" sz="2800" dirty="0" err="1">
                <a:solidFill>
                  <a:srgbClr val="0066FF"/>
                </a:solidFill>
              </a:rPr>
              <a:t>quả</a:t>
            </a:r>
            <a:r>
              <a:rPr lang="vi-VN" sz="2800" dirty="0">
                <a:solidFill>
                  <a:srgbClr val="0066FF"/>
                </a:solidFill>
              </a:rPr>
              <a:t> </a:t>
            </a:r>
            <a:r>
              <a:rPr lang="vi-VN" sz="2800" dirty="0" err="1">
                <a:solidFill>
                  <a:srgbClr val="0066FF"/>
                </a:solidFill>
              </a:rPr>
              <a:t>bằng</a:t>
            </a:r>
            <a:r>
              <a:rPr lang="vi-VN" sz="2800" dirty="0">
                <a:solidFill>
                  <a:srgbClr val="0066FF"/>
                </a:solidFill>
              </a:rPr>
              <a:t> </a:t>
            </a:r>
            <a:r>
              <a:rPr lang="vi-VN" sz="2800" dirty="0" err="1">
                <a:solidFill>
                  <a:srgbClr val="0066FF"/>
                </a:solidFill>
              </a:rPr>
              <a:t>cách</a:t>
            </a:r>
            <a:r>
              <a:rPr lang="vi-VN" sz="2800" dirty="0">
                <a:solidFill>
                  <a:srgbClr val="0066FF"/>
                </a:solidFill>
              </a:rPr>
              <a:t> </a:t>
            </a:r>
            <a:r>
              <a:rPr lang="vi-VN" sz="2800" dirty="0" err="1">
                <a:solidFill>
                  <a:srgbClr val="0066FF"/>
                </a:solidFill>
              </a:rPr>
              <a:t>tạo</a:t>
            </a:r>
            <a:r>
              <a:rPr lang="vi-VN" sz="2800" dirty="0">
                <a:solidFill>
                  <a:srgbClr val="0066FF"/>
                </a:solidFill>
              </a:rPr>
              <a:t> 2 </a:t>
            </a:r>
            <a:r>
              <a:rPr lang="vi-VN" sz="2800" dirty="0" err="1">
                <a:solidFill>
                  <a:srgbClr val="0066FF"/>
                </a:solidFill>
              </a:rPr>
              <a:t>vùng</a:t>
            </a:r>
            <a:r>
              <a:rPr lang="vi-VN" sz="2800" dirty="0">
                <a:solidFill>
                  <a:srgbClr val="0066FF"/>
                </a:solidFill>
              </a:rPr>
              <a:t> phân chia </a:t>
            </a:r>
            <a:r>
              <a:rPr lang="vi-VN" sz="2800" dirty="0" err="1">
                <a:solidFill>
                  <a:srgbClr val="0066FF"/>
                </a:solidFill>
              </a:rPr>
              <a:t>mà</a:t>
            </a:r>
            <a:r>
              <a:rPr lang="vi-VN" sz="2800" dirty="0">
                <a:solidFill>
                  <a:srgbClr val="0066FF"/>
                </a:solidFill>
              </a:rPr>
              <a:t> mô </a:t>
            </a:r>
            <a:r>
              <a:rPr lang="vi-VN" sz="2800" dirty="0" err="1">
                <a:solidFill>
                  <a:srgbClr val="0066FF"/>
                </a:solidFill>
              </a:rPr>
              <a:t>hình</a:t>
            </a:r>
            <a:r>
              <a:rPr lang="vi-VN" sz="2800" dirty="0">
                <a:solidFill>
                  <a:srgbClr val="0066FF"/>
                </a:solidFill>
              </a:rPr>
              <a:t> </a:t>
            </a:r>
            <a:r>
              <a:rPr lang="vi-VN" sz="2800" dirty="0" err="1">
                <a:solidFill>
                  <a:srgbClr val="0066FF"/>
                </a:solidFill>
              </a:rPr>
              <a:t>đạt</a:t>
            </a:r>
            <a:r>
              <a:rPr lang="vi-VN" sz="2800" dirty="0">
                <a:solidFill>
                  <a:srgbClr val="0066FF"/>
                </a:solidFill>
              </a:rPr>
              <a:t> </a:t>
            </a:r>
            <a:r>
              <a:rPr lang="vi-VN" sz="2800" err="1">
                <a:solidFill>
                  <a:srgbClr val="0066FF"/>
                </a:solidFill>
              </a:rPr>
              <a:t>được</a:t>
            </a:r>
            <a:r>
              <a:rPr lang="vi-VN" sz="2800">
                <a:solidFill>
                  <a:srgbClr val="0066FF"/>
                </a:solidFill>
              </a:rPr>
              <a:t>.</a:t>
            </a:r>
            <a:endParaRPr lang="en-US" sz="2800">
              <a:solidFill>
                <a:srgbClr val="0066FF"/>
              </a:solidFill>
            </a:endParaRPr>
          </a:p>
          <a:p>
            <a:pPr algn="just"/>
            <a:endParaRPr lang="vi-VN" dirty="0">
              <a:solidFill>
                <a:srgbClr val="0000FF"/>
              </a:solidFill>
              <a:latin typeface="Consolas" panose="020B0609020204030204" pitchFamily="49" charset="0"/>
            </a:endParaRPr>
          </a:p>
          <a:p>
            <a:pPr marL="457200" indent="-457200">
              <a:buFont typeface="+mj-lt"/>
              <a:buAutoNum type="arabicPeriod" startAt="26"/>
            </a:pPr>
            <a:r>
              <a:rPr lang="es-ES" sz="2400" dirty="0" err="1">
                <a:solidFill>
                  <a:srgbClr val="0000FF"/>
                </a:solidFill>
                <a:latin typeface="Consolas" panose="020B0609020204030204" pitchFamily="49" charset="0"/>
              </a:rPr>
              <a:t>def</a:t>
            </a:r>
            <a:r>
              <a:rPr lang="es-ES" sz="2400" dirty="0">
                <a:solidFill>
                  <a:srgbClr val="000000"/>
                </a:solidFill>
                <a:latin typeface="Consolas" panose="020B0609020204030204" pitchFamily="49" charset="0"/>
              </a:rPr>
              <a:t> </a:t>
            </a:r>
            <a:r>
              <a:rPr lang="es-ES" sz="2400" dirty="0" err="1">
                <a:solidFill>
                  <a:srgbClr val="795E26"/>
                </a:solidFill>
                <a:latin typeface="Consolas" panose="020B0609020204030204" pitchFamily="49" charset="0"/>
              </a:rPr>
              <a:t>VisualizingResult</a:t>
            </a:r>
            <a:r>
              <a:rPr lang="es-ES" sz="2400" dirty="0">
                <a:solidFill>
                  <a:srgbClr val="000000"/>
                </a:solidFill>
                <a:latin typeface="Consolas" panose="020B0609020204030204" pitchFamily="49" charset="0"/>
              </a:rPr>
              <a:t>(</a:t>
            </a:r>
            <a:r>
              <a:rPr lang="es-ES" sz="2400" dirty="0" err="1">
                <a:solidFill>
                  <a:srgbClr val="001080"/>
                </a:solidFill>
                <a:latin typeface="Consolas" panose="020B0609020204030204" pitchFamily="49" charset="0"/>
              </a:rPr>
              <a:t>model</a:t>
            </a:r>
            <a:r>
              <a:rPr lang="es-ES" sz="2400" dirty="0">
                <a:solidFill>
                  <a:srgbClr val="000000"/>
                </a:solidFill>
                <a:latin typeface="Consolas" panose="020B0609020204030204" pitchFamily="49" charset="0"/>
              </a:rPr>
              <a:t>, </a:t>
            </a:r>
            <a:r>
              <a:rPr lang="es-ES" sz="2400" dirty="0">
                <a:solidFill>
                  <a:srgbClr val="001080"/>
                </a:solidFill>
                <a:latin typeface="Consolas" panose="020B0609020204030204" pitchFamily="49" charset="0"/>
              </a:rPr>
              <a:t>X_</a:t>
            </a:r>
            <a:r>
              <a:rPr lang="es-ES" sz="2400" dirty="0">
                <a:solidFill>
                  <a:srgbClr val="000000"/>
                </a:solidFill>
                <a:latin typeface="Consolas" panose="020B0609020204030204" pitchFamily="49" charset="0"/>
              </a:rPr>
              <a:t>):</a:t>
            </a:r>
            <a:endParaRPr lang="vi-VN" sz="2400" dirty="0">
              <a:solidFill>
                <a:srgbClr val="000000"/>
              </a:solidFill>
              <a:latin typeface="Consolas" panose="020B0609020204030204" pitchFamily="49" charset="0"/>
            </a:endParaRPr>
          </a:p>
          <a:p>
            <a:pPr marL="457200" indent="-457200">
              <a:buFont typeface="+mj-lt"/>
              <a:buAutoNum type="arabicPeriod" startAt="31"/>
            </a:pPr>
            <a:r>
              <a:rPr lang="vi-VN" sz="2400" dirty="0">
                <a:solidFill>
                  <a:srgbClr val="000000"/>
                </a:solidFill>
                <a:latin typeface="Consolas" panose="020B0609020204030204" pitchFamily="49" charset="0"/>
              </a:rPr>
              <a:t>    ...</a:t>
            </a:r>
          </a:p>
          <a:p>
            <a:pPr marL="457200" indent="-457200">
              <a:buFont typeface="+mj-lt"/>
              <a:buAutoNum type="arabicPeriod" startAt="32"/>
            </a:pPr>
            <a:r>
              <a:rPr lang="vi-VN" sz="2400" dirty="0">
                <a:solidFill>
                  <a:srgbClr val="000000"/>
                </a:solidFill>
                <a:latin typeface="Consolas" panose="020B0609020204030204" pitchFamily="49" charset="0"/>
              </a:rPr>
              <a:t>    </a:t>
            </a:r>
            <a:r>
              <a:rPr lang="vi-VN" sz="2400" dirty="0" err="1">
                <a:solidFill>
                  <a:srgbClr val="000000"/>
                </a:solidFill>
                <a:latin typeface="Consolas" panose="020B0609020204030204" pitchFamily="49" charset="0"/>
              </a:rPr>
              <a:t>X_grid</a:t>
            </a:r>
            <a:r>
              <a:rPr lang="vi-VN" sz="2400" dirty="0">
                <a:solidFill>
                  <a:srgbClr val="000000"/>
                </a:solidFill>
                <a:latin typeface="Consolas" panose="020B0609020204030204" pitchFamily="49" charset="0"/>
              </a:rPr>
              <a:t>= </a:t>
            </a:r>
            <a:r>
              <a:rPr lang="vi-VN" sz="2400" dirty="0" err="1">
                <a:solidFill>
                  <a:srgbClr val="000000"/>
                </a:solidFill>
                <a:latin typeface="Consolas" panose="020B0609020204030204" pitchFamily="49" charset="0"/>
              </a:rPr>
              <a:t>np.array</a:t>
            </a:r>
            <a:r>
              <a:rPr lang="vi-VN" sz="2400" dirty="0">
                <a:solidFill>
                  <a:srgbClr val="000000"/>
                </a:solidFill>
                <a:latin typeface="Consolas" panose="020B0609020204030204" pitchFamily="49" charset="0"/>
              </a:rPr>
              <a:t>([X1_matrix.ravel(), X2_matrix.ravel()]).T</a:t>
            </a:r>
          </a:p>
          <a:p>
            <a:pPr marL="457200" indent="-457200">
              <a:buFont typeface="+mj-lt"/>
              <a:buAutoNum type="arabicPeriod" startAt="32"/>
            </a:pPr>
            <a:r>
              <a:rPr lang="vi-VN" sz="2400" dirty="0">
                <a:solidFill>
                  <a:srgbClr val="000000"/>
                </a:solidFill>
                <a:latin typeface="Consolas" panose="020B0609020204030204" pitchFamily="49" charset="0"/>
              </a:rPr>
              <a:t>    </a:t>
            </a:r>
            <a:r>
              <a:rPr lang="vi-VN" sz="2400" dirty="0" err="1">
                <a:solidFill>
                  <a:srgbClr val="000000"/>
                </a:solidFill>
                <a:latin typeface="Consolas" panose="020B0609020204030204" pitchFamily="49" charset="0"/>
              </a:rPr>
              <a:t>y_grid</a:t>
            </a:r>
            <a:r>
              <a:rPr lang="vi-VN" sz="2400" dirty="0">
                <a:solidFill>
                  <a:srgbClr val="000000"/>
                </a:solidFill>
                <a:latin typeface="Consolas" panose="020B0609020204030204" pitchFamily="49" charset="0"/>
              </a:rPr>
              <a:t>= </a:t>
            </a:r>
            <a:r>
              <a:rPr lang="vi-VN" sz="2400" dirty="0" err="1">
                <a:solidFill>
                  <a:srgbClr val="000000"/>
                </a:solidFill>
                <a:latin typeface="Consolas" panose="020B0609020204030204" pitchFamily="49" charset="0"/>
              </a:rPr>
              <a:t>model.predict</a:t>
            </a:r>
            <a:r>
              <a:rPr lang="vi-VN" sz="2400" dirty="0">
                <a:solidFill>
                  <a:srgbClr val="000000"/>
                </a:solidFill>
                <a:latin typeface="Consolas" panose="020B0609020204030204" pitchFamily="49" charset="0"/>
              </a:rPr>
              <a:t>(</a:t>
            </a:r>
            <a:r>
              <a:rPr lang="vi-VN" sz="2400" dirty="0" err="1">
                <a:solidFill>
                  <a:srgbClr val="000000"/>
                </a:solidFill>
                <a:latin typeface="Consolas" panose="020B0609020204030204" pitchFamily="49" charset="0"/>
              </a:rPr>
              <a:t>X_grid</a:t>
            </a:r>
            <a:r>
              <a:rPr lang="vi-VN" sz="2400" dirty="0">
                <a:solidFill>
                  <a:srgbClr val="000000"/>
                </a:solidFill>
                <a:latin typeface="Consolas" panose="020B0609020204030204" pitchFamily="49" charset="0"/>
              </a:rPr>
              <a:t>).</a:t>
            </a:r>
            <a:r>
              <a:rPr lang="vi-VN" sz="2400" dirty="0" err="1">
                <a:solidFill>
                  <a:srgbClr val="000000"/>
                </a:solidFill>
                <a:latin typeface="Consolas" panose="020B0609020204030204" pitchFamily="49" charset="0"/>
              </a:rPr>
              <a:t>reshape</a:t>
            </a:r>
            <a:r>
              <a:rPr lang="vi-VN" sz="2400" dirty="0">
                <a:solidFill>
                  <a:srgbClr val="000000"/>
                </a:solidFill>
                <a:latin typeface="Consolas" panose="020B0609020204030204" pitchFamily="49" charset="0"/>
              </a:rPr>
              <a:t>(X1_matrix.shape)</a:t>
            </a:r>
          </a:p>
          <a:p>
            <a:pPr marL="457200" indent="-457200">
              <a:buFont typeface="+mj-lt"/>
              <a:buAutoNum type="arabicPeriod" startAt="34"/>
            </a:pPr>
            <a:r>
              <a:rPr lang="vi-VN" sz="2400" dirty="0">
                <a:solidFill>
                  <a:srgbClr val="000000"/>
                </a:solidFill>
                <a:latin typeface="Consolas" panose="020B0609020204030204" pitchFamily="49" charset="0"/>
              </a:rPr>
              <a:t>    </a:t>
            </a:r>
            <a:r>
              <a:rPr lang="vi-VN" sz="2400" dirty="0" err="1">
                <a:solidFill>
                  <a:srgbClr val="000000"/>
                </a:solidFill>
                <a:highlight>
                  <a:srgbClr val="FFFF00"/>
                </a:highlight>
                <a:latin typeface="Consolas" panose="020B0609020204030204" pitchFamily="49" charset="0"/>
              </a:rPr>
              <a:t>plt.contourf</a:t>
            </a:r>
            <a:r>
              <a:rPr lang="vi-VN" sz="2400" dirty="0">
                <a:solidFill>
                  <a:srgbClr val="000000"/>
                </a:solidFill>
                <a:latin typeface="Consolas" panose="020B0609020204030204" pitchFamily="49" charset="0"/>
              </a:rPr>
              <a:t>(X1_matrix, X2_matrix, </a:t>
            </a:r>
            <a:r>
              <a:rPr lang="vi-VN" sz="2400" dirty="0" err="1">
                <a:solidFill>
                  <a:srgbClr val="000000"/>
                </a:solidFill>
                <a:latin typeface="Consolas" panose="020B0609020204030204" pitchFamily="49" charset="0"/>
              </a:rPr>
              <a:t>y_grid</a:t>
            </a:r>
            <a:r>
              <a:rPr lang="vi-VN" sz="2400" dirty="0">
                <a:solidFill>
                  <a:srgbClr val="000000"/>
                </a:solidFill>
                <a:latin typeface="Consolas" panose="020B0609020204030204" pitchFamily="49" charset="0"/>
              </a:rPr>
              <a:t>, </a:t>
            </a:r>
            <a:r>
              <a:rPr lang="vi-VN" sz="2400" dirty="0" err="1">
                <a:solidFill>
                  <a:srgbClr val="001080"/>
                </a:solidFill>
                <a:latin typeface="Consolas" panose="020B0609020204030204" pitchFamily="49" charset="0"/>
              </a:rPr>
              <a:t>alpha</a:t>
            </a:r>
            <a:r>
              <a:rPr lang="vi-VN" sz="2400" dirty="0">
                <a:solidFill>
                  <a:srgbClr val="000000"/>
                </a:solidFill>
                <a:latin typeface="Consolas" panose="020B0609020204030204" pitchFamily="49" charset="0"/>
              </a:rPr>
              <a:t> = </a:t>
            </a:r>
            <a:r>
              <a:rPr lang="vi-VN" sz="2400" dirty="0">
                <a:solidFill>
                  <a:srgbClr val="09885A"/>
                </a:solidFill>
                <a:latin typeface="Consolas" panose="020B0609020204030204" pitchFamily="49" charset="0"/>
              </a:rPr>
              <a:t>0.5</a:t>
            </a:r>
            <a:r>
              <a:rPr lang="vi-VN" sz="2400" dirty="0">
                <a:solidFill>
                  <a:srgbClr val="000000"/>
                </a:solidFill>
                <a:latin typeface="Consolas" panose="020B0609020204030204" pitchFamily="49" charset="0"/>
              </a:rPr>
              <a:t>,   </a:t>
            </a:r>
            <a:r>
              <a:rPr lang="vi-VN" sz="2400" dirty="0" err="1">
                <a:solidFill>
                  <a:srgbClr val="001080"/>
                </a:solidFill>
                <a:latin typeface="Consolas" panose="020B0609020204030204" pitchFamily="49" charset="0"/>
              </a:rPr>
              <a:t>cmap</a:t>
            </a:r>
            <a:r>
              <a:rPr lang="vi-VN" sz="2400" dirty="0">
                <a:solidFill>
                  <a:srgbClr val="000000"/>
                </a:solidFill>
                <a:latin typeface="Consolas" panose="020B0609020204030204" pitchFamily="49" charset="0"/>
              </a:rPr>
              <a:t> = </a:t>
            </a:r>
            <a:r>
              <a:rPr lang="vi-VN" sz="2400" dirty="0" err="1">
                <a:solidFill>
                  <a:srgbClr val="000000"/>
                </a:solidFill>
                <a:latin typeface="Consolas" panose="020B0609020204030204" pitchFamily="49" charset="0"/>
              </a:rPr>
              <a:t>ListedColormap</a:t>
            </a:r>
            <a:r>
              <a:rPr lang="vi-VN" sz="2400" dirty="0">
                <a:solidFill>
                  <a:srgbClr val="000000"/>
                </a:solidFill>
                <a:latin typeface="Consolas" panose="020B0609020204030204" pitchFamily="49" charset="0"/>
              </a:rPr>
              <a:t>((</a:t>
            </a:r>
            <a:r>
              <a:rPr lang="vi-VN" sz="2400" dirty="0">
                <a:solidFill>
                  <a:srgbClr val="A31515"/>
                </a:solidFill>
                <a:latin typeface="Consolas" panose="020B0609020204030204" pitchFamily="49" charset="0"/>
              </a:rPr>
              <a:t>"</a:t>
            </a:r>
            <a:r>
              <a:rPr lang="vi-VN" sz="2400" dirty="0" err="1">
                <a:solidFill>
                  <a:srgbClr val="A31515"/>
                </a:solidFill>
                <a:latin typeface="Consolas" panose="020B0609020204030204" pitchFamily="49" charset="0"/>
              </a:rPr>
              <a:t>red</a:t>
            </a:r>
            <a:r>
              <a:rPr lang="vi-VN" sz="2400" dirty="0">
                <a:solidFill>
                  <a:srgbClr val="A31515"/>
                </a:solidFill>
                <a:latin typeface="Consolas" panose="020B0609020204030204" pitchFamily="49" charset="0"/>
              </a:rPr>
              <a:t>"</a:t>
            </a:r>
            <a:r>
              <a:rPr lang="vi-VN" sz="2400" dirty="0">
                <a:solidFill>
                  <a:srgbClr val="000000"/>
                </a:solidFill>
                <a:latin typeface="Consolas" panose="020B0609020204030204" pitchFamily="49" charset="0"/>
              </a:rPr>
              <a:t>, </a:t>
            </a:r>
            <a:r>
              <a:rPr lang="vi-VN" sz="2400" dirty="0">
                <a:solidFill>
                  <a:srgbClr val="A31515"/>
                </a:solidFill>
                <a:latin typeface="Consolas" panose="020B0609020204030204" pitchFamily="49" charset="0"/>
              </a:rPr>
              <a:t>"</a:t>
            </a:r>
            <a:r>
              <a:rPr lang="vi-VN" sz="2400" dirty="0" err="1">
                <a:solidFill>
                  <a:srgbClr val="A31515"/>
                </a:solidFill>
                <a:latin typeface="Consolas" panose="020B0609020204030204" pitchFamily="49" charset="0"/>
              </a:rPr>
              <a:t>green</a:t>
            </a:r>
            <a:r>
              <a:rPr lang="vi-VN" sz="2400" dirty="0">
                <a:solidFill>
                  <a:srgbClr val="A31515"/>
                </a:solidFill>
                <a:latin typeface="Consolas" panose="020B0609020204030204" pitchFamily="49" charset="0"/>
              </a:rPr>
              <a:t>"</a:t>
            </a:r>
            <a:r>
              <a:rPr lang="vi-VN" sz="2400" dirty="0">
                <a:solidFill>
                  <a:srgbClr val="000000"/>
                </a:solidFill>
                <a:latin typeface="Consolas" panose="020B0609020204030204" pitchFamily="49" charset="0"/>
              </a:rPr>
              <a:t>)))</a:t>
            </a:r>
          </a:p>
          <a:p>
            <a:endParaRPr lang="vi-VN" sz="3200" dirty="0">
              <a:latin typeface="Arial" panose="020B0604020202020204" pitchFamily="34" charset="0"/>
            </a:endParaRPr>
          </a:p>
          <a:p>
            <a:pPr marL="457200" indent="-457200">
              <a:buFont typeface="+mj-lt"/>
              <a:buAutoNum type="arabicPeriod" startAt="32"/>
            </a:pPr>
            <a:endParaRPr lang="vi-VN" dirty="0">
              <a:solidFill>
                <a:srgbClr val="000000"/>
              </a:solidFill>
              <a:highlight>
                <a:srgbClr val="FFFF00"/>
              </a:highlight>
              <a:latin typeface="Consolas" panose="020B0609020204030204" pitchFamily="49" charset="0"/>
            </a:endParaRPr>
          </a:p>
        </p:txBody>
      </p:sp>
    </p:spTree>
    <p:extLst>
      <p:ext uri="{BB962C8B-B14F-4D97-AF65-F5344CB8AC3E}">
        <p14:creationId xmlns:p14="http://schemas.microsoft.com/office/powerpoint/2010/main" val="3316206566"/>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303915-96E8-4D3F-AEBF-7529BD817D88}"/>
              </a:ext>
            </a:extLst>
          </p:cNvPr>
          <p:cNvSpPr>
            <a:spLocks noGrp="1"/>
          </p:cNvSpPr>
          <p:nvPr>
            <p:ph type="title"/>
          </p:nvPr>
        </p:nvSpPr>
        <p:spPr/>
        <p:txBody>
          <a:bodyPr/>
          <a:lstStyle/>
          <a:p>
            <a:r>
              <a:rPr lang="vi-VN" dirty="0" err="1"/>
              <a:t>Trực</a:t>
            </a:r>
            <a:r>
              <a:rPr lang="vi-VN" dirty="0"/>
              <a:t> quan </a:t>
            </a:r>
            <a:r>
              <a:rPr lang="vi-VN" dirty="0" err="1"/>
              <a:t>hóa</a:t>
            </a:r>
            <a:r>
              <a:rPr lang="vi-VN" dirty="0"/>
              <a:t> </a:t>
            </a:r>
            <a:r>
              <a:rPr lang="vi-VN" dirty="0" err="1"/>
              <a:t>kết</a:t>
            </a:r>
            <a:r>
              <a:rPr lang="vi-VN" dirty="0"/>
              <a:t> </a:t>
            </a:r>
            <a:r>
              <a:rPr lang="vi-VN" dirty="0" err="1"/>
              <a:t>quả</a:t>
            </a:r>
            <a:r>
              <a:rPr lang="vi-VN" dirty="0"/>
              <a:t> mô </a:t>
            </a:r>
            <a:r>
              <a:rPr lang="vi-VN" dirty="0" err="1"/>
              <a:t>hình</a:t>
            </a:r>
            <a:endParaRPr lang="vi-VN" dirty="0"/>
          </a:p>
        </p:txBody>
      </p:sp>
      <p:sp>
        <p:nvSpPr>
          <p:cNvPr id="2" name="Content Placeholder 1">
            <a:extLst>
              <a:ext uri="{FF2B5EF4-FFF2-40B4-BE49-F238E27FC236}">
                <a16:creationId xmlns:a16="http://schemas.microsoft.com/office/drawing/2014/main" id="{5D8847BE-064C-4CB5-8E65-33ED27DF2C1C}"/>
              </a:ext>
            </a:extLst>
          </p:cNvPr>
          <p:cNvSpPr>
            <a:spLocks noGrp="1"/>
          </p:cNvSpPr>
          <p:nvPr>
            <p:ph idx="1"/>
          </p:nvPr>
        </p:nvSpPr>
        <p:spPr/>
        <p:txBody>
          <a:bodyPr/>
          <a:lstStyle/>
          <a:p>
            <a:r>
              <a:rPr lang="vi-VN" sz="2800" dirty="0" err="1">
                <a:solidFill>
                  <a:srgbClr val="0066FF"/>
                </a:solidFill>
              </a:rPr>
              <a:t>Trực</a:t>
            </a:r>
            <a:r>
              <a:rPr lang="vi-VN" sz="2800" dirty="0">
                <a:solidFill>
                  <a:srgbClr val="0066FF"/>
                </a:solidFill>
              </a:rPr>
              <a:t> quan </a:t>
            </a:r>
            <a:r>
              <a:rPr lang="vi-VN" sz="2800" dirty="0" err="1">
                <a:solidFill>
                  <a:srgbClr val="0066FF"/>
                </a:solidFill>
              </a:rPr>
              <a:t>hóa</a:t>
            </a:r>
            <a:r>
              <a:rPr lang="vi-VN" sz="2800" dirty="0">
                <a:solidFill>
                  <a:srgbClr val="0066FF"/>
                </a:solidFill>
              </a:rPr>
              <a:t> </a:t>
            </a:r>
            <a:r>
              <a:rPr lang="vi-VN" sz="2800" dirty="0" err="1">
                <a:solidFill>
                  <a:srgbClr val="0066FF"/>
                </a:solidFill>
              </a:rPr>
              <a:t>kết</a:t>
            </a:r>
            <a:r>
              <a:rPr lang="vi-VN" sz="2800" dirty="0">
                <a:solidFill>
                  <a:srgbClr val="0066FF"/>
                </a:solidFill>
              </a:rPr>
              <a:t> </a:t>
            </a:r>
            <a:r>
              <a:rPr lang="vi-VN" sz="2800" dirty="0" err="1">
                <a:solidFill>
                  <a:srgbClr val="0066FF"/>
                </a:solidFill>
              </a:rPr>
              <a:t>quả</a:t>
            </a:r>
            <a:r>
              <a:rPr lang="vi-VN" sz="2800" dirty="0">
                <a:solidFill>
                  <a:srgbClr val="0066FF"/>
                </a:solidFill>
              </a:rPr>
              <a:t> mô </a:t>
            </a:r>
            <a:r>
              <a:rPr lang="vi-VN" sz="2800" dirty="0" err="1">
                <a:solidFill>
                  <a:srgbClr val="0066FF"/>
                </a:solidFill>
              </a:rPr>
              <a:t>hình</a:t>
            </a:r>
            <a:r>
              <a:rPr lang="vi-VN" sz="2800" dirty="0">
                <a:solidFill>
                  <a:srgbClr val="0066FF"/>
                </a:solidFill>
              </a:rPr>
              <a:t>.</a:t>
            </a:r>
          </a:p>
          <a:p>
            <a:endParaRPr lang="en-US" sz="2800" dirty="0">
              <a:solidFill>
                <a:srgbClr val="000000"/>
              </a:solidFill>
              <a:latin typeface="Consolas" panose="020B0609020204030204" pitchFamily="49" charset="0"/>
            </a:endParaRPr>
          </a:p>
          <a:p>
            <a:pPr marL="514350" indent="-514350">
              <a:buFont typeface="+mj-lt"/>
              <a:buAutoNum type="arabicPeriod" startAt="35"/>
            </a:pPr>
            <a:r>
              <a:rPr lang="en-US" dirty="0" err="1">
                <a:solidFill>
                  <a:srgbClr val="000000"/>
                </a:solidFill>
                <a:latin typeface="Consolas" panose="020B0609020204030204" pitchFamily="49" charset="0"/>
              </a:rPr>
              <a:t>VisualizingResult</a:t>
            </a:r>
            <a:r>
              <a:rPr lang="en-US" dirty="0">
                <a:solidFill>
                  <a:srgbClr val="000000"/>
                </a:solidFill>
                <a:latin typeface="Consolas" panose="020B0609020204030204" pitchFamily="49" charset="0"/>
              </a:rPr>
              <a:t>(classifier, </a:t>
            </a:r>
            <a:r>
              <a:rPr lang="en-US" dirty="0" err="1">
                <a:solidFill>
                  <a:srgbClr val="000000"/>
                </a:solidFill>
                <a:latin typeface="Consolas" panose="020B0609020204030204" pitchFamily="49" charset="0"/>
              </a:rPr>
              <a:t>X_train</a:t>
            </a:r>
            <a:r>
              <a:rPr lang="en-US" dirty="0">
                <a:solidFill>
                  <a:srgbClr val="000000"/>
                </a:solidFill>
                <a:latin typeface="Consolas" panose="020B0609020204030204" pitchFamily="49" charset="0"/>
              </a:rPr>
              <a:t>)</a:t>
            </a:r>
          </a:p>
          <a:p>
            <a:pPr marL="514350" indent="-514350">
              <a:buFont typeface="+mj-lt"/>
              <a:buAutoNum type="arabicPeriod" startAt="35"/>
            </a:pPr>
            <a:r>
              <a:rPr lang="vi-VN" dirty="0" err="1">
                <a:solidFill>
                  <a:srgbClr val="000000"/>
                </a:solidFill>
                <a:latin typeface="Consolas" panose="020B0609020204030204" pitchFamily="49" charset="0"/>
              </a:rPr>
              <a:t>plt.show</a:t>
            </a:r>
            <a:r>
              <a:rPr lang="vi-VN"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2987380924"/>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303915-96E8-4D3F-AEBF-7529BD817D88}"/>
              </a:ext>
            </a:extLst>
          </p:cNvPr>
          <p:cNvSpPr>
            <a:spLocks noGrp="1"/>
          </p:cNvSpPr>
          <p:nvPr>
            <p:ph type="title"/>
          </p:nvPr>
        </p:nvSpPr>
        <p:spPr/>
        <p:txBody>
          <a:bodyPr/>
          <a:lstStyle/>
          <a:p>
            <a:r>
              <a:rPr lang="vi-VN" dirty="0" err="1"/>
              <a:t>Trực</a:t>
            </a:r>
            <a:r>
              <a:rPr lang="vi-VN" dirty="0"/>
              <a:t> quan </a:t>
            </a:r>
            <a:r>
              <a:rPr lang="vi-VN" dirty="0" err="1"/>
              <a:t>hóa</a:t>
            </a:r>
            <a:r>
              <a:rPr lang="vi-VN" dirty="0"/>
              <a:t> </a:t>
            </a:r>
            <a:r>
              <a:rPr lang="vi-VN" dirty="0" err="1"/>
              <a:t>kết</a:t>
            </a:r>
            <a:r>
              <a:rPr lang="vi-VN" dirty="0"/>
              <a:t> </a:t>
            </a:r>
            <a:r>
              <a:rPr lang="vi-VN" dirty="0" err="1"/>
              <a:t>quả</a:t>
            </a:r>
            <a:r>
              <a:rPr lang="vi-VN" dirty="0"/>
              <a:t> mô </a:t>
            </a:r>
            <a:r>
              <a:rPr lang="vi-VN" dirty="0" err="1"/>
              <a:t>hình</a:t>
            </a:r>
            <a:endParaRPr lang="vi-VN" dirty="0"/>
          </a:p>
        </p:txBody>
      </p:sp>
      <p:pic>
        <p:nvPicPr>
          <p:cNvPr id="3" name="Content Placeholder 2">
            <a:extLst>
              <a:ext uri="{FF2B5EF4-FFF2-40B4-BE49-F238E27FC236}">
                <a16:creationId xmlns:a16="http://schemas.microsoft.com/office/drawing/2014/main" id="{29007742-A0B6-4685-B112-20392F9E335A}"/>
              </a:ext>
            </a:extLst>
          </p:cNvPr>
          <p:cNvPicPr>
            <a:picLocks noGrp="1" noChangeAspect="1"/>
          </p:cNvPicPr>
          <p:nvPr>
            <p:ph idx="1"/>
          </p:nvPr>
        </p:nvPicPr>
        <p:blipFill>
          <a:blip r:embed="rId2"/>
          <a:stretch>
            <a:fillRect/>
          </a:stretch>
        </p:blipFill>
        <p:spPr>
          <a:xfrm>
            <a:off x="3162300" y="1729581"/>
            <a:ext cx="5867400" cy="4267200"/>
          </a:xfrm>
          <a:prstGeom prst="rect">
            <a:avLst/>
          </a:prstGeom>
        </p:spPr>
      </p:pic>
    </p:spTree>
    <p:extLst>
      <p:ext uri="{BB962C8B-B14F-4D97-AF65-F5344CB8AC3E}">
        <p14:creationId xmlns:p14="http://schemas.microsoft.com/office/powerpoint/2010/main" val="2838549886"/>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303915-96E8-4D3F-AEBF-7529BD817D88}"/>
              </a:ext>
            </a:extLst>
          </p:cNvPr>
          <p:cNvSpPr>
            <a:spLocks noGrp="1"/>
          </p:cNvSpPr>
          <p:nvPr>
            <p:ph type="title"/>
          </p:nvPr>
        </p:nvSpPr>
        <p:spPr/>
        <p:txBody>
          <a:bodyPr/>
          <a:lstStyle/>
          <a:p>
            <a:r>
              <a:rPr lang="vi-VN" dirty="0" err="1"/>
              <a:t>Trực</a:t>
            </a:r>
            <a:r>
              <a:rPr lang="vi-VN" dirty="0"/>
              <a:t> quan </a:t>
            </a:r>
            <a:r>
              <a:rPr lang="vi-VN" dirty="0" err="1"/>
              <a:t>hóa</a:t>
            </a:r>
            <a:r>
              <a:rPr lang="vi-VN" dirty="0"/>
              <a:t> </a:t>
            </a:r>
            <a:r>
              <a:rPr lang="vi-VN" dirty="0" err="1"/>
              <a:t>kết</a:t>
            </a:r>
            <a:r>
              <a:rPr lang="vi-VN" dirty="0"/>
              <a:t> </a:t>
            </a:r>
            <a:r>
              <a:rPr lang="vi-VN" dirty="0" err="1"/>
              <a:t>quả</a:t>
            </a:r>
            <a:r>
              <a:rPr lang="vi-VN" dirty="0"/>
              <a:t> mô </a:t>
            </a:r>
            <a:r>
              <a:rPr lang="vi-VN" dirty="0" err="1"/>
              <a:t>hình</a:t>
            </a:r>
            <a:endParaRPr lang="vi-VN" dirty="0"/>
          </a:p>
        </p:txBody>
      </p:sp>
      <p:sp>
        <p:nvSpPr>
          <p:cNvPr id="2" name="Content Placeholder 1">
            <a:extLst>
              <a:ext uri="{FF2B5EF4-FFF2-40B4-BE49-F238E27FC236}">
                <a16:creationId xmlns:a16="http://schemas.microsoft.com/office/drawing/2014/main" id="{AEA321E8-246F-4EAF-A682-01E42CE71019}"/>
              </a:ext>
            </a:extLst>
          </p:cNvPr>
          <p:cNvSpPr>
            <a:spLocks noGrp="1"/>
          </p:cNvSpPr>
          <p:nvPr>
            <p:ph idx="1"/>
          </p:nvPr>
        </p:nvSpPr>
        <p:spPr/>
        <p:txBody>
          <a:bodyPr/>
          <a:lstStyle/>
          <a:p>
            <a:pPr algn="just"/>
            <a:r>
              <a:rPr lang="vi-VN" sz="2800" dirty="0" err="1">
                <a:solidFill>
                  <a:srgbClr val="0066FF"/>
                </a:solidFill>
              </a:rPr>
              <a:t>Hoàn</a:t>
            </a:r>
            <a:r>
              <a:rPr lang="vi-VN" sz="2800" dirty="0">
                <a:solidFill>
                  <a:srgbClr val="0066FF"/>
                </a:solidFill>
              </a:rPr>
              <a:t> </a:t>
            </a:r>
            <a:r>
              <a:rPr lang="vi-VN" sz="2800" dirty="0" err="1">
                <a:solidFill>
                  <a:srgbClr val="0066FF"/>
                </a:solidFill>
              </a:rPr>
              <a:t>thiện</a:t>
            </a:r>
            <a:r>
              <a:rPr lang="vi-VN" sz="2800" dirty="0">
                <a:solidFill>
                  <a:srgbClr val="0066FF"/>
                </a:solidFill>
              </a:rPr>
              <a:t> </a:t>
            </a:r>
            <a:r>
              <a:rPr lang="vi-VN" sz="2800" dirty="0" err="1">
                <a:solidFill>
                  <a:srgbClr val="0066FF"/>
                </a:solidFill>
              </a:rPr>
              <a:t>quá</a:t>
            </a:r>
            <a:r>
              <a:rPr lang="vi-VN" sz="2800" dirty="0">
                <a:solidFill>
                  <a:srgbClr val="0066FF"/>
                </a:solidFill>
              </a:rPr>
              <a:t> </a:t>
            </a:r>
            <a:r>
              <a:rPr lang="vi-VN" sz="2800" dirty="0" err="1">
                <a:solidFill>
                  <a:srgbClr val="0066FF"/>
                </a:solidFill>
              </a:rPr>
              <a:t>trình</a:t>
            </a:r>
            <a:r>
              <a:rPr lang="vi-VN" sz="2800" dirty="0">
                <a:solidFill>
                  <a:srgbClr val="0066FF"/>
                </a:solidFill>
              </a:rPr>
              <a:t> </a:t>
            </a:r>
            <a:r>
              <a:rPr lang="vi-VN" sz="2800" dirty="0" err="1">
                <a:solidFill>
                  <a:srgbClr val="0066FF"/>
                </a:solidFill>
              </a:rPr>
              <a:t>trực</a:t>
            </a:r>
            <a:r>
              <a:rPr lang="vi-VN" sz="2800" dirty="0">
                <a:solidFill>
                  <a:srgbClr val="0066FF"/>
                </a:solidFill>
              </a:rPr>
              <a:t> quan </a:t>
            </a:r>
            <a:r>
              <a:rPr lang="vi-VN" sz="2800" dirty="0" err="1">
                <a:solidFill>
                  <a:srgbClr val="0066FF"/>
                </a:solidFill>
              </a:rPr>
              <a:t>bằng</a:t>
            </a:r>
            <a:r>
              <a:rPr lang="vi-VN" sz="2800" dirty="0">
                <a:solidFill>
                  <a:srgbClr val="0066FF"/>
                </a:solidFill>
              </a:rPr>
              <a:t> </a:t>
            </a:r>
            <a:r>
              <a:rPr lang="vi-VN" sz="2800" dirty="0" err="1">
                <a:solidFill>
                  <a:srgbClr val="0066FF"/>
                </a:solidFill>
              </a:rPr>
              <a:t>cách</a:t>
            </a:r>
            <a:r>
              <a:rPr lang="vi-VN" sz="2800" dirty="0">
                <a:solidFill>
                  <a:srgbClr val="0066FF"/>
                </a:solidFill>
              </a:rPr>
              <a:t> </a:t>
            </a:r>
            <a:r>
              <a:rPr lang="vi-VN" sz="2800" dirty="0" err="1">
                <a:solidFill>
                  <a:srgbClr val="0066FF"/>
                </a:solidFill>
              </a:rPr>
              <a:t>vẽ</a:t>
            </a:r>
            <a:r>
              <a:rPr lang="vi-VN" sz="2800" dirty="0">
                <a:solidFill>
                  <a:srgbClr val="0066FF"/>
                </a:solidFill>
              </a:rPr>
              <a:t> thêm </a:t>
            </a:r>
            <a:r>
              <a:rPr lang="vi-VN" sz="2800" dirty="0" err="1">
                <a:solidFill>
                  <a:srgbClr val="0066FF"/>
                </a:solidFill>
              </a:rPr>
              <a:t>các</a:t>
            </a:r>
            <a:r>
              <a:rPr lang="vi-VN" sz="2800" dirty="0">
                <a:solidFill>
                  <a:srgbClr val="0066FF"/>
                </a:solidFill>
              </a:rPr>
              <a:t> </a:t>
            </a:r>
            <a:r>
              <a:rPr lang="vi-VN" sz="2800" dirty="0" err="1">
                <a:solidFill>
                  <a:srgbClr val="0066FF"/>
                </a:solidFill>
              </a:rPr>
              <a:t>điểm</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a:t>
            </a:r>
            <a:r>
              <a:rPr lang="vi-VN" sz="2800" dirty="0" err="1">
                <a:solidFill>
                  <a:srgbClr val="0066FF"/>
                </a:solidFill>
              </a:rPr>
              <a:t>huấn</a:t>
            </a:r>
            <a:r>
              <a:rPr lang="vi-VN" sz="2800" dirty="0">
                <a:solidFill>
                  <a:srgbClr val="0066FF"/>
                </a:solidFill>
              </a:rPr>
              <a:t> </a:t>
            </a:r>
            <a:r>
              <a:rPr lang="vi-VN" sz="2800" dirty="0" err="1">
                <a:solidFill>
                  <a:srgbClr val="0066FF"/>
                </a:solidFill>
              </a:rPr>
              <a:t>luyện</a:t>
            </a:r>
            <a:r>
              <a:rPr lang="vi-VN" sz="2800" dirty="0">
                <a:solidFill>
                  <a:srgbClr val="0066FF"/>
                </a:solidFill>
              </a:rPr>
              <a:t> lên </a:t>
            </a:r>
            <a:r>
              <a:rPr lang="vi-VN" sz="2800" dirty="0" err="1">
                <a:solidFill>
                  <a:srgbClr val="0066FF"/>
                </a:solidFill>
              </a:rPr>
              <a:t>mặt</a:t>
            </a:r>
            <a:r>
              <a:rPr lang="vi-VN" sz="2800" dirty="0">
                <a:solidFill>
                  <a:srgbClr val="0066FF"/>
                </a:solidFill>
              </a:rPr>
              <a:t> </a:t>
            </a:r>
            <a:r>
              <a:rPr lang="vi-VN" sz="2800" dirty="0" err="1">
                <a:solidFill>
                  <a:srgbClr val="0066FF"/>
                </a:solidFill>
              </a:rPr>
              <a:t>phẳng</a:t>
            </a:r>
            <a:r>
              <a:rPr lang="vi-VN" sz="2800" dirty="0">
                <a:solidFill>
                  <a:srgbClr val="0066FF"/>
                </a:solidFill>
              </a:rPr>
              <a:t> </a:t>
            </a:r>
            <a:r>
              <a:rPr lang="vi-VN" sz="2800" dirty="0" err="1">
                <a:solidFill>
                  <a:srgbClr val="0066FF"/>
                </a:solidFill>
              </a:rPr>
              <a:t>tọa</a:t>
            </a:r>
            <a:r>
              <a:rPr lang="vi-VN" sz="2800" dirty="0">
                <a:solidFill>
                  <a:srgbClr val="0066FF"/>
                </a:solidFill>
              </a:rPr>
              <a:t> </a:t>
            </a:r>
            <a:r>
              <a:rPr lang="vi-VN" sz="2800" dirty="0" err="1">
                <a:solidFill>
                  <a:srgbClr val="0066FF"/>
                </a:solidFill>
              </a:rPr>
              <a:t>độ</a:t>
            </a:r>
            <a:r>
              <a:rPr lang="vi-VN" sz="2800" dirty="0">
                <a:solidFill>
                  <a:srgbClr val="0066FF"/>
                </a:solidFill>
              </a:rPr>
              <a:t>.</a:t>
            </a:r>
          </a:p>
          <a:p>
            <a:pPr algn="just"/>
            <a:endParaRPr lang="vi-VN" sz="2800" dirty="0">
              <a:solidFill>
                <a:srgbClr val="0066FF"/>
              </a:solidFill>
            </a:endParaRPr>
          </a:p>
          <a:p>
            <a:pPr marL="457200" indent="-457200">
              <a:buFont typeface="+mj-lt"/>
              <a:buAutoNum type="arabicPeriod" startAt="37"/>
            </a:pPr>
            <a:r>
              <a:rPr lang="en-US" dirty="0" err="1">
                <a:solidFill>
                  <a:srgbClr val="000000"/>
                </a:solidFill>
                <a:latin typeface="Consolas" panose="020B0609020204030204" pitchFamily="49" charset="0"/>
              </a:rPr>
              <a:t>VisualizingResult</a:t>
            </a:r>
            <a:r>
              <a:rPr lang="en-US" dirty="0">
                <a:solidFill>
                  <a:srgbClr val="000000"/>
                </a:solidFill>
                <a:latin typeface="Consolas" panose="020B0609020204030204" pitchFamily="49" charset="0"/>
              </a:rPr>
              <a:t>(classifier, </a:t>
            </a:r>
            <a:r>
              <a:rPr lang="en-US" dirty="0" err="1">
                <a:solidFill>
                  <a:srgbClr val="000000"/>
                </a:solidFill>
                <a:latin typeface="Consolas" panose="020B0609020204030204" pitchFamily="49" charset="0"/>
              </a:rPr>
              <a:t>X_train</a:t>
            </a:r>
            <a:r>
              <a:rPr lang="en-US" dirty="0">
                <a:solidFill>
                  <a:srgbClr val="000000"/>
                </a:solidFill>
                <a:latin typeface="Consolas" panose="020B0609020204030204" pitchFamily="49" charset="0"/>
              </a:rPr>
              <a:t>)</a:t>
            </a:r>
          </a:p>
          <a:p>
            <a:pPr marL="457200" indent="-457200">
              <a:buFont typeface="+mj-lt"/>
              <a:buAutoNum type="arabicPeriod" startAt="37"/>
            </a:pPr>
            <a:r>
              <a:rPr lang="vi-VN" dirty="0" err="1">
                <a:solidFill>
                  <a:srgbClr val="000000"/>
                </a:solidFill>
                <a:latin typeface="Consolas" panose="020B0609020204030204" pitchFamily="49" charset="0"/>
              </a:rPr>
              <a:t>VisualizingDataset</a:t>
            </a:r>
            <a:r>
              <a:rPr lang="vi-VN" dirty="0">
                <a:solidFill>
                  <a:srgbClr val="000000"/>
                </a:solidFill>
                <a:latin typeface="Consolas" panose="020B0609020204030204" pitchFamily="49" charset="0"/>
              </a:rPr>
              <a:t>(</a:t>
            </a:r>
            <a:r>
              <a:rPr lang="vi-VN" dirty="0" err="1">
                <a:solidFill>
                  <a:srgbClr val="000000"/>
                </a:solidFill>
                <a:latin typeface="Consolas" panose="020B0609020204030204" pitchFamily="49" charset="0"/>
              </a:rPr>
              <a:t>X_train</a:t>
            </a:r>
            <a:r>
              <a:rPr lang="vi-VN" dirty="0">
                <a:solidFill>
                  <a:srgbClr val="000000"/>
                </a:solidFill>
                <a:latin typeface="Consolas" panose="020B0609020204030204" pitchFamily="49" charset="0"/>
              </a:rPr>
              <a:t>, </a:t>
            </a:r>
            <a:r>
              <a:rPr lang="vi-VN" dirty="0" err="1">
                <a:solidFill>
                  <a:srgbClr val="000000"/>
                </a:solidFill>
                <a:latin typeface="Consolas" panose="020B0609020204030204" pitchFamily="49" charset="0"/>
              </a:rPr>
              <a:t>y_train</a:t>
            </a:r>
            <a:r>
              <a:rPr lang="vi-VN" dirty="0">
                <a:solidFill>
                  <a:srgbClr val="000000"/>
                </a:solidFill>
                <a:latin typeface="Consolas" panose="020B0609020204030204" pitchFamily="49" charset="0"/>
              </a:rPr>
              <a:t>)</a:t>
            </a:r>
          </a:p>
          <a:p>
            <a:pPr marL="457200" indent="-457200">
              <a:buFont typeface="+mj-lt"/>
              <a:buAutoNum type="arabicPeriod" startAt="37"/>
            </a:pPr>
            <a:r>
              <a:rPr lang="vi-VN" dirty="0" err="1">
                <a:solidFill>
                  <a:srgbClr val="000000"/>
                </a:solidFill>
                <a:latin typeface="Consolas" panose="020B0609020204030204" pitchFamily="49" charset="0"/>
              </a:rPr>
              <a:t>plt.show</a:t>
            </a:r>
            <a:r>
              <a:rPr lang="vi-VN" dirty="0">
                <a:solidFill>
                  <a:srgbClr val="000000"/>
                </a:solidFill>
                <a:latin typeface="Consolas" panose="020B0609020204030204" pitchFamily="49" charset="0"/>
              </a:rPr>
              <a:t>()</a:t>
            </a:r>
            <a:endParaRPr lang="vi-VN" sz="2800" dirty="0">
              <a:solidFill>
                <a:srgbClr val="0066FF"/>
              </a:solidFill>
            </a:endParaRPr>
          </a:p>
        </p:txBody>
      </p:sp>
    </p:spTree>
    <p:extLst>
      <p:ext uri="{BB962C8B-B14F-4D97-AF65-F5344CB8AC3E}">
        <p14:creationId xmlns:p14="http://schemas.microsoft.com/office/powerpoint/2010/main" val="1538510146"/>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303915-96E8-4D3F-AEBF-7529BD817D88}"/>
              </a:ext>
            </a:extLst>
          </p:cNvPr>
          <p:cNvSpPr>
            <a:spLocks noGrp="1"/>
          </p:cNvSpPr>
          <p:nvPr>
            <p:ph type="title"/>
          </p:nvPr>
        </p:nvSpPr>
        <p:spPr/>
        <p:txBody>
          <a:bodyPr/>
          <a:lstStyle/>
          <a:p>
            <a:r>
              <a:rPr lang="vi-VN" dirty="0" err="1"/>
              <a:t>Trực</a:t>
            </a:r>
            <a:r>
              <a:rPr lang="vi-VN" dirty="0"/>
              <a:t> quan </a:t>
            </a:r>
            <a:r>
              <a:rPr lang="vi-VN" dirty="0" err="1"/>
              <a:t>hóa</a:t>
            </a:r>
            <a:r>
              <a:rPr lang="vi-VN" dirty="0"/>
              <a:t> </a:t>
            </a:r>
            <a:r>
              <a:rPr lang="vi-VN" dirty="0" err="1"/>
              <a:t>kết</a:t>
            </a:r>
            <a:r>
              <a:rPr lang="vi-VN" dirty="0"/>
              <a:t> </a:t>
            </a:r>
            <a:r>
              <a:rPr lang="vi-VN" dirty="0" err="1"/>
              <a:t>quả</a:t>
            </a:r>
            <a:r>
              <a:rPr lang="vi-VN" dirty="0"/>
              <a:t> mô </a:t>
            </a:r>
            <a:r>
              <a:rPr lang="vi-VN" dirty="0" err="1"/>
              <a:t>hình</a:t>
            </a:r>
            <a:endParaRPr lang="vi-VN" dirty="0"/>
          </a:p>
        </p:txBody>
      </p:sp>
      <p:pic>
        <p:nvPicPr>
          <p:cNvPr id="5" name="Content Placeholder 7">
            <a:extLst>
              <a:ext uri="{FF2B5EF4-FFF2-40B4-BE49-F238E27FC236}">
                <a16:creationId xmlns:a16="http://schemas.microsoft.com/office/drawing/2014/main" id="{7E4408FB-B9F7-4F7F-B5D0-BDA159AB8A0F}"/>
              </a:ext>
            </a:extLst>
          </p:cNvPr>
          <p:cNvPicPr>
            <a:picLocks noGrp="1" noChangeAspect="1"/>
          </p:cNvPicPr>
          <p:nvPr>
            <p:ph idx="1"/>
          </p:nvPr>
        </p:nvPicPr>
        <p:blipFill>
          <a:blip r:embed="rId2"/>
          <a:stretch>
            <a:fillRect/>
          </a:stretch>
        </p:blipFill>
        <p:spPr>
          <a:xfrm>
            <a:off x="2590800" y="1295400"/>
            <a:ext cx="6603540" cy="4800600"/>
          </a:xfrm>
          <a:prstGeom prst="rect">
            <a:avLst/>
          </a:prstGeom>
        </p:spPr>
      </p:pic>
    </p:spTree>
    <p:extLst>
      <p:ext uri="{BB962C8B-B14F-4D97-AF65-F5344CB8AC3E}">
        <p14:creationId xmlns:p14="http://schemas.microsoft.com/office/powerpoint/2010/main" val="3881466017"/>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E22CF-F325-4B0D-BB9C-4A5BDD91CA0C}"/>
              </a:ext>
            </a:extLst>
          </p:cNvPr>
          <p:cNvSpPr>
            <a:spLocks noGrp="1"/>
          </p:cNvSpPr>
          <p:nvPr>
            <p:ph type="title"/>
          </p:nvPr>
        </p:nvSpPr>
        <p:spPr/>
        <p:txBody>
          <a:bodyPr/>
          <a:lstStyle/>
          <a:p>
            <a:r>
              <a:rPr lang="vi-VN"/>
              <a:t>Trực quan hóa kết quả mô hình</a:t>
            </a:r>
            <a:endParaRPr lang="vi-VN" dirty="0"/>
          </a:p>
        </p:txBody>
      </p:sp>
      <p:sp>
        <p:nvSpPr>
          <p:cNvPr id="4" name="Content Placeholder 3">
            <a:extLst>
              <a:ext uri="{FF2B5EF4-FFF2-40B4-BE49-F238E27FC236}">
                <a16:creationId xmlns:a16="http://schemas.microsoft.com/office/drawing/2014/main" id="{21920D58-5361-4A92-8004-3A836CDECB0B}"/>
              </a:ext>
            </a:extLst>
          </p:cNvPr>
          <p:cNvSpPr>
            <a:spLocks noGrp="1"/>
          </p:cNvSpPr>
          <p:nvPr>
            <p:ph sz="half" idx="2"/>
          </p:nvPr>
        </p:nvSpPr>
        <p:spPr/>
        <p:txBody>
          <a:bodyPr/>
          <a:lstStyle/>
          <a:p>
            <a:pPr algn="just"/>
            <a:r>
              <a:rPr lang="vi-VN" dirty="0" err="1">
                <a:solidFill>
                  <a:srgbClr val="0066FF"/>
                </a:solidFill>
              </a:rPr>
              <a:t>Nhận</a:t>
            </a:r>
            <a:r>
              <a:rPr lang="vi-VN" dirty="0">
                <a:solidFill>
                  <a:srgbClr val="0066FF"/>
                </a:solidFill>
              </a:rPr>
              <a:t> </a:t>
            </a:r>
            <a:r>
              <a:rPr lang="vi-VN" dirty="0" err="1">
                <a:solidFill>
                  <a:srgbClr val="0066FF"/>
                </a:solidFill>
              </a:rPr>
              <a:t>xét</a:t>
            </a:r>
            <a:r>
              <a:rPr lang="vi-VN" dirty="0">
                <a:solidFill>
                  <a:srgbClr val="0066FF"/>
                </a:solidFill>
              </a:rPr>
              <a:t>:</a:t>
            </a:r>
          </a:p>
          <a:p>
            <a:pPr lvl="1" algn="just"/>
            <a:r>
              <a:rPr lang="vi-VN" sz="2800" dirty="0">
                <a:solidFill>
                  <a:srgbClr val="FF0000"/>
                </a:solidFill>
              </a:rPr>
              <a:t>Mô </a:t>
            </a:r>
            <a:r>
              <a:rPr lang="vi-VN" sz="2800" dirty="0" err="1">
                <a:solidFill>
                  <a:srgbClr val="FF0000"/>
                </a:solidFill>
              </a:rPr>
              <a:t>hình</a:t>
            </a:r>
            <a:r>
              <a:rPr lang="vi-VN" sz="2800" dirty="0">
                <a:solidFill>
                  <a:srgbClr val="FF0000"/>
                </a:solidFill>
              </a:rPr>
              <a:t> </a:t>
            </a:r>
            <a:r>
              <a:rPr lang="vi-VN" sz="2800" dirty="0" err="1">
                <a:solidFill>
                  <a:srgbClr val="FF0000"/>
                </a:solidFill>
              </a:rPr>
              <a:t>có</a:t>
            </a:r>
            <a:r>
              <a:rPr lang="vi-VN" sz="2800" dirty="0">
                <a:solidFill>
                  <a:srgbClr val="FF0000"/>
                </a:solidFill>
              </a:rPr>
              <a:t> </a:t>
            </a:r>
            <a:r>
              <a:rPr lang="vi-VN" sz="2800" dirty="0" err="1">
                <a:solidFill>
                  <a:srgbClr val="FF0000"/>
                </a:solidFill>
              </a:rPr>
              <a:t>độ</a:t>
            </a:r>
            <a:r>
              <a:rPr lang="vi-VN" sz="2800" dirty="0">
                <a:solidFill>
                  <a:srgbClr val="FF0000"/>
                </a:solidFill>
              </a:rPr>
              <a:t> </a:t>
            </a:r>
            <a:r>
              <a:rPr lang="vi-VN" sz="2800" dirty="0" err="1">
                <a:solidFill>
                  <a:srgbClr val="FF0000"/>
                </a:solidFill>
              </a:rPr>
              <a:t>chính</a:t>
            </a:r>
            <a:r>
              <a:rPr lang="vi-VN" sz="2800" dirty="0">
                <a:solidFill>
                  <a:srgbClr val="FF0000"/>
                </a:solidFill>
              </a:rPr>
              <a:t> </a:t>
            </a:r>
            <a:r>
              <a:rPr lang="vi-VN" sz="2800" dirty="0" err="1">
                <a:solidFill>
                  <a:srgbClr val="FF0000"/>
                </a:solidFill>
              </a:rPr>
              <a:t>xác</a:t>
            </a:r>
            <a:r>
              <a:rPr lang="vi-VN" sz="2800" dirty="0">
                <a:solidFill>
                  <a:srgbClr val="FF0000"/>
                </a:solidFill>
              </a:rPr>
              <a:t> </a:t>
            </a:r>
            <a:r>
              <a:rPr lang="vi-VN" sz="2800" dirty="0" err="1">
                <a:solidFill>
                  <a:srgbClr val="FF0000"/>
                </a:solidFill>
              </a:rPr>
              <a:t>chấp</a:t>
            </a:r>
            <a:r>
              <a:rPr lang="vi-VN" sz="2800" dirty="0">
                <a:solidFill>
                  <a:srgbClr val="FF0000"/>
                </a:solidFill>
              </a:rPr>
              <a:t> </a:t>
            </a:r>
            <a:r>
              <a:rPr lang="vi-VN" sz="2800" dirty="0" err="1">
                <a:solidFill>
                  <a:srgbClr val="FF0000"/>
                </a:solidFill>
              </a:rPr>
              <a:t>nhận</a:t>
            </a:r>
            <a:r>
              <a:rPr lang="vi-VN" sz="2800" dirty="0">
                <a:solidFill>
                  <a:srgbClr val="FF0000"/>
                </a:solidFill>
              </a:rPr>
              <a:t> </a:t>
            </a:r>
            <a:r>
              <a:rPr lang="vi-VN" sz="2800" dirty="0" err="1">
                <a:solidFill>
                  <a:srgbClr val="FF0000"/>
                </a:solidFill>
              </a:rPr>
              <a:t>được</a:t>
            </a:r>
            <a:r>
              <a:rPr lang="vi-VN" sz="2800" dirty="0">
                <a:solidFill>
                  <a:srgbClr val="FF0000"/>
                </a:solidFill>
              </a:rPr>
              <a:t>, </a:t>
            </a:r>
            <a:r>
              <a:rPr lang="vi-VN" sz="2800" dirty="0" err="1">
                <a:solidFill>
                  <a:srgbClr val="FF0000"/>
                </a:solidFill>
              </a:rPr>
              <a:t>vẫn</a:t>
            </a:r>
            <a:r>
              <a:rPr lang="vi-VN" sz="2800" dirty="0">
                <a:solidFill>
                  <a:srgbClr val="FF0000"/>
                </a:solidFill>
              </a:rPr>
              <a:t> </a:t>
            </a:r>
            <a:r>
              <a:rPr lang="vi-VN" sz="2800" dirty="0" err="1">
                <a:solidFill>
                  <a:srgbClr val="FF0000"/>
                </a:solidFill>
              </a:rPr>
              <a:t>có</a:t>
            </a:r>
            <a:r>
              <a:rPr lang="vi-VN" sz="2800" dirty="0">
                <a:solidFill>
                  <a:srgbClr val="FF0000"/>
                </a:solidFill>
              </a:rPr>
              <a:t> </a:t>
            </a:r>
            <a:r>
              <a:rPr lang="vi-VN" sz="2800" dirty="0" err="1">
                <a:solidFill>
                  <a:srgbClr val="FF0000"/>
                </a:solidFill>
              </a:rPr>
              <a:t>nhiều</a:t>
            </a:r>
            <a:r>
              <a:rPr lang="vi-VN" sz="2800" dirty="0">
                <a:solidFill>
                  <a:srgbClr val="FF0000"/>
                </a:solidFill>
              </a:rPr>
              <a:t> </a:t>
            </a:r>
            <a:r>
              <a:rPr lang="vi-VN" sz="2800" dirty="0" err="1">
                <a:solidFill>
                  <a:srgbClr val="FF0000"/>
                </a:solidFill>
              </a:rPr>
              <a:t>điểm</a:t>
            </a:r>
            <a:r>
              <a:rPr lang="vi-VN" sz="2800" dirty="0">
                <a:solidFill>
                  <a:srgbClr val="FF0000"/>
                </a:solidFill>
              </a:rPr>
              <a:t> phân chia </a:t>
            </a:r>
            <a:r>
              <a:rPr lang="vi-VN" sz="2800" dirty="0" err="1">
                <a:solidFill>
                  <a:srgbClr val="FF0000"/>
                </a:solidFill>
              </a:rPr>
              <a:t>nhầm</a:t>
            </a:r>
            <a:r>
              <a:rPr lang="vi-VN" sz="2800" dirty="0">
                <a:solidFill>
                  <a:srgbClr val="FF0000"/>
                </a:solidFill>
              </a:rPr>
              <a:t>.</a:t>
            </a:r>
          </a:p>
          <a:p>
            <a:pPr lvl="1" algn="just"/>
            <a:r>
              <a:rPr lang="vi-VN" sz="2800" dirty="0">
                <a:solidFill>
                  <a:srgbClr val="0066FF"/>
                </a:solidFill>
              </a:rPr>
              <a:t>Mô </a:t>
            </a:r>
            <a:r>
              <a:rPr lang="vi-VN" sz="2800" dirty="0" err="1">
                <a:solidFill>
                  <a:srgbClr val="0066FF"/>
                </a:solidFill>
              </a:rPr>
              <a:t>hình</a:t>
            </a:r>
            <a:r>
              <a:rPr lang="vi-VN" sz="2800" dirty="0">
                <a:solidFill>
                  <a:srgbClr val="0066FF"/>
                </a:solidFill>
              </a:rPr>
              <a:t> phân chia theo </a:t>
            </a:r>
            <a:r>
              <a:rPr lang="vi-VN" sz="2800" dirty="0" err="1">
                <a:solidFill>
                  <a:srgbClr val="0066FF"/>
                </a:solidFill>
              </a:rPr>
              <a:t>một</a:t>
            </a:r>
            <a:r>
              <a:rPr lang="vi-VN" sz="2800" dirty="0">
                <a:solidFill>
                  <a:srgbClr val="0066FF"/>
                </a:solidFill>
              </a:rPr>
              <a:t> </a:t>
            </a:r>
            <a:r>
              <a:rPr lang="vi-VN" sz="2800" dirty="0" err="1">
                <a:solidFill>
                  <a:srgbClr val="0066FF"/>
                </a:solidFill>
              </a:rPr>
              <a:t>đường</a:t>
            </a:r>
            <a:r>
              <a:rPr lang="vi-VN" sz="2800" dirty="0">
                <a:solidFill>
                  <a:srgbClr val="0066FF"/>
                </a:solidFill>
              </a:rPr>
              <a:t> </a:t>
            </a:r>
            <a:r>
              <a:rPr lang="vi-VN" sz="2800" dirty="0" err="1">
                <a:solidFill>
                  <a:srgbClr val="0066FF"/>
                </a:solidFill>
              </a:rPr>
              <a:t>thẳng</a:t>
            </a:r>
            <a:r>
              <a:rPr lang="vi-VN" sz="2800" dirty="0">
                <a:solidFill>
                  <a:srgbClr val="0066FF"/>
                </a:solidFill>
              </a:rPr>
              <a:t>, </a:t>
            </a:r>
            <a:r>
              <a:rPr lang="vi-VN" sz="2800" dirty="0" err="1">
                <a:solidFill>
                  <a:srgbClr val="0066FF"/>
                </a:solidFill>
              </a:rPr>
              <a:t>vì</a:t>
            </a:r>
            <a:r>
              <a:rPr lang="vi-VN" sz="2800" dirty="0">
                <a:solidFill>
                  <a:srgbClr val="0066FF"/>
                </a:solidFill>
              </a:rPr>
              <a:t> SVM </a:t>
            </a:r>
            <a:r>
              <a:rPr lang="vi-VN" sz="2800" dirty="0" err="1">
                <a:solidFill>
                  <a:srgbClr val="0066FF"/>
                </a:solidFill>
              </a:rPr>
              <a:t>là</a:t>
            </a:r>
            <a:r>
              <a:rPr lang="vi-VN" sz="2800" dirty="0">
                <a:solidFill>
                  <a:srgbClr val="0066FF"/>
                </a:solidFill>
              </a:rPr>
              <a:t> </a:t>
            </a:r>
            <a:r>
              <a:rPr lang="vi-VN" sz="2800" dirty="0" err="1">
                <a:solidFill>
                  <a:srgbClr val="0066FF"/>
                </a:solidFill>
              </a:rPr>
              <a:t>một</a:t>
            </a:r>
            <a:r>
              <a:rPr lang="vi-VN" sz="2800" dirty="0">
                <a:solidFill>
                  <a:srgbClr val="0066FF"/>
                </a:solidFill>
              </a:rPr>
              <a:t> mô </a:t>
            </a:r>
            <a:r>
              <a:rPr lang="vi-VN" sz="2800" dirty="0" err="1">
                <a:solidFill>
                  <a:srgbClr val="0066FF"/>
                </a:solidFill>
              </a:rPr>
              <a:t>hình</a:t>
            </a:r>
            <a:r>
              <a:rPr lang="vi-VN" sz="2800" dirty="0">
                <a:solidFill>
                  <a:srgbClr val="0066FF"/>
                </a:solidFill>
              </a:rPr>
              <a:t> phân </a:t>
            </a:r>
            <a:r>
              <a:rPr lang="vi-VN" sz="2800" dirty="0" err="1">
                <a:solidFill>
                  <a:srgbClr val="0066FF"/>
                </a:solidFill>
              </a:rPr>
              <a:t>loại</a:t>
            </a:r>
            <a:r>
              <a:rPr lang="vi-VN" sz="2800" dirty="0">
                <a:solidFill>
                  <a:srgbClr val="0066FF"/>
                </a:solidFill>
              </a:rPr>
              <a:t> </a:t>
            </a:r>
            <a:r>
              <a:rPr lang="vi-VN" sz="2800" dirty="0" err="1">
                <a:solidFill>
                  <a:srgbClr val="0066FF"/>
                </a:solidFill>
              </a:rPr>
              <a:t>tuyến</a:t>
            </a:r>
            <a:r>
              <a:rPr lang="vi-VN" sz="2800" dirty="0">
                <a:solidFill>
                  <a:srgbClr val="0066FF"/>
                </a:solidFill>
              </a:rPr>
              <a:t> </a:t>
            </a:r>
            <a:r>
              <a:rPr lang="vi-VN" sz="2800" dirty="0" err="1">
                <a:solidFill>
                  <a:srgbClr val="0066FF"/>
                </a:solidFill>
              </a:rPr>
              <a:t>tính</a:t>
            </a:r>
            <a:r>
              <a:rPr lang="vi-VN" sz="2800" dirty="0">
                <a:solidFill>
                  <a:srgbClr val="0066FF"/>
                </a:solidFill>
              </a:rPr>
              <a:t>.</a:t>
            </a:r>
          </a:p>
        </p:txBody>
      </p:sp>
      <p:pic>
        <p:nvPicPr>
          <p:cNvPr id="6" name="Content Placeholder 4">
            <a:extLst>
              <a:ext uri="{FF2B5EF4-FFF2-40B4-BE49-F238E27FC236}">
                <a16:creationId xmlns:a16="http://schemas.microsoft.com/office/drawing/2014/main" id="{DE0B5400-957A-408E-B19F-EB82AAD83BE8}"/>
              </a:ext>
            </a:extLst>
          </p:cNvPr>
          <p:cNvPicPr>
            <a:picLocks noGrp="1" noChangeAspect="1"/>
          </p:cNvPicPr>
          <p:nvPr>
            <p:ph sz="half" idx="1"/>
          </p:nvPr>
        </p:nvPicPr>
        <p:blipFill>
          <a:blip r:embed="rId2"/>
          <a:stretch>
            <a:fillRect/>
          </a:stretch>
        </p:blipFill>
        <p:spPr>
          <a:xfrm>
            <a:off x="228599" y="1493838"/>
            <a:ext cx="6045807" cy="4373562"/>
          </a:xfrm>
          <a:prstGeom prst="rect">
            <a:avLst/>
          </a:prstGeom>
        </p:spPr>
      </p:pic>
    </p:spTree>
    <p:extLst>
      <p:ext uri="{BB962C8B-B14F-4D97-AF65-F5344CB8AC3E}">
        <p14:creationId xmlns:p14="http://schemas.microsoft.com/office/powerpoint/2010/main" val="1575167718"/>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87E84A-3B19-4FF8-969F-5C38D9EFB492}"/>
              </a:ext>
            </a:extLst>
          </p:cNvPr>
          <p:cNvSpPr>
            <a:spLocks noGrp="1"/>
          </p:cNvSpPr>
          <p:nvPr>
            <p:ph type="title"/>
          </p:nvPr>
        </p:nvSpPr>
        <p:spPr/>
        <p:txBody>
          <a:bodyPr/>
          <a:lstStyle/>
          <a:p>
            <a:r>
              <a:rPr lang="vi-VN" dirty="0" err="1"/>
              <a:t>Kiểm</a:t>
            </a:r>
            <a:r>
              <a:rPr lang="vi-VN" dirty="0"/>
              <a:t> tra </a:t>
            </a:r>
            <a:r>
              <a:rPr lang="vi-VN" dirty="0" err="1"/>
              <a:t>kết</a:t>
            </a:r>
            <a:r>
              <a:rPr lang="vi-VN" dirty="0"/>
              <a:t> </a:t>
            </a:r>
            <a:r>
              <a:rPr lang="vi-VN" dirty="0" err="1"/>
              <a:t>quả</a:t>
            </a:r>
            <a:r>
              <a:rPr lang="vi-VN" dirty="0"/>
              <a:t> trên </a:t>
            </a:r>
            <a:r>
              <a:rPr lang="vi-VN" dirty="0" err="1"/>
              <a:t>tập</a:t>
            </a:r>
            <a:r>
              <a:rPr lang="vi-VN" dirty="0"/>
              <a:t> </a:t>
            </a:r>
            <a:r>
              <a:rPr lang="vi-VN" dirty="0" err="1"/>
              <a:t>test</a:t>
            </a:r>
            <a:endParaRPr lang="vi-VN" dirty="0"/>
          </a:p>
        </p:txBody>
      </p:sp>
      <p:sp>
        <p:nvSpPr>
          <p:cNvPr id="5" name="Text Placeholder 4">
            <a:extLst>
              <a:ext uri="{FF2B5EF4-FFF2-40B4-BE49-F238E27FC236}">
                <a16:creationId xmlns:a16="http://schemas.microsoft.com/office/drawing/2014/main" id="{6CB81405-0B4B-4752-8010-5BC101FF1B13}"/>
              </a:ext>
            </a:extLst>
          </p:cNvPr>
          <p:cNvSpPr>
            <a:spLocks noGrp="1"/>
          </p:cNvSpPr>
          <p:nvPr>
            <p:ph type="body" idx="1"/>
          </p:nvPr>
        </p:nvSpPr>
        <p:spPr/>
        <p:txBody>
          <a:bodyPr/>
          <a:lstStyle/>
          <a:p>
            <a:endParaRPr lang="vi-VN"/>
          </a:p>
        </p:txBody>
      </p:sp>
    </p:spTree>
    <p:extLst>
      <p:ext uri="{BB962C8B-B14F-4D97-AF65-F5344CB8AC3E}">
        <p14:creationId xmlns:p14="http://schemas.microsoft.com/office/powerpoint/2010/main" val="43219996"/>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303915-96E8-4D3F-AEBF-7529BD817D88}"/>
              </a:ext>
            </a:extLst>
          </p:cNvPr>
          <p:cNvSpPr>
            <a:spLocks noGrp="1"/>
          </p:cNvSpPr>
          <p:nvPr>
            <p:ph type="title"/>
          </p:nvPr>
        </p:nvSpPr>
        <p:spPr/>
        <p:txBody>
          <a:bodyPr/>
          <a:lstStyle/>
          <a:p>
            <a:r>
              <a:rPr lang="vi-VN" dirty="0" err="1"/>
              <a:t>Kiểm</a:t>
            </a:r>
            <a:r>
              <a:rPr lang="vi-VN" dirty="0"/>
              <a:t> tra </a:t>
            </a:r>
            <a:r>
              <a:rPr lang="vi-VN" dirty="0" err="1"/>
              <a:t>kết</a:t>
            </a:r>
            <a:r>
              <a:rPr lang="vi-VN" dirty="0"/>
              <a:t> </a:t>
            </a:r>
            <a:r>
              <a:rPr lang="vi-VN" dirty="0" err="1"/>
              <a:t>quả</a:t>
            </a:r>
            <a:r>
              <a:rPr lang="vi-VN" dirty="0"/>
              <a:t> trên </a:t>
            </a:r>
            <a:r>
              <a:rPr lang="vi-VN" dirty="0" err="1"/>
              <a:t>tập</a:t>
            </a:r>
            <a:r>
              <a:rPr lang="vi-VN" dirty="0"/>
              <a:t> </a:t>
            </a:r>
            <a:r>
              <a:rPr lang="vi-VN" dirty="0" err="1"/>
              <a:t>test</a:t>
            </a:r>
            <a:endParaRPr lang="vi-VN" dirty="0"/>
          </a:p>
        </p:txBody>
      </p:sp>
      <p:sp>
        <p:nvSpPr>
          <p:cNvPr id="2" name="Content Placeholder 1">
            <a:extLst>
              <a:ext uri="{FF2B5EF4-FFF2-40B4-BE49-F238E27FC236}">
                <a16:creationId xmlns:a16="http://schemas.microsoft.com/office/drawing/2014/main" id="{4E7C6AE8-60A2-49FB-A20C-4375C46A913F}"/>
              </a:ext>
            </a:extLst>
          </p:cNvPr>
          <p:cNvSpPr>
            <a:spLocks noGrp="1"/>
          </p:cNvSpPr>
          <p:nvPr>
            <p:ph idx="1"/>
          </p:nvPr>
        </p:nvSpPr>
        <p:spPr/>
        <p:txBody>
          <a:bodyPr/>
          <a:lstStyle/>
          <a:p>
            <a:pPr algn="just"/>
            <a:r>
              <a:rPr sz="2800">
                <a:solidFill>
                  <a:srgbClr val="0066FF"/>
                </a:solidFill>
              </a:rPr>
              <a:t>Tạo</a:t>
            </a:r>
            <a:r>
              <a:rPr sz="2800">
                <a:solidFill>
                  <a:srgbClr val="0066FF"/>
                </a:solidFill>
              </a:rPr>
              <a:t> </a:t>
            </a:r>
            <a:r>
              <a:rPr sz="2800">
                <a:solidFill>
                  <a:srgbClr val="0066FF"/>
                </a:solidFill>
              </a:rPr>
              <a:t>confusion</a:t>
            </a:r>
            <a:r>
              <a:rPr sz="2800">
                <a:solidFill>
                  <a:srgbClr val="0066FF"/>
                </a:solidFill>
              </a:rPr>
              <a:t> </a:t>
            </a:r>
            <a:r>
              <a:rPr sz="2800">
                <a:solidFill>
                  <a:srgbClr val="0066FF"/>
                </a:solidFill>
              </a:rPr>
              <a:t>matrix</a:t>
            </a:r>
            <a:r>
              <a:rPr sz="2800">
                <a:solidFill>
                  <a:srgbClr val="0066FF"/>
                </a:solidFill>
              </a:rPr>
              <a:t> </a:t>
            </a:r>
            <a:r>
              <a:rPr sz="2800">
                <a:solidFill>
                  <a:srgbClr val="0066FF"/>
                </a:solidFill>
              </a:rPr>
              <a:t>trên </a:t>
            </a:r>
            <a:r>
              <a:rPr sz="2800">
                <a:solidFill>
                  <a:srgbClr val="0066FF"/>
                </a:solidFill>
              </a:rPr>
              <a:t>tập</a:t>
            </a:r>
            <a:r>
              <a:rPr sz="2800">
                <a:solidFill>
                  <a:srgbClr val="0066FF"/>
                </a:solidFill>
              </a:rPr>
              <a:t> </a:t>
            </a:r>
            <a:r>
              <a:rPr sz="2800">
                <a:solidFill>
                  <a:srgbClr val="0066FF"/>
                </a:solidFill>
              </a:rPr>
              <a:t>test</a:t>
            </a:r>
            <a:r>
              <a:rPr sz="2800">
                <a:solidFill>
                  <a:srgbClr val="0066FF"/>
                </a:solidFill>
              </a:rPr>
              <a:t>.</a:t>
            </a:r>
          </a:p>
          <a:p/>
          <a:p>
            <a:r>
              <a:rPr>
                <a:solidFill>
                  <a:srgbClr val="AF00DB"/>
                </a:solidFill>
                <a:latin typeface="Consolas"/>
              </a:rPr>
              <a:t>from</a:t>
            </a:r>
            <a:r>
              <a:rPr>
                <a:solidFill>
                  <a:srgbClr val="000000"/>
                </a:solidFill>
                <a:latin typeface="Consolas"/>
              </a:rPr>
              <a:t> sklearn.metrics </a:t>
            </a:r>
            <a:r>
              <a:rPr>
                <a:solidFill>
                  <a:srgbClr val="AF00DB"/>
                </a:solidFill>
                <a:latin typeface="Consolas"/>
              </a:rPr>
              <a:t>import</a:t>
            </a:r>
            <a:r>
              <a:rPr>
                <a:solidFill>
                  <a:srgbClr val="000000"/>
                </a:solidFill>
                <a:latin typeface="Consolas"/>
              </a:rPr>
              <a:t> confusion_matrix</a:t>
            </a:r>
          </a:p>
          <a:p>
            <a:r>
              <a:rPr>
                <a:solidFill>
                  <a:srgbClr val="000000"/>
                </a:solidFill>
                <a:latin typeface="Consolas"/>
              </a:rPr>
              <a:t>cm = </a:t>
            </a:r>
            <a:r>
              <a:rPr>
                <a:solidFill>
                  <a:srgbClr val="000000"/>
                </a:solidFill>
                <a:latin typeface="Consolas"/>
              </a:rPr>
              <a:t>confusion_matrix</a:t>
            </a:r>
            <a:r>
              <a:rPr>
                <a:solidFill>
                  <a:srgbClr val="000000"/>
                </a:solidFill>
                <a:latin typeface="Consolas"/>
              </a:rPr>
              <a:t>(y_test, classifier.predict(X_test))</a:t>
            </a:r>
          </a:p>
          <a:p>
            <a:r>
              <a:rPr>
                <a:solidFill>
                  <a:srgbClr val="795E26"/>
                </a:solidFill>
                <a:latin typeface="Consolas"/>
              </a:rPr>
              <a:t>print</a:t>
            </a:r>
            <a:r>
              <a:rPr>
                <a:solidFill>
                  <a:srgbClr val="000000"/>
                </a:solidFill>
                <a:latin typeface="Consolas"/>
              </a:rPr>
              <a:t>(cm)</a:t>
            </a:r>
          </a:p>
        </p:txBody>
      </p:sp>
    </p:spTree>
    <p:extLst>
      <p:ext uri="{BB962C8B-B14F-4D97-AF65-F5344CB8AC3E}">
        <p14:creationId xmlns:p14="http://schemas.microsoft.com/office/powerpoint/2010/main" val="518765293"/>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01FE9-BB2E-49B4-B0F1-3693843C0196}"/>
              </a:ext>
            </a:extLst>
          </p:cNvPr>
          <p:cNvSpPr>
            <a:spLocks noGrp="1"/>
          </p:cNvSpPr>
          <p:nvPr>
            <p:ph type="title"/>
          </p:nvPr>
        </p:nvSpPr>
        <p:spPr/>
        <p:txBody>
          <a:bodyPr/>
          <a:lstStyle/>
          <a:p>
            <a:r>
              <a:rPr lang="vi-VN" dirty="0" err="1"/>
              <a:t>Kiểm</a:t>
            </a:r>
            <a:r>
              <a:rPr lang="vi-VN" dirty="0"/>
              <a:t> tra </a:t>
            </a:r>
            <a:r>
              <a:rPr lang="vi-VN" dirty="0" err="1"/>
              <a:t>kết</a:t>
            </a:r>
            <a:r>
              <a:rPr lang="vi-VN" dirty="0"/>
              <a:t> </a:t>
            </a:r>
            <a:r>
              <a:rPr lang="vi-VN" dirty="0" err="1"/>
              <a:t>quả</a:t>
            </a:r>
            <a:r>
              <a:rPr lang="vi-VN" dirty="0"/>
              <a:t> trên </a:t>
            </a:r>
            <a:r>
              <a:rPr lang="vi-VN" dirty="0" err="1"/>
              <a:t>tập</a:t>
            </a:r>
            <a:r>
              <a:rPr lang="vi-VN" dirty="0"/>
              <a:t> </a:t>
            </a:r>
            <a:r>
              <a:rPr lang="vi-VN" dirty="0" err="1"/>
              <a:t>test</a:t>
            </a:r>
            <a:endParaRPr lang="vi-V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A95AD93-52A0-4D38-8C7C-5813D54C2C62}"/>
                  </a:ext>
                </a:extLst>
              </p:cNvPr>
              <p:cNvSpPr>
                <a:spLocks noGrp="1"/>
              </p:cNvSpPr>
              <p:nvPr>
                <p:ph idx="1"/>
              </p:nvPr>
            </p:nvSpPr>
            <p:spPr/>
            <p:txBody>
              <a:bodyPr/>
              <a:lstStyle/>
              <a:p>
                <a:pPr algn="just"/>
                <a:r>
                  <a:rPr lang="vi-VN" sz="2800" dirty="0">
                    <a:solidFill>
                      <a:srgbClr val="0066FF"/>
                    </a:solidFill>
                  </a:rPr>
                  <a:t>Confusion </a:t>
                </a:r>
                <a:r>
                  <a:rPr lang="vi-VN" sz="2800" dirty="0" err="1">
                    <a:solidFill>
                      <a:srgbClr val="0066FF"/>
                    </a:solidFill>
                  </a:rPr>
                  <a:t>Matrix</a:t>
                </a:r>
                <a:r>
                  <a:rPr lang="vi-VN" sz="2800" dirty="0">
                    <a:solidFill>
                      <a:srgbClr val="0066FF"/>
                    </a:solidFill>
                  </a:rPr>
                  <a:t> </a:t>
                </a:r>
                <a:r>
                  <a:rPr lang="vi-VN" sz="2800" dirty="0" err="1">
                    <a:solidFill>
                      <a:srgbClr val="0066FF"/>
                    </a:solidFill>
                  </a:rPr>
                  <a:t>được</a:t>
                </a:r>
                <a:r>
                  <a:rPr lang="vi-VN" sz="2800" dirty="0">
                    <a:solidFill>
                      <a:srgbClr val="0066FF"/>
                    </a:solidFill>
                  </a:rPr>
                  <a:t> in ra </a:t>
                </a:r>
                <a:r>
                  <a:rPr lang="vi-VN" sz="2800" dirty="0" err="1">
                    <a:solidFill>
                      <a:srgbClr val="0066FF"/>
                    </a:solidFill>
                  </a:rPr>
                  <a:t>là</a:t>
                </a:r>
                <a:r>
                  <a:rPr lang="vi-VN" sz="2800" dirty="0">
                    <a:solidFill>
                      <a:srgbClr val="0066FF"/>
                    </a:solidFill>
                  </a:rPr>
                  <a:t>:</a:t>
                </a:r>
              </a:p>
              <a:p>
                <a:pPr algn="just"/>
                <a:endParaRPr lang="vi-VN" sz="2800" dirty="0">
                  <a:solidFill>
                    <a:srgbClr val="0066FF"/>
                  </a:solidFill>
                </a:endParaRPr>
              </a:p>
              <a:p>
                <a:pPr algn="just"/>
                <a:endParaRPr lang="vi-VN" sz="2800" dirty="0">
                  <a:solidFill>
                    <a:srgbClr val="0066FF"/>
                  </a:solidFill>
                </a:endParaRPr>
              </a:p>
              <a:p>
                <a:pPr algn="just"/>
                <a:endParaRPr lang="vi-VN" sz="2800" dirty="0">
                  <a:solidFill>
                    <a:srgbClr val="0066FF"/>
                  </a:solidFill>
                </a:endParaRPr>
              </a:p>
              <a:p>
                <a:pPr algn="just"/>
                <a:endParaRPr lang="vi-VN" sz="2800" dirty="0">
                  <a:solidFill>
                    <a:srgbClr val="0066FF"/>
                  </a:solidFill>
                </a:endParaRPr>
              </a:p>
              <a:p>
                <a:pPr algn="just"/>
                <a:r>
                  <a:rPr lang="vi-VN" sz="2800" dirty="0">
                    <a:solidFill>
                      <a:srgbClr val="FF0000"/>
                    </a:solidFill>
                  </a:rPr>
                  <a:t>Theo ma </a:t>
                </a:r>
                <a:r>
                  <a:rPr lang="vi-VN" sz="2800" dirty="0" err="1">
                    <a:solidFill>
                      <a:srgbClr val="FF0000"/>
                    </a:solidFill>
                  </a:rPr>
                  <a:t>trận</a:t>
                </a:r>
                <a:r>
                  <a:rPr lang="vi-VN" sz="2800" dirty="0">
                    <a:solidFill>
                      <a:srgbClr val="FF0000"/>
                    </a:solidFill>
                  </a:rPr>
                  <a:t> trên, </a:t>
                </a:r>
                <a:r>
                  <a:rPr lang="vi-VN" sz="2800" dirty="0" err="1">
                    <a:solidFill>
                      <a:srgbClr val="FF0000"/>
                    </a:solidFill>
                  </a:rPr>
                  <a:t>số</a:t>
                </a:r>
                <a:r>
                  <a:rPr lang="vi-VN" sz="2800" dirty="0">
                    <a:solidFill>
                      <a:srgbClr val="FF0000"/>
                    </a:solidFill>
                  </a:rPr>
                  <a:t> </a:t>
                </a:r>
                <a:r>
                  <a:rPr lang="vi-VN" sz="2800" dirty="0" err="1">
                    <a:solidFill>
                      <a:srgbClr val="FF0000"/>
                    </a:solidFill>
                  </a:rPr>
                  <a:t>lượng</a:t>
                </a:r>
                <a:r>
                  <a:rPr lang="vi-VN" sz="2800" dirty="0">
                    <a:solidFill>
                      <a:srgbClr val="FF0000"/>
                    </a:solidFill>
                  </a:rPr>
                  <a:t> </a:t>
                </a:r>
                <a:r>
                  <a:rPr lang="vi-VN" sz="2800" dirty="0" err="1">
                    <a:solidFill>
                      <a:srgbClr val="FF0000"/>
                    </a:solidFill>
                  </a:rPr>
                  <a:t>dữ</a:t>
                </a:r>
                <a:r>
                  <a:rPr lang="vi-VN" sz="2800" dirty="0">
                    <a:solidFill>
                      <a:srgbClr val="FF0000"/>
                    </a:solidFill>
                  </a:rPr>
                  <a:t> </a:t>
                </a:r>
                <a:r>
                  <a:rPr lang="vi-VN" sz="2800" dirty="0" err="1">
                    <a:solidFill>
                      <a:srgbClr val="FF0000"/>
                    </a:solidFill>
                  </a:rPr>
                  <a:t>liệu</a:t>
                </a:r>
                <a:r>
                  <a:rPr lang="vi-VN" sz="2800" dirty="0">
                    <a:solidFill>
                      <a:srgbClr val="FF0000"/>
                    </a:solidFill>
                  </a:rPr>
                  <a:t> </a:t>
                </a:r>
                <a:r>
                  <a:rPr lang="vi-VN" sz="2800" dirty="0" err="1">
                    <a:solidFill>
                      <a:srgbClr val="FF0000"/>
                    </a:solidFill>
                  </a:rPr>
                  <a:t>được</a:t>
                </a:r>
                <a:r>
                  <a:rPr lang="vi-VN" sz="2800" dirty="0">
                    <a:solidFill>
                      <a:srgbClr val="FF0000"/>
                    </a:solidFill>
                  </a:rPr>
                  <a:t> phân </a:t>
                </a:r>
                <a:r>
                  <a:rPr lang="vi-VN" sz="2800" dirty="0" err="1">
                    <a:solidFill>
                      <a:srgbClr val="FF0000"/>
                    </a:solidFill>
                  </a:rPr>
                  <a:t>loại</a:t>
                </a:r>
                <a:r>
                  <a:rPr lang="vi-VN" sz="2800" dirty="0">
                    <a:solidFill>
                      <a:srgbClr val="FF0000"/>
                    </a:solidFill>
                  </a:rPr>
                  <a:t> </a:t>
                </a:r>
                <a:r>
                  <a:rPr lang="vi-VN" sz="2800" dirty="0" err="1">
                    <a:solidFill>
                      <a:srgbClr val="FF0000"/>
                    </a:solidFill>
                  </a:rPr>
                  <a:t>đúng</a:t>
                </a:r>
                <a:r>
                  <a:rPr lang="vi-VN" sz="2800" dirty="0">
                    <a:solidFill>
                      <a:srgbClr val="FF0000"/>
                    </a:solidFill>
                  </a:rPr>
                  <a:t> </a:t>
                </a:r>
                <a:r>
                  <a:rPr lang="vi-VN" sz="2800" dirty="0" err="1">
                    <a:solidFill>
                      <a:srgbClr val="FF0000"/>
                    </a:solidFill>
                  </a:rPr>
                  <a:t>là</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5</m:t>
                    </m:r>
                    <m:r>
                      <a:rPr lang="vi-VN" sz="2800" b="0" i="1" dirty="0" smtClean="0">
                        <a:solidFill>
                          <a:srgbClr val="FF0000"/>
                        </a:solidFill>
                        <a:latin typeface="Cambria Math" panose="02040503050406030204" pitchFamily="18" charset="0"/>
                      </a:rPr>
                      <m:t>7+16=73</m:t>
                    </m:r>
                  </m:oMath>
                </a14:m>
                <a:r>
                  <a:rPr lang="vi-VN" sz="2800" dirty="0">
                    <a:solidFill>
                      <a:srgbClr val="FF0000"/>
                    </a:solidFill>
                  </a:rPr>
                  <a:t> </a:t>
                </a:r>
                <a:r>
                  <a:rPr lang="vi-VN" sz="2800" dirty="0" err="1">
                    <a:solidFill>
                      <a:srgbClr val="FF0000"/>
                    </a:solidFill>
                  </a:rPr>
                  <a:t>điểm</a:t>
                </a:r>
                <a:r>
                  <a:rPr lang="vi-VN" sz="2800" dirty="0">
                    <a:solidFill>
                      <a:srgbClr val="FF0000"/>
                    </a:solidFill>
                  </a:rPr>
                  <a:t> </a:t>
                </a:r>
                <a:r>
                  <a:rPr lang="vi-VN" sz="2800" dirty="0" err="1">
                    <a:solidFill>
                      <a:srgbClr val="FF0000"/>
                    </a:solidFill>
                  </a:rPr>
                  <a:t>dữ</a:t>
                </a:r>
                <a:r>
                  <a:rPr lang="vi-VN" sz="2800" dirty="0">
                    <a:solidFill>
                      <a:srgbClr val="FF0000"/>
                    </a:solidFill>
                  </a:rPr>
                  <a:t> </a:t>
                </a:r>
                <a:r>
                  <a:rPr lang="vi-VN" sz="2800" dirty="0" err="1">
                    <a:solidFill>
                      <a:srgbClr val="FF0000"/>
                    </a:solidFill>
                  </a:rPr>
                  <a:t>liệu</a:t>
                </a:r>
                <a:r>
                  <a:rPr lang="vi-VN" sz="2800" dirty="0">
                    <a:solidFill>
                      <a:srgbClr val="FF0000"/>
                    </a:solidFill>
                  </a:rPr>
                  <a:t>. </a:t>
                </a:r>
              </a:p>
              <a:p>
                <a:pPr algn="just"/>
                <a:r>
                  <a:rPr lang="vi-VN" sz="2800" dirty="0" err="1">
                    <a:solidFill>
                      <a:srgbClr val="0066FF"/>
                    </a:solidFill>
                  </a:rPr>
                  <a:t>Số</a:t>
                </a:r>
                <a:r>
                  <a:rPr lang="vi-VN" sz="2800" dirty="0">
                    <a:solidFill>
                      <a:srgbClr val="0066FF"/>
                    </a:solidFill>
                  </a:rPr>
                  <a:t> </a:t>
                </a:r>
                <a:r>
                  <a:rPr lang="vi-VN" sz="2800" dirty="0" err="1">
                    <a:solidFill>
                      <a:srgbClr val="0066FF"/>
                    </a:solidFill>
                  </a:rPr>
                  <a:t>lượng</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phân </a:t>
                </a:r>
                <a:r>
                  <a:rPr lang="vi-VN" sz="2800" dirty="0" err="1">
                    <a:solidFill>
                      <a:srgbClr val="0066FF"/>
                    </a:solidFill>
                  </a:rPr>
                  <a:t>loại</a:t>
                </a:r>
                <a:r>
                  <a:rPr lang="vi-VN" sz="2800" dirty="0">
                    <a:solidFill>
                      <a:srgbClr val="0066FF"/>
                    </a:solidFill>
                  </a:rPr>
                  <a:t> sai </a:t>
                </a:r>
                <a:r>
                  <a:rPr lang="vi-VN" sz="2800" dirty="0" err="1">
                    <a:solidFill>
                      <a:srgbClr val="0066FF"/>
                    </a:solidFill>
                  </a:rPr>
                  <a:t>là</a:t>
                </a:r>
                <a:r>
                  <a:rPr lang="vi-VN" sz="2800" dirty="0">
                    <a:solidFill>
                      <a:srgbClr val="0066FF"/>
                    </a:solidFill>
                  </a:rPr>
                  <a:t> </a:t>
                </a:r>
                <a14:m>
                  <m:oMath xmlns:m="http://schemas.openxmlformats.org/officeDocument/2006/math">
                    <m:r>
                      <a:rPr lang="vi-VN" sz="2800" b="0" i="1" dirty="0" smtClean="0">
                        <a:solidFill>
                          <a:srgbClr val="0066FF"/>
                        </a:solidFill>
                        <a:latin typeface="Cambria Math" panose="02040503050406030204" pitchFamily="18" charset="0"/>
                      </a:rPr>
                      <m:t>5+2=7</m:t>
                    </m:r>
                  </m:oMath>
                </a14:m>
                <a:r>
                  <a:rPr lang="vi-VN" sz="2800" dirty="0">
                    <a:solidFill>
                      <a:srgbClr val="0066FF"/>
                    </a:solidFill>
                  </a:rPr>
                  <a:t> </a:t>
                </a:r>
                <a:r>
                  <a:rPr lang="vi-VN" sz="2800" dirty="0" err="1">
                    <a:solidFill>
                      <a:srgbClr val="0066FF"/>
                    </a:solidFill>
                  </a:rPr>
                  <a:t>điểm</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a:t>
                </a:r>
              </a:p>
              <a:p>
                <a:pPr algn="just"/>
                <a:r>
                  <a:rPr lang="vi-VN" sz="2800" dirty="0">
                    <a:solidFill>
                      <a:srgbClr val="FF0000"/>
                    </a:solidFill>
                  </a:rPr>
                  <a:t>Tỉ </a:t>
                </a:r>
                <a:r>
                  <a:rPr lang="vi-VN" sz="2800" dirty="0" err="1">
                    <a:solidFill>
                      <a:srgbClr val="FF0000"/>
                    </a:solidFill>
                  </a:rPr>
                  <a:t>lệ</a:t>
                </a:r>
                <a:r>
                  <a:rPr lang="vi-VN" sz="2800" dirty="0">
                    <a:solidFill>
                      <a:srgbClr val="FF0000"/>
                    </a:solidFill>
                  </a:rPr>
                  <a:t> </a:t>
                </a:r>
                <a:r>
                  <a:rPr lang="vi-VN" sz="2800" dirty="0" err="1">
                    <a:solidFill>
                      <a:srgbClr val="FF0000"/>
                    </a:solidFill>
                  </a:rPr>
                  <a:t>điểm</a:t>
                </a:r>
                <a:r>
                  <a:rPr lang="vi-VN" sz="2800" dirty="0">
                    <a:solidFill>
                      <a:srgbClr val="FF0000"/>
                    </a:solidFill>
                  </a:rPr>
                  <a:t> </a:t>
                </a:r>
                <a:r>
                  <a:rPr lang="vi-VN" sz="2800" dirty="0" err="1">
                    <a:solidFill>
                      <a:srgbClr val="FF0000"/>
                    </a:solidFill>
                  </a:rPr>
                  <a:t>dữ</a:t>
                </a:r>
                <a:r>
                  <a:rPr lang="vi-VN" sz="2800" dirty="0">
                    <a:solidFill>
                      <a:srgbClr val="FF0000"/>
                    </a:solidFill>
                  </a:rPr>
                  <a:t> </a:t>
                </a:r>
                <a:r>
                  <a:rPr lang="vi-VN" sz="2800" dirty="0" err="1">
                    <a:solidFill>
                      <a:srgbClr val="FF0000"/>
                    </a:solidFill>
                  </a:rPr>
                  <a:t>liệu</a:t>
                </a:r>
                <a:r>
                  <a:rPr lang="vi-VN" sz="2800" dirty="0">
                    <a:solidFill>
                      <a:srgbClr val="FF0000"/>
                    </a:solidFill>
                  </a:rPr>
                  <a:t> phân </a:t>
                </a:r>
                <a:r>
                  <a:rPr lang="vi-VN" sz="2800" dirty="0" err="1">
                    <a:solidFill>
                      <a:srgbClr val="FF0000"/>
                    </a:solidFill>
                  </a:rPr>
                  <a:t>loại</a:t>
                </a:r>
                <a:r>
                  <a:rPr lang="vi-VN" sz="2800" dirty="0">
                    <a:solidFill>
                      <a:srgbClr val="FF0000"/>
                    </a:solidFill>
                  </a:rPr>
                  <a:t> sai </a:t>
                </a:r>
                <a:r>
                  <a:rPr lang="vi-VN" sz="2800" dirty="0" err="1">
                    <a:solidFill>
                      <a:srgbClr val="FF0000"/>
                    </a:solidFill>
                  </a:rPr>
                  <a:t>là</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7</m:t>
                    </m:r>
                    <m:r>
                      <a:rPr lang="vi-VN" sz="2800" b="0" i="1" dirty="0" smtClean="0">
                        <a:solidFill>
                          <a:srgbClr val="FF0000"/>
                        </a:solidFill>
                        <a:latin typeface="Cambria Math" panose="02040503050406030204" pitchFamily="18" charset="0"/>
                      </a:rPr>
                      <m:t>/80</m:t>
                    </m:r>
                    <m:r>
                      <a:rPr lang="vi-VN" sz="2800" i="1" dirty="0" smtClean="0">
                        <a:solidFill>
                          <a:srgbClr val="FF0000"/>
                        </a:solidFill>
                        <a:latin typeface="Cambria Math" panose="02040503050406030204" pitchFamily="18" charset="0"/>
                        <a:ea typeface="Cambria Math" panose="02040503050406030204" pitchFamily="18" charset="0"/>
                      </a:rPr>
                      <m:t>≈</m:t>
                    </m:r>
                    <m:r>
                      <a:rPr lang="vi-VN" sz="2800" i="1" dirty="0" smtClean="0">
                        <a:solidFill>
                          <a:srgbClr val="FF0000"/>
                        </a:solidFill>
                        <a:latin typeface="Cambria Math" panose="02040503050406030204" pitchFamily="18" charset="0"/>
                      </a:rPr>
                      <m:t>0.</m:t>
                    </m:r>
                    <m:r>
                      <a:rPr lang="vi-VN" sz="2800" b="0" i="1" dirty="0" smtClean="0">
                        <a:solidFill>
                          <a:srgbClr val="FF0000"/>
                        </a:solidFill>
                        <a:latin typeface="Cambria Math" panose="02040503050406030204" pitchFamily="18" charset="0"/>
                      </a:rPr>
                      <m:t>0875</m:t>
                    </m:r>
                  </m:oMath>
                </a14:m>
                <a:r>
                  <a:rPr lang="vi-VN" sz="2800" dirty="0">
                    <a:solidFill>
                      <a:srgbClr val="FF0000"/>
                    </a:solidFill>
                  </a:rPr>
                  <a:t>.</a:t>
                </a:r>
              </a:p>
            </p:txBody>
          </p:sp>
        </mc:Choice>
        <mc:Fallback xmlns="">
          <p:sp>
            <p:nvSpPr>
              <p:cNvPr id="3" name="Content Placeholder 2">
                <a:extLst>
                  <a:ext uri="{FF2B5EF4-FFF2-40B4-BE49-F238E27FC236}">
                    <a16:creationId xmlns:a16="http://schemas.microsoft.com/office/drawing/2014/main" id="{9A95AD93-52A0-4D38-8C7C-5813D54C2C62}"/>
                  </a:ext>
                </a:extLst>
              </p:cNvPr>
              <p:cNvSpPr>
                <a:spLocks noGrp="1" noRot="1" noChangeAspect="1" noMove="1" noResize="1" noEditPoints="1" noAdjustHandles="1" noChangeArrowheads="1" noChangeShapeType="1" noTextEdit="1"/>
              </p:cNvSpPr>
              <p:nvPr>
                <p:ph idx="1"/>
              </p:nvPr>
            </p:nvSpPr>
            <p:spPr>
              <a:blipFill>
                <a:blip r:embed="rId2"/>
                <a:stretch>
                  <a:fillRect l="-1000" t="-1482" b="-3774"/>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E04C35AC-FD6B-4911-AB9C-280EA13B059B}"/>
                  </a:ext>
                </a:extLst>
              </p:cNvPr>
              <p:cNvGraphicFramePr>
                <a:graphicFrameLocks noGrp="1"/>
              </p:cNvGraphicFramePr>
              <p:nvPr/>
            </p:nvGraphicFramePr>
            <p:xfrm>
              <a:off x="4267200" y="2308702"/>
              <a:ext cx="3276600" cy="1554480"/>
            </p:xfrm>
            <a:graphic>
              <a:graphicData uri="http://schemas.openxmlformats.org/drawingml/2006/table">
                <a:tbl>
                  <a:tblPr firstRow="1" bandRow="1">
                    <a:tableStyleId>{21E4AEA4-8DFA-4A89-87EB-49C32662AFE0}</a:tableStyleId>
                  </a:tblPr>
                  <a:tblGrid>
                    <a:gridCol w="1092200">
                      <a:extLst>
                        <a:ext uri="{9D8B030D-6E8A-4147-A177-3AD203B41FA5}">
                          <a16:colId xmlns:a16="http://schemas.microsoft.com/office/drawing/2014/main" val="4171667629"/>
                        </a:ext>
                      </a:extLst>
                    </a:gridCol>
                    <a:gridCol w="1092200">
                      <a:extLst>
                        <a:ext uri="{9D8B030D-6E8A-4147-A177-3AD203B41FA5}">
                          <a16:colId xmlns:a16="http://schemas.microsoft.com/office/drawing/2014/main" val="523946260"/>
                        </a:ext>
                      </a:extLst>
                    </a:gridCol>
                    <a:gridCol w="1092200">
                      <a:extLst>
                        <a:ext uri="{9D8B030D-6E8A-4147-A177-3AD203B41FA5}">
                          <a16:colId xmlns:a16="http://schemas.microsoft.com/office/drawing/2014/main" val="1766665144"/>
                        </a:ext>
                      </a:extLst>
                    </a:gridCol>
                  </a:tblGrid>
                  <a:tr h="431800">
                    <a:tc>
                      <a:txBody>
                        <a:bodyPr/>
                        <a:lstStyle/>
                        <a:p>
                          <a:pPr algn="ctr"/>
                          <a:endParaRPr lang="vi-VN" sz="2800" dirty="0">
                            <a:solidFill>
                              <a:schemeClr val="bg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vi-VN" sz="2800" dirty="0"/>
                            <a:t>0</a:t>
                          </a:r>
                        </a:p>
                      </a:txBody>
                      <a:tcPr anchor="ctr">
                        <a:lnL w="12700" cmpd="sng">
                          <a:noFill/>
                        </a:lnL>
                      </a:tcPr>
                    </a:tc>
                    <a:tc>
                      <a:txBody>
                        <a:bodyPr/>
                        <a:lstStyle/>
                        <a:p>
                          <a:pPr algn="ctr"/>
                          <a:r>
                            <a:rPr lang="vi-VN" sz="2800" dirty="0"/>
                            <a:t>1</a:t>
                          </a:r>
                        </a:p>
                      </a:txBody>
                      <a:tcPr anchor="ctr"/>
                    </a:tc>
                    <a:extLst>
                      <a:ext uri="{0D108BD9-81ED-4DB2-BD59-A6C34878D82A}">
                        <a16:rowId xmlns:a16="http://schemas.microsoft.com/office/drawing/2014/main" val="3216580"/>
                      </a:ext>
                    </a:extLst>
                  </a:tr>
                  <a:tr h="431800">
                    <a:tc>
                      <a:txBody>
                        <a:bodyPr/>
                        <a:lstStyle/>
                        <a:p>
                          <a:pPr algn="ctr"/>
                          <a:r>
                            <a:rPr lang="vi-VN" sz="2800" b="1" dirty="0">
                              <a:solidFill>
                                <a:schemeClr val="bg1"/>
                              </a:solidFill>
                            </a:rPr>
                            <a:t>0</a:t>
                          </a:r>
                        </a:p>
                      </a:txBody>
                      <a:tcPr anchor="ctr">
                        <a:lnT w="38100" cmpd="sng">
                          <a:noFill/>
                        </a:lnT>
                        <a:solidFill>
                          <a:schemeClr val="accent2"/>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5</m:t>
                                </m:r>
                                <m:r>
                                  <a:rPr lang="vi-VN" sz="2800" b="0" i="1" dirty="0" smtClean="0">
                                    <a:latin typeface="Cambria Math" panose="02040503050406030204" pitchFamily="18" charset="0"/>
                                  </a:rPr>
                                  <m:t>7</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b="0" i="1" smtClean="0">
                                    <a:latin typeface="Cambria Math" panose="02040503050406030204" pitchFamily="18" charset="0"/>
                                  </a:rPr>
                                  <m:t>1</m:t>
                                </m:r>
                              </m:oMath>
                            </m:oMathPara>
                          </a14:m>
                          <a:endParaRPr lang="vi-VN" sz="2800" dirty="0"/>
                        </a:p>
                      </a:txBody>
                      <a:tcPr anchor="ctr"/>
                    </a:tc>
                    <a:extLst>
                      <a:ext uri="{0D108BD9-81ED-4DB2-BD59-A6C34878D82A}">
                        <a16:rowId xmlns:a16="http://schemas.microsoft.com/office/drawing/2014/main" val="3641710761"/>
                      </a:ext>
                    </a:extLst>
                  </a:tr>
                  <a:tr h="431800">
                    <a:tc>
                      <a:txBody>
                        <a:bodyPr/>
                        <a:lstStyle/>
                        <a:p>
                          <a:pPr algn="ctr"/>
                          <a:r>
                            <a:rPr lang="vi-VN" sz="2800" b="1" dirty="0">
                              <a:solidFill>
                                <a:schemeClr val="bg1"/>
                              </a:solidFill>
                            </a:rPr>
                            <a:t>1</a:t>
                          </a:r>
                        </a:p>
                      </a:txBody>
                      <a:tcPr anchor="ctr">
                        <a:solidFill>
                          <a:schemeClr val="accent2"/>
                        </a:solidFill>
                      </a:tcPr>
                    </a:tc>
                    <a:tc>
                      <a:txBody>
                        <a:bodyPr/>
                        <a:lstStyle/>
                        <a:p>
                          <a:pPr algn="ctr"/>
                          <a14:m>
                            <m:oMathPara xmlns:m="http://schemas.openxmlformats.org/officeDocument/2006/math">
                              <m:oMathParaPr>
                                <m:jc m:val="centerGroup"/>
                              </m:oMathParaPr>
                              <m:oMath xmlns:m="http://schemas.openxmlformats.org/officeDocument/2006/math">
                                <m:r>
                                  <a:rPr lang="vi-VN" sz="2800" b="0" i="1" smtClean="0">
                                    <a:latin typeface="Cambria Math" panose="02040503050406030204" pitchFamily="18" charset="0"/>
                                  </a:rPr>
                                  <m:t>6</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m:t>
                                </m:r>
                                <m:r>
                                  <a:rPr lang="vi-VN" sz="2800" b="0" i="1" dirty="0" smtClean="0">
                                    <a:latin typeface="Cambria Math" panose="02040503050406030204" pitchFamily="18" charset="0"/>
                                  </a:rPr>
                                  <m:t>6</m:t>
                                </m:r>
                              </m:oMath>
                            </m:oMathPara>
                          </a14:m>
                          <a:endParaRPr lang="vi-VN" sz="2800" dirty="0"/>
                        </a:p>
                      </a:txBody>
                      <a:tcPr anchor="ctr"/>
                    </a:tc>
                    <a:extLst>
                      <a:ext uri="{0D108BD9-81ED-4DB2-BD59-A6C34878D82A}">
                        <a16:rowId xmlns:a16="http://schemas.microsoft.com/office/drawing/2014/main" val="2250376396"/>
                      </a:ext>
                    </a:extLst>
                  </a:tr>
                </a:tbl>
              </a:graphicData>
            </a:graphic>
          </p:graphicFrame>
        </mc:Choice>
        <mc:Fallback xmlns="">
          <p:graphicFrame>
            <p:nvGraphicFramePr>
              <p:cNvPr id="4" name="Table 3">
                <a:extLst>
                  <a:ext uri="{FF2B5EF4-FFF2-40B4-BE49-F238E27FC236}">
                    <a16:creationId xmlns:a16="http://schemas.microsoft.com/office/drawing/2014/main" id="{E04C35AC-FD6B-4911-AB9C-280EA13B059B}"/>
                  </a:ext>
                </a:extLst>
              </p:cNvPr>
              <p:cNvGraphicFramePr>
                <a:graphicFrameLocks noGrp="1"/>
              </p:cNvGraphicFramePr>
              <p:nvPr>
                <p:extLst>
                  <p:ext uri="{D42A27DB-BD31-4B8C-83A1-F6EECF244321}">
                    <p14:modId xmlns:p14="http://schemas.microsoft.com/office/powerpoint/2010/main" val="3260629523"/>
                  </p:ext>
                </p:extLst>
              </p:nvPr>
            </p:nvGraphicFramePr>
            <p:xfrm>
              <a:off x="4267200" y="2308702"/>
              <a:ext cx="3276600" cy="1554480"/>
            </p:xfrm>
            <a:graphic>
              <a:graphicData uri="http://schemas.openxmlformats.org/drawingml/2006/table">
                <a:tbl>
                  <a:tblPr firstRow="1" bandRow="1">
                    <a:tableStyleId>{21E4AEA4-8DFA-4A89-87EB-49C32662AFE0}</a:tableStyleId>
                  </a:tblPr>
                  <a:tblGrid>
                    <a:gridCol w="1092200">
                      <a:extLst>
                        <a:ext uri="{9D8B030D-6E8A-4147-A177-3AD203B41FA5}">
                          <a16:colId xmlns:a16="http://schemas.microsoft.com/office/drawing/2014/main" val="4171667629"/>
                        </a:ext>
                      </a:extLst>
                    </a:gridCol>
                    <a:gridCol w="1092200">
                      <a:extLst>
                        <a:ext uri="{9D8B030D-6E8A-4147-A177-3AD203B41FA5}">
                          <a16:colId xmlns:a16="http://schemas.microsoft.com/office/drawing/2014/main" val="523946260"/>
                        </a:ext>
                      </a:extLst>
                    </a:gridCol>
                    <a:gridCol w="1092200">
                      <a:extLst>
                        <a:ext uri="{9D8B030D-6E8A-4147-A177-3AD203B41FA5}">
                          <a16:colId xmlns:a16="http://schemas.microsoft.com/office/drawing/2014/main" val="1766665144"/>
                        </a:ext>
                      </a:extLst>
                    </a:gridCol>
                  </a:tblGrid>
                  <a:tr h="518160">
                    <a:tc>
                      <a:txBody>
                        <a:bodyPr/>
                        <a:lstStyle/>
                        <a:p>
                          <a:pPr algn="ctr"/>
                          <a:endParaRPr lang="vi-VN" sz="2800" dirty="0">
                            <a:solidFill>
                              <a:schemeClr val="bg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vi-VN" sz="2800" dirty="0"/>
                            <a:t>0</a:t>
                          </a:r>
                        </a:p>
                      </a:txBody>
                      <a:tcPr anchor="ctr">
                        <a:lnL w="12700" cmpd="sng">
                          <a:noFill/>
                        </a:lnL>
                      </a:tcPr>
                    </a:tc>
                    <a:tc>
                      <a:txBody>
                        <a:bodyPr/>
                        <a:lstStyle/>
                        <a:p>
                          <a:pPr algn="ctr"/>
                          <a:r>
                            <a:rPr lang="vi-VN" sz="2800" dirty="0"/>
                            <a:t>1</a:t>
                          </a:r>
                        </a:p>
                      </a:txBody>
                      <a:tcPr anchor="ctr"/>
                    </a:tc>
                    <a:extLst>
                      <a:ext uri="{0D108BD9-81ED-4DB2-BD59-A6C34878D82A}">
                        <a16:rowId xmlns:a16="http://schemas.microsoft.com/office/drawing/2014/main" val="3216580"/>
                      </a:ext>
                    </a:extLst>
                  </a:tr>
                  <a:tr h="518160">
                    <a:tc>
                      <a:txBody>
                        <a:bodyPr/>
                        <a:lstStyle/>
                        <a:p>
                          <a:pPr algn="ctr"/>
                          <a:r>
                            <a:rPr lang="vi-VN" sz="2800" b="1" dirty="0">
                              <a:solidFill>
                                <a:schemeClr val="bg1"/>
                              </a:solidFill>
                            </a:rPr>
                            <a:t>0</a:t>
                          </a:r>
                        </a:p>
                      </a:txBody>
                      <a:tcPr anchor="ctr">
                        <a:lnT w="38100" cmpd="sng">
                          <a:noFill/>
                        </a:lnT>
                        <a:solidFill>
                          <a:schemeClr val="accent2"/>
                        </a:solidFill>
                      </a:tcPr>
                    </a:tc>
                    <a:tc>
                      <a:txBody>
                        <a:bodyPr/>
                        <a:lstStyle/>
                        <a:p>
                          <a:endParaRPr lang="vi-VN"/>
                        </a:p>
                      </a:txBody>
                      <a:tcPr anchor="ctr">
                        <a:blipFill>
                          <a:blip r:embed="rId3"/>
                          <a:stretch>
                            <a:fillRect l="-100556" t="-110465" r="-101667" b="-131395"/>
                          </a:stretch>
                        </a:blipFill>
                      </a:tcPr>
                    </a:tc>
                    <a:tc>
                      <a:txBody>
                        <a:bodyPr/>
                        <a:lstStyle/>
                        <a:p>
                          <a:endParaRPr lang="vi-VN"/>
                        </a:p>
                      </a:txBody>
                      <a:tcPr anchor="ctr">
                        <a:blipFill>
                          <a:blip r:embed="rId3"/>
                          <a:stretch>
                            <a:fillRect l="-201676" t="-110465" r="-2235" b="-131395"/>
                          </a:stretch>
                        </a:blipFill>
                      </a:tcPr>
                    </a:tc>
                    <a:extLst>
                      <a:ext uri="{0D108BD9-81ED-4DB2-BD59-A6C34878D82A}">
                        <a16:rowId xmlns:a16="http://schemas.microsoft.com/office/drawing/2014/main" val="3641710761"/>
                      </a:ext>
                    </a:extLst>
                  </a:tr>
                  <a:tr h="518160">
                    <a:tc>
                      <a:txBody>
                        <a:bodyPr/>
                        <a:lstStyle/>
                        <a:p>
                          <a:pPr algn="ctr"/>
                          <a:r>
                            <a:rPr lang="vi-VN" sz="2800" b="1" dirty="0">
                              <a:solidFill>
                                <a:schemeClr val="bg1"/>
                              </a:solidFill>
                            </a:rPr>
                            <a:t>1</a:t>
                          </a:r>
                        </a:p>
                      </a:txBody>
                      <a:tcPr anchor="ctr">
                        <a:solidFill>
                          <a:schemeClr val="accent2"/>
                        </a:solidFill>
                      </a:tcPr>
                    </a:tc>
                    <a:tc>
                      <a:txBody>
                        <a:bodyPr/>
                        <a:lstStyle/>
                        <a:p>
                          <a:endParaRPr lang="vi-VN"/>
                        </a:p>
                      </a:txBody>
                      <a:tcPr anchor="ctr">
                        <a:blipFill>
                          <a:blip r:embed="rId3"/>
                          <a:stretch>
                            <a:fillRect l="-100556" t="-212941" r="-101667" b="-32941"/>
                          </a:stretch>
                        </a:blipFill>
                      </a:tcPr>
                    </a:tc>
                    <a:tc>
                      <a:txBody>
                        <a:bodyPr/>
                        <a:lstStyle/>
                        <a:p>
                          <a:endParaRPr lang="vi-VN"/>
                        </a:p>
                      </a:txBody>
                      <a:tcPr anchor="ctr">
                        <a:blipFill>
                          <a:blip r:embed="rId3"/>
                          <a:stretch>
                            <a:fillRect l="-201676" t="-212941" r="-2235" b="-32941"/>
                          </a:stretch>
                        </a:blipFill>
                      </a:tcPr>
                    </a:tc>
                    <a:extLst>
                      <a:ext uri="{0D108BD9-81ED-4DB2-BD59-A6C34878D82A}">
                        <a16:rowId xmlns:a16="http://schemas.microsoft.com/office/drawing/2014/main" val="2250376396"/>
                      </a:ext>
                    </a:extLst>
                  </a:tr>
                </a:tbl>
              </a:graphicData>
            </a:graphic>
          </p:graphicFrame>
        </mc:Fallback>
      </mc:AlternateContent>
    </p:spTree>
    <p:extLst>
      <p:ext uri="{BB962C8B-B14F-4D97-AF65-F5344CB8AC3E}">
        <p14:creationId xmlns:p14="http://schemas.microsoft.com/office/powerpoint/2010/main" val="2605861788"/>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87E84A-3B19-4FF8-969F-5C38D9EFB492}"/>
              </a:ext>
            </a:extLst>
          </p:cNvPr>
          <p:cNvSpPr>
            <a:spLocks noGrp="1"/>
          </p:cNvSpPr>
          <p:nvPr>
            <p:ph type="title"/>
          </p:nvPr>
        </p:nvSpPr>
        <p:spPr/>
        <p:txBody>
          <a:bodyPr/>
          <a:lstStyle/>
          <a:p>
            <a:r>
              <a:rPr lang="vi-VN" dirty="0" err="1"/>
              <a:t>Kiểm</a:t>
            </a:r>
            <a:r>
              <a:rPr lang="vi-VN" dirty="0"/>
              <a:t> tra </a:t>
            </a:r>
            <a:r>
              <a:rPr lang="vi-VN" dirty="0" err="1"/>
              <a:t>kết</a:t>
            </a:r>
            <a:r>
              <a:rPr lang="vi-VN" dirty="0"/>
              <a:t> </a:t>
            </a:r>
            <a:r>
              <a:rPr lang="vi-VN" dirty="0" err="1"/>
              <a:t>quả</a:t>
            </a:r>
            <a:r>
              <a:rPr lang="vi-VN" dirty="0"/>
              <a:t> trên </a:t>
            </a:r>
            <a:r>
              <a:rPr lang="vi-VN" dirty="0" err="1"/>
              <a:t>tập</a:t>
            </a:r>
            <a:r>
              <a:rPr lang="vi-VN" dirty="0"/>
              <a:t> </a:t>
            </a:r>
            <a:r>
              <a:rPr lang="vi-VN" dirty="0" err="1"/>
              <a:t>test</a:t>
            </a:r>
            <a:endParaRPr lang="vi-VN" dirty="0"/>
          </a:p>
        </p:txBody>
      </p:sp>
      <p:sp>
        <p:nvSpPr>
          <p:cNvPr id="2" name="Content Placeholder 1">
            <a:extLst>
              <a:ext uri="{FF2B5EF4-FFF2-40B4-BE49-F238E27FC236}">
                <a16:creationId xmlns:a16="http://schemas.microsoft.com/office/drawing/2014/main" id="{89B145C5-2FC6-4997-B32D-879CA6F44042}"/>
              </a:ext>
            </a:extLst>
          </p:cNvPr>
          <p:cNvSpPr>
            <a:spLocks noGrp="1"/>
          </p:cNvSpPr>
          <p:nvPr>
            <p:ph idx="1"/>
          </p:nvPr>
        </p:nvSpPr>
        <p:spPr/>
        <p:txBody>
          <a:bodyPr/>
          <a:lstStyle/>
          <a:p>
            <a:pPr algn="just"/>
            <a:r>
              <a:rPr lang="en-US" sz="2800" dirty="0" err="1">
                <a:solidFill>
                  <a:srgbClr val="0066FF"/>
                </a:solidFill>
              </a:rPr>
              <a:t>Thực</a:t>
            </a:r>
            <a:r>
              <a:rPr lang="en-US" sz="2800" dirty="0">
                <a:solidFill>
                  <a:srgbClr val="0066FF"/>
                </a:solidFill>
              </a:rPr>
              <a:t> </a:t>
            </a:r>
            <a:r>
              <a:rPr lang="en-US" sz="2800" dirty="0" err="1">
                <a:solidFill>
                  <a:srgbClr val="0066FF"/>
                </a:solidFill>
              </a:rPr>
              <a:t>hiện</a:t>
            </a:r>
            <a:r>
              <a:rPr lang="en-US" sz="2800" dirty="0">
                <a:solidFill>
                  <a:srgbClr val="0066FF"/>
                </a:solidFill>
              </a:rPr>
              <a:t> t</a:t>
            </a:r>
            <a:r>
              <a:rPr lang="vi-VN" sz="2800" dirty="0">
                <a:solidFill>
                  <a:srgbClr val="0066FF"/>
                </a:solidFill>
              </a:rPr>
              <a:t>ư</a:t>
            </a:r>
            <a:r>
              <a:rPr lang="en-US" sz="2800" dirty="0" err="1">
                <a:solidFill>
                  <a:srgbClr val="0066FF"/>
                </a:solidFill>
              </a:rPr>
              <a:t>ơng</a:t>
            </a:r>
            <a:r>
              <a:rPr lang="en-US" sz="2800" dirty="0">
                <a:solidFill>
                  <a:srgbClr val="0066FF"/>
                </a:solidFill>
              </a:rPr>
              <a:t> </a:t>
            </a:r>
            <a:r>
              <a:rPr lang="en-US" sz="2800" dirty="0" err="1">
                <a:solidFill>
                  <a:srgbClr val="0066FF"/>
                </a:solidFill>
              </a:rPr>
              <a:t>tự</a:t>
            </a:r>
            <a:r>
              <a:rPr lang="en-US" sz="2800" dirty="0">
                <a:solidFill>
                  <a:srgbClr val="0066FF"/>
                </a:solidFill>
              </a:rPr>
              <a:t> </a:t>
            </a:r>
            <a:r>
              <a:rPr lang="en-US" sz="2800" dirty="0" err="1">
                <a:solidFill>
                  <a:srgbClr val="0066FF"/>
                </a:solidFill>
              </a:rPr>
              <a:t>trực</a:t>
            </a:r>
            <a:r>
              <a:rPr lang="en-US" sz="2800" dirty="0">
                <a:solidFill>
                  <a:srgbClr val="0066FF"/>
                </a:solidFill>
              </a:rPr>
              <a:t> </a:t>
            </a:r>
            <a:r>
              <a:rPr lang="en-US" sz="2800" dirty="0" err="1">
                <a:solidFill>
                  <a:srgbClr val="0066FF"/>
                </a:solidFill>
              </a:rPr>
              <a:t>quan</a:t>
            </a:r>
            <a:r>
              <a:rPr lang="en-US" sz="2800" dirty="0">
                <a:solidFill>
                  <a:srgbClr val="0066FF"/>
                </a:solidFill>
              </a:rPr>
              <a:t> </a:t>
            </a:r>
            <a:r>
              <a:rPr lang="en-US" sz="2800" dirty="0" err="1">
                <a:solidFill>
                  <a:srgbClr val="0066FF"/>
                </a:solidFill>
              </a:rPr>
              <a:t>hóa</a:t>
            </a:r>
            <a:r>
              <a:rPr lang="en-US" sz="2800" dirty="0">
                <a:solidFill>
                  <a:srgbClr val="0066FF"/>
                </a:solidFill>
              </a:rPr>
              <a:t> </a:t>
            </a:r>
            <a:r>
              <a:rPr lang="en-US" sz="2800" dirty="0" err="1">
                <a:solidFill>
                  <a:srgbClr val="0066FF"/>
                </a:solidFill>
              </a:rPr>
              <a:t>kết</a:t>
            </a:r>
            <a:r>
              <a:rPr lang="en-US" sz="2800" dirty="0">
                <a:solidFill>
                  <a:srgbClr val="0066FF"/>
                </a:solidFill>
              </a:rPr>
              <a:t> </a:t>
            </a:r>
            <a:r>
              <a:rPr lang="en-US" sz="2800" dirty="0" err="1">
                <a:solidFill>
                  <a:srgbClr val="0066FF"/>
                </a:solidFill>
              </a:rPr>
              <a:t>quả</a:t>
            </a:r>
            <a:r>
              <a:rPr lang="en-US" sz="2800" dirty="0">
                <a:solidFill>
                  <a:srgbClr val="0066FF"/>
                </a:solidFill>
              </a:rPr>
              <a:t> </a:t>
            </a:r>
            <a:r>
              <a:rPr lang="en-US" sz="2800" dirty="0" err="1">
                <a:solidFill>
                  <a:srgbClr val="0066FF"/>
                </a:solidFill>
              </a:rPr>
              <a:t>mô</a:t>
            </a:r>
            <a:r>
              <a:rPr lang="en-US" sz="2800" dirty="0">
                <a:solidFill>
                  <a:srgbClr val="0066FF"/>
                </a:solidFill>
              </a:rPr>
              <a:t> </a:t>
            </a:r>
            <a:r>
              <a:rPr lang="en-US" sz="2800" dirty="0" err="1">
                <a:solidFill>
                  <a:srgbClr val="0066FF"/>
                </a:solidFill>
              </a:rPr>
              <a:t>hình</a:t>
            </a:r>
            <a:r>
              <a:rPr lang="en-US" sz="2800" dirty="0">
                <a:solidFill>
                  <a:srgbClr val="0066FF"/>
                </a:solidFill>
              </a:rPr>
              <a:t> </a:t>
            </a:r>
            <a:r>
              <a:rPr lang="en-US" sz="2800" dirty="0" err="1">
                <a:solidFill>
                  <a:srgbClr val="0066FF"/>
                </a:solidFill>
              </a:rPr>
              <a:t>trên</a:t>
            </a:r>
            <a:r>
              <a:rPr lang="en-US" sz="2800" dirty="0">
                <a:solidFill>
                  <a:srgbClr val="0066FF"/>
                </a:solidFill>
              </a:rPr>
              <a:t> </a:t>
            </a:r>
            <a:r>
              <a:rPr lang="en-US" sz="2800" dirty="0" err="1">
                <a:solidFill>
                  <a:srgbClr val="0066FF"/>
                </a:solidFill>
              </a:rPr>
              <a:t>tập</a:t>
            </a:r>
            <a:r>
              <a:rPr lang="en-US" sz="2800" dirty="0">
                <a:solidFill>
                  <a:srgbClr val="0066FF"/>
                </a:solidFill>
              </a:rPr>
              <a:t> </a:t>
            </a:r>
            <a:r>
              <a:rPr lang="en-US" sz="2800" dirty="0" err="1">
                <a:solidFill>
                  <a:srgbClr val="0066FF"/>
                </a:solidFill>
              </a:rPr>
              <a:t>traning</a:t>
            </a:r>
            <a:r>
              <a:rPr lang="en-US" sz="2800" dirty="0">
                <a:solidFill>
                  <a:srgbClr val="0066FF"/>
                </a:solidFill>
              </a:rPr>
              <a:t>.</a:t>
            </a:r>
          </a:p>
          <a:p>
            <a:pPr algn="just"/>
            <a:endParaRPr lang="en-US" sz="2800" dirty="0">
              <a:solidFill>
                <a:srgbClr val="000000"/>
              </a:solidFill>
              <a:latin typeface="Consolas" panose="020B0609020204030204" pitchFamily="49" charset="0"/>
            </a:endParaRPr>
          </a:p>
          <a:p>
            <a:pPr marL="457200" indent="-457200">
              <a:buFont typeface="+mj-lt"/>
              <a:buAutoNum type="arabicPeriod" startAt="42"/>
            </a:pPr>
            <a:r>
              <a:rPr lang="vi-VN" dirty="0" err="1">
                <a:solidFill>
                  <a:srgbClr val="000000"/>
                </a:solidFill>
                <a:latin typeface="Consolas" panose="020B0609020204030204" pitchFamily="49" charset="0"/>
              </a:rPr>
              <a:t>VisualizingResult</a:t>
            </a:r>
            <a:r>
              <a:rPr lang="vi-VN" dirty="0">
                <a:solidFill>
                  <a:srgbClr val="000000"/>
                </a:solidFill>
                <a:latin typeface="Consolas" panose="020B0609020204030204" pitchFamily="49" charset="0"/>
              </a:rPr>
              <a:t>(</a:t>
            </a:r>
            <a:r>
              <a:rPr lang="vi-VN" dirty="0" err="1">
                <a:solidFill>
                  <a:srgbClr val="000000"/>
                </a:solidFill>
                <a:latin typeface="Consolas" panose="020B0609020204030204" pitchFamily="49" charset="0"/>
              </a:rPr>
              <a:t>classifier</a:t>
            </a:r>
            <a:r>
              <a:rPr lang="vi-VN" dirty="0">
                <a:solidFill>
                  <a:srgbClr val="000000"/>
                </a:solidFill>
                <a:latin typeface="Consolas" panose="020B0609020204030204" pitchFamily="49" charset="0"/>
              </a:rPr>
              <a:t>, </a:t>
            </a:r>
            <a:r>
              <a:rPr lang="vi-VN" dirty="0" err="1">
                <a:solidFill>
                  <a:srgbClr val="000000"/>
                </a:solidFill>
                <a:latin typeface="Consolas" panose="020B0609020204030204" pitchFamily="49" charset="0"/>
              </a:rPr>
              <a:t>X_test</a:t>
            </a:r>
            <a:r>
              <a:rPr lang="vi-VN" dirty="0">
                <a:solidFill>
                  <a:srgbClr val="000000"/>
                </a:solidFill>
                <a:latin typeface="Consolas" panose="020B0609020204030204" pitchFamily="49" charset="0"/>
              </a:rPr>
              <a:t>)</a:t>
            </a:r>
          </a:p>
          <a:p>
            <a:pPr marL="457200" indent="-457200">
              <a:buFont typeface="+mj-lt"/>
              <a:buAutoNum type="arabicPeriod" startAt="42"/>
            </a:pPr>
            <a:r>
              <a:rPr lang="en-US" dirty="0" err="1">
                <a:solidFill>
                  <a:srgbClr val="000000"/>
                </a:solidFill>
                <a:latin typeface="Consolas" panose="020B0609020204030204" pitchFamily="49" charset="0"/>
              </a:rPr>
              <a:t>VisualizingDataset</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X_test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y_test</a:t>
            </a:r>
            <a:r>
              <a:rPr lang="en-US" dirty="0">
                <a:solidFill>
                  <a:srgbClr val="000000"/>
                </a:solidFill>
                <a:latin typeface="Consolas" panose="020B0609020204030204" pitchFamily="49" charset="0"/>
              </a:rPr>
              <a:t>)</a:t>
            </a:r>
          </a:p>
          <a:p>
            <a:pPr marL="457200" indent="-457200">
              <a:buFont typeface="+mj-lt"/>
              <a:buAutoNum type="arabicPeriod" startAt="42"/>
            </a:pPr>
            <a:r>
              <a:rPr lang="vi-VN" dirty="0" err="1">
                <a:solidFill>
                  <a:srgbClr val="000000"/>
                </a:solidFill>
                <a:latin typeface="Consolas" panose="020B0609020204030204" pitchFamily="49" charset="0"/>
              </a:rPr>
              <a:t>plt.show</a:t>
            </a:r>
            <a:r>
              <a:rPr lang="vi-VN" dirty="0">
                <a:solidFill>
                  <a:srgbClr val="000000"/>
                </a:solidFill>
                <a:latin typeface="Consolas" panose="020B0609020204030204" pitchFamily="49" charset="0"/>
              </a:rPr>
              <a:t>()</a:t>
            </a:r>
            <a:endParaRPr lang="vi-VN" sz="3200" dirty="0">
              <a:latin typeface="Arial" panose="020B0604020202020204" pitchFamily="34" charset="0"/>
            </a:endParaRPr>
          </a:p>
        </p:txBody>
      </p:sp>
    </p:spTree>
    <p:extLst>
      <p:ext uri="{BB962C8B-B14F-4D97-AF65-F5344CB8AC3E}">
        <p14:creationId xmlns:p14="http://schemas.microsoft.com/office/powerpoint/2010/main" val="325546220"/>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87E84A-3B19-4FF8-969F-5C38D9EFB492}"/>
              </a:ext>
            </a:extLst>
          </p:cNvPr>
          <p:cNvSpPr>
            <a:spLocks noGrp="1"/>
          </p:cNvSpPr>
          <p:nvPr>
            <p:ph type="title"/>
          </p:nvPr>
        </p:nvSpPr>
        <p:spPr/>
        <p:txBody>
          <a:bodyPr/>
          <a:lstStyle/>
          <a:p>
            <a:r>
              <a:rPr lang="vi-VN" dirty="0" err="1"/>
              <a:t>Kiểm</a:t>
            </a:r>
            <a:r>
              <a:rPr lang="vi-VN" dirty="0"/>
              <a:t> tra </a:t>
            </a:r>
            <a:r>
              <a:rPr lang="vi-VN" dirty="0" err="1"/>
              <a:t>kết</a:t>
            </a:r>
            <a:r>
              <a:rPr lang="vi-VN" dirty="0"/>
              <a:t> </a:t>
            </a:r>
            <a:r>
              <a:rPr lang="vi-VN" dirty="0" err="1"/>
              <a:t>quả</a:t>
            </a:r>
            <a:r>
              <a:rPr lang="vi-VN" dirty="0"/>
              <a:t> trên </a:t>
            </a:r>
            <a:r>
              <a:rPr lang="vi-VN" dirty="0" err="1"/>
              <a:t>tập</a:t>
            </a:r>
            <a:r>
              <a:rPr lang="vi-VN" dirty="0"/>
              <a:t> </a:t>
            </a:r>
            <a:r>
              <a:rPr lang="vi-VN" dirty="0" err="1"/>
              <a:t>test</a:t>
            </a:r>
            <a:endParaRPr lang="vi-VN" dirty="0"/>
          </a:p>
        </p:txBody>
      </p:sp>
      <p:pic>
        <p:nvPicPr>
          <p:cNvPr id="3" name="Content Placeholder 2">
            <a:extLst>
              <a:ext uri="{FF2B5EF4-FFF2-40B4-BE49-F238E27FC236}">
                <a16:creationId xmlns:a16="http://schemas.microsoft.com/office/drawing/2014/main" id="{6BB71340-2AD1-4F38-9AB0-A993E6E9C05E}"/>
              </a:ext>
            </a:extLst>
          </p:cNvPr>
          <p:cNvPicPr>
            <a:picLocks noGrp="1" noChangeAspect="1"/>
          </p:cNvPicPr>
          <p:nvPr>
            <p:ph idx="1"/>
          </p:nvPr>
        </p:nvPicPr>
        <p:blipFill>
          <a:blip r:embed="rId2"/>
          <a:stretch>
            <a:fillRect/>
          </a:stretch>
        </p:blipFill>
        <p:spPr>
          <a:xfrm>
            <a:off x="1524000" y="1739106"/>
            <a:ext cx="5829300" cy="4248150"/>
          </a:xfrm>
          <a:prstGeom prst="rect">
            <a:avLst/>
          </a:prstGeom>
        </p:spPr>
      </p:pic>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6A7F4F5C-A226-469A-94F4-E5880927992E}"/>
                  </a:ext>
                </a:extLst>
              </p:cNvPr>
              <p:cNvGraphicFramePr>
                <a:graphicFrameLocks noGrp="1"/>
              </p:cNvGraphicFramePr>
              <p:nvPr/>
            </p:nvGraphicFramePr>
            <p:xfrm>
              <a:off x="7924800" y="2308702"/>
              <a:ext cx="3276600" cy="1554480"/>
            </p:xfrm>
            <a:graphic>
              <a:graphicData uri="http://schemas.openxmlformats.org/drawingml/2006/table">
                <a:tbl>
                  <a:tblPr firstRow="1" bandRow="1">
                    <a:tableStyleId>{21E4AEA4-8DFA-4A89-87EB-49C32662AFE0}</a:tableStyleId>
                  </a:tblPr>
                  <a:tblGrid>
                    <a:gridCol w="1092200">
                      <a:extLst>
                        <a:ext uri="{9D8B030D-6E8A-4147-A177-3AD203B41FA5}">
                          <a16:colId xmlns:a16="http://schemas.microsoft.com/office/drawing/2014/main" val="4171667629"/>
                        </a:ext>
                      </a:extLst>
                    </a:gridCol>
                    <a:gridCol w="1092200">
                      <a:extLst>
                        <a:ext uri="{9D8B030D-6E8A-4147-A177-3AD203B41FA5}">
                          <a16:colId xmlns:a16="http://schemas.microsoft.com/office/drawing/2014/main" val="523946260"/>
                        </a:ext>
                      </a:extLst>
                    </a:gridCol>
                    <a:gridCol w="1092200">
                      <a:extLst>
                        <a:ext uri="{9D8B030D-6E8A-4147-A177-3AD203B41FA5}">
                          <a16:colId xmlns:a16="http://schemas.microsoft.com/office/drawing/2014/main" val="1766665144"/>
                        </a:ext>
                      </a:extLst>
                    </a:gridCol>
                  </a:tblGrid>
                  <a:tr h="431800">
                    <a:tc>
                      <a:txBody>
                        <a:bodyPr/>
                        <a:lstStyle/>
                        <a:p>
                          <a:pPr algn="ctr"/>
                          <a:endParaRPr lang="vi-VN" sz="2800" dirty="0">
                            <a:solidFill>
                              <a:schemeClr val="bg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vi-VN" sz="2800" dirty="0"/>
                            <a:t>0</a:t>
                          </a:r>
                        </a:p>
                      </a:txBody>
                      <a:tcPr anchor="ctr">
                        <a:lnL w="12700" cmpd="sng">
                          <a:noFill/>
                        </a:lnL>
                      </a:tcPr>
                    </a:tc>
                    <a:tc>
                      <a:txBody>
                        <a:bodyPr/>
                        <a:lstStyle/>
                        <a:p>
                          <a:pPr algn="ctr"/>
                          <a:r>
                            <a:rPr lang="vi-VN" sz="2800" dirty="0"/>
                            <a:t>1</a:t>
                          </a:r>
                        </a:p>
                      </a:txBody>
                      <a:tcPr anchor="ctr"/>
                    </a:tc>
                    <a:extLst>
                      <a:ext uri="{0D108BD9-81ED-4DB2-BD59-A6C34878D82A}">
                        <a16:rowId xmlns:a16="http://schemas.microsoft.com/office/drawing/2014/main" val="3216580"/>
                      </a:ext>
                    </a:extLst>
                  </a:tr>
                  <a:tr h="431800">
                    <a:tc>
                      <a:txBody>
                        <a:bodyPr/>
                        <a:lstStyle/>
                        <a:p>
                          <a:pPr algn="ctr"/>
                          <a:r>
                            <a:rPr lang="vi-VN" sz="2800" b="1" dirty="0">
                              <a:solidFill>
                                <a:schemeClr val="bg1"/>
                              </a:solidFill>
                            </a:rPr>
                            <a:t>0</a:t>
                          </a:r>
                        </a:p>
                      </a:txBody>
                      <a:tcPr anchor="ctr">
                        <a:lnT w="38100" cmpd="sng">
                          <a:noFill/>
                        </a:lnT>
                        <a:solidFill>
                          <a:schemeClr val="accent2"/>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5</m:t>
                                </m:r>
                                <m:r>
                                  <a:rPr lang="vi-VN" sz="2800" b="0" i="1" dirty="0" smtClean="0">
                                    <a:latin typeface="Cambria Math" panose="02040503050406030204" pitchFamily="18" charset="0"/>
                                  </a:rPr>
                                  <m:t>7</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b="0" i="1" smtClean="0">
                                    <a:latin typeface="Cambria Math" panose="02040503050406030204" pitchFamily="18" charset="0"/>
                                  </a:rPr>
                                  <m:t>1</m:t>
                                </m:r>
                              </m:oMath>
                            </m:oMathPara>
                          </a14:m>
                          <a:endParaRPr lang="vi-VN" sz="2800" dirty="0"/>
                        </a:p>
                      </a:txBody>
                      <a:tcPr anchor="ctr"/>
                    </a:tc>
                    <a:extLst>
                      <a:ext uri="{0D108BD9-81ED-4DB2-BD59-A6C34878D82A}">
                        <a16:rowId xmlns:a16="http://schemas.microsoft.com/office/drawing/2014/main" val="3641710761"/>
                      </a:ext>
                    </a:extLst>
                  </a:tr>
                  <a:tr h="431800">
                    <a:tc>
                      <a:txBody>
                        <a:bodyPr/>
                        <a:lstStyle/>
                        <a:p>
                          <a:pPr algn="ctr"/>
                          <a:r>
                            <a:rPr lang="vi-VN" sz="2800" b="1" dirty="0">
                              <a:solidFill>
                                <a:schemeClr val="bg1"/>
                              </a:solidFill>
                            </a:rPr>
                            <a:t>1</a:t>
                          </a:r>
                        </a:p>
                      </a:txBody>
                      <a:tcPr anchor="ctr">
                        <a:solidFill>
                          <a:schemeClr val="accent2"/>
                        </a:solidFill>
                      </a:tcPr>
                    </a:tc>
                    <a:tc>
                      <a:txBody>
                        <a:bodyPr/>
                        <a:lstStyle/>
                        <a:p>
                          <a:pPr algn="ctr"/>
                          <a14:m>
                            <m:oMathPara xmlns:m="http://schemas.openxmlformats.org/officeDocument/2006/math">
                              <m:oMathParaPr>
                                <m:jc m:val="centerGroup"/>
                              </m:oMathParaPr>
                              <m:oMath xmlns:m="http://schemas.openxmlformats.org/officeDocument/2006/math">
                                <m:r>
                                  <a:rPr lang="vi-VN" sz="2800" b="0" i="1" smtClean="0">
                                    <a:latin typeface="Cambria Math" panose="02040503050406030204" pitchFamily="18" charset="0"/>
                                  </a:rPr>
                                  <m:t>6</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m:t>
                                </m:r>
                                <m:r>
                                  <a:rPr lang="vi-VN" sz="2800" b="0" i="1" dirty="0" smtClean="0">
                                    <a:latin typeface="Cambria Math" panose="02040503050406030204" pitchFamily="18" charset="0"/>
                                  </a:rPr>
                                  <m:t>6</m:t>
                                </m:r>
                              </m:oMath>
                            </m:oMathPara>
                          </a14:m>
                          <a:endParaRPr lang="vi-VN" sz="2800" dirty="0"/>
                        </a:p>
                      </a:txBody>
                      <a:tcPr anchor="ctr"/>
                    </a:tc>
                    <a:extLst>
                      <a:ext uri="{0D108BD9-81ED-4DB2-BD59-A6C34878D82A}">
                        <a16:rowId xmlns:a16="http://schemas.microsoft.com/office/drawing/2014/main" val="2250376396"/>
                      </a:ext>
                    </a:extLst>
                  </a:tr>
                </a:tbl>
              </a:graphicData>
            </a:graphic>
          </p:graphicFrame>
        </mc:Choice>
        <mc:Fallback xmlns="">
          <p:graphicFrame>
            <p:nvGraphicFramePr>
              <p:cNvPr id="5" name="Table 4">
                <a:extLst>
                  <a:ext uri="{FF2B5EF4-FFF2-40B4-BE49-F238E27FC236}">
                    <a16:creationId xmlns:a16="http://schemas.microsoft.com/office/drawing/2014/main" id="{6A7F4F5C-A226-469A-94F4-E5880927992E}"/>
                  </a:ext>
                </a:extLst>
              </p:cNvPr>
              <p:cNvGraphicFramePr>
                <a:graphicFrameLocks noGrp="1"/>
              </p:cNvGraphicFramePr>
              <p:nvPr>
                <p:extLst>
                  <p:ext uri="{D42A27DB-BD31-4B8C-83A1-F6EECF244321}">
                    <p14:modId xmlns:p14="http://schemas.microsoft.com/office/powerpoint/2010/main" val="3681009774"/>
                  </p:ext>
                </p:extLst>
              </p:nvPr>
            </p:nvGraphicFramePr>
            <p:xfrm>
              <a:off x="7924800" y="2308702"/>
              <a:ext cx="3276600" cy="1554480"/>
            </p:xfrm>
            <a:graphic>
              <a:graphicData uri="http://schemas.openxmlformats.org/drawingml/2006/table">
                <a:tbl>
                  <a:tblPr firstRow="1" bandRow="1">
                    <a:tableStyleId>{21E4AEA4-8DFA-4A89-87EB-49C32662AFE0}</a:tableStyleId>
                  </a:tblPr>
                  <a:tblGrid>
                    <a:gridCol w="1092200">
                      <a:extLst>
                        <a:ext uri="{9D8B030D-6E8A-4147-A177-3AD203B41FA5}">
                          <a16:colId xmlns:a16="http://schemas.microsoft.com/office/drawing/2014/main" val="4171667629"/>
                        </a:ext>
                      </a:extLst>
                    </a:gridCol>
                    <a:gridCol w="1092200">
                      <a:extLst>
                        <a:ext uri="{9D8B030D-6E8A-4147-A177-3AD203B41FA5}">
                          <a16:colId xmlns:a16="http://schemas.microsoft.com/office/drawing/2014/main" val="523946260"/>
                        </a:ext>
                      </a:extLst>
                    </a:gridCol>
                    <a:gridCol w="1092200">
                      <a:extLst>
                        <a:ext uri="{9D8B030D-6E8A-4147-A177-3AD203B41FA5}">
                          <a16:colId xmlns:a16="http://schemas.microsoft.com/office/drawing/2014/main" val="1766665144"/>
                        </a:ext>
                      </a:extLst>
                    </a:gridCol>
                  </a:tblGrid>
                  <a:tr h="518160">
                    <a:tc>
                      <a:txBody>
                        <a:bodyPr/>
                        <a:lstStyle/>
                        <a:p>
                          <a:pPr algn="ctr"/>
                          <a:endParaRPr lang="vi-VN" sz="2800" dirty="0">
                            <a:solidFill>
                              <a:schemeClr val="bg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vi-VN" sz="2800" dirty="0"/>
                            <a:t>0</a:t>
                          </a:r>
                        </a:p>
                      </a:txBody>
                      <a:tcPr anchor="ctr">
                        <a:lnL w="12700" cmpd="sng">
                          <a:noFill/>
                        </a:lnL>
                      </a:tcPr>
                    </a:tc>
                    <a:tc>
                      <a:txBody>
                        <a:bodyPr/>
                        <a:lstStyle/>
                        <a:p>
                          <a:pPr algn="ctr"/>
                          <a:r>
                            <a:rPr lang="vi-VN" sz="2800" dirty="0"/>
                            <a:t>1</a:t>
                          </a:r>
                        </a:p>
                      </a:txBody>
                      <a:tcPr anchor="ctr"/>
                    </a:tc>
                    <a:extLst>
                      <a:ext uri="{0D108BD9-81ED-4DB2-BD59-A6C34878D82A}">
                        <a16:rowId xmlns:a16="http://schemas.microsoft.com/office/drawing/2014/main" val="3216580"/>
                      </a:ext>
                    </a:extLst>
                  </a:tr>
                  <a:tr h="518160">
                    <a:tc>
                      <a:txBody>
                        <a:bodyPr/>
                        <a:lstStyle/>
                        <a:p>
                          <a:pPr algn="ctr"/>
                          <a:r>
                            <a:rPr lang="vi-VN" sz="2800" b="1" dirty="0">
                              <a:solidFill>
                                <a:schemeClr val="bg1"/>
                              </a:solidFill>
                            </a:rPr>
                            <a:t>0</a:t>
                          </a:r>
                        </a:p>
                      </a:txBody>
                      <a:tcPr anchor="ctr">
                        <a:lnT w="38100" cmpd="sng">
                          <a:noFill/>
                        </a:lnT>
                        <a:solidFill>
                          <a:schemeClr val="accent2"/>
                        </a:solidFill>
                      </a:tcPr>
                    </a:tc>
                    <a:tc>
                      <a:txBody>
                        <a:bodyPr/>
                        <a:lstStyle/>
                        <a:p>
                          <a:endParaRPr lang="vi-VN"/>
                        </a:p>
                      </a:txBody>
                      <a:tcPr anchor="ctr">
                        <a:blipFill>
                          <a:blip r:embed="rId3"/>
                          <a:stretch>
                            <a:fillRect l="-100556" t="-110465" r="-101667" b="-131395"/>
                          </a:stretch>
                        </a:blipFill>
                      </a:tcPr>
                    </a:tc>
                    <a:tc>
                      <a:txBody>
                        <a:bodyPr/>
                        <a:lstStyle/>
                        <a:p>
                          <a:endParaRPr lang="vi-VN"/>
                        </a:p>
                      </a:txBody>
                      <a:tcPr anchor="ctr">
                        <a:blipFill>
                          <a:blip r:embed="rId3"/>
                          <a:stretch>
                            <a:fillRect l="-201676" t="-110465" r="-2235" b="-131395"/>
                          </a:stretch>
                        </a:blipFill>
                      </a:tcPr>
                    </a:tc>
                    <a:extLst>
                      <a:ext uri="{0D108BD9-81ED-4DB2-BD59-A6C34878D82A}">
                        <a16:rowId xmlns:a16="http://schemas.microsoft.com/office/drawing/2014/main" val="3641710761"/>
                      </a:ext>
                    </a:extLst>
                  </a:tr>
                  <a:tr h="518160">
                    <a:tc>
                      <a:txBody>
                        <a:bodyPr/>
                        <a:lstStyle/>
                        <a:p>
                          <a:pPr algn="ctr"/>
                          <a:r>
                            <a:rPr lang="vi-VN" sz="2800" b="1" dirty="0">
                              <a:solidFill>
                                <a:schemeClr val="bg1"/>
                              </a:solidFill>
                            </a:rPr>
                            <a:t>1</a:t>
                          </a:r>
                        </a:p>
                      </a:txBody>
                      <a:tcPr anchor="ctr">
                        <a:solidFill>
                          <a:schemeClr val="accent2"/>
                        </a:solidFill>
                      </a:tcPr>
                    </a:tc>
                    <a:tc>
                      <a:txBody>
                        <a:bodyPr/>
                        <a:lstStyle/>
                        <a:p>
                          <a:endParaRPr lang="vi-VN"/>
                        </a:p>
                      </a:txBody>
                      <a:tcPr anchor="ctr">
                        <a:blipFill>
                          <a:blip r:embed="rId3"/>
                          <a:stretch>
                            <a:fillRect l="-100556" t="-212941" r="-101667" b="-32941"/>
                          </a:stretch>
                        </a:blipFill>
                      </a:tcPr>
                    </a:tc>
                    <a:tc>
                      <a:txBody>
                        <a:bodyPr/>
                        <a:lstStyle/>
                        <a:p>
                          <a:endParaRPr lang="vi-VN"/>
                        </a:p>
                      </a:txBody>
                      <a:tcPr anchor="ctr">
                        <a:blipFill>
                          <a:blip r:embed="rId3"/>
                          <a:stretch>
                            <a:fillRect l="-201676" t="-212941" r="-2235" b="-32941"/>
                          </a:stretch>
                        </a:blipFill>
                      </a:tcPr>
                    </a:tc>
                    <a:extLst>
                      <a:ext uri="{0D108BD9-81ED-4DB2-BD59-A6C34878D82A}">
                        <a16:rowId xmlns:a16="http://schemas.microsoft.com/office/drawing/2014/main" val="2250376396"/>
                      </a:ext>
                    </a:extLst>
                  </a:tr>
                </a:tbl>
              </a:graphicData>
            </a:graphic>
          </p:graphicFrame>
        </mc:Fallback>
      </mc:AlternateContent>
    </p:spTree>
    <p:extLst>
      <p:ext uri="{BB962C8B-B14F-4D97-AF65-F5344CB8AC3E}">
        <p14:creationId xmlns:p14="http://schemas.microsoft.com/office/powerpoint/2010/main" val="4292819245"/>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87E84A-3B19-4FF8-969F-5C38D9EFB492}"/>
              </a:ext>
            </a:extLst>
          </p:cNvPr>
          <p:cNvSpPr>
            <a:spLocks noGrp="1"/>
          </p:cNvSpPr>
          <p:nvPr>
            <p:ph type="title"/>
          </p:nvPr>
        </p:nvSpPr>
        <p:spPr>
          <a:xfrm>
            <a:off x="838199" y="291090"/>
            <a:ext cx="10515599" cy="932688"/>
          </a:xfrm>
        </p:spPr>
        <p:txBody>
          <a:bodyPr vert="horz" lIns="91440" tIns="45720" rIns="91440" bIns="45720" rtlCol="0" anchor="b" wrap="square">
            <a:normAutofit/>
          </a:bodyPr>
          <a:lstStyle/>
          <a:p>
            <a:pPr eaLnBrk="1" hangingPunct="1">
              <a:lnSpc>
                <a:spcPct val="90000"/>
              </a:lnSpc>
              <a:defRPr sz="2800" b="1">
                <a:solidFill>
                  <a:srgbClr val="002060"/>
                </a:solidFill>
                <a:latin typeface="Calibri"/>
              </a:defRPr>
            </a:pPr>
            <a:r>
              <a:t>Kiểm tra kết quả: Siêu Phẳng Phân Tách Cực Đại (Maximal Margin Hyperplane)</a:t>
            </a:r>
          </a:p>
        </p:txBody>
      </p:sp>
      <p:sp>
        <p:nvSpPr>
          <p:cNvPr id="2" name="Content Placeholder 1">
            <a:extLst>
              <a:ext uri="{FF2B5EF4-FFF2-40B4-BE49-F238E27FC236}">
                <a16:creationId xmlns:a16="http://schemas.microsoft.com/office/drawing/2014/main" id="{AD4540C1-FAA8-42E9-B0B2-2EFA782BCA41}"/>
              </a:ext>
            </a:extLst>
          </p:cNvPr>
          <p:cNvSpPr>
            <a:spLocks noGrp="1"/>
          </p:cNvSpPr>
          <p:nvPr>
            <p:ph idx="1"/>
          </p:nvPr>
        </p:nvSpPr>
        <p:spPr>
          <a:xfrm>
            <a:off x="612648" y="1371600"/>
            <a:ext cx="10972800" cy="4937760"/>
          </a:xfrm>
        </p:spPr>
        <p:txBody>
          <a:bodyPr wrap="square"/>
          <a:lstStyle/>
          <a:p>
            <a:pPr algn="just">
              <a:spcBef>
                <a:spcPts val="600"/>
              </a:spcBef>
              <a:spcAft>
                <a:spcPts val="400"/>
              </a:spcAft>
              <a:defRPr sz="1700" b="1">
                <a:solidFill>
                  <a:srgbClr val="003366"/>
                </a:solidFill>
                <a:latin typeface="Calibri"/>
              </a:defRPr>
            </a:pPr>
            <a:r>
              <a:t>Cơ chế hình học của Support Vector Machine:</a:t>
            </a:r>
          </a:p>
          <a:p>
            <a:pPr>
              <a:spcAft>
                <a:spcPts val="300"/>
              </a:spcAft>
              <a:defRPr sz="1500" b="0">
                <a:solidFill>
                  <a:srgbClr val="282828"/>
                </a:solidFill>
                <a:latin typeface="Calibri"/>
              </a:defRPr>
            </a:pPr>
            <a:r>
              <a:t>• SVM không chỉ tìm một đường phân cách ngẫu nhiên, mà tìm siêu phẳng có LỀ (MARGIN) LỚN NHẤT.</a:t>
            </a:r>
          </a:p>
          <a:p>
            <a:pPr>
              <a:spcAft>
                <a:spcPts val="300"/>
              </a:spcAft>
              <a:defRPr sz="1500" b="1">
                <a:solidFill>
                  <a:srgbClr val="282828"/>
                </a:solidFill>
                <a:latin typeface="Calibri"/>
              </a:defRPr>
            </a:pPr>
            <a:r>
              <a:t>• Lề cực đại: d = 2 / ||w||, tối ưu hóa việc phân tách giữa 2 lớp dữ liệu.</a:t>
            </a:r>
          </a:p>
          <a:p>
            <a:pPr>
              <a:spcBef>
                <a:spcPts val="400"/>
              </a:spcBef>
              <a:spcAft>
                <a:spcPts val="400"/>
              </a:spcAft>
              <a:defRPr sz="1700" b="1">
                <a:solidFill>
                  <a:srgbClr val="003366"/>
                </a:solidFill>
                <a:latin typeface="Calibri"/>
              </a:defRPr>
            </a:pPr>
            <a:r>
              <a:t>• Vectơ hỗ trợ (Support Vectors): Chỉ những điểm nằm sát biên lề mới quyết định vị trí siêu phẳng:</a:t>
            </a:r>
          </a:p>
          <a:p>
            <a:pPr>
              <a:spcAft>
                <a:spcPts val="200"/>
              </a:spcAft>
              <a:defRPr sz="1300" b="0">
                <a:solidFill>
                  <a:srgbClr val="004696"/>
                </a:solidFill>
                <a:latin typeface="Consolas"/>
              </a:defRPr>
            </a:pPr>
            <a:r>
              <a:t>print('Số lượng Support Vectors:', len(classifier.support_vectors_))</a:t>
            </a:r>
          </a:p>
          <a:p>
            <a:pPr>
              <a:spcAft>
                <a:spcPts val="400"/>
              </a:spcAft>
              <a:defRPr sz="1300" b="0">
                <a:solidFill>
                  <a:srgbClr val="004696"/>
                </a:solidFill>
                <a:latin typeface="Consolas"/>
              </a:defRPr>
            </a:pPr>
            <a:r>
              <a:t>print('Tọa độ các SV đầu tiên:\n', classifier.support_vectors_[:3])</a:t>
            </a:r>
          </a:p>
          <a:p>
            <a:pPr>
              <a:spcAft>
                <a:spcPts val="200"/>
              </a:spcAft>
              <a:defRPr sz="1200" b="0">
                <a:solidFill>
                  <a:srgbClr val="146428"/>
                </a:solidFill>
                <a:latin typeface="Consolas"/>
              </a:defRPr>
            </a:pPr>
            <a:r>
              <a:t>📌 Tính bền vững: Mọi điểm dữ liệu khác nằm ngoài lề nếu dịch chuyển nhẹ cũng KHÔNG làm thay đổi ranh giới quyết định của SVM!</a:t>
            </a:r>
          </a:p>
        </p:txBody>
      </p:sp>
    </p:spTree>
    <p:extLst>
      <p:ext uri="{BB962C8B-B14F-4D97-AF65-F5344CB8AC3E}">
        <p14:creationId xmlns:p14="http://schemas.microsoft.com/office/powerpoint/2010/main" val="2303035216"/>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87E84A-3B19-4FF8-969F-5C38D9EFB492}"/>
              </a:ext>
            </a:extLst>
          </p:cNvPr>
          <p:cNvSpPr>
            <a:spLocks noGrp="1"/>
          </p:cNvSpPr>
          <p:nvPr>
            <p:ph type="title"/>
          </p:nvPr>
        </p:nvSpPr>
        <p:spPr>
          <a:xfrm>
            <a:off x="838199" y="291090"/>
            <a:ext cx="10515599" cy="932688"/>
          </a:xfrm>
        </p:spPr>
        <p:txBody>
          <a:bodyPr vert="horz" lIns="91440" tIns="45720" rIns="91440" bIns="45720" rtlCol="0" anchor="b">
            <a:normAutofit/>
          </a:bodyPr>
          <a:lstStyle/>
          <a:p>
            <a:pPr eaLnBrk="1" hangingPunct="1">
              <a:lnSpc>
                <a:spcPct val="90000"/>
              </a:lnSpc>
            </a:pPr>
            <a:r>
              <a:rPr lang="en-US" sz="4800" kern="1200" dirty="0" err="1">
                <a:latin typeface="+mj-lt"/>
                <a:ea typeface="+mj-ea"/>
                <a:cs typeface="+mj-cs"/>
              </a:rPr>
              <a:t>Kiểm</a:t>
            </a:r>
            <a:r>
              <a:rPr lang="en-US" sz="4800" kern="1200" dirty="0">
                <a:latin typeface="+mj-lt"/>
                <a:ea typeface="+mj-ea"/>
                <a:cs typeface="+mj-cs"/>
              </a:rPr>
              <a:t> </a:t>
            </a:r>
            <a:r>
              <a:rPr lang="en-US" sz="4800" kern="1200" dirty="0" err="1">
                <a:latin typeface="+mj-lt"/>
                <a:ea typeface="+mj-ea"/>
                <a:cs typeface="+mj-cs"/>
              </a:rPr>
              <a:t>tra</a:t>
            </a:r>
            <a:r>
              <a:rPr lang="en-US" sz="4800" kern="1200" dirty="0">
                <a:latin typeface="+mj-lt"/>
                <a:ea typeface="+mj-ea"/>
                <a:cs typeface="+mj-cs"/>
              </a:rPr>
              <a:t> </a:t>
            </a:r>
            <a:r>
              <a:rPr lang="en-US" sz="4800" kern="1200" dirty="0" err="1">
                <a:latin typeface="+mj-lt"/>
                <a:ea typeface="+mj-ea"/>
                <a:cs typeface="+mj-cs"/>
              </a:rPr>
              <a:t>kết</a:t>
            </a:r>
            <a:r>
              <a:rPr lang="en-US" sz="4800" kern="1200" dirty="0">
                <a:latin typeface="+mj-lt"/>
                <a:ea typeface="+mj-ea"/>
                <a:cs typeface="+mj-cs"/>
              </a:rPr>
              <a:t> </a:t>
            </a:r>
            <a:r>
              <a:rPr lang="en-US" sz="4800" kern="1200" dirty="0" err="1">
                <a:latin typeface="+mj-lt"/>
                <a:ea typeface="+mj-ea"/>
                <a:cs typeface="+mj-cs"/>
              </a:rPr>
              <a:t>quả</a:t>
            </a:r>
            <a:r>
              <a:rPr lang="en-US" sz="4800" kern="1200" dirty="0">
                <a:latin typeface="+mj-lt"/>
                <a:ea typeface="+mj-ea"/>
                <a:cs typeface="+mj-cs"/>
              </a:rPr>
              <a:t> </a:t>
            </a:r>
            <a:r>
              <a:rPr lang="en-US" sz="4800" kern="1200" dirty="0" err="1">
                <a:latin typeface="+mj-lt"/>
                <a:ea typeface="+mj-ea"/>
                <a:cs typeface="+mj-cs"/>
              </a:rPr>
              <a:t>trên</a:t>
            </a:r>
            <a:r>
              <a:rPr lang="en-US" sz="4800" kern="1200" dirty="0">
                <a:latin typeface="+mj-lt"/>
                <a:ea typeface="+mj-ea"/>
                <a:cs typeface="+mj-cs"/>
              </a:rPr>
              <a:t> </a:t>
            </a:r>
            <a:r>
              <a:rPr lang="en-US" sz="4800" kern="1200" dirty="0" err="1">
                <a:latin typeface="+mj-lt"/>
                <a:ea typeface="+mj-ea"/>
                <a:cs typeface="+mj-cs"/>
              </a:rPr>
              <a:t>tập</a:t>
            </a:r>
            <a:r>
              <a:rPr lang="en-US" sz="4800" kern="1200" dirty="0">
                <a:latin typeface="+mj-lt"/>
                <a:ea typeface="+mj-ea"/>
                <a:cs typeface="+mj-cs"/>
              </a:rPr>
              <a:t> test</a:t>
            </a:r>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AD4540C1-FAA8-42E9-B0B2-2EFA782BCA41}"/>
                  </a:ext>
                </a:extLst>
              </p:cNvPr>
              <p:cNvSpPr>
                <a:spLocks noGrp="1"/>
              </p:cNvSpPr>
              <p:nvPr>
                <p:ph idx="1"/>
              </p:nvPr>
            </p:nvSpPr>
            <p:spPr/>
            <p:txBody>
              <a:bodyPr/>
              <a:lstStyle/>
              <a:p>
                <a:pPr algn="just"/>
                <a:r>
                  <a:rPr lang="vi-VN" sz="2800" dirty="0" err="1">
                    <a:solidFill>
                      <a:srgbClr val="0066FF"/>
                    </a:solidFill>
                  </a:rPr>
                  <a:t>Gọi</a:t>
                </a:r>
                <a:r>
                  <a:rPr lang="vi-VN" sz="2800" dirty="0">
                    <a:solidFill>
                      <a:srgbClr val="0066FF"/>
                    </a:solidFill>
                  </a:rPr>
                  <a:t> </a:t>
                </a:r>
                <a:r>
                  <a:rPr lang="vi-VN" sz="2800" dirty="0" err="1">
                    <a:solidFill>
                      <a:srgbClr val="0066FF"/>
                    </a:solidFill>
                  </a:rPr>
                  <a:t>thực</a:t>
                </a:r>
                <a:r>
                  <a:rPr lang="vi-VN" sz="2800" dirty="0">
                    <a:solidFill>
                      <a:srgbClr val="0066FF"/>
                    </a:solidFill>
                  </a:rPr>
                  <a:t> </a:t>
                </a:r>
                <a:r>
                  <a:rPr lang="vi-VN" sz="2800" dirty="0" err="1">
                    <a:solidFill>
                      <a:srgbClr val="0066FF"/>
                    </a:solidFill>
                  </a:rPr>
                  <a:t>hiện</a:t>
                </a:r>
                <a:r>
                  <a:rPr lang="vi-VN" sz="2800" dirty="0">
                    <a:solidFill>
                      <a:srgbClr val="0066FF"/>
                    </a:solidFill>
                  </a:rPr>
                  <a:t> </a:t>
                </a:r>
                <a:r>
                  <a:rPr lang="vi-VN" sz="2800" dirty="0" err="1">
                    <a:solidFill>
                      <a:srgbClr val="0066FF"/>
                    </a:solidFill>
                  </a:rPr>
                  <a:t>hàm</a:t>
                </a:r>
                <a:r>
                  <a:rPr lang="vi-VN" sz="2800" dirty="0">
                    <a:solidFill>
                      <a:srgbClr val="0066FF"/>
                    </a:solidFill>
                  </a:rPr>
                  <a:t> so </a:t>
                </a:r>
                <a:r>
                  <a:rPr lang="vi-VN" sz="2800" dirty="0" err="1">
                    <a:solidFill>
                      <a:srgbClr val="0066FF"/>
                    </a:solidFill>
                  </a:rPr>
                  <a:t>sánh</a:t>
                </a:r>
                <a:r>
                  <a:rPr lang="vi-VN" sz="2800" dirty="0">
                    <a:solidFill>
                      <a:srgbClr val="0066FF"/>
                    </a:solidFill>
                  </a:rPr>
                  <a:t> trên </a:t>
                </a:r>
                <a14:m>
                  <m:oMath xmlns:m="http://schemas.openxmlformats.org/officeDocument/2006/math">
                    <m:r>
                      <a:rPr lang="vi-VN" sz="2800" i="1" dirty="0" smtClean="0">
                        <a:solidFill>
                          <a:srgbClr val="0066FF"/>
                        </a:solidFill>
                        <a:latin typeface="Cambria Math" panose="02040503050406030204" pitchFamily="18" charset="0"/>
                      </a:rPr>
                      <m:t>5</m:t>
                    </m:r>
                  </m:oMath>
                </a14:m>
                <a:r>
                  <a:rPr lang="vi-VN" sz="2800" dirty="0">
                    <a:solidFill>
                      <a:srgbClr val="0066FF"/>
                    </a:solidFill>
                  </a:rPr>
                  <a:t> </a:t>
                </a:r>
                <a:r>
                  <a:rPr lang="vi-VN" sz="2800" dirty="0" err="1">
                    <a:solidFill>
                      <a:srgbClr val="0066FF"/>
                    </a:solidFill>
                  </a:rPr>
                  <a:t>điểm</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a:t>
                </a:r>
                <a:r>
                  <a:rPr lang="vi-VN" sz="2800" dirty="0" err="1">
                    <a:solidFill>
                      <a:srgbClr val="0066FF"/>
                    </a:solidFill>
                  </a:rPr>
                  <a:t>có</a:t>
                </a:r>
                <a:r>
                  <a:rPr lang="vi-VN" sz="2800" dirty="0">
                    <a:solidFill>
                      <a:srgbClr val="0066FF"/>
                    </a:solidFill>
                  </a:rPr>
                  <a:t> </a:t>
                </a:r>
                <a:r>
                  <a:rPr lang="vi-VN" sz="2800" dirty="0" err="1">
                    <a:solidFill>
                      <a:srgbClr val="0066FF"/>
                    </a:solidFill>
                  </a:rPr>
                  <a:t>chỉ</a:t>
                </a:r>
                <a:r>
                  <a:rPr lang="vi-VN" sz="2800" dirty="0">
                    <a:solidFill>
                      <a:srgbClr val="0066FF"/>
                    </a:solidFill>
                  </a:rPr>
                  <a:t> </a:t>
                </a:r>
                <a:r>
                  <a:rPr lang="vi-VN" sz="2800" dirty="0" err="1">
                    <a:solidFill>
                      <a:srgbClr val="0066FF"/>
                    </a:solidFill>
                  </a:rPr>
                  <a:t>mục</a:t>
                </a:r>
                <a:r>
                  <a:rPr lang="vi-VN" sz="2800" dirty="0">
                    <a:solidFill>
                      <a:srgbClr val="0066FF"/>
                    </a:solidFill>
                  </a:rPr>
                  <a:t> </a:t>
                </a:r>
                <a:r>
                  <a:rPr lang="vi-VN" sz="2800" dirty="0" err="1">
                    <a:solidFill>
                      <a:srgbClr val="0066FF"/>
                    </a:solidFill>
                  </a:rPr>
                  <a:t>từ</a:t>
                </a:r>
                <a:r>
                  <a:rPr lang="vi-VN" sz="2800" dirty="0">
                    <a:solidFill>
                      <a:srgbClr val="0066FF"/>
                    </a:solidFill>
                  </a:rPr>
                  <a:t> </a:t>
                </a:r>
                <a:r>
                  <a:rPr lang="vi-VN" sz="2800" dirty="0" err="1">
                    <a:solidFill>
                      <a:srgbClr val="0066FF"/>
                    </a:solidFill>
                  </a:rPr>
                  <a:t>thứ</a:t>
                </a:r>
                <a:r>
                  <a:rPr lang="vi-VN" sz="2800" dirty="0">
                    <a:solidFill>
                      <a:srgbClr val="0066FF"/>
                    </a:solidFill>
                  </a:rPr>
                  <a:t> </a:t>
                </a:r>
                <a14:m>
                  <m:oMath xmlns:m="http://schemas.openxmlformats.org/officeDocument/2006/math">
                    <m:r>
                      <a:rPr lang="vi-VN" sz="2800" i="1" dirty="0" smtClean="0">
                        <a:solidFill>
                          <a:srgbClr val="0066FF"/>
                        </a:solidFill>
                        <a:latin typeface="Cambria Math" panose="02040503050406030204" pitchFamily="18" charset="0"/>
                      </a:rPr>
                      <m:t>7</m:t>
                    </m:r>
                  </m:oMath>
                </a14:m>
                <a:r>
                  <a:rPr lang="vi-VN" sz="2800" dirty="0">
                    <a:solidFill>
                      <a:srgbClr val="0066FF"/>
                    </a:solidFill>
                  </a:rPr>
                  <a:t> </a:t>
                </a:r>
                <a:r>
                  <a:rPr lang="vi-VN" sz="2800" dirty="0" err="1">
                    <a:solidFill>
                      <a:srgbClr val="0066FF"/>
                    </a:solidFill>
                  </a:rPr>
                  <a:t>đến</a:t>
                </a:r>
                <a:r>
                  <a:rPr lang="vi-VN" sz="2800" dirty="0">
                    <a:solidFill>
                      <a:srgbClr val="0066FF"/>
                    </a:solidFill>
                  </a:rPr>
                  <a:t> </a:t>
                </a:r>
                <a14:m>
                  <m:oMath xmlns:m="http://schemas.openxmlformats.org/officeDocument/2006/math">
                    <m:r>
                      <a:rPr lang="vi-VN" sz="2800" i="1" dirty="0" smtClean="0">
                        <a:solidFill>
                          <a:srgbClr val="0066FF"/>
                        </a:solidFill>
                        <a:latin typeface="Cambria Math" panose="02040503050406030204" pitchFamily="18" charset="0"/>
                      </a:rPr>
                      <m:t>11</m:t>
                    </m:r>
                  </m:oMath>
                </a14:m>
                <a:r>
                  <a:rPr lang="vi-VN" sz="2800" dirty="0">
                    <a:solidFill>
                      <a:srgbClr val="0066FF"/>
                    </a:solidFill>
                  </a:rPr>
                  <a:t> trong </a:t>
                </a:r>
                <a:r>
                  <a:rPr lang="vi-VN" sz="2800" dirty="0" err="1">
                    <a:solidFill>
                      <a:srgbClr val="0066FF"/>
                    </a:solidFill>
                  </a:rPr>
                  <a:t>tập</a:t>
                </a:r>
                <a:r>
                  <a:rPr lang="vi-VN" sz="2800" dirty="0">
                    <a:solidFill>
                      <a:srgbClr val="0066FF"/>
                    </a:solidFill>
                  </a:rPr>
                  <a:t> </a:t>
                </a:r>
                <a:r>
                  <a:rPr lang="vi-VN" sz="2800" dirty="0" err="1">
                    <a:solidFill>
                      <a:srgbClr val="0066FF"/>
                    </a:solidFill>
                  </a:rPr>
                  <a:t>kiểm</a:t>
                </a:r>
                <a:r>
                  <a:rPr lang="vi-VN" sz="2800" dirty="0">
                    <a:solidFill>
                      <a:srgbClr val="0066FF"/>
                    </a:solidFill>
                  </a:rPr>
                  <a:t> </a:t>
                </a:r>
                <a:r>
                  <a:rPr lang="vi-VN" sz="2800" dirty="0" err="1">
                    <a:solidFill>
                      <a:srgbClr val="0066FF"/>
                    </a:solidFill>
                  </a:rPr>
                  <a:t>thử</a:t>
                </a:r>
                <a:r>
                  <a:rPr lang="vi-VN" sz="2800" dirty="0">
                    <a:solidFill>
                      <a:srgbClr val="0066FF"/>
                    </a:solidFill>
                  </a:rPr>
                  <a:t>.</a:t>
                </a:r>
              </a:p>
              <a:p>
                <a:pPr algn="just"/>
                <a:endParaRPr lang="vi-VN" sz="2800" dirty="0">
                  <a:solidFill>
                    <a:srgbClr val="0066FF"/>
                  </a:solidFill>
                </a:endParaRPr>
              </a:p>
              <a:p>
                <a:endParaRPr lang="vi-VN" sz="2800" dirty="0">
                  <a:solidFill>
                    <a:srgbClr val="000000"/>
                  </a:solidFill>
                  <a:latin typeface="Consolas" panose="020B0609020204030204" pitchFamily="49" charset="0"/>
                </a:endParaRPr>
              </a:p>
              <a:p>
                <a:pPr marL="514350" indent="-514350">
                  <a:buFont typeface="+mj-lt"/>
                  <a:buAutoNum type="arabicPeriod" startAt="51"/>
                </a:pPr>
                <a:r>
                  <a:rPr lang="en-US" dirty="0">
                    <a:solidFill>
                      <a:srgbClr val="AF00DB"/>
                    </a:solidFill>
                    <a:latin typeface="Consolas" panose="020B0609020204030204" pitchFamily="49" charset="0"/>
                  </a:rPr>
                  <a:t>for</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a:t>
                </a:r>
                <a:r>
                  <a:rPr lang="en-US" dirty="0">
                    <a:solidFill>
                      <a:srgbClr val="000000"/>
                    </a:solidFill>
                    <a:latin typeface="Consolas" panose="020B0609020204030204" pitchFamily="49" charset="0"/>
                  </a:rPr>
                  <a:t> </a:t>
                </a:r>
                <a:r>
                  <a:rPr lang="en-US" dirty="0">
                    <a:solidFill>
                      <a:srgbClr val="795E26"/>
                    </a:solidFill>
                    <a:latin typeface="Consolas" panose="020B0609020204030204" pitchFamily="49" charset="0"/>
                  </a:rPr>
                  <a:t>range</a:t>
                </a:r>
                <a:r>
                  <a:rPr lang="en-US" dirty="0">
                    <a:solidFill>
                      <a:srgbClr val="000000"/>
                    </a:solidFill>
                    <a:latin typeface="Consolas" panose="020B0609020204030204" pitchFamily="49" charset="0"/>
                  </a:rPr>
                  <a:t>(</a:t>
                </a:r>
                <a:r>
                  <a:rPr lang="en-US" dirty="0">
                    <a:solidFill>
                      <a:srgbClr val="09885A"/>
                    </a:solidFill>
                    <a:latin typeface="Consolas" panose="020B0609020204030204" pitchFamily="49" charset="0"/>
                  </a:rPr>
                  <a:t>7</a:t>
                </a:r>
                <a:r>
                  <a:rPr lang="en-US" dirty="0">
                    <a:solidFill>
                      <a:srgbClr val="000000"/>
                    </a:solidFill>
                    <a:latin typeface="Consolas" panose="020B0609020204030204" pitchFamily="49" charset="0"/>
                  </a:rPr>
                  <a:t>, </a:t>
                </a:r>
                <a:r>
                  <a:rPr lang="en-US" dirty="0">
                    <a:solidFill>
                      <a:srgbClr val="09885A"/>
                    </a:solidFill>
                    <a:latin typeface="Consolas" panose="020B0609020204030204" pitchFamily="49" charset="0"/>
                  </a:rPr>
                  <a:t>12</a:t>
                </a:r>
                <a:r>
                  <a:rPr lang="en-US" dirty="0">
                    <a:solidFill>
                      <a:srgbClr val="000000"/>
                    </a:solidFill>
                    <a:latin typeface="Consolas" panose="020B0609020204030204" pitchFamily="49" charset="0"/>
                  </a:rPr>
                  <a:t>):</a:t>
                </a:r>
              </a:p>
              <a:p>
                <a:pPr marL="514350" indent="-514350">
                  <a:buFont typeface="+mj-lt"/>
                  <a:buAutoNum type="arabicPeriod" startAt="51"/>
                </a:pPr>
                <a:r>
                  <a:rPr lang="vi-VN" dirty="0">
                    <a:solidFill>
                      <a:srgbClr val="000000"/>
                    </a:solidFill>
                    <a:latin typeface="Consolas" panose="020B0609020204030204" pitchFamily="49" charset="0"/>
                  </a:rPr>
                  <a:t>    </a:t>
                </a:r>
                <a:r>
                  <a:rPr lang="vi-VN" dirty="0" err="1">
                    <a:solidFill>
                      <a:srgbClr val="000000"/>
                    </a:solidFill>
                    <a:latin typeface="Consolas" panose="020B0609020204030204" pitchFamily="49" charset="0"/>
                  </a:rPr>
                  <a:t>compare</a:t>
                </a:r>
                <a:r>
                  <a:rPr lang="vi-VN" dirty="0">
                    <a:solidFill>
                      <a:srgbClr val="000000"/>
                    </a:solidFill>
                    <a:latin typeface="Consolas" panose="020B0609020204030204" pitchFamily="49" charset="0"/>
                  </a:rPr>
                  <a:t>(i)</a:t>
                </a:r>
              </a:p>
            </p:txBody>
          </p:sp>
        </mc:Choice>
        <mc:Fallback xmlns="">
          <p:sp>
            <p:nvSpPr>
              <p:cNvPr id="2" name="Content Placeholder 1">
                <a:extLst>
                  <a:ext uri="{FF2B5EF4-FFF2-40B4-BE49-F238E27FC236}">
                    <a16:creationId xmlns:a16="http://schemas.microsoft.com/office/drawing/2014/main" id="{AD4540C1-FAA8-42E9-B0B2-2EFA782BCA41}"/>
                  </a:ext>
                </a:extLst>
              </p:cNvPr>
              <p:cNvSpPr>
                <a:spLocks noGrp="1" noRot="1" noChangeAspect="1" noMove="1" noResize="1" noEditPoints="1" noAdjustHandles="1" noChangeArrowheads="1" noChangeShapeType="1" noTextEdit="1"/>
              </p:cNvSpPr>
              <p:nvPr>
                <p:ph idx="1"/>
              </p:nvPr>
            </p:nvSpPr>
            <p:spPr>
              <a:blipFill>
                <a:blip r:embed="rId2"/>
                <a:stretch>
                  <a:fillRect l="-1000" t="-1482" r="-1111"/>
                </a:stretch>
              </a:blipFill>
            </p:spPr>
            <p:txBody>
              <a:bodyPr/>
              <a:lstStyle/>
              <a:p>
                <a:r>
                  <a:rPr lang="vi-VN">
                    <a:noFill/>
                  </a:rPr>
                  <a:t> </a:t>
                </a:r>
              </a:p>
            </p:txBody>
          </p:sp>
        </mc:Fallback>
      </mc:AlternateContent>
    </p:spTree>
    <p:extLst>
      <p:ext uri="{BB962C8B-B14F-4D97-AF65-F5344CB8AC3E}">
        <p14:creationId xmlns:p14="http://schemas.microsoft.com/office/powerpoint/2010/main" val="2980591225"/>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87E84A-3B19-4FF8-969F-5C38D9EFB492}"/>
              </a:ext>
            </a:extLst>
          </p:cNvPr>
          <p:cNvSpPr>
            <a:spLocks noGrp="1"/>
          </p:cNvSpPr>
          <p:nvPr>
            <p:ph type="title"/>
          </p:nvPr>
        </p:nvSpPr>
        <p:spPr>
          <a:xfrm>
            <a:off x="838199" y="291090"/>
            <a:ext cx="10515599" cy="932688"/>
          </a:xfrm>
        </p:spPr>
        <p:txBody>
          <a:bodyPr vert="horz" lIns="91440" tIns="45720" rIns="91440" bIns="45720" rtlCol="0" anchor="b">
            <a:normAutofit/>
          </a:bodyPr>
          <a:lstStyle/>
          <a:p>
            <a:pPr eaLnBrk="1" hangingPunct="1">
              <a:lnSpc>
                <a:spcPct val="90000"/>
              </a:lnSpc>
            </a:pPr>
            <a:r>
              <a:rPr lang="en-US" sz="4800" kern="1200" dirty="0" err="1">
                <a:latin typeface="+mj-lt"/>
                <a:ea typeface="+mj-ea"/>
                <a:cs typeface="+mj-cs"/>
              </a:rPr>
              <a:t>Kiểm</a:t>
            </a:r>
            <a:r>
              <a:rPr lang="en-US" sz="4800" kern="1200" dirty="0">
                <a:latin typeface="+mj-lt"/>
                <a:ea typeface="+mj-ea"/>
                <a:cs typeface="+mj-cs"/>
              </a:rPr>
              <a:t> </a:t>
            </a:r>
            <a:r>
              <a:rPr lang="en-US" sz="4800" kern="1200" dirty="0" err="1">
                <a:latin typeface="+mj-lt"/>
                <a:ea typeface="+mj-ea"/>
                <a:cs typeface="+mj-cs"/>
              </a:rPr>
              <a:t>tra</a:t>
            </a:r>
            <a:r>
              <a:rPr lang="en-US" sz="4800" kern="1200" dirty="0">
                <a:latin typeface="+mj-lt"/>
                <a:ea typeface="+mj-ea"/>
                <a:cs typeface="+mj-cs"/>
              </a:rPr>
              <a:t> </a:t>
            </a:r>
            <a:r>
              <a:rPr lang="en-US" sz="4800" kern="1200" dirty="0" err="1">
                <a:latin typeface="+mj-lt"/>
                <a:ea typeface="+mj-ea"/>
                <a:cs typeface="+mj-cs"/>
              </a:rPr>
              <a:t>kết</a:t>
            </a:r>
            <a:r>
              <a:rPr lang="en-US" sz="4800" kern="1200" dirty="0">
                <a:latin typeface="+mj-lt"/>
                <a:ea typeface="+mj-ea"/>
                <a:cs typeface="+mj-cs"/>
              </a:rPr>
              <a:t> </a:t>
            </a:r>
            <a:r>
              <a:rPr lang="en-US" sz="4800" kern="1200" dirty="0" err="1">
                <a:latin typeface="+mj-lt"/>
                <a:ea typeface="+mj-ea"/>
                <a:cs typeface="+mj-cs"/>
              </a:rPr>
              <a:t>quả</a:t>
            </a:r>
            <a:r>
              <a:rPr lang="en-US" sz="4800" kern="1200" dirty="0">
                <a:latin typeface="+mj-lt"/>
                <a:ea typeface="+mj-ea"/>
                <a:cs typeface="+mj-cs"/>
              </a:rPr>
              <a:t> </a:t>
            </a:r>
            <a:r>
              <a:rPr lang="en-US" sz="4800" kern="1200" dirty="0" err="1">
                <a:latin typeface="+mj-lt"/>
                <a:ea typeface="+mj-ea"/>
                <a:cs typeface="+mj-cs"/>
              </a:rPr>
              <a:t>trên</a:t>
            </a:r>
            <a:r>
              <a:rPr lang="en-US" sz="4800" kern="1200" dirty="0">
                <a:latin typeface="+mj-lt"/>
                <a:ea typeface="+mj-ea"/>
                <a:cs typeface="+mj-cs"/>
              </a:rPr>
              <a:t> </a:t>
            </a:r>
            <a:r>
              <a:rPr lang="en-US" sz="4800" kern="1200" dirty="0" err="1">
                <a:latin typeface="+mj-lt"/>
                <a:ea typeface="+mj-ea"/>
                <a:cs typeface="+mj-cs"/>
              </a:rPr>
              <a:t>tập</a:t>
            </a:r>
            <a:r>
              <a:rPr lang="en-US" sz="4800" kern="1200" dirty="0">
                <a:latin typeface="+mj-lt"/>
                <a:ea typeface="+mj-ea"/>
                <a:cs typeface="+mj-cs"/>
              </a:rPr>
              <a:t> test</a:t>
            </a:r>
          </a:p>
        </p:txBody>
      </p:sp>
      <mc:AlternateContent xmlns:mc="http://schemas.openxmlformats.org/markup-compatibility/2006" xmlns:a14="http://schemas.microsoft.com/office/drawing/2010/main">
        <mc:Choice Requires="a14">
          <p:graphicFrame>
            <p:nvGraphicFramePr>
              <p:cNvPr id="5" name="Content Placeholder 3">
                <a:extLst>
                  <a:ext uri="{FF2B5EF4-FFF2-40B4-BE49-F238E27FC236}">
                    <a16:creationId xmlns:a16="http://schemas.microsoft.com/office/drawing/2014/main" id="{ECC9B8FD-DF83-49A2-98AF-3CB75CF1DBE8}"/>
                  </a:ext>
                </a:extLst>
              </p:cNvPr>
              <p:cNvGraphicFramePr>
                <a:graphicFrameLocks noGrp="1"/>
              </p:cNvGraphicFramePr>
              <p:nvPr>
                <p:ph idx="1"/>
              </p:nvPr>
            </p:nvGraphicFramePr>
            <p:xfrm>
              <a:off x="1676398" y="1950720"/>
              <a:ext cx="8839200" cy="3535680"/>
            </p:xfrm>
            <a:graphic>
              <a:graphicData uri="http://schemas.openxmlformats.org/drawingml/2006/table">
                <a:tbl>
                  <a:tblPr firstRow="1" bandRow="1">
                    <a:tableStyleId>{21E4AEA4-8DFA-4A89-87EB-49C32662AFE0}</a:tableStyleId>
                  </a:tblPr>
                  <a:tblGrid>
                    <a:gridCol w="1645920">
                      <a:extLst>
                        <a:ext uri="{9D8B030D-6E8A-4147-A177-3AD203B41FA5}">
                          <a16:colId xmlns:a16="http://schemas.microsoft.com/office/drawing/2014/main" val="3600337692"/>
                        </a:ext>
                      </a:extLst>
                    </a:gridCol>
                    <a:gridCol w="2164080">
                      <a:extLst>
                        <a:ext uri="{9D8B030D-6E8A-4147-A177-3AD203B41FA5}">
                          <a16:colId xmlns:a16="http://schemas.microsoft.com/office/drawing/2014/main" val="3658340494"/>
                        </a:ext>
                      </a:extLst>
                    </a:gridCol>
                    <a:gridCol w="2133600">
                      <a:extLst>
                        <a:ext uri="{9D8B030D-6E8A-4147-A177-3AD203B41FA5}">
                          <a16:colId xmlns:a16="http://schemas.microsoft.com/office/drawing/2014/main" val="1278605173"/>
                        </a:ext>
                      </a:extLst>
                    </a:gridCol>
                    <a:gridCol w="2895600">
                      <a:extLst>
                        <a:ext uri="{9D8B030D-6E8A-4147-A177-3AD203B41FA5}">
                          <a16:colId xmlns:a16="http://schemas.microsoft.com/office/drawing/2014/main" val="4220248793"/>
                        </a:ext>
                      </a:extLst>
                    </a:gridCol>
                  </a:tblGrid>
                  <a:tr h="370840">
                    <a:tc>
                      <a:txBody>
                        <a:bodyPr/>
                        <a:lstStyle/>
                        <a:p>
                          <a:pPr algn="ctr"/>
                          <a:r>
                            <a:rPr lang="vi-VN" sz="2800" dirty="0" err="1"/>
                            <a:t>Age</a:t>
                          </a:r>
                          <a:endParaRPr lang="vi-VN" sz="2800" dirty="0"/>
                        </a:p>
                      </a:txBody>
                      <a:tcPr anchor="ctr"/>
                    </a:tc>
                    <a:tc>
                      <a:txBody>
                        <a:bodyPr/>
                        <a:lstStyle/>
                        <a:p>
                          <a:pPr algn="ctr"/>
                          <a:r>
                            <a:rPr lang="vi-VN" sz="2800" dirty="0" err="1"/>
                            <a:t>Estimated</a:t>
                          </a:r>
                          <a:r>
                            <a:rPr lang="vi-VN" sz="2800" dirty="0"/>
                            <a:t> </a:t>
                          </a:r>
                          <a:r>
                            <a:rPr lang="vi-VN" sz="2800" dirty="0" err="1"/>
                            <a:t>Salary</a:t>
                          </a:r>
                          <a:endParaRPr lang="vi-VN" sz="2800" dirty="0"/>
                        </a:p>
                      </a:txBody>
                      <a:tcPr anchor="ctr"/>
                    </a:tc>
                    <a:tc>
                      <a:txBody>
                        <a:bodyPr/>
                        <a:lstStyle/>
                        <a:p>
                          <a:pPr algn="ctr"/>
                          <a:r>
                            <a:rPr lang="vi-VN" sz="2800" dirty="0" err="1">
                              <a:solidFill>
                                <a:schemeClr val="tx1"/>
                              </a:solidFill>
                            </a:rPr>
                            <a:t>Purchased</a:t>
                          </a:r>
                          <a:endParaRPr lang="vi-VN" sz="2800" dirty="0">
                            <a:solidFill>
                              <a:schemeClr val="tx1"/>
                            </a:solidFill>
                          </a:endParaRPr>
                        </a:p>
                      </a:txBody>
                      <a:tcPr anchor="ctr">
                        <a:solidFill>
                          <a:srgbClr val="FFC000"/>
                        </a:solidFill>
                      </a:tcPr>
                    </a:tc>
                    <a:tc>
                      <a:txBody>
                        <a:bodyPr/>
                        <a:lstStyle/>
                        <a:p>
                          <a:pPr algn="ctr"/>
                          <a:r>
                            <a:rPr lang="vi-VN" sz="2800" dirty="0" err="1">
                              <a:solidFill>
                                <a:schemeClr val="tx1"/>
                              </a:solidFill>
                            </a:rPr>
                            <a:t>Predicted</a:t>
                          </a:r>
                          <a:r>
                            <a:rPr lang="vi-VN" sz="2800" dirty="0">
                              <a:solidFill>
                                <a:schemeClr val="tx1"/>
                              </a:solidFill>
                            </a:rPr>
                            <a:t> </a:t>
                          </a:r>
                          <a:r>
                            <a:rPr lang="vi-VN" sz="2800" dirty="0" err="1">
                              <a:solidFill>
                                <a:schemeClr val="tx1"/>
                              </a:solidFill>
                            </a:rPr>
                            <a:t>Purchased</a:t>
                          </a:r>
                          <a:endParaRPr lang="vi-VN" sz="2800" dirty="0">
                            <a:solidFill>
                              <a:schemeClr val="tx1"/>
                            </a:solidFill>
                          </a:endParaRPr>
                        </a:p>
                      </a:txBody>
                      <a:tcPr anchor="ctr">
                        <a:solidFill>
                          <a:srgbClr val="FFC000"/>
                        </a:solidFill>
                      </a:tcPr>
                    </a:tc>
                    <a:extLst>
                      <a:ext uri="{0D108BD9-81ED-4DB2-BD59-A6C34878D82A}">
                        <a16:rowId xmlns:a16="http://schemas.microsoft.com/office/drawing/2014/main" val="2231562568"/>
                      </a:ext>
                    </a:extLst>
                  </a:tr>
                  <a:tr h="370840">
                    <a:tc>
                      <a:txBody>
                        <a:bodyPr/>
                        <a:lstStyle/>
                        <a:p>
                          <a:pPr algn="ctr"/>
                          <a14:m>
                            <m:oMathPara xmlns:m="http://schemas.openxmlformats.org/officeDocument/2006/math">
                              <m:oMathParaPr>
                                <m:jc m:val="centerGroup"/>
                              </m:oMathParaPr>
                              <m:oMath xmlns:m="http://schemas.openxmlformats.org/officeDocument/2006/math">
                                <m:r>
                                  <a:rPr lang="vi-VN" sz="2800" b="0" i="1" dirty="0" smtClean="0">
                                    <a:latin typeface="Cambria Math" panose="02040503050406030204" pitchFamily="18" charset="0"/>
                                  </a:rPr>
                                  <m:t>36</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m:t>
                                </m:r>
                                <m:r>
                                  <a:rPr lang="vi-VN" sz="2800" b="0" i="1" dirty="0" smtClean="0">
                                    <a:latin typeface="Cambria Math" panose="02040503050406030204" pitchFamily="18" charset="0"/>
                                  </a:rPr>
                                  <m:t>44</m:t>
                                </m:r>
                                <m:r>
                                  <a:rPr lang="vi-VN" sz="2800" i="1" dirty="0" smtClean="0">
                                    <a:latin typeface="Cambria Math" panose="02040503050406030204" pitchFamily="18" charset="0"/>
                                  </a:rPr>
                                  <m:t>,000</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b="0" i="1" smtClean="0">
                                    <a:latin typeface="Cambria Math" panose="02040503050406030204" pitchFamily="18" charset="0"/>
                                  </a:rPr>
                                  <m:t>1</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m:t>
                                </m:r>
                              </m:oMath>
                            </m:oMathPara>
                          </a14:m>
                          <a:endParaRPr lang="vi-VN" sz="2800" dirty="0"/>
                        </a:p>
                      </a:txBody>
                      <a:tcPr anchor="ctr">
                        <a:solidFill>
                          <a:srgbClr val="FFC000"/>
                        </a:solidFill>
                      </a:tcPr>
                    </a:tc>
                    <a:extLst>
                      <a:ext uri="{0D108BD9-81ED-4DB2-BD59-A6C34878D82A}">
                        <a16:rowId xmlns:a16="http://schemas.microsoft.com/office/drawing/2014/main" val="2485347973"/>
                      </a:ext>
                    </a:extLst>
                  </a:tr>
                  <a:tr h="370840">
                    <a:tc>
                      <a:txBody>
                        <a:bodyPr/>
                        <a:lstStyle/>
                        <a:p>
                          <a:pPr algn="ctr"/>
                          <a14:m>
                            <m:oMathPara xmlns:m="http://schemas.openxmlformats.org/officeDocument/2006/math">
                              <m:oMathParaPr>
                                <m:jc m:val="centerGroup"/>
                              </m:oMathParaPr>
                              <m:oMath xmlns:m="http://schemas.openxmlformats.org/officeDocument/2006/math">
                                <m:r>
                                  <a:rPr lang="vi-VN" sz="2800" b="0" i="1" smtClean="0">
                                    <a:latin typeface="Cambria Math" panose="02040503050406030204" pitchFamily="18" charset="0"/>
                                  </a:rPr>
                                  <m:t>18</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6</m:t>
                                </m:r>
                                <m:r>
                                  <a:rPr lang="vi-VN" sz="2800" b="0" i="1" dirty="0" smtClean="0">
                                    <a:latin typeface="Cambria Math" panose="02040503050406030204" pitchFamily="18" charset="0"/>
                                  </a:rPr>
                                  <m:t>8</m:t>
                                </m:r>
                                <m:r>
                                  <a:rPr lang="vi-VN" sz="2800" i="1" dirty="0" smtClean="0">
                                    <a:latin typeface="Cambria Math" panose="02040503050406030204" pitchFamily="18" charset="0"/>
                                  </a:rPr>
                                  <m:t>,000</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b="0" i="1" smtClean="0">
                                    <a:latin typeface="Cambria Math" panose="02040503050406030204" pitchFamily="18" charset="0"/>
                                  </a:rPr>
                                  <m:t>0</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0</m:t>
                                </m:r>
                              </m:oMath>
                            </m:oMathPara>
                          </a14:m>
                          <a:endParaRPr lang="vi-VN" sz="2800" dirty="0"/>
                        </a:p>
                      </a:txBody>
                      <a:tcPr anchor="ctr">
                        <a:solidFill>
                          <a:srgbClr val="FFC000"/>
                        </a:solidFill>
                      </a:tcPr>
                    </a:tc>
                    <a:extLst>
                      <a:ext uri="{0D108BD9-81ED-4DB2-BD59-A6C34878D82A}">
                        <a16:rowId xmlns:a16="http://schemas.microsoft.com/office/drawing/2014/main" val="2391906055"/>
                      </a:ext>
                    </a:extLst>
                  </a:tr>
                  <a:tr h="370840">
                    <a:tc>
                      <a:txBody>
                        <a:bodyPr/>
                        <a:lstStyle/>
                        <a:p>
                          <a:pPr algn="ctr"/>
                          <a14:m>
                            <m:oMathPara xmlns:m="http://schemas.openxmlformats.org/officeDocument/2006/math">
                              <m:oMathParaPr>
                                <m:jc m:val="centerGroup"/>
                              </m:oMathParaPr>
                              <m:oMath xmlns:m="http://schemas.openxmlformats.org/officeDocument/2006/math">
                                <m:r>
                                  <a:rPr lang="vi-VN" sz="2800" b="0" i="1" smtClean="0">
                                    <a:latin typeface="Cambria Math" panose="02040503050406030204" pitchFamily="18" charset="0"/>
                                  </a:rPr>
                                  <m:t>47</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43,000</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0</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b="0" i="1" smtClean="0">
                                    <a:latin typeface="Cambria Math" panose="02040503050406030204" pitchFamily="18" charset="0"/>
                                  </a:rPr>
                                  <m:t>0</m:t>
                                </m:r>
                              </m:oMath>
                            </m:oMathPara>
                          </a14:m>
                          <a:endParaRPr lang="vi-VN" sz="2800" dirty="0"/>
                        </a:p>
                      </a:txBody>
                      <a:tcPr anchor="ctr">
                        <a:solidFill>
                          <a:srgbClr val="FFC000"/>
                        </a:solidFill>
                      </a:tcPr>
                    </a:tc>
                    <a:extLst>
                      <a:ext uri="{0D108BD9-81ED-4DB2-BD59-A6C34878D82A}">
                        <a16:rowId xmlns:a16="http://schemas.microsoft.com/office/drawing/2014/main" val="68464354"/>
                      </a:ext>
                    </a:extLst>
                  </a:tr>
                  <a:tr h="370840">
                    <a:tc>
                      <a:txBody>
                        <a:bodyPr/>
                        <a:lstStyle/>
                        <a:p>
                          <a:pPr algn="ctr"/>
                          <a14:m>
                            <m:oMathPara xmlns:m="http://schemas.openxmlformats.org/officeDocument/2006/math">
                              <m:oMathParaPr>
                                <m:jc m:val="centerGroup"/>
                              </m:oMathParaPr>
                              <m:oMath xmlns:m="http://schemas.openxmlformats.org/officeDocument/2006/math">
                                <m:r>
                                  <a:rPr lang="vi-VN" sz="2800" b="0" i="1" smtClean="0">
                                    <a:latin typeface="Cambria Math" panose="02040503050406030204" pitchFamily="18" charset="0"/>
                                  </a:rPr>
                                  <m:t>30</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4</m:t>
                                </m:r>
                                <m:r>
                                  <a:rPr lang="vi-VN" sz="2800" b="0" i="1" dirty="0" smtClean="0">
                                    <a:latin typeface="Cambria Math" panose="02040503050406030204" pitchFamily="18" charset="0"/>
                                  </a:rPr>
                                  <m:t>9</m:t>
                                </m:r>
                                <m:r>
                                  <a:rPr lang="vi-VN" sz="2800" i="1" dirty="0" smtClean="0">
                                    <a:latin typeface="Cambria Math" panose="02040503050406030204" pitchFamily="18" charset="0"/>
                                  </a:rPr>
                                  <m:t>,000</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0</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0</m:t>
                                </m:r>
                              </m:oMath>
                            </m:oMathPara>
                          </a14:m>
                          <a:endParaRPr lang="vi-VN" sz="2800" dirty="0"/>
                        </a:p>
                      </a:txBody>
                      <a:tcPr anchor="ctr">
                        <a:solidFill>
                          <a:srgbClr val="FFC000"/>
                        </a:solidFill>
                      </a:tcPr>
                    </a:tc>
                    <a:extLst>
                      <a:ext uri="{0D108BD9-81ED-4DB2-BD59-A6C34878D82A}">
                        <a16:rowId xmlns:a16="http://schemas.microsoft.com/office/drawing/2014/main" val="4192353787"/>
                      </a:ext>
                    </a:extLst>
                  </a:tr>
                  <a:tr h="370840">
                    <a:tc>
                      <a:txBody>
                        <a:bodyPr/>
                        <a:lstStyle/>
                        <a:p>
                          <a:pPr algn="ctr"/>
                          <a14:m>
                            <m:oMathPara xmlns:m="http://schemas.openxmlformats.org/officeDocument/2006/math">
                              <m:oMathParaPr>
                                <m:jc m:val="centerGroup"/>
                              </m:oMathParaPr>
                              <m:oMath xmlns:m="http://schemas.openxmlformats.org/officeDocument/2006/math">
                                <m:r>
                                  <a:rPr lang="vi-VN" sz="2800" b="0" i="1" smtClean="0">
                                    <a:latin typeface="Cambria Math" panose="02040503050406030204" pitchFamily="18" charset="0"/>
                                  </a:rPr>
                                  <m:t>28</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5</m:t>
                                </m:r>
                                <m:r>
                                  <a:rPr lang="vi-VN" sz="2800" b="0" i="1" dirty="0" smtClean="0">
                                    <a:latin typeface="Cambria Math" panose="02040503050406030204" pitchFamily="18" charset="0"/>
                                  </a:rPr>
                                  <m:t>3</m:t>
                                </m:r>
                                <m:r>
                                  <a:rPr lang="vi-VN" sz="2800" i="1" dirty="0" smtClean="0">
                                    <a:latin typeface="Cambria Math" panose="02040503050406030204" pitchFamily="18" charset="0"/>
                                  </a:rPr>
                                  <m:t>,000</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b="0" i="1" smtClean="0">
                                    <a:latin typeface="Cambria Math" panose="02040503050406030204" pitchFamily="18" charset="0"/>
                                  </a:rPr>
                                  <m:t>0</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0</m:t>
                                </m:r>
                              </m:oMath>
                            </m:oMathPara>
                          </a14:m>
                          <a:endParaRPr lang="vi-VN" sz="2800" dirty="0"/>
                        </a:p>
                      </a:txBody>
                      <a:tcPr anchor="ctr">
                        <a:solidFill>
                          <a:srgbClr val="FFC000"/>
                        </a:solidFill>
                      </a:tcPr>
                    </a:tc>
                    <a:extLst>
                      <a:ext uri="{0D108BD9-81ED-4DB2-BD59-A6C34878D82A}">
                        <a16:rowId xmlns:a16="http://schemas.microsoft.com/office/drawing/2014/main" val="251226265"/>
                      </a:ext>
                    </a:extLst>
                  </a:tr>
                </a:tbl>
              </a:graphicData>
            </a:graphic>
          </p:graphicFrame>
        </mc:Choice>
        <mc:Fallback xmlns="">
          <p:graphicFrame>
            <p:nvGraphicFramePr>
              <p:cNvPr id="5" name="Content Placeholder 3">
                <a:extLst>
                  <a:ext uri="{FF2B5EF4-FFF2-40B4-BE49-F238E27FC236}">
                    <a16:creationId xmlns:a16="http://schemas.microsoft.com/office/drawing/2014/main" id="{ECC9B8FD-DF83-49A2-98AF-3CB75CF1DBE8}"/>
                  </a:ext>
                </a:extLst>
              </p:cNvPr>
              <p:cNvGraphicFramePr>
                <a:graphicFrameLocks noGrp="1"/>
              </p:cNvGraphicFramePr>
              <p:nvPr>
                <p:ph idx="1"/>
                <p:extLst>
                  <p:ext uri="{D42A27DB-BD31-4B8C-83A1-F6EECF244321}">
                    <p14:modId xmlns:p14="http://schemas.microsoft.com/office/powerpoint/2010/main" val="1543147921"/>
                  </p:ext>
                </p:extLst>
              </p:nvPr>
            </p:nvGraphicFramePr>
            <p:xfrm>
              <a:off x="1676398" y="1950720"/>
              <a:ext cx="8839200" cy="3535680"/>
            </p:xfrm>
            <a:graphic>
              <a:graphicData uri="http://schemas.openxmlformats.org/drawingml/2006/table">
                <a:tbl>
                  <a:tblPr firstRow="1" bandRow="1">
                    <a:tableStyleId>{21E4AEA4-8DFA-4A89-87EB-49C32662AFE0}</a:tableStyleId>
                  </a:tblPr>
                  <a:tblGrid>
                    <a:gridCol w="1645920">
                      <a:extLst>
                        <a:ext uri="{9D8B030D-6E8A-4147-A177-3AD203B41FA5}">
                          <a16:colId xmlns:a16="http://schemas.microsoft.com/office/drawing/2014/main" val="3600337692"/>
                        </a:ext>
                      </a:extLst>
                    </a:gridCol>
                    <a:gridCol w="2164080">
                      <a:extLst>
                        <a:ext uri="{9D8B030D-6E8A-4147-A177-3AD203B41FA5}">
                          <a16:colId xmlns:a16="http://schemas.microsoft.com/office/drawing/2014/main" val="3658340494"/>
                        </a:ext>
                      </a:extLst>
                    </a:gridCol>
                    <a:gridCol w="2133600">
                      <a:extLst>
                        <a:ext uri="{9D8B030D-6E8A-4147-A177-3AD203B41FA5}">
                          <a16:colId xmlns:a16="http://schemas.microsoft.com/office/drawing/2014/main" val="1278605173"/>
                        </a:ext>
                      </a:extLst>
                    </a:gridCol>
                    <a:gridCol w="2895600">
                      <a:extLst>
                        <a:ext uri="{9D8B030D-6E8A-4147-A177-3AD203B41FA5}">
                          <a16:colId xmlns:a16="http://schemas.microsoft.com/office/drawing/2014/main" val="4220248793"/>
                        </a:ext>
                      </a:extLst>
                    </a:gridCol>
                  </a:tblGrid>
                  <a:tr h="944880">
                    <a:tc>
                      <a:txBody>
                        <a:bodyPr/>
                        <a:lstStyle/>
                        <a:p>
                          <a:pPr algn="ctr"/>
                          <a:r>
                            <a:rPr lang="vi-VN" sz="2800" dirty="0" err="1"/>
                            <a:t>Age</a:t>
                          </a:r>
                          <a:endParaRPr lang="vi-VN" sz="2800" dirty="0"/>
                        </a:p>
                      </a:txBody>
                      <a:tcPr anchor="ctr"/>
                    </a:tc>
                    <a:tc>
                      <a:txBody>
                        <a:bodyPr/>
                        <a:lstStyle/>
                        <a:p>
                          <a:pPr algn="ctr"/>
                          <a:r>
                            <a:rPr lang="vi-VN" sz="2800" dirty="0" err="1"/>
                            <a:t>Estimated</a:t>
                          </a:r>
                          <a:r>
                            <a:rPr lang="vi-VN" sz="2800" dirty="0"/>
                            <a:t> </a:t>
                          </a:r>
                          <a:r>
                            <a:rPr lang="vi-VN" sz="2800" dirty="0" err="1"/>
                            <a:t>Salary</a:t>
                          </a:r>
                          <a:endParaRPr lang="vi-VN" sz="2800" dirty="0"/>
                        </a:p>
                      </a:txBody>
                      <a:tcPr anchor="ctr"/>
                    </a:tc>
                    <a:tc>
                      <a:txBody>
                        <a:bodyPr/>
                        <a:lstStyle/>
                        <a:p>
                          <a:pPr algn="ctr"/>
                          <a:r>
                            <a:rPr lang="vi-VN" sz="2800" dirty="0" err="1">
                              <a:solidFill>
                                <a:schemeClr val="tx1"/>
                              </a:solidFill>
                            </a:rPr>
                            <a:t>Purchased</a:t>
                          </a:r>
                          <a:endParaRPr lang="vi-VN" sz="2800" dirty="0">
                            <a:solidFill>
                              <a:schemeClr val="tx1"/>
                            </a:solidFill>
                          </a:endParaRPr>
                        </a:p>
                      </a:txBody>
                      <a:tcPr anchor="ctr">
                        <a:solidFill>
                          <a:srgbClr val="FFC000"/>
                        </a:solidFill>
                      </a:tcPr>
                    </a:tc>
                    <a:tc>
                      <a:txBody>
                        <a:bodyPr/>
                        <a:lstStyle/>
                        <a:p>
                          <a:pPr algn="ctr"/>
                          <a:r>
                            <a:rPr lang="vi-VN" sz="2800" dirty="0" err="1">
                              <a:solidFill>
                                <a:schemeClr val="tx1"/>
                              </a:solidFill>
                            </a:rPr>
                            <a:t>Predicted</a:t>
                          </a:r>
                          <a:r>
                            <a:rPr lang="vi-VN" sz="2800" dirty="0">
                              <a:solidFill>
                                <a:schemeClr val="tx1"/>
                              </a:solidFill>
                            </a:rPr>
                            <a:t> </a:t>
                          </a:r>
                          <a:r>
                            <a:rPr lang="vi-VN" sz="2800" dirty="0" err="1">
                              <a:solidFill>
                                <a:schemeClr val="tx1"/>
                              </a:solidFill>
                            </a:rPr>
                            <a:t>Purchased</a:t>
                          </a:r>
                          <a:endParaRPr lang="vi-VN" sz="2800" dirty="0">
                            <a:solidFill>
                              <a:schemeClr val="tx1"/>
                            </a:solidFill>
                          </a:endParaRPr>
                        </a:p>
                      </a:txBody>
                      <a:tcPr anchor="ctr">
                        <a:solidFill>
                          <a:srgbClr val="FFC000"/>
                        </a:solidFill>
                      </a:tcPr>
                    </a:tc>
                    <a:extLst>
                      <a:ext uri="{0D108BD9-81ED-4DB2-BD59-A6C34878D82A}">
                        <a16:rowId xmlns:a16="http://schemas.microsoft.com/office/drawing/2014/main" val="2231562568"/>
                      </a:ext>
                    </a:extLst>
                  </a:tr>
                  <a:tr h="518160">
                    <a:tc>
                      <a:txBody>
                        <a:bodyPr/>
                        <a:lstStyle/>
                        <a:p>
                          <a:endParaRPr lang="en-US"/>
                        </a:p>
                      </a:txBody>
                      <a:tcPr anchor="ctr">
                        <a:blipFill>
                          <a:blip r:embed="rId2"/>
                          <a:stretch>
                            <a:fillRect l="-370" t="-194118" r="-439259" b="-403529"/>
                          </a:stretch>
                        </a:blipFill>
                      </a:tcPr>
                    </a:tc>
                    <a:tc>
                      <a:txBody>
                        <a:bodyPr/>
                        <a:lstStyle/>
                        <a:p>
                          <a:endParaRPr lang="en-US"/>
                        </a:p>
                      </a:txBody>
                      <a:tcPr anchor="ctr">
                        <a:blipFill>
                          <a:blip r:embed="rId2"/>
                          <a:stretch>
                            <a:fillRect l="-76338" t="-194118" r="-234085" b="-403529"/>
                          </a:stretch>
                        </a:blipFill>
                      </a:tcPr>
                    </a:tc>
                    <a:tc>
                      <a:txBody>
                        <a:bodyPr/>
                        <a:lstStyle/>
                        <a:p>
                          <a:endParaRPr lang="en-US"/>
                        </a:p>
                      </a:txBody>
                      <a:tcPr anchor="ctr">
                        <a:blipFill>
                          <a:blip r:embed="rId2"/>
                          <a:stretch>
                            <a:fillRect l="-178348" t="-194118" r="-136752" b="-403529"/>
                          </a:stretch>
                        </a:blipFill>
                      </a:tcPr>
                    </a:tc>
                    <a:tc>
                      <a:txBody>
                        <a:bodyPr/>
                        <a:lstStyle/>
                        <a:p>
                          <a:endParaRPr lang="en-US"/>
                        </a:p>
                      </a:txBody>
                      <a:tcPr anchor="ctr">
                        <a:blipFill>
                          <a:blip r:embed="rId2"/>
                          <a:stretch>
                            <a:fillRect l="-205684" t="-194118" r="-1053" b="-403529"/>
                          </a:stretch>
                        </a:blipFill>
                      </a:tcPr>
                    </a:tc>
                    <a:extLst>
                      <a:ext uri="{0D108BD9-81ED-4DB2-BD59-A6C34878D82A}">
                        <a16:rowId xmlns:a16="http://schemas.microsoft.com/office/drawing/2014/main" val="2485347973"/>
                      </a:ext>
                    </a:extLst>
                  </a:tr>
                  <a:tr h="518160">
                    <a:tc>
                      <a:txBody>
                        <a:bodyPr/>
                        <a:lstStyle/>
                        <a:p>
                          <a:endParaRPr lang="en-US"/>
                        </a:p>
                      </a:txBody>
                      <a:tcPr anchor="ctr">
                        <a:blipFill>
                          <a:blip r:embed="rId2"/>
                          <a:stretch>
                            <a:fillRect l="-370" t="-294118" r="-439259" b="-303529"/>
                          </a:stretch>
                        </a:blipFill>
                      </a:tcPr>
                    </a:tc>
                    <a:tc>
                      <a:txBody>
                        <a:bodyPr/>
                        <a:lstStyle/>
                        <a:p>
                          <a:endParaRPr lang="en-US"/>
                        </a:p>
                      </a:txBody>
                      <a:tcPr anchor="ctr">
                        <a:blipFill>
                          <a:blip r:embed="rId2"/>
                          <a:stretch>
                            <a:fillRect l="-76338" t="-294118" r="-234085" b="-303529"/>
                          </a:stretch>
                        </a:blipFill>
                      </a:tcPr>
                    </a:tc>
                    <a:tc>
                      <a:txBody>
                        <a:bodyPr/>
                        <a:lstStyle/>
                        <a:p>
                          <a:endParaRPr lang="en-US"/>
                        </a:p>
                      </a:txBody>
                      <a:tcPr anchor="ctr">
                        <a:blipFill>
                          <a:blip r:embed="rId2"/>
                          <a:stretch>
                            <a:fillRect l="-178348" t="-294118" r="-136752" b="-303529"/>
                          </a:stretch>
                        </a:blipFill>
                      </a:tcPr>
                    </a:tc>
                    <a:tc>
                      <a:txBody>
                        <a:bodyPr/>
                        <a:lstStyle/>
                        <a:p>
                          <a:endParaRPr lang="en-US"/>
                        </a:p>
                      </a:txBody>
                      <a:tcPr anchor="ctr">
                        <a:blipFill>
                          <a:blip r:embed="rId2"/>
                          <a:stretch>
                            <a:fillRect l="-205684" t="-294118" r="-1053" b="-303529"/>
                          </a:stretch>
                        </a:blipFill>
                      </a:tcPr>
                    </a:tc>
                    <a:extLst>
                      <a:ext uri="{0D108BD9-81ED-4DB2-BD59-A6C34878D82A}">
                        <a16:rowId xmlns:a16="http://schemas.microsoft.com/office/drawing/2014/main" val="2391906055"/>
                      </a:ext>
                    </a:extLst>
                  </a:tr>
                  <a:tr h="518160">
                    <a:tc>
                      <a:txBody>
                        <a:bodyPr/>
                        <a:lstStyle/>
                        <a:p>
                          <a:endParaRPr lang="en-US"/>
                        </a:p>
                      </a:txBody>
                      <a:tcPr anchor="ctr">
                        <a:blipFill>
                          <a:blip r:embed="rId2"/>
                          <a:stretch>
                            <a:fillRect l="-370" t="-394118" r="-439259" b="-203529"/>
                          </a:stretch>
                        </a:blipFill>
                      </a:tcPr>
                    </a:tc>
                    <a:tc>
                      <a:txBody>
                        <a:bodyPr/>
                        <a:lstStyle/>
                        <a:p>
                          <a:endParaRPr lang="en-US"/>
                        </a:p>
                      </a:txBody>
                      <a:tcPr anchor="ctr">
                        <a:blipFill>
                          <a:blip r:embed="rId2"/>
                          <a:stretch>
                            <a:fillRect l="-76338" t="-394118" r="-234085" b="-203529"/>
                          </a:stretch>
                        </a:blipFill>
                      </a:tcPr>
                    </a:tc>
                    <a:tc>
                      <a:txBody>
                        <a:bodyPr/>
                        <a:lstStyle/>
                        <a:p>
                          <a:endParaRPr lang="en-US"/>
                        </a:p>
                      </a:txBody>
                      <a:tcPr anchor="ctr">
                        <a:blipFill>
                          <a:blip r:embed="rId2"/>
                          <a:stretch>
                            <a:fillRect l="-178348" t="-394118" r="-136752" b="-203529"/>
                          </a:stretch>
                        </a:blipFill>
                      </a:tcPr>
                    </a:tc>
                    <a:tc>
                      <a:txBody>
                        <a:bodyPr/>
                        <a:lstStyle/>
                        <a:p>
                          <a:endParaRPr lang="en-US"/>
                        </a:p>
                      </a:txBody>
                      <a:tcPr anchor="ctr">
                        <a:blipFill>
                          <a:blip r:embed="rId2"/>
                          <a:stretch>
                            <a:fillRect l="-205684" t="-394118" r="-1053" b="-203529"/>
                          </a:stretch>
                        </a:blipFill>
                      </a:tcPr>
                    </a:tc>
                    <a:extLst>
                      <a:ext uri="{0D108BD9-81ED-4DB2-BD59-A6C34878D82A}">
                        <a16:rowId xmlns:a16="http://schemas.microsoft.com/office/drawing/2014/main" val="68464354"/>
                      </a:ext>
                    </a:extLst>
                  </a:tr>
                  <a:tr h="518160">
                    <a:tc>
                      <a:txBody>
                        <a:bodyPr/>
                        <a:lstStyle/>
                        <a:p>
                          <a:endParaRPr lang="en-US"/>
                        </a:p>
                      </a:txBody>
                      <a:tcPr anchor="ctr">
                        <a:blipFill>
                          <a:blip r:embed="rId2"/>
                          <a:stretch>
                            <a:fillRect l="-370" t="-494118" r="-439259" b="-103529"/>
                          </a:stretch>
                        </a:blipFill>
                      </a:tcPr>
                    </a:tc>
                    <a:tc>
                      <a:txBody>
                        <a:bodyPr/>
                        <a:lstStyle/>
                        <a:p>
                          <a:endParaRPr lang="en-US"/>
                        </a:p>
                      </a:txBody>
                      <a:tcPr anchor="ctr">
                        <a:blipFill>
                          <a:blip r:embed="rId2"/>
                          <a:stretch>
                            <a:fillRect l="-76338" t="-494118" r="-234085" b="-103529"/>
                          </a:stretch>
                        </a:blipFill>
                      </a:tcPr>
                    </a:tc>
                    <a:tc>
                      <a:txBody>
                        <a:bodyPr/>
                        <a:lstStyle/>
                        <a:p>
                          <a:endParaRPr lang="en-US"/>
                        </a:p>
                      </a:txBody>
                      <a:tcPr anchor="ctr">
                        <a:blipFill>
                          <a:blip r:embed="rId2"/>
                          <a:stretch>
                            <a:fillRect l="-178348" t="-494118" r="-136752" b="-103529"/>
                          </a:stretch>
                        </a:blipFill>
                      </a:tcPr>
                    </a:tc>
                    <a:tc>
                      <a:txBody>
                        <a:bodyPr/>
                        <a:lstStyle/>
                        <a:p>
                          <a:endParaRPr lang="en-US"/>
                        </a:p>
                      </a:txBody>
                      <a:tcPr anchor="ctr">
                        <a:blipFill>
                          <a:blip r:embed="rId2"/>
                          <a:stretch>
                            <a:fillRect l="-205684" t="-494118" r="-1053" b="-103529"/>
                          </a:stretch>
                        </a:blipFill>
                      </a:tcPr>
                    </a:tc>
                    <a:extLst>
                      <a:ext uri="{0D108BD9-81ED-4DB2-BD59-A6C34878D82A}">
                        <a16:rowId xmlns:a16="http://schemas.microsoft.com/office/drawing/2014/main" val="4192353787"/>
                      </a:ext>
                    </a:extLst>
                  </a:tr>
                  <a:tr h="518160">
                    <a:tc>
                      <a:txBody>
                        <a:bodyPr/>
                        <a:lstStyle/>
                        <a:p>
                          <a:endParaRPr lang="en-US"/>
                        </a:p>
                      </a:txBody>
                      <a:tcPr anchor="ctr">
                        <a:blipFill>
                          <a:blip r:embed="rId2"/>
                          <a:stretch>
                            <a:fillRect l="-370" t="-594118" r="-439259" b="-3529"/>
                          </a:stretch>
                        </a:blipFill>
                      </a:tcPr>
                    </a:tc>
                    <a:tc>
                      <a:txBody>
                        <a:bodyPr/>
                        <a:lstStyle/>
                        <a:p>
                          <a:endParaRPr lang="en-US"/>
                        </a:p>
                      </a:txBody>
                      <a:tcPr anchor="ctr">
                        <a:blipFill>
                          <a:blip r:embed="rId2"/>
                          <a:stretch>
                            <a:fillRect l="-76338" t="-594118" r="-234085" b="-3529"/>
                          </a:stretch>
                        </a:blipFill>
                      </a:tcPr>
                    </a:tc>
                    <a:tc>
                      <a:txBody>
                        <a:bodyPr/>
                        <a:lstStyle/>
                        <a:p>
                          <a:endParaRPr lang="en-US"/>
                        </a:p>
                      </a:txBody>
                      <a:tcPr anchor="ctr">
                        <a:blipFill>
                          <a:blip r:embed="rId2"/>
                          <a:stretch>
                            <a:fillRect l="-178348" t="-594118" r="-136752" b="-3529"/>
                          </a:stretch>
                        </a:blipFill>
                      </a:tcPr>
                    </a:tc>
                    <a:tc>
                      <a:txBody>
                        <a:bodyPr/>
                        <a:lstStyle/>
                        <a:p>
                          <a:endParaRPr lang="en-US"/>
                        </a:p>
                      </a:txBody>
                      <a:tcPr anchor="ctr">
                        <a:blipFill>
                          <a:blip r:embed="rId2"/>
                          <a:stretch>
                            <a:fillRect l="-205684" t="-594118" r="-1053" b="-3529"/>
                          </a:stretch>
                        </a:blipFill>
                      </a:tcPr>
                    </a:tc>
                    <a:extLst>
                      <a:ext uri="{0D108BD9-81ED-4DB2-BD59-A6C34878D82A}">
                        <a16:rowId xmlns:a16="http://schemas.microsoft.com/office/drawing/2014/main" val="251226265"/>
                      </a:ext>
                    </a:extLst>
                  </a:tr>
                </a:tbl>
              </a:graphicData>
            </a:graphic>
          </p:graphicFrame>
        </mc:Fallback>
      </mc:AlternateContent>
    </p:spTree>
    <p:extLst>
      <p:ext uri="{BB962C8B-B14F-4D97-AF65-F5344CB8AC3E}">
        <p14:creationId xmlns:p14="http://schemas.microsoft.com/office/powerpoint/2010/main" val="1374567206"/>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50"/>
          <p:cNvSpPr txBox="1">
            <a:spLocks noGrp="1"/>
          </p:cNvSpPr>
          <p:nvPr>
            <p:ph type="ctrTitle"/>
          </p:nvPr>
        </p:nvSpPr>
        <p:spPr>
          <a:xfrm>
            <a:off x="228600" y="2130426"/>
            <a:ext cx="11811000" cy="350837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4000">
                <a:solidFill>
                  <a:srgbClr val="0066FF"/>
                </a:solidFill>
              </a:rPr>
              <a:t>Chúc các bạn học tốt</a:t>
            </a:r>
            <a:br>
              <a:rPr lang="en-US" sz="4000">
                <a:solidFill>
                  <a:srgbClr val="0066FF"/>
                </a:solidFill>
              </a:rPr>
            </a:br>
            <a:r>
              <a:rPr lang="en-US" sz="4000">
                <a:solidFill>
                  <a:srgbClr val="FF0000"/>
                </a:solidFill>
              </a:rPr>
              <a:t>Thân ái chào tạm biệt các bạn</a:t>
            </a:r>
            <a:br>
              <a:rPr lang="en-US" sz="4000">
                <a:solidFill>
                  <a:srgbClr val="FF0000"/>
                </a:solidFill>
              </a:rPr>
            </a:br>
            <a:br>
              <a:rPr lang="en-US" sz="4000">
                <a:solidFill>
                  <a:srgbClr val="FF0000"/>
                </a:solidFill>
              </a:rPr>
            </a:br>
            <a:r>
              <a:rPr lang="en-US" sz="4000">
                <a:solidFill>
                  <a:srgbClr val="0066FF"/>
                </a:solidFill>
              </a:rPr>
              <a:t>ĐẠI HỌC QUỐC GIA TP.HCM</a:t>
            </a:r>
            <a:br>
              <a:rPr lang="en-US" sz="4000"/>
            </a:br>
            <a:r>
              <a:rPr lang="en-US" sz="3600">
                <a:solidFill>
                  <a:srgbClr val="FF0000"/>
                </a:solidFill>
              </a:rPr>
              <a:t>TRƯỜNG ĐẠI HỌC CÔNG NGHỆ THÔNG TIN TP.HCM</a:t>
            </a:r>
            <a:br>
              <a:rPr lang="en-US" sz="3600">
                <a:solidFill>
                  <a:srgbClr val="FF0000"/>
                </a:solidFill>
              </a:rPr>
            </a:br>
            <a:r>
              <a:rPr lang="en-US" sz="3600">
                <a:solidFill>
                  <a:srgbClr val="0066FF"/>
                </a:solidFill>
              </a:rPr>
              <a:t>TOÀN DIỆN – SÁNG TẠO – PHỤNG SỰ</a:t>
            </a:r>
            <a:r>
              <a:rPr lang="en-US" sz="3600"/>
              <a:t> </a:t>
            </a:r>
            <a:endParaRPr sz="4000"/>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2275DCE-45DA-4F91-86BA-B55F538E14C0}"/>
              </a:ext>
            </a:extLst>
          </p:cNvPr>
          <p:cNvSpPr>
            <a:spLocks noGrp="1"/>
          </p:cNvSpPr>
          <p:nvPr>
            <p:ph type="title"/>
          </p:nvPr>
        </p:nvSpPr>
        <p:spPr/>
        <p:txBody>
          <a:bodyPr/>
          <a:lstStyle/>
          <a:p>
            <a:r>
              <a:rPr lang="en-US"/>
              <a:t>HÀM KERNEL</a:t>
            </a:r>
          </a:p>
        </p:txBody>
      </p:sp>
      <p:sp>
        <p:nvSpPr>
          <p:cNvPr id="6" name="Text Placeholder 5">
            <a:extLst>
              <a:ext uri="{FF2B5EF4-FFF2-40B4-BE49-F238E27FC236}">
                <a16:creationId xmlns:a16="http://schemas.microsoft.com/office/drawing/2014/main" id="{3C0FFF4B-22FB-4941-9ED4-53EC9DAFE536}"/>
              </a:ext>
            </a:extLst>
          </p:cNvPr>
          <p:cNvSpPr>
            <a:spLocks noGrp="1"/>
          </p:cNvSpPr>
          <p:nvPr>
            <p:ph type="body" idx="1"/>
          </p:nvPr>
        </p:nvSpPr>
        <p:spPr/>
        <p:txBody>
          <a:bodyPr/>
          <a:lstStyle/>
          <a:p>
            <a:r>
              <a:rPr lang="en-US"/>
              <a:t>Kernel function</a:t>
            </a:r>
          </a:p>
        </p:txBody>
      </p:sp>
      <p:pic>
        <p:nvPicPr>
          <p:cNvPr id="4" name="Picture 3">
            <a:extLst>
              <a:ext uri="{FF2B5EF4-FFF2-40B4-BE49-F238E27FC236}">
                <a16:creationId xmlns:a16="http://schemas.microsoft.com/office/drawing/2014/main" id="{D8427F03-26B2-4CFB-91E3-FBC03798AA0B}"/>
              </a:ext>
            </a:extLst>
          </p:cNvPr>
          <p:cNvPicPr>
            <a:picLocks noChangeAspect="1" noChangeArrowheads="1"/>
          </p:cNvPicPr>
          <p:nvPr/>
        </p:nvPicPr>
        <p:blipFill>
          <a:blip r:embed="rId2" cstate="print"/>
          <a:srcRect/>
          <a:stretch>
            <a:fillRect/>
          </a:stretch>
        </p:blipFill>
        <p:spPr bwMode="auto">
          <a:xfrm>
            <a:off x="7267330" y="695919"/>
            <a:ext cx="4738365" cy="3571281"/>
          </a:xfrm>
          <a:prstGeom prst="rect">
            <a:avLst/>
          </a:prstGeom>
          <a:noFill/>
        </p:spPr>
      </p:pic>
    </p:spTree>
    <p:extLst>
      <p:ext uri="{BB962C8B-B14F-4D97-AF65-F5344CB8AC3E}">
        <p14:creationId xmlns:p14="http://schemas.microsoft.com/office/powerpoint/2010/main" val="1394574728"/>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DB01790-5F05-4FE7-909D-4CD92680E16C}"/>
              </a:ext>
            </a:extLst>
          </p:cNvPr>
          <p:cNvSpPr>
            <a:spLocks noGrp="1"/>
          </p:cNvSpPr>
          <p:nvPr>
            <p:ph type="title"/>
          </p:nvPr>
        </p:nvSpPr>
        <p:spPr/>
        <p:txBody>
          <a:bodyPr/>
          <a:lstStyle/>
          <a:p>
            <a:r>
              <a:rPr lang="en-US"/>
              <a:t>Hàm kernel là gì</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2D1AC4B7-BDFE-4490-B23E-B29DDF4C9FF2}"/>
                  </a:ext>
                </a:extLst>
              </p:cNvPr>
              <p:cNvSpPr>
                <a:spLocks noGrp="1"/>
              </p:cNvSpPr>
              <p:nvPr>
                <p:ph idx="1"/>
              </p:nvPr>
            </p:nvSpPr>
            <p:spPr/>
            <p:txBody>
              <a:bodyPr/>
              <a:lstStyle/>
              <a:p>
                <a:pPr algn="just"/>
                <a:r>
                  <a:rPr lang="en-US"/>
                  <a:t>A kernel function is a function that is eqiuvalent to an inner product in some feature space.</a:t>
                </a:r>
              </a:p>
              <a:p>
                <a:pPr algn="just"/>
                <a:r>
                  <a:rPr lang="en-US">
                    <a:solidFill>
                      <a:srgbClr val="FF0000"/>
                    </a:solidFill>
                  </a:rPr>
                  <a:t>For some functions </a:t>
                </a:r>
                <a14:m>
                  <m:oMath xmlns:m="http://schemas.openxmlformats.org/officeDocument/2006/math">
                    <m:r>
                      <a:rPr lang="en-US" b="0" i="1" smtClean="0">
                        <a:solidFill>
                          <a:srgbClr val="FF0000"/>
                        </a:solidFill>
                        <a:latin typeface="Cambria Math" panose="02040503050406030204" pitchFamily="18" charset="0"/>
                      </a:rPr>
                      <m:t>𝐾</m:t>
                    </m:r>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r>
                              <a:rPr lang="en-US" b="1">
                                <a:solidFill>
                                  <a:srgbClr val="FF0000"/>
                                </a:solidFill>
                                <a:latin typeface="Cambria Math" panose="02040503050406030204" pitchFamily="18" charset="0"/>
                              </a:rPr>
                              <m:t>𝐱</m:t>
                            </m:r>
                          </m:e>
                          <m:sub>
                            <m:r>
                              <a:rPr lang="en-US" i="1">
                                <a:solidFill>
                                  <a:srgbClr val="FF0000"/>
                                </a:solidFill>
                                <a:latin typeface="Cambria Math" panose="02040503050406030204" pitchFamily="18" charset="0"/>
                              </a:rPr>
                              <m:t>𝑖</m:t>
                            </m:r>
                          </m:sub>
                        </m:sSub>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b="1">
                                <a:solidFill>
                                  <a:srgbClr val="FF0000"/>
                                </a:solidFill>
                                <a:latin typeface="Cambria Math" panose="02040503050406030204" pitchFamily="18" charset="0"/>
                              </a:rPr>
                              <m:t>𝐱</m:t>
                            </m:r>
                          </m:e>
                          <m:sub>
                            <m:r>
                              <a:rPr lang="en-US" b="0" i="1" smtClean="0">
                                <a:solidFill>
                                  <a:srgbClr val="FF0000"/>
                                </a:solidFill>
                                <a:latin typeface="Cambria Math" panose="02040503050406030204" pitchFamily="18" charset="0"/>
                              </a:rPr>
                              <m:t>𝑗</m:t>
                            </m:r>
                          </m:sub>
                        </m:sSub>
                      </m:e>
                    </m:d>
                  </m:oMath>
                </a14:m>
                <a:r>
                  <a:rPr lang="en-US">
                    <a:solidFill>
                      <a:srgbClr val="FF0000"/>
                    </a:solidFill>
                  </a:rPr>
                  <a:t> checking that </a:t>
                </a:r>
                <a14:m>
                  <m:oMath xmlns:m="http://schemas.openxmlformats.org/officeDocument/2006/math">
                    <m:r>
                      <a:rPr lang="en-US" i="1">
                        <a:solidFill>
                          <a:srgbClr val="FF0000"/>
                        </a:solidFill>
                        <a:latin typeface="Cambria Math" panose="02040503050406030204" pitchFamily="18" charset="0"/>
                      </a:rPr>
                      <m:t>𝐾</m:t>
                    </m:r>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r>
                              <a:rPr lang="en-US" b="1">
                                <a:solidFill>
                                  <a:srgbClr val="FF0000"/>
                                </a:solidFill>
                                <a:latin typeface="Cambria Math" panose="02040503050406030204" pitchFamily="18" charset="0"/>
                              </a:rPr>
                              <m:t>𝐱</m:t>
                            </m:r>
                          </m:e>
                          <m:sub>
                            <m:r>
                              <a:rPr lang="en-US" i="1">
                                <a:solidFill>
                                  <a:srgbClr val="FF0000"/>
                                </a:solidFill>
                                <a:latin typeface="Cambria Math" panose="02040503050406030204" pitchFamily="18" charset="0"/>
                              </a:rPr>
                              <m:t>𝑖</m:t>
                            </m:r>
                          </m:sub>
                        </m:sSub>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b="1">
                                <a:solidFill>
                                  <a:srgbClr val="FF0000"/>
                                </a:solidFill>
                                <a:latin typeface="Cambria Math" panose="02040503050406030204" pitchFamily="18" charset="0"/>
                              </a:rPr>
                              <m:t>𝐱</m:t>
                            </m:r>
                          </m:e>
                          <m:sub>
                            <m:r>
                              <a:rPr lang="en-US" i="1">
                                <a:solidFill>
                                  <a:srgbClr val="FF0000"/>
                                </a:solidFill>
                                <a:latin typeface="Cambria Math" panose="02040503050406030204" pitchFamily="18" charset="0"/>
                              </a:rPr>
                              <m:t>𝑗</m:t>
                            </m:r>
                          </m:sub>
                        </m:sSub>
                      </m:e>
                    </m:d>
                    <m:r>
                      <a:rPr lang="en-US" b="0" i="1" smtClean="0">
                        <a:solidFill>
                          <a:srgbClr val="FF0000"/>
                        </a:solidFill>
                        <a:latin typeface="Cambria Math" panose="02040503050406030204" pitchFamily="18" charset="0"/>
                      </a:rPr>
                      <m:t>=</m:t>
                    </m:r>
                    <m:sSup>
                      <m:sSupPr>
                        <m:ctrlPr>
                          <a:rPr lang="en-US" b="0" i="1" smtClean="0">
                            <a:solidFill>
                              <a:srgbClr val="FF0000"/>
                            </a:solidFill>
                            <a:latin typeface="Cambria Math" panose="02040503050406030204" pitchFamily="18" charset="0"/>
                          </a:rPr>
                        </m:ctrlPr>
                      </m:sSupPr>
                      <m:e>
                        <m:r>
                          <m:rPr>
                            <m:sty m:val="p"/>
                          </m:rPr>
                          <a:rPr lang="en-US" b="0" i="0" smtClean="0">
                            <a:solidFill>
                              <a:srgbClr val="FF0000"/>
                            </a:solidFill>
                            <a:latin typeface="Cambria Math" panose="02040503050406030204" pitchFamily="18" charset="0"/>
                            <a:ea typeface="Cambria Math" panose="02040503050406030204" pitchFamily="18" charset="0"/>
                          </a:rPr>
                          <m:t>φ</m:t>
                        </m:r>
                        <m:d>
                          <m:dPr>
                            <m:ctrlPr>
                              <a:rPr lang="en-US" b="0" i="1" smtClean="0">
                                <a:solidFill>
                                  <a:srgbClr val="FF0000"/>
                                </a:solidFill>
                                <a:latin typeface="Cambria Math" panose="02040503050406030204" pitchFamily="18" charset="0"/>
                                <a:ea typeface="Cambria Math" panose="02040503050406030204" pitchFamily="18" charset="0"/>
                              </a:rPr>
                            </m:ctrlPr>
                          </m:dPr>
                          <m:e>
                            <m:sSub>
                              <m:sSubPr>
                                <m:ctrlPr>
                                  <a:rPr lang="en-US" i="1">
                                    <a:solidFill>
                                      <a:srgbClr val="FF0000"/>
                                    </a:solidFill>
                                    <a:latin typeface="Cambria Math" panose="02040503050406030204" pitchFamily="18" charset="0"/>
                                  </a:rPr>
                                </m:ctrlPr>
                              </m:sSubPr>
                              <m:e>
                                <m:r>
                                  <a:rPr lang="en-US" b="1">
                                    <a:solidFill>
                                      <a:srgbClr val="FF0000"/>
                                    </a:solidFill>
                                    <a:latin typeface="Cambria Math" panose="02040503050406030204" pitchFamily="18" charset="0"/>
                                  </a:rPr>
                                  <m:t>𝐱</m:t>
                                </m:r>
                              </m:e>
                              <m:sub>
                                <m:r>
                                  <a:rPr lang="en-US" i="1">
                                    <a:solidFill>
                                      <a:srgbClr val="FF0000"/>
                                    </a:solidFill>
                                    <a:latin typeface="Cambria Math" panose="02040503050406030204" pitchFamily="18" charset="0"/>
                                  </a:rPr>
                                  <m:t>𝑖</m:t>
                                </m:r>
                              </m:sub>
                            </m:sSub>
                          </m:e>
                        </m:d>
                      </m:e>
                      <m:sup>
                        <m:r>
                          <a:rPr lang="en-US" b="0" i="1" smtClean="0">
                            <a:solidFill>
                              <a:srgbClr val="FF0000"/>
                            </a:solidFill>
                            <a:latin typeface="Cambria Math" panose="02040503050406030204" pitchFamily="18" charset="0"/>
                          </a:rPr>
                          <m:t>𝑇</m:t>
                        </m:r>
                      </m:sup>
                    </m:sSup>
                    <m:r>
                      <m:rPr>
                        <m:sty m:val="p"/>
                      </m:rPr>
                      <a:rPr lang="en-US" i="0">
                        <a:solidFill>
                          <a:srgbClr val="FF0000"/>
                        </a:solidFill>
                        <a:latin typeface="Cambria Math" panose="02040503050406030204" pitchFamily="18" charset="0"/>
                        <a:ea typeface="Cambria Math" panose="02040503050406030204" pitchFamily="18" charset="0"/>
                      </a:rPr>
                      <m:t>φ</m:t>
                    </m:r>
                    <m:d>
                      <m:dPr>
                        <m:ctrlPr>
                          <a:rPr lang="en-US" i="1">
                            <a:solidFill>
                              <a:srgbClr val="FF0000"/>
                            </a:solidFill>
                            <a:latin typeface="Cambria Math" panose="02040503050406030204" pitchFamily="18" charset="0"/>
                            <a:ea typeface="Cambria Math" panose="02040503050406030204" pitchFamily="18" charset="0"/>
                          </a:rPr>
                        </m:ctrlPr>
                      </m:dPr>
                      <m:e>
                        <m:sSub>
                          <m:sSubPr>
                            <m:ctrlPr>
                              <a:rPr lang="en-US" i="1">
                                <a:solidFill>
                                  <a:srgbClr val="FF0000"/>
                                </a:solidFill>
                                <a:latin typeface="Cambria Math" panose="02040503050406030204" pitchFamily="18" charset="0"/>
                              </a:rPr>
                            </m:ctrlPr>
                          </m:sSubPr>
                          <m:e>
                            <m:r>
                              <a:rPr lang="en-US" b="1">
                                <a:solidFill>
                                  <a:srgbClr val="FF0000"/>
                                </a:solidFill>
                                <a:latin typeface="Cambria Math" panose="02040503050406030204" pitchFamily="18" charset="0"/>
                              </a:rPr>
                              <m:t>𝐱</m:t>
                            </m:r>
                          </m:e>
                          <m:sub>
                            <m:r>
                              <a:rPr lang="en-US" b="0" i="1" smtClean="0">
                                <a:solidFill>
                                  <a:srgbClr val="FF0000"/>
                                </a:solidFill>
                                <a:latin typeface="Cambria Math" panose="02040503050406030204" pitchFamily="18" charset="0"/>
                              </a:rPr>
                              <m:t>𝑗</m:t>
                            </m:r>
                          </m:sub>
                        </m:sSub>
                      </m:e>
                    </m:d>
                  </m:oMath>
                </a14:m>
                <a:r>
                  <a:rPr lang="en-US">
                    <a:solidFill>
                      <a:srgbClr val="FF0000"/>
                    </a:solidFill>
                  </a:rPr>
                  <a:t> can be cumbersome. </a:t>
                </a:r>
              </a:p>
              <a:p>
                <a:pPr algn="just"/>
                <a:r>
                  <a:rPr lang="en-US"/>
                  <a:t>Mercer’s theorem: Every semi-positive definite symmetric function is a kernel.</a:t>
                </a:r>
              </a:p>
              <a:p>
                <a:pPr algn="just"/>
                <a:endParaRPr lang="en-US"/>
              </a:p>
            </p:txBody>
          </p:sp>
        </mc:Choice>
        <mc:Fallback xmlns="">
          <p:sp>
            <p:nvSpPr>
              <p:cNvPr id="5" name="Content Placeholder 4">
                <a:extLst>
                  <a:ext uri="{FF2B5EF4-FFF2-40B4-BE49-F238E27FC236}">
                    <a16:creationId xmlns:a16="http://schemas.microsoft.com/office/drawing/2014/main" id="{2D1AC4B7-BDFE-4490-B23E-B29DDF4C9FF2}"/>
                  </a:ext>
                </a:extLst>
              </p:cNvPr>
              <p:cNvSpPr>
                <a:spLocks noGrp="1" noRot="1" noChangeAspect="1" noMove="1" noResize="1" noEditPoints="1" noAdjustHandles="1" noChangeArrowheads="1" noChangeShapeType="1" noTextEdit="1"/>
              </p:cNvSpPr>
              <p:nvPr>
                <p:ph idx="1"/>
              </p:nvPr>
            </p:nvSpPr>
            <p:spPr>
              <a:blipFill>
                <a:blip r:embed="rId2"/>
                <a:stretch>
                  <a:fillRect l="-1000" t="-1482" r="-1111"/>
                </a:stretch>
              </a:blipFill>
            </p:spPr>
            <p:txBody>
              <a:bodyPr/>
              <a:lstStyle/>
              <a:p>
                <a:r>
                  <a:rPr lang="en-US">
                    <a:noFill/>
                  </a:rPr>
                  <a:t> </a:t>
                </a:r>
              </a:p>
            </p:txBody>
          </p:sp>
        </mc:Fallback>
      </mc:AlternateContent>
    </p:spTree>
    <p:extLst>
      <p:ext uri="{BB962C8B-B14F-4D97-AF65-F5344CB8AC3E}">
        <p14:creationId xmlns:p14="http://schemas.microsoft.com/office/powerpoint/2010/main" val="1435942592"/>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DB01790-5F05-4FE7-909D-4CD92680E16C}"/>
              </a:ext>
            </a:extLst>
          </p:cNvPr>
          <p:cNvSpPr>
            <a:spLocks noGrp="1"/>
          </p:cNvSpPr>
          <p:nvPr>
            <p:ph type="title"/>
          </p:nvPr>
        </p:nvSpPr>
        <p:spPr/>
        <p:txBody>
          <a:bodyPr/>
          <a:lstStyle/>
          <a:p>
            <a:r>
              <a:rPr lang="en-US"/>
              <a:t>Hàm kernel là gì</a:t>
            </a:r>
          </a:p>
        </p:txBody>
      </p:sp>
      <p:sp>
        <p:nvSpPr>
          <p:cNvPr id="5" name="Content Placeholder 4">
            <a:extLst>
              <a:ext uri="{FF2B5EF4-FFF2-40B4-BE49-F238E27FC236}">
                <a16:creationId xmlns:a16="http://schemas.microsoft.com/office/drawing/2014/main" id="{2D1AC4B7-BDFE-4490-B23E-B29DDF4C9FF2}"/>
              </a:ext>
            </a:extLst>
          </p:cNvPr>
          <p:cNvSpPr>
            <a:spLocks noGrp="1"/>
          </p:cNvSpPr>
          <p:nvPr>
            <p:ph idx="1"/>
          </p:nvPr>
        </p:nvSpPr>
        <p:spPr/>
        <p:txBody>
          <a:bodyPr/>
          <a:lstStyle/>
          <a:p>
            <a:pPr algn="just"/>
            <a:r>
              <a:rPr lang="en-US"/>
              <a:t>Semi-positive definite symmetric functions correspond to a semi-positive definite symmetric Gram matrix:</a:t>
            </a:r>
          </a:p>
          <a:p>
            <a:pPr algn="just"/>
            <a:endParaRPr lang="en-US"/>
          </a:p>
          <a:p>
            <a:pPr algn="just"/>
            <a:endParaRPr lang="en-US"/>
          </a:p>
        </p:txBody>
      </p:sp>
      <mc:AlternateContent xmlns:mc="http://schemas.openxmlformats.org/markup-compatibility/2006" xmlns:a14="http://schemas.microsoft.com/office/drawing/2010/main">
        <mc:Choice Requires="a14">
          <p:graphicFrame>
            <p:nvGraphicFramePr>
              <p:cNvPr id="2" name="Table 2">
                <a:extLst>
                  <a:ext uri="{FF2B5EF4-FFF2-40B4-BE49-F238E27FC236}">
                    <a16:creationId xmlns:a16="http://schemas.microsoft.com/office/drawing/2014/main" id="{C9B966B9-0AE4-465C-9CF1-C853F2E94E9A}"/>
                  </a:ext>
                </a:extLst>
              </p:cNvPr>
              <p:cNvGraphicFramePr>
                <a:graphicFrameLocks noGrp="1"/>
              </p:cNvGraphicFramePr>
              <p:nvPr/>
            </p:nvGraphicFramePr>
            <p:xfrm>
              <a:off x="813707" y="2819400"/>
              <a:ext cx="10564586" cy="2590800"/>
            </p:xfrm>
            <a:graphic>
              <a:graphicData uri="http://schemas.openxmlformats.org/drawingml/2006/table">
                <a:tbl>
                  <a:tblPr>
                    <a:tableStyleId>{5C22544A-7EE6-4342-B048-85BDC9FD1C3A}</a:tableStyleId>
                  </a:tblPr>
                  <a:tblGrid>
                    <a:gridCol w="1161143">
                      <a:extLst>
                        <a:ext uri="{9D8B030D-6E8A-4147-A177-3AD203B41FA5}">
                          <a16:colId xmlns:a16="http://schemas.microsoft.com/office/drawing/2014/main" val="3285299116"/>
                        </a:ext>
                      </a:extLst>
                    </a:gridCol>
                    <a:gridCol w="2048954">
                      <a:extLst>
                        <a:ext uri="{9D8B030D-6E8A-4147-A177-3AD203B41FA5}">
                          <a16:colId xmlns:a16="http://schemas.microsoft.com/office/drawing/2014/main" val="2778683021"/>
                        </a:ext>
                      </a:extLst>
                    </a:gridCol>
                    <a:gridCol w="2057146">
                      <a:extLst>
                        <a:ext uri="{9D8B030D-6E8A-4147-A177-3AD203B41FA5}">
                          <a16:colId xmlns:a16="http://schemas.microsoft.com/office/drawing/2014/main" val="1550604992"/>
                        </a:ext>
                      </a:extLst>
                    </a:gridCol>
                    <a:gridCol w="2057146">
                      <a:extLst>
                        <a:ext uri="{9D8B030D-6E8A-4147-A177-3AD203B41FA5}">
                          <a16:colId xmlns:a16="http://schemas.microsoft.com/office/drawing/2014/main" val="410660957"/>
                        </a:ext>
                      </a:extLst>
                    </a:gridCol>
                    <a:gridCol w="1161143">
                      <a:extLst>
                        <a:ext uri="{9D8B030D-6E8A-4147-A177-3AD203B41FA5}">
                          <a16:colId xmlns:a16="http://schemas.microsoft.com/office/drawing/2014/main" val="994871196"/>
                        </a:ext>
                      </a:extLst>
                    </a:gridCol>
                    <a:gridCol w="2079054">
                      <a:extLst>
                        <a:ext uri="{9D8B030D-6E8A-4147-A177-3AD203B41FA5}">
                          <a16:colId xmlns:a16="http://schemas.microsoft.com/office/drawing/2014/main" val="827091848"/>
                        </a:ext>
                      </a:extLst>
                    </a:gridCol>
                  </a:tblGrid>
                  <a:tr h="370840">
                    <a:tc>
                      <a:txBody>
                        <a:bodyPr/>
                        <a:lstStyle/>
                        <a:p>
                          <a:endParaRPr lang="en-US" sz="2800" i="0"/>
                        </a:p>
                      </a:txBody>
                      <a:tcPr>
                        <a:lnR w="12700" cap="flat" cmpd="sng" algn="ctr">
                          <a:solidFill>
                            <a:schemeClr val="tx1"/>
                          </a:solidFill>
                          <a:prstDash val="solid"/>
                          <a:round/>
                          <a:headEnd type="none" w="med" len="med"/>
                          <a:tailEnd type="none" w="med" len="med"/>
                        </a:lnR>
                      </a:tcPr>
                    </a:tc>
                    <a:tc>
                      <a:txBody>
                        <a:bodyPr/>
                        <a:lstStyle/>
                        <a:p>
                          <a:pPr algn="l"/>
                          <a14:m>
                            <m:oMathPara xmlns:m="http://schemas.openxmlformats.org/officeDocument/2006/math">
                              <m:oMathParaPr>
                                <m:jc m:val="left"/>
                              </m:oMathParaPr>
                              <m:oMath xmlns:m="http://schemas.openxmlformats.org/officeDocument/2006/math">
                                <m:r>
                                  <m:rPr>
                                    <m:sty m:val="p"/>
                                  </m:rPr>
                                  <a:rPr lang="en-US" sz="2800" b="0" i="0" smtClean="0">
                                    <a:latin typeface="Cambria Math" panose="02040503050406030204" pitchFamily="18" charset="0"/>
                                  </a:rPr>
                                  <m:t>K</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b="1" i="0">
                                            <a:latin typeface="Cambria Math" panose="02040503050406030204" pitchFamily="18" charset="0"/>
                                          </a:rPr>
                                          <m:t>𝐱</m:t>
                                        </m:r>
                                      </m:e>
                                      <m:sub>
                                        <m:r>
                                          <a:rPr lang="en-US" sz="2800" b="0" i="0" smtClean="0">
                                            <a:latin typeface="Cambria Math" panose="02040503050406030204" pitchFamily="18" charset="0"/>
                                          </a:rPr>
                                          <m:t>1</m:t>
                                        </m:r>
                                      </m:sub>
                                    </m:sSub>
                                    <m:r>
                                      <a:rPr lang="en-US" sz="2800" i="0">
                                        <a:latin typeface="Cambria Math" panose="02040503050406030204" pitchFamily="18" charset="0"/>
                                      </a:rPr>
                                      <m:t>,</m:t>
                                    </m:r>
                                    <m:sSub>
                                      <m:sSubPr>
                                        <m:ctrlPr>
                                          <a:rPr lang="en-US" sz="2800" i="1">
                                            <a:latin typeface="Cambria Math" panose="02040503050406030204" pitchFamily="18" charset="0"/>
                                          </a:rPr>
                                        </m:ctrlPr>
                                      </m:sSubPr>
                                      <m:e>
                                        <m:r>
                                          <a:rPr lang="en-US" sz="2800" b="1" i="0">
                                            <a:latin typeface="Cambria Math" panose="02040503050406030204" pitchFamily="18" charset="0"/>
                                          </a:rPr>
                                          <m:t>𝐱</m:t>
                                        </m:r>
                                      </m:e>
                                      <m:sub>
                                        <m:r>
                                          <a:rPr lang="en-US" sz="2800" b="0" i="0" smtClean="0">
                                            <a:latin typeface="Cambria Math" panose="02040503050406030204" pitchFamily="18" charset="0"/>
                                          </a:rPr>
                                          <m:t>1</m:t>
                                        </m:r>
                                      </m:sub>
                                    </m:sSub>
                                  </m:e>
                                </m:d>
                              </m:oMath>
                            </m:oMathPara>
                          </a14:m>
                          <a:endParaRPr lang="en-US" sz="2800" i="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14:m>
                            <m:oMathPara xmlns:m="http://schemas.openxmlformats.org/officeDocument/2006/math">
                              <m:oMathParaPr>
                                <m:jc m:val="left"/>
                              </m:oMathParaPr>
                              <m:oMath xmlns:m="http://schemas.openxmlformats.org/officeDocument/2006/math">
                                <m:r>
                                  <m:rPr>
                                    <m:sty m:val="p"/>
                                  </m:rPr>
                                  <a:rPr lang="en-US" sz="2800" b="0" i="0" smtClean="0">
                                    <a:latin typeface="Cambria Math" panose="02040503050406030204" pitchFamily="18" charset="0"/>
                                  </a:rPr>
                                  <m:t>K</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b="1" i="0">
                                            <a:latin typeface="Cambria Math" panose="02040503050406030204" pitchFamily="18" charset="0"/>
                                          </a:rPr>
                                          <m:t>𝐱</m:t>
                                        </m:r>
                                      </m:e>
                                      <m:sub>
                                        <m:r>
                                          <a:rPr lang="en-US" sz="2800" b="0" i="0" smtClean="0">
                                            <a:latin typeface="Cambria Math" panose="02040503050406030204" pitchFamily="18" charset="0"/>
                                          </a:rPr>
                                          <m:t>1</m:t>
                                        </m:r>
                                      </m:sub>
                                    </m:sSub>
                                    <m:r>
                                      <a:rPr lang="en-US" sz="2800" i="0">
                                        <a:latin typeface="Cambria Math" panose="02040503050406030204" pitchFamily="18" charset="0"/>
                                      </a:rPr>
                                      <m:t>,</m:t>
                                    </m:r>
                                    <m:sSub>
                                      <m:sSubPr>
                                        <m:ctrlPr>
                                          <a:rPr lang="en-US" sz="2800" i="1">
                                            <a:latin typeface="Cambria Math" panose="02040503050406030204" pitchFamily="18" charset="0"/>
                                          </a:rPr>
                                        </m:ctrlPr>
                                      </m:sSubPr>
                                      <m:e>
                                        <m:r>
                                          <a:rPr lang="en-US" sz="2800" b="1" i="0">
                                            <a:latin typeface="Cambria Math" panose="02040503050406030204" pitchFamily="18" charset="0"/>
                                          </a:rPr>
                                          <m:t>𝐱</m:t>
                                        </m:r>
                                      </m:e>
                                      <m:sub>
                                        <m:r>
                                          <a:rPr lang="en-US" sz="2800" b="0" i="0" smtClean="0">
                                            <a:latin typeface="Cambria Math" panose="02040503050406030204" pitchFamily="18" charset="0"/>
                                          </a:rPr>
                                          <m:t>2</m:t>
                                        </m:r>
                                      </m:sub>
                                    </m:sSub>
                                  </m:e>
                                </m:d>
                              </m:oMath>
                            </m:oMathPara>
                          </a14:m>
                          <a:endParaRPr lang="en-US" sz="2800" i="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14:m>
                            <m:oMathPara xmlns:m="http://schemas.openxmlformats.org/officeDocument/2006/math">
                              <m:oMathParaPr>
                                <m:jc m:val="left"/>
                              </m:oMathParaPr>
                              <m:oMath xmlns:m="http://schemas.openxmlformats.org/officeDocument/2006/math">
                                <m:r>
                                  <m:rPr>
                                    <m:sty m:val="p"/>
                                  </m:rPr>
                                  <a:rPr lang="en-US" sz="2800" b="0" i="0" smtClean="0">
                                    <a:latin typeface="Cambria Math" panose="02040503050406030204" pitchFamily="18" charset="0"/>
                                  </a:rPr>
                                  <m:t>K</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b="1" i="0">
                                            <a:latin typeface="Cambria Math" panose="02040503050406030204" pitchFamily="18" charset="0"/>
                                          </a:rPr>
                                          <m:t>𝐱</m:t>
                                        </m:r>
                                      </m:e>
                                      <m:sub>
                                        <m:r>
                                          <a:rPr lang="en-US" sz="2800" b="0" i="0" smtClean="0">
                                            <a:latin typeface="Cambria Math" panose="02040503050406030204" pitchFamily="18" charset="0"/>
                                          </a:rPr>
                                          <m:t>1</m:t>
                                        </m:r>
                                      </m:sub>
                                    </m:sSub>
                                    <m:r>
                                      <a:rPr lang="en-US" sz="2800" i="0">
                                        <a:latin typeface="Cambria Math" panose="02040503050406030204" pitchFamily="18" charset="0"/>
                                      </a:rPr>
                                      <m:t>,</m:t>
                                    </m:r>
                                    <m:sSub>
                                      <m:sSubPr>
                                        <m:ctrlPr>
                                          <a:rPr lang="en-US" sz="2800" i="1">
                                            <a:latin typeface="Cambria Math" panose="02040503050406030204" pitchFamily="18" charset="0"/>
                                          </a:rPr>
                                        </m:ctrlPr>
                                      </m:sSubPr>
                                      <m:e>
                                        <m:r>
                                          <a:rPr lang="en-US" sz="2800" b="1" i="0">
                                            <a:latin typeface="Cambria Math" panose="02040503050406030204" pitchFamily="18" charset="0"/>
                                          </a:rPr>
                                          <m:t>𝐱</m:t>
                                        </m:r>
                                      </m:e>
                                      <m:sub>
                                        <m:r>
                                          <a:rPr lang="en-US" sz="2800" b="0" i="0" smtClean="0">
                                            <a:latin typeface="Cambria Math" panose="02040503050406030204" pitchFamily="18" charset="0"/>
                                          </a:rPr>
                                          <m:t>3</m:t>
                                        </m:r>
                                      </m:sub>
                                    </m:sSub>
                                  </m:e>
                                </m:d>
                              </m:oMath>
                            </m:oMathPara>
                          </a14:m>
                          <a:endParaRPr lang="en-US" sz="2800" i="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800" i="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14:m>
                            <m:oMathPara xmlns:m="http://schemas.openxmlformats.org/officeDocument/2006/math">
                              <m:oMathParaPr>
                                <m:jc m:val="left"/>
                              </m:oMathParaPr>
                              <m:oMath xmlns:m="http://schemas.openxmlformats.org/officeDocument/2006/math">
                                <m:r>
                                  <m:rPr>
                                    <m:sty m:val="p"/>
                                  </m:rPr>
                                  <a:rPr lang="en-US" sz="2800" b="0" i="0" smtClean="0">
                                    <a:latin typeface="Cambria Math" panose="02040503050406030204" pitchFamily="18" charset="0"/>
                                  </a:rPr>
                                  <m:t>K</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b="1" i="0">
                                            <a:latin typeface="Cambria Math" panose="02040503050406030204" pitchFamily="18" charset="0"/>
                                          </a:rPr>
                                          <m:t>𝐱</m:t>
                                        </m:r>
                                      </m:e>
                                      <m:sub>
                                        <m:r>
                                          <a:rPr lang="en-US" sz="2800" b="0" i="0" smtClean="0">
                                            <a:latin typeface="Cambria Math" panose="02040503050406030204" pitchFamily="18" charset="0"/>
                                          </a:rPr>
                                          <m:t>1</m:t>
                                        </m:r>
                                      </m:sub>
                                    </m:sSub>
                                    <m:r>
                                      <a:rPr lang="en-US" sz="2800" i="0">
                                        <a:latin typeface="Cambria Math" panose="02040503050406030204" pitchFamily="18" charset="0"/>
                                      </a:rPr>
                                      <m:t>,</m:t>
                                    </m:r>
                                    <m:sSub>
                                      <m:sSubPr>
                                        <m:ctrlPr>
                                          <a:rPr lang="en-US" sz="2800" i="1">
                                            <a:latin typeface="Cambria Math" panose="02040503050406030204" pitchFamily="18" charset="0"/>
                                          </a:rPr>
                                        </m:ctrlPr>
                                      </m:sSubPr>
                                      <m:e>
                                        <m:r>
                                          <a:rPr lang="en-US" sz="2800" b="1" i="0">
                                            <a:latin typeface="Cambria Math" panose="02040503050406030204" pitchFamily="18" charset="0"/>
                                          </a:rPr>
                                          <m:t>𝐱</m:t>
                                        </m:r>
                                      </m:e>
                                      <m:sub>
                                        <m:r>
                                          <m:rPr>
                                            <m:sty m:val="p"/>
                                          </m:rPr>
                                          <a:rPr lang="en-US" sz="2800" b="0" i="0" smtClean="0">
                                            <a:latin typeface="Cambria Math" panose="02040503050406030204" pitchFamily="18" charset="0"/>
                                          </a:rPr>
                                          <m:t>n</m:t>
                                        </m:r>
                                      </m:sub>
                                    </m:sSub>
                                  </m:e>
                                </m:d>
                              </m:oMath>
                            </m:oMathPara>
                          </a14:m>
                          <a:endParaRPr lang="en-US" sz="2800" i="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3484740"/>
                      </a:ext>
                    </a:extLst>
                  </a:tr>
                  <a:tr h="370840">
                    <a:tc>
                      <a:txBody>
                        <a:bodyPr/>
                        <a:lstStyle/>
                        <a:p>
                          <a:endParaRPr lang="en-US" sz="2800" i="0"/>
                        </a:p>
                      </a:txBody>
                      <a:tcPr>
                        <a:lnR w="12700" cap="flat" cmpd="sng" algn="ctr">
                          <a:solidFill>
                            <a:schemeClr val="tx1"/>
                          </a:solidFill>
                          <a:prstDash val="solid"/>
                          <a:round/>
                          <a:headEnd type="none" w="med" len="med"/>
                          <a:tailEnd type="none" w="med" len="med"/>
                        </a:lnR>
                      </a:tcPr>
                    </a:tc>
                    <a:tc>
                      <a:txBody>
                        <a:bodyPr/>
                        <a:lstStyle/>
                        <a:p>
                          <a:pPr algn="l"/>
                          <a14:m>
                            <m:oMathPara xmlns:m="http://schemas.openxmlformats.org/officeDocument/2006/math">
                              <m:oMathParaPr>
                                <m:jc m:val="left"/>
                              </m:oMathParaPr>
                              <m:oMath xmlns:m="http://schemas.openxmlformats.org/officeDocument/2006/math">
                                <m:r>
                                  <m:rPr>
                                    <m:sty m:val="p"/>
                                  </m:rPr>
                                  <a:rPr lang="en-US" sz="2800" b="0" i="0" smtClean="0">
                                    <a:latin typeface="Cambria Math" panose="02040503050406030204" pitchFamily="18" charset="0"/>
                                  </a:rPr>
                                  <m:t>K</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b="1" i="0">
                                            <a:latin typeface="Cambria Math" panose="02040503050406030204" pitchFamily="18" charset="0"/>
                                          </a:rPr>
                                          <m:t>𝐱</m:t>
                                        </m:r>
                                      </m:e>
                                      <m:sub>
                                        <m:r>
                                          <a:rPr lang="en-US" sz="2800" b="0" i="0" smtClean="0">
                                            <a:latin typeface="Cambria Math" panose="02040503050406030204" pitchFamily="18" charset="0"/>
                                          </a:rPr>
                                          <m:t>2</m:t>
                                        </m:r>
                                      </m:sub>
                                    </m:sSub>
                                    <m:r>
                                      <a:rPr lang="en-US" sz="2800" i="0">
                                        <a:latin typeface="Cambria Math" panose="02040503050406030204" pitchFamily="18" charset="0"/>
                                      </a:rPr>
                                      <m:t>,</m:t>
                                    </m:r>
                                    <m:sSub>
                                      <m:sSubPr>
                                        <m:ctrlPr>
                                          <a:rPr lang="en-US" sz="2800" i="1">
                                            <a:latin typeface="Cambria Math" panose="02040503050406030204" pitchFamily="18" charset="0"/>
                                          </a:rPr>
                                        </m:ctrlPr>
                                      </m:sSubPr>
                                      <m:e>
                                        <m:r>
                                          <a:rPr lang="en-US" sz="2800" b="1" i="0">
                                            <a:latin typeface="Cambria Math" panose="02040503050406030204" pitchFamily="18" charset="0"/>
                                          </a:rPr>
                                          <m:t>𝐱</m:t>
                                        </m:r>
                                      </m:e>
                                      <m:sub>
                                        <m:r>
                                          <a:rPr lang="en-US" sz="2800" b="0" i="0" smtClean="0">
                                            <a:latin typeface="Cambria Math" panose="02040503050406030204" pitchFamily="18" charset="0"/>
                                          </a:rPr>
                                          <m:t>1</m:t>
                                        </m:r>
                                      </m:sub>
                                    </m:sSub>
                                  </m:e>
                                </m:d>
                              </m:oMath>
                            </m:oMathPara>
                          </a14:m>
                          <a:endParaRPr lang="en-US" sz="2800" i="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14:m>
                            <m:oMathPara xmlns:m="http://schemas.openxmlformats.org/officeDocument/2006/math">
                              <m:oMathParaPr>
                                <m:jc m:val="left"/>
                              </m:oMathParaPr>
                              <m:oMath xmlns:m="http://schemas.openxmlformats.org/officeDocument/2006/math">
                                <m:r>
                                  <m:rPr>
                                    <m:sty m:val="p"/>
                                  </m:rPr>
                                  <a:rPr lang="en-US" sz="2800" b="0" i="0" smtClean="0">
                                    <a:latin typeface="Cambria Math" panose="02040503050406030204" pitchFamily="18" charset="0"/>
                                  </a:rPr>
                                  <m:t>K</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b="1" i="0">
                                            <a:latin typeface="Cambria Math" panose="02040503050406030204" pitchFamily="18" charset="0"/>
                                          </a:rPr>
                                          <m:t>𝐱</m:t>
                                        </m:r>
                                      </m:e>
                                      <m:sub>
                                        <m:r>
                                          <a:rPr lang="en-US" sz="2800" b="0" i="0" smtClean="0">
                                            <a:latin typeface="Cambria Math" panose="02040503050406030204" pitchFamily="18" charset="0"/>
                                          </a:rPr>
                                          <m:t>2</m:t>
                                        </m:r>
                                      </m:sub>
                                    </m:sSub>
                                    <m:r>
                                      <a:rPr lang="en-US" sz="2800" i="0">
                                        <a:latin typeface="Cambria Math" panose="02040503050406030204" pitchFamily="18" charset="0"/>
                                      </a:rPr>
                                      <m:t>,</m:t>
                                    </m:r>
                                    <m:sSub>
                                      <m:sSubPr>
                                        <m:ctrlPr>
                                          <a:rPr lang="en-US" sz="2800" i="1">
                                            <a:latin typeface="Cambria Math" panose="02040503050406030204" pitchFamily="18" charset="0"/>
                                          </a:rPr>
                                        </m:ctrlPr>
                                      </m:sSubPr>
                                      <m:e>
                                        <m:r>
                                          <a:rPr lang="en-US" sz="2800" b="1" i="0">
                                            <a:latin typeface="Cambria Math" panose="02040503050406030204" pitchFamily="18" charset="0"/>
                                          </a:rPr>
                                          <m:t>𝐱</m:t>
                                        </m:r>
                                      </m:e>
                                      <m:sub>
                                        <m:r>
                                          <a:rPr lang="en-US" sz="2800" b="0" i="0" smtClean="0">
                                            <a:latin typeface="Cambria Math" panose="02040503050406030204" pitchFamily="18" charset="0"/>
                                          </a:rPr>
                                          <m:t>2</m:t>
                                        </m:r>
                                      </m:sub>
                                    </m:sSub>
                                  </m:e>
                                </m:d>
                              </m:oMath>
                            </m:oMathPara>
                          </a14:m>
                          <a:endParaRPr lang="en-US" sz="2800" i="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14:m>
                            <m:oMathPara xmlns:m="http://schemas.openxmlformats.org/officeDocument/2006/math">
                              <m:oMathParaPr>
                                <m:jc m:val="left"/>
                              </m:oMathParaPr>
                              <m:oMath xmlns:m="http://schemas.openxmlformats.org/officeDocument/2006/math">
                                <m:r>
                                  <m:rPr>
                                    <m:sty m:val="p"/>
                                  </m:rPr>
                                  <a:rPr lang="en-US" sz="2800" b="0" i="0" smtClean="0">
                                    <a:latin typeface="Cambria Math" panose="02040503050406030204" pitchFamily="18" charset="0"/>
                                  </a:rPr>
                                  <m:t>K</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b="1" i="0">
                                            <a:latin typeface="Cambria Math" panose="02040503050406030204" pitchFamily="18" charset="0"/>
                                          </a:rPr>
                                          <m:t>𝐱</m:t>
                                        </m:r>
                                      </m:e>
                                      <m:sub>
                                        <m:r>
                                          <a:rPr lang="en-US" sz="2800" b="0" i="0" smtClean="0">
                                            <a:latin typeface="Cambria Math" panose="02040503050406030204" pitchFamily="18" charset="0"/>
                                          </a:rPr>
                                          <m:t>2</m:t>
                                        </m:r>
                                      </m:sub>
                                    </m:sSub>
                                    <m:r>
                                      <a:rPr lang="en-US" sz="2800" i="0">
                                        <a:latin typeface="Cambria Math" panose="02040503050406030204" pitchFamily="18" charset="0"/>
                                      </a:rPr>
                                      <m:t>,</m:t>
                                    </m:r>
                                    <m:sSub>
                                      <m:sSubPr>
                                        <m:ctrlPr>
                                          <a:rPr lang="en-US" sz="2800" i="1">
                                            <a:latin typeface="Cambria Math" panose="02040503050406030204" pitchFamily="18" charset="0"/>
                                          </a:rPr>
                                        </m:ctrlPr>
                                      </m:sSubPr>
                                      <m:e>
                                        <m:r>
                                          <a:rPr lang="en-US" sz="2800" b="1" i="0">
                                            <a:latin typeface="Cambria Math" panose="02040503050406030204" pitchFamily="18" charset="0"/>
                                          </a:rPr>
                                          <m:t>𝐱</m:t>
                                        </m:r>
                                      </m:e>
                                      <m:sub>
                                        <m:r>
                                          <a:rPr lang="en-US" sz="2800" b="0" i="0" smtClean="0">
                                            <a:latin typeface="Cambria Math" panose="02040503050406030204" pitchFamily="18" charset="0"/>
                                          </a:rPr>
                                          <m:t>3</m:t>
                                        </m:r>
                                      </m:sub>
                                    </m:sSub>
                                  </m:e>
                                </m:d>
                              </m:oMath>
                            </m:oMathPara>
                          </a14:m>
                          <a:endParaRPr lang="en-US" sz="2800" i="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800" i="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14:m>
                            <m:oMathPara xmlns:m="http://schemas.openxmlformats.org/officeDocument/2006/math">
                              <m:oMathParaPr>
                                <m:jc m:val="left"/>
                              </m:oMathParaPr>
                              <m:oMath xmlns:m="http://schemas.openxmlformats.org/officeDocument/2006/math">
                                <m:r>
                                  <m:rPr>
                                    <m:sty m:val="p"/>
                                  </m:rPr>
                                  <a:rPr lang="en-US" sz="2800" b="0" i="0" smtClean="0">
                                    <a:latin typeface="Cambria Math" panose="02040503050406030204" pitchFamily="18" charset="0"/>
                                  </a:rPr>
                                  <m:t>K</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b="1" i="0">
                                            <a:latin typeface="Cambria Math" panose="02040503050406030204" pitchFamily="18" charset="0"/>
                                          </a:rPr>
                                          <m:t>𝐱</m:t>
                                        </m:r>
                                      </m:e>
                                      <m:sub>
                                        <m:r>
                                          <a:rPr lang="en-US" sz="2800" b="0" i="0" smtClean="0">
                                            <a:latin typeface="Cambria Math" panose="02040503050406030204" pitchFamily="18" charset="0"/>
                                          </a:rPr>
                                          <m:t>2</m:t>
                                        </m:r>
                                      </m:sub>
                                    </m:sSub>
                                    <m:r>
                                      <a:rPr lang="en-US" sz="2800" i="0">
                                        <a:latin typeface="Cambria Math" panose="02040503050406030204" pitchFamily="18" charset="0"/>
                                      </a:rPr>
                                      <m:t>,</m:t>
                                    </m:r>
                                    <m:sSub>
                                      <m:sSubPr>
                                        <m:ctrlPr>
                                          <a:rPr lang="en-US" sz="2800" i="1">
                                            <a:latin typeface="Cambria Math" panose="02040503050406030204" pitchFamily="18" charset="0"/>
                                          </a:rPr>
                                        </m:ctrlPr>
                                      </m:sSubPr>
                                      <m:e>
                                        <m:r>
                                          <a:rPr lang="en-US" sz="2800" b="1" i="0">
                                            <a:latin typeface="Cambria Math" panose="02040503050406030204" pitchFamily="18" charset="0"/>
                                          </a:rPr>
                                          <m:t>𝐱</m:t>
                                        </m:r>
                                      </m:e>
                                      <m:sub>
                                        <m:r>
                                          <m:rPr>
                                            <m:sty m:val="p"/>
                                          </m:rPr>
                                          <a:rPr lang="en-US" sz="2800" b="0" i="0" smtClean="0">
                                            <a:latin typeface="Cambria Math" panose="02040503050406030204" pitchFamily="18" charset="0"/>
                                          </a:rPr>
                                          <m:t>n</m:t>
                                        </m:r>
                                      </m:sub>
                                    </m:sSub>
                                  </m:e>
                                </m:d>
                              </m:oMath>
                            </m:oMathPara>
                          </a14:m>
                          <a:endParaRPr lang="en-US" sz="2800" i="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2268932"/>
                      </a:ext>
                    </a:extLst>
                  </a:tr>
                  <a:tr h="370840">
                    <a:tc>
                      <a:txBody>
                        <a:bodyPr/>
                        <a:lstStyle/>
                        <a:p>
                          <a:pPr algn="r"/>
                          <a14:m>
                            <m:oMathPara xmlns:m="http://schemas.openxmlformats.org/officeDocument/2006/math">
                              <m:oMathParaPr>
                                <m:jc m:val="centerGroup"/>
                              </m:oMathParaPr>
                              <m:oMath xmlns:m="http://schemas.openxmlformats.org/officeDocument/2006/math">
                                <m:r>
                                  <m:rPr>
                                    <m:sty m:val="p"/>
                                  </m:rPr>
                                  <a:rPr lang="en-US" sz="2800" i="0" smtClean="0">
                                    <a:latin typeface="Cambria Math" panose="02040503050406030204" pitchFamily="18" charset="0"/>
                                  </a:rPr>
                                  <m:t>K</m:t>
                                </m:r>
                                <m:r>
                                  <a:rPr lang="en-US" sz="2800" i="0" smtClean="0">
                                    <a:latin typeface="Cambria Math" panose="02040503050406030204" pitchFamily="18" charset="0"/>
                                  </a:rPr>
                                  <m:t>=</m:t>
                                </m:r>
                              </m:oMath>
                            </m:oMathPara>
                          </a14:m>
                          <a:endParaRPr lang="en-US" sz="2800" i="0"/>
                        </a:p>
                      </a:txBody>
                      <a:tcPr>
                        <a:lnR w="12700" cap="flat" cmpd="sng" algn="ctr">
                          <a:solidFill>
                            <a:schemeClr val="tx1"/>
                          </a:solidFill>
                          <a:prstDash val="solid"/>
                          <a:round/>
                          <a:headEnd type="none" w="med" len="med"/>
                          <a:tailEnd type="none" w="med" len="med"/>
                        </a:lnR>
                      </a:tcPr>
                    </a:tc>
                    <a:tc>
                      <a:txBody>
                        <a:bodyPr/>
                        <a:lstStyle/>
                        <a:p>
                          <a:pPr algn="l"/>
                          <a:r>
                            <a:rPr lang="en-US" sz="2800" i="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800" i="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800" i="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800" i="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800" i="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8065016"/>
                      </a:ext>
                    </a:extLst>
                  </a:tr>
                  <a:tr h="370840">
                    <a:tc>
                      <a:txBody>
                        <a:bodyPr/>
                        <a:lstStyle/>
                        <a:p>
                          <a:endParaRPr lang="en-US" sz="2800" i="0"/>
                        </a:p>
                      </a:txBody>
                      <a:tcPr>
                        <a:lnR w="12700" cap="flat" cmpd="sng" algn="ctr">
                          <a:solidFill>
                            <a:schemeClr val="tx1"/>
                          </a:solidFill>
                          <a:prstDash val="solid"/>
                          <a:round/>
                          <a:headEnd type="none" w="med" len="med"/>
                          <a:tailEnd type="none" w="med" len="med"/>
                        </a:lnR>
                      </a:tcPr>
                    </a:tc>
                    <a:tc>
                      <a:txBody>
                        <a:bodyPr/>
                        <a:lstStyle/>
                        <a:p>
                          <a:pPr algn="l"/>
                          <a14:m>
                            <m:oMathPara xmlns:m="http://schemas.openxmlformats.org/officeDocument/2006/math">
                              <m:oMathParaPr>
                                <m:jc m:val="left"/>
                              </m:oMathParaPr>
                              <m:oMath xmlns:m="http://schemas.openxmlformats.org/officeDocument/2006/math">
                                <m:r>
                                  <m:rPr>
                                    <m:sty m:val="p"/>
                                  </m:rPr>
                                  <a:rPr lang="en-US" sz="2800" b="0" i="0" smtClean="0">
                                    <a:latin typeface="Cambria Math" panose="02040503050406030204" pitchFamily="18" charset="0"/>
                                  </a:rPr>
                                  <m:t>K</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b="1" i="0">
                                            <a:latin typeface="Cambria Math" panose="02040503050406030204" pitchFamily="18" charset="0"/>
                                          </a:rPr>
                                          <m:t>𝐱</m:t>
                                        </m:r>
                                      </m:e>
                                      <m:sub>
                                        <m:r>
                                          <m:rPr>
                                            <m:sty m:val="p"/>
                                          </m:rPr>
                                          <a:rPr lang="en-US" sz="2800" b="0" i="0" smtClean="0">
                                            <a:latin typeface="Cambria Math" panose="02040503050406030204" pitchFamily="18" charset="0"/>
                                          </a:rPr>
                                          <m:t>n</m:t>
                                        </m:r>
                                        <m:r>
                                          <a:rPr lang="en-US" sz="2800" b="0" i="0" smtClean="0">
                                            <a:latin typeface="Cambria Math" panose="02040503050406030204" pitchFamily="18" charset="0"/>
                                          </a:rPr>
                                          <m:t>−1</m:t>
                                        </m:r>
                                      </m:sub>
                                    </m:sSub>
                                    <m:r>
                                      <a:rPr lang="en-US" sz="2800" i="0">
                                        <a:latin typeface="Cambria Math" panose="02040503050406030204" pitchFamily="18" charset="0"/>
                                      </a:rPr>
                                      <m:t>,</m:t>
                                    </m:r>
                                    <m:sSub>
                                      <m:sSubPr>
                                        <m:ctrlPr>
                                          <a:rPr lang="en-US" sz="2800" i="1">
                                            <a:latin typeface="Cambria Math" panose="02040503050406030204" pitchFamily="18" charset="0"/>
                                          </a:rPr>
                                        </m:ctrlPr>
                                      </m:sSubPr>
                                      <m:e>
                                        <m:r>
                                          <a:rPr lang="en-US" sz="2800" b="1" i="0">
                                            <a:latin typeface="Cambria Math" panose="02040503050406030204" pitchFamily="18" charset="0"/>
                                          </a:rPr>
                                          <m:t>𝐱</m:t>
                                        </m:r>
                                      </m:e>
                                      <m:sub>
                                        <m:r>
                                          <a:rPr lang="en-US" sz="2800" b="0" i="0" smtClean="0">
                                            <a:latin typeface="Cambria Math" panose="02040503050406030204" pitchFamily="18" charset="0"/>
                                          </a:rPr>
                                          <m:t>1</m:t>
                                        </m:r>
                                      </m:sub>
                                    </m:sSub>
                                  </m:e>
                                </m:d>
                              </m:oMath>
                            </m:oMathPara>
                          </a14:m>
                          <a:endParaRPr lang="en-US" sz="2800" i="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14:m>
                            <m:oMathPara xmlns:m="http://schemas.openxmlformats.org/officeDocument/2006/math">
                              <m:oMathParaPr>
                                <m:jc m:val="left"/>
                              </m:oMathParaPr>
                              <m:oMath xmlns:m="http://schemas.openxmlformats.org/officeDocument/2006/math">
                                <m:r>
                                  <m:rPr>
                                    <m:sty m:val="p"/>
                                  </m:rPr>
                                  <a:rPr lang="en-US" sz="2800" b="0" i="0" smtClean="0">
                                    <a:latin typeface="Cambria Math" panose="02040503050406030204" pitchFamily="18" charset="0"/>
                                  </a:rPr>
                                  <m:t>K</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b="1" i="0">
                                            <a:latin typeface="Cambria Math" panose="02040503050406030204" pitchFamily="18" charset="0"/>
                                          </a:rPr>
                                          <m:t>𝐱</m:t>
                                        </m:r>
                                      </m:e>
                                      <m:sub>
                                        <m:r>
                                          <m:rPr>
                                            <m:sty m:val="p"/>
                                          </m:rPr>
                                          <a:rPr lang="en-US" sz="2800" b="0" i="0" smtClean="0">
                                            <a:latin typeface="Cambria Math" panose="02040503050406030204" pitchFamily="18" charset="0"/>
                                          </a:rPr>
                                          <m:t>n</m:t>
                                        </m:r>
                                        <m:r>
                                          <a:rPr lang="en-US" sz="2800" b="0" i="0" smtClean="0">
                                            <a:latin typeface="Cambria Math" panose="02040503050406030204" pitchFamily="18" charset="0"/>
                                          </a:rPr>
                                          <m:t>−1</m:t>
                                        </m:r>
                                      </m:sub>
                                    </m:sSub>
                                    <m:r>
                                      <a:rPr lang="en-US" sz="2800" i="0">
                                        <a:latin typeface="Cambria Math" panose="02040503050406030204" pitchFamily="18" charset="0"/>
                                      </a:rPr>
                                      <m:t>,</m:t>
                                    </m:r>
                                    <m:sSub>
                                      <m:sSubPr>
                                        <m:ctrlPr>
                                          <a:rPr lang="en-US" sz="2800" i="1">
                                            <a:latin typeface="Cambria Math" panose="02040503050406030204" pitchFamily="18" charset="0"/>
                                          </a:rPr>
                                        </m:ctrlPr>
                                      </m:sSubPr>
                                      <m:e>
                                        <m:r>
                                          <a:rPr lang="en-US" sz="2800" b="1" i="0">
                                            <a:latin typeface="Cambria Math" panose="02040503050406030204" pitchFamily="18" charset="0"/>
                                          </a:rPr>
                                          <m:t>𝐱</m:t>
                                        </m:r>
                                      </m:e>
                                      <m:sub>
                                        <m:r>
                                          <a:rPr lang="en-US" sz="2800" b="0" i="0" smtClean="0">
                                            <a:latin typeface="Cambria Math" panose="02040503050406030204" pitchFamily="18" charset="0"/>
                                          </a:rPr>
                                          <m:t>2</m:t>
                                        </m:r>
                                      </m:sub>
                                    </m:sSub>
                                  </m:e>
                                </m:d>
                              </m:oMath>
                            </m:oMathPara>
                          </a14:m>
                          <a:endParaRPr lang="en-US" sz="2800" i="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14:m>
                            <m:oMathPara xmlns:m="http://schemas.openxmlformats.org/officeDocument/2006/math">
                              <m:oMathParaPr>
                                <m:jc m:val="left"/>
                              </m:oMathParaPr>
                              <m:oMath xmlns:m="http://schemas.openxmlformats.org/officeDocument/2006/math">
                                <m:r>
                                  <m:rPr>
                                    <m:sty m:val="p"/>
                                  </m:rPr>
                                  <a:rPr lang="en-US" sz="2800" b="0" i="0" smtClean="0">
                                    <a:latin typeface="Cambria Math" panose="02040503050406030204" pitchFamily="18" charset="0"/>
                                  </a:rPr>
                                  <m:t>K</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b="1" i="0">
                                            <a:latin typeface="Cambria Math" panose="02040503050406030204" pitchFamily="18" charset="0"/>
                                          </a:rPr>
                                          <m:t>𝐱</m:t>
                                        </m:r>
                                      </m:e>
                                      <m:sub>
                                        <m:r>
                                          <m:rPr>
                                            <m:sty m:val="p"/>
                                          </m:rPr>
                                          <a:rPr lang="en-US" sz="2800" b="0" i="0" smtClean="0">
                                            <a:latin typeface="Cambria Math" panose="02040503050406030204" pitchFamily="18" charset="0"/>
                                          </a:rPr>
                                          <m:t>n</m:t>
                                        </m:r>
                                        <m:r>
                                          <a:rPr lang="en-US" sz="2800" b="0" i="0" smtClean="0">
                                            <a:latin typeface="Cambria Math" panose="02040503050406030204" pitchFamily="18" charset="0"/>
                                          </a:rPr>
                                          <m:t>−1</m:t>
                                        </m:r>
                                      </m:sub>
                                    </m:sSub>
                                    <m:r>
                                      <a:rPr lang="en-US" sz="2800" i="0">
                                        <a:latin typeface="Cambria Math" panose="02040503050406030204" pitchFamily="18" charset="0"/>
                                      </a:rPr>
                                      <m:t>,</m:t>
                                    </m:r>
                                    <m:sSub>
                                      <m:sSubPr>
                                        <m:ctrlPr>
                                          <a:rPr lang="en-US" sz="2800" i="1">
                                            <a:latin typeface="Cambria Math" panose="02040503050406030204" pitchFamily="18" charset="0"/>
                                          </a:rPr>
                                        </m:ctrlPr>
                                      </m:sSubPr>
                                      <m:e>
                                        <m:r>
                                          <a:rPr lang="en-US" sz="2800" b="1" i="0">
                                            <a:latin typeface="Cambria Math" panose="02040503050406030204" pitchFamily="18" charset="0"/>
                                          </a:rPr>
                                          <m:t>𝐱</m:t>
                                        </m:r>
                                      </m:e>
                                      <m:sub>
                                        <m:r>
                                          <a:rPr lang="en-US" sz="2800" b="0" i="0" smtClean="0">
                                            <a:latin typeface="Cambria Math" panose="02040503050406030204" pitchFamily="18" charset="0"/>
                                          </a:rPr>
                                          <m:t>3</m:t>
                                        </m:r>
                                      </m:sub>
                                    </m:sSub>
                                  </m:e>
                                </m:d>
                              </m:oMath>
                            </m:oMathPara>
                          </a14:m>
                          <a:endParaRPr lang="en-US" sz="2800" i="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800" i="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14:m>
                            <m:oMathPara xmlns:m="http://schemas.openxmlformats.org/officeDocument/2006/math">
                              <m:oMathParaPr>
                                <m:jc m:val="left"/>
                              </m:oMathParaPr>
                              <m:oMath xmlns:m="http://schemas.openxmlformats.org/officeDocument/2006/math">
                                <m:r>
                                  <m:rPr>
                                    <m:sty m:val="p"/>
                                  </m:rPr>
                                  <a:rPr lang="en-US" sz="2800" b="0" i="0" smtClean="0">
                                    <a:latin typeface="Cambria Math" panose="02040503050406030204" pitchFamily="18" charset="0"/>
                                  </a:rPr>
                                  <m:t>K</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b="1" i="0">
                                            <a:latin typeface="Cambria Math" panose="02040503050406030204" pitchFamily="18" charset="0"/>
                                          </a:rPr>
                                          <m:t>𝐱</m:t>
                                        </m:r>
                                      </m:e>
                                      <m:sub>
                                        <m:r>
                                          <m:rPr>
                                            <m:sty m:val="p"/>
                                          </m:rPr>
                                          <a:rPr lang="en-US" sz="2800" b="0" i="0" smtClean="0">
                                            <a:latin typeface="Cambria Math" panose="02040503050406030204" pitchFamily="18" charset="0"/>
                                          </a:rPr>
                                          <m:t>n</m:t>
                                        </m:r>
                                        <m:r>
                                          <a:rPr lang="en-US" sz="2800" b="0" i="0" smtClean="0">
                                            <a:latin typeface="Cambria Math" panose="02040503050406030204" pitchFamily="18" charset="0"/>
                                          </a:rPr>
                                          <m:t>−1</m:t>
                                        </m:r>
                                      </m:sub>
                                    </m:sSub>
                                    <m:r>
                                      <a:rPr lang="en-US" sz="2800" i="0">
                                        <a:latin typeface="Cambria Math" panose="02040503050406030204" pitchFamily="18" charset="0"/>
                                      </a:rPr>
                                      <m:t>,</m:t>
                                    </m:r>
                                    <m:sSub>
                                      <m:sSubPr>
                                        <m:ctrlPr>
                                          <a:rPr lang="en-US" sz="2800" i="1">
                                            <a:latin typeface="Cambria Math" panose="02040503050406030204" pitchFamily="18" charset="0"/>
                                          </a:rPr>
                                        </m:ctrlPr>
                                      </m:sSubPr>
                                      <m:e>
                                        <m:r>
                                          <a:rPr lang="en-US" sz="2800" b="1" i="0">
                                            <a:latin typeface="Cambria Math" panose="02040503050406030204" pitchFamily="18" charset="0"/>
                                          </a:rPr>
                                          <m:t>𝐱</m:t>
                                        </m:r>
                                      </m:e>
                                      <m:sub>
                                        <m:r>
                                          <m:rPr>
                                            <m:sty m:val="p"/>
                                          </m:rPr>
                                          <a:rPr lang="en-US" sz="2800" b="0" i="0" smtClean="0">
                                            <a:latin typeface="Cambria Math" panose="02040503050406030204" pitchFamily="18" charset="0"/>
                                          </a:rPr>
                                          <m:t>n</m:t>
                                        </m:r>
                                      </m:sub>
                                    </m:sSub>
                                  </m:e>
                                </m:d>
                              </m:oMath>
                            </m:oMathPara>
                          </a14:m>
                          <a:endParaRPr lang="en-US" sz="2800" i="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4487572"/>
                      </a:ext>
                    </a:extLst>
                  </a:tr>
                  <a:tr h="370840">
                    <a:tc>
                      <a:txBody>
                        <a:bodyPr/>
                        <a:lstStyle/>
                        <a:p>
                          <a:endParaRPr lang="en-US" sz="2800" i="0"/>
                        </a:p>
                      </a:txBody>
                      <a:tcPr>
                        <a:lnR w="12700" cap="flat" cmpd="sng" algn="ctr">
                          <a:solidFill>
                            <a:schemeClr val="tx1"/>
                          </a:solidFill>
                          <a:prstDash val="solid"/>
                          <a:round/>
                          <a:headEnd type="none" w="med" len="med"/>
                          <a:tailEnd type="none" w="med" len="med"/>
                        </a:lnR>
                      </a:tcPr>
                    </a:tc>
                    <a:tc>
                      <a:txBody>
                        <a:bodyPr/>
                        <a:lstStyle/>
                        <a:p>
                          <a:pPr algn="l"/>
                          <a14:m>
                            <m:oMathPara xmlns:m="http://schemas.openxmlformats.org/officeDocument/2006/math">
                              <m:oMathParaPr>
                                <m:jc m:val="left"/>
                              </m:oMathParaPr>
                              <m:oMath xmlns:m="http://schemas.openxmlformats.org/officeDocument/2006/math">
                                <m:r>
                                  <m:rPr>
                                    <m:sty m:val="p"/>
                                  </m:rPr>
                                  <a:rPr lang="en-US" sz="2800" b="0" i="0" smtClean="0">
                                    <a:latin typeface="Cambria Math" panose="02040503050406030204" pitchFamily="18" charset="0"/>
                                  </a:rPr>
                                  <m:t>K</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b="1" i="0">
                                            <a:latin typeface="Cambria Math" panose="02040503050406030204" pitchFamily="18" charset="0"/>
                                          </a:rPr>
                                          <m:t>𝐱</m:t>
                                        </m:r>
                                      </m:e>
                                      <m:sub>
                                        <m:r>
                                          <m:rPr>
                                            <m:sty m:val="p"/>
                                          </m:rPr>
                                          <a:rPr lang="en-US" sz="2800" b="0" i="0" smtClean="0">
                                            <a:latin typeface="Cambria Math" panose="02040503050406030204" pitchFamily="18" charset="0"/>
                                          </a:rPr>
                                          <m:t>n</m:t>
                                        </m:r>
                                      </m:sub>
                                    </m:sSub>
                                    <m:r>
                                      <a:rPr lang="en-US" sz="2800" i="0">
                                        <a:latin typeface="Cambria Math" panose="02040503050406030204" pitchFamily="18" charset="0"/>
                                      </a:rPr>
                                      <m:t>,</m:t>
                                    </m:r>
                                    <m:sSub>
                                      <m:sSubPr>
                                        <m:ctrlPr>
                                          <a:rPr lang="en-US" sz="2800" i="1">
                                            <a:latin typeface="Cambria Math" panose="02040503050406030204" pitchFamily="18" charset="0"/>
                                          </a:rPr>
                                        </m:ctrlPr>
                                      </m:sSubPr>
                                      <m:e>
                                        <m:r>
                                          <a:rPr lang="en-US" sz="2800" b="1" i="0">
                                            <a:latin typeface="Cambria Math" panose="02040503050406030204" pitchFamily="18" charset="0"/>
                                          </a:rPr>
                                          <m:t>𝐱</m:t>
                                        </m:r>
                                      </m:e>
                                      <m:sub>
                                        <m:r>
                                          <a:rPr lang="en-US" sz="2800" b="0" i="0" smtClean="0">
                                            <a:latin typeface="Cambria Math" panose="02040503050406030204" pitchFamily="18" charset="0"/>
                                          </a:rPr>
                                          <m:t>1</m:t>
                                        </m:r>
                                      </m:sub>
                                    </m:sSub>
                                  </m:e>
                                </m:d>
                              </m:oMath>
                            </m:oMathPara>
                          </a14:m>
                          <a:endParaRPr lang="en-US" sz="2800" i="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14:m>
                            <m:oMathPara xmlns:m="http://schemas.openxmlformats.org/officeDocument/2006/math">
                              <m:oMathParaPr>
                                <m:jc m:val="left"/>
                              </m:oMathParaPr>
                              <m:oMath xmlns:m="http://schemas.openxmlformats.org/officeDocument/2006/math">
                                <m:r>
                                  <m:rPr>
                                    <m:sty m:val="p"/>
                                  </m:rPr>
                                  <a:rPr lang="en-US" sz="2800" b="0" i="0" smtClean="0">
                                    <a:latin typeface="Cambria Math" panose="02040503050406030204" pitchFamily="18" charset="0"/>
                                  </a:rPr>
                                  <m:t>K</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b="1" i="0">
                                            <a:latin typeface="Cambria Math" panose="02040503050406030204" pitchFamily="18" charset="0"/>
                                          </a:rPr>
                                          <m:t>𝐱</m:t>
                                        </m:r>
                                      </m:e>
                                      <m:sub>
                                        <m:r>
                                          <m:rPr>
                                            <m:sty m:val="p"/>
                                          </m:rPr>
                                          <a:rPr lang="en-US" sz="2800" b="0" i="0" smtClean="0">
                                            <a:latin typeface="Cambria Math" panose="02040503050406030204" pitchFamily="18" charset="0"/>
                                          </a:rPr>
                                          <m:t>n</m:t>
                                        </m:r>
                                      </m:sub>
                                    </m:sSub>
                                    <m:r>
                                      <a:rPr lang="en-US" sz="2800" i="0">
                                        <a:latin typeface="Cambria Math" panose="02040503050406030204" pitchFamily="18" charset="0"/>
                                      </a:rPr>
                                      <m:t>,</m:t>
                                    </m:r>
                                    <m:sSub>
                                      <m:sSubPr>
                                        <m:ctrlPr>
                                          <a:rPr lang="en-US" sz="2800" i="1">
                                            <a:latin typeface="Cambria Math" panose="02040503050406030204" pitchFamily="18" charset="0"/>
                                          </a:rPr>
                                        </m:ctrlPr>
                                      </m:sSubPr>
                                      <m:e>
                                        <m:r>
                                          <a:rPr lang="en-US" sz="2800" b="1" i="0">
                                            <a:latin typeface="Cambria Math" panose="02040503050406030204" pitchFamily="18" charset="0"/>
                                          </a:rPr>
                                          <m:t>𝐱</m:t>
                                        </m:r>
                                      </m:e>
                                      <m:sub>
                                        <m:r>
                                          <a:rPr lang="en-US" sz="2800" b="0" i="0" smtClean="0">
                                            <a:latin typeface="Cambria Math" panose="02040503050406030204" pitchFamily="18" charset="0"/>
                                          </a:rPr>
                                          <m:t>2</m:t>
                                        </m:r>
                                      </m:sub>
                                    </m:sSub>
                                  </m:e>
                                </m:d>
                              </m:oMath>
                            </m:oMathPara>
                          </a14:m>
                          <a:endParaRPr lang="en-US" sz="2800" i="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14:m>
                            <m:oMathPara xmlns:m="http://schemas.openxmlformats.org/officeDocument/2006/math">
                              <m:oMathParaPr>
                                <m:jc m:val="left"/>
                              </m:oMathParaPr>
                              <m:oMath xmlns:m="http://schemas.openxmlformats.org/officeDocument/2006/math">
                                <m:r>
                                  <m:rPr>
                                    <m:sty m:val="p"/>
                                  </m:rPr>
                                  <a:rPr lang="en-US" sz="2800" b="0" i="0" smtClean="0">
                                    <a:latin typeface="Cambria Math" panose="02040503050406030204" pitchFamily="18" charset="0"/>
                                  </a:rPr>
                                  <m:t>K</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b="1" i="0">
                                            <a:latin typeface="Cambria Math" panose="02040503050406030204" pitchFamily="18" charset="0"/>
                                          </a:rPr>
                                          <m:t>𝐱</m:t>
                                        </m:r>
                                      </m:e>
                                      <m:sub>
                                        <m:r>
                                          <m:rPr>
                                            <m:sty m:val="p"/>
                                          </m:rPr>
                                          <a:rPr lang="en-US" sz="2800" b="0" i="0" smtClean="0">
                                            <a:latin typeface="Cambria Math" panose="02040503050406030204" pitchFamily="18" charset="0"/>
                                          </a:rPr>
                                          <m:t>n</m:t>
                                        </m:r>
                                      </m:sub>
                                    </m:sSub>
                                    <m:r>
                                      <a:rPr lang="en-US" sz="2800" i="0">
                                        <a:latin typeface="Cambria Math" panose="02040503050406030204" pitchFamily="18" charset="0"/>
                                      </a:rPr>
                                      <m:t>,</m:t>
                                    </m:r>
                                    <m:sSub>
                                      <m:sSubPr>
                                        <m:ctrlPr>
                                          <a:rPr lang="en-US" sz="2800" i="1">
                                            <a:latin typeface="Cambria Math" panose="02040503050406030204" pitchFamily="18" charset="0"/>
                                          </a:rPr>
                                        </m:ctrlPr>
                                      </m:sSubPr>
                                      <m:e>
                                        <m:r>
                                          <a:rPr lang="en-US" sz="2800" b="1" i="0">
                                            <a:latin typeface="Cambria Math" panose="02040503050406030204" pitchFamily="18" charset="0"/>
                                          </a:rPr>
                                          <m:t>𝐱</m:t>
                                        </m:r>
                                      </m:e>
                                      <m:sub>
                                        <m:r>
                                          <a:rPr lang="en-US" sz="2800" b="0" i="0" smtClean="0">
                                            <a:latin typeface="Cambria Math" panose="02040503050406030204" pitchFamily="18" charset="0"/>
                                          </a:rPr>
                                          <m:t>3</m:t>
                                        </m:r>
                                      </m:sub>
                                    </m:sSub>
                                  </m:e>
                                </m:d>
                              </m:oMath>
                            </m:oMathPara>
                          </a14:m>
                          <a:endParaRPr lang="en-US" sz="2800" i="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800" i="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14:m>
                            <m:oMathPara xmlns:m="http://schemas.openxmlformats.org/officeDocument/2006/math">
                              <m:oMathParaPr>
                                <m:jc m:val="left"/>
                              </m:oMathParaPr>
                              <m:oMath xmlns:m="http://schemas.openxmlformats.org/officeDocument/2006/math">
                                <m:r>
                                  <m:rPr>
                                    <m:sty m:val="p"/>
                                  </m:rPr>
                                  <a:rPr lang="en-US" sz="2800" b="0" i="0" smtClean="0">
                                    <a:latin typeface="Cambria Math" panose="02040503050406030204" pitchFamily="18" charset="0"/>
                                  </a:rPr>
                                  <m:t>K</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b="1" i="0">
                                            <a:latin typeface="Cambria Math" panose="02040503050406030204" pitchFamily="18" charset="0"/>
                                          </a:rPr>
                                          <m:t>𝐱</m:t>
                                        </m:r>
                                      </m:e>
                                      <m:sub>
                                        <m:r>
                                          <m:rPr>
                                            <m:sty m:val="p"/>
                                          </m:rPr>
                                          <a:rPr lang="en-US" sz="2800" b="0" i="0" smtClean="0">
                                            <a:latin typeface="Cambria Math" panose="02040503050406030204" pitchFamily="18" charset="0"/>
                                          </a:rPr>
                                          <m:t>n</m:t>
                                        </m:r>
                                      </m:sub>
                                    </m:sSub>
                                    <m:r>
                                      <a:rPr lang="en-US" sz="2800" i="0">
                                        <a:latin typeface="Cambria Math" panose="02040503050406030204" pitchFamily="18" charset="0"/>
                                      </a:rPr>
                                      <m:t>,</m:t>
                                    </m:r>
                                    <m:sSub>
                                      <m:sSubPr>
                                        <m:ctrlPr>
                                          <a:rPr lang="en-US" sz="2800" i="1">
                                            <a:latin typeface="Cambria Math" panose="02040503050406030204" pitchFamily="18" charset="0"/>
                                          </a:rPr>
                                        </m:ctrlPr>
                                      </m:sSubPr>
                                      <m:e>
                                        <m:r>
                                          <a:rPr lang="en-US" sz="2800" b="1" i="0">
                                            <a:latin typeface="Cambria Math" panose="02040503050406030204" pitchFamily="18" charset="0"/>
                                          </a:rPr>
                                          <m:t>𝐱</m:t>
                                        </m:r>
                                      </m:e>
                                      <m:sub>
                                        <m:r>
                                          <m:rPr>
                                            <m:sty m:val="p"/>
                                          </m:rPr>
                                          <a:rPr lang="en-US" sz="2800" b="0" i="0" smtClean="0">
                                            <a:latin typeface="Cambria Math" panose="02040503050406030204" pitchFamily="18" charset="0"/>
                                          </a:rPr>
                                          <m:t>n</m:t>
                                        </m:r>
                                      </m:sub>
                                    </m:sSub>
                                  </m:e>
                                </m:d>
                              </m:oMath>
                            </m:oMathPara>
                          </a14:m>
                          <a:endParaRPr lang="en-US" sz="2800" i="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6446377"/>
                      </a:ext>
                    </a:extLst>
                  </a:tr>
                </a:tbl>
              </a:graphicData>
            </a:graphic>
          </p:graphicFrame>
        </mc:Choice>
        <mc:Fallback xmlns="">
          <p:graphicFrame>
            <p:nvGraphicFramePr>
              <p:cNvPr id="2" name="Table 2">
                <a:extLst>
                  <a:ext uri="{FF2B5EF4-FFF2-40B4-BE49-F238E27FC236}">
                    <a16:creationId xmlns:a16="http://schemas.microsoft.com/office/drawing/2014/main" id="{C9B966B9-0AE4-465C-9CF1-C853F2E94E9A}"/>
                  </a:ext>
                </a:extLst>
              </p:cNvPr>
              <p:cNvGraphicFramePr>
                <a:graphicFrameLocks noGrp="1"/>
              </p:cNvGraphicFramePr>
              <p:nvPr>
                <p:extLst>
                  <p:ext uri="{D42A27DB-BD31-4B8C-83A1-F6EECF244321}">
                    <p14:modId xmlns:p14="http://schemas.microsoft.com/office/powerpoint/2010/main" val="1108858749"/>
                  </p:ext>
                </p:extLst>
              </p:nvPr>
            </p:nvGraphicFramePr>
            <p:xfrm>
              <a:off x="813707" y="2819400"/>
              <a:ext cx="10564586" cy="2590800"/>
            </p:xfrm>
            <a:graphic>
              <a:graphicData uri="http://schemas.openxmlformats.org/drawingml/2006/table">
                <a:tbl>
                  <a:tblPr>
                    <a:tableStyleId>{5C22544A-7EE6-4342-B048-85BDC9FD1C3A}</a:tableStyleId>
                  </a:tblPr>
                  <a:tblGrid>
                    <a:gridCol w="1161143">
                      <a:extLst>
                        <a:ext uri="{9D8B030D-6E8A-4147-A177-3AD203B41FA5}">
                          <a16:colId xmlns:a16="http://schemas.microsoft.com/office/drawing/2014/main" val="3285299116"/>
                        </a:ext>
                      </a:extLst>
                    </a:gridCol>
                    <a:gridCol w="2048954">
                      <a:extLst>
                        <a:ext uri="{9D8B030D-6E8A-4147-A177-3AD203B41FA5}">
                          <a16:colId xmlns:a16="http://schemas.microsoft.com/office/drawing/2014/main" val="2778683021"/>
                        </a:ext>
                      </a:extLst>
                    </a:gridCol>
                    <a:gridCol w="2057146">
                      <a:extLst>
                        <a:ext uri="{9D8B030D-6E8A-4147-A177-3AD203B41FA5}">
                          <a16:colId xmlns:a16="http://schemas.microsoft.com/office/drawing/2014/main" val="1550604992"/>
                        </a:ext>
                      </a:extLst>
                    </a:gridCol>
                    <a:gridCol w="2057146">
                      <a:extLst>
                        <a:ext uri="{9D8B030D-6E8A-4147-A177-3AD203B41FA5}">
                          <a16:colId xmlns:a16="http://schemas.microsoft.com/office/drawing/2014/main" val="410660957"/>
                        </a:ext>
                      </a:extLst>
                    </a:gridCol>
                    <a:gridCol w="1161143">
                      <a:extLst>
                        <a:ext uri="{9D8B030D-6E8A-4147-A177-3AD203B41FA5}">
                          <a16:colId xmlns:a16="http://schemas.microsoft.com/office/drawing/2014/main" val="994871196"/>
                        </a:ext>
                      </a:extLst>
                    </a:gridCol>
                    <a:gridCol w="2079054">
                      <a:extLst>
                        <a:ext uri="{9D8B030D-6E8A-4147-A177-3AD203B41FA5}">
                          <a16:colId xmlns:a16="http://schemas.microsoft.com/office/drawing/2014/main" val="827091848"/>
                        </a:ext>
                      </a:extLst>
                    </a:gridCol>
                  </a:tblGrid>
                  <a:tr h="518160">
                    <a:tc>
                      <a:txBody>
                        <a:bodyPr/>
                        <a:lstStyle/>
                        <a:p>
                          <a:endParaRPr lang="en-US" sz="2800" i="0"/>
                        </a:p>
                      </a:txBody>
                      <a:tcPr>
                        <a:lnR w="12700" cap="flat" cmpd="sng" algn="ctr">
                          <a:solidFill>
                            <a:schemeClr val="tx1"/>
                          </a:solidFill>
                          <a:prstDash val="solid"/>
                          <a:round/>
                          <a:headEnd type="none" w="med" len="med"/>
                          <a:tailEnd type="none" w="med" len="med"/>
                        </a:lnR>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7143" t="-11765" r="-359821" b="-432941"/>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56213" t="-11765" r="-257692" b="-432941"/>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56973" t="-11765" r="-158457" b="-432941"/>
                          </a:stretch>
                        </a:blipFill>
                      </a:tcPr>
                    </a:tc>
                    <a:tc>
                      <a:txBody>
                        <a:bodyPr/>
                        <a:lstStyle/>
                        <a:p>
                          <a:pPr algn="l"/>
                          <a:r>
                            <a:rPr lang="en-US" sz="2800" i="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08798" t="-11765" r="-587" b="-432941"/>
                          </a:stretch>
                        </a:blipFill>
                      </a:tcPr>
                    </a:tc>
                    <a:extLst>
                      <a:ext uri="{0D108BD9-81ED-4DB2-BD59-A6C34878D82A}">
                        <a16:rowId xmlns:a16="http://schemas.microsoft.com/office/drawing/2014/main" val="2173484740"/>
                      </a:ext>
                    </a:extLst>
                  </a:tr>
                  <a:tr h="518160">
                    <a:tc>
                      <a:txBody>
                        <a:bodyPr/>
                        <a:lstStyle/>
                        <a:p>
                          <a:endParaRPr lang="en-US" sz="2800" i="0"/>
                        </a:p>
                      </a:txBody>
                      <a:tcPr>
                        <a:lnR w="12700" cap="flat" cmpd="sng" algn="ctr">
                          <a:solidFill>
                            <a:schemeClr val="tx1"/>
                          </a:solidFill>
                          <a:prstDash val="solid"/>
                          <a:round/>
                          <a:headEnd type="none" w="med" len="med"/>
                          <a:tailEnd type="none" w="med" len="med"/>
                        </a:lnR>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7143" t="-111765" r="-359821" b="-332941"/>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56213" t="-111765" r="-257692" b="-332941"/>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56973" t="-111765" r="-158457" b="-332941"/>
                          </a:stretch>
                        </a:blipFill>
                      </a:tcPr>
                    </a:tc>
                    <a:tc>
                      <a:txBody>
                        <a:bodyPr/>
                        <a:lstStyle/>
                        <a:p>
                          <a:pPr algn="l"/>
                          <a:r>
                            <a:rPr lang="en-US" sz="2800" i="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08798" t="-111765" r="-587" b="-332941"/>
                          </a:stretch>
                        </a:blipFill>
                      </a:tcPr>
                    </a:tc>
                    <a:extLst>
                      <a:ext uri="{0D108BD9-81ED-4DB2-BD59-A6C34878D82A}">
                        <a16:rowId xmlns:a16="http://schemas.microsoft.com/office/drawing/2014/main" val="3432268932"/>
                      </a:ext>
                    </a:extLst>
                  </a:tr>
                  <a:tr h="518160">
                    <a:tc>
                      <a:txBody>
                        <a:bodyPr/>
                        <a:lstStyle/>
                        <a:p>
                          <a:endParaRPr lang="en-US"/>
                        </a:p>
                      </a:txBody>
                      <a:tcPr>
                        <a:lnR w="12700" cap="flat" cmpd="sng" algn="ctr">
                          <a:solidFill>
                            <a:schemeClr val="tx1"/>
                          </a:solidFill>
                          <a:prstDash val="solid"/>
                          <a:round/>
                          <a:headEnd type="none" w="med" len="med"/>
                          <a:tailEnd type="none" w="med" len="med"/>
                        </a:lnR>
                        <a:blipFill>
                          <a:blip r:embed="rId2"/>
                          <a:stretch>
                            <a:fillRect l="-524" t="-209302" r="-808901" b="-229070"/>
                          </a:stretch>
                        </a:blipFill>
                      </a:tcPr>
                    </a:tc>
                    <a:tc>
                      <a:txBody>
                        <a:bodyPr/>
                        <a:lstStyle/>
                        <a:p>
                          <a:pPr algn="l"/>
                          <a:r>
                            <a:rPr lang="en-US" sz="2800" i="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800" i="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800" i="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800" i="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800" i="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8065016"/>
                      </a:ext>
                    </a:extLst>
                  </a:tr>
                  <a:tr h="518160">
                    <a:tc>
                      <a:txBody>
                        <a:bodyPr/>
                        <a:lstStyle/>
                        <a:p>
                          <a:endParaRPr lang="en-US" sz="2800" i="0"/>
                        </a:p>
                      </a:txBody>
                      <a:tcPr>
                        <a:lnR w="12700" cap="flat" cmpd="sng" algn="ctr">
                          <a:solidFill>
                            <a:schemeClr val="tx1"/>
                          </a:solidFill>
                          <a:prstDash val="solid"/>
                          <a:round/>
                          <a:headEnd type="none" w="med" len="med"/>
                          <a:tailEnd type="none" w="med" len="med"/>
                        </a:lnR>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7143" t="-312941" r="-359821" b="-131765"/>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56213" t="-312941" r="-257692" b="-131765"/>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56973" t="-312941" r="-158457" b="-131765"/>
                          </a:stretch>
                        </a:blipFill>
                      </a:tcPr>
                    </a:tc>
                    <a:tc>
                      <a:txBody>
                        <a:bodyPr/>
                        <a:lstStyle/>
                        <a:p>
                          <a:pPr algn="l"/>
                          <a:r>
                            <a:rPr lang="en-US" sz="2800" i="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08798" t="-312941" r="-587" b="-131765"/>
                          </a:stretch>
                        </a:blipFill>
                      </a:tcPr>
                    </a:tc>
                    <a:extLst>
                      <a:ext uri="{0D108BD9-81ED-4DB2-BD59-A6C34878D82A}">
                        <a16:rowId xmlns:a16="http://schemas.microsoft.com/office/drawing/2014/main" val="1504487572"/>
                      </a:ext>
                    </a:extLst>
                  </a:tr>
                  <a:tr h="518160">
                    <a:tc>
                      <a:txBody>
                        <a:bodyPr/>
                        <a:lstStyle/>
                        <a:p>
                          <a:endParaRPr lang="en-US" sz="2800" i="0"/>
                        </a:p>
                      </a:txBody>
                      <a:tcPr>
                        <a:lnR w="12700" cap="flat" cmpd="sng" algn="ctr">
                          <a:solidFill>
                            <a:schemeClr val="tx1"/>
                          </a:solidFill>
                          <a:prstDash val="solid"/>
                          <a:round/>
                          <a:headEnd type="none" w="med" len="med"/>
                          <a:tailEnd type="none" w="med" len="med"/>
                        </a:lnR>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7143" t="-412941" r="-359821" b="-31765"/>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56213" t="-412941" r="-257692" b="-31765"/>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56973" t="-412941" r="-158457" b="-31765"/>
                          </a:stretch>
                        </a:blipFill>
                      </a:tcPr>
                    </a:tc>
                    <a:tc>
                      <a:txBody>
                        <a:bodyPr/>
                        <a:lstStyle/>
                        <a:p>
                          <a:pPr algn="l"/>
                          <a:r>
                            <a:rPr lang="en-US" sz="2800" i="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08798" t="-412941" r="-587" b="-31765"/>
                          </a:stretch>
                        </a:blipFill>
                      </a:tcPr>
                    </a:tc>
                    <a:extLst>
                      <a:ext uri="{0D108BD9-81ED-4DB2-BD59-A6C34878D82A}">
                        <a16:rowId xmlns:a16="http://schemas.microsoft.com/office/drawing/2014/main" val="1366446377"/>
                      </a:ext>
                    </a:extLst>
                  </a:tr>
                </a:tbl>
              </a:graphicData>
            </a:graphic>
          </p:graphicFrame>
        </mc:Fallback>
      </mc:AlternateContent>
    </p:spTree>
    <p:extLst>
      <p:ext uri="{BB962C8B-B14F-4D97-AF65-F5344CB8AC3E}">
        <p14:creationId xmlns:p14="http://schemas.microsoft.com/office/powerpoint/2010/main" val="3277603539"/>
      </p:ext>
    </p:extLst>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AD248-2BD6-40D3-A8E8-32CD96B60E96}"/>
              </a:ext>
            </a:extLst>
          </p:cNvPr>
          <p:cNvSpPr>
            <a:spLocks noGrp="1"/>
          </p:cNvSpPr>
          <p:nvPr>
            <p:ph type="title"/>
          </p:nvPr>
        </p:nvSpPr>
        <p:spPr/>
        <p:txBody>
          <a:bodyPr/>
          <a:lstStyle/>
          <a:p>
            <a:r>
              <a:rPr lang="en-US"/>
              <a:t>Một số hàm kernel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25ADA72-E8FA-4C83-BA52-3A12D587A375}"/>
                  </a:ext>
                </a:extLst>
              </p:cNvPr>
              <p:cNvSpPr>
                <a:spLocks noGrp="1"/>
              </p:cNvSpPr>
              <p:nvPr>
                <p:ph idx="1"/>
              </p:nvPr>
            </p:nvSpPr>
            <p:spPr/>
            <p:txBody>
              <a:bodyPr/>
              <a:lstStyle/>
              <a:p>
                <a:pPr>
                  <a:lnSpc>
                    <a:spcPct val="90000"/>
                  </a:lnSpc>
                </a:pPr>
                <a:r>
                  <a:rPr lang="en-US" altLang="en-US"/>
                  <a:t>Linear: </a:t>
                </a:r>
                <a14:m>
                  <m:oMath xmlns:m="http://schemas.openxmlformats.org/officeDocument/2006/math">
                    <m:r>
                      <m:rPr>
                        <m:sty m:val="p"/>
                      </m:rPr>
                      <a:rPr lang="en-US" i="0">
                        <a:latin typeface="Cambria Math" panose="02040503050406030204" pitchFamily="18" charset="0"/>
                      </a:rPr>
                      <m:t>K</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1" i="0">
                                <a:latin typeface="Cambria Math" panose="02040503050406030204" pitchFamily="18" charset="0"/>
                              </a:rPr>
                              <m:t>𝐱</m:t>
                            </m:r>
                          </m:e>
                          <m:sub>
                            <m:r>
                              <m:rPr>
                                <m:sty m:val="p"/>
                              </m:rPr>
                              <a:rPr lang="en-US" i="0">
                                <a:latin typeface="Cambria Math" panose="02040503050406030204" pitchFamily="18" charset="0"/>
                              </a:rPr>
                              <m:t>i</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b="1" i="0">
                                <a:latin typeface="Cambria Math" panose="02040503050406030204" pitchFamily="18" charset="0"/>
                              </a:rPr>
                              <m:t>𝐱</m:t>
                            </m:r>
                          </m:e>
                          <m:sub>
                            <m:r>
                              <m:rPr>
                                <m:sty m:val="p"/>
                              </m:rPr>
                              <a:rPr lang="en-US" i="0">
                                <a:latin typeface="Cambria Math" panose="02040503050406030204" pitchFamily="18" charset="0"/>
                              </a:rPr>
                              <m:t>j</m:t>
                            </m:r>
                          </m:sub>
                        </m:sSub>
                      </m:e>
                    </m:d>
                    <m:r>
                      <a:rPr lang="en-US" i="0">
                        <a:latin typeface="Cambria Math" panose="02040503050406030204" pitchFamily="18" charset="0"/>
                      </a:rPr>
                      <m:t>=</m:t>
                    </m:r>
                    <m:sSubSup>
                      <m:sSubSupPr>
                        <m:ctrlPr>
                          <a:rPr lang="en-US" i="1">
                            <a:latin typeface="Cambria Math" panose="02040503050406030204" pitchFamily="18" charset="0"/>
                          </a:rPr>
                        </m:ctrlPr>
                      </m:sSubSupPr>
                      <m:e>
                        <m:r>
                          <a:rPr lang="en-US" b="1" i="0">
                            <a:latin typeface="Cambria Math" panose="02040503050406030204" pitchFamily="18" charset="0"/>
                          </a:rPr>
                          <m:t>𝐱</m:t>
                        </m:r>
                      </m:e>
                      <m:sub>
                        <m:r>
                          <m:rPr>
                            <m:sty m:val="p"/>
                          </m:rPr>
                          <a:rPr lang="en-US" i="0">
                            <a:latin typeface="Cambria Math" panose="02040503050406030204" pitchFamily="18" charset="0"/>
                          </a:rPr>
                          <m:t>i</m:t>
                        </m:r>
                      </m:sub>
                      <m:sup>
                        <m:r>
                          <m:rPr>
                            <m:sty m:val="p"/>
                          </m:rPr>
                          <a:rPr lang="en-US" i="0">
                            <a:latin typeface="Cambria Math" panose="02040503050406030204" pitchFamily="18" charset="0"/>
                          </a:rPr>
                          <m:t>T</m:t>
                        </m:r>
                      </m:sup>
                    </m:sSubSup>
                    <m:sSub>
                      <m:sSubPr>
                        <m:ctrlPr>
                          <a:rPr lang="en-US" i="1">
                            <a:latin typeface="Cambria Math" panose="02040503050406030204" pitchFamily="18" charset="0"/>
                          </a:rPr>
                        </m:ctrlPr>
                      </m:sSubPr>
                      <m:e>
                        <m:r>
                          <a:rPr lang="en-US" b="1" i="0">
                            <a:latin typeface="Cambria Math" panose="02040503050406030204" pitchFamily="18" charset="0"/>
                          </a:rPr>
                          <m:t>𝐱</m:t>
                        </m:r>
                      </m:e>
                      <m:sub>
                        <m:r>
                          <m:rPr>
                            <m:sty m:val="p"/>
                          </m:rPr>
                          <a:rPr lang="en-US" b="0" i="0" smtClean="0">
                            <a:latin typeface="Cambria Math" panose="02040503050406030204" pitchFamily="18" charset="0"/>
                          </a:rPr>
                          <m:t>j</m:t>
                        </m:r>
                      </m:sub>
                    </m:sSub>
                  </m:oMath>
                </a14:m>
                <a:r>
                  <a:rPr lang="en-US" altLang="en-US" b="1" baseline="-25000"/>
                  <a:t>.</a:t>
                </a:r>
              </a:p>
              <a:p>
                <a:pPr lvl="1">
                  <a:lnSpc>
                    <a:spcPct val="90000"/>
                  </a:lnSpc>
                </a:pPr>
                <a:r>
                  <a:rPr lang="en-US" altLang="en-US">
                    <a:solidFill>
                      <a:srgbClr val="FF0000"/>
                    </a:solidFill>
                  </a:rPr>
                  <a:t>Mapping </a:t>
                </a:r>
                <a14:m>
                  <m:oMath xmlns:m="http://schemas.openxmlformats.org/officeDocument/2006/math">
                    <m:r>
                      <m:rPr>
                        <m:sty m:val="p"/>
                      </m:rPr>
                      <a:rPr lang="el-GR" altLang="en-US" i="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Φ</m:t>
                    </m:r>
                    <m:r>
                      <a:rPr lang="en-US" altLang="en-US" b="0" i="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en-US" b="1" i="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𝐱</m:t>
                    </m:r>
                    <m:r>
                      <a:rPr lang="en-US" altLang="en-US" b="1" i="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en-US" b="1" i="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𝛗</m:t>
                    </m:r>
                    <m:d>
                      <m:dPr>
                        <m:ctrlPr>
                          <a:rPr lang="en-US" altLang="en-US"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en-US" b="1" i="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𝐱</m:t>
                        </m:r>
                      </m:e>
                    </m:d>
                  </m:oMath>
                </a14:m>
                <a:r>
                  <a:rPr lang="en-US" altLang="en-US">
                    <a:solidFill>
                      <a:srgbClr val="FF0000"/>
                    </a:solidFill>
                    <a:cs typeface="Times New Roman" panose="02020603050405020304" pitchFamily="18" charset="0"/>
                  </a:rPr>
                  <a:t>, where </a:t>
                </a:r>
                <a14:m>
                  <m:oMath xmlns:m="http://schemas.openxmlformats.org/officeDocument/2006/math">
                    <m:r>
                      <a:rPr lang="en-US" altLang="en-US" b="1" i="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𝛗</m:t>
                    </m:r>
                    <m:d>
                      <m:dPr>
                        <m:ctrlPr>
                          <a:rPr lang="en-US" altLang="en-US"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en-US" b="1" i="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𝐱</m:t>
                        </m:r>
                      </m:e>
                    </m:d>
                  </m:oMath>
                </a14:m>
                <a:r>
                  <a:rPr lang="en-US" altLang="en-US">
                    <a:solidFill>
                      <a:srgbClr val="FF0000"/>
                    </a:solidFill>
                    <a:cs typeface="Times New Roman" panose="02020603050405020304" pitchFamily="18" charset="0"/>
                  </a:rPr>
                  <a:t> is </a:t>
                </a:r>
                <a14:m>
                  <m:oMath xmlns:m="http://schemas.openxmlformats.org/officeDocument/2006/math">
                    <m:r>
                      <a:rPr lang="en-US" altLang="en-US" b="1" i="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𝐱</m:t>
                    </m:r>
                  </m:oMath>
                </a14:m>
                <a:r>
                  <a:rPr lang="en-US" altLang="en-US">
                    <a:solidFill>
                      <a:srgbClr val="FF0000"/>
                    </a:solidFill>
                    <a:cs typeface="Times New Roman" panose="02020603050405020304" pitchFamily="18" charset="0"/>
                  </a:rPr>
                  <a:t> itself</a:t>
                </a:r>
                <a:endParaRPr lang="en-US" altLang="en-US" b="1" baseline="-25000">
                  <a:solidFill>
                    <a:srgbClr val="FF0000"/>
                  </a:solidFill>
                </a:endParaRPr>
              </a:p>
              <a:p>
                <a:pPr>
                  <a:lnSpc>
                    <a:spcPct val="90000"/>
                  </a:lnSpc>
                </a:pPr>
                <a:endParaRPr lang="en-US" altLang="en-US"/>
              </a:p>
              <a:p>
                <a:pPr>
                  <a:lnSpc>
                    <a:spcPct val="90000"/>
                  </a:lnSpc>
                </a:pPr>
                <a:r>
                  <a:rPr lang="en-US" altLang="en-US"/>
                  <a:t>Polynomial of power </a:t>
                </a:r>
                <a14:m>
                  <m:oMath xmlns:m="http://schemas.openxmlformats.org/officeDocument/2006/math">
                    <m:r>
                      <m:rPr>
                        <m:sty m:val="p"/>
                      </m:rPr>
                      <a:rPr lang="en-US" altLang="en-US" i="0" smtClean="0">
                        <a:latin typeface="Cambria Math" panose="02040503050406030204" pitchFamily="18" charset="0"/>
                      </a:rPr>
                      <m:t>p</m:t>
                    </m:r>
                  </m:oMath>
                </a14:m>
                <a:r>
                  <a:rPr lang="en-US" altLang="en-US"/>
                  <a:t>: </a:t>
                </a:r>
                <a14:m>
                  <m:oMath xmlns:m="http://schemas.openxmlformats.org/officeDocument/2006/math">
                    <m:r>
                      <m:rPr>
                        <m:sty m:val="p"/>
                      </m:rPr>
                      <a:rPr lang="en-US" i="0">
                        <a:latin typeface="Cambria Math" panose="02040503050406030204" pitchFamily="18" charset="0"/>
                      </a:rPr>
                      <m:t>K</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1" i="0">
                                <a:latin typeface="Cambria Math" panose="02040503050406030204" pitchFamily="18" charset="0"/>
                              </a:rPr>
                              <m:t>𝐱</m:t>
                            </m:r>
                          </m:e>
                          <m:sub>
                            <m:r>
                              <m:rPr>
                                <m:sty m:val="p"/>
                              </m:rPr>
                              <a:rPr lang="en-US" i="0">
                                <a:latin typeface="Cambria Math" panose="02040503050406030204" pitchFamily="18" charset="0"/>
                              </a:rPr>
                              <m:t>i</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b="1" i="0">
                                <a:latin typeface="Cambria Math" panose="02040503050406030204" pitchFamily="18" charset="0"/>
                              </a:rPr>
                              <m:t>𝐱</m:t>
                            </m:r>
                          </m:e>
                          <m:sub>
                            <m:r>
                              <m:rPr>
                                <m:sty m:val="p"/>
                              </m:rPr>
                              <a:rPr lang="en-US" i="0">
                                <a:latin typeface="Cambria Math" panose="02040503050406030204" pitchFamily="18" charset="0"/>
                              </a:rPr>
                              <m:t>j</m:t>
                            </m:r>
                          </m:sub>
                        </m:sSub>
                      </m:e>
                    </m:d>
                    <m:r>
                      <a:rPr lang="en-US" i="0" smtClean="0">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0">
                                <a:latin typeface="Cambria Math" panose="02040503050406030204" pitchFamily="18" charset="0"/>
                              </a:rPr>
                              <m:t>1+</m:t>
                            </m:r>
                            <m:sSubSup>
                              <m:sSubSupPr>
                                <m:ctrlPr>
                                  <a:rPr lang="en-US" i="1">
                                    <a:latin typeface="Cambria Math" panose="02040503050406030204" pitchFamily="18" charset="0"/>
                                  </a:rPr>
                                </m:ctrlPr>
                              </m:sSubSupPr>
                              <m:e>
                                <m:r>
                                  <a:rPr lang="en-US" b="1" i="0">
                                    <a:latin typeface="Cambria Math" panose="02040503050406030204" pitchFamily="18" charset="0"/>
                                  </a:rPr>
                                  <m:t>𝐱</m:t>
                                </m:r>
                              </m:e>
                              <m:sub>
                                <m:r>
                                  <m:rPr>
                                    <m:sty m:val="p"/>
                                  </m:rPr>
                                  <a:rPr lang="en-US" i="0">
                                    <a:latin typeface="Cambria Math" panose="02040503050406030204" pitchFamily="18" charset="0"/>
                                  </a:rPr>
                                  <m:t>i</m:t>
                                </m:r>
                              </m:sub>
                              <m:sup>
                                <m:r>
                                  <m:rPr>
                                    <m:sty m:val="p"/>
                                  </m:rPr>
                                  <a:rPr lang="en-US" i="0">
                                    <a:latin typeface="Cambria Math" panose="02040503050406030204" pitchFamily="18" charset="0"/>
                                  </a:rPr>
                                  <m:t>T</m:t>
                                </m:r>
                              </m:sup>
                            </m:sSubSup>
                            <m:sSub>
                              <m:sSubPr>
                                <m:ctrlPr>
                                  <a:rPr lang="en-US" i="1">
                                    <a:latin typeface="Cambria Math" panose="02040503050406030204" pitchFamily="18" charset="0"/>
                                  </a:rPr>
                                </m:ctrlPr>
                              </m:sSubPr>
                              <m:e>
                                <m:r>
                                  <a:rPr lang="en-US" b="1" i="0">
                                    <a:latin typeface="Cambria Math" panose="02040503050406030204" pitchFamily="18" charset="0"/>
                                  </a:rPr>
                                  <m:t>𝐱</m:t>
                                </m:r>
                              </m:e>
                              <m:sub>
                                <m:r>
                                  <m:rPr>
                                    <m:sty m:val="p"/>
                                  </m:rPr>
                                  <a:rPr lang="en-US" i="0">
                                    <a:latin typeface="Cambria Math" panose="02040503050406030204" pitchFamily="18" charset="0"/>
                                  </a:rPr>
                                  <m:t>j</m:t>
                                </m:r>
                              </m:sub>
                            </m:sSub>
                          </m:e>
                        </m:d>
                      </m:e>
                      <m:sup>
                        <m:r>
                          <m:rPr>
                            <m:sty m:val="p"/>
                          </m:rPr>
                          <a:rPr lang="en-US" i="0">
                            <a:latin typeface="Cambria Math" panose="02040503050406030204" pitchFamily="18" charset="0"/>
                          </a:rPr>
                          <m:t>p</m:t>
                        </m:r>
                      </m:sup>
                    </m:sSup>
                  </m:oMath>
                </a14:m>
                <a:r>
                  <a:rPr lang="en-US" altLang="en-US"/>
                  <a:t>.</a:t>
                </a:r>
                <a:endParaRPr lang="en-US" altLang="en-US" baseline="30000"/>
              </a:p>
              <a:p>
                <a:pPr lvl="1">
                  <a:lnSpc>
                    <a:spcPct val="90000"/>
                  </a:lnSpc>
                </a:pPr>
                <a:r>
                  <a:rPr lang="en-US" altLang="en-US">
                    <a:solidFill>
                      <a:srgbClr val="FF0000"/>
                    </a:solidFill>
                  </a:rPr>
                  <a:t>Mapping </a:t>
                </a:r>
                <a14:m>
                  <m:oMath xmlns:m="http://schemas.openxmlformats.org/officeDocument/2006/math">
                    <m:r>
                      <m:rPr>
                        <m:sty m:val="p"/>
                      </m:rPr>
                      <a:rPr lang="el-GR" altLang="en-US" i="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Φ</m:t>
                    </m:r>
                    <m:r>
                      <a:rPr lang="en-US" altLang="en-US" i="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en-US" b="1" i="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𝐱</m:t>
                    </m:r>
                    <m:r>
                      <a:rPr lang="en-US" altLang="en-US" b="1" i="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en-US" b="1" i="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𝛗</m:t>
                    </m:r>
                    <m:d>
                      <m:dPr>
                        <m:ctrlPr>
                          <a:rPr lang="en-US" altLang="en-US"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en-US" b="1" i="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𝐱</m:t>
                        </m:r>
                      </m:e>
                    </m:d>
                  </m:oMath>
                </a14:m>
                <a:r>
                  <a:rPr lang="en-US" altLang="en-US">
                    <a:solidFill>
                      <a:srgbClr val="FF0000"/>
                    </a:solidFill>
                    <a:cs typeface="Times New Roman" panose="02020603050405020304" pitchFamily="18" charset="0"/>
                  </a:rPr>
                  <a:t>, where </a:t>
                </a:r>
                <a14:m>
                  <m:oMath xmlns:m="http://schemas.openxmlformats.org/officeDocument/2006/math">
                    <m:r>
                      <a:rPr lang="en-US" altLang="en-US" b="1" i="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𝛗</m:t>
                    </m:r>
                    <m:d>
                      <m:dPr>
                        <m:ctrlPr>
                          <a:rPr lang="en-US" altLang="en-US"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en-US" b="1" i="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𝐱</m:t>
                        </m:r>
                      </m:e>
                    </m:d>
                  </m:oMath>
                </a14:m>
                <a:r>
                  <a:rPr lang="en-US" altLang="en-US">
                    <a:solidFill>
                      <a:srgbClr val="FF0000"/>
                    </a:solidFill>
                    <a:cs typeface="Times New Roman" panose="02020603050405020304" pitchFamily="18" charset="0"/>
                  </a:rPr>
                  <a:t> has </a:t>
                </a:r>
                <a14:m>
                  <m:oMath xmlns:m="http://schemas.openxmlformats.org/officeDocument/2006/math">
                    <m:d>
                      <m:dPr>
                        <m:ctrlPr>
                          <a:rPr lang="en-US" altLang="en-US" i="1" smtClean="0">
                            <a:solidFill>
                              <a:srgbClr val="FF0000"/>
                            </a:solidFill>
                            <a:latin typeface="Cambria Math" panose="02040503050406030204" pitchFamily="18" charset="0"/>
                            <a:cs typeface="Times New Roman" panose="02020603050405020304" pitchFamily="18" charset="0"/>
                          </a:rPr>
                        </m:ctrlPr>
                      </m:dPr>
                      <m:e>
                        <m:m>
                          <m:mPr>
                            <m:mcs>
                              <m:mc>
                                <m:mcPr>
                                  <m:count m:val="1"/>
                                  <m:mcJc m:val="center"/>
                                </m:mcPr>
                              </m:mc>
                            </m:mcs>
                            <m:ctrlPr>
                              <a:rPr lang="en-US" altLang="en-US" i="1" smtClean="0">
                                <a:solidFill>
                                  <a:srgbClr val="FF0000"/>
                                </a:solidFill>
                                <a:latin typeface="Cambria Math" panose="02040503050406030204" pitchFamily="18" charset="0"/>
                                <a:cs typeface="Times New Roman" panose="02020603050405020304" pitchFamily="18" charset="0"/>
                              </a:rPr>
                            </m:ctrlPr>
                          </m:mPr>
                          <m:mr>
                            <m:e>
                              <m:r>
                                <m:rPr>
                                  <m:sty m:val="p"/>
                                  <m:brk m:alnAt="7"/>
                                </m:rPr>
                                <a:rPr lang="en-US" altLang="en-US" b="0" i="0" smtClean="0">
                                  <a:solidFill>
                                    <a:srgbClr val="FF0000"/>
                                  </a:solidFill>
                                  <a:latin typeface="Cambria Math" panose="02040503050406030204" pitchFamily="18" charset="0"/>
                                  <a:cs typeface="Times New Roman" panose="02020603050405020304" pitchFamily="18" charset="0"/>
                                </a:rPr>
                                <m:t>d</m:t>
                              </m:r>
                              <m:r>
                                <a:rPr lang="en-US" altLang="en-US" b="0" i="0" smtClean="0">
                                  <a:solidFill>
                                    <a:srgbClr val="FF0000"/>
                                  </a:solidFill>
                                  <a:latin typeface="Cambria Math" panose="02040503050406030204" pitchFamily="18" charset="0"/>
                                  <a:cs typeface="Times New Roman" panose="02020603050405020304" pitchFamily="18" charset="0"/>
                                </a:rPr>
                                <m:t>+</m:t>
                              </m:r>
                              <m:r>
                                <m:rPr>
                                  <m:sty m:val="p"/>
                                </m:rPr>
                                <a:rPr lang="en-US" altLang="en-US" b="0" i="0" smtClean="0">
                                  <a:solidFill>
                                    <a:srgbClr val="FF0000"/>
                                  </a:solidFill>
                                  <a:latin typeface="Cambria Math" panose="02040503050406030204" pitchFamily="18" charset="0"/>
                                  <a:cs typeface="Times New Roman" panose="02020603050405020304" pitchFamily="18" charset="0"/>
                                </a:rPr>
                                <m:t>p</m:t>
                              </m:r>
                            </m:e>
                          </m:mr>
                          <m:mr>
                            <m:e>
                              <m:r>
                                <m:rPr>
                                  <m:sty m:val="p"/>
                                </m:rPr>
                                <a:rPr lang="en-US" altLang="en-US" b="0" i="0" smtClean="0">
                                  <a:solidFill>
                                    <a:srgbClr val="FF0000"/>
                                  </a:solidFill>
                                  <a:latin typeface="Cambria Math" panose="02040503050406030204" pitchFamily="18" charset="0"/>
                                  <a:cs typeface="Times New Roman" panose="02020603050405020304" pitchFamily="18" charset="0"/>
                                </a:rPr>
                                <m:t>p</m:t>
                              </m:r>
                            </m:e>
                          </m:mr>
                        </m:m>
                      </m:e>
                    </m:d>
                  </m:oMath>
                </a14:m>
                <a:r>
                  <a:rPr lang="en-US" altLang="en-US">
                    <a:solidFill>
                      <a:srgbClr val="FF0000"/>
                    </a:solidFill>
                    <a:cs typeface="Times New Roman" panose="02020603050405020304" pitchFamily="18" charset="0"/>
                  </a:rPr>
                  <a:t> dimensions.</a:t>
                </a:r>
              </a:p>
            </p:txBody>
          </p:sp>
        </mc:Choice>
        <mc:Fallback xmlns="">
          <p:sp>
            <p:nvSpPr>
              <p:cNvPr id="3" name="Content Placeholder 2">
                <a:extLst>
                  <a:ext uri="{FF2B5EF4-FFF2-40B4-BE49-F238E27FC236}">
                    <a16:creationId xmlns:a16="http://schemas.microsoft.com/office/drawing/2014/main" id="{925ADA72-E8FA-4C83-BA52-3A12D587A375}"/>
                  </a:ext>
                </a:extLst>
              </p:cNvPr>
              <p:cNvSpPr>
                <a:spLocks noGrp="1" noRot="1" noChangeAspect="1" noMove="1" noResize="1" noEditPoints="1" noAdjustHandles="1" noChangeArrowheads="1" noChangeShapeType="1" noTextEdit="1"/>
              </p:cNvSpPr>
              <p:nvPr>
                <p:ph idx="1"/>
              </p:nvPr>
            </p:nvSpPr>
            <p:spPr>
              <a:blipFill>
                <a:blip r:embed="rId2"/>
                <a:stretch>
                  <a:fillRect l="-1000" t="-1752"/>
                </a:stretch>
              </a:blipFill>
            </p:spPr>
            <p:txBody>
              <a:bodyPr/>
              <a:lstStyle/>
              <a:p>
                <a:r>
                  <a:rPr lang="en-US">
                    <a:noFill/>
                  </a:rPr>
                  <a:t> </a:t>
                </a:r>
              </a:p>
            </p:txBody>
          </p:sp>
        </mc:Fallback>
      </mc:AlternateContent>
    </p:spTree>
    <p:extLst>
      <p:ext uri="{BB962C8B-B14F-4D97-AF65-F5344CB8AC3E}">
        <p14:creationId xmlns:p14="http://schemas.microsoft.com/office/powerpoint/2010/main" val="3281125060"/>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AD248-2BD6-40D3-A8E8-32CD96B60E96}"/>
              </a:ext>
            </a:extLst>
          </p:cNvPr>
          <p:cNvSpPr>
            <a:spLocks noGrp="1"/>
          </p:cNvSpPr>
          <p:nvPr>
            <p:ph type="title"/>
          </p:nvPr>
        </p:nvSpPr>
        <p:spPr/>
        <p:txBody>
          <a:bodyPr/>
          <a:lstStyle/>
          <a:p>
            <a:r>
              <a:rPr lang="en-US"/>
              <a:t>Một số hàm kernel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25ADA72-E8FA-4C83-BA52-3A12D587A375}"/>
                  </a:ext>
                </a:extLst>
              </p:cNvPr>
              <p:cNvSpPr>
                <a:spLocks noGrp="1"/>
              </p:cNvSpPr>
              <p:nvPr>
                <p:ph idx="1"/>
              </p:nvPr>
            </p:nvSpPr>
            <p:spPr/>
            <p:txBody>
              <a:bodyPr/>
              <a:lstStyle/>
              <a:p>
                <a:pPr>
                  <a:lnSpc>
                    <a:spcPct val="90000"/>
                  </a:lnSpc>
                </a:pPr>
                <a:r>
                  <a:rPr lang="en-US" altLang="en-US"/>
                  <a:t>Gaussian (radial-basis function): </a:t>
                </a:r>
                <a14:m>
                  <m:oMath xmlns:m="http://schemas.openxmlformats.org/officeDocument/2006/math">
                    <m:r>
                      <m:rPr>
                        <m:sty m:val="p"/>
                      </m:rPr>
                      <a:rPr lang="en-US" i="0">
                        <a:latin typeface="Cambria Math" panose="02040503050406030204" pitchFamily="18" charset="0"/>
                      </a:rPr>
                      <m:t>K</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1" i="0">
                                <a:latin typeface="Cambria Math" panose="02040503050406030204" pitchFamily="18" charset="0"/>
                              </a:rPr>
                              <m:t>𝐱</m:t>
                            </m:r>
                          </m:e>
                          <m:sub>
                            <m:r>
                              <m:rPr>
                                <m:sty m:val="p"/>
                              </m:rPr>
                              <a:rPr lang="en-US" i="0">
                                <a:latin typeface="Cambria Math" panose="02040503050406030204" pitchFamily="18" charset="0"/>
                              </a:rPr>
                              <m:t>i</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b="1" i="0">
                                <a:latin typeface="Cambria Math" panose="02040503050406030204" pitchFamily="18" charset="0"/>
                              </a:rPr>
                              <m:t>𝐱</m:t>
                            </m:r>
                          </m:e>
                          <m:sub>
                            <m:r>
                              <m:rPr>
                                <m:sty m:val="p"/>
                              </m:rPr>
                              <a:rPr lang="en-US" i="0">
                                <a:latin typeface="Cambria Math" panose="02040503050406030204" pitchFamily="18" charset="0"/>
                              </a:rPr>
                              <m:t>j</m:t>
                            </m:r>
                          </m:sub>
                        </m:sSub>
                      </m:e>
                    </m:d>
                    <m:r>
                      <a:rPr lang="en-US" i="0">
                        <a:latin typeface="Cambria Math" panose="02040503050406030204" pitchFamily="18" charset="0"/>
                      </a:rPr>
                      <m:t>=</m:t>
                    </m:r>
                    <m:sSup>
                      <m:sSupPr>
                        <m:ctrlPr>
                          <a:rPr lang="en-US" i="1" smtClean="0">
                            <a:latin typeface="Cambria Math" panose="02040503050406030204" pitchFamily="18" charset="0"/>
                          </a:rPr>
                        </m:ctrlPr>
                      </m:sSupPr>
                      <m:e>
                        <m:r>
                          <m:rPr>
                            <m:sty m:val="p"/>
                          </m:rPr>
                          <a:rPr lang="en-US" b="0" i="0" smtClean="0">
                            <a:latin typeface="Cambria Math" panose="02040503050406030204" pitchFamily="18" charset="0"/>
                          </a:rPr>
                          <m:t>e</m:t>
                        </m:r>
                      </m:e>
                      <m:sup>
                        <m:r>
                          <a:rPr lang="en-US" b="0" i="0" smtClean="0">
                            <a:latin typeface="Cambria Math" panose="02040503050406030204" pitchFamily="18" charset="0"/>
                          </a:rPr>
                          <m:t>−</m:t>
                        </m:r>
                        <m:f>
                          <m:fPr>
                            <m:ctrlPr>
                              <a:rPr lang="en-US" i="1" smtClean="0">
                                <a:latin typeface="Cambria Math" panose="02040503050406030204" pitchFamily="18" charset="0"/>
                              </a:rPr>
                            </m:ctrlPr>
                          </m:fPr>
                          <m:num>
                            <m:sSup>
                              <m:sSupPr>
                                <m:ctrlPr>
                                  <a:rPr lang="en-US" i="1" smtClean="0">
                                    <a:latin typeface="Cambria Math" panose="02040503050406030204" pitchFamily="18" charset="0"/>
                                  </a:rPr>
                                </m:ctrlPr>
                              </m:sSupPr>
                              <m:e>
                                <m:d>
                                  <m:dPr>
                                    <m:begChr m:val="‖"/>
                                    <m:endChr m:val="‖"/>
                                    <m:ctrlPr>
                                      <a:rPr lang="en-US" i="1" smtClean="0">
                                        <a:latin typeface="Cambria Math" panose="02040503050406030204" pitchFamily="18" charset="0"/>
                                      </a:rPr>
                                    </m:ctrlPr>
                                  </m:dPr>
                                  <m:e>
                                    <m:sSub>
                                      <m:sSubPr>
                                        <m:ctrlPr>
                                          <a:rPr lang="en-US" i="1">
                                            <a:latin typeface="Cambria Math" panose="02040503050406030204" pitchFamily="18" charset="0"/>
                                          </a:rPr>
                                        </m:ctrlPr>
                                      </m:sSubPr>
                                      <m:e>
                                        <m:r>
                                          <a:rPr lang="en-US" b="1" i="0">
                                            <a:latin typeface="Cambria Math" panose="02040503050406030204" pitchFamily="18" charset="0"/>
                                          </a:rPr>
                                          <m:t>𝐱</m:t>
                                        </m:r>
                                      </m:e>
                                      <m:sub>
                                        <m:r>
                                          <m:rPr>
                                            <m:sty m:val="p"/>
                                          </m:rPr>
                                          <a:rPr lang="en-US" i="0">
                                            <a:latin typeface="Cambria Math" panose="02040503050406030204" pitchFamily="18" charset="0"/>
                                          </a:rPr>
                                          <m:t>i</m:t>
                                        </m:r>
                                      </m:sub>
                                    </m:sSub>
                                    <m:r>
                                      <a:rPr lang="en-US" b="0" i="0" smtClean="0">
                                        <a:latin typeface="Cambria Math" panose="02040503050406030204" pitchFamily="18" charset="0"/>
                                      </a:rPr>
                                      <m:t>−</m:t>
                                    </m:r>
                                    <m:sSub>
                                      <m:sSubPr>
                                        <m:ctrlPr>
                                          <a:rPr lang="en-US" i="1">
                                            <a:latin typeface="Cambria Math" panose="02040503050406030204" pitchFamily="18" charset="0"/>
                                          </a:rPr>
                                        </m:ctrlPr>
                                      </m:sSubPr>
                                      <m:e>
                                        <m:r>
                                          <a:rPr lang="en-US" b="1" i="0">
                                            <a:latin typeface="Cambria Math" panose="02040503050406030204" pitchFamily="18" charset="0"/>
                                          </a:rPr>
                                          <m:t>𝐱</m:t>
                                        </m:r>
                                      </m:e>
                                      <m:sub>
                                        <m:r>
                                          <m:rPr>
                                            <m:sty m:val="p"/>
                                          </m:rPr>
                                          <a:rPr lang="en-US" i="0">
                                            <a:latin typeface="Cambria Math" panose="02040503050406030204" pitchFamily="18" charset="0"/>
                                          </a:rPr>
                                          <m:t>j</m:t>
                                        </m:r>
                                      </m:sub>
                                    </m:sSub>
                                  </m:e>
                                </m:d>
                              </m:e>
                              <m:sup>
                                <m:r>
                                  <a:rPr lang="en-US" b="0" i="0" smtClean="0">
                                    <a:latin typeface="Cambria Math" panose="02040503050406030204" pitchFamily="18" charset="0"/>
                                  </a:rPr>
                                  <m:t>2</m:t>
                                </m:r>
                              </m:sup>
                            </m:sSup>
                          </m:num>
                          <m:den>
                            <m:r>
                              <a:rPr lang="en-US" b="0" i="0" smtClean="0">
                                <a:latin typeface="Cambria Math" panose="02040503050406030204" pitchFamily="18" charset="0"/>
                              </a:rPr>
                              <m:t>2</m:t>
                            </m:r>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ea typeface="Cambria Math" panose="02040503050406030204" pitchFamily="18" charset="0"/>
                                  </a:rPr>
                                  <m:t>σ</m:t>
                                </m:r>
                              </m:e>
                              <m:sup>
                                <m:r>
                                  <a:rPr lang="en-US" b="0" i="0" smtClean="0">
                                    <a:latin typeface="Cambria Math" panose="02040503050406030204" pitchFamily="18" charset="0"/>
                                  </a:rPr>
                                  <m:t>2</m:t>
                                </m:r>
                              </m:sup>
                            </m:sSup>
                          </m:den>
                        </m:f>
                      </m:sup>
                    </m:sSup>
                    <m:r>
                      <a:rPr lang="en-US" b="0" i="0" smtClean="0">
                        <a:latin typeface="Cambria Math" panose="02040503050406030204" pitchFamily="18" charset="0"/>
                      </a:rPr>
                      <m:t>.</m:t>
                    </m:r>
                  </m:oMath>
                </a14:m>
                <a:endParaRPr lang="en-US" altLang="en-US">
                  <a:cs typeface="Times New Roman" panose="02020603050405020304" pitchFamily="18" charset="0"/>
                </a:endParaRPr>
              </a:p>
              <a:p>
                <a:pPr lvl="1" algn="just">
                  <a:lnSpc>
                    <a:spcPct val="90000"/>
                  </a:lnSpc>
                </a:pPr>
                <a:r>
                  <a:rPr lang="en-US" altLang="en-US">
                    <a:solidFill>
                      <a:srgbClr val="FF0000"/>
                    </a:solidFill>
                  </a:rPr>
                  <a:t>Mapping </a:t>
                </a:r>
                <a14:m>
                  <m:oMath xmlns:m="http://schemas.openxmlformats.org/officeDocument/2006/math">
                    <m:r>
                      <m:rPr>
                        <m:sty m:val="p"/>
                      </m:rPr>
                      <a:rPr lang="el-GR" altLang="en-US" i="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Φ</m:t>
                    </m:r>
                    <m:r>
                      <a:rPr lang="en-US" altLang="en-US" i="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en-US" b="1" i="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𝐱</m:t>
                    </m:r>
                    <m:r>
                      <a:rPr lang="en-US" altLang="en-US" b="1" i="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en-US" b="1" i="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𝛗</m:t>
                    </m:r>
                    <m:d>
                      <m:dPr>
                        <m:ctrlPr>
                          <a:rPr lang="en-US" altLang="en-US"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en-US" b="1" i="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𝐱</m:t>
                        </m:r>
                      </m:e>
                    </m:d>
                  </m:oMath>
                </a14:m>
                <a:r>
                  <a:rPr lang="en-US" altLang="en-US">
                    <a:solidFill>
                      <a:srgbClr val="FF0000"/>
                    </a:solidFill>
                    <a:cs typeface="Times New Roman" panose="02020603050405020304" pitchFamily="18" charset="0"/>
                  </a:rPr>
                  <a:t>, where </a:t>
                </a:r>
                <a14:m>
                  <m:oMath xmlns:m="http://schemas.openxmlformats.org/officeDocument/2006/math">
                    <m:r>
                      <a:rPr lang="en-US" altLang="en-US" b="1" i="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𝛗</m:t>
                    </m:r>
                    <m:d>
                      <m:dPr>
                        <m:ctrlPr>
                          <a:rPr lang="en-US" altLang="en-US"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en-US" b="1" i="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𝐱</m:t>
                        </m:r>
                      </m:e>
                    </m:d>
                  </m:oMath>
                </a14:m>
                <a:r>
                  <a:rPr lang="en-US" altLang="en-US">
                    <a:solidFill>
                      <a:srgbClr val="FF0000"/>
                    </a:solidFill>
                    <a:cs typeface="Times New Roman" panose="02020603050405020304" pitchFamily="18" charset="0"/>
                  </a:rPr>
                  <a:t> infinite-dimensional: every point is mapped to </a:t>
                </a:r>
                <a14:m>
                  <m:oMath xmlns:m="http://schemas.openxmlformats.org/officeDocument/2006/math">
                    <m:r>
                      <m:rPr>
                        <m:sty m:val="p"/>
                      </m:rPr>
                      <a:rPr lang="en-US" altLang="en-US" i="0" smtClean="0">
                        <a:solidFill>
                          <a:srgbClr val="FF0000"/>
                        </a:solidFill>
                        <a:latin typeface="Cambria Math" panose="02040503050406030204" pitchFamily="18" charset="0"/>
                        <a:cs typeface="Times New Roman" panose="02020603050405020304" pitchFamily="18" charset="0"/>
                      </a:rPr>
                      <m:t>a</m:t>
                    </m:r>
                    <m:r>
                      <a:rPr lang="en-US" altLang="en-US" i="0" smtClean="0">
                        <a:solidFill>
                          <a:srgbClr val="FF0000"/>
                        </a:solidFill>
                        <a:latin typeface="Cambria Math" panose="02040503050406030204" pitchFamily="18" charset="0"/>
                        <a:cs typeface="Times New Roman" panose="02020603050405020304" pitchFamily="18" charset="0"/>
                      </a:rPr>
                      <m:t> </m:t>
                    </m:r>
                    <m:r>
                      <m:rPr>
                        <m:sty m:val="p"/>
                      </m:rPr>
                      <a:rPr lang="en-US" altLang="en-US" i="0" smtClean="0">
                        <a:solidFill>
                          <a:srgbClr val="FF0000"/>
                        </a:solidFill>
                        <a:latin typeface="Cambria Math" panose="02040503050406030204" pitchFamily="18" charset="0"/>
                        <a:cs typeface="Times New Roman" panose="02020603050405020304" pitchFamily="18" charset="0"/>
                      </a:rPr>
                      <m:t>function</m:t>
                    </m:r>
                  </m:oMath>
                </a14:m>
                <a:r>
                  <a:rPr lang="en-US" altLang="en-US">
                    <a:solidFill>
                      <a:srgbClr val="FF0000"/>
                    </a:solidFill>
                    <a:cs typeface="Times New Roman" panose="02020603050405020304" pitchFamily="18" charset="0"/>
                  </a:rPr>
                  <a:t> (a Gaussian); combination of functions for support vectors is the separator.</a:t>
                </a:r>
              </a:p>
              <a:p>
                <a:pPr algn="just">
                  <a:lnSpc>
                    <a:spcPct val="90000"/>
                  </a:lnSpc>
                </a:pPr>
                <a:endParaRPr lang="en-US" altLang="en-US">
                  <a:cs typeface="Times New Roman" panose="02020603050405020304" pitchFamily="18" charset="0"/>
                </a:endParaRPr>
              </a:p>
              <a:p>
                <a:pPr algn="just">
                  <a:lnSpc>
                    <a:spcPct val="90000"/>
                  </a:lnSpc>
                </a:pPr>
                <a:r>
                  <a:rPr lang="en-US" altLang="en-US">
                    <a:cs typeface="Times New Roman" panose="02020603050405020304" pitchFamily="18" charset="0"/>
                  </a:rPr>
                  <a:t>Higher-dimensional space still has intrinsic dimensionality </a:t>
                </a:r>
                <a14:m>
                  <m:oMath xmlns:m="http://schemas.openxmlformats.org/officeDocument/2006/math">
                    <m:r>
                      <m:rPr>
                        <m:sty m:val="p"/>
                      </m:rPr>
                      <a:rPr lang="en-US" altLang="en-US" i="0" smtClean="0">
                        <a:latin typeface="Cambria Math" panose="02040503050406030204" pitchFamily="18" charset="0"/>
                        <a:cs typeface="Times New Roman" panose="02020603050405020304" pitchFamily="18" charset="0"/>
                      </a:rPr>
                      <m:t>d</m:t>
                    </m:r>
                  </m:oMath>
                </a14:m>
                <a:r>
                  <a:rPr lang="en-US" altLang="en-US">
                    <a:cs typeface="Times New Roman" panose="02020603050405020304" pitchFamily="18" charset="0"/>
                  </a:rPr>
                  <a:t> (the mapping is not onto), but linear separators in it correspond to non-linear separators in original space.</a:t>
                </a:r>
              </a:p>
            </p:txBody>
          </p:sp>
        </mc:Choice>
        <mc:Fallback xmlns="">
          <p:sp>
            <p:nvSpPr>
              <p:cNvPr id="3" name="Content Placeholder 2">
                <a:extLst>
                  <a:ext uri="{FF2B5EF4-FFF2-40B4-BE49-F238E27FC236}">
                    <a16:creationId xmlns:a16="http://schemas.microsoft.com/office/drawing/2014/main" id="{925ADA72-E8FA-4C83-BA52-3A12D587A375}"/>
                  </a:ext>
                </a:extLst>
              </p:cNvPr>
              <p:cNvSpPr>
                <a:spLocks noGrp="1" noRot="1" noChangeAspect="1" noMove="1" noResize="1" noEditPoints="1" noAdjustHandles="1" noChangeArrowheads="1" noChangeShapeType="1" noTextEdit="1"/>
              </p:cNvSpPr>
              <p:nvPr>
                <p:ph idx="1"/>
              </p:nvPr>
            </p:nvSpPr>
            <p:spPr>
              <a:blipFill>
                <a:blip r:embed="rId2"/>
                <a:stretch>
                  <a:fillRect l="-1000" t="-135" r="-1111"/>
                </a:stretch>
              </a:blipFill>
            </p:spPr>
            <p:txBody>
              <a:bodyPr/>
              <a:lstStyle/>
              <a:p>
                <a:r>
                  <a:rPr lang="en-US">
                    <a:noFill/>
                  </a:rPr>
                  <a:t> </a:t>
                </a:r>
              </a:p>
            </p:txBody>
          </p:sp>
        </mc:Fallback>
      </mc:AlternateContent>
    </p:spTree>
    <p:extLst>
      <p:ext uri="{BB962C8B-B14F-4D97-AF65-F5344CB8AC3E}">
        <p14:creationId xmlns:p14="http://schemas.microsoft.com/office/powerpoint/2010/main" val="2964847027"/>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AB1255-BCCE-47F3-9A10-F9FAAAC95FDE}"/>
              </a:ext>
            </a:extLst>
          </p:cNvPr>
          <p:cNvSpPr>
            <a:spLocks noGrp="1"/>
          </p:cNvSpPr>
          <p:nvPr>
            <p:ph type="title"/>
          </p:nvPr>
        </p:nvSpPr>
        <p:spPr/>
        <p:txBody>
          <a:bodyPr/>
          <a:lstStyle/>
          <a:p>
            <a:r>
              <a:rPr lang="en-US"/>
              <a:t>VÍ DỤ MINH HỌA</a:t>
            </a:r>
          </a:p>
        </p:txBody>
      </p:sp>
      <p:sp>
        <p:nvSpPr>
          <p:cNvPr id="6" name="Text Placeholder 5">
            <a:extLst>
              <a:ext uri="{FF2B5EF4-FFF2-40B4-BE49-F238E27FC236}">
                <a16:creationId xmlns:a16="http://schemas.microsoft.com/office/drawing/2014/main" id="{A9EAA575-A3F0-4549-8D4F-802D4076A263}"/>
              </a:ext>
            </a:extLst>
          </p:cNvPr>
          <p:cNvSpPr>
            <a:spLocks noGrp="1"/>
          </p:cNvSpPr>
          <p:nvPr>
            <p:ph type="body" idx="1"/>
          </p:nvPr>
        </p:nvSpPr>
        <p:spPr/>
        <p:txBody>
          <a:bodyPr/>
          <a:lstStyle/>
          <a:p>
            <a:r>
              <a:rPr lang="en-US"/>
              <a:t>Example</a:t>
            </a:r>
          </a:p>
        </p:txBody>
      </p:sp>
      <p:pic>
        <p:nvPicPr>
          <p:cNvPr id="4" name="Picture 3">
            <a:extLst>
              <a:ext uri="{FF2B5EF4-FFF2-40B4-BE49-F238E27FC236}">
                <a16:creationId xmlns:a16="http://schemas.microsoft.com/office/drawing/2014/main" id="{17A6AA17-8AF2-4AF2-8A02-6BF88C9163FE}"/>
              </a:ext>
            </a:extLst>
          </p:cNvPr>
          <p:cNvPicPr>
            <a:picLocks noChangeAspect="1" noChangeArrowheads="1"/>
          </p:cNvPicPr>
          <p:nvPr/>
        </p:nvPicPr>
        <p:blipFill>
          <a:blip r:embed="rId2" cstate="print"/>
          <a:srcRect/>
          <a:stretch>
            <a:fillRect/>
          </a:stretch>
        </p:blipFill>
        <p:spPr bwMode="auto">
          <a:xfrm>
            <a:off x="7267330" y="695919"/>
            <a:ext cx="4738365" cy="3571281"/>
          </a:xfrm>
          <a:prstGeom prst="rect">
            <a:avLst/>
          </a:prstGeom>
          <a:noFill/>
        </p:spPr>
      </p:pic>
    </p:spTree>
    <p:extLst>
      <p:ext uri="{BB962C8B-B14F-4D97-AF65-F5344CB8AC3E}">
        <p14:creationId xmlns:p14="http://schemas.microsoft.com/office/powerpoint/2010/main" val="2707373917"/>
      </p:ext>
    </p:ext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AE5567A-2F2D-46BC-A94B-BEEC1D8F871B}"/>
              </a:ext>
            </a:extLst>
          </p:cNvPr>
          <p:cNvSpPr>
            <a:spLocks noGrp="1"/>
          </p:cNvSpPr>
          <p:nvPr>
            <p:ph type="title"/>
          </p:nvPr>
        </p:nvSpPr>
        <p:spPr/>
        <p:txBody>
          <a:bodyPr/>
          <a:lstStyle/>
          <a:p>
            <a:r>
              <a:rPr lang="en-US"/>
              <a:t>Ví dụ minh họa</a:t>
            </a:r>
          </a:p>
        </p:txBody>
      </p:sp>
      <p:pic>
        <p:nvPicPr>
          <p:cNvPr id="13" name="Content Placeholder 12">
            <a:extLst>
              <a:ext uri="{FF2B5EF4-FFF2-40B4-BE49-F238E27FC236}">
                <a16:creationId xmlns:a16="http://schemas.microsoft.com/office/drawing/2014/main" id="{98AC23F0-677F-47AC-8D11-BA527B9EF207}"/>
              </a:ext>
            </a:extLst>
          </p:cNvPr>
          <p:cNvPicPr>
            <a:picLocks noGrp="1" noChangeAspect="1"/>
          </p:cNvPicPr>
          <p:nvPr>
            <p:ph idx="1"/>
          </p:nvPr>
        </p:nvPicPr>
        <p:blipFill>
          <a:blip r:embed="rId2"/>
          <a:stretch>
            <a:fillRect/>
          </a:stretch>
        </p:blipFill>
        <p:spPr>
          <a:xfrm>
            <a:off x="2623249" y="1600200"/>
            <a:ext cx="6945502" cy="4525963"/>
          </a:xfrm>
          <a:prstGeom prst="rect">
            <a:avLst/>
          </a:prstGeom>
        </p:spPr>
      </p:pic>
    </p:spTree>
    <p:extLst>
      <p:ext uri="{BB962C8B-B14F-4D97-AF65-F5344CB8AC3E}">
        <p14:creationId xmlns:p14="http://schemas.microsoft.com/office/powerpoint/2010/main" val="2454497836"/>
      </p:ext>
    </p:extLst>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AB1255-BCCE-47F3-9A10-F9FAAAC95FDE}"/>
              </a:ext>
            </a:extLst>
          </p:cNvPr>
          <p:cNvSpPr>
            <a:spLocks noGrp="1"/>
          </p:cNvSpPr>
          <p:nvPr>
            <p:ph type="title"/>
          </p:nvPr>
        </p:nvSpPr>
        <p:spPr/>
        <p:txBody>
          <a:bodyPr/>
          <a:lstStyle/>
          <a:p>
            <a:r>
              <a:rPr lang="en-US"/>
              <a:t>BÀI TẬP THỰC HÀNH</a:t>
            </a:r>
          </a:p>
        </p:txBody>
      </p:sp>
      <p:sp>
        <p:nvSpPr>
          <p:cNvPr id="6" name="Text Placeholder 5">
            <a:extLst>
              <a:ext uri="{FF2B5EF4-FFF2-40B4-BE49-F238E27FC236}">
                <a16:creationId xmlns:a16="http://schemas.microsoft.com/office/drawing/2014/main" id="{A9EAA575-A3F0-4549-8D4F-802D4076A263}"/>
              </a:ext>
            </a:extLst>
          </p:cNvPr>
          <p:cNvSpPr>
            <a:spLocks noGrp="1"/>
          </p:cNvSpPr>
          <p:nvPr>
            <p:ph type="body" idx="1"/>
          </p:nvPr>
        </p:nvSpPr>
        <p:spPr/>
        <p:txBody>
          <a:bodyPr/>
          <a:lstStyle/>
          <a:p>
            <a:r>
              <a:rPr lang="en-US"/>
              <a:t>Programming Exercise</a:t>
            </a:r>
          </a:p>
        </p:txBody>
      </p:sp>
      <p:pic>
        <p:nvPicPr>
          <p:cNvPr id="4" name="Picture 3">
            <a:extLst>
              <a:ext uri="{FF2B5EF4-FFF2-40B4-BE49-F238E27FC236}">
                <a16:creationId xmlns:a16="http://schemas.microsoft.com/office/drawing/2014/main" id="{86209931-91ED-467B-A2E8-0F4004A67F98}"/>
              </a:ext>
            </a:extLst>
          </p:cNvPr>
          <p:cNvPicPr>
            <a:picLocks noChangeAspect="1" noChangeArrowheads="1"/>
          </p:cNvPicPr>
          <p:nvPr/>
        </p:nvPicPr>
        <p:blipFill>
          <a:blip r:embed="rId2" cstate="print"/>
          <a:srcRect/>
          <a:stretch>
            <a:fillRect/>
          </a:stretch>
        </p:blipFill>
        <p:spPr bwMode="auto">
          <a:xfrm>
            <a:off x="7267330" y="695919"/>
            <a:ext cx="4738365" cy="3571281"/>
          </a:xfrm>
          <a:prstGeom prst="rect">
            <a:avLst/>
          </a:prstGeom>
          <a:noFill/>
        </p:spPr>
      </p:pic>
    </p:spTree>
    <p:extLst>
      <p:ext uri="{BB962C8B-B14F-4D97-AF65-F5344CB8AC3E}">
        <p14:creationId xmlns:p14="http://schemas.microsoft.com/office/powerpoint/2010/main" val="888523595"/>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38B72A6-44B8-4DD4-864C-8A5CEDD076E7}"/>
              </a:ext>
            </a:extLst>
          </p:cNvPr>
          <p:cNvSpPr>
            <a:spLocks noGrp="1"/>
          </p:cNvSpPr>
          <p:nvPr>
            <p:ph type="title"/>
          </p:nvPr>
        </p:nvSpPr>
        <p:spPr/>
        <p:txBody>
          <a:bodyPr/>
          <a:lstStyle/>
          <a:p>
            <a:r>
              <a:rPr lang="en-US"/>
              <a:t>Bài tập thực hành trên Python</a:t>
            </a:r>
          </a:p>
        </p:txBody>
      </p:sp>
      <p:sp>
        <p:nvSpPr>
          <p:cNvPr id="5" name="Content Placeholder 4">
            <a:extLst>
              <a:ext uri="{FF2B5EF4-FFF2-40B4-BE49-F238E27FC236}">
                <a16:creationId xmlns:a16="http://schemas.microsoft.com/office/drawing/2014/main" id="{16D6BB77-F045-46DF-B320-9DB311F74581}"/>
              </a:ext>
            </a:extLst>
          </p:cNvPr>
          <p:cNvSpPr>
            <a:spLocks noGrp="1"/>
          </p:cNvSpPr>
          <p:nvPr>
            <p:ph idx="1"/>
          </p:nvPr>
        </p:nvSpPr>
        <p:spPr/>
        <p:txBody>
          <a:bodyPr/>
          <a:lstStyle/>
          <a:p>
            <a:pPr algn="just"/>
            <a:r>
              <a:rPr lang="en-US"/>
              <a:t>Problem Statement: Use Machine Learning to predict cases of breast cancer using patient treatment history and health data.</a:t>
            </a:r>
          </a:p>
          <a:p>
            <a:pPr algn="just"/>
            <a:r>
              <a:rPr lang="en-US">
                <a:solidFill>
                  <a:srgbClr val="FF0000"/>
                </a:solidFill>
              </a:rPr>
              <a:t>Dataset: Breast Cancer Wisconsin (Diagnostic).</a:t>
            </a:r>
          </a:p>
          <a:p>
            <a:pPr algn="just"/>
            <a:r>
              <a:rPr lang="en-US"/>
              <a:t>Tham khảo: https://intellipaat.com/blog/tutorial/machine-learning-tutorial/svm-algorithm-in-python/</a:t>
            </a:r>
          </a:p>
        </p:txBody>
      </p:sp>
    </p:spTree>
    <p:extLst>
      <p:ext uri="{BB962C8B-B14F-4D97-AF65-F5344CB8AC3E}">
        <p14:creationId xmlns:p14="http://schemas.microsoft.com/office/powerpoint/2010/main" val="2395815941"/>
      </p:ext>
    </p:extLst>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1A1E3B-52AC-4848-9A3B-814D413CE467}"/>
              </a:ext>
            </a:extLst>
          </p:cNvPr>
          <p:cNvSpPr>
            <a:spLocks noGrp="1"/>
          </p:cNvSpPr>
          <p:nvPr>
            <p:ph type="ctrTitle"/>
          </p:nvPr>
        </p:nvSpPr>
        <p:spPr/>
        <p:txBody>
          <a:bodyPr/>
          <a:lstStyle/>
          <a:p>
            <a:r>
              <a:rPr lang="en-US" sz="4000"/>
              <a:t>Chúc các bạn học tốt</a:t>
            </a:r>
            <a:br>
              <a:rPr lang="en-US" sz="4000">
                <a:solidFill>
                  <a:srgbClr val="0066FF"/>
                </a:solidFill>
              </a:rPr>
            </a:br>
            <a:r>
              <a:rPr lang="en-US" sz="3200">
                <a:solidFill>
                  <a:srgbClr val="0066FF"/>
                </a:solidFill>
              </a:rPr>
              <a:t>TRƯỜNG ĐẠI HỌC CÔNG NGHỆ THÔNG TIN TP.HCM</a:t>
            </a:r>
            <a:br>
              <a:rPr lang="en-US" sz="3200">
                <a:solidFill>
                  <a:srgbClr val="0066FF"/>
                </a:solidFill>
              </a:rPr>
            </a:br>
            <a:br>
              <a:rPr lang="en-US" sz="3200">
                <a:solidFill>
                  <a:srgbClr val="0066FF"/>
                </a:solidFill>
              </a:rPr>
            </a:br>
            <a:r>
              <a:rPr lang="en-US" sz="4000"/>
              <a:t>Nhóm UIT-Together</a:t>
            </a:r>
            <a:br>
              <a:rPr lang="en-US" sz="4000">
                <a:solidFill>
                  <a:srgbClr val="0066FF"/>
                </a:solidFill>
              </a:rPr>
            </a:br>
            <a:r>
              <a:rPr lang="en-US" sz="4000">
                <a:solidFill>
                  <a:srgbClr val="0066FF"/>
                </a:solidFill>
              </a:rPr>
              <a:t>Nguyễn Tấn Trần Minh Khang</a:t>
            </a:r>
          </a:p>
        </p:txBody>
      </p:sp>
    </p:spTree>
    <p:extLst>
      <p:ext uri="{BB962C8B-B14F-4D97-AF65-F5344CB8AC3E}">
        <p14:creationId xmlns:p14="http://schemas.microsoft.com/office/powerpoint/2010/main" val="2651894520"/>
      </p:ext>
    </p:extLst>
  </p:cSld>
  <p:clrMapOvr>
    <a:masterClrMapping/>
  </p:clrMapOvr>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14701</TotalTime>
  <Words>3858</Words>
  <Application>Microsoft Office PowerPoint</Application>
  <PresentationFormat>Widescreen</PresentationFormat>
  <Paragraphs>504</Paragraphs>
  <Slides>80</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80</vt:i4>
      </vt:variant>
    </vt:vector>
  </HeadingPairs>
  <TitlesOfParts>
    <vt:vector size="88" baseType="lpstr">
      <vt:lpstr>Arial</vt:lpstr>
      <vt:lpstr>Cambria Math</vt:lpstr>
      <vt:lpstr>Consolas</vt:lpstr>
      <vt:lpstr>Courier New</vt:lpstr>
      <vt:lpstr>Symbol</vt:lpstr>
      <vt:lpstr>Tahoma</vt:lpstr>
      <vt:lpstr>Times New Roman</vt:lpstr>
      <vt:lpstr>Default Design</vt:lpstr>
      <vt:lpstr>SUPPORT VECTOR MACHINE</vt:lpstr>
      <vt:lpstr>Lịch sử SVM</vt:lpstr>
      <vt:lpstr>Lịch sử SVM</vt:lpstr>
      <vt:lpstr>Lịch sử SVM</vt:lpstr>
      <vt:lpstr>GENERAL IDEA</vt:lpstr>
      <vt:lpstr>General idea</vt:lpstr>
      <vt:lpstr>General idea</vt:lpstr>
      <vt:lpstr>General idea</vt:lpstr>
      <vt:lpstr>General idea</vt:lpstr>
      <vt:lpstr>General idea</vt:lpstr>
      <vt:lpstr>TWO CLASS – LINEAR SVM</vt:lpstr>
      <vt:lpstr>Two Class – Linear SVM</vt:lpstr>
      <vt:lpstr>Two Class – Linear SVM</vt:lpstr>
      <vt:lpstr>Two Class – Linear SVM</vt:lpstr>
      <vt:lpstr>Two Class – Linear SVM</vt:lpstr>
      <vt:lpstr>Two Class – Linear SVM</vt:lpstr>
      <vt:lpstr>Two Class – Linear SVM</vt:lpstr>
      <vt:lpstr>Two Class – Linear SVM</vt:lpstr>
      <vt:lpstr>Two Class – Linear SVM</vt:lpstr>
      <vt:lpstr>Two Class – Linear SVM</vt:lpstr>
      <vt:lpstr>Two Class – Linear SVM</vt:lpstr>
      <vt:lpstr>Two Class – Linear SVM</vt:lpstr>
      <vt:lpstr>Linear SVMs Mathematically</vt:lpstr>
      <vt:lpstr>TÓM TẮT</vt:lpstr>
      <vt:lpstr>Tóm tắt</vt:lpstr>
      <vt:lpstr>Tóm tắt</vt:lpstr>
      <vt:lpstr>Tóm tắt</vt:lpstr>
      <vt:lpstr>DATASET</vt:lpstr>
      <vt:lpstr>Dataset</vt:lpstr>
      <vt:lpstr>Dataset</vt:lpstr>
      <vt:lpstr>Dataset</vt:lpstr>
      <vt:lpstr>Dataset</vt:lpstr>
      <vt:lpstr>Tiền xử lý dữ liệu</vt:lpstr>
      <vt:lpstr>Tiền xử lý dữ liệu</vt:lpstr>
      <vt:lpstr>Tiền xử lý dữ liệu</vt:lpstr>
      <vt:lpstr>Tiền xử lý dữ liệu</vt:lpstr>
      <vt:lpstr>Trực quan hóa dữ liệu</vt:lpstr>
      <vt:lpstr>Trực quan hóa dữ liệu</vt:lpstr>
      <vt:lpstr>Trực quan hóa dữ liệu</vt:lpstr>
      <vt:lpstr>Trực quan hóa dữ liệu</vt:lpstr>
      <vt:lpstr>Trực quan hóa dữ liệu</vt:lpstr>
      <vt:lpstr>Trực quan hóa dữ liệu</vt:lpstr>
      <vt:lpstr>Support Vector Machine</vt:lpstr>
      <vt:lpstr>Support Vector Machine</vt:lpstr>
      <vt:lpstr>Support Vector Machine</vt:lpstr>
      <vt:lpstr>Support Vector Machine</vt:lpstr>
      <vt:lpstr>Support Vector Machine</vt:lpstr>
      <vt:lpstr>Support Vector Machine</vt:lpstr>
      <vt:lpstr>Huấn luyện mô hình</vt:lpstr>
      <vt:lpstr>Huấn luyện mô hình</vt:lpstr>
      <vt:lpstr>Trực quan hóa kết quả mô hình</vt:lpstr>
      <vt:lpstr>Trực quan hóa kết quả mô hình</vt:lpstr>
      <vt:lpstr>Trực quan hóa kết quả mô hình</vt:lpstr>
      <vt:lpstr>Trực quan hóa kết quả mô hình</vt:lpstr>
      <vt:lpstr>Trực quan hóa kết quả mô hình</vt:lpstr>
      <vt:lpstr>Trực quan hóa kết quả mô hình</vt:lpstr>
      <vt:lpstr>Trực quan hóa kết quả mô hình</vt:lpstr>
      <vt:lpstr>Trực quan hóa kết quả mô hình</vt:lpstr>
      <vt:lpstr>Trực quan hóa kết quả mô hình</vt:lpstr>
      <vt:lpstr>Trực quan hóa kết quả mô hình</vt:lpstr>
      <vt:lpstr>Trực quan hóa kết quả mô hình</vt:lpstr>
      <vt:lpstr>Kiểm tra kết quả trên tập test</vt:lpstr>
      <vt:lpstr>Kiểm tra kết quả trên tập test</vt:lpstr>
      <vt:lpstr>Kiểm tra kết quả trên tập test</vt:lpstr>
      <vt:lpstr>Kiểm tra kết quả trên tập test</vt:lpstr>
      <vt:lpstr>Kiểm tra kết quả trên tập test</vt:lpstr>
      <vt:lpstr>Kiểm tra kết quả trên tập test</vt:lpstr>
      <vt:lpstr>Kiểm tra kết quả trên tập test</vt:lpstr>
      <vt:lpstr>Kiểm tra kết quả trên tập test</vt:lpstr>
      <vt:lpstr>Chúc các bạn học tốt Thân ái chào tạm biệt các bạn  ĐẠI HỌC QUỐC GIA TP.HCM TRƯỜNG ĐẠI HỌC CÔNG NGHỆ THÔNG TIN TP.HCM TOÀN DIỆN – SÁNG TẠO – PHỤNG SỰ </vt:lpstr>
      <vt:lpstr>HÀM KERNEL</vt:lpstr>
      <vt:lpstr>Hàm kernel là gì</vt:lpstr>
      <vt:lpstr>Hàm kernel là gì</vt:lpstr>
      <vt:lpstr>Một số hàm kernel</vt:lpstr>
      <vt:lpstr>Một số hàm kernel</vt:lpstr>
      <vt:lpstr>VÍ DỤ MINH HỌA</vt:lpstr>
      <vt:lpstr>Ví dụ minh họa</vt:lpstr>
      <vt:lpstr>BÀI TẬP THỰC HÀNH</vt:lpstr>
      <vt:lpstr>Bài tập thực hành trên Python</vt:lpstr>
      <vt:lpstr>Chúc các bạn học tốt TRƯỜNG ĐẠI HỌC CÔNG NGHỆ THÔNG TIN TP.HCM  Nhóm UIT-Together Nguyễn Tấn Trần Minh Khang</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Sectio cc</dc:title>
  <dc:creator>Hong</dc:creator>
  <cp:lastModifiedBy>Quan Chí Khánh An</cp:lastModifiedBy>
  <cp:revision>1327</cp:revision>
  <cp:lastPrinted>2013-08-30T01:32:34Z</cp:lastPrinted>
  <dcterms:created xsi:type="dcterms:W3CDTF">2008-06-14T04:13:27Z</dcterms:created>
  <dcterms:modified xsi:type="dcterms:W3CDTF">2023-10-24T15:43:58Z</dcterms:modified>
</cp:coreProperties>
</file>