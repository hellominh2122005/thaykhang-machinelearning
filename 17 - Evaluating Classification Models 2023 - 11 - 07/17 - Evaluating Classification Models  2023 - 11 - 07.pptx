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1"/>
  </p:sldMasterIdLst>
  <p:notesMasterIdLst>
    <p:notesMasterId r:id="rId69"/>
  </p:notesMasterIdLst>
  <p:handoutMasterIdLst>
    <p:handoutMasterId r:id="rId70"/>
  </p:handoutMasterIdLst>
  <p:sldIdLst>
    <p:sldId id="1585" r:id="rId2"/>
    <p:sldId id="399" r:id="rId3"/>
    <p:sldId id="329" r:id="rId4"/>
    <p:sldId id="347" r:id="rId5"/>
    <p:sldId id="346" r:id="rId6"/>
    <p:sldId id="357" r:id="rId7"/>
    <p:sldId id="359" r:id="rId8"/>
    <p:sldId id="345" r:id="rId9"/>
    <p:sldId id="330" r:id="rId10"/>
    <p:sldId id="337" r:id="rId11"/>
    <p:sldId id="388" r:id="rId12"/>
    <p:sldId id="333" r:id="rId13"/>
    <p:sldId id="339" r:id="rId14"/>
    <p:sldId id="340" r:id="rId15"/>
    <p:sldId id="334" r:id="rId16"/>
    <p:sldId id="335" r:id="rId17"/>
    <p:sldId id="389" r:id="rId18"/>
    <p:sldId id="336" r:id="rId19"/>
    <p:sldId id="341" r:id="rId20"/>
    <p:sldId id="342" r:id="rId21"/>
    <p:sldId id="343" r:id="rId22"/>
    <p:sldId id="344" r:id="rId23"/>
    <p:sldId id="348" r:id="rId24"/>
    <p:sldId id="349" r:id="rId25"/>
    <p:sldId id="355" r:id="rId26"/>
    <p:sldId id="358" r:id="rId27"/>
    <p:sldId id="390" r:id="rId28"/>
    <p:sldId id="351" r:id="rId29"/>
    <p:sldId id="352" r:id="rId30"/>
    <p:sldId id="397" r:id="rId31"/>
    <p:sldId id="353" r:id="rId32"/>
    <p:sldId id="354" r:id="rId33"/>
    <p:sldId id="398" r:id="rId34"/>
    <p:sldId id="392" r:id="rId35"/>
    <p:sldId id="393" r:id="rId36"/>
    <p:sldId id="394" r:id="rId37"/>
    <p:sldId id="395" r:id="rId38"/>
    <p:sldId id="396" r:id="rId39"/>
    <p:sldId id="356" r:id="rId40"/>
    <p:sldId id="360" r:id="rId41"/>
    <p:sldId id="361" r:id="rId42"/>
    <p:sldId id="362" r:id="rId43"/>
    <p:sldId id="363" r:id="rId44"/>
    <p:sldId id="364" r:id="rId45"/>
    <p:sldId id="365" r:id="rId46"/>
    <p:sldId id="366" r:id="rId47"/>
    <p:sldId id="367" r:id="rId48"/>
    <p:sldId id="368" r:id="rId49"/>
    <p:sldId id="369" r:id="rId50"/>
    <p:sldId id="370" r:id="rId51"/>
    <p:sldId id="371" r:id="rId52"/>
    <p:sldId id="372" r:id="rId53"/>
    <p:sldId id="373" r:id="rId54"/>
    <p:sldId id="374" r:id="rId55"/>
    <p:sldId id="375" r:id="rId56"/>
    <p:sldId id="376" r:id="rId57"/>
    <p:sldId id="377" r:id="rId58"/>
    <p:sldId id="378" r:id="rId59"/>
    <p:sldId id="379" r:id="rId60"/>
    <p:sldId id="380" r:id="rId61"/>
    <p:sldId id="381" r:id="rId62"/>
    <p:sldId id="382" r:id="rId63"/>
    <p:sldId id="384" r:id="rId64"/>
    <p:sldId id="385" r:id="rId65"/>
    <p:sldId id="386" r:id="rId66"/>
    <p:sldId id="387" r:id="rId67"/>
    <p:sldId id="1573" r:id="rId6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9933"/>
    <a:srgbClr val="FF0000"/>
    <a:srgbClr val="FF3399"/>
    <a:srgbClr val="008000"/>
    <a:srgbClr val="000099"/>
    <a:srgbClr val="FF6600"/>
    <a:srgbClr val="66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7366" autoAdjust="0"/>
  </p:normalViewPr>
  <p:slideViewPr>
    <p:cSldViewPr>
      <p:cViewPr varScale="1">
        <p:scale>
          <a:sx n="84" d="100"/>
          <a:sy n="84" d="100"/>
        </p:scale>
        <p:origin x="1072" y="5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handoutMaster" Target="handoutMasters/handout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E2CB30-4184-4C1B-912F-A6AED0718E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86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5859DDC-9015-4B39-98F8-9F9A698DF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31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TIÊU ĐỀ SLIDE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454966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27E77-6012-42D7-99B0-1D322EEAFE5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86803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97A347-30EE-4B72-93DA-C4CBE7049A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F626F4-8319-BB9A-3962-FB52D8DEB4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2656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838081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15748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11582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74770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1_Title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2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27187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3508374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44793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CHUẨN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47125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2_Standard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655369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60171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631001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2_Standard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99821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9201-BB7C-7361-D15B-554D97FD494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64387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0"/>
            <a:ext cx="109728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7848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153219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2_Standard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26075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Pro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PROGRAM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038162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Progr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875236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rogr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276024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ogram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BF5967-6241-0E40-D844-CD2FB96F118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12989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Slide Up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PHẦN TRÊN DƯỚI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437916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3527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953001"/>
            <a:ext cx="10972800" cy="11724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57049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51459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114801"/>
            <a:ext cx="10972800" cy="20106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190481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137159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2971801"/>
            <a:ext cx="10972800" cy="3153696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15433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5_Slide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1238762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0254237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93367181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716980-92B1-EFAB-E559-9C67E7C615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75568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65532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0"/>
            <a:ext cx="441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464217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4286864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42868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B267FE-1A4A-FC5A-B1BF-212E21F3C20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991295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3810000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C8D0DD-B54D-81D5-B7D4-10338B1E328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304489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254708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2868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286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1A5BA2-D508-AFA2-E487-FE996D71549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089533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3809999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38099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108584-BFF3-2406-377A-3236D4DB99A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06977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4170472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640B4C-4BB4-59DC-6FB5-BE2BEAB17DC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15824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927781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1540FF-506E-C951-CCC4-F2846A5D1D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16128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451748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9894408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BE0C1-77A6-4A1D-2879-D18D2A15649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437677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836774-98E2-8399-1A89-B989AAE076F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410200"/>
            <a:ext cx="122224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600537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5862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998632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4388919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6338631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15824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696371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2114" y="1535113"/>
            <a:ext cx="12194114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114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5509956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05_Slide Two Colum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6488560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Slide Three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BA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6098984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65494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0198783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7_Slide Four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4009430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6163-080C-4D92-9FF5-83B9A124C31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0988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879BDB-29CC-404E-9DCA-E89C7B9070D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03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94B703-5983-4A4F-B197-D2C64EAA9F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2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06970055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8_Slide Four 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PHẦN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2302994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EA549A-C581-4C37-B257-ACE55CAD4DF6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0" y="3886200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016720-4FC2-4205-9886-7838EB0443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97600" y="1608826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828636-495F-44E0-8340-BCE2B3F4716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7600" y="3894825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01676564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3000" y="16002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4A1A4A6-69C0-4EC3-B5CC-CC08837714D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09600" y="26808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E39D719-3B3B-4F96-BE3F-4E767D23D3D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763000" y="26808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7791AFD-E53B-48D7-8A3C-24F9B931493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" y="37338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7784060D-E07A-4765-948A-FC9071F8DDC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763000" y="37338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67EFF06-2483-4600-B6B9-3D1CE50220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" y="48144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22FA758-800C-4200-9C64-1F16B8C51CA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763000" y="48144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9676352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9_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LƯU ĐỒ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2140233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9944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97600" y="0"/>
            <a:ext cx="5994400" cy="914401"/>
          </a:xfrm>
          <a:solidFill>
            <a:srgbClr val="00B0F0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1959533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4854" y="1066801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14854" y="0"/>
            <a:ext cx="6077146" cy="914401"/>
          </a:xfrm>
          <a:solidFill>
            <a:srgbClr val="00B0F0"/>
          </a:solidFill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1B544BE-4259-4202-9EEF-29A5F771B6E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57118" y="1066800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8711408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994400" cy="5211764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1840984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173" y="0"/>
            <a:ext cx="5994400" cy="6096000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4309164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Relationship Id="rId60" Type="http://schemas.openxmlformats.org/officeDocument/2006/relationships/image" Target="../media/image1.png"/><Relationship Id="rId61" Type="http://schemas.openxmlformats.org/officeDocument/2006/relationships/image" Target="../media/image2.png"/><Relationship Id="rId6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0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1379200" y="6324600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A916C17-A3B0-4CE4-88CA-9129F443D2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B82A81E1-3619-4A2C-AB88-C7D0762594CD}"/>
              </a:ext>
            </a:extLst>
          </p:cNvPr>
          <p:cNvPicPr>
            <a:picLocks noChangeAspect="1"/>
          </p:cNvPicPr>
          <p:nvPr userDrawn="1"/>
        </p:nvPicPr>
        <p:blipFill>
          <a:blip r:embed="rId6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103160"/>
            <a:ext cx="1375575" cy="567426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B594A5E-2439-4755-BAA8-30F12FADD3C7}"/>
              </a:ext>
            </a:extLst>
          </p:cNvPr>
          <p:cNvPicPr>
            <a:picLocks noChangeAspect="1"/>
          </p:cNvPicPr>
          <p:nvPr userDrawn="1"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908" y="70999"/>
            <a:ext cx="843402" cy="8434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649" r:id="rId3"/>
    <p:sldLayoutId id="2147483720" r:id="rId4"/>
    <p:sldLayoutId id="2147483652" r:id="rId5"/>
    <p:sldLayoutId id="2147483750" r:id="rId6"/>
    <p:sldLayoutId id="2147483718" r:id="rId7"/>
    <p:sldLayoutId id="2147483650" r:id="rId8"/>
    <p:sldLayoutId id="2147483721" r:id="rId9"/>
    <p:sldLayoutId id="2147483723" r:id="rId10"/>
    <p:sldLayoutId id="2147483716" r:id="rId11"/>
    <p:sldLayoutId id="2147483722" r:id="rId12"/>
    <p:sldLayoutId id="2147483748" r:id="rId13"/>
    <p:sldLayoutId id="2147483749" r:id="rId14"/>
    <p:sldLayoutId id="2147483717" r:id="rId15"/>
    <p:sldLayoutId id="2147483719" r:id="rId16"/>
    <p:sldLayoutId id="2147483725" r:id="rId17"/>
    <p:sldLayoutId id="2147483726" r:id="rId18"/>
    <p:sldLayoutId id="2147483727" r:id="rId19"/>
    <p:sldLayoutId id="2147483724" r:id="rId20"/>
    <p:sldLayoutId id="2147483651" r:id="rId21"/>
    <p:sldLayoutId id="2147483712" r:id="rId22"/>
    <p:sldLayoutId id="2147483713" r:id="rId23"/>
    <p:sldLayoutId id="2147483728" r:id="rId24"/>
    <p:sldLayoutId id="2147483707" r:id="rId25"/>
    <p:sldLayoutId id="2147483709" r:id="rId26"/>
    <p:sldLayoutId id="2147483730" r:id="rId27"/>
    <p:sldLayoutId id="2147483700" r:id="rId28"/>
    <p:sldLayoutId id="2147483731" r:id="rId29"/>
    <p:sldLayoutId id="2147483732" r:id="rId30"/>
    <p:sldLayoutId id="2147483689" r:id="rId31"/>
    <p:sldLayoutId id="2147483733" r:id="rId32"/>
    <p:sldLayoutId id="2147483734" r:id="rId33"/>
    <p:sldLayoutId id="2147483679" r:id="rId34"/>
    <p:sldLayoutId id="2147483735" r:id="rId35"/>
    <p:sldLayoutId id="2147483736" r:id="rId36"/>
    <p:sldLayoutId id="2147483684" r:id="rId37"/>
    <p:sldLayoutId id="2147483737" r:id="rId38"/>
    <p:sldLayoutId id="2147483738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7" r:id="rId45"/>
    <p:sldLayoutId id="2147483729" r:id="rId46"/>
    <p:sldLayoutId id="2147483686" r:id="rId47"/>
    <p:sldLayoutId id="2147483711" r:id="rId48"/>
    <p:sldLayoutId id="2147483739" r:id="rId49"/>
    <p:sldLayoutId id="2147483688" r:id="rId50"/>
    <p:sldLayoutId id="2147483740" r:id="rId51"/>
    <p:sldLayoutId id="2147483694" r:id="rId52"/>
    <p:sldLayoutId id="2147483687" r:id="rId53"/>
    <p:sldLayoutId id="2147483746" r:id="rId54"/>
    <p:sldLayoutId id="2147483701" r:id="rId55"/>
    <p:sldLayoutId id="2147483702" r:id="rId56"/>
    <p:sldLayoutId id="2147483703" r:id="rId57"/>
    <p:sldLayoutId id="2147483704" r:id="rId58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─"/>
        <a:defRPr sz="2800">
          <a:solidFill>
            <a:srgbClr val="0066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+"/>
        <a:defRPr sz="2800">
          <a:solidFill>
            <a:srgbClr val="0066FF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rgbClr val="0066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3" Type="http://schemas.openxmlformats.org/officeDocument/2006/relationships/image" Target="../media/image4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3" Type="http://schemas.openxmlformats.org/officeDocument/2006/relationships/image" Target="../media/image6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Relationship Id="rId3" Type="http://schemas.openxmlformats.org/officeDocument/2006/relationships/image" Target="../media/image9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Relationship Id="rId3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0.png"/><Relationship Id="rId3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Relationship Id="rId3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8.png"/><Relationship Id="rId3" Type="http://schemas.openxmlformats.org/officeDocument/2006/relationships/image" Target="../media/image2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20.png"/><Relationship Id="rId3" Type="http://schemas.openxmlformats.org/officeDocument/2006/relationships/image" Target="../media/image2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0.png"/><Relationship Id="rId3" Type="http://schemas.openxmlformats.org/officeDocument/2006/relationships/image" Target="../media/image2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50.png"/><Relationship Id="rId3" Type="http://schemas.openxmlformats.org/officeDocument/2006/relationships/image" Target="../media/image2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80.png"/><Relationship Id="rId3" Type="http://schemas.openxmlformats.org/officeDocument/2006/relationships/image" Target="../media/image3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90.png"/><Relationship Id="rId3" Type="http://schemas.openxmlformats.org/officeDocument/2006/relationships/image" Target="../media/image3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20.png"/><Relationship Id="rId3" Type="http://schemas.openxmlformats.org/officeDocument/2006/relationships/image" Target="../media/image3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5.png"/><Relationship Id="rId3" Type="http://schemas.openxmlformats.org/officeDocument/2006/relationships/image" Target="../media/image3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50.png"/><Relationship Id="rId3" Type="http://schemas.openxmlformats.org/officeDocument/2006/relationships/image" Target="../media/image3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70.png"/><Relationship Id="rId3" Type="http://schemas.openxmlformats.org/officeDocument/2006/relationships/image" Target="../media/image3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90.png"/><Relationship Id="rId3" Type="http://schemas.openxmlformats.org/officeDocument/2006/relationships/image" Target="../media/image3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45.png"/><Relationship Id="rId3" Type="http://schemas.openxmlformats.org/officeDocument/2006/relationships/image" Target="../media/image3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47.png"/><Relationship Id="rId3" Type="http://schemas.openxmlformats.org/officeDocument/2006/relationships/image" Target="../media/image3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50.png"/><Relationship Id="rId3" Type="http://schemas.openxmlformats.org/officeDocument/2006/relationships/image" Target="../media/image3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3612-16D3-622A-7FFF-F636EC5E5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/>
              <a:t>EVALUATING CLASSIFICATION MODELS PERFORMANCE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D9C513-AD71-9FA8-DCD3-EF6738328A0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Quan Chí Khánh An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Lê Ngọc Huy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CN. Bùi Cao Doanh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CN. Nguyễn Trọng Thuận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Phan Vĩnh Long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Nguyễn Cường Phát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Nguyễn Hoàng Ngân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Hồ Thái Ngọc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Đỗ Văn Tiến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475D-F6A4-3080-6B47-C6E6C22C81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Nguyễn Hoàng Yến Như</a:t>
            </a:r>
          </a:p>
          <a:p>
            <a:r>
              <a:rPr lang="en-US">
                <a:solidFill>
                  <a:srgbClr val="FF0000"/>
                </a:solidFill>
              </a:rPr>
              <a:t>Nguyễn Trần Phúc Nghi</a:t>
            </a:r>
          </a:p>
          <a:p>
            <a:r>
              <a:rPr lang="en-US"/>
              <a:t>Nguyễn Trần Phúc An</a:t>
            </a:r>
          </a:p>
          <a:p>
            <a:r>
              <a:rPr lang="en-US">
                <a:solidFill>
                  <a:srgbClr val="FF0000"/>
                </a:solidFill>
              </a:rPr>
              <a:t>Nguyễn Đức Anh Phúc</a:t>
            </a:r>
          </a:p>
          <a:p>
            <a:r>
              <a:rPr lang="en-US"/>
              <a:t>Trịnh Thị Thanh Trúc</a:t>
            </a:r>
          </a:p>
          <a:p>
            <a:r>
              <a:rPr lang="en-US"/>
              <a:t>KS. Cao Bá Kiệt</a:t>
            </a:r>
          </a:p>
          <a:p>
            <a:endParaRPr lang="en-US">
              <a:solidFill>
                <a:srgbClr val="FF0000"/>
              </a:solidFill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686E-4114-4A0E-1FEE-7584196A67B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ThS. Nguyễn Hoàn Mỹ</a:t>
            </a:r>
          </a:p>
          <a:p>
            <a:r>
              <a:rPr lang="en-US">
                <a:solidFill>
                  <a:srgbClr val="FF0000"/>
                </a:solidFill>
              </a:rPr>
              <a:t>ThS. Dương Phi Long</a:t>
            </a:r>
          </a:p>
          <a:p>
            <a:r>
              <a:rPr lang="en-US"/>
              <a:t>ThS. Trương Quốc Dũng </a:t>
            </a:r>
          </a:p>
          <a:p>
            <a:r>
              <a:rPr lang="en-US">
                <a:solidFill>
                  <a:srgbClr val="FF0000"/>
                </a:solidFill>
              </a:rPr>
              <a:t>ThS. Nguyễn Thành Hiệp</a:t>
            </a:r>
          </a:p>
          <a:p>
            <a:r>
              <a:rPr lang="en-US"/>
              <a:t>ThS. Nguyễn Võ Đăng Khoa</a:t>
            </a:r>
          </a:p>
          <a:p>
            <a:r>
              <a:rPr lang="en-US">
                <a:solidFill>
                  <a:srgbClr val="FF0000"/>
                </a:solidFill>
              </a:rPr>
              <a:t>ThS. Võ Duy Nguyên</a:t>
            </a:r>
          </a:p>
          <a:p>
            <a:r>
              <a:rPr lang="en-US"/>
              <a:t>TS. Nguyễn Văn Tâm</a:t>
            </a:r>
          </a:p>
          <a:p>
            <a:r>
              <a:rPr lang="en-US">
                <a:solidFill>
                  <a:srgbClr val="FF0000"/>
                </a:solidFill>
              </a:rPr>
              <a:t>ThS. Trần Việt Thu Phương</a:t>
            </a:r>
          </a:p>
          <a:p>
            <a:r>
              <a:rPr lang="en-US"/>
              <a:t>TS. Nguyễn Tấn Trần Minh Khang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265234868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002190-C16E-4825-971C-62893E547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Đánh giá mô hình phân lớp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082D74-80DE-40B9-A0DA-3E0158423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Độ chính xác – Accuracy.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rgbClr val="FF0000"/>
                </a:solidFill>
              </a:rPr>
              <a:t>True/False Positive/Negative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Confusion Matrix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rgbClr val="FF0000"/>
                </a:solidFill>
              </a:rPr>
              <a:t>CAP (</a:t>
            </a:r>
            <a:r>
              <a:rPr lang="vi-VN">
                <a:solidFill>
                  <a:srgbClr val="FF0000"/>
                </a:solidFill>
              </a:rPr>
              <a:t>Cummulative accuracy profile</a:t>
            </a:r>
            <a:r>
              <a:rPr lang="en-US">
                <a:solidFill>
                  <a:srgbClr val="FF0000"/>
                </a:solidFill>
              </a:rPr>
              <a:t>) curve</a:t>
            </a: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6756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4C4635-F429-4CAF-B380-BE74F0A2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– Accuracy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911B39-BD22-4B84-AF59-277E8DF0E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301129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4C4635-F429-4CAF-B380-BE74F0A2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– Accuracy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E12BA1B-EB05-4632-835A-B0CAFBDE1C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sz="2800" dirty="0">
                    <a:solidFill>
                      <a:srgbClr val="0066FF"/>
                    </a:solidFill>
                  </a:rPr>
                  <a:t>Độ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chính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xác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mô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trên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en-US" sz="2800" dirty="0">
                    <a:solidFill>
                      <a:srgbClr val="0066FF"/>
                    </a:solidFill>
                  </a:rPr>
                  <a:t> đ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bằng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công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thức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ố 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ượ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ng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đ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ể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ữ 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li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ệ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ự đ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ch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nh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ổ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ng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ố 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ượ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ng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đ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ể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ữ 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li</m:t>
                          </m:r>
                          <m: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ệ</m:t>
                          </m:r>
                          <m:r>
                            <m:rPr>
                              <m:sty m:val="p"/>
                            </m:rPr>
                            <a:rPr lang="vi-V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den>
                      </m:f>
                    </m:oMath>
                  </m:oMathPara>
                </a14:m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Độ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xác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độ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thường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để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đánh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FF0000"/>
                    </a:solidFill>
                  </a:rPr>
                  <a:t>Độ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chính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xác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cao,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quả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E12BA1B-EB05-4632-835A-B0CAFBDE1C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715098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4C4635-F429-4CAF-B380-BE74F0A2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– Accuracy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E12BA1B-EB05-4632-835A-B0CAFBDE1C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sz="2800" dirty="0">
                    <a:solidFill>
                      <a:srgbClr val="0066FF"/>
                    </a:solidFill>
                  </a:rPr>
                  <a:t>Ví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en-US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en-US" sz="2800" dirty="0">
                    <a:solidFill>
                      <a:srgbClr val="FF0000"/>
                    </a:solidFill>
                  </a:rPr>
                  <a:t>Cho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mô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dự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đoán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trên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en-US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en-US" sz="2800" dirty="0">
                    <a:solidFill>
                      <a:srgbClr val="0066FF"/>
                    </a:solidFill>
                  </a:rPr>
                  <a:t>Mô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dự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đúng</a:t>
                </a:r>
                <a:r>
                  <a:rPr lang="en-US" sz="2800" dirty="0">
                    <a:solidFill>
                      <a:srgbClr val="0066FF"/>
                    </a:solidFill>
                  </a:rPr>
                  <a:t> 420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en-US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en-US" sz="2800" dirty="0" err="1">
                    <a:solidFill>
                      <a:srgbClr val="FF0000"/>
                    </a:solidFill>
                  </a:rPr>
                  <a:t>Độ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chính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xác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mô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trên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en-US" sz="2800" dirty="0">
                    <a:solidFill>
                      <a:srgbClr val="FF0000"/>
                    </a:solidFill>
                  </a:rPr>
                  <a:t>:</a:t>
                </a:r>
              </a:p>
              <a:p>
                <a:pPr marL="914400" lvl="2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sz="2800" b="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420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=0.84=84%</m:t>
                      </m:r>
                    </m:oMath>
                  </m:oMathPara>
                </a14:m>
                <a:endParaRPr lang="vi-VN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E12BA1B-EB05-4632-835A-B0CAFBDE1C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829915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4C4635-F429-4CAF-B380-BE74F0A2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– Accuracy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12BA1B-EB05-4632-835A-B0CAFBDE1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err="1">
                <a:solidFill>
                  <a:srgbClr val="0066FF"/>
                </a:solidFill>
              </a:rPr>
              <a:t>Nghịch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lý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của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độ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chính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xác</a:t>
            </a:r>
            <a:r>
              <a:rPr lang="en-US" sz="2800" dirty="0">
                <a:solidFill>
                  <a:srgbClr val="0066FF"/>
                </a:solidFill>
              </a:rPr>
              <a:t> (</a:t>
            </a:r>
            <a:r>
              <a:rPr lang="en-US" sz="2800" i="1" dirty="0">
                <a:solidFill>
                  <a:srgbClr val="0066FF"/>
                </a:solidFill>
              </a:rPr>
              <a:t>Accuracy Paradox</a:t>
            </a:r>
            <a:r>
              <a:rPr lang="en-US" sz="2800" dirty="0">
                <a:solidFill>
                  <a:srgbClr val="0066FF"/>
                </a:solidFill>
              </a:rPr>
              <a:t>):</a:t>
            </a:r>
          </a:p>
          <a:p>
            <a:pPr lvl="1" algn="just"/>
            <a:r>
              <a:rPr lang="en-US" sz="2800" dirty="0" err="1">
                <a:solidFill>
                  <a:srgbClr val="FF0000"/>
                </a:solidFill>
              </a:rPr>
              <a:t>Đối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với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các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bài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toán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phân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loại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mà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số</a:t>
            </a:r>
            <a:r>
              <a:rPr lang="en-US" sz="2800" dirty="0">
                <a:solidFill>
                  <a:srgbClr val="FF0000"/>
                </a:solidFill>
              </a:rPr>
              <a:t> l</a:t>
            </a:r>
            <a:r>
              <a:rPr lang="vi-VN" sz="2800" dirty="0" err="1">
                <a:solidFill>
                  <a:srgbClr val="FF0000"/>
                </a:solidFill>
              </a:rPr>
              <a:t>ượng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điểm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lớp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mất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cân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bằng</a:t>
            </a:r>
            <a:r>
              <a:rPr lang="vi-VN" sz="2800" dirty="0">
                <a:solidFill>
                  <a:srgbClr val="FF0000"/>
                </a:solidFill>
              </a:rPr>
              <a:t>, </a:t>
            </a:r>
            <a:r>
              <a:rPr lang="vi-VN" sz="2800" dirty="0" err="1">
                <a:solidFill>
                  <a:srgbClr val="FF0000"/>
                </a:solidFill>
              </a:rPr>
              <a:t>độ</a:t>
            </a:r>
            <a:r>
              <a:rPr lang="vi-VN" sz="2800" dirty="0">
                <a:solidFill>
                  <a:srgbClr val="FF0000"/>
                </a:solidFill>
              </a:rPr>
              <a:t> đo </a:t>
            </a:r>
            <a:r>
              <a:rPr lang="vi-VN" sz="2800" dirty="0" err="1">
                <a:solidFill>
                  <a:srgbClr val="FF0000"/>
                </a:solidFill>
              </a:rPr>
              <a:t>chính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xác</a:t>
            </a:r>
            <a:r>
              <a:rPr lang="vi-VN" sz="2800" dirty="0">
                <a:solidFill>
                  <a:srgbClr val="FF0000"/>
                </a:solidFill>
              </a:rPr>
              <a:t> không </a:t>
            </a:r>
            <a:r>
              <a:rPr lang="vi-VN" sz="2800" dirty="0" err="1">
                <a:solidFill>
                  <a:srgbClr val="FF0000"/>
                </a:solidFill>
              </a:rPr>
              <a:t>còn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quả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để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đánh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giá</a:t>
            </a:r>
            <a:r>
              <a:rPr lang="vi-VN" sz="2800" dirty="0">
                <a:solidFill>
                  <a:srgbClr val="FF0000"/>
                </a:solidFill>
              </a:rPr>
              <a:t> mô </a:t>
            </a:r>
            <a:r>
              <a:rPr lang="vi-VN" sz="2800" dirty="0" err="1">
                <a:solidFill>
                  <a:srgbClr val="FF0000"/>
                </a:solidFill>
              </a:rPr>
              <a:t>hình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nữa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>
                <a:solidFill>
                  <a:srgbClr val="0066FF"/>
                </a:solidFill>
              </a:rPr>
              <a:t>Nguyên nhân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nếu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ta 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luôn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dự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đoán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ra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lớp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mà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có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số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lượng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điểm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dữ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liệu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lớn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nhất</a:t>
            </a:r>
            <a:r>
              <a:rPr lang="vi-VN" sz="2800" dirty="0">
                <a:solidFill>
                  <a:srgbClr val="0066FF"/>
                </a:solidFill>
              </a:rPr>
              <a:t>, </a:t>
            </a:r>
            <a:r>
              <a:rPr lang="vi-VN" sz="2800" dirty="0" err="1">
                <a:solidFill>
                  <a:srgbClr val="0066FF"/>
                </a:solidFill>
              </a:rPr>
              <a:t>thì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độ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chính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xác</a:t>
            </a:r>
            <a:r>
              <a:rPr lang="vi-VN" sz="2800" dirty="0">
                <a:solidFill>
                  <a:srgbClr val="0066FF"/>
                </a:solidFill>
              </a:rPr>
              <a:t> luôn </a:t>
            </a:r>
            <a:r>
              <a:rPr lang="vi-VN" sz="2800" dirty="0" err="1">
                <a:solidFill>
                  <a:srgbClr val="0066FF"/>
                </a:solidFill>
              </a:rPr>
              <a:t>luôn</a:t>
            </a:r>
            <a:r>
              <a:rPr lang="vi-VN" sz="2800" dirty="0">
                <a:solidFill>
                  <a:srgbClr val="0066FF"/>
                </a:solidFill>
              </a:rPr>
              <a:t> ở </a:t>
            </a:r>
            <a:r>
              <a:rPr lang="vi-VN" sz="2800" dirty="0" err="1">
                <a:solidFill>
                  <a:srgbClr val="0066FF"/>
                </a:solidFill>
              </a:rPr>
              <a:t>mức</a:t>
            </a:r>
            <a:r>
              <a:rPr lang="vi-VN" sz="2800" dirty="0">
                <a:solidFill>
                  <a:srgbClr val="0066FF"/>
                </a:solidFill>
              </a:rPr>
              <a:t> cao.</a:t>
            </a:r>
          </a:p>
        </p:txBody>
      </p:sp>
    </p:spTree>
    <p:extLst>
      <p:ext uri="{BB962C8B-B14F-4D97-AF65-F5344CB8AC3E}">
        <p14:creationId xmlns:p14="http://schemas.microsoft.com/office/powerpoint/2010/main" val="36452609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4C4635-F429-4CAF-B380-BE74F0A2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– Accuracy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E12BA1B-EB05-4632-835A-B0CAFBDE1C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Cho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dưới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lòng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đất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>
                    <a:solidFill>
                      <a:srgbClr val="0066FF"/>
                    </a:solidFill>
                  </a:rPr>
                  <a:t>Ta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1,000,000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tuy nhiên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chỉ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khoảng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10,000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chứa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boom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Nếu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luôn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dự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đoán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là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không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có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thì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độ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chính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xác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lên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đến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99%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Do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độ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xác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không luôn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luôn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đúng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E12BA1B-EB05-4632-835A-B0CAFBDE1C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284403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4C4635-F429-4CAF-B380-BE74F0A2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True</a:t>
            </a:r>
            <a:r>
              <a:rPr lang="vi-VN" dirty="0"/>
              <a:t>/</a:t>
            </a:r>
            <a:r>
              <a:rPr lang="vi-VN" dirty="0" err="1"/>
              <a:t>False</a:t>
            </a:r>
            <a:r>
              <a:rPr lang="vi-VN" dirty="0"/>
              <a:t> </a:t>
            </a:r>
            <a:r>
              <a:rPr lang="vi-VN" dirty="0" err="1"/>
              <a:t>Positive</a:t>
            </a:r>
            <a:r>
              <a:rPr lang="vi-VN" dirty="0"/>
              <a:t>/</a:t>
            </a:r>
            <a:r>
              <a:rPr lang="vi-VN" dirty="0" err="1"/>
              <a:t>Negative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911B39-BD22-4B84-AF59-277E8DF0E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1763393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4C4635-F429-4CAF-B380-BE74F0A2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True</a:t>
            </a:r>
            <a:r>
              <a:rPr lang="vi-VN" dirty="0"/>
              <a:t>/</a:t>
            </a:r>
            <a:r>
              <a:rPr lang="vi-VN" dirty="0" err="1"/>
              <a:t>False</a:t>
            </a:r>
            <a:r>
              <a:rPr lang="vi-VN" dirty="0"/>
              <a:t> </a:t>
            </a:r>
            <a:r>
              <a:rPr lang="vi-VN" dirty="0" err="1"/>
              <a:t>Positive</a:t>
            </a:r>
            <a:r>
              <a:rPr lang="vi-VN" dirty="0"/>
              <a:t>/</a:t>
            </a:r>
            <a:r>
              <a:rPr lang="vi-VN" dirty="0" err="1"/>
              <a:t>Negative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5A7380-BD44-46F5-BE97-D784927B9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Trong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bài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toán</a:t>
            </a:r>
            <a:r>
              <a:rPr lang="vi-VN" sz="2800" dirty="0">
                <a:solidFill>
                  <a:srgbClr val="0066FF"/>
                </a:solidFill>
              </a:rPr>
              <a:t> phân </a:t>
            </a:r>
            <a:r>
              <a:rPr lang="vi-VN" sz="2800" dirty="0" err="1">
                <a:solidFill>
                  <a:srgbClr val="0066FF"/>
                </a:solidFill>
              </a:rPr>
              <a:t>loại</a:t>
            </a:r>
            <a:r>
              <a:rPr lang="vi-VN" sz="2800" dirty="0">
                <a:solidFill>
                  <a:srgbClr val="0066FF"/>
                </a:solidFill>
              </a:rPr>
              <a:t>, ta </a:t>
            </a:r>
            <a:r>
              <a:rPr lang="vi-VN" sz="2800" dirty="0" err="1">
                <a:solidFill>
                  <a:srgbClr val="0066FF"/>
                </a:solidFill>
              </a:rPr>
              <a:t>thường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gặp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những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bài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toán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Ta </a:t>
            </a:r>
            <a:r>
              <a:rPr lang="vi-VN" sz="2800" dirty="0" err="1">
                <a:solidFill>
                  <a:srgbClr val="FF0000"/>
                </a:solidFill>
              </a:rPr>
              <a:t>cần</a:t>
            </a:r>
            <a:r>
              <a:rPr lang="vi-VN" sz="2800" dirty="0">
                <a:solidFill>
                  <a:srgbClr val="FF0000"/>
                </a:solidFill>
              </a:rPr>
              <a:t> quan tâm </a:t>
            </a:r>
            <a:r>
              <a:rPr lang="vi-VN" sz="2800" dirty="0" err="1">
                <a:solidFill>
                  <a:srgbClr val="FF0000"/>
                </a:solidFill>
              </a:rPr>
              <a:t>đánh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giá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lớp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nào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đó</a:t>
            </a:r>
            <a:r>
              <a:rPr lang="vi-VN" sz="2800" dirty="0">
                <a:solidFill>
                  <a:srgbClr val="FF0000"/>
                </a:solidFill>
              </a:rPr>
              <a:t> hơn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lớp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còn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lại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Số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lượng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trong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lớp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bị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mất</a:t>
            </a:r>
            <a:r>
              <a:rPr lang="vi-VN" sz="2800" dirty="0">
                <a:solidFill>
                  <a:srgbClr val="0066FF"/>
                </a:solidFill>
              </a:rPr>
              <a:t> cân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 dirty="0">
                <a:solidFill>
                  <a:srgbClr val="FF0000"/>
                </a:solidFill>
              </a:rPr>
              <a:t>Ta </a:t>
            </a:r>
            <a:r>
              <a:rPr lang="vi-VN" sz="2800" dirty="0" err="1">
                <a:solidFill>
                  <a:srgbClr val="FF0000"/>
                </a:solidFill>
              </a:rPr>
              <a:t>thường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áp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dụng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khái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niệm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i="1" dirty="0" err="1">
                <a:solidFill>
                  <a:srgbClr val="FF0000"/>
                </a:solidFill>
              </a:rPr>
              <a:t>True</a:t>
            </a:r>
            <a:r>
              <a:rPr lang="vi-VN" sz="2800" i="1" dirty="0">
                <a:solidFill>
                  <a:srgbClr val="FF0000"/>
                </a:solidFill>
              </a:rPr>
              <a:t>/</a:t>
            </a:r>
            <a:r>
              <a:rPr lang="vi-VN" sz="2800" i="1" dirty="0" err="1">
                <a:solidFill>
                  <a:srgbClr val="FF0000"/>
                </a:solidFill>
              </a:rPr>
              <a:t>False</a:t>
            </a:r>
            <a:r>
              <a:rPr lang="vi-VN" sz="2800" i="1" dirty="0">
                <a:solidFill>
                  <a:srgbClr val="FF0000"/>
                </a:solidFill>
              </a:rPr>
              <a:t> </a:t>
            </a:r>
            <a:r>
              <a:rPr lang="vi-VN" sz="2800" i="1" dirty="0" err="1">
                <a:solidFill>
                  <a:srgbClr val="FF0000"/>
                </a:solidFill>
              </a:rPr>
              <a:t>Positive</a:t>
            </a:r>
            <a:r>
              <a:rPr lang="vi-VN" sz="2800" i="1" dirty="0">
                <a:solidFill>
                  <a:srgbClr val="FF0000"/>
                </a:solidFill>
              </a:rPr>
              <a:t>/</a:t>
            </a:r>
            <a:r>
              <a:rPr lang="vi-VN" sz="2800" i="1" dirty="0" err="1">
                <a:solidFill>
                  <a:srgbClr val="FF0000"/>
                </a:solidFill>
              </a:rPr>
              <a:t>Negative</a:t>
            </a:r>
            <a:r>
              <a:rPr lang="vi-VN" sz="2800" i="1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để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đánh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giá</a:t>
            </a:r>
            <a:r>
              <a:rPr lang="vi-VN" sz="2800" dirty="0">
                <a:solidFill>
                  <a:srgbClr val="FF0000"/>
                </a:solidFill>
              </a:rPr>
              <a:t> mô </a:t>
            </a:r>
            <a:r>
              <a:rPr lang="vi-VN" sz="2800" dirty="0" err="1">
                <a:solidFill>
                  <a:srgbClr val="FF0000"/>
                </a:solidFill>
              </a:rPr>
              <a:t>hình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bài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toán</a:t>
            </a:r>
            <a:r>
              <a:rPr lang="vi-VN" sz="2800" dirty="0">
                <a:solidFill>
                  <a:srgbClr val="FF0000"/>
                </a:solidFill>
              </a:rPr>
              <a:t> trên.</a:t>
            </a:r>
          </a:p>
        </p:txBody>
      </p:sp>
    </p:spTree>
    <p:extLst>
      <p:ext uri="{BB962C8B-B14F-4D97-AF65-F5344CB8AC3E}">
        <p14:creationId xmlns:p14="http://schemas.microsoft.com/office/powerpoint/2010/main" val="284664697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30AA-64FC-43AD-9BB9-2B5301FD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True</a:t>
            </a:r>
            <a:r>
              <a:rPr lang="vi-VN" dirty="0"/>
              <a:t>/</a:t>
            </a:r>
            <a:r>
              <a:rPr lang="vi-VN" dirty="0" err="1"/>
              <a:t>False</a:t>
            </a:r>
            <a:r>
              <a:rPr lang="vi-VN" dirty="0"/>
              <a:t> </a:t>
            </a:r>
            <a:r>
              <a:rPr lang="vi-VN" dirty="0" err="1"/>
              <a:t>Positive</a:t>
            </a:r>
            <a:r>
              <a:rPr lang="vi-VN" dirty="0"/>
              <a:t>/</a:t>
            </a:r>
            <a:r>
              <a:rPr lang="vi-VN" dirty="0" err="1"/>
              <a:t>Negative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BCE7F-A920-4B19-94DC-B55D7EEE4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Ví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dụ</a:t>
            </a:r>
            <a:r>
              <a:rPr lang="vi-VN" sz="2800" dirty="0">
                <a:solidFill>
                  <a:srgbClr val="0066FF"/>
                </a:solidFill>
              </a:rPr>
              <a:t> 01: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Cho </a:t>
            </a:r>
            <a:r>
              <a:rPr lang="vi-VN" sz="2800" dirty="0" err="1">
                <a:solidFill>
                  <a:srgbClr val="FF0000"/>
                </a:solidFill>
              </a:rPr>
              <a:t>bài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toán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xác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định</a:t>
            </a:r>
            <a:r>
              <a:rPr lang="vi-VN" sz="2800" dirty="0">
                <a:solidFill>
                  <a:srgbClr val="FF0000"/>
                </a:solidFill>
              </a:rPr>
              <a:t> khu </a:t>
            </a:r>
            <a:r>
              <a:rPr lang="vi-VN" sz="2800" dirty="0" err="1">
                <a:solidFill>
                  <a:srgbClr val="FF0000"/>
                </a:solidFill>
              </a:rPr>
              <a:t>vực</a:t>
            </a:r>
            <a:r>
              <a:rPr lang="vi-VN" sz="2800" dirty="0">
                <a:solidFill>
                  <a:srgbClr val="FF0000"/>
                </a:solidFill>
              </a:rPr>
              <a:t> đang </a:t>
            </a:r>
            <a:r>
              <a:rPr lang="vi-VN" sz="2800" dirty="0" err="1">
                <a:solidFill>
                  <a:srgbClr val="FF0000"/>
                </a:solidFill>
              </a:rPr>
              <a:t>chọn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boom</a:t>
            </a:r>
            <a:r>
              <a:rPr lang="vi-VN" sz="2800" dirty="0">
                <a:solidFill>
                  <a:srgbClr val="FF0000"/>
                </a:solidFill>
              </a:rPr>
              <a:t> hay không. 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Việc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bỏ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sót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khu </a:t>
            </a:r>
            <a:r>
              <a:rPr lang="vi-VN" sz="2800" dirty="0" err="1">
                <a:solidFill>
                  <a:srgbClr val="0066FF"/>
                </a:solidFill>
              </a:rPr>
              <a:t>vực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boom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được</a:t>
            </a:r>
            <a:r>
              <a:rPr lang="vi-VN" sz="2800" dirty="0">
                <a:solidFill>
                  <a:srgbClr val="0066FF"/>
                </a:solidFill>
              </a:rPr>
              <a:t> xem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nghiêm </a:t>
            </a:r>
            <a:r>
              <a:rPr lang="vi-VN" sz="2800" dirty="0" err="1">
                <a:solidFill>
                  <a:srgbClr val="0066FF"/>
                </a:solidFill>
              </a:rPr>
              <a:t>trọng</a:t>
            </a:r>
            <a:r>
              <a:rPr lang="vi-VN" sz="2800" dirty="0">
                <a:solidFill>
                  <a:srgbClr val="0066FF"/>
                </a:solidFill>
              </a:rPr>
              <a:t> hơn </a:t>
            </a:r>
            <a:r>
              <a:rPr lang="vi-VN" sz="2800" dirty="0" err="1">
                <a:solidFill>
                  <a:srgbClr val="0066FF"/>
                </a:solidFill>
              </a:rPr>
              <a:t>xác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định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nhầm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rất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nhiều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</a:rPr>
              <a:t>Đồng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thời</a:t>
            </a:r>
            <a:r>
              <a:rPr lang="vi-VN" sz="2800" dirty="0">
                <a:solidFill>
                  <a:srgbClr val="FF0000"/>
                </a:solidFill>
              </a:rPr>
              <a:t>,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những</a:t>
            </a:r>
            <a:r>
              <a:rPr lang="vi-VN" sz="2800" dirty="0">
                <a:solidFill>
                  <a:srgbClr val="FF0000"/>
                </a:solidFill>
              </a:rPr>
              <a:t> khu </a:t>
            </a:r>
            <a:r>
              <a:rPr lang="vi-VN" sz="2800" dirty="0" err="1">
                <a:solidFill>
                  <a:srgbClr val="FF0000"/>
                </a:solidFill>
              </a:rPr>
              <a:t>vực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boom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cũng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thường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khó</a:t>
            </a:r>
            <a:r>
              <a:rPr lang="vi-VN" sz="2800" dirty="0">
                <a:solidFill>
                  <a:srgbClr val="FF0000"/>
                </a:solidFill>
              </a:rPr>
              <a:t> thu </a:t>
            </a:r>
            <a:r>
              <a:rPr lang="vi-VN" sz="2800" dirty="0" err="1">
                <a:solidFill>
                  <a:srgbClr val="FF0000"/>
                </a:solidFill>
              </a:rPr>
              <a:t>thập</a:t>
            </a:r>
            <a:r>
              <a:rPr lang="vi-VN" sz="2800" dirty="0">
                <a:solidFill>
                  <a:srgbClr val="FF0000"/>
                </a:solidFill>
              </a:rPr>
              <a:t> hơn so </a:t>
            </a:r>
            <a:r>
              <a:rPr lang="vi-VN" sz="2800" dirty="0" err="1">
                <a:solidFill>
                  <a:srgbClr val="FF0000"/>
                </a:solidFill>
              </a:rPr>
              <a:t>với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những</a:t>
            </a:r>
            <a:r>
              <a:rPr lang="vi-VN" sz="2800" dirty="0">
                <a:solidFill>
                  <a:srgbClr val="FF0000"/>
                </a:solidFill>
              </a:rPr>
              <a:t> khu </a:t>
            </a:r>
            <a:r>
              <a:rPr lang="vi-VN" sz="2800" dirty="0" err="1">
                <a:solidFill>
                  <a:srgbClr val="FF0000"/>
                </a:solidFill>
              </a:rPr>
              <a:t>vực</a:t>
            </a:r>
            <a:r>
              <a:rPr lang="vi-VN" sz="2800" dirty="0">
                <a:solidFill>
                  <a:srgbClr val="FF0000"/>
                </a:solidFill>
              </a:rPr>
              <a:t> không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boom</a:t>
            </a:r>
            <a:r>
              <a:rPr lang="vi-VN" sz="2800" dirty="0">
                <a:solidFill>
                  <a:srgbClr val="FF0000"/>
                </a:solidFill>
              </a:rPr>
              <a:t>. Nên </a:t>
            </a:r>
            <a:r>
              <a:rPr lang="vi-VN" sz="2800" dirty="0" err="1">
                <a:solidFill>
                  <a:srgbClr val="FF0000"/>
                </a:solidFill>
              </a:rPr>
              <a:t>số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lượng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điểm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boom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thường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ít</a:t>
            </a:r>
            <a:r>
              <a:rPr lang="vi-VN" sz="2800" dirty="0">
                <a:solidFill>
                  <a:srgbClr val="FF0000"/>
                </a:solidFill>
              </a:rPr>
              <a:t> hơn không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boom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rất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nhiều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452962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30AA-64FC-43AD-9BB9-2B5301FD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True</a:t>
            </a:r>
            <a:r>
              <a:rPr lang="vi-VN" dirty="0"/>
              <a:t>/</a:t>
            </a:r>
            <a:r>
              <a:rPr lang="vi-VN" dirty="0" err="1"/>
              <a:t>False</a:t>
            </a:r>
            <a:r>
              <a:rPr lang="vi-VN" dirty="0"/>
              <a:t> </a:t>
            </a:r>
            <a:r>
              <a:rPr lang="vi-VN" dirty="0" err="1"/>
              <a:t>Positive</a:t>
            </a:r>
            <a:r>
              <a:rPr lang="vi-VN" dirty="0"/>
              <a:t>/</a:t>
            </a:r>
            <a:r>
              <a:rPr lang="vi-VN" dirty="0" err="1"/>
              <a:t>Negative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BCE7F-A920-4B19-94DC-B55D7EEE4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Ví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dụ</a:t>
            </a:r>
            <a:r>
              <a:rPr lang="vi-VN" sz="2800" dirty="0">
                <a:solidFill>
                  <a:srgbClr val="0066FF"/>
                </a:solidFill>
              </a:rPr>
              <a:t> 02: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Cho </a:t>
            </a:r>
            <a:r>
              <a:rPr lang="vi-VN" sz="2800" dirty="0" err="1">
                <a:solidFill>
                  <a:srgbClr val="FF0000"/>
                </a:solidFill>
              </a:rPr>
              <a:t>bài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toán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xác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định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email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phải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email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rác</a:t>
            </a:r>
            <a:r>
              <a:rPr lang="vi-VN" sz="2800" dirty="0">
                <a:solidFill>
                  <a:srgbClr val="FF0000"/>
                </a:solidFill>
              </a:rPr>
              <a:t> hay không?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Việc</a:t>
            </a:r>
            <a:r>
              <a:rPr lang="vi-VN" sz="2800" dirty="0">
                <a:solidFill>
                  <a:srgbClr val="0066FF"/>
                </a:solidFill>
              </a:rPr>
              <a:t> cho </a:t>
            </a:r>
            <a:r>
              <a:rPr lang="vi-VN" sz="2800" dirty="0" err="1">
                <a:solidFill>
                  <a:srgbClr val="0066FF"/>
                </a:solidFill>
              </a:rPr>
              <a:t>nhầm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email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vào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thùng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rác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nghiệm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trọng</a:t>
            </a:r>
            <a:r>
              <a:rPr lang="vi-VN" sz="2800" dirty="0">
                <a:solidFill>
                  <a:srgbClr val="0066FF"/>
                </a:solidFill>
              </a:rPr>
              <a:t> hơn </a:t>
            </a:r>
            <a:r>
              <a:rPr lang="vi-VN" sz="2800" dirty="0" err="1">
                <a:solidFill>
                  <a:srgbClr val="0066FF"/>
                </a:solidFill>
              </a:rPr>
              <a:t>việc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xác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định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email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rác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email</a:t>
            </a:r>
            <a:r>
              <a:rPr lang="vi-VN" sz="2800" dirty="0">
                <a:solidFill>
                  <a:srgbClr val="0066FF"/>
                </a:solidFill>
              </a:rPr>
              <a:t> thông </a:t>
            </a:r>
            <a:r>
              <a:rPr lang="vi-VN" sz="2800" dirty="0" err="1">
                <a:solidFill>
                  <a:srgbClr val="0066FF"/>
                </a:solidFill>
              </a:rPr>
              <a:t>thường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email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rác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cũng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khó</a:t>
            </a:r>
            <a:r>
              <a:rPr lang="vi-VN" sz="2800" dirty="0">
                <a:solidFill>
                  <a:srgbClr val="FF0000"/>
                </a:solidFill>
              </a:rPr>
              <a:t> thu </a:t>
            </a:r>
            <a:r>
              <a:rPr lang="vi-VN" sz="2800" dirty="0" err="1">
                <a:solidFill>
                  <a:srgbClr val="FF0000"/>
                </a:solidFill>
              </a:rPr>
              <a:t>thập</a:t>
            </a:r>
            <a:r>
              <a:rPr lang="vi-VN" sz="2800" dirty="0">
                <a:solidFill>
                  <a:srgbClr val="FF0000"/>
                </a:solidFill>
              </a:rPr>
              <a:t> hơn </a:t>
            </a:r>
            <a:r>
              <a:rPr lang="vi-VN" sz="2800" dirty="0" err="1">
                <a:solidFill>
                  <a:srgbClr val="FF0000"/>
                </a:solidFill>
              </a:rPr>
              <a:t>email</a:t>
            </a:r>
            <a:r>
              <a:rPr lang="vi-VN" sz="2800" dirty="0">
                <a:solidFill>
                  <a:srgbClr val="FF0000"/>
                </a:solidFill>
              </a:rPr>
              <a:t> thông </a:t>
            </a:r>
            <a:r>
              <a:rPr lang="vi-VN" sz="2800" dirty="0" err="1">
                <a:solidFill>
                  <a:srgbClr val="FF0000"/>
                </a:solidFill>
              </a:rPr>
              <a:t>thường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873999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8BB1-BF17-4B61-9FD0-B477DFC4D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True</a:t>
            </a:r>
            <a:r>
              <a:rPr lang="vi-VN" dirty="0"/>
              <a:t>/</a:t>
            </a:r>
            <a:r>
              <a:rPr lang="vi-VN" dirty="0" err="1"/>
              <a:t>False</a:t>
            </a:r>
            <a:r>
              <a:rPr lang="vi-VN" dirty="0"/>
              <a:t> </a:t>
            </a:r>
            <a:r>
              <a:rPr lang="vi-VN" dirty="0" err="1"/>
              <a:t>Positive</a:t>
            </a:r>
            <a:r>
              <a:rPr lang="vi-VN" dirty="0"/>
              <a:t>/</a:t>
            </a:r>
            <a:r>
              <a:rPr lang="vi-VN" dirty="0" err="1"/>
              <a:t>Negative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B7ED0-F64D-4CBE-9E59-12BDA705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Đối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với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bài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toán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 ta xem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lớp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trọng</a:t>
            </a:r>
            <a:r>
              <a:rPr lang="vi-VN" sz="2800" dirty="0">
                <a:solidFill>
                  <a:srgbClr val="0066FF"/>
                </a:solidFill>
              </a:rPr>
              <a:t> hơn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lớp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còn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lại</a:t>
            </a:r>
            <a:r>
              <a:rPr lang="vi-VN" sz="2800" dirty="0">
                <a:solidFill>
                  <a:srgbClr val="0066FF"/>
                </a:solidFill>
              </a:rPr>
              <a:t>. Ta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thể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Xem </a:t>
            </a:r>
            <a:r>
              <a:rPr lang="vi-VN" sz="2800" dirty="0" err="1">
                <a:solidFill>
                  <a:srgbClr val="FF0000"/>
                </a:solidFill>
              </a:rPr>
              <a:t>lớp</a:t>
            </a:r>
            <a:r>
              <a:rPr lang="vi-VN" sz="2800" dirty="0">
                <a:solidFill>
                  <a:srgbClr val="FF0000"/>
                </a:solidFill>
              </a:rPr>
              <a:t> quan </a:t>
            </a:r>
            <a:r>
              <a:rPr lang="vi-VN" sz="2800" dirty="0" err="1">
                <a:solidFill>
                  <a:srgbClr val="FF0000"/>
                </a:solidFill>
              </a:rPr>
              <a:t>trọng</a:t>
            </a:r>
            <a:r>
              <a:rPr lang="vi-VN" sz="2800" dirty="0">
                <a:solidFill>
                  <a:srgbClr val="FF0000"/>
                </a:solidFill>
              </a:rPr>
              <a:t> hơn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i="1" dirty="0" err="1">
                <a:solidFill>
                  <a:srgbClr val="FF0000"/>
                </a:solidFill>
              </a:rPr>
              <a:t>Positive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lớp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còn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lại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gộp</a:t>
            </a:r>
            <a:r>
              <a:rPr lang="vi-VN" sz="2800" dirty="0">
                <a:solidFill>
                  <a:srgbClr val="0066FF"/>
                </a:solidFill>
              </a:rPr>
              <a:t> chung </a:t>
            </a:r>
            <a:r>
              <a:rPr lang="vi-VN" sz="2800" dirty="0" err="1">
                <a:solidFill>
                  <a:srgbClr val="0066FF"/>
                </a:solidFill>
              </a:rPr>
              <a:t>thành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Negative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 dirty="0" err="1">
                <a:solidFill>
                  <a:srgbClr val="FF0000"/>
                </a:solidFill>
              </a:rPr>
              <a:t>Từ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đó</a:t>
            </a:r>
            <a:r>
              <a:rPr lang="vi-VN" sz="2800" dirty="0">
                <a:solidFill>
                  <a:srgbClr val="FF0000"/>
                </a:solidFill>
              </a:rPr>
              <a:t> ta </a:t>
            </a:r>
            <a:r>
              <a:rPr lang="vi-VN" sz="2800" dirty="0" err="1">
                <a:solidFill>
                  <a:srgbClr val="FF0000"/>
                </a:solidFill>
              </a:rPr>
              <a:t>định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nghĩa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thuật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ngữ</a:t>
            </a:r>
            <a:r>
              <a:rPr lang="vi-VN" sz="2800" dirty="0">
                <a:solidFill>
                  <a:srgbClr val="FF0000"/>
                </a:solidFill>
              </a:rPr>
              <a:t> sau: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E4D393-4A09-4672-863E-E943057DF04C}"/>
              </a:ext>
            </a:extLst>
          </p:cNvPr>
          <p:cNvGraphicFramePr>
            <a:graphicFrameLocks noGrp="1"/>
          </p:cNvGraphicFramePr>
          <p:nvPr/>
        </p:nvGraphicFramePr>
        <p:xfrm>
          <a:off x="865029" y="4038600"/>
          <a:ext cx="10461942" cy="1981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05542">
                  <a:extLst>
                    <a:ext uri="{9D8B030D-6E8A-4147-A177-3AD203B41FA5}">
                      <a16:colId xmlns:a16="http://schemas.microsoft.com/office/drawing/2014/main" val="3139554479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2280819581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3764695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vi-VN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Dự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đoán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là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Positive</a:t>
                      </a:r>
                      <a:endParaRPr lang="vi-V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Dự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đoán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là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Negative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547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Thực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sự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là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Positive</a:t>
                      </a:r>
                      <a:endParaRPr lang="vi-VN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>
                          <a:highlight>
                            <a:srgbClr val="FFFF00"/>
                          </a:highlight>
                        </a:rPr>
                        <a:t>True</a:t>
                      </a:r>
                      <a:r>
                        <a:rPr lang="vi-VN" sz="28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vi-VN" sz="2800" dirty="0" err="1">
                          <a:highlight>
                            <a:srgbClr val="FFFF00"/>
                          </a:highlight>
                        </a:rPr>
                        <a:t>Positive</a:t>
                      </a:r>
                      <a:endParaRPr lang="vi-VN" sz="280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>
                          <a:highlight>
                            <a:srgbClr val="FFFF00"/>
                          </a:highlight>
                        </a:rPr>
                        <a:t>False</a:t>
                      </a:r>
                      <a:r>
                        <a:rPr lang="vi-VN" sz="28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vi-VN" sz="2800" dirty="0" err="1">
                          <a:highlight>
                            <a:srgbClr val="FFFF00"/>
                          </a:highlight>
                        </a:rPr>
                        <a:t>Negative</a:t>
                      </a:r>
                      <a:endParaRPr lang="vi-VN" sz="280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295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Thực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sự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là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Negative</a:t>
                      </a:r>
                      <a:endParaRPr lang="vi-VN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>
                          <a:highlight>
                            <a:srgbClr val="FFFF00"/>
                          </a:highlight>
                        </a:rPr>
                        <a:t>False</a:t>
                      </a:r>
                      <a:r>
                        <a:rPr lang="vi-VN" sz="28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vi-VN" sz="2800" dirty="0" err="1">
                          <a:highlight>
                            <a:srgbClr val="FFFF00"/>
                          </a:highlight>
                        </a:rPr>
                        <a:t>Positive</a:t>
                      </a:r>
                      <a:endParaRPr lang="vi-VN" sz="280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>
                          <a:highlight>
                            <a:srgbClr val="FFFF00"/>
                          </a:highlight>
                        </a:rPr>
                        <a:t>True</a:t>
                      </a:r>
                      <a:r>
                        <a:rPr lang="vi-VN" sz="28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vi-VN" sz="2800" dirty="0" err="1">
                          <a:highlight>
                            <a:srgbClr val="FFFF00"/>
                          </a:highlight>
                        </a:rPr>
                        <a:t>Negative</a:t>
                      </a:r>
                      <a:endParaRPr lang="vi-VN" sz="280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394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21998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True</a:t>
            </a:r>
            <a:r>
              <a:rPr lang="vi-VN" dirty="0"/>
              <a:t>/</a:t>
            </a:r>
            <a:r>
              <a:rPr lang="vi-VN" dirty="0" err="1"/>
              <a:t>False</a:t>
            </a:r>
            <a:r>
              <a:rPr lang="vi-VN" dirty="0"/>
              <a:t> </a:t>
            </a:r>
            <a:r>
              <a:rPr lang="vi-VN" dirty="0" err="1"/>
              <a:t>Positive</a:t>
            </a:r>
            <a:r>
              <a:rPr lang="vi-VN" dirty="0"/>
              <a:t>/</a:t>
            </a:r>
            <a:r>
              <a:rPr lang="vi-VN" dirty="0" err="1"/>
              <a:t>Negative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D3041-FACE-48BF-96D1-90B417B18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Ví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dụ</a:t>
            </a:r>
            <a:r>
              <a:rPr lang="vi-VN" sz="2800" dirty="0">
                <a:solidFill>
                  <a:srgbClr val="0066FF"/>
                </a:solidFill>
              </a:rPr>
              <a:t> 01: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Trong </a:t>
            </a:r>
            <a:r>
              <a:rPr lang="vi-VN" sz="2800" dirty="0" err="1">
                <a:solidFill>
                  <a:srgbClr val="FF0000"/>
                </a:solidFill>
              </a:rPr>
              <a:t>bài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toán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xác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định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boom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dưới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lòng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đất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Nếu</a:t>
            </a:r>
            <a:r>
              <a:rPr lang="vi-VN" sz="2800" dirty="0">
                <a:solidFill>
                  <a:srgbClr val="0066FF"/>
                </a:solidFill>
              </a:rPr>
              <a:t> ta </a:t>
            </a:r>
            <a:r>
              <a:rPr lang="vi-VN" sz="2800" dirty="0" err="1">
                <a:solidFill>
                  <a:srgbClr val="0066FF"/>
                </a:solidFill>
              </a:rPr>
              <a:t>chọn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lớp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boom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Positive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thì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086E95-2574-4189-AE23-46AAF861293A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276600"/>
          <a:ext cx="10461942" cy="2407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05542">
                  <a:extLst>
                    <a:ext uri="{9D8B030D-6E8A-4147-A177-3AD203B41FA5}">
                      <a16:colId xmlns:a16="http://schemas.microsoft.com/office/drawing/2014/main" val="3139554479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2280819581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3764695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vi-VN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Dự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đoán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có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boom</a:t>
                      </a:r>
                      <a:endParaRPr lang="vi-V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Dự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đoán</a:t>
                      </a:r>
                      <a:r>
                        <a:rPr lang="vi-VN" sz="2800" dirty="0"/>
                        <a:t> không </a:t>
                      </a:r>
                      <a:r>
                        <a:rPr lang="vi-VN" sz="2800" dirty="0" err="1"/>
                        <a:t>có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boom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547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Thực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sự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có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boom</a:t>
                      </a:r>
                      <a:endParaRPr lang="vi-VN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True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Positive</a:t>
                      </a:r>
                      <a:endParaRPr lang="vi-V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False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Negative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295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Thực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sự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không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có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boom</a:t>
                      </a:r>
                      <a:endParaRPr lang="vi-VN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False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Positive</a:t>
                      </a:r>
                      <a:endParaRPr lang="vi-V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True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Negative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394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73333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True</a:t>
            </a:r>
            <a:r>
              <a:rPr lang="vi-VN" dirty="0"/>
              <a:t>/</a:t>
            </a:r>
            <a:r>
              <a:rPr lang="vi-VN" dirty="0" err="1"/>
              <a:t>False</a:t>
            </a:r>
            <a:r>
              <a:rPr lang="vi-VN" dirty="0"/>
              <a:t> </a:t>
            </a:r>
            <a:r>
              <a:rPr lang="vi-VN" dirty="0" err="1"/>
              <a:t>Positive</a:t>
            </a:r>
            <a:r>
              <a:rPr lang="vi-VN" dirty="0"/>
              <a:t>/</a:t>
            </a:r>
            <a:r>
              <a:rPr lang="vi-VN" dirty="0" err="1"/>
              <a:t>Negative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D3041-FACE-48BF-96D1-90B417B18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Ví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dụ</a:t>
            </a:r>
            <a:r>
              <a:rPr lang="vi-VN" sz="2800" dirty="0">
                <a:solidFill>
                  <a:srgbClr val="0066FF"/>
                </a:solidFill>
              </a:rPr>
              <a:t> 02: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Trong </a:t>
            </a:r>
            <a:r>
              <a:rPr lang="vi-VN" sz="2800" dirty="0" err="1">
                <a:solidFill>
                  <a:srgbClr val="FF0000"/>
                </a:solidFill>
              </a:rPr>
              <a:t>bài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toán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xác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định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email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phải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rác</a:t>
            </a:r>
            <a:r>
              <a:rPr lang="vi-VN" sz="2800" dirty="0">
                <a:solidFill>
                  <a:srgbClr val="FF0000"/>
                </a:solidFill>
              </a:rPr>
              <a:t> hay không?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Nếu</a:t>
            </a:r>
            <a:r>
              <a:rPr lang="vi-VN" sz="2800" dirty="0">
                <a:solidFill>
                  <a:srgbClr val="0066FF"/>
                </a:solidFill>
              </a:rPr>
              <a:t> ta </a:t>
            </a:r>
            <a:r>
              <a:rPr lang="vi-VN" sz="2800" dirty="0" err="1">
                <a:solidFill>
                  <a:srgbClr val="0066FF"/>
                </a:solidFill>
              </a:rPr>
              <a:t>chọn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lớp</a:t>
            </a:r>
            <a:r>
              <a:rPr lang="vi-VN" sz="2800" dirty="0">
                <a:solidFill>
                  <a:srgbClr val="0066FF"/>
                </a:solidFill>
              </a:rPr>
              <a:t> "</a:t>
            </a:r>
            <a:r>
              <a:rPr lang="vi-VN" sz="2800" dirty="0" err="1">
                <a:solidFill>
                  <a:srgbClr val="0066FF"/>
                </a:solidFill>
              </a:rPr>
              <a:t>email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rác</a:t>
            </a:r>
            <a:r>
              <a:rPr lang="vi-VN" sz="2800" dirty="0">
                <a:solidFill>
                  <a:srgbClr val="0066FF"/>
                </a:solidFill>
              </a:rPr>
              <a:t>"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Positive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thì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086E95-2574-4189-AE23-46AAF861293A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429000"/>
          <a:ext cx="10461942" cy="2407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05542">
                  <a:extLst>
                    <a:ext uri="{9D8B030D-6E8A-4147-A177-3AD203B41FA5}">
                      <a16:colId xmlns:a16="http://schemas.microsoft.com/office/drawing/2014/main" val="3139554479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2280819581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3764695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vi-VN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Dự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đoán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email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là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rác</a:t>
                      </a:r>
                      <a:endParaRPr lang="vi-V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Dự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đoán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email</a:t>
                      </a:r>
                      <a:r>
                        <a:rPr lang="vi-VN" sz="2800" dirty="0"/>
                        <a:t> không </a:t>
                      </a:r>
                      <a:r>
                        <a:rPr lang="vi-VN" sz="2800" dirty="0" err="1"/>
                        <a:t>là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rác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547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Thực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sự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là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rác</a:t>
                      </a:r>
                      <a:endParaRPr lang="vi-VN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True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Positive</a:t>
                      </a:r>
                      <a:endParaRPr lang="vi-V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False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Negative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295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Thực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sự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không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là</a:t>
                      </a:r>
                      <a:r>
                        <a:rPr lang="vi-VN" sz="2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vi-VN" sz="2800" b="1" dirty="0" err="1">
                          <a:solidFill>
                            <a:schemeClr val="bg1"/>
                          </a:solidFill>
                        </a:rPr>
                        <a:t>rác</a:t>
                      </a:r>
                      <a:endParaRPr lang="vi-VN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False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Positive</a:t>
                      </a:r>
                      <a:endParaRPr lang="vi-V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True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Negative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394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5403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8BB1-BF17-4B61-9FD0-B477DFC4D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True</a:t>
            </a:r>
            <a:r>
              <a:rPr lang="vi-VN" dirty="0"/>
              <a:t>/</a:t>
            </a:r>
            <a:r>
              <a:rPr lang="vi-VN" dirty="0" err="1"/>
              <a:t>False</a:t>
            </a:r>
            <a:r>
              <a:rPr lang="vi-VN" dirty="0"/>
              <a:t> </a:t>
            </a:r>
            <a:r>
              <a:rPr lang="vi-VN" dirty="0" err="1"/>
              <a:t>Positive</a:t>
            </a:r>
            <a:r>
              <a:rPr lang="vi-VN" dirty="0"/>
              <a:t>/</a:t>
            </a:r>
            <a:r>
              <a:rPr lang="vi-VN" dirty="0" err="1"/>
              <a:t>Negative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4B7ED0-F64D-4CBE-9E59-12BDA7057B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3200" dirty="0">
                    <a:solidFill>
                      <a:srgbClr val="0066FF"/>
                    </a:solidFill>
                  </a:rPr>
                  <a:t>Cho mô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3200" dirty="0">
                    <a:solidFill>
                      <a:srgbClr val="0066FF"/>
                    </a:solidFill>
                  </a:rPr>
                  <a:t> đang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xét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đánh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3200" dirty="0">
                    <a:solidFill>
                      <a:srgbClr val="0066FF"/>
                    </a:solidFill>
                  </a:rPr>
                  <a:t> trên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3200" dirty="0">
                    <a:solidFill>
                      <a:srgbClr val="0066FF"/>
                    </a:solidFill>
                  </a:rPr>
                  <a:t>, ta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gọi</a:t>
                </a:r>
                <a:r>
                  <a:rPr lang="vi-VN" sz="3200" dirty="0">
                    <a:solidFill>
                      <a:srgbClr val="0066FF"/>
                    </a:solidFill>
                  </a:rPr>
                  <a:t>:</a:t>
                </a:r>
                <a:endParaRPr lang="vi-VN" sz="3200" i="1" dirty="0">
                  <a:solidFill>
                    <a:srgbClr val="0066FF"/>
                  </a:solidFill>
                  <a:latin typeface="Cambria Math" panose="02040503050406030204" pitchFamily="18" charset="0"/>
                </a:endParaRP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𝑇𝑃</m:t>
                    </m:r>
                  </m:oMath>
                </a14:m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thuộc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i="1" dirty="0" err="1">
                    <a:solidFill>
                      <a:srgbClr val="FF0000"/>
                    </a:solidFill>
                  </a:rPr>
                  <a:t>True</a:t>
                </a:r>
                <a:r>
                  <a:rPr lang="vi-VN" sz="3200" i="1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i="1" dirty="0" err="1">
                    <a:solidFill>
                      <a:srgbClr val="FF0000"/>
                    </a:solidFill>
                  </a:rPr>
                  <a:t>Positive</a:t>
                </a:r>
                <a:r>
                  <a:rPr lang="vi-VN" sz="32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𝐹𝑃</m:t>
                    </m:r>
                  </m:oMath>
                </a14:m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i="1" dirty="0" err="1">
                    <a:solidFill>
                      <a:srgbClr val="0066FF"/>
                    </a:solidFill>
                  </a:rPr>
                  <a:t>False</a:t>
                </a:r>
                <a:r>
                  <a:rPr lang="vi-VN" sz="3200" i="1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i="1" dirty="0" err="1">
                    <a:solidFill>
                      <a:srgbClr val="0066FF"/>
                    </a:solidFill>
                  </a:rPr>
                  <a:t>Positive</a:t>
                </a:r>
                <a:r>
                  <a:rPr lang="vi-VN" sz="32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𝑇𝑁</m:t>
                    </m:r>
                  </m:oMath>
                </a14:m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thuộc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i="1" dirty="0" err="1">
                    <a:solidFill>
                      <a:srgbClr val="FF0000"/>
                    </a:solidFill>
                  </a:rPr>
                  <a:t>True</a:t>
                </a:r>
                <a:r>
                  <a:rPr lang="vi-VN" sz="3200" i="1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i="1" dirty="0" err="1">
                    <a:solidFill>
                      <a:srgbClr val="FF0000"/>
                    </a:solidFill>
                  </a:rPr>
                  <a:t>Negative</a:t>
                </a:r>
                <a:r>
                  <a:rPr lang="vi-VN" sz="32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𝐹𝑁</m:t>
                    </m:r>
                  </m:oMath>
                </a14:m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i="1" dirty="0" err="1">
                    <a:solidFill>
                      <a:srgbClr val="0066FF"/>
                    </a:solidFill>
                  </a:rPr>
                  <a:t>False</a:t>
                </a:r>
                <a:r>
                  <a:rPr lang="vi-VN" sz="3200" i="1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i="1" dirty="0" err="1">
                    <a:solidFill>
                      <a:srgbClr val="0066FF"/>
                    </a:solidFill>
                  </a:rPr>
                  <a:t>Negative</a:t>
                </a:r>
                <a:r>
                  <a:rPr lang="vi-VN" sz="3200" dirty="0">
                    <a:solidFill>
                      <a:srgbClr val="0066FF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4B7ED0-F64D-4CBE-9E59-12BDA7057B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752" r="-13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442974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72138-38CF-401C-8DCB-25B79EFA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True</a:t>
            </a:r>
            <a:r>
              <a:rPr lang="vi-VN" dirty="0"/>
              <a:t>/</a:t>
            </a:r>
            <a:r>
              <a:rPr lang="vi-VN" dirty="0" err="1"/>
              <a:t>False</a:t>
            </a:r>
            <a:r>
              <a:rPr lang="vi-VN" dirty="0"/>
              <a:t> </a:t>
            </a:r>
            <a:r>
              <a:rPr lang="vi-VN" dirty="0" err="1"/>
              <a:t>Positive</a:t>
            </a:r>
            <a:r>
              <a:rPr lang="vi-VN" dirty="0"/>
              <a:t>/</a:t>
            </a:r>
            <a:r>
              <a:rPr lang="vi-VN" dirty="0" err="1"/>
              <a:t>Negative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705B7-7907-4358-A705-219DE2B812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3200" dirty="0">
                    <a:solidFill>
                      <a:srgbClr val="0066FF"/>
                    </a:solidFill>
                  </a:rPr>
                  <a:t>Ta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định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nghĩa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các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tỉ</a:t>
                </a:r>
                <a:r>
                  <a:rPr lang="vi-VN" sz="3200" dirty="0">
                    <a:solidFill>
                      <a:srgbClr val="0066FF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0066FF"/>
                    </a:solidFill>
                  </a:rPr>
                  <a:t>lệ</a:t>
                </a:r>
                <a:r>
                  <a:rPr lang="vi-VN" sz="3200" dirty="0">
                    <a:solidFill>
                      <a:srgbClr val="0066FF"/>
                    </a:solidFill>
                  </a:rPr>
                  <a:t> sau:</a:t>
                </a:r>
              </a:p>
              <a:p>
                <a:pPr lvl="1" algn="just"/>
                <a:r>
                  <a:rPr lang="vi-VN" sz="3200" dirty="0" err="1">
                    <a:solidFill>
                      <a:srgbClr val="FF0000"/>
                    </a:solidFill>
                  </a:rPr>
                  <a:t>True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Positive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Rate</a:t>
                </a:r>
                <a:r>
                  <a:rPr lang="vi-VN" sz="3200" dirty="0">
                    <a:solidFill>
                      <a:srgbClr val="FF0000"/>
                    </a:solidFill>
                  </a:rPr>
                  <a:t> –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𝑇𝑃𝑅</m:t>
                    </m:r>
                    <m:r>
                      <a:rPr lang="vi-VN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vi-VN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vi-VN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vi-VN" sz="3200" dirty="0">
                  <a:solidFill>
                    <a:srgbClr val="FF0000"/>
                  </a:solidFill>
                </a:endParaRPr>
              </a:p>
              <a:p>
                <a:pPr lvl="1" algn="just"/>
                <a:r>
                  <a:rPr lang="vi-VN" sz="3200" dirty="0">
                    <a:highlight>
                      <a:srgbClr val="FFFF00"/>
                    </a:highlight>
                  </a:rPr>
                  <a:t>False </a:t>
                </a:r>
                <a:r>
                  <a:rPr lang="vi-VN" sz="3200" dirty="0" err="1">
                    <a:highlight>
                      <a:srgbClr val="FFFF00"/>
                    </a:highlight>
                  </a:rPr>
                  <a:t>Positive</a:t>
                </a:r>
                <a:r>
                  <a:rPr lang="vi-VN" sz="3200" dirty="0">
                    <a:highlight>
                      <a:srgbClr val="FFFF00"/>
                    </a:highlight>
                  </a:rPr>
                  <a:t> </a:t>
                </a:r>
                <a:r>
                  <a:rPr lang="vi-VN" sz="3200" dirty="0" err="1">
                    <a:highlight>
                      <a:srgbClr val="FFFF00"/>
                    </a:highlight>
                  </a:rPr>
                  <a:t>Rate</a:t>
                </a:r>
                <a:r>
                  <a:rPr lang="vi-VN" sz="3200" dirty="0">
                    <a:solidFill>
                      <a:srgbClr val="0066FF"/>
                    </a:solidFill>
                  </a:rPr>
                  <a:t> –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𝐹𝑃𝑅</m:t>
                    </m:r>
                    <m:r>
                      <a:rPr lang="vi-VN" sz="32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32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32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num>
                      <m:den>
                        <m:r>
                          <a:rPr lang="vi-VN" sz="32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vi-VN" sz="32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32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den>
                    </m:f>
                  </m:oMath>
                </a14:m>
                <a:endParaRPr lang="vi-VN" sz="3200" dirty="0">
                  <a:solidFill>
                    <a:srgbClr val="0066FF"/>
                  </a:solidFill>
                </a:endParaRPr>
              </a:p>
              <a:p>
                <a:pPr lvl="1" algn="just"/>
                <a:r>
                  <a:rPr lang="vi-VN" sz="3200" dirty="0" err="1">
                    <a:solidFill>
                      <a:srgbClr val="FF0000"/>
                    </a:solidFill>
                  </a:rPr>
                  <a:t>True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Negative</a:t>
                </a:r>
                <a:r>
                  <a:rPr lang="vi-VN" sz="3200" dirty="0">
                    <a:solidFill>
                      <a:srgbClr val="FF0000"/>
                    </a:solidFill>
                  </a:rPr>
                  <a:t> </a:t>
                </a:r>
                <a:r>
                  <a:rPr lang="vi-VN" sz="3200" dirty="0" err="1">
                    <a:solidFill>
                      <a:srgbClr val="FF0000"/>
                    </a:solidFill>
                  </a:rPr>
                  <a:t>Rate</a:t>
                </a:r>
                <a:r>
                  <a:rPr lang="vi-VN" sz="3200" dirty="0">
                    <a:solidFill>
                      <a:srgbClr val="FF0000"/>
                    </a:solidFill>
                  </a:rPr>
                  <a:t> –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𝑇𝑁𝑅</m:t>
                    </m:r>
                    <m:r>
                      <a:rPr lang="vi-VN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vi-VN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vi-VN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vi-VN" sz="3200" dirty="0">
                  <a:solidFill>
                    <a:srgbClr val="FF0000"/>
                  </a:solidFill>
                </a:endParaRPr>
              </a:p>
              <a:p>
                <a:pPr lvl="1" algn="just"/>
                <a:r>
                  <a:rPr lang="vi-VN" sz="3200" dirty="0">
                    <a:highlight>
                      <a:srgbClr val="FFFF00"/>
                    </a:highlight>
                  </a:rPr>
                  <a:t>False </a:t>
                </a:r>
                <a:r>
                  <a:rPr lang="vi-VN" sz="3200" dirty="0" err="1">
                    <a:highlight>
                      <a:srgbClr val="FFFF00"/>
                    </a:highlight>
                  </a:rPr>
                  <a:t>Negative</a:t>
                </a:r>
                <a:r>
                  <a:rPr lang="vi-VN" sz="3200" dirty="0">
                    <a:highlight>
                      <a:srgbClr val="FFFF00"/>
                    </a:highlight>
                  </a:rPr>
                  <a:t> </a:t>
                </a:r>
                <a:r>
                  <a:rPr lang="vi-VN" sz="3200" dirty="0" err="1">
                    <a:highlight>
                      <a:srgbClr val="FFFF00"/>
                    </a:highlight>
                  </a:rPr>
                  <a:t>Rate</a:t>
                </a:r>
                <a:r>
                  <a:rPr lang="vi-VN" sz="3200" dirty="0">
                    <a:solidFill>
                      <a:srgbClr val="0066FF"/>
                    </a:solidFill>
                  </a:rPr>
                  <a:t> –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𝐹𝑁𝑅</m:t>
                    </m:r>
                    <m:r>
                      <a:rPr lang="vi-VN" sz="32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32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32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num>
                      <m:den>
                        <m:r>
                          <a:rPr lang="vi-VN" sz="32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  <m:r>
                          <a:rPr lang="vi-VN" sz="32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32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den>
                    </m:f>
                  </m:oMath>
                </a14:m>
                <a:endParaRPr lang="vi-VN" sz="32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705B7-7907-4358-A705-219DE2B81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7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0649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8BB1-BF17-4B61-9FD0-B477DFC4D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True</a:t>
            </a:r>
            <a:r>
              <a:rPr lang="vi-VN" dirty="0"/>
              <a:t>/</a:t>
            </a:r>
            <a:r>
              <a:rPr lang="vi-VN" dirty="0" err="1"/>
              <a:t>False</a:t>
            </a:r>
            <a:r>
              <a:rPr lang="vi-VN" dirty="0"/>
              <a:t> </a:t>
            </a:r>
            <a:r>
              <a:rPr lang="vi-VN" dirty="0" err="1"/>
              <a:t>Positive</a:t>
            </a:r>
            <a:r>
              <a:rPr lang="vi-VN" dirty="0"/>
              <a:t>/</a:t>
            </a:r>
            <a:r>
              <a:rPr lang="vi-VN" dirty="0" err="1"/>
              <a:t>Negative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5E4D393-4A09-4672-863E-E943057DF04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65029" y="1981200"/>
              <a:ext cx="10461942" cy="299403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1199271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là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Positive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là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Negative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6576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Positive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𝑇𝑃𝑅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num>
                                  <m:den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𝐹𝑁𝑅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num>
                                  <m:den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6576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Negative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𝐹𝑃𝑅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</m:num>
                                  <m:den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𝑇𝑁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𝑇𝑁𝑅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𝑇𝑁</m:t>
                                    </m:r>
                                  </m:num>
                                  <m:den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vi-VN" sz="2800" i="1" dirty="0" smtClean="0">
                                        <a:latin typeface="Cambria Math" panose="02040503050406030204" pitchFamily="18" charset="0"/>
                                      </a:rPr>
                                      <m:t>𝑇𝑁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5E4D393-4A09-4672-863E-E943057DF0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1699087"/>
                  </p:ext>
                </p:extLst>
              </p:nvPr>
            </p:nvGraphicFramePr>
            <p:xfrm>
              <a:off x="865029" y="1981200"/>
              <a:ext cx="10461942" cy="299403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1199271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là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Positive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là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Negative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8973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Positive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0108" t="-134459" r="-100903" b="-100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9730" t="-134459" r="-721" b="-1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8973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Negative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0108" t="-236054" r="-100903" b="-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9730" t="-236054" r="-721" b="-1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3181429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D930-A536-4D19-842E-8790573F4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True</a:t>
            </a:r>
            <a:r>
              <a:rPr lang="vi-VN" dirty="0"/>
              <a:t>/</a:t>
            </a:r>
            <a:r>
              <a:rPr lang="vi-VN" dirty="0" err="1"/>
              <a:t>False</a:t>
            </a:r>
            <a:r>
              <a:rPr lang="vi-VN" dirty="0"/>
              <a:t> </a:t>
            </a:r>
            <a:r>
              <a:rPr lang="vi-VN" dirty="0" err="1"/>
              <a:t>Positive</a:t>
            </a:r>
            <a:r>
              <a:rPr lang="vi-VN" dirty="0"/>
              <a:t>/</a:t>
            </a:r>
            <a:r>
              <a:rPr lang="vi-VN" dirty="0" err="1"/>
              <a:t>Negative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15DB2-CE05-43E4-9CCE-E36B0564B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Ta </a:t>
            </a:r>
            <a:r>
              <a:rPr lang="vi-VN" sz="2800" dirty="0" err="1">
                <a:solidFill>
                  <a:srgbClr val="0066FF"/>
                </a:solidFill>
              </a:rPr>
              <a:t>thường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chỉ</a:t>
            </a:r>
            <a:r>
              <a:rPr lang="vi-VN" sz="2800" dirty="0">
                <a:solidFill>
                  <a:srgbClr val="0066FF"/>
                </a:solidFill>
              </a:rPr>
              <a:t> quan tâm </a:t>
            </a:r>
            <a:r>
              <a:rPr lang="vi-VN" sz="2800" dirty="0" err="1">
                <a:solidFill>
                  <a:srgbClr val="0066FF"/>
                </a:solidFill>
              </a:rPr>
              <a:t>đến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False</a:t>
            </a:r>
            <a:r>
              <a:rPr lang="vi-VN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Positive</a:t>
            </a:r>
            <a:r>
              <a:rPr lang="vi-VN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Rate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False</a:t>
            </a:r>
            <a:r>
              <a:rPr lang="vi-VN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Negative</a:t>
            </a:r>
            <a:r>
              <a:rPr lang="vi-VN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Rate</a:t>
            </a:r>
            <a:r>
              <a:rPr lang="vi-VN" sz="2800" dirty="0">
                <a:solidFill>
                  <a:srgbClr val="0066FF"/>
                </a:solidFill>
              </a:rPr>
              <a:t>, ý </a:t>
            </a:r>
            <a:r>
              <a:rPr lang="vi-VN" sz="2800" dirty="0" err="1">
                <a:solidFill>
                  <a:srgbClr val="0066FF"/>
                </a:solidFill>
              </a:rPr>
              <a:t>nghĩa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chúng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i="1" dirty="0" err="1">
                <a:solidFill>
                  <a:srgbClr val="FF0000"/>
                </a:solidFill>
              </a:rPr>
              <a:t>False</a:t>
            </a:r>
            <a:r>
              <a:rPr lang="vi-VN" sz="2800" i="1" dirty="0">
                <a:solidFill>
                  <a:srgbClr val="FF0000"/>
                </a:solidFill>
              </a:rPr>
              <a:t> </a:t>
            </a:r>
            <a:r>
              <a:rPr lang="vi-VN" sz="2800" i="1" dirty="0" err="1">
                <a:solidFill>
                  <a:srgbClr val="FF0000"/>
                </a:solidFill>
              </a:rPr>
              <a:t>Positive</a:t>
            </a:r>
            <a:r>
              <a:rPr lang="vi-VN" sz="2800" i="1" dirty="0">
                <a:solidFill>
                  <a:srgbClr val="FF0000"/>
                </a:solidFill>
              </a:rPr>
              <a:t> </a:t>
            </a:r>
            <a:r>
              <a:rPr lang="vi-VN" sz="2800" i="1" dirty="0" err="1">
                <a:solidFill>
                  <a:srgbClr val="FF0000"/>
                </a:solidFill>
              </a:rPr>
              <a:t>Rate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ý </a:t>
            </a:r>
            <a:r>
              <a:rPr lang="vi-VN" sz="2800" dirty="0" err="1">
                <a:solidFill>
                  <a:srgbClr val="FF0000"/>
                </a:solidFill>
              </a:rPr>
              <a:t>nghĩa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tỉ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lệ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xác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định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nhầm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lớp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ta quan tâm.</a:t>
            </a:r>
          </a:p>
          <a:p>
            <a:pPr lvl="1" algn="just"/>
            <a:r>
              <a:rPr lang="vi-VN" sz="2800" i="1" dirty="0" err="1">
                <a:solidFill>
                  <a:srgbClr val="0066FF"/>
                </a:solidFill>
              </a:rPr>
              <a:t>False</a:t>
            </a:r>
            <a:r>
              <a:rPr lang="vi-VN" sz="2800" i="1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Negative</a:t>
            </a:r>
            <a:r>
              <a:rPr lang="vi-VN" sz="2800" i="1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Rate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ý </a:t>
            </a:r>
            <a:r>
              <a:rPr lang="vi-VN" sz="2800" dirty="0" err="1">
                <a:solidFill>
                  <a:srgbClr val="0066FF"/>
                </a:solidFill>
              </a:rPr>
              <a:t>nghĩa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tỉ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lệ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bỏ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sót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lớp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ta quan tâm.</a:t>
            </a:r>
          </a:p>
        </p:txBody>
      </p:sp>
    </p:spTree>
    <p:extLst>
      <p:ext uri="{BB962C8B-B14F-4D97-AF65-F5344CB8AC3E}">
        <p14:creationId xmlns:p14="http://schemas.microsoft.com/office/powerpoint/2010/main" val="238698638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D930-A536-4D19-842E-8790573F4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True</a:t>
            </a:r>
            <a:r>
              <a:rPr lang="vi-VN" dirty="0"/>
              <a:t>/</a:t>
            </a:r>
            <a:r>
              <a:rPr lang="vi-VN" dirty="0" err="1"/>
              <a:t>False</a:t>
            </a:r>
            <a:r>
              <a:rPr lang="vi-VN" dirty="0"/>
              <a:t> </a:t>
            </a:r>
            <a:r>
              <a:rPr lang="vi-VN" dirty="0" err="1"/>
              <a:t>Positive</a:t>
            </a:r>
            <a:r>
              <a:rPr lang="vi-VN" dirty="0"/>
              <a:t>/</a:t>
            </a:r>
            <a:r>
              <a:rPr lang="vi-VN" dirty="0" err="1"/>
              <a:t>Negative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115DB2-CE05-43E4-9CCE-E36B0564B8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01: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xác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định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dưới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lòng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đất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Giả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sau khi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tra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thực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sự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boom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ta thu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sau: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115DB2-CE05-43E4-9CCE-E36B0564B8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23532A-85EC-4B2F-971F-C1221475D76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652" y="4038600"/>
              <a:ext cx="11860696" cy="1981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4776954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có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boom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không </a:t>
                          </a:r>
                          <a:r>
                            <a:rPr lang="vi-VN" sz="2800" dirty="0" err="1"/>
                            <a:t>có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boom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boom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𝑇𝑃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=13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𝐹𝑁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=17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không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boom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𝐹𝑃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=20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𝑇𝑁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=50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23532A-85EC-4B2F-971F-C1221475D7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6848391"/>
                  </p:ext>
                </p:extLst>
              </p:nvPr>
            </p:nvGraphicFramePr>
            <p:xfrm>
              <a:off x="165652" y="4038600"/>
              <a:ext cx="11860696" cy="1981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4776954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có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boom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không </a:t>
                          </a:r>
                          <a:r>
                            <a:rPr lang="vi-VN" sz="2800" dirty="0" err="1"/>
                            <a:t>có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boom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boom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928" t="-110465" r="-142238" b="-2116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8342" t="-110465" r="-510" b="-2116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không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boom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928" t="-116774" r="-142238" b="-17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8342" t="-116774" r="-510" b="-17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0121422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D930-A536-4D19-842E-8790573F4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True</a:t>
            </a:r>
            <a:r>
              <a:rPr lang="vi-VN" dirty="0"/>
              <a:t>/</a:t>
            </a:r>
            <a:r>
              <a:rPr lang="vi-VN" dirty="0" err="1"/>
              <a:t>False</a:t>
            </a:r>
            <a:r>
              <a:rPr lang="vi-VN" dirty="0"/>
              <a:t> </a:t>
            </a:r>
            <a:r>
              <a:rPr lang="vi-VN" dirty="0" err="1"/>
              <a:t>Positive</a:t>
            </a:r>
            <a:r>
              <a:rPr lang="vi-VN" dirty="0"/>
              <a:t>/</a:t>
            </a:r>
            <a:r>
              <a:rPr lang="vi-VN" dirty="0" err="1"/>
              <a:t>Negative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115DB2-CE05-43E4-9CCE-E36B0564B8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Ví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01: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Tỉ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xác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định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nhầm</a:t>
                </a:r>
                <a:r>
                  <a:rPr lang="vi-VN" sz="2800" dirty="0"/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𝐹𝑃𝑅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num>
                      <m:den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den>
                    </m:f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8+62</m:t>
                        </m:r>
                      </m:den>
                    </m:f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den>
                    </m:f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0.11</m:t>
                    </m:r>
                  </m:oMath>
                </a14:m>
                <a:endParaRPr lang="vi-VN" sz="2800" dirty="0">
                  <a:solidFill>
                    <a:srgbClr val="FF0000"/>
                  </a:solidFill>
                </a:endParaRP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Tỉ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lệ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bỏ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sót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𝐹𝑁𝑅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num>
                      <m:den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den>
                    </m:f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13+17</m:t>
                        </m:r>
                      </m:den>
                    </m:f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0.43</m:t>
                    </m:r>
                  </m:oMath>
                </a14:m>
                <a:endParaRPr lang="vi-VN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115DB2-CE05-43E4-9CCE-E36B0564B8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23532A-85EC-4B2F-971F-C1221475D76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652" y="2133600"/>
              <a:ext cx="11860696" cy="1981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4776954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có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boom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không </a:t>
                          </a:r>
                          <a:r>
                            <a:rPr lang="vi-VN" sz="2800" dirty="0" err="1"/>
                            <a:t>có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boom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boom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𝑇𝑃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=13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𝐹𝑁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=17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không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boom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𝐹𝑃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𝑇𝑁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=62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23532A-85EC-4B2F-971F-C1221475D7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8770036"/>
                  </p:ext>
                </p:extLst>
              </p:nvPr>
            </p:nvGraphicFramePr>
            <p:xfrm>
              <a:off x="165652" y="2133600"/>
              <a:ext cx="11860696" cy="1981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4776954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có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boom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không </a:t>
                          </a:r>
                          <a:r>
                            <a:rPr lang="vi-VN" sz="2800" dirty="0" err="1"/>
                            <a:t>có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boom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boom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928" t="-111765" r="-142238" b="-21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8342" t="-111765" r="-510" b="-21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không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boom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928" t="-116129" r="-142238" b="-1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8342" t="-116129" r="-510" b="-18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4546080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True</a:t>
            </a:r>
            <a:r>
              <a:rPr lang="vi-VN" dirty="0"/>
              <a:t>/</a:t>
            </a:r>
            <a:r>
              <a:rPr lang="vi-VN" dirty="0" err="1"/>
              <a:t>False</a:t>
            </a:r>
            <a:r>
              <a:rPr lang="vi-VN" dirty="0"/>
              <a:t> </a:t>
            </a:r>
            <a:r>
              <a:rPr lang="vi-VN" dirty="0" err="1"/>
              <a:t>Positive</a:t>
            </a:r>
            <a:r>
              <a:rPr lang="vi-VN" dirty="0"/>
              <a:t>/</a:t>
            </a:r>
            <a:r>
              <a:rPr lang="vi-VN" dirty="0" err="1"/>
              <a:t>Negative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D3041-FACE-48BF-96D1-90B417B18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Ví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dụ</a:t>
            </a:r>
            <a:r>
              <a:rPr lang="vi-VN" sz="2800" dirty="0">
                <a:solidFill>
                  <a:srgbClr val="0066FF"/>
                </a:solidFill>
              </a:rPr>
              <a:t> 02: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Trong </a:t>
            </a:r>
            <a:r>
              <a:rPr lang="vi-VN" sz="2800" dirty="0" err="1">
                <a:solidFill>
                  <a:srgbClr val="FF0000"/>
                </a:solidFill>
              </a:rPr>
              <a:t>bài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toán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xác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định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email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phải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rác</a:t>
            </a:r>
            <a:r>
              <a:rPr lang="vi-VN" sz="2800" dirty="0">
                <a:solidFill>
                  <a:srgbClr val="FF0000"/>
                </a:solidFill>
              </a:rPr>
              <a:t> hay không?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Giả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sử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kiểm</a:t>
            </a:r>
            <a:r>
              <a:rPr lang="vi-VN" sz="2800" dirty="0">
                <a:solidFill>
                  <a:srgbClr val="0066FF"/>
                </a:solidFill>
              </a:rPr>
              <a:t> tra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với</a:t>
            </a:r>
            <a:r>
              <a:rPr lang="vi-VN" sz="2800" dirty="0">
                <a:solidFill>
                  <a:srgbClr val="0066FF"/>
                </a:solidFill>
              </a:rPr>
              <a:t> 100 </a:t>
            </a:r>
            <a:r>
              <a:rPr lang="vi-VN" sz="2800" dirty="0" err="1">
                <a:solidFill>
                  <a:srgbClr val="0066FF"/>
                </a:solidFill>
              </a:rPr>
              <a:t>email</a:t>
            </a:r>
            <a:r>
              <a:rPr lang="vi-VN" sz="2800" dirty="0">
                <a:solidFill>
                  <a:srgbClr val="0066FF"/>
                </a:solidFill>
              </a:rPr>
              <a:t>, trong </a:t>
            </a:r>
            <a:r>
              <a:rPr lang="vi-VN" sz="2800" dirty="0" err="1">
                <a:solidFill>
                  <a:srgbClr val="0066FF"/>
                </a:solidFill>
              </a:rPr>
              <a:t>đó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40 </a:t>
            </a:r>
            <a:r>
              <a:rPr lang="vi-VN" sz="2800" dirty="0" err="1">
                <a:solidFill>
                  <a:srgbClr val="0066FF"/>
                </a:solidFill>
              </a:rPr>
              <a:t>email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rác</a:t>
            </a:r>
            <a:r>
              <a:rPr lang="vi-VN" sz="2800" dirty="0">
                <a:solidFill>
                  <a:srgbClr val="0066FF"/>
                </a:solidFill>
              </a:rPr>
              <a:t>, ta thu </a:t>
            </a:r>
            <a:r>
              <a:rPr lang="vi-VN" sz="2800" dirty="0" err="1">
                <a:solidFill>
                  <a:srgbClr val="0066FF"/>
                </a:solidFill>
              </a:rPr>
              <a:t>được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bảng</a:t>
            </a:r>
            <a:r>
              <a:rPr lang="vi-VN" sz="2800" dirty="0">
                <a:solidFill>
                  <a:srgbClr val="0066FF"/>
                </a:solidFill>
              </a:rPr>
              <a:t> sau: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6086E95-2574-4189-AE23-46AAF86129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9600" y="3863182"/>
              <a:ext cx="10461942" cy="1981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email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là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rác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email</a:t>
                          </a:r>
                          <a:r>
                            <a:rPr lang="vi-VN" sz="2800" dirty="0"/>
                            <a:t> không </a:t>
                          </a:r>
                          <a:r>
                            <a:rPr lang="vi-VN" sz="2800" dirty="0" err="1"/>
                            <a:t>là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rác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Email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rác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𝑇𝑃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=36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𝐹𝑁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Email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bình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thường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𝐹𝑃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=40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𝑇𝑁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=20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6086E95-2574-4189-AE23-46AAF86129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2579265"/>
                  </p:ext>
                </p:extLst>
              </p:nvPr>
            </p:nvGraphicFramePr>
            <p:xfrm>
              <a:off x="609600" y="3863182"/>
              <a:ext cx="10461942" cy="1981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email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là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rác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email</a:t>
                          </a:r>
                          <a:r>
                            <a:rPr lang="vi-VN" sz="2800" dirty="0"/>
                            <a:t> không </a:t>
                          </a:r>
                          <a:r>
                            <a:rPr lang="vi-VN" sz="2800" dirty="0" err="1"/>
                            <a:t>là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rác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Email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rác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9910" t="-191860" r="-100541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289" t="-191860" r="-722" b="-1313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Email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bình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thường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9910" t="-295294" r="-100541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289" t="-295294" r="-722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1164744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True</a:t>
            </a:r>
            <a:r>
              <a:rPr lang="vi-VN" dirty="0"/>
              <a:t>/</a:t>
            </a:r>
            <a:r>
              <a:rPr lang="vi-VN" dirty="0" err="1"/>
              <a:t>False</a:t>
            </a:r>
            <a:r>
              <a:rPr lang="vi-VN" dirty="0"/>
              <a:t> </a:t>
            </a:r>
            <a:r>
              <a:rPr lang="vi-VN" dirty="0" err="1"/>
              <a:t>Positive</a:t>
            </a:r>
            <a:r>
              <a:rPr lang="vi-VN" dirty="0"/>
              <a:t>/</a:t>
            </a:r>
            <a:r>
              <a:rPr lang="vi-VN" dirty="0" err="1"/>
              <a:t>Negative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Ví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02: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Tỉ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xác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định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nhầm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𝐹𝑃𝑅</m:t>
                    </m:r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num>
                      <m:den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den>
                    </m:f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67</m:t>
                    </m:r>
                  </m:oMath>
                </a14:m>
                <a:endParaRPr lang="vi-VN" sz="2800" dirty="0">
                  <a:solidFill>
                    <a:srgbClr val="FF0000"/>
                  </a:solidFill>
                </a:endParaRP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Tỉ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lệ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bỏ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sót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𝐹𝑁𝑅</m:t>
                    </m:r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num>
                      <m:den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den>
                    </m:f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vi-VN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6086E95-2574-4189-AE23-46AAF86129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9600" y="2133600"/>
              <a:ext cx="10461942" cy="1981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email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là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rác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email</a:t>
                          </a:r>
                          <a:r>
                            <a:rPr lang="vi-VN" sz="2800" dirty="0"/>
                            <a:t> không </a:t>
                          </a:r>
                          <a:r>
                            <a:rPr lang="vi-VN" sz="2800" dirty="0" err="1"/>
                            <a:t>là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rác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Email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rác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𝑇𝑃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=36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𝐹𝑁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Email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bình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thường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𝐹𝑃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=40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𝑇𝑁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=20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6086E95-2574-4189-AE23-46AAF86129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7691372"/>
                  </p:ext>
                </p:extLst>
              </p:nvPr>
            </p:nvGraphicFramePr>
            <p:xfrm>
              <a:off x="609600" y="2133600"/>
              <a:ext cx="10461942" cy="1981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email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là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rác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email</a:t>
                          </a:r>
                          <a:r>
                            <a:rPr lang="vi-VN" sz="2800" dirty="0"/>
                            <a:t> không </a:t>
                          </a:r>
                          <a:r>
                            <a:rPr lang="vi-VN" sz="2800" dirty="0" err="1"/>
                            <a:t>là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rác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Email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rác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910" t="-194118" r="-100541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289" t="-194118" r="-722" b="-1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Email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bình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thường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910" t="-294118" r="-100541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289" t="-294118" r="-722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2385656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ADC7ED-DF04-40C5-B0CB-6530411F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3018E2-890E-48E0-B232-D693FD679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9145756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ADC7ED-DF04-40C5-B0CB-6530411F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220EA4-6F74-49BB-A28A-1F8BE8463D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i="1" dirty="0">
                    <a:solidFill>
                      <a:srgbClr val="0066FF"/>
                    </a:solidFill>
                  </a:rPr>
                  <a:t>Confusion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trận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thường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dùng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để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đánh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độ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i="1" dirty="0" err="1">
                    <a:solidFill>
                      <a:srgbClr val="FF0000"/>
                    </a:solidFill>
                  </a:rPr>
                  <a:t>Confusion</a:t>
                </a:r>
                <a:r>
                  <a:rPr lang="vi-VN" sz="2800" i="1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matrix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lớp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>
                    <a:solidFill>
                      <a:srgbClr val="0066FF"/>
                    </a:solidFill>
                  </a:rPr>
                  <a:t>Một ma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trận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vuông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kích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thước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Ô ở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thứ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thứ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trận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lớp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thật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sự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vào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lớp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220EA4-6F74-49BB-A28A-1F8BE8463D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057803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ADC7ED-DF04-40C5-B0CB-6530411F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220EA4-6F74-49BB-A28A-1F8BE8463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Tính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chất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</a:rPr>
              <a:t>Tổng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giá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trị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của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ô trong ma </a:t>
            </a:r>
            <a:r>
              <a:rPr lang="vi-VN" sz="2800" dirty="0" err="1">
                <a:solidFill>
                  <a:srgbClr val="FF0000"/>
                </a:solidFill>
              </a:rPr>
              <a:t>trận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tổng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số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lượng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điểm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của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tập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đang </a:t>
            </a:r>
            <a:r>
              <a:rPr lang="vi-VN" sz="2800" dirty="0" err="1">
                <a:solidFill>
                  <a:srgbClr val="FF0000"/>
                </a:solidFill>
              </a:rPr>
              <a:t>đánh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giá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Tổng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giá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trị</a:t>
            </a:r>
            <a:r>
              <a:rPr lang="vi-VN" sz="2800" dirty="0">
                <a:solidFill>
                  <a:srgbClr val="0066FF"/>
                </a:solidFill>
              </a:rPr>
              <a:t> trên </a:t>
            </a:r>
            <a:r>
              <a:rPr lang="vi-VN" sz="2800" dirty="0" err="1">
                <a:solidFill>
                  <a:srgbClr val="0066FF"/>
                </a:solidFill>
              </a:rPr>
              <a:t>đường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chéo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chính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tổng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số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được</a:t>
            </a:r>
            <a:r>
              <a:rPr lang="vi-VN" sz="2800" dirty="0">
                <a:solidFill>
                  <a:srgbClr val="0066FF"/>
                </a:solidFill>
              </a:rPr>
              <a:t> phân </a:t>
            </a:r>
            <a:r>
              <a:rPr lang="vi-VN" sz="2800" dirty="0" err="1">
                <a:solidFill>
                  <a:srgbClr val="0066FF"/>
                </a:solidFill>
              </a:rPr>
              <a:t>loại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chính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xác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123553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ADC7ED-DF04-40C5-B0CB-6530411F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220EA4-6F74-49BB-A28A-1F8BE8463D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i="1" dirty="0">
                    <a:solidFill>
                      <a:srgbClr val="0066FF"/>
                    </a:solidFill>
                  </a:rPr>
                  <a:t>Confusion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trường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hợp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tổng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quát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True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/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False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Positive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/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Negative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FF0000"/>
                    </a:solidFill>
                  </a:rPr>
                  <a:t>Với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lớp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đặt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lớp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Positive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ta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220EA4-6F74-49BB-A28A-1F8BE8463D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856F398-83D4-4AF3-9BD4-3F9322CC8C7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6165" y="3733800"/>
              <a:ext cx="11108635" cy="1981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4240530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489905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là</a:t>
                          </a:r>
                          <a:r>
                            <a:rPr lang="vi-VN" sz="2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Negative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là</a:t>
                          </a:r>
                          <a:r>
                            <a:rPr lang="vi-VN" sz="2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Positive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vi-VN" sz="2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Negative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True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Negative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False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Positive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vi-VN" sz="2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Positive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sz="2800" dirty="0" err="1"/>
                            <a:t>False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Negative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sz="2800" dirty="0" err="1"/>
                            <a:t>True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Positive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856F398-83D4-4AF3-9BD4-3F9322CC8C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2164154"/>
                  </p:ext>
                </p:extLst>
              </p:nvPr>
            </p:nvGraphicFramePr>
            <p:xfrm>
              <a:off x="626165" y="3733800"/>
              <a:ext cx="11108635" cy="1981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4240530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489905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812" t="-6452" r="-104332" b="-12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8325" t="-6452" r="-873" b="-1277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4" t="-191860" r="-162644" b="-1302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True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Negative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False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Positive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4" t="-295294" r="-162644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sz="2800" dirty="0" err="1"/>
                            <a:t>False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Negative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sz="2800" dirty="0" err="1"/>
                            <a:t>True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Positive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029906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D3041-FACE-48BF-96D1-90B417B18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0"/>
              </a:spcBef>
            </a:pPr>
            <a:r>
              <a:rPr lang="vi-VN" sz="3600" dirty="0" err="1">
                <a:solidFill>
                  <a:srgbClr val="0066FF"/>
                </a:solidFill>
              </a:rPr>
              <a:t>Để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đánh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giá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độ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hiệu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quả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của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một</a:t>
            </a:r>
            <a:r>
              <a:rPr lang="vi-VN" sz="3600" dirty="0">
                <a:solidFill>
                  <a:srgbClr val="0066FF"/>
                </a:solidFill>
              </a:rPr>
              <a:t> mô </a:t>
            </a:r>
            <a:r>
              <a:rPr lang="vi-VN" sz="3600" dirty="0" err="1">
                <a:solidFill>
                  <a:srgbClr val="0066FF"/>
                </a:solidFill>
              </a:rPr>
              <a:t>hình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bằng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Confusion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Matrix</a:t>
            </a:r>
            <a:r>
              <a:rPr lang="vi-VN" sz="3600" dirty="0">
                <a:solidFill>
                  <a:srgbClr val="0066FF"/>
                </a:solidFill>
              </a:rPr>
              <a:t>, ta </a:t>
            </a:r>
            <a:r>
              <a:rPr lang="vi-VN" sz="3600" dirty="0" err="1">
                <a:solidFill>
                  <a:srgbClr val="0066FF"/>
                </a:solidFill>
              </a:rPr>
              <a:t>thường</a:t>
            </a:r>
            <a:r>
              <a:rPr lang="vi-VN" sz="3600" dirty="0">
                <a:solidFill>
                  <a:srgbClr val="0066FF"/>
                </a:solidFill>
              </a:rPr>
              <a:t>:</a:t>
            </a:r>
          </a:p>
          <a:p>
            <a:pPr lvl="1" algn="just">
              <a:spcBef>
                <a:spcPts val="0"/>
              </a:spcBef>
            </a:pPr>
            <a:r>
              <a:rPr lang="vi-VN" sz="3600" dirty="0">
                <a:solidFill>
                  <a:srgbClr val="FF0000"/>
                </a:solidFill>
              </a:rPr>
              <a:t>Xây </a:t>
            </a:r>
            <a:r>
              <a:rPr lang="vi-VN" sz="3600" dirty="0" err="1">
                <a:solidFill>
                  <a:srgbClr val="FF0000"/>
                </a:solidFill>
              </a:rPr>
              <a:t>dựng</a:t>
            </a:r>
            <a:r>
              <a:rPr lang="vi-VN" sz="3600" dirty="0">
                <a:solidFill>
                  <a:srgbClr val="FF0000"/>
                </a:solidFill>
              </a:rPr>
              <a:t> </a:t>
            </a:r>
            <a:r>
              <a:rPr lang="vi-VN" sz="3600" dirty="0" err="1">
                <a:solidFill>
                  <a:srgbClr val="FF0000"/>
                </a:solidFill>
              </a:rPr>
              <a:t>các</a:t>
            </a:r>
            <a:r>
              <a:rPr lang="vi-VN" sz="3600" dirty="0">
                <a:solidFill>
                  <a:srgbClr val="FF0000"/>
                </a:solidFill>
              </a:rPr>
              <a:t> </a:t>
            </a:r>
            <a:r>
              <a:rPr lang="vi-VN" sz="3600" dirty="0" err="1">
                <a:solidFill>
                  <a:srgbClr val="FF0000"/>
                </a:solidFill>
              </a:rPr>
              <a:t>tỉ</a:t>
            </a:r>
            <a:r>
              <a:rPr lang="vi-VN" sz="3600" dirty="0">
                <a:solidFill>
                  <a:srgbClr val="FF0000"/>
                </a:solidFill>
              </a:rPr>
              <a:t> </a:t>
            </a:r>
            <a:r>
              <a:rPr lang="vi-VN" sz="3600" dirty="0" err="1">
                <a:solidFill>
                  <a:srgbClr val="FF0000"/>
                </a:solidFill>
              </a:rPr>
              <a:t>lệ</a:t>
            </a:r>
            <a:r>
              <a:rPr lang="vi-VN" sz="3600" dirty="0">
                <a:solidFill>
                  <a:srgbClr val="FF0000"/>
                </a:solidFill>
              </a:rPr>
              <a:t> như </a:t>
            </a:r>
            <a:r>
              <a:rPr lang="vi-VN" sz="3600" dirty="0" err="1">
                <a:solidFill>
                  <a:srgbClr val="FF0000"/>
                </a:solidFill>
              </a:rPr>
              <a:t>độ</a:t>
            </a:r>
            <a:r>
              <a:rPr lang="vi-VN" sz="3600" dirty="0">
                <a:solidFill>
                  <a:srgbClr val="FF0000"/>
                </a:solidFill>
              </a:rPr>
              <a:t> </a:t>
            </a:r>
            <a:r>
              <a:rPr lang="vi-VN" sz="3600" dirty="0" err="1">
                <a:solidFill>
                  <a:srgbClr val="FF0000"/>
                </a:solidFill>
              </a:rPr>
              <a:t>chính</a:t>
            </a:r>
            <a:r>
              <a:rPr lang="vi-VN" sz="3600" dirty="0">
                <a:solidFill>
                  <a:srgbClr val="FF0000"/>
                </a:solidFill>
              </a:rPr>
              <a:t> </a:t>
            </a:r>
            <a:r>
              <a:rPr lang="vi-VN" sz="3600" dirty="0" err="1">
                <a:solidFill>
                  <a:srgbClr val="FF0000"/>
                </a:solidFill>
              </a:rPr>
              <a:t>xác</a:t>
            </a:r>
            <a:r>
              <a:rPr lang="vi-VN" sz="3600" dirty="0">
                <a:solidFill>
                  <a:srgbClr val="FF0000"/>
                </a:solidFill>
              </a:rPr>
              <a:t>, </a:t>
            </a:r>
            <a:r>
              <a:rPr lang="vi-VN" sz="3600" dirty="0" err="1">
                <a:solidFill>
                  <a:srgbClr val="FF0000"/>
                </a:solidFill>
              </a:rPr>
              <a:t>độ</a:t>
            </a:r>
            <a:r>
              <a:rPr lang="vi-VN" sz="3600" dirty="0">
                <a:solidFill>
                  <a:srgbClr val="FF0000"/>
                </a:solidFill>
              </a:rPr>
              <a:t> </a:t>
            </a:r>
            <a:r>
              <a:rPr lang="vi-VN" sz="3600" dirty="0" err="1">
                <a:solidFill>
                  <a:srgbClr val="FF0000"/>
                </a:solidFill>
              </a:rPr>
              <a:t>lỗi</a:t>
            </a:r>
            <a:r>
              <a:rPr lang="vi-VN" sz="3600" dirty="0">
                <a:solidFill>
                  <a:srgbClr val="FF0000"/>
                </a:solidFill>
              </a:rPr>
              <a:t>, ... </a:t>
            </a:r>
          </a:p>
          <a:p>
            <a:pPr lvl="1" algn="just">
              <a:spcBef>
                <a:spcPts val="0"/>
              </a:spcBef>
            </a:pPr>
            <a:r>
              <a:rPr lang="vi-VN" sz="3600" dirty="0" err="1">
                <a:solidFill>
                  <a:srgbClr val="0066FF"/>
                </a:solidFill>
              </a:rPr>
              <a:t>Chuyển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Confusion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Matrix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về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dạng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True</a:t>
            </a:r>
            <a:r>
              <a:rPr lang="vi-VN" sz="3600" dirty="0">
                <a:solidFill>
                  <a:srgbClr val="0066FF"/>
                </a:solidFill>
              </a:rPr>
              <a:t>/</a:t>
            </a:r>
            <a:r>
              <a:rPr lang="vi-VN" sz="3600" dirty="0" err="1">
                <a:solidFill>
                  <a:srgbClr val="0066FF"/>
                </a:solidFill>
              </a:rPr>
              <a:t>False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Positive</a:t>
            </a:r>
            <a:r>
              <a:rPr lang="vi-VN" sz="3600" dirty="0">
                <a:solidFill>
                  <a:srgbClr val="0066FF"/>
                </a:solidFill>
              </a:rPr>
              <a:t>/</a:t>
            </a:r>
            <a:r>
              <a:rPr lang="vi-VN" sz="3600" dirty="0" err="1">
                <a:solidFill>
                  <a:srgbClr val="0066FF"/>
                </a:solidFill>
              </a:rPr>
              <a:t>Negative</a:t>
            </a:r>
            <a:r>
              <a:rPr lang="vi-VN" sz="3600" dirty="0">
                <a:solidFill>
                  <a:srgbClr val="0066FF"/>
                </a:solidFill>
              </a:rPr>
              <a:t>. Sau </a:t>
            </a:r>
            <a:r>
              <a:rPr lang="vi-VN" sz="3600" dirty="0" err="1">
                <a:solidFill>
                  <a:srgbClr val="0066FF"/>
                </a:solidFill>
              </a:rPr>
              <a:t>đó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thực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hiện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đánh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giá</a:t>
            </a:r>
            <a:r>
              <a:rPr lang="vi-VN" sz="3600" dirty="0">
                <a:solidFill>
                  <a:srgbClr val="0066FF"/>
                </a:solidFill>
              </a:rPr>
              <a:t> trên </a:t>
            </a:r>
            <a:r>
              <a:rPr lang="vi-VN" sz="3600" dirty="0" err="1">
                <a:solidFill>
                  <a:srgbClr val="0066FF"/>
                </a:solidFill>
              </a:rPr>
              <a:t>từng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lớp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dữ</a:t>
            </a:r>
            <a:r>
              <a:rPr lang="vi-VN" sz="3600" dirty="0">
                <a:solidFill>
                  <a:srgbClr val="0066FF"/>
                </a:solidFill>
              </a:rPr>
              <a:t> </a:t>
            </a:r>
            <a:r>
              <a:rPr lang="vi-VN" sz="3600" dirty="0" err="1">
                <a:solidFill>
                  <a:srgbClr val="0066FF"/>
                </a:solidFill>
              </a:rPr>
              <a:t>liệu</a:t>
            </a:r>
            <a:r>
              <a:rPr lang="vi-VN" sz="3600" dirty="0">
                <a:solidFill>
                  <a:srgbClr val="0066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50965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01: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Cho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xác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định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dưới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lòng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đất</a:t>
                </a:r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Đặt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diện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không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boom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boom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Thực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hiện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dự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gồm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>
                    <a:solidFill>
                      <a:srgbClr val="0066FF"/>
                    </a:solidFill>
                  </a:rPr>
                  <a:t>Ta thu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confusion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sau: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6086E95-2574-4189-AE23-46AAF86129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3096" y="4571684"/>
              <a:ext cx="10461942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vi-VN" sz="2800" dirty="0"/>
                            <a:t> (không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có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boom</a:t>
                          </a:r>
                          <a:r>
                            <a:rPr lang="vi-VN" sz="2800" baseline="0" dirty="0"/>
                            <a:t>)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có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boom</a:t>
                          </a:r>
                          <a:r>
                            <a:rPr lang="vi-VN" sz="2800" baseline="0" dirty="0"/>
                            <a:t>)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(không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có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boom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có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boom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6086E95-2574-4189-AE23-46AAF86129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0743491"/>
                  </p:ext>
                </p:extLst>
              </p:nvPr>
            </p:nvGraphicFramePr>
            <p:xfrm>
              <a:off x="583096" y="4571684"/>
              <a:ext cx="10461942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730" t="-11765" r="-100721" b="-2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108" t="-11765" r="-903" b="-23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4" t="-110465" r="-183224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730" t="-110465" r="-100721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108" t="-110465" r="-903" b="-1313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4" t="-212941" r="-183224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730" t="-212941" r="-100721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108" t="-212941" r="-903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18969767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Ví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01: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Số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thực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sự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dự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không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>
                    <a:solidFill>
                      <a:srgbClr val="0066FF"/>
                    </a:solidFill>
                  </a:rPr>
                  <a:t>Số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thực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sự</a:t>
                </a:r>
                <a:r>
                  <a:rPr lang="vi-VN" sz="2800" dirty="0">
                    <a:solidFill>
                      <a:srgbClr val="0066FF"/>
                    </a:solidFill>
                  </a:rPr>
                  <a:t> không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boom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boom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6086E95-2574-4189-AE23-46AAF86129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42730" y="2103120"/>
              <a:ext cx="10461942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vi-VN" sz="2800" dirty="0"/>
                            <a:t> (không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có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boom</a:t>
                          </a:r>
                          <a:r>
                            <a:rPr lang="vi-VN" sz="2800" baseline="0" dirty="0"/>
                            <a:t>)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có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boom</a:t>
                          </a:r>
                          <a:r>
                            <a:rPr lang="vi-VN" sz="2800" baseline="0" dirty="0"/>
                            <a:t>)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(không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có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boom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có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boom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6086E95-2574-4189-AE23-46AAF86129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2861396"/>
                  </p:ext>
                </p:extLst>
              </p:nvPr>
            </p:nvGraphicFramePr>
            <p:xfrm>
              <a:off x="642730" y="2103120"/>
              <a:ext cx="10461942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730" t="-11765" r="-100541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108" t="-11765" r="-722" b="-2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4" t="-111765" r="-183059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730" t="-111765" r="-100541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108" t="-111765" r="-722" b="-1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4" t="-211765" r="-183059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730" t="-211765" r="-100541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108" t="-211765" r="-722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4576278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Ví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01: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Số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đúng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50+13=63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>
                    <a:solidFill>
                      <a:srgbClr val="0066FF"/>
                    </a:solidFill>
                  </a:rPr>
                  <a:t>Tỉ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lệ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đúng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num>
                      <m:den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vi-VN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=0.63</m:t>
                    </m:r>
                  </m:oMath>
                </a14:m>
                <a:endParaRPr lang="vi-VN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6086E95-2574-4189-AE23-46AAF86129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42730" y="2103120"/>
              <a:ext cx="10461942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vi-VN" sz="2800" dirty="0"/>
                            <a:t> (không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có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boom</a:t>
                          </a:r>
                          <a:r>
                            <a:rPr lang="vi-VN" sz="2800" baseline="0" dirty="0"/>
                            <a:t>)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có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boom</a:t>
                          </a:r>
                          <a:r>
                            <a:rPr lang="vi-VN" sz="2800" baseline="0" dirty="0"/>
                            <a:t>)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(không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có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boom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có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boom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6086E95-2574-4189-AE23-46AAF861293A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642730" y="2103120"/>
              <a:ext cx="10461942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05542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3782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730" t="-11765" r="-100541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108" t="-11765" r="-722" b="-2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4" t="-111765" r="-183059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730" t="-111765" r="-100541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108" t="-111765" r="-722" b="-1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4" t="-211765" r="-183059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730" t="-211765" r="-100541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108" t="-211765" r="-722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28039907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02: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Cho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ảnh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khỉ</a:t>
                </a:r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Đặt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diện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khỉ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Thực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hiện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dự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gồm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>
                    <a:solidFill>
                      <a:srgbClr val="0066FF"/>
                    </a:solidFill>
                  </a:rPr>
                  <a:t>Ta thu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confusion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sau: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4671B18-B970-4387-A295-AF318F7B5E3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7200" y="4099560"/>
              <a:ext cx="10461942" cy="20726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801067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4926929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gà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chó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khỉ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gà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chó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khỉ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70139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4671B18-B970-4387-A295-AF318F7B5E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9675259"/>
                  </p:ext>
                </p:extLst>
              </p:nvPr>
            </p:nvGraphicFramePr>
            <p:xfrm>
              <a:off x="457200" y="4099560"/>
              <a:ext cx="10461942" cy="20726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801067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4926929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263" t="-11765" r="-200955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263" t="-11765" r="-100955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263" t="-11765" r="-955" b="-3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5" t="-110465" r="-274130" b="-22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263" t="-110465" r="-200955" b="-22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263" t="-110465" r="-100955" b="-22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263" t="-110465" r="-955" b="-2290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5" t="-212941" r="-274130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263" t="-212941" r="-200955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263" t="-212941" r="-100955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263" t="-212941" r="-955" b="-13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5" t="-312941" r="-274130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263" t="-312941" r="-200955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263" t="-312941" r="-100955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263" t="-312941" r="-955" b="-3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70139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8354738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02:</a:t>
                </a:r>
              </a:p>
              <a:p>
                <a:pPr algn="just">
                  <a:spcBef>
                    <a:spcPts val="0"/>
                  </a:spcBef>
                </a:pPr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>
                  <a:spcBef>
                    <a:spcPts val="0"/>
                  </a:spcBef>
                </a:pPr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>
                  <a:spcBef>
                    <a:spcPts val="0"/>
                  </a:spcBef>
                </a:pPr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>
                  <a:spcBef>
                    <a:spcPts val="0"/>
                  </a:spcBef>
                </a:pPr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>
                  <a:spcBef>
                    <a:spcPts val="0"/>
                  </a:spcBef>
                </a:pPr>
                <a:endParaRPr lang="vi-VN" sz="2800" dirty="0">
                  <a:solidFill>
                    <a:srgbClr val="0066FF"/>
                  </a:solidFill>
                </a:endParaRPr>
              </a:p>
              <a:p>
                <a:pPr lvl="1" algn="just">
                  <a:spcBef>
                    <a:spcPts val="0"/>
                  </a:spcBef>
                </a:pPr>
                <a:r>
                  <a:rPr lang="vi-VN" sz="2800" dirty="0" err="1">
                    <a:solidFill>
                      <a:srgbClr val="FF0000"/>
                    </a:solidFill>
                  </a:rPr>
                  <a:t>Lớp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ít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nhất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)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với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2+3=5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sai.</a:t>
                </a:r>
              </a:p>
              <a:p>
                <a:pPr lvl="1" algn="just">
                  <a:spcBef>
                    <a:spcPts val="0"/>
                  </a:spcBef>
                </a:pP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nhiều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nhất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khỉ</a:t>
                </a:r>
                <a:r>
                  <a:rPr lang="vi-VN" sz="2800" dirty="0">
                    <a:solidFill>
                      <a:srgbClr val="0066FF"/>
                    </a:solidFill>
                  </a:rPr>
                  <a:t>)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6+8=14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sai.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CD5D296A-EA2D-4532-A79C-1A4512B4671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3400" y="2118360"/>
              <a:ext cx="10461942" cy="20726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801067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4926929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gà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chó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khỉ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gà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chó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khỉ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70139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CD5D296A-EA2D-4532-A79C-1A4512B467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7220615"/>
                  </p:ext>
                </p:extLst>
              </p:nvPr>
            </p:nvGraphicFramePr>
            <p:xfrm>
              <a:off x="533400" y="2118360"/>
              <a:ext cx="10461942" cy="20726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801067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4926929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024" t="-11765" r="-200955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024" t="-11765" r="-100955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024" t="-11765" r="-955" b="-3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7" t="-110465" r="-274130" b="-22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024" t="-110465" r="-200955" b="-22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024" t="-110465" r="-100955" b="-22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024" t="-110465" r="-955" b="-2290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7" t="-212941" r="-274130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024" t="-212941" r="-200955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024" t="-212941" r="-100955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024" t="-212941" r="-955" b="-13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7" t="-312941" r="-274130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024" t="-312941" r="-200955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024" t="-312941" r="-100955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024" t="-312941" r="-955" b="-3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70139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0808648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vi-VN" sz="2800" dirty="0">
                    <a:solidFill>
                      <a:srgbClr val="0066FF"/>
                    </a:solidFill>
                  </a:rPr>
                  <a:t>Ví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02:</a:t>
                </a:r>
              </a:p>
              <a:p>
                <a:pPr algn="just">
                  <a:spcBef>
                    <a:spcPts val="0"/>
                  </a:spcBef>
                </a:pPr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>
                  <a:spcBef>
                    <a:spcPts val="0"/>
                  </a:spcBef>
                </a:pPr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>
                  <a:spcBef>
                    <a:spcPts val="0"/>
                  </a:spcBef>
                </a:pPr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>
                  <a:spcBef>
                    <a:spcPts val="0"/>
                  </a:spcBef>
                </a:pPr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>
                  <a:spcBef>
                    <a:spcPts val="0"/>
                  </a:spcBef>
                </a:pPr>
                <a:endParaRPr lang="vi-VN" sz="2800" dirty="0">
                  <a:solidFill>
                    <a:srgbClr val="0066FF"/>
                  </a:solidFill>
                </a:endParaRPr>
              </a:p>
              <a:p>
                <a:pPr lvl="1" algn="just">
                  <a:spcBef>
                    <a:spcPts val="0"/>
                  </a:spcBef>
                </a:pP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100−25−33−16=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endParaRPr lang="vi-VN" sz="2800" dirty="0">
                  <a:solidFill>
                    <a:srgbClr val="FF0000"/>
                  </a:solidFill>
                </a:endParaRPr>
              </a:p>
              <a:p>
                <a:pPr lvl="1" algn="just">
                  <a:spcBef>
                    <a:spcPts val="0"/>
                  </a:spcBef>
                </a:pPr>
                <a:r>
                  <a:rPr lang="vi-VN" sz="2800" dirty="0" err="1">
                    <a:solidFill>
                      <a:srgbClr val="0066FF"/>
                    </a:solidFill>
                  </a:rPr>
                  <a:t>Tỉ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lệ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26/100=0.26</m:t>
                    </m:r>
                  </m:oMath>
                </a14:m>
                <a:endParaRPr lang="vi-VN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CD5D296A-EA2D-4532-A79C-1A4512B4671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3400" y="2118360"/>
              <a:ext cx="10461942" cy="20726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801067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4926929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gà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chó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khỉ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gà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chó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khỉ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70139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CD5D296A-EA2D-4532-A79C-1A4512B467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7220615"/>
                  </p:ext>
                </p:extLst>
              </p:nvPr>
            </p:nvGraphicFramePr>
            <p:xfrm>
              <a:off x="533400" y="2118360"/>
              <a:ext cx="10461942" cy="20726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801067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4926929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024" t="-11765" r="-200955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024" t="-11765" r="-100955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024" t="-11765" r="-955" b="-3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7" t="-110465" r="-274130" b="-22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024" t="-110465" r="-200955" b="-22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024" t="-110465" r="-100955" b="-22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024" t="-110465" r="-955" b="-2290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7" t="-212941" r="-274130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024" t="-212941" r="-200955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024" t="-212941" r="-100955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024" t="-212941" r="-955" b="-13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7" t="-312941" r="-274130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024" t="-312941" r="-200955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024" t="-312941" r="-100955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024" t="-312941" r="-955" b="-3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70139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61646803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03: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Cho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ảnh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khỉ</a:t>
                </a:r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Đặt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diện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khỉ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Thực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hiện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dự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gồm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>
                    <a:solidFill>
                      <a:srgbClr val="0066FF"/>
                    </a:solidFill>
                  </a:rPr>
                  <a:t>Ta thu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confusion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sau: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4671B18-B970-4387-A295-AF318F7B5E3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7200" y="4099560"/>
              <a:ext cx="10461942" cy="20726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801067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4926929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gà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chó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khỉ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gà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chó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E8E8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vi-VN" sz="28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oMath>
                          </a14:m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khỉ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70139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4671B18-B970-4387-A295-AF318F7B5E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1155931"/>
                  </p:ext>
                </p:extLst>
              </p:nvPr>
            </p:nvGraphicFramePr>
            <p:xfrm>
              <a:off x="457200" y="4099560"/>
              <a:ext cx="10461942" cy="20726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801067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  <a:gridCol w="2553625">
                      <a:extLst>
                        <a:ext uri="{9D8B030D-6E8A-4147-A177-3AD203B41FA5}">
                          <a16:colId xmlns:a16="http://schemas.microsoft.com/office/drawing/2014/main" val="4926929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263" t="-11765" r="-200955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263" t="-11765" r="-100955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263" t="-11765" r="-955" b="-3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5" t="-110465" r="-274130" b="-22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263" t="-110465" r="-200955" b="-22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263" t="-110465" r="-100955" b="-22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263" t="-110465" r="-955" b="-2290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5" t="-212941" r="-274130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263" t="-212941" r="-200955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263" t="-212941" r="-100955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263" t="-212941" r="-955" b="-13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5" t="-312941" r="-274130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263" t="-312941" r="-200955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263" t="-312941" r="-100955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263" t="-312941" r="-955" b="-3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70139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1085329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D3041-FACE-48BF-96D1-90B417B18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Ví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dụ</a:t>
            </a:r>
            <a:r>
              <a:rPr lang="vi-VN" sz="2800" dirty="0">
                <a:solidFill>
                  <a:srgbClr val="0066FF"/>
                </a:solidFill>
              </a:rPr>
              <a:t> 03: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Ta </a:t>
            </a:r>
            <a:r>
              <a:rPr lang="vi-VN" sz="2800" dirty="0" err="1">
                <a:solidFill>
                  <a:srgbClr val="FF0000"/>
                </a:solidFill>
              </a:rPr>
              <a:t>thực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hiện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đánh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giá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lớp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dữ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liệu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gà</a:t>
            </a:r>
            <a:r>
              <a:rPr lang="vi-VN" sz="2800" dirty="0">
                <a:solidFill>
                  <a:srgbClr val="FF0000"/>
                </a:solidFill>
              </a:rPr>
              <a:t>. </a:t>
            </a:r>
            <a:r>
              <a:rPr lang="vi-VN" sz="2800" dirty="0" err="1">
                <a:solidFill>
                  <a:srgbClr val="FF0000"/>
                </a:solidFill>
              </a:rPr>
              <a:t>Gán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lớp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Positive</a:t>
            </a:r>
            <a:r>
              <a:rPr lang="vi-VN" sz="2800" dirty="0">
                <a:solidFill>
                  <a:srgbClr val="FF0000"/>
                </a:solidFill>
              </a:rPr>
              <a:t>,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lớp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còn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lại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được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gộp</a:t>
            </a:r>
            <a:r>
              <a:rPr lang="vi-VN" sz="2800" dirty="0">
                <a:solidFill>
                  <a:srgbClr val="FF0000"/>
                </a:solidFill>
              </a:rPr>
              <a:t> chung </a:t>
            </a:r>
            <a:r>
              <a:rPr lang="vi-VN" sz="2800" dirty="0" err="1">
                <a:solidFill>
                  <a:srgbClr val="FF0000"/>
                </a:solidFill>
              </a:rPr>
              <a:t>thành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Negative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  <a:endParaRPr lang="vi-VN" sz="2800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4671B18-B970-4387-A295-AF318F7B5E3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3400" y="3124200"/>
              <a:ext cx="10820400" cy="29260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962400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19812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  <a:gridCol w="1981200">
                      <a:extLst>
                        <a:ext uri="{9D8B030D-6E8A-4147-A177-3AD203B41FA5}">
                          <a16:colId xmlns:a16="http://schemas.microsoft.com/office/drawing/2014/main" val="4926929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Dự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đoán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là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Positive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gà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Negative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chó</a:t>
                          </a:r>
                          <a:r>
                            <a:rPr lang="vi-VN" sz="2800" dirty="0"/>
                            <a:t> + </a:t>
                          </a:r>
                          <a:r>
                            <a:rPr lang="vi-VN" sz="2800" dirty="0" err="1"/>
                            <a:t>khỉ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Positive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gà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CDCDD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CDCDD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CDCDD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Negative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chó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+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khỉ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E8E8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E8E8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E8E8E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/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CDCDD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CDCDD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CDCDD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70139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4671B18-B970-4387-A295-AF318F7B5E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2540156"/>
                  </p:ext>
                </p:extLst>
              </p:nvPr>
            </p:nvGraphicFramePr>
            <p:xfrm>
              <a:off x="533400" y="3124200"/>
              <a:ext cx="10820400" cy="29260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962400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19812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  <a:gridCol w="1981200">
                      <a:extLst>
                        <a:ext uri="{9D8B030D-6E8A-4147-A177-3AD203B41FA5}">
                          <a16:colId xmlns:a16="http://schemas.microsoft.com/office/drawing/2014/main" val="49269294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Dự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đoán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là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Positive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gà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Negative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chó</a:t>
                          </a:r>
                          <a:r>
                            <a:rPr lang="vi-VN" sz="2800" dirty="0"/>
                            <a:t> + </a:t>
                          </a:r>
                          <a:r>
                            <a:rPr lang="vi-VN" sz="2800" dirty="0" err="1"/>
                            <a:t>khỉ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Positive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gà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6765" t="-105769" r="-137395" b="-1217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6769" t="-105769" r="-101231" b="-1217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6769" t="-105769" r="-1231" b="-1217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51816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Negative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chó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+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khỉ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6765" t="-377647" r="-137395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6769" t="-377647" r="-101231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6769" t="-377647" r="-1231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pPr algn="ctr"/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6765" t="-477647" r="-137395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6769" t="-477647" r="-101231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6769" t="-477647" r="-1231" b="-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70139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066349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D3041-FACE-48BF-96D1-90B417B18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Ví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dụ</a:t>
            </a:r>
            <a:r>
              <a:rPr lang="vi-VN" sz="2800" dirty="0">
                <a:solidFill>
                  <a:srgbClr val="0066FF"/>
                </a:solidFill>
              </a:rPr>
              <a:t> 03: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Ta </a:t>
            </a:r>
            <a:r>
              <a:rPr lang="vi-VN" sz="2800" dirty="0" err="1">
                <a:solidFill>
                  <a:srgbClr val="FF0000"/>
                </a:solidFill>
              </a:rPr>
              <a:t>thực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hiện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đánh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giá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lớp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dữ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liệu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gà</a:t>
            </a:r>
            <a:r>
              <a:rPr lang="vi-VN" sz="2800" dirty="0">
                <a:solidFill>
                  <a:srgbClr val="FF0000"/>
                </a:solidFill>
              </a:rPr>
              <a:t>. </a:t>
            </a:r>
            <a:r>
              <a:rPr lang="vi-VN" sz="2800" dirty="0" err="1">
                <a:solidFill>
                  <a:srgbClr val="FF0000"/>
                </a:solidFill>
              </a:rPr>
              <a:t>Gán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lớp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Positive</a:t>
            </a:r>
            <a:r>
              <a:rPr lang="vi-VN" sz="2800" dirty="0">
                <a:solidFill>
                  <a:srgbClr val="FF0000"/>
                </a:solidFill>
              </a:rPr>
              <a:t>,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lớp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còn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lại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được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gộp</a:t>
            </a:r>
            <a:r>
              <a:rPr lang="vi-VN" sz="2800" dirty="0">
                <a:solidFill>
                  <a:srgbClr val="FF0000"/>
                </a:solidFill>
              </a:rPr>
              <a:t> chung </a:t>
            </a:r>
            <a:r>
              <a:rPr lang="vi-VN" sz="2800" dirty="0" err="1">
                <a:solidFill>
                  <a:srgbClr val="FF0000"/>
                </a:solidFill>
              </a:rPr>
              <a:t>thành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Negative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  <a:endParaRPr lang="vi-VN" sz="2800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4671B18-B970-4387-A295-AF318F7B5E3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3400" y="3124200"/>
              <a:ext cx="10820400" cy="29718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962400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9624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Dự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đoán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là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Positive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gà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Negative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chó</a:t>
                          </a:r>
                          <a:r>
                            <a:rPr lang="vi-VN" sz="2800" dirty="0"/>
                            <a:t> + </a:t>
                          </a:r>
                          <a:r>
                            <a:rPr lang="vi-VN" sz="2800" dirty="0" err="1"/>
                            <a:t>khỉ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Positive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gà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𝑇𝑃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CDCDD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5(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𝐹𝑁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1082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Negative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chó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+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khỉ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9(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𝐹𝑃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E8E8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61(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𝑇𝑁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E8E8E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4671B18-B970-4387-A295-AF318F7B5E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918002"/>
                  </p:ext>
                </p:extLst>
              </p:nvPr>
            </p:nvGraphicFramePr>
            <p:xfrm>
              <a:off x="533400" y="3124200"/>
              <a:ext cx="10820400" cy="29718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962400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9624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Dự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đoán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là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Positive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gà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Negative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chó</a:t>
                          </a:r>
                          <a:r>
                            <a:rPr lang="vi-VN" sz="2800" dirty="0"/>
                            <a:t> + </a:t>
                          </a:r>
                          <a:r>
                            <a:rPr lang="vi-VN" sz="2800" dirty="0" err="1"/>
                            <a:t>khỉ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Positive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gà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6765" t="-106452" r="-137395" b="-125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3385" t="-106452" r="-615" b="-125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1082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Negative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chó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+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khỉ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6765" t="-179775" r="-137395" b="-95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3385" t="-179775" r="-615" b="-95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83173624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Ví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03: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Tỉ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xác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định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nhầm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𝐹𝑃𝑅</m:t>
                    </m:r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</m:num>
                      <m:den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den>
                    </m:f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den>
                    </m:f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13</m:t>
                    </m:r>
                  </m:oMath>
                </a14:m>
                <a:endParaRPr lang="vi-V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A0DAB750-35DD-480E-9B3E-96E48E4ACCE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3400" y="2133600"/>
              <a:ext cx="10820400" cy="29718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962400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9624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Dự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đoán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là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Positive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gà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Negative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chó</a:t>
                          </a:r>
                          <a:r>
                            <a:rPr lang="vi-VN" sz="2800" dirty="0"/>
                            <a:t> + </a:t>
                          </a:r>
                          <a:r>
                            <a:rPr lang="vi-VN" sz="2800" dirty="0" err="1"/>
                            <a:t>khỉ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Positive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gà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𝑇𝑃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CDCDD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5(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𝐹𝑁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1082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Negative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chó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+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khỉ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9(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𝐹𝑃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E8E8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61(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𝑇𝑁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E8E8E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A0DAB750-35DD-480E-9B3E-96E48E4ACC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9997193"/>
                  </p:ext>
                </p:extLst>
              </p:nvPr>
            </p:nvGraphicFramePr>
            <p:xfrm>
              <a:off x="533400" y="2133600"/>
              <a:ext cx="10820400" cy="29718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962400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9624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Dự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đoán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là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Positive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gà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Negative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chó</a:t>
                          </a:r>
                          <a:r>
                            <a:rPr lang="vi-VN" sz="2800" dirty="0"/>
                            <a:t> + </a:t>
                          </a:r>
                          <a:r>
                            <a:rPr lang="vi-VN" sz="2800" dirty="0" err="1"/>
                            <a:t>khỉ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Positive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gà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6765" t="-106452" r="-137395" b="-12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3385" t="-106452" r="-615" b="-1251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1082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Negative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chó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+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khỉ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6765" t="-179775" r="-137395" b="-89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3385" t="-179775" r="-615" b="-8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0274385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Ví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03: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Tỉ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bỏ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sót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𝐹𝑁𝑅</m:t>
                    </m:r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num>
                      <m:den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den>
                    </m:f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=0.1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67</m:t>
                    </m:r>
                  </m:oMath>
                </a14:m>
                <a:endParaRPr lang="vi-V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D3041-FACE-48BF-96D1-90B417B18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A925FE6-36B8-46AE-9241-EB3B427A493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3400" y="2133600"/>
              <a:ext cx="10820400" cy="29718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962400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9624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Dự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đoán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là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Positive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gà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Negative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chó</a:t>
                          </a:r>
                          <a:r>
                            <a:rPr lang="vi-VN" sz="2800" dirty="0"/>
                            <a:t> + </a:t>
                          </a:r>
                          <a:r>
                            <a:rPr lang="vi-VN" sz="2800" dirty="0" err="1"/>
                            <a:t>khỉ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Positive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gà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𝑇𝑃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CDCDD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5(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𝐹𝑁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1082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Negative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chó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+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khỉ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9(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𝐹𝑃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E8E8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61(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𝑇𝑁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E8E8E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A925FE6-36B8-46AE-9241-EB3B427A49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1927856"/>
                  </p:ext>
                </p:extLst>
              </p:nvPr>
            </p:nvGraphicFramePr>
            <p:xfrm>
              <a:off x="533400" y="2133600"/>
              <a:ext cx="10820400" cy="29718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962400">
                      <a:extLst>
                        <a:ext uri="{9D8B030D-6E8A-4147-A177-3AD203B41FA5}">
                          <a16:colId xmlns:a16="http://schemas.microsoft.com/office/drawing/2014/main" val="3139554479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2280819581"/>
                        </a:ext>
                      </a:extLst>
                    </a:gridCol>
                    <a:gridCol w="3962400">
                      <a:extLst>
                        <a:ext uri="{9D8B030D-6E8A-4147-A177-3AD203B41FA5}">
                          <a16:colId xmlns:a16="http://schemas.microsoft.com/office/drawing/2014/main" val="3764695880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Dự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đoán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là</a:t>
                          </a:r>
                          <a:r>
                            <a:rPr lang="vi-VN" sz="2800" baseline="0" dirty="0"/>
                            <a:t> </a:t>
                          </a:r>
                          <a:r>
                            <a:rPr lang="vi-VN" sz="2800" baseline="0" dirty="0" err="1"/>
                            <a:t>Positive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gà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Dự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đoán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Negative</a:t>
                          </a:r>
                          <a:r>
                            <a:rPr lang="vi-VN" sz="2800" dirty="0"/>
                            <a:t> (</a:t>
                          </a:r>
                          <a:r>
                            <a:rPr lang="vi-VN" sz="2800" dirty="0" err="1"/>
                            <a:t>chó</a:t>
                          </a:r>
                          <a:r>
                            <a:rPr lang="vi-VN" sz="2800" dirty="0"/>
                            <a:t> + </a:t>
                          </a:r>
                          <a:r>
                            <a:rPr lang="vi-VN" sz="2800" dirty="0" err="1"/>
                            <a:t>khỉ</a:t>
                          </a:r>
                          <a:r>
                            <a:rPr lang="vi-VN" sz="28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5547568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Positive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baseline="0" dirty="0" err="1">
                              <a:solidFill>
                                <a:schemeClr val="bg1"/>
                              </a:solidFill>
                            </a:rPr>
                            <a:t>gà</a:t>
                          </a:r>
                          <a:r>
                            <a:rPr lang="vi-VN" sz="2800" b="1" baseline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6765" t="-106452" r="-137395" b="-12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3385" t="-106452" r="-615" b="-1251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2295239"/>
                      </a:ext>
                    </a:extLst>
                  </a:tr>
                  <a:tr h="1082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Thực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sự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là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Negative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chó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 + </a:t>
                          </a:r>
                          <a:r>
                            <a:rPr lang="vi-VN" sz="2800" b="1" dirty="0" err="1">
                              <a:solidFill>
                                <a:schemeClr val="bg1"/>
                              </a:solidFill>
                            </a:rPr>
                            <a:t>khỉ</a:t>
                          </a:r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6765" t="-179775" r="-137395" b="-89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3385" t="-179775" r="-615" b="-8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942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51597600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B01C5-E89A-44DE-AADF-0D8223759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59291643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B77E0-B2A0-4F32-8048-AE933B6F0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i="1" dirty="0">
                <a:solidFill>
                  <a:srgbClr val="0066FF"/>
                </a:solidFill>
              </a:rPr>
              <a:t>CAP (</a:t>
            </a:r>
            <a:r>
              <a:rPr lang="vi-VN" sz="2800" i="1" dirty="0" err="1">
                <a:solidFill>
                  <a:srgbClr val="0066FF"/>
                </a:solidFill>
              </a:rPr>
              <a:t>Cummulative</a:t>
            </a:r>
            <a:r>
              <a:rPr lang="vi-VN" sz="2800" i="1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accuracy</a:t>
            </a:r>
            <a:r>
              <a:rPr lang="vi-VN" sz="2800" i="1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profile</a:t>
            </a:r>
            <a:r>
              <a:rPr lang="vi-VN" sz="2800" i="1" dirty="0">
                <a:solidFill>
                  <a:srgbClr val="0066FF"/>
                </a:solidFill>
              </a:rPr>
              <a:t>) </a:t>
            </a:r>
            <a:r>
              <a:rPr lang="vi-VN" sz="2800" i="1" dirty="0" err="1">
                <a:solidFill>
                  <a:srgbClr val="0066FF"/>
                </a:solidFill>
              </a:rPr>
              <a:t>curve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đường</a:t>
            </a:r>
            <a:r>
              <a:rPr lang="vi-VN" sz="2800" dirty="0">
                <a:solidFill>
                  <a:srgbClr val="0066FF"/>
                </a:solidFill>
              </a:rPr>
              <a:t> cong </a:t>
            </a:r>
            <a:r>
              <a:rPr lang="vi-VN" sz="2800" dirty="0" err="1">
                <a:solidFill>
                  <a:srgbClr val="0066FF"/>
                </a:solidFill>
              </a:rPr>
              <a:t>được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vẽ</a:t>
            </a:r>
            <a:r>
              <a:rPr lang="vi-VN" sz="2800" dirty="0">
                <a:solidFill>
                  <a:srgbClr val="0066FF"/>
                </a:solidFill>
              </a:rPr>
              <a:t> khi </a:t>
            </a:r>
            <a:r>
              <a:rPr lang="vi-VN" sz="2800" dirty="0" err="1">
                <a:solidFill>
                  <a:srgbClr val="0066FF"/>
                </a:solidFill>
              </a:rPr>
              <a:t>dự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đoán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trên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 i="1" dirty="0">
                <a:solidFill>
                  <a:srgbClr val="FF0000"/>
                </a:solidFill>
              </a:rPr>
              <a:t>CAP </a:t>
            </a:r>
            <a:r>
              <a:rPr lang="vi-VN" sz="2800" i="1" dirty="0" err="1">
                <a:solidFill>
                  <a:srgbClr val="FF0000"/>
                </a:solidFill>
              </a:rPr>
              <a:t>curve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cách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đánh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giá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thường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được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sử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dụng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bài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toán</a:t>
            </a:r>
            <a:r>
              <a:rPr lang="vi-VN" sz="2800" dirty="0">
                <a:solidFill>
                  <a:srgbClr val="FF0000"/>
                </a:solidFill>
              </a:rPr>
              <a:t> phân </a:t>
            </a:r>
            <a:r>
              <a:rPr lang="vi-VN" sz="2800" dirty="0" err="1">
                <a:solidFill>
                  <a:srgbClr val="FF0000"/>
                </a:solidFill>
              </a:rPr>
              <a:t>loại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algn="just"/>
            <a:r>
              <a:rPr lang="vi-VN" sz="2800" i="1" dirty="0">
                <a:solidFill>
                  <a:srgbClr val="0066FF"/>
                </a:solidFill>
              </a:rPr>
              <a:t>CAP </a:t>
            </a:r>
            <a:r>
              <a:rPr lang="vi-VN" sz="2800" i="1" dirty="0" err="1">
                <a:solidFill>
                  <a:srgbClr val="0066FF"/>
                </a:solidFill>
              </a:rPr>
              <a:t>curve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thường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dùng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để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đánh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giá</a:t>
            </a:r>
            <a:r>
              <a:rPr lang="vi-VN" sz="2800" dirty="0">
                <a:solidFill>
                  <a:srgbClr val="0066FF"/>
                </a:solidFill>
              </a:rPr>
              <a:t> trên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lớp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nhất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định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7486862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i="1" dirty="0">
                    <a:solidFill>
                      <a:srgbClr val="0066FF"/>
                    </a:solidFill>
                  </a:rPr>
                  <a:t>CAP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curve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biểu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diễn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đồ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không gian 2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chiều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𝑂𝑥𝑦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,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Trục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hoành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) tương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ứng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với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chọn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bằng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nào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Trục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tung (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 sz="2800" i="0" dirty="0">
                    <a:solidFill>
                      <a:srgbClr val="0066FF"/>
                    </a:solidFill>
                    <a:latin typeface="+mj-lt"/>
                  </a:rPr>
                  <a:t>)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về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ta quan tâm trong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chọn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ra.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474716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01: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ta đang quan tâm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về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lớp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Xét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100,000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10,000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boom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chúng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ta cho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CAP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curve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như sau.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 b="-377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25E8D0-4FE2-4F25-818F-47A24C6174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48196"/>
            <a:ext cx="5384800" cy="402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698851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dirty="0">
                    <a:solidFill>
                      <a:srgbClr val="0066FF"/>
                    </a:solidFill>
                  </a:rPr>
                  <a:t> </a:t>
                </a:r>
                <a:r>
                  <a:rPr lang="vi-VN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dirty="0">
                    <a:solidFill>
                      <a:srgbClr val="0066FF"/>
                    </a:solidFill>
                  </a:rPr>
                  <a:t> 01: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cùng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nghĩa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nếu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chọn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100,000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tức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toàn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bộ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), ta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nhận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tương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ứng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F30E870F-F672-488D-8835-D70D7EE0CB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48196"/>
            <a:ext cx="5384800" cy="402997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BC7B3634-F63E-482D-B878-7AD2ED3F7719}"/>
              </a:ext>
            </a:extLst>
          </p:cNvPr>
          <p:cNvSpPr/>
          <p:nvPr/>
        </p:nvSpPr>
        <p:spPr>
          <a:xfrm>
            <a:off x="11138452" y="2030896"/>
            <a:ext cx="228600" cy="228600"/>
          </a:xfrm>
          <a:prstGeom prst="ellipse">
            <a:avLst/>
          </a:prstGeom>
          <a:solidFill>
            <a:srgbClr val="C00000">
              <a:alpha val="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8E247F7-A966-4AB4-B30B-7F7AA1E578E9}"/>
              </a:ext>
            </a:extLst>
          </p:cNvPr>
          <p:cNvCxnSpPr>
            <a:cxnSpLocks/>
          </p:cNvCxnSpPr>
          <p:nvPr/>
        </p:nvCxnSpPr>
        <p:spPr>
          <a:xfrm>
            <a:off x="11252752" y="2145196"/>
            <a:ext cx="0" cy="3493604"/>
          </a:xfrm>
          <a:prstGeom prst="line">
            <a:avLst/>
          </a:prstGeom>
          <a:ln w="254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27628F6-8187-49DB-B3D2-2B6F5F521617}"/>
              </a:ext>
            </a:extLst>
          </p:cNvPr>
          <p:cNvCxnSpPr>
            <a:cxnSpLocks/>
          </p:cNvCxnSpPr>
          <p:nvPr/>
        </p:nvCxnSpPr>
        <p:spPr>
          <a:xfrm flipH="1">
            <a:off x="6781800" y="2158448"/>
            <a:ext cx="4470952" cy="0"/>
          </a:xfrm>
          <a:prstGeom prst="line">
            <a:avLst/>
          </a:prstGeom>
          <a:ln w="254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936758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dirty="0">
                    <a:solidFill>
                      <a:srgbClr val="0066FF"/>
                    </a:solidFill>
                  </a:rPr>
                  <a:t>Ví </a:t>
                </a:r>
                <a:r>
                  <a:rPr lang="vi-VN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dirty="0">
                    <a:solidFill>
                      <a:srgbClr val="0066FF"/>
                    </a:solidFill>
                  </a:rPr>
                  <a:t> 01: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thứ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(tương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ứng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với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=20,000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)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ý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nghĩa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nếu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phép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chọn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20,000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100,000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ta thu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khoảng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2A2A316-7A18-4DA9-AFE2-4D0FBDB689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48196"/>
            <a:ext cx="5384800" cy="402997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2389CF58-EF39-4387-8B67-D30B3BA840EF}"/>
              </a:ext>
            </a:extLst>
          </p:cNvPr>
          <p:cNvSpPr/>
          <p:nvPr/>
        </p:nvSpPr>
        <p:spPr>
          <a:xfrm>
            <a:off x="7709452" y="4558748"/>
            <a:ext cx="228600" cy="228600"/>
          </a:xfrm>
          <a:prstGeom prst="ellipse">
            <a:avLst/>
          </a:prstGeom>
          <a:solidFill>
            <a:srgbClr val="C00000">
              <a:alpha val="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240E7C-4B6A-4167-AA52-077D8ECF84A6}"/>
              </a:ext>
            </a:extLst>
          </p:cNvPr>
          <p:cNvCxnSpPr>
            <a:cxnSpLocks/>
          </p:cNvCxnSpPr>
          <p:nvPr/>
        </p:nvCxnSpPr>
        <p:spPr>
          <a:xfrm>
            <a:off x="7823752" y="4692926"/>
            <a:ext cx="0" cy="869674"/>
          </a:xfrm>
          <a:prstGeom prst="line">
            <a:avLst/>
          </a:prstGeom>
          <a:ln w="254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0EB513-6E45-4D1B-9CDA-A3ECB6BA3C63}"/>
              </a:ext>
            </a:extLst>
          </p:cNvPr>
          <p:cNvCxnSpPr>
            <a:cxnSpLocks/>
          </p:cNvCxnSpPr>
          <p:nvPr/>
        </p:nvCxnSpPr>
        <p:spPr>
          <a:xfrm flipH="1">
            <a:off x="6705600" y="4673048"/>
            <a:ext cx="1118152" cy="0"/>
          </a:xfrm>
          <a:prstGeom prst="line">
            <a:avLst/>
          </a:prstGeom>
          <a:ln w="254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643336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B77E0-B2A0-4F32-8048-AE933B6F0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Định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nghĩa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Random</a:t>
            </a:r>
            <a:r>
              <a:rPr lang="vi-VN" sz="2800" i="1" dirty="0">
                <a:solidFill>
                  <a:srgbClr val="0066FF"/>
                </a:solidFill>
              </a:rPr>
              <a:t> CAP </a:t>
            </a:r>
            <a:r>
              <a:rPr lang="vi-VN" sz="2800" i="1" dirty="0" err="1">
                <a:solidFill>
                  <a:srgbClr val="0066FF"/>
                </a:solidFill>
              </a:rPr>
              <a:t>Curve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i="1" dirty="0" err="1">
                <a:solidFill>
                  <a:srgbClr val="FF0000"/>
                </a:solidFill>
              </a:rPr>
              <a:t>Random</a:t>
            </a:r>
            <a:r>
              <a:rPr lang="vi-VN" sz="2800" i="1" dirty="0">
                <a:solidFill>
                  <a:srgbClr val="FF0000"/>
                </a:solidFill>
              </a:rPr>
              <a:t> CAP </a:t>
            </a:r>
            <a:r>
              <a:rPr lang="vi-VN" sz="2800" i="1" dirty="0" err="1">
                <a:solidFill>
                  <a:srgbClr val="FF0000"/>
                </a:solidFill>
              </a:rPr>
              <a:t>Curve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được</a:t>
            </a:r>
            <a:r>
              <a:rPr lang="vi-VN" sz="2800" dirty="0">
                <a:solidFill>
                  <a:srgbClr val="FF0000"/>
                </a:solidFill>
              </a:rPr>
              <a:t> xây </a:t>
            </a:r>
            <a:r>
              <a:rPr lang="vi-VN" sz="2800" dirty="0" err="1">
                <a:solidFill>
                  <a:srgbClr val="FF0000"/>
                </a:solidFill>
              </a:rPr>
              <a:t>dựng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bằng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cách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chọn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các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điểm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dữ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liệu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hoàn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toàn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ngẫu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nhiên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Nếu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số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lượng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đủ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lớn</a:t>
            </a:r>
            <a:r>
              <a:rPr lang="vi-VN" sz="2800" dirty="0">
                <a:solidFill>
                  <a:srgbClr val="0066FF"/>
                </a:solidFill>
              </a:rPr>
              <a:t>, </a:t>
            </a:r>
            <a:r>
              <a:rPr lang="vi-VN" sz="2800" dirty="0" err="1">
                <a:solidFill>
                  <a:srgbClr val="0066FF"/>
                </a:solidFill>
              </a:rPr>
              <a:t>đồ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thị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Random</a:t>
            </a:r>
            <a:r>
              <a:rPr lang="vi-VN" sz="2800" i="1" dirty="0">
                <a:solidFill>
                  <a:srgbClr val="0066FF"/>
                </a:solidFill>
              </a:rPr>
              <a:t> CAP </a:t>
            </a:r>
            <a:r>
              <a:rPr lang="vi-VN" sz="2800" i="1" dirty="0" err="1">
                <a:solidFill>
                  <a:srgbClr val="0066FF"/>
                </a:solidFill>
              </a:rPr>
              <a:t>Curve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một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đường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thẳng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4752427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02: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ta đang quan tâm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về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lớp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Xét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100,000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10,000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boom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</a:t>
                </a:r>
              </a:p>
              <a:p>
                <a:pPr lvl="1" algn="just"/>
                <a:r>
                  <a:rPr lang="vi-VN" sz="2800" i="1" dirty="0" err="1">
                    <a:solidFill>
                      <a:srgbClr val="FF0000"/>
                    </a:solidFill>
                  </a:rPr>
                  <a:t>Random</a:t>
                </a:r>
                <a:r>
                  <a:rPr lang="vi-VN" sz="2800" i="1" dirty="0">
                    <a:solidFill>
                      <a:srgbClr val="FF0000"/>
                    </a:solidFill>
                  </a:rPr>
                  <a:t> CAP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curve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dạng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như sau.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 b="-566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E270DD-EA1A-47C9-B7ED-C0EB15F65B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931677"/>
            <a:ext cx="5384800" cy="386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37613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vi-VN" sz="2800" dirty="0">
                    <a:solidFill>
                      <a:srgbClr val="0066FF"/>
                    </a:solidFill>
                  </a:rPr>
                  <a:t>Ví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02:</a:t>
                </a:r>
              </a:p>
              <a:p>
                <a:pPr lvl="1" algn="just">
                  <a:spcBef>
                    <a:spcPts val="0"/>
                  </a:spcBef>
                </a:pPr>
                <a:r>
                  <a:rPr lang="vi-VN" sz="2800" dirty="0">
                    <a:solidFill>
                      <a:srgbClr val="FF0000"/>
                    </a:solidFill>
                  </a:rPr>
                  <a:t>Tần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suất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xuất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hiện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thuộc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lớp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này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10,000</m:t>
                        </m:r>
                      </m:num>
                      <m:den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100,000</m:t>
                        </m:r>
                      </m:den>
                    </m:f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=10%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>
                  <a:spcBef>
                    <a:spcPts val="0"/>
                  </a:spcBef>
                </a:pPr>
                <a:r>
                  <a:rPr lang="vi-VN" sz="2800" dirty="0" err="1">
                    <a:solidFill>
                      <a:srgbClr val="0066FF"/>
                    </a:solidFill>
                  </a:rPr>
                  <a:t>Tức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nếu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chọn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ngẫu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nhiên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bất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sẽ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khoảng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10%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boom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 b="-458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E270DD-EA1A-47C9-B7ED-C0EB15F65B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931677"/>
            <a:ext cx="5384800" cy="386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83654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Ví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02: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Nếu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chọn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ngẫu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nhiên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20,000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thì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khoảng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E270DD-EA1A-47C9-B7ED-C0EB15F65B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931677"/>
            <a:ext cx="5384800" cy="386300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9FDBBD5-DC92-4394-BC83-A6F2A78258B1}"/>
              </a:ext>
            </a:extLst>
          </p:cNvPr>
          <p:cNvSpPr/>
          <p:nvPr/>
        </p:nvSpPr>
        <p:spPr>
          <a:xfrm>
            <a:off x="7684880" y="4619212"/>
            <a:ext cx="228600" cy="228600"/>
          </a:xfrm>
          <a:prstGeom prst="ellipse">
            <a:avLst/>
          </a:prstGeom>
          <a:solidFill>
            <a:srgbClr val="C00000">
              <a:alpha val="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7D61DA-16EC-4DC0-93F2-07BDB337B67F}"/>
              </a:ext>
            </a:extLst>
          </p:cNvPr>
          <p:cNvCxnSpPr>
            <a:cxnSpLocks/>
          </p:cNvCxnSpPr>
          <p:nvPr/>
        </p:nvCxnSpPr>
        <p:spPr>
          <a:xfrm>
            <a:off x="7797248" y="4760844"/>
            <a:ext cx="0" cy="725556"/>
          </a:xfrm>
          <a:prstGeom prst="line">
            <a:avLst/>
          </a:prstGeom>
          <a:ln w="254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4ED2CA-6309-44EF-B05A-6D99F525AB50}"/>
              </a:ext>
            </a:extLst>
          </p:cNvPr>
          <p:cNvCxnSpPr>
            <a:cxnSpLocks/>
          </p:cNvCxnSpPr>
          <p:nvPr/>
        </p:nvCxnSpPr>
        <p:spPr>
          <a:xfrm flipH="1">
            <a:off x="6781800" y="4726056"/>
            <a:ext cx="1002196" cy="0"/>
          </a:xfrm>
          <a:prstGeom prst="line">
            <a:avLst/>
          </a:prstGeom>
          <a:ln w="254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922703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B77E0-B2A0-4F32-8048-AE933B6F0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Định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nghĩa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Perfect</a:t>
            </a:r>
            <a:r>
              <a:rPr lang="vi-VN" sz="2800" i="1" dirty="0">
                <a:solidFill>
                  <a:srgbClr val="0066FF"/>
                </a:solidFill>
              </a:rPr>
              <a:t> CAP </a:t>
            </a:r>
            <a:r>
              <a:rPr lang="vi-VN" sz="2800" i="1" dirty="0" err="1">
                <a:solidFill>
                  <a:srgbClr val="0066FF"/>
                </a:solidFill>
              </a:rPr>
              <a:t>Curve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i="1" dirty="0" err="1">
                <a:solidFill>
                  <a:srgbClr val="FF0000"/>
                </a:solidFill>
              </a:rPr>
              <a:t>Perfect</a:t>
            </a:r>
            <a:r>
              <a:rPr lang="vi-VN" sz="2800" i="1" dirty="0">
                <a:solidFill>
                  <a:srgbClr val="FF0000"/>
                </a:solidFill>
              </a:rPr>
              <a:t> CAP </a:t>
            </a:r>
            <a:r>
              <a:rPr lang="vi-VN" sz="2800" i="1" dirty="0" err="1">
                <a:solidFill>
                  <a:srgbClr val="FF0000"/>
                </a:solidFill>
              </a:rPr>
              <a:t>Curve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được</a:t>
            </a:r>
            <a:r>
              <a:rPr lang="vi-VN" sz="2800" dirty="0">
                <a:solidFill>
                  <a:srgbClr val="FF0000"/>
                </a:solidFill>
              </a:rPr>
              <a:t> xây </a:t>
            </a:r>
            <a:r>
              <a:rPr lang="vi-VN" sz="2800" dirty="0" err="1">
                <a:solidFill>
                  <a:srgbClr val="FF0000"/>
                </a:solidFill>
              </a:rPr>
              <a:t>dựng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bằng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cách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ưu tiên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chọn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các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điểm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thuộc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lớp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</a:rPr>
              <a:t> ta quan tâm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8830320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03: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ta đang quan tâm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về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lớp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Xét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100,000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10,000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boom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</a:t>
                </a:r>
              </a:p>
              <a:p>
                <a:pPr lvl="1" algn="just"/>
                <a:r>
                  <a:rPr lang="vi-VN" sz="2800" i="1" dirty="0" err="1">
                    <a:solidFill>
                      <a:srgbClr val="FF0000"/>
                    </a:solidFill>
                  </a:rPr>
                  <a:t>Perfect</a:t>
                </a:r>
                <a:r>
                  <a:rPr lang="vi-VN" sz="2800" i="1" dirty="0">
                    <a:solidFill>
                      <a:srgbClr val="FF0000"/>
                    </a:solidFill>
                  </a:rPr>
                  <a:t> CAP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curve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dạng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như sau.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 b="-566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7667FA1-B93B-4EFF-BDB3-533E488A5A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15640"/>
            <a:ext cx="5384800" cy="409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18608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03: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Khi ưu tiên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chọn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thuộc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lớp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nếu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cần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chọn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nhỏ</a:t>
                </a:r>
                <a:r>
                  <a:rPr lang="vi-VN" sz="2800" dirty="0">
                    <a:solidFill>
                      <a:srgbClr val="FF0000"/>
                    </a:solidFill>
                  </a:rPr>
                  <a:t> hơn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hoặc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bằng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vừa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đúng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bằng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với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chọn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12A43E6-9F26-4FDC-9B9D-D7214939CB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15640"/>
            <a:ext cx="5384800" cy="409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653791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03: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Nếu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cần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chọn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lớn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hơn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sẽ</a:t>
                </a:r>
                <a:r>
                  <a:rPr lang="vi-VN" sz="2800" dirty="0">
                    <a:solidFill>
                      <a:srgbClr val="FF0000"/>
                    </a:solidFill>
                  </a:rPr>
                  <a:t> không tăng thêm,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vì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này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chỉ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tối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đa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F56B896C-76B5-4986-A399-D7A6F1F842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15640"/>
            <a:ext cx="5384800" cy="409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58385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2125A33-2ED3-42D4-8C1D-9C5B55EA4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2800" i="1" dirty="0" err="1">
                <a:solidFill>
                  <a:srgbClr val="0066FF"/>
                </a:solidFill>
              </a:rPr>
              <a:t>Random</a:t>
            </a:r>
            <a:r>
              <a:rPr lang="vi-VN" sz="2800" i="1" dirty="0">
                <a:solidFill>
                  <a:srgbClr val="0066FF"/>
                </a:solidFill>
              </a:rPr>
              <a:t> CAP </a:t>
            </a:r>
            <a:r>
              <a:rPr lang="vi-VN" sz="2800" i="1" dirty="0" err="1">
                <a:solidFill>
                  <a:srgbClr val="0066FF"/>
                </a:solidFill>
              </a:rPr>
              <a:t>Curve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Perfect</a:t>
            </a:r>
            <a:r>
              <a:rPr lang="vi-VN" sz="2800" i="1" dirty="0">
                <a:solidFill>
                  <a:srgbClr val="0066FF"/>
                </a:solidFill>
              </a:rPr>
              <a:t> CAP </a:t>
            </a:r>
            <a:r>
              <a:rPr lang="vi-VN" sz="2800" i="1" dirty="0" err="1">
                <a:solidFill>
                  <a:srgbClr val="0066FF"/>
                </a:solidFill>
              </a:rPr>
              <a:t>Curve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47182B-E4BD-4B6A-B56C-5BFE33A9A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242" y="2159990"/>
            <a:ext cx="5485516" cy="401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50245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2125A33-2ED3-42D4-8C1D-9C5B55EA4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Định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nghĩa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Model</a:t>
            </a:r>
            <a:r>
              <a:rPr lang="vi-VN" sz="2800" i="1" dirty="0">
                <a:solidFill>
                  <a:srgbClr val="0066FF"/>
                </a:solidFill>
              </a:rPr>
              <a:t> CAP </a:t>
            </a:r>
            <a:r>
              <a:rPr lang="vi-VN" sz="2800" i="1" dirty="0" err="1">
                <a:solidFill>
                  <a:srgbClr val="0066FF"/>
                </a:solidFill>
              </a:rPr>
              <a:t>Curv</a:t>
            </a:r>
            <a:r>
              <a:rPr lang="vi-VN" sz="2800" dirty="0" err="1">
                <a:solidFill>
                  <a:srgbClr val="0066FF"/>
                </a:solidFill>
              </a:rPr>
              <a:t>e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i="1" dirty="0" err="1">
                <a:solidFill>
                  <a:srgbClr val="FF0000"/>
                </a:solidFill>
              </a:rPr>
              <a:t>Model</a:t>
            </a:r>
            <a:r>
              <a:rPr lang="vi-VN" sz="2800" i="1" dirty="0">
                <a:solidFill>
                  <a:srgbClr val="FF0000"/>
                </a:solidFill>
              </a:rPr>
              <a:t> CAP </a:t>
            </a:r>
            <a:r>
              <a:rPr lang="vi-VN" sz="2800" i="1" dirty="0" err="1">
                <a:solidFill>
                  <a:srgbClr val="FF0000"/>
                </a:solidFill>
              </a:rPr>
              <a:t>Curve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được</a:t>
            </a:r>
            <a:r>
              <a:rPr lang="vi-VN" sz="2800" dirty="0">
                <a:solidFill>
                  <a:srgbClr val="FF0000"/>
                </a:solidFill>
              </a:rPr>
              <a:t> xây </a:t>
            </a:r>
            <a:r>
              <a:rPr lang="vi-VN" sz="2800" dirty="0" err="1">
                <a:solidFill>
                  <a:srgbClr val="FF0000"/>
                </a:solidFill>
              </a:rPr>
              <a:t>dựng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bằng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cách</a:t>
            </a:r>
            <a:r>
              <a:rPr lang="vi-VN" sz="2800" dirty="0">
                <a:solidFill>
                  <a:srgbClr val="FF0000"/>
                </a:solidFill>
              </a:rPr>
              <a:t> ưu tiên </a:t>
            </a:r>
            <a:r>
              <a:rPr lang="vi-VN" sz="2800" dirty="0" err="1">
                <a:solidFill>
                  <a:srgbClr val="FF0000"/>
                </a:solidFill>
              </a:rPr>
              <a:t>chọn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điểm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>
                <a:highlight>
                  <a:srgbClr val="FFFF00"/>
                </a:highlight>
              </a:rPr>
              <a:t>mô </a:t>
            </a:r>
            <a:r>
              <a:rPr lang="vi-VN" sz="2800" dirty="0" err="1">
                <a:highlight>
                  <a:srgbClr val="FFFF00"/>
                </a:highlight>
              </a:rPr>
              <a:t>hình</a:t>
            </a:r>
            <a:r>
              <a:rPr lang="vi-VN" sz="2800" dirty="0">
                <a:highlight>
                  <a:srgbClr val="FFFF00"/>
                </a:highlight>
              </a:rPr>
              <a:t> </a:t>
            </a:r>
            <a:r>
              <a:rPr lang="vi-VN" sz="2800" dirty="0" err="1">
                <a:highlight>
                  <a:srgbClr val="FFFF00"/>
                </a:highlight>
              </a:rPr>
              <a:t>dự</a:t>
            </a:r>
            <a:r>
              <a:rPr lang="vi-VN" sz="2800" dirty="0">
                <a:highlight>
                  <a:srgbClr val="FFFF00"/>
                </a:highlight>
              </a:rPr>
              <a:t> </a:t>
            </a:r>
            <a:r>
              <a:rPr lang="vi-VN" sz="2800" dirty="0" err="1">
                <a:highlight>
                  <a:srgbClr val="FFFF00"/>
                </a:highlight>
              </a:rPr>
              <a:t>đoán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thuộc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về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lớp</a:t>
            </a:r>
            <a:r>
              <a:rPr lang="vi-VN" sz="2800" dirty="0">
                <a:solidFill>
                  <a:srgbClr val="FF0000"/>
                </a:solidFill>
              </a:rPr>
              <a:t> ta quan tâm.</a:t>
            </a:r>
          </a:p>
        </p:txBody>
      </p:sp>
    </p:spTree>
    <p:extLst>
      <p:ext uri="{BB962C8B-B14F-4D97-AF65-F5344CB8AC3E}">
        <p14:creationId xmlns:p14="http://schemas.microsoft.com/office/powerpoint/2010/main" val="3043435095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04: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ta đang quan tâm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về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lớp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Xét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100,000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10,000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boom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chúng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ta cho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i="1" dirty="0">
                    <a:solidFill>
                      <a:srgbClr val="FF0000"/>
                    </a:solidFill>
                  </a:rPr>
                  <a:t>CAP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curve</a:t>
                </a:r>
                <a:r>
                  <a:rPr lang="vi-VN" sz="2800" dirty="0">
                    <a:solidFill>
                      <a:srgbClr val="FF0000"/>
                    </a:solidFill>
                  </a:rPr>
                  <a:t> như sau.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 b="-566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4D9EBF-1A8C-4F3A-A29F-615A79F71A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57712"/>
            <a:ext cx="5384800" cy="401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994880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04: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Tại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=50,000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tức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khi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chọn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50,000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ta ưu tiên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chọn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dự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ta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thu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thực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sự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E50DFAF1-F882-4984-A40B-05323FF512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26798"/>
            <a:ext cx="5384800" cy="407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329721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2125A33-2ED3-42D4-8C1D-9C5B55EA4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vi-VN" sz="2800" i="1" dirty="0" err="1">
                <a:solidFill>
                  <a:srgbClr val="0066FF"/>
                </a:solidFill>
              </a:rPr>
              <a:t>Random</a:t>
            </a:r>
            <a:r>
              <a:rPr lang="vi-VN" sz="2800" i="1" dirty="0">
                <a:solidFill>
                  <a:srgbClr val="0066FF"/>
                </a:solidFill>
              </a:rPr>
              <a:t> CAP </a:t>
            </a:r>
            <a:r>
              <a:rPr lang="vi-VN" sz="2800" i="1" dirty="0" err="1">
                <a:solidFill>
                  <a:srgbClr val="0066FF"/>
                </a:solidFill>
              </a:rPr>
              <a:t>Curve</a:t>
            </a:r>
            <a:r>
              <a:rPr lang="vi-VN" sz="2800" dirty="0">
                <a:solidFill>
                  <a:srgbClr val="0066FF"/>
                </a:solidFill>
              </a:rPr>
              <a:t>, </a:t>
            </a:r>
            <a:r>
              <a:rPr lang="vi-VN" sz="2800" i="1" dirty="0" err="1">
                <a:solidFill>
                  <a:srgbClr val="0066FF"/>
                </a:solidFill>
              </a:rPr>
              <a:t>Perfect</a:t>
            </a:r>
            <a:r>
              <a:rPr lang="vi-VN" sz="2800" i="1" dirty="0">
                <a:solidFill>
                  <a:srgbClr val="0066FF"/>
                </a:solidFill>
              </a:rPr>
              <a:t> CAP </a:t>
            </a:r>
            <a:r>
              <a:rPr lang="vi-VN" sz="2800" i="1" dirty="0" err="1">
                <a:solidFill>
                  <a:srgbClr val="0066FF"/>
                </a:solidFill>
              </a:rPr>
              <a:t>Curve</a:t>
            </a:r>
            <a:r>
              <a:rPr lang="vi-VN" sz="2800" i="1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Model</a:t>
            </a:r>
            <a:r>
              <a:rPr lang="vi-VN" sz="2800" i="1" dirty="0">
                <a:solidFill>
                  <a:srgbClr val="0066FF"/>
                </a:solidFill>
              </a:rPr>
              <a:t> CAP </a:t>
            </a:r>
            <a:r>
              <a:rPr lang="vi-VN" sz="2800" i="1" dirty="0" err="1">
                <a:solidFill>
                  <a:srgbClr val="0066FF"/>
                </a:solidFill>
              </a:rPr>
              <a:t>Curve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589055-A601-4268-B13B-8EF392A8D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2216715"/>
            <a:ext cx="5372100" cy="395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760344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2125A33-2ED3-42D4-8C1D-9C5B55EA4A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525963"/>
              </a:xfrm>
            </p:spPr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Đánh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vào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CAP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Curve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Đặt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diện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tích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giữa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hai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đường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Perfect</a:t>
                </a:r>
                <a:r>
                  <a:rPr lang="vi-VN" sz="2800" i="1" dirty="0">
                    <a:solidFill>
                      <a:srgbClr val="FF0000"/>
                    </a:solidFill>
                  </a:rPr>
                  <a:t> CAP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Curve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Random</a:t>
                </a:r>
                <a:r>
                  <a:rPr lang="vi-VN" sz="2800" i="1" dirty="0">
                    <a:solidFill>
                      <a:srgbClr val="FF0000"/>
                    </a:solidFill>
                  </a:rPr>
                  <a:t> CAP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Curve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2125A33-2ED3-42D4-8C1D-9C5B55EA4A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525963"/>
              </a:xfrm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DF95BCF-B5C8-46BB-97CA-09E1D3AD6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2717073"/>
            <a:ext cx="4552950" cy="335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354425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2125A33-2ED3-42D4-8C1D-9C5B55EA4A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525963"/>
              </a:xfrm>
            </p:spPr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Đánh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vào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CAP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Curve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Đặt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diện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tích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giữa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hai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đường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Model</a:t>
                </a:r>
                <a:r>
                  <a:rPr lang="vi-VN" sz="2800" i="1" dirty="0">
                    <a:solidFill>
                      <a:srgbClr val="FF0000"/>
                    </a:solidFill>
                  </a:rPr>
                  <a:t> CAP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Curve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Random</a:t>
                </a:r>
                <a:r>
                  <a:rPr lang="vi-VN" sz="2800" i="1" dirty="0">
                    <a:solidFill>
                      <a:srgbClr val="FF0000"/>
                    </a:solidFill>
                  </a:rPr>
                  <a:t> CAP </a:t>
                </a:r>
                <a:r>
                  <a:rPr lang="vi-VN" sz="2800" i="1" dirty="0" err="1">
                    <a:solidFill>
                      <a:srgbClr val="FF0000"/>
                    </a:solidFill>
                  </a:rPr>
                  <a:t>Curve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2125A33-2ED3-42D4-8C1D-9C5B55EA4A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525963"/>
              </a:xfrm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2030D5E-E95A-4BD4-974E-7E3A0787B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667000"/>
            <a:ext cx="5024150" cy="328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83664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2125A33-2ED3-42D4-8C1D-9C5B55EA4A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525963"/>
              </a:xfrm>
            </p:spPr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Đánh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vào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CAP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Curve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Đặt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𝐴𝑅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2800" i="1" dirty="0" err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2800" i="1" dirty="0" err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vi-VN" sz="2800" i="1" dirty="0" err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2800" i="1" dirty="0" err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2800" i="1" dirty="0" err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vi-VN" sz="2800" i="1" dirty="0" err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>
                    <a:solidFill>
                      <a:srgbClr val="0066FF"/>
                    </a:solidFill>
                  </a:rPr>
                  <a:t>Khi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𝐴𝑅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[0,1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].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𝐴𝑅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lớn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độ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quả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cao.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2125A33-2ED3-42D4-8C1D-9C5B55EA4A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525963"/>
              </a:xfrm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7220419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2125A33-2ED3-42D4-8C1D-9C5B55EA4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Tuy nhiên, </a:t>
            </a:r>
            <a:r>
              <a:rPr lang="vi-VN" sz="2800" dirty="0" err="1">
                <a:solidFill>
                  <a:srgbClr val="0066FF"/>
                </a:solidFill>
              </a:rPr>
              <a:t>việc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tính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diện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tích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đường</a:t>
            </a:r>
            <a:r>
              <a:rPr lang="vi-VN" sz="2800" dirty="0">
                <a:solidFill>
                  <a:srgbClr val="0066FF"/>
                </a:solidFill>
              </a:rPr>
              <a:t> cong trên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rất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khó</a:t>
            </a:r>
            <a:r>
              <a:rPr lang="vi-VN" sz="2800" dirty="0">
                <a:solidFill>
                  <a:srgbClr val="0066FF"/>
                </a:solidFill>
              </a:rPr>
              <a:t> khăn.</a:t>
            </a:r>
          </a:p>
          <a:p>
            <a:pPr algn="just"/>
            <a:r>
              <a:rPr lang="vi-VN" sz="2800" dirty="0" err="1">
                <a:solidFill>
                  <a:srgbClr val="FF0000"/>
                </a:solidFill>
              </a:rPr>
              <a:t>Chúng</a:t>
            </a:r>
            <a:r>
              <a:rPr lang="vi-VN" sz="2800" dirty="0">
                <a:solidFill>
                  <a:srgbClr val="FF0000"/>
                </a:solidFill>
              </a:rPr>
              <a:t> ta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cách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đánh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giá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khác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tốt</a:t>
            </a:r>
            <a:r>
              <a:rPr lang="vi-VN" sz="2800" dirty="0">
                <a:solidFill>
                  <a:srgbClr val="FF0000"/>
                </a:solidFill>
              </a:rPr>
              <a:t> hơn </a:t>
            </a:r>
            <a:r>
              <a:rPr lang="vi-VN" sz="2800" dirty="0" err="1">
                <a:solidFill>
                  <a:srgbClr val="FF0000"/>
                </a:solidFill>
              </a:rPr>
              <a:t>mà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vẫn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dựa</a:t>
            </a:r>
            <a:r>
              <a:rPr lang="vi-VN" sz="2800" dirty="0">
                <a:solidFill>
                  <a:srgbClr val="FF0000"/>
                </a:solidFill>
              </a:rPr>
              <a:t> trên </a:t>
            </a:r>
            <a:r>
              <a:rPr lang="vi-VN" sz="2800" i="1" dirty="0">
                <a:solidFill>
                  <a:srgbClr val="FF0000"/>
                </a:solidFill>
              </a:rPr>
              <a:t>CAP </a:t>
            </a:r>
            <a:r>
              <a:rPr lang="vi-VN" sz="2800" i="1" dirty="0" err="1">
                <a:solidFill>
                  <a:srgbClr val="FF0000"/>
                </a:solidFill>
              </a:rPr>
              <a:t>Curve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2956877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2125A33-2ED3-42D4-8C1D-9C5B55EA4A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525963"/>
              </a:xfrm>
            </p:spPr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Nhìn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vào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giữa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trục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hoành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tức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bằng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50%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tối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đa. Hay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nói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cách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khác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chọn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nửa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>
                    <a:solidFill>
                      <a:srgbClr val="FF0000"/>
                    </a:solidFill>
                  </a:rPr>
                  <a:t>K</a:t>
                </a:r>
                <a:r>
                  <a:rPr lang="en-US" sz="2800">
                    <a:solidFill>
                      <a:srgbClr val="FF0000"/>
                    </a:solidFill>
                  </a:rPr>
                  <a:t>i</a:t>
                </a:r>
                <a:r>
                  <a:rPr lang="vi-VN" sz="2800">
                    <a:solidFill>
                      <a:srgbClr val="FF0000"/>
                    </a:solidFill>
                  </a:rPr>
                  <a:t>ểm </a:t>
                </a:r>
                <a:r>
                  <a:rPr lang="vi-VN" sz="2800" dirty="0">
                    <a:solidFill>
                      <a:srgbClr val="FF0000"/>
                    </a:solidFill>
                  </a:rPr>
                  <a:t>tra xem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tương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ứng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tính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đạt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tỉ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bao nhiêu so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với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tối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đa.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2125A33-2ED3-42D4-8C1D-9C5B55EA4A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525963"/>
              </a:xfrm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931295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05: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ta đang quan tâm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về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lớp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boom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Xét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100,000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10,000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boom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B9BF36A-97F9-4FFA-8C1A-A00A454139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26798"/>
            <a:ext cx="5384800" cy="407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02153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05: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Theo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bên,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=50,000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thì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=7,000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Tức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đạt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70%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tối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đa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B9BF36A-97F9-4FFA-8C1A-A00A454139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26798"/>
            <a:ext cx="5384800" cy="407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99133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2125A33-2ED3-42D4-8C1D-9C5B55EA4A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525963"/>
              </a:xfrm>
            </p:spPr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Dựa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tỉ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lệ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so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tối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khi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chọn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bằng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nửa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ta xây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đánh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sau: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2125A33-2ED3-42D4-8C1D-9C5B55EA4A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525963"/>
              </a:xfrm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27F9A9F-8BE2-4604-B07E-81D768BE61B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2000" y="3017204"/>
              <a:ext cx="8128000" cy="31089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499331022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8212455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Tỉ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lệ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của</a:t>
                          </a:r>
                          <a:r>
                            <a:rPr lang="vi-VN" sz="2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vi-VN" sz="280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Độ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hiệu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quả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24267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90%−100%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Tuyệt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vời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68251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80%−90%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Rất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tốt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90577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70%−80%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Tốt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0806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60%−70%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Tệ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7566357"/>
                      </a:ext>
                    </a:extLst>
                  </a:tr>
                  <a:tr h="2336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&lt;60%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Rất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tệ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408145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27F9A9F-8BE2-4604-B07E-81D768BE61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5709484"/>
                  </p:ext>
                </p:extLst>
              </p:nvPr>
            </p:nvGraphicFramePr>
            <p:xfrm>
              <a:off x="2032000" y="3017204"/>
              <a:ext cx="8128000" cy="31089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499331022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82124555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11765" r="-100600" b="-5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Độ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hiệu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quả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242676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111765" r="-100600" b="-4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Tuyệt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vời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6825130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209302" r="-100600" b="-32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Rất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tốt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905779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312941" r="-100600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Tốt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080694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412941" r="-100600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Tệ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756635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512941" r="-100600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Rất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tệ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408145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3866465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758-C030-4AD7-A143-8B552858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CAP </a:t>
            </a:r>
            <a:r>
              <a:rPr lang="vi-VN" dirty="0" err="1"/>
              <a:t>Curve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05: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Theo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độ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quả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này</a:t>
                </a:r>
                <a:r>
                  <a:rPr lang="vi-VN" sz="2800" dirty="0">
                    <a:solidFill>
                      <a:srgbClr val="FF0000"/>
                    </a:solidFill>
                  </a:rPr>
                  <a:t> ở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mức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tốt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(tương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ứng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với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đạt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70%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B77E0-B2A0-4F32-8048-AE933B6F0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B9BF36A-97F9-4FFA-8C1A-A00A454139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26798"/>
            <a:ext cx="5384800" cy="407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290053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A1E3B-52AC-4848-9A3B-814D413CE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/>
              <a:t>Chúc các bạn học tốt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3200">
                <a:solidFill>
                  <a:srgbClr val="0066FF"/>
                </a:solidFill>
              </a:rPr>
              <a:t>TRƯỜNG ĐẠI HỌC CÔNG NGHỆ THÔNG TIN TP.HCM</a:t>
            </a:r>
            <a:br>
              <a:rPr lang="en-US" sz="3200">
                <a:solidFill>
                  <a:srgbClr val="0066FF"/>
                </a:solidFill>
              </a:rPr>
            </a:br>
            <a:br>
              <a:rPr lang="en-US" sz="3200">
                <a:solidFill>
                  <a:srgbClr val="0066FF"/>
                </a:solidFill>
              </a:rPr>
            </a:br>
            <a:r>
              <a:rPr lang="en-US" sz="4000"/>
              <a:t>Nhóm UIT-Together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4000">
                <a:solidFill>
                  <a:srgbClr val="0066FF"/>
                </a:solidFill>
              </a:rPr>
              <a:t>Nguyễn Tấn Trần Minh Khang</a:t>
            </a:r>
          </a:p>
        </p:txBody>
      </p:sp>
    </p:spTree>
    <p:extLst>
      <p:ext uri="{BB962C8B-B14F-4D97-AF65-F5344CB8AC3E}">
        <p14:creationId xmlns:p14="http://schemas.microsoft.com/office/powerpoint/2010/main" val="26518945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14695</TotalTime>
  <Words>3688</Words>
  <Application>Microsoft Office PowerPoint</Application>
  <PresentationFormat>Widescreen</PresentationFormat>
  <Paragraphs>514</Paragraphs>
  <Slides>67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Arial</vt:lpstr>
      <vt:lpstr>Cambria Math</vt:lpstr>
      <vt:lpstr>Consolas</vt:lpstr>
      <vt:lpstr>Courier New</vt:lpstr>
      <vt:lpstr>Default Design</vt:lpstr>
      <vt:lpstr>EVALUATING CLASSIFICATION MODELS PERFORMANCE</vt:lpstr>
      <vt:lpstr>Đánh giá mô hình phân lớp</vt:lpstr>
      <vt:lpstr>Độ chính xác – Accuracy</vt:lpstr>
      <vt:lpstr>Độ chính xác – Accuracy</vt:lpstr>
      <vt:lpstr>Độ chính xác – Accuracy</vt:lpstr>
      <vt:lpstr>Độ chính xác – Accuracy</vt:lpstr>
      <vt:lpstr>Độ chính xác – Accuracy</vt:lpstr>
      <vt:lpstr>True/False Positive/Negative</vt:lpstr>
      <vt:lpstr>True/False Positive/Negative</vt:lpstr>
      <vt:lpstr>True/False Positive/Negative</vt:lpstr>
      <vt:lpstr>True/False Positive/Negative</vt:lpstr>
      <vt:lpstr>True/False Positive/Negative</vt:lpstr>
      <vt:lpstr>True/False Positive/Negative</vt:lpstr>
      <vt:lpstr>True/False Positive/Negative</vt:lpstr>
      <vt:lpstr>True/False Positive/Negative</vt:lpstr>
      <vt:lpstr>True/False Positive/Negative</vt:lpstr>
      <vt:lpstr>True/False Positive/Negative</vt:lpstr>
      <vt:lpstr>True/False Positive/Negative</vt:lpstr>
      <vt:lpstr>True/False Positive/Negative</vt:lpstr>
      <vt:lpstr>True/False Positive/Negative</vt:lpstr>
      <vt:lpstr>True/False Positive/Negative</vt:lpstr>
      <vt:lpstr>True/False Positive/Negative</vt:lpstr>
      <vt:lpstr>Confusion Matrix</vt:lpstr>
      <vt:lpstr>Confusion Matrix</vt:lpstr>
      <vt:lpstr>Confusion Matrix</vt:lpstr>
      <vt:lpstr>Confusion Matrix</vt:lpstr>
      <vt:lpstr>Confusion Matrix</vt:lpstr>
      <vt:lpstr>Confusion Matrix</vt:lpstr>
      <vt:lpstr>Confusion Matrix</vt:lpstr>
      <vt:lpstr>Confusion Matrix</vt:lpstr>
      <vt:lpstr>Confusion Matrix</vt:lpstr>
      <vt:lpstr>Confusion Matrix</vt:lpstr>
      <vt:lpstr>Confusion Matrix</vt:lpstr>
      <vt:lpstr>Confusion Matrix</vt:lpstr>
      <vt:lpstr>Confusion Matrix</vt:lpstr>
      <vt:lpstr>Confusion Matrix</vt:lpstr>
      <vt:lpstr>Confusion Matrix</vt:lpstr>
      <vt:lpstr>Confusion Matrix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CAP Curve</vt:lpstr>
      <vt:lpstr>Chúc các bạn học tốt TRƯỜNG ĐẠI HỌC CÔNG NGHỆ THÔNG TIN TP.HCM  Nhóm UIT-Together Nguyễn Tấn Trần Minh Khang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 cc</dc:title>
  <dc:creator>Hong</dc:creator>
  <cp:lastModifiedBy>Quan Chí Khánh An</cp:lastModifiedBy>
  <cp:revision>1325</cp:revision>
  <cp:lastPrinted>2013-08-30T01:32:34Z</cp:lastPrinted>
  <dcterms:created xsi:type="dcterms:W3CDTF">2008-06-14T04:13:27Z</dcterms:created>
  <dcterms:modified xsi:type="dcterms:W3CDTF">2023-11-07T16:07:29Z</dcterms:modified>
</cp:coreProperties>
</file>