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1585" r:id="rId2"/>
    <p:sldId id="1581" r:id="rId3"/>
    <p:sldId id="1582" r:id="rId4"/>
    <p:sldId id="1583" r:id="rId5"/>
    <p:sldId id="331" r:id="rId6"/>
    <p:sldId id="334" r:id="rId7"/>
    <p:sldId id="364" r:id="rId8"/>
    <p:sldId id="343" r:id="rId9"/>
    <p:sldId id="352" r:id="rId10"/>
    <p:sldId id="344" r:id="rId11"/>
    <p:sldId id="345" r:id="rId12"/>
    <p:sldId id="347" r:id="rId13"/>
    <p:sldId id="348" r:id="rId14"/>
    <p:sldId id="362" r:id="rId15"/>
    <p:sldId id="349" r:id="rId16"/>
    <p:sldId id="350" r:id="rId17"/>
    <p:sldId id="351" r:id="rId18"/>
    <p:sldId id="363" r:id="rId19"/>
    <p:sldId id="356" r:id="rId20"/>
    <p:sldId id="357" r:id="rId21"/>
    <p:sldId id="365" r:id="rId22"/>
    <p:sldId id="366" r:id="rId23"/>
    <p:sldId id="358" r:id="rId24"/>
    <p:sldId id="361" r:id="rId25"/>
    <p:sldId id="1580" r:id="rId2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9933"/>
    <a:srgbClr val="FF0000"/>
    <a:srgbClr val="FF3399"/>
    <a:srgbClr val="008000"/>
    <a:srgbClr val="000099"/>
    <a:srgbClr val="FF6600"/>
    <a:srgbClr val="66FF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87366" autoAdjust="0"/>
  </p:normalViewPr>
  <p:slideViewPr>
    <p:cSldViewPr>
      <p:cViewPr varScale="1">
        <p:scale>
          <a:sx n="68" d="100"/>
          <a:sy n="68" d="100"/>
        </p:scale>
        <p:origin x="118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9E2CB30-4184-4C1B-912F-A6AED0718E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866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5859DDC-9015-4B39-98F8-9F9A698DFE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628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859DDC-9015-4B39-98F8-9F9A698DFEA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316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TIÊU ĐỀ SLIDE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454966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27E77-6012-42D7-99B0-1D322EEAFE5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086803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97A347-30EE-4B72-93DA-C4CBE7049A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0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F626F4-8319-BB9A-3962-FB52D8DEB45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92656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838081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514350" indent="-514350" algn="l">
              <a:buFont typeface="+mj-lt"/>
              <a:buAutoNum type="arabicPeriod"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615748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886200"/>
            <a:ext cx="11582400" cy="1752600"/>
          </a:xfrm>
        </p:spPr>
        <p:txBody>
          <a:bodyPr/>
          <a:lstStyle>
            <a:lvl1pPr marL="514350" indent="-514350" algn="l">
              <a:buFont typeface="+mj-lt"/>
              <a:buAutoNum type="arabicPeriod"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747701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01_Title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2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127187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3508374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4447936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CHUẨN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947125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2_Standard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6553698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601710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80999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631001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02_Standard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4998215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E9201-BB7C-7361-D15B-554D97FD494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643877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F2D223-6151-F61A-0F95-44A484E4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0"/>
            <a:ext cx="10972800" cy="6096000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578480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F2D223-6151-F61A-0F95-44A484E4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096000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1532198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02_Standard Slide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260759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3_Progr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PROGRAM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90381629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3_Program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>
              <a:defRPr sz="28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875236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rogram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 marL="971550" indent="-514350">
              <a:buFont typeface="+mj-lt"/>
              <a:buAutoNum type="arabicPeriod"/>
              <a:defRPr sz="28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371600" indent="-457200">
              <a:buFont typeface="+mj-lt"/>
              <a:buAutoNum type="arabicPeriod"/>
              <a:defRPr sz="24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828800" indent="-457200">
              <a:buFont typeface="+mj-lt"/>
              <a:buAutoNum type="arabicPeriod"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276024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rogram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80999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 marL="971550" indent="-514350">
              <a:buFont typeface="+mj-lt"/>
              <a:buAutoNum type="arabicPeriod"/>
              <a:defRPr sz="28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371600" indent="-457200">
              <a:buFont typeface="+mj-lt"/>
              <a:buAutoNum type="arabicPeriod"/>
              <a:defRPr sz="24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828800" indent="-457200">
              <a:buFont typeface="+mj-lt"/>
              <a:buAutoNum type="arabicPeriod"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BF5967-6241-0E40-D844-CD2FB96F118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512989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4_Slide Up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HAI PHẦN TRÊN DƯỚI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4379166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3527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4953001"/>
            <a:ext cx="10972800" cy="117249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toa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570494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51459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4114801"/>
            <a:ext cx="10972800" cy="201069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toa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190481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1371597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9600" y="2971801"/>
            <a:ext cx="10972800" cy="3153696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+"/>
              <a:tabLst/>
              <a:defRPr/>
            </a:pPr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415433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5_Slide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HAI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1238762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0254237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5C2EBD-EF57-4343-AF38-1F0DEC4C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AC06C03-737D-475A-93EF-E21A1FC9A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93367181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5C2EBD-EF57-4343-AF38-1F0DEC4C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AC06C03-737D-475A-93EF-E21A1FC9A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716980-92B1-EFAB-E559-9C67E7C615B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755685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6553200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0"/>
            <a:ext cx="4419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4642175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6553200" cy="4286864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1"/>
            <a:ext cx="4419600" cy="42868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B267FE-1A4A-FC5A-B1BF-212E21F3C20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9912957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6553200" cy="3810000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1"/>
            <a:ext cx="4419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C8D0DD-B54D-81D5-B7D4-10338B1E328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2304489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2547086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42868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286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1A5BA2-D508-AFA2-E487-FE996D715498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0895333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3809999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38099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108584-BFF3-2406-377A-3236D4DB99A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5069774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94170472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640B4C-4BB4-59DC-6FB5-BE2BEAB17DC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15824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9277816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01540FF-506E-C951-CCC4-F2846A5D1D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161288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4517489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9894408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9BE0C1-77A6-4A1D-2879-D18D2A15649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4376779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7836774-98E2-8399-1A89-B989AAE076F4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410200"/>
            <a:ext cx="1222248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8600537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05_Slide Two Column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858627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05_Slide Two Column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998632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24388919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0972800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46338631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1582400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696371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2114" y="1535113"/>
            <a:ext cx="12194114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2114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55509956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05_Slide Two Column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16488560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6_Slide Three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BA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6098984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865494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70198783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7_Slide Four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BỐN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94009430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586163-080C-4D92-9FF5-83B9A124C31B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0988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879BDB-29CC-404E-9DCA-E89C7B9070D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103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94B703-5983-4A4F-B197-D2C64EAA9F6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3472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06970055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8_Slide Four 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BỐN PHẦN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52302994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EA549A-C581-4C37-B257-ACE55CAD4DF6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0" y="3886200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0016720-4FC2-4205-9886-7838EB04433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97600" y="1608826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E828636-495F-44E0-8340-BCE2B3F4716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97600" y="3894825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01676564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80772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63000" y="1600201"/>
            <a:ext cx="28194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4A1A4A6-69C0-4EC3-B5CC-CC08837714D4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09600" y="2680855"/>
            <a:ext cx="80772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3E39D719-3B3B-4F96-BE3F-4E767D23D3D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763000" y="2680855"/>
            <a:ext cx="28194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7791AFD-E53B-48D7-8A3C-24F9B931493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9600" y="3733801"/>
            <a:ext cx="80772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7784060D-E07A-4765-948A-FC9071F8DDC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763000" y="3733801"/>
            <a:ext cx="28194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67EFF06-2483-4600-B6B9-3D1CE50220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09600" y="4814455"/>
            <a:ext cx="80772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22FA758-800C-4200-9C64-1F16B8C51CA7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763000" y="4814455"/>
            <a:ext cx="28194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09676352"/>
      </p:ext>
    </p:extLst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9_Flow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LƯU ĐỒ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2140233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66801"/>
            <a:ext cx="59944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97600" y="0"/>
            <a:ext cx="5994400" cy="914401"/>
          </a:xfrm>
          <a:solidFill>
            <a:srgbClr val="00B0F0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91959533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4854" y="1066801"/>
            <a:ext cx="30226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14854" y="0"/>
            <a:ext cx="6077146" cy="914401"/>
          </a:xfrm>
          <a:solidFill>
            <a:srgbClr val="00B0F0"/>
          </a:solidFill>
        </p:spPr>
        <p:txBody>
          <a:bodyPr/>
          <a:lstStyle>
            <a:lvl1pPr marL="0" indent="0"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1B544BE-4259-4202-9EEF-29A5F771B6E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9157118" y="1066800"/>
            <a:ext cx="30226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8711408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994400" cy="5211764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01840984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173" y="0"/>
            <a:ext cx="5994400" cy="6096000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34309164"/>
      </p:ext>
    </p:extLst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130426"/>
            <a:ext cx="11811000" cy="35083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228A5-DE51-45EB-A51E-AC7C60465EA1}" type="datetime1">
              <a:rPr lang="en-US" smtClean="0"/>
              <a:t>10/11/2023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Trang</a:t>
            </a:r>
          </a:p>
        </p:txBody>
      </p:sp>
    </p:spTree>
    <p:extLst>
      <p:ext uri="{BB962C8B-B14F-4D97-AF65-F5344CB8AC3E}">
        <p14:creationId xmlns:p14="http://schemas.microsoft.com/office/powerpoint/2010/main" val="381705196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image" Target="../media/image1.png"/><Relationship Id="rId62" Type="http://schemas.openxmlformats.org/officeDocument/2006/relationships/image" Target="../media/image2.png"/><Relationship Id="rId63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1379200" y="6324600"/>
            <a:ext cx="81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A916C17-A3B0-4CE4-88CA-9129F443D2C0}" type="slidenum">
              <a:rPr lang="en-US" smtClean="0"/>
              <a:pPr algn="ctr"/>
              <a:t>‹#›</a:t>
            </a:fld>
            <a:endParaRPr lang="en-US"/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B82A81E1-3619-4A2C-AB88-C7D0762594CD}"/>
              </a:ext>
            </a:extLst>
          </p:cNvPr>
          <p:cNvPicPr>
            <a:picLocks noChangeAspect="1"/>
          </p:cNvPicPr>
          <p:nvPr userDrawn="1"/>
        </p:nvPicPr>
        <p:blipFill>
          <a:blip r:embed="rId6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103160"/>
            <a:ext cx="1375575" cy="567426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0B594A5E-2439-4755-BAA8-30F12FADD3C7}"/>
              </a:ext>
            </a:extLst>
          </p:cNvPr>
          <p:cNvPicPr>
            <a:picLocks noChangeAspect="1"/>
          </p:cNvPicPr>
          <p:nvPr userDrawn="1"/>
        </p:nvPicPr>
        <p:blipFill>
          <a:blip r:embed="rId6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908" y="70999"/>
            <a:ext cx="843402" cy="84340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649" r:id="rId3"/>
    <p:sldLayoutId id="2147483720" r:id="rId4"/>
    <p:sldLayoutId id="2147483652" r:id="rId5"/>
    <p:sldLayoutId id="2147483750" r:id="rId6"/>
    <p:sldLayoutId id="2147483718" r:id="rId7"/>
    <p:sldLayoutId id="2147483650" r:id="rId8"/>
    <p:sldLayoutId id="2147483721" r:id="rId9"/>
    <p:sldLayoutId id="2147483723" r:id="rId10"/>
    <p:sldLayoutId id="2147483716" r:id="rId11"/>
    <p:sldLayoutId id="2147483722" r:id="rId12"/>
    <p:sldLayoutId id="2147483748" r:id="rId13"/>
    <p:sldLayoutId id="2147483749" r:id="rId14"/>
    <p:sldLayoutId id="2147483717" r:id="rId15"/>
    <p:sldLayoutId id="2147483719" r:id="rId16"/>
    <p:sldLayoutId id="2147483725" r:id="rId17"/>
    <p:sldLayoutId id="2147483726" r:id="rId18"/>
    <p:sldLayoutId id="2147483727" r:id="rId19"/>
    <p:sldLayoutId id="2147483724" r:id="rId20"/>
    <p:sldLayoutId id="2147483651" r:id="rId21"/>
    <p:sldLayoutId id="2147483712" r:id="rId22"/>
    <p:sldLayoutId id="2147483713" r:id="rId23"/>
    <p:sldLayoutId id="2147483728" r:id="rId24"/>
    <p:sldLayoutId id="2147483707" r:id="rId25"/>
    <p:sldLayoutId id="2147483709" r:id="rId26"/>
    <p:sldLayoutId id="2147483730" r:id="rId27"/>
    <p:sldLayoutId id="2147483700" r:id="rId28"/>
    <p:sldLayoutId id="2147483731" r:id="rId29"/>
    <p:sldLayoutId id="2147483732" r:id="rId30"/>
    <p:sldLayoutId id="2147483689" r:id="rId31"/>
    <p:sldLayoutId id="2147483733" r:id="rId32"/>
    <p:sldLayoutId id="2147483734" r:id="rId33"/>
    <p:sldLayoutId id="2147483679" r:id="rId34"/>
    <p:sldLayoutId id="2147483735" r:id="rId35"/>
    <p:sldLayoutId id="2147483736" r:id="rId36"/>
    <p:sldLayoutId id="2147483684" r:id="rId37"/>
    <p:sldLayoutId id="2147483737" r:id="rId38"/>
    <p:sldLayoutId id="2147483738" r:id="rId39"/>
    <p:sldLayoutId id="2147483741" r:id="rId40"/>
    <p:sldLayoutId id="2147483742" r:id="rId41"/>
    <p:sldLayoutId id="2147483743" r:id="rId42"/>
    <p:sldLayoutId id="2147483744" r:id="rId43"/>
    <p:sldLayoutId id="2147483745" r:id="rId44"/>
    <p:sldLayoutId id="2147483747" r:id="rId45"/>
    <p:sldLayoutId id="2147483729" r:id="rId46"/>
    <p:sldLayoutId id="2147483686" r:id="rId47"/>
    <p:sldLayoutId id="2147483711" r:id="rId48"/>
    <p:sldLayoutId id="2147483739" r:id="rId49"/>
    <p:sldLayoutId id="2147483688" r:id="rId50"/>
    <p:sldLayoutId id="2147483740" r:id="rId51"/>
    <p:sldLayoutId id="2147483694" r:id="rId52"/>
    <p:sldLayoutId id="2147483687" r:id="rId53"/>
    <p:sldLayoutId id="2147483746" r:id="rId54"/>
    <p:sldLayoutId id="2147483701" r:id="rId55"/>
    <p:sldLayoutId id="2147483702" r:id="rId56"/>
    <p:sldLayoutId id="2147483703" r:id="rId57"/>
    <p:sldLayoutId id="2147483704" r:id="rId58"/>
    <p:sldLayoutId id="2147483751" r:id="rId59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─"/>
        <a:defRPr sz="2800">
          <a:solidFill>
            <a:srgbClr val="0066FF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+"/>
        <a:defRPr sz="2800">
          <a:solidFill>
            <a:srgbClr val="0066FF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rgbClr val="0066FF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sds-platform-private.s3-us-east-2.amazonaws.com/uploads/P14-Polynomial-Regression.zip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0.png"/><Relationship Id="rId3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E3612-16D3-622A-7FFF-F636EC5E5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RANDOM FOREST REGRESSION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D9C513-AD71-9FA8-DCD3-EF6738328A0A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Quan Chí Khánh An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Lê Ngọc Huy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CN. Bùi Cao Doanh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CN. Nguyễn Trọng Thuận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Phan Vĩnh Long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Nguyễn Cường Phát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Nguyễn Hoàng Ngân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Hồ Thái Ngọc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Đỗ Văn Tiến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475D-F6A4-3080-6B47-C6E6C22C81F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/>
              <a:t>Nguyễn Hoàng Yến Như</a:t>
            </a:r>
          </a:p>
          <a:p>
            <a:r>
              <a:rPr lang="en-US">
                <a:solidFill>
                  <a:srgbClr val="FF0000"/>
                </a:solidFill>
              </a:rPr>
              <a:t>Nguyễn Trần Phúc Nghi</a:t>
            </a:r>
          </a:p>
          <a:p>
            <a:r>
              <a:rPr lang="en-US"/>
              <a:t>Nguyễn Trần Phúc An</a:t>
            </a:r>
          </a:p>
          <a:p>
            <a:r>
              <a:rPr lang="en-US">
                <a:solidFill>
                  <a:srgbClr val="FF0000"/>
                </a:solidFill>
              </a:rPr>
              <a:t>Nguyễn Đức Anh Phúc</a:t>
            </a:r>
          </a:p>
          <a:p>
            <a:r>
              <a:rPr lang="en-US"/>
              <a:t>Trịnh Thị Thanh Trúc</a:t>
            </a:r>
          </a:p>
          <a:p>
            <a:r>
              <a:rPr lang="en-US">
                <a:solidFill>
                  <a:srgbClr val="FF0000"/>
                </a:solidFill>
              </a:rPr>
              <a:t>ThS. Nguyễn Hữu Lợi</a:t>
            </a:r>
          </a:p>
          <a:p>
            <a:r>
              <a:rPr lang="en-US"/>
              <a:t>KS. Cao Bá Kiệt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D686E-4114-4A0E-1FEE-7584196A67B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/>
              <a:t>ThS. Nguyễn Hoàn Mỹ</a:t>
            </a:r>
          </a:p>
          <a:p>
            <a:r>
              <a:rPr lang="en-US">
                <a:solidFill>
                  <a:srgbClr val="FF0000"/>
                </a:solidFill>
              </a:rPr>
              <a:t>ThS. Dương Phi Long</a:t>
            </a:r>
          </a:p>
          <a:p>
            <a:r>
              <a:rPr lang="en-US"/>
              <a:t>ThS. Trương Quốc Dũng </a:t>
            </a:r>
          </a:p>
          <a:p>
            <a:r>
              <a:rPr lang="en-US">
                <a:solidFill>
                  <a:srgbClr val="FF0000"/>
                </a:solidFill>
              </a:rPr>
              <a:t>ThS. Nguyễn Thành Hiệp</a:t>
            </a:r>
          </a:p>
          <a:p>
            <a:r>
              <a:rPr lang="en-US"/>
              <a:t>ThS. Nguyễn Võ Đăng Khoa</a:t>
            </a:r>
          </a:p>
          <a:p>
            <a:r>
              <a:rPr lang="en-US">
                <a:solidFill>
                  <a:srgbClr val="FF0000"/>
                </a:solidFill>
              </a:rPr>
              <a:t>ThS. Võ Duy Nguyên</a:t>
            </a:r>
          </a:p>
          <a:p>
            <a:r>
              <a:rPr lang="en-US"/>
              <a:t>TS. Nguyễn Văn Tâm</a:t>
            </a:r>
          </a:p>
          <a:p>
            <a:r>
              <a:rPr lang="en-US">
                <a:solidFill>
                  <a:srgbClr val="FF0000"/>
                </a:solidFill>
              </a:rPr>
              <a:t>ThS. Trần Việt Thu Phương</a:t>
            </a:r>
          </a:p>
          <a:p>
            <a:r>
              <a:rPr lang="en-US"/>
              <a:t>TS. Nguyễn Tấn Trần Minh Khang</a:t>
            </a:r>
            <a:endParaRPr lang="en-US" sz="700"/>
          </a:p>
        </p:txBody>
      </p:sp>
    </p:spTree>
    <p:extLst>
      <p:ext uri="{BB962C8B-B14F-4D97-AF65-F5344CB8AC3E}">
        <p14:creationId xmlns:p14="http://schemas.microsoft.com/office/powerpoint/2010/main" val="265234868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6245FF-8586-4FD3-AA10-1C3CFDBBC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vi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AB2436-AE32-4F97-9433-3C45DDE9A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2453523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B7DD22-C6B4-4319-B28A-4C0FF1AB5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vi-V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9D9001-EB26-4768-B1A1-F98ECEDB5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>
                <a:solidFill>
                  <a:srgbClr val="0066FF"/>
                </a:solidFill>
              </a:rPr>
              <a:t>Tên tập </a:t>
            </a:r>
            <a:r>
              <a:rPr lang="en-US" sz="2800" dirty="0" err="1">
                <a:solidFill>
                  <a:srgbClr val="0066FF"/>
                </a:solidFill>
              </a:rPr>
              <a:t>dữ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liệu</a:t>
            </a:r>
            <a:r>
              <a:rPr lang="en-US" sz="2800" dirty="0">
                <a:solidFill>
                  <a:srgbClr val="0066FF"/>
                </a:solidFill>
              </a:rPr>
              <a:t>: Position Salaries.</a:t>
            </a:r>
          </a:p>
          <a:p>
            <a:pPr algn="just"/>
            <a:r>
              <a:rPr lang="en-US" sz="2800" dirty="0" err="1">
                <a:solidFill>
                  <a:srgbClr val="FF0000"/>
                </a:solidFill>
              </a:rPr>
              <a:t>Nguồn</a:t>
            </a:r>
            <a:r>
              <a:rPr lang="en-US" sz="2800" dirty="0">
                <a:solidFill>
                  <a:srgbClr val="FF0000"/>
                </a:solidFill>
              </a:rPr>
              <a:t>: </a:t>
            </a:r>
            <a:r>
              <a:rPr lang="en-US" sz="2800" dirty="0">
                <a:hlinkClick r:id="rId2"/>
              </a:rPr>
              <a:t>https://www.superdatascience.com/pages/machine-learning</a:t>
            </a:r>
            <a:r>
              <a:rPr lang="en-US" sz="2800" dirty="0"/>
              <a:t>.</a:t>
            </a:r>
          </a:p>
          <a:p>
            <a:pPr algn="just"/>
            <a:r>
              <a:rPr lang="en-US" sz="2800" dirty="0" err="1">
                <a:solidFill>
                  <a:srgbClr val="0066FF"/>
                </a:solidFill>
              </a:rPr>
              <a:t>Tập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dữ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liệu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gồm</a:t>
            </a:r>
            <a:r>
              <a:rPr lang="en-US" sz="2800" dirty="0">
                <a:solidFill>
                  <a:srgbClr val="0066FF"/>
                </a:solidFill>
              </a:rPr>
              <a:t> 10 </a:t>
            </a:r>
            <a:r>
              <a:rPr lang="en-US" sz="2800" dirty="0" err="1">
                <a:solidFill>
                  <a:srgbClr val="0066FF"/>
                </a:solidFill>
              </a:rPr>
              <a:t>điểm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dữ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liệu</a:t>
            </a:r>
            <a:r>
              <a:rPr lang="en-US" sz="2800" dirty="0">
                <a:solidFill>
                  <a:srgbClr val="0066FF"/>
                </a:solidFill>
              </a:rPr>
              <a:t>, </a:t>
            </a:r>
            <a:r>
              <a:rPr lang="en-US" sz="2800" dirty="0" err="1">
                <a:solidFill>
                  <a:srgbClr val="0066FF"/>
                </a:solidFill>
              </a:rPr>
              <a:t>mỗi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điểm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dữ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liệu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gồm</a:t>
            </a:r>
            <a:r>
              <a:rPr lang="en-US" sz="2800" dirty="0">
                <a:solidFill>
                  <a:srgbClr val="0066FF"/>
                </a:solidFill>
              </a:rPr>
              <a:t> 3 </a:t>
            </a:r>
            <a:r>
              <a:rPr lang="en-US" sz="2800" dirty="0" err="1">
                <a:solidFill>
                  <a:srgbClr val="0066FF"/>
                </a:solidFill>
              </a:rPr>
              <a:t>thuộc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tính</a:t>
            </a:r>
            <a:r>
              <a:rPr lang="en-US" sz="2800" dirty="0">
                <a:solidFill>
                  <a:srgbClr val="0066FF"/>
                </a:solidFill>
              </a:rPr>
              <a:t>, </a:t>
            </a:r>
            <a:r>
              <a:rPr lang="en-US" sz="2800" dirty="0" err="1">
                <a:solidFill>
                  <a:srgbClr val="0066FF"/>
                </a:solidFill>
              </a:rPr>
              <a:t>gồm</a:t>
            </a:r>
            <a:r>
              <a:rPr lang="en-US" sz="2800" dirty="0">
                <a:solidFill>
                  <a:srgbClr val="0066FF"/>
                </a:solidFill>
              </a:rPr>
              <a:t>:</a:t>
            </a:r>
          </a:p>
          <a:p>
            <a:pPr lvl="1" algn="just"/>
            <a:r>
              <a:rPr lang="en-US" sz="2800" dirty="0" err="1">
                <a:solidFill>
                  <a:srgbClr val="FF0000"/>
                </a:solidFill>
              </a:rPr>
              <a:t>Vị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trí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công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việc</a:t>
            </a:r>
            <a:r>
              <a:rPr lang="en-US" sz="2800" dirty="0">
                <a:solidFill>
                  <a:srgbClr val="FF0000"/>
                </a:solidFill>
              </a:rPr>
              <a:t> (Position): </a:t>
            </a:r>
            <a:r>
              <a:rPr lang="en-US" sz="2800" dirty="0" err="1">
                <a:solidFill>
                  <a:srgbClr val="FF0000"/>
                </a:solidFill>
              </a:rPr>
              <a:t>mô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tả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tên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một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công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việc</a:t>
            </a:r>
            <a:r>
              <a:rPr lang="en-US" sz="2800" dirty="0">
                <a:solidFill>
                  <a:srgbClr val="FF0000"/>
                </a:solidFill>
              </a:rPr>
              <a:t>.</a:t>
            </a:r>
          </a:p>
          <a:p>
            <a:pPr lvl="1" algn="just"/>
            <a:r>
              <a:rPr lang="en-US" sz="2800" dirty="0" err="1">
                <a:solidFill>
                  <a:srgbClr val="0066FF"/>
                </a:solidFill>
              </a:rPr>
              <a:t>Cấp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bậc</a:t>
            </a:r>
            <a:r>
              <a:rPr lang="en-US" sz="2800" dirty="0">
                <a:solidFill>
                  <a:srgbClr val="0066FF"/>
                </a:solidFill>
              </a:rPr>
              <a:t> (Level): </a:t>
            </a:r>
            <a:r>
              <a:rPr lang="en-US" sz="2800" dirty="0" err="1">
                <a:solidFill>
                  <a:srgbClr val="0066FF"/>
                </a:solidFill>
              </a:rPr>
              <a:t>là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một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số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nguyên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trong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khoảng</a:t>
            </a:r>
            <a:r>
              <a:rPr lang="en-US" sz="2800" dirty="0">
                <a:solidFill>
                  <a:srgbClr val="0066FF"/>
                </a:solidFill>
              </a:rPr>
              <a:t> 1 – 10, t</a:t>
            </a:r>
            <a:r>
              <a:rPr lang="vi-VN" sz="2800" dirty="0">
                <a:solidFill>
                  <a:srgbClr val="0066FF"/>
                </a:solidFill>
              </a:rPr>
              <a:t>ư</a:t>
            </a:r>
            <a:r>
              <a:rPr lang="en-US" sz="2800" dirty="0" err="1">
                <a:solidFill>
                  <a:srgbClr val="0066FF"/>
                </a:solidFill>
              </a:rPr>
              <a:t>ơng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ứng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với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vị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trí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cao</a:t>
            </a:r>
            <a:r>
              <a:rPr lang="en-US" sz="2800" dirty="0">
                <a:solidFill>
                  <a:srgbClr val="0066FF"/>
                </a:solidFill>
              </a:rPr>
              <a:t> hay </a:t>
            </a:r>
            <a:r>
              <a:rPr lang="en-US" sz="2800" dirty="0" err="1">
                <a:solidFill>
                  <a:srgbClr val="0066FF"/>
                </a:solidFill>
              </a:rPr>
              <a:t>thấp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trong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một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công</a:t>
            </a:r>
            <a:r>
              <a:rPr lang="en-US" sz="2800" dirty="0">
                <a:solidFill>
                  <a:srgbClr val="0066FF"/>
                </a:solidFill>
              </a:rPr>
              <a:t> ty.</a:t>
            </a:r>
          </a:p>
          <a:p>
            <a:pPr lvl="1" algn="just"/>
            <a:r>
              <a:rPr lang="en-US" sz="2800" dirty="0" err="1">
                <a:solidFill>
                  <a:srgbClr val="FF0000"/>
                </a:solidFill>
              </a:rPr>
              <a:t>Mức</a:t>
            </a:r>
            <a:r>
              <a:rPr lang="en-US" sz="2800" dirty="0">
                <a:solidFill>
                  <a:srgbClr val="FF0000"/>
                </a:solidFill>
              </a:rPr>
              <a:t> l</a:t>
            </a:r>
            <a:r>
              <a:rPr lang="vi-VN" sz="2800" dirty="0">
                <a:solidFill>
                  <a:srgbClr val="FF0000"/>
                </a:solidFill>
              </a:rPr>
              <a:t>ư</a:t>
            </a:r>
            <a:r>
              <a:rPr lang="en-US" sz="2800" dirty="0" err="1">
                <a:solidFill>
                  <a:srgbClr val="FF0000"/>
                </a:solidFill>
              </a:rPr>
              <a:t>ơng</a:t>
            </a:r>
            <a:r>
              <a:rPr lang="en-US" sz="2800" dirty="0">
                <a:solidFill>
                  <a:srgbClr val="FF0000"/>
                </a:solidFill>
              </a:rPr>
              <a:t> (Salary): </a:t>
            </a:r>
            <a:r>
              <a:rPr lang="en-US" sz="2800" dirty="0" err="1">
                <a:solidFill>
                  <a:srgbClr val="FF0000"/>
                </a:solidFill>
              </a:rPr>
              <a:t>là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một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số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thực</a:t>
            </a:r>
            <a:r>
              <a:rPr lang="en-US" sz="2800" dirty="0">
                <a:solidFill>
                  <a:srgbClr val="FF0000"/>
                </a:solidFill>
              </a:rPr>
              <a:t> d</a:t>
            </a:r>
            <a:r>
              <a:rPr lang="vi-VN" sz="2800" dirty="0">
                <a:solidFill>
                  <a:srgbClr val="FF0000"/>
                </a:solidFill>
              </a:rPr>
              <a:t>ư</a:t>
            </a:r>
            <a:r>
              <a:rPr lang="en-US" sz="2800" dirty="0" err="1">
                <a:solidFill>
                  <a:srgbClr val="FF0000"/>
                </a:solidFill>
              </a:rPr>
              <a:t>ơng</a:t>
            </a:r>
            <a:r>
              <a:rPr lang="en-US" sz="2800" dirty="0">
                <a:solidFill>
                  <a:srgbClr val="FF0000"/>
                </a:solidFill>
              </a:rPr>
              <a:t>.</a:t>
            </a:r>
            <a:endParaRPr lang="vi-VN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51004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27C25-55DF-41FD-9FF4-2DC27F23D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2F0BB552-E557-45BF-9952-96B127A4B7D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20677" y="1596887"/>
              <a:ext cx="5528310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54668">
                      <a:extLst>
                        <a:ext uri="{9D8B030D-6E8A-4147-A177-3AD203B41FA5}">
                          <a16:colId xmlns:a16="http://schemas.microsoft.com/office/drawing/2014/main" val="3920745078"/>
                        </a:ext>
                      </a:extLst>
                    </a:gridCol>
                    <a:gridCol w="1123950">
                      <a:extLst>
                        <a:ext uri="{9D8B030D-6E8A-4147-A177-3AD203B41FA5}">
                          <a16:colId xmlns:a16="http://schemas.microsoft.com/office/drawing/2014/main" val="94436033"/>
                        </a:ext>
                      </a:extLst>
                    </a:gridCol>
                    <a:gridCol w="1349692">
                      <a:extLst>
                        <a:ext uri="{9D8B030D-6E8A-4147-A177-3AD203B41FA5}">
                          <a16:colId xmlns:a16="http://schemas.microsoft.com/office/drawing/2014/main" val="4165097083"/>
                        </a:ext>
                      </a:extLst>
                    </a:gridCol>
                  </a:tblGrid>
                  <a:tr h="723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Position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369637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Business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Analyst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49618532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Junior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Consultant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762752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Senior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Consultant</a:t>
                          </a:r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467125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72396851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Country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110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635612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2F0BB552-E557-45BF-9952-96B127A4B7D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20677" y="1596887"/>
              <a:ext cx="5528310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54668">
                      <a:extLst>
                        <a:ext uri="{9D8B030D-6E8A-4147-A177-3AD203B41FA5}">
                          <a16:colId xmlns:a16="http://schemas.microsoft.com/office/drawing/2014/main" val="3920745078"/>
                        </a:ext>
                      </a:extLst>
                    </a:gridCol>
                    <a:gridCol w="1123950">
                      <a:extLst>
                        <a:ext uri="{9D8B030D-6E8A-4147-A177-3AD203B41FA5}">
                          <a16:colId xmlns:a16="http://schemas.microsoft.com/office/drawing/2014/main" val="94436033"/>
                        </a:ext>
                      </a:extLst>
                    </a:gridCol>
                    <a:gridCol w="1349692">
                      <a:extLst>
                        <a:ext uri="{9D8B030D-6E8A-4147-A177-3AD203B41FA5}">
                          <a16:colId xmlns:a16="http://schemas.microsoft.com/office/drawing/2014/main" val="4165097083"/>
                        </a:ext>
                      </a:extLst>
                    </a:gridCol>
                  </a:tblGrid>
                  <a:tr h="723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Position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369637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Business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Analyst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3370" t="-100840" r="-122826" b="-4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9459" t="-100840" r="-1802" b="-4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9618532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Junior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Consultant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3370" t="-200840" r="-122826" b="-3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9459" t="-200840" r="-1802" b="-3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762752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Senior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Consultant</a:t>
                          </a:r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3370" t="-300840" r="-122826" b="-2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9459" t="-300840" r="-1802" b="-2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467125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3370" t="-400840" r="-122826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9459" t="-400840" r="-1802" b="-1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2396851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Country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3370" t="-500840" r="-122826" b="-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9459" t="-500840" r="-1802" b="-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356127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Content Placeholder 3">
                <a:extLst>
                  <a:ext uri="{FF2B5EF4-FFF2-40B4-BE49-F238E27FC236}">
                    <a16:creationId xmlns:a16="http://schemas.microsoft.com/office/drawing/2014/main" id="{76BB3A3E-4B74-473E-A2D6-7732B109B350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343014" y="1596887"/>
              <a:ext cx="5848986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54668">
                      <a:extLst>
                        <a:ext uri="{9D8B030D-6E8A-4147-A177-3AD203B41FA5}">
                          <a16:colId xmlns:a16="http://schemas.microsoft.com/office/drawing/2014/main" val="3920745078"/>
                        </a:ext>
                      </a:extLst>
                    </a:gridCol>
                    <a:gridCol w="1123950">
                      <a:extLst>
                        <a:ext uri="{9D8B030D-6E8A-4147-A177-3AD203B41FA5}">
                          <a16:colId xmlns:a16="http://schemas.microsoft.com/office/drawing/2014/main" val="94436033"/>
                        </a:ext>
                      </a:extLst>
                    </a:gridCol>
                    <a:gridCol w="1670368">
                      <a:extLst>
                        <a:ext uri="{9D8B030D-6E8A-4147-A177-3AD203B41FA5}">
                          <a16:colId xmlns:a16="http://schemas.microsoft.com/office/drawing/2014/main" val="4165097083"/>
                        </a:ext>
                      </a:extLst>
                    </a:gridCol>
                  </a:tblGrid>
                  <a:tr h="723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Position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369637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Region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150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49618532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Partner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200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762752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Senior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Partner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300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72467125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/>
                            <a:t>C-</a:t>
                          </a:r>
                          <a:r>
                            <a:rPr lang="vi-VN" sz="2800" dirty="0" err="1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500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72396851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/>
                            <a:t>CEO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635612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Content Placeholder 3">
                <a:extLst>
                  <a:ext uri="{FF2B5EF4-FFF2-40B4-BE49-F238E27FC236}">
                    <a16:creationId xmlns:a16="http://schemas.microsoft.com/office/drawing/2014/main" id="{76BB3A3E-4B74-473E-A2D6-7732B109B350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343014" y="1596887"/>
              <a:ext cx="5848986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54668">
                      <a:extLst>
                        <a:ext uri="{9D8B030D-6E8A-4147-A177-3AD203B41FA5}">
                          <a16:colId xmlns:a16="http://schemas.microsoft.com/office/drawing/2014/main" val="3920745078"/>
                        </a:ext>
                      </a:extLst>
                    </a:gridCol>
                    <a:gridCol w="1123950">
                      <a:extLst>
                        <a:ext uri="{9D8B030D-6E8A-4147-A177-3AD203B41FA5}">
                          <a16:colId xmlns:a16="http://schemas.microsoft.com/office/drawing/2014/main" val="94436033"/>
                        </a:ext>
                      </a:extLst>
                    </a:gridCol>
                    <a:gridCol w="1670368">
                      <a:extLst>
                        <a:ext uri="{9D8B030D-6E8A-4147-A177-3AD203B41FA5}">
                          <a16:colId xmlns:a16="http://schemas.microsoft.com/office/drawing/2014/main" val="4165097083"/>
                        </a:ext>
                      </a:extLst>
                    </a:gridCol>
                  </a:tblGrid>
                  <a:tr h="723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Position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369637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Region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71351" t="-100840" r="-150811" b="-4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0730" t="-100840" r="-1825" b="-4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9618532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Partner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71351" t="-200840" r="-150811" b="-3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0730" t="-200840" r="-1825" b="-3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762752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Senior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Partner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71351" t="-300840" r="-150811" b="-2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0730" t="-300840" r="-1825" b="-2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467125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/>
                            <a:t>C-</a:t>
                          </a:r>
                          <a:r>
                            <a:rPr lang="vi-VN" sz="2800" dirty="0" err="1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71351" t="-400840" r="-150811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0730" t="-400840" r="-1825" b="-1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2396851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/>
                            <a:t>CEO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71351" t="-500840" r="-150811" b="-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0730" t="-500840" r="-1825" b="-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356127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0099856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5A5CF-B133-45B8-92E1-DFB15218E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2BE34-1D49-4D84-A007-96C22B90D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4000" dirty="0" err="1">
                <a:solidFill>
                  <a:srgbClr val="0066FF"/>
                </a:solidFill>
              </a:rPr>
              <a:t>Bài</a:t>
            </a:r>
            <a:r>
              <a:rPr lang="en-US" sz="4000" dirty="0">
                <a:solidFill>
                  <a:srgbClr val="0066FF"/>
                </a:solidFill>
              </a:rPr>
              <a:t> </a:t>
            </a:r>
            <a:r>
              <a:rPr lang="en-US" sz="4000" dirty="0" err="1">
                <a:solidFill>
                  <a:srgbClr val="0066FF"/>
                </a:solidFill>
              </a:rPr>
              <a:t>toán</a:t>
            </a:r>
            <a:r>
              <a:rPr lang="en-US" sz="4000" dirty="0">
                <a:solidFill>
                  <a:srgbClr val="0066FF"/>
                </a:solidFill>
              </a:rPr>
              <a:t>: </a:t>
            </a:r>
            <a:r>
              <a:rPr lang="en-US" sz="4000" dirty="0" err="1">
                <a:solidFill>
                  <a:srgbClr val="0066FF"/>
                </a:solidFill>
              </a:rPr>
              <a:t>Dự</a:t>
            </a:r>
            <a:r>
              <a:rPr lang="en-US" sz="4000" dirty="0">
                <a:solidFill>
                  <a:srgbClr val="0066FF"/>
                </a:solidFill>
              </a:rPr>
              <a:t> </a:t>
            </a:r>
            <a:r>
              <a:rPr lang="en-US" sz="4000" dirty="0" err="1">
                <a:solidFill>
                  <a:srgbClr val="0066FF"/>
                </a:solidFill>
              </a:rPr>
              <a:t>đoán</a:t>
            </a:r>
            <a:r>
              <a:rPr lang="en-US" sz="4000" dirty="0">
                <a:solidFill>
                  <a:srgbClr val="0066FF"/>
                </a:solidFill>
              </a:rPr>
              <a:t> </a:t>
            </a:r>
            <a:r>
              <a:rPr lang="en-US" sz="4000" dirty="0" err="1">
                <a:solidFill>
                  <a:srgbClr val="0066FF"/>
                </a:solidFill>
              </a:rPr>
              <a:t>mức</a:t>
            </a:r>
            <a:r>
              <a:rPr lang="en-US" sz="4000" dirty="0">
                <a:solidFill>
                  <a:srgbClr val="0066FF"/>
                </a:solidFill>
              </a:rPr>
              <a:t> l</a:t>
            </a:r>
            <a:r>
              <a:rPr lang="vi-VN" sz="4000" dirty="0">
                <a:solidFill>
                  <a:srgbClr val="0066FF"/>
                </a:solidFill>
              </a:rPr>
              <a:t>ư</a:t>
            </a:r>
            <a:r>
              <a:rPr lang="en-US" sz="4000" dirty="0" err="1">
                <a:solidFill>
                  <a:srgbClr val="0066FF"/>
                </a:solidFill>
              </a:rPr>
              <a:t>ơng</a:t>
            </a:r>
            <a:r>
              <a:rPr lang="en-US" sz="4000" dirty="0">
                <a:solidFill>
                  <a:srgbClr val="0066FF"/>
                </a:solidFill>
              </a:rPr>
              <a:t> </a:t>
            </a:r>
            <a:r>
              <a:rPr lang="en-US" sz="4000" dirty="0" err="1">
                <a:solidFill>
                  <a:srgbClr val="0066FF"/>
                </a:solidFill>
              </a:rPr>
              <a:t>của</a:t>
            </a:r>
            <a:r>
              <a:rPr lang="en-US" sz="4000" dirty="0">
                <a:solidFill>
                  <a:srgbClr val="0066FF"/>
                </a:solidFill>
              </a:rPr>
              <a:t> </a:t>
            </a:r>
            <a:r>
              <a:rPr lang="en-US" sz="4000" dirty="0" err="1">
                <a:solidFill>
                  <a:srgbClr val="0066FF"/>
                </a:solidFill>
              </a:rPr>
              <a:t>một</a:t>
            </a:r>
            <a:r>
              <a:rPr lang="en-US" sz="4000" dirty="0">
                <a:solidFill>
                  <a:srgbClr val="0066FF"/>
                </a:solidFill>
              </a:rPr>
              <a:t> ng</a:t>
            </a:r>
            <a:r>
              <a:rPr lang="vi-VN" sz="4000" dirty="0" err="1">
                <a:solidFill>
                  <a:srgbClr val="0066FF"/>
                </a:solidFill>
              </a:rPr>
              <a:t>ười</a:t>
            </a:r>
            <a:r>
              <a:rPr lang="vi-VN" sz="4000" dirty="0">
                <a:solidFill>
                  <a:srgbClr val="0066FF"/>
                </a:solidFill>
              </a:rPr>
              <a:t> khi </a:t>
            </a:r>
            <a:r>
              <a:rPr lang="vi-VN" sz="4000" dirty="0" err="1">
                <a:solidFill>
                  <a:srgbClr val="0066FF"/>
                </a:solidFill>
              </a:rPr>
              <a:t>biết</a:t>
            </a:r>
            <a:r>
              <a:rPr lang="vi-VN" sz="4000" dirty="0">
                <a:solidFill>
                  <a:srgbClr val="0066FF"/>
                </a:solidFill>
              </a:rPr>
              <a:t> </a:t>
            </a:r>
            <a:r>
              <a:rPr lang="vi-VN" sz="4000" dirty="0" err="1">
                <a:solidFill>
                  <a:srgbClr val="0066FF"/>
                </a:solidFill>
              </a:rPr>
              <a:t>được</a:t>
            </a:r>
            <a:r>
              <a:rPr lang="vi-VN" sz="4000" dirty="0">
                <a:solidFill>
                  <a:srgbClr val="0066FF"/>
                </a:solidFill>
              </a:rPr>
              <a:t> </a:t>
            </a:r>
            <a:r>
              <a:rPr lang="vi-VN" sz="4000" dirty="0" err="1">
                <a:solidFill>
                  <a:srgbClr val="0066FF"/>
                </a:solidFill>
              </a:rPr>
              <a:t>cấp</a:t>
            </a:r>
            <a:r>
              <a:rPr lang="vi-VN" sz="4000" dirty="0">
                <a:solidFill>
                  <a:srgbClr val="0066FF"/>
                </a:solidFill>
              </a:rPr>
              <a:t> </a:t>
            </a:r>
            <a:r>
              <a:rPr lang="vi-VN" sz="4000" dirty="0" err="1">
                <a:solidFill>
                  <a:srgbClr val="0066FF"/>
                </a:solidFill>
              </a:rPr>
              <a:t>độ</a:t>
            </a:r>
            <a:r>
              <a:rPr lang="vi-VN" sz="4000" dirty="0">
                <a:solidFill>
                  <a:srgbClr val="0066FF"/>
                </a:solidFill>
              </a:rPr>
              <a:t> (</a:t>
            </a:r>
            <a:r>
              <a:rPr lang="vi-VN" sz="4000" dirty="0" err="1">
                <a:solidFill>
                  <a:srgbClr val="0066FF"/>
                </a:solidFill>
              </a:rPr>
              <a:t>vị</a:t>
            </a:r>
            <a:r>
              <a:rPr lang="vi-VN" sz="4000" dirty="0">
                <a:solidFill>
                  <a:srgbClr val="0066FF"/>
                </a:solidFill>
              </a:rPr>
              <a:t> </a:t>
            </a:r>
            <a:r>
              <a:rPr lang="vi-VN" sz="4000" dirty="0" err="1">
                <a:solidFill>
                  <a:srgbClr val="0066FF"/>
                </a:solidFill>
              </a:rPr>
              <a:t>trí</a:t>
            </a:r>
            <a:r>
              <a:rPr lang="vi-VN" sz="4000" dirty="0">
                <a:solidFill>
                  <a:srgbClr val="0066FF"/>
                </a:solidFill>
              </a:rPr>
              <a:t>) công </a:t>
            </a:r>
            <a:r>
              <a:rPr lang="vi-VN" sz="4000" dirty="0" err="1">
                <a:solidFill>
                  <a:srgbClr val="0066FF"/>
                </a:solidFill>
              </a:rPr>
              <a:t>việc</a:t>
            </a:r>
            <a:r>
              <a:rPr lang="vi-VN" sz="4000" dirty="0">
                <a:solidFill>
                  <a:srgbClr val="0066FF"/>
                </a:solidFill>
              </a:rPr>
              <a:t> </a:t>
            </a:r>
            <a:r>
              <a:rPr lang="vi-VN" sz="4000" dirty="0" err="1">
                <a:solidFill>
                  <a:srgbClr val="0066FF"/>
                </a:solidFill>
              </a:rPr>
              <a:t>của</a:t>
            </a:r>
            <a:r>
              <a:rPr lang="vi-VN" sz="4000" dirty="0">
                <a:solidFill>
                  <a:srgbClr val="0066FF"/>
                </a:solidFill>
              </a:rPr>
              <a:t> </a:t>
            </a:r>
            <a:r>
              <a:rPr lang="vi-VN" sz="4000" err="1">
                <a:solidFill>
                  <a:srgbClr val="0066FF"/>
                </a:solidFill>
              </a:rPr>
              <a:t>người</a:t>
            </a:r>
            <a:r>
              <a:rPr lang="vi-VN" sz="4000">
                <a:solidFill>
                  <a:srgbClr val="0066FF"/>
                </a:solidFill>
              </a:rPr>
              <a:t> đó</a:t>
            </a:r>
            <a:r>
              <a:rPr lang="en-US" sz="4000">
                <a:solidFill>
                  <a:srgbClr val="0066FF"/>
                </a:solidFill>
              </a:rPr>
              <a:t> </a:t>
            </a:r>
            <a:r>
              <a:rPr lang="en-US" sz="4000">
                <a:solidFill>
                  <a:srgbClr val="FF0000"/>
                </a:solidFill>
              </a:rPr>
              <a:t>bằng cách sử dụng thuật toán Rừng ngẫu nhiên – Random Forest Regression</a:t>
            </a:r>
            <a:r>
              <a:rPr lang="vi-VN" sz="4000">
                <a:solidFill>
                  <a:srgbClr val="0066FF"/>
                </a:solidFill>
              </a:rPr>
              <a:t>.</a:t>
            </a:r>
            <a:endParaRPr lang="vi-VN" sz="4000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14716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0B80F6-C754-4347-A3DD-1147B985E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Tiền</a:t>
            </a:r>
            <a:r>
              <a:rPr lang="vi-VN" dirty="0"/>
              <a:t>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40BC81-DABB-45E0-B3FE-4876298D2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58969371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C310E0B-7938-4C48-BDBD-57A04B814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Tiền xử lý dữ liệu: Nạp Thư Viện &amp; Chuẩn Bị Dữ Liệu (In [1])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B5E521-B5D3-4ED0-BC72-E24304E6B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Nạp các thư viện Scikit-Learn và tập dữ liệu Position_Salaries.csv (In [1]):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import matplotlib.pyplot as plt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sklearn.ensemble import RandomForestRegressor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sklearn.metrics import r2_score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dataset = pd.read_csv('Position_Salaries.csv')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X = dataset.iloc[:, 1:2].values  # Level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y = dataset.iloc[:, 2].values    # Salary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dataset.head()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📌 Bản chất Random Forest: Mô hình Ensemble gồm tập hợp hàng trăm cây quyết định độc lập bỏ phiếu trung bình.</a:t>
            </a:r>
          </a:p>
        </p:txBody>
      </p:sp>
    </p:spTree>
    <p:extLst>
      <p:ext uri="{BB962C8B-B14F-4D97-AF65-F5344CB8AC3E}">
        <p14:creationId xmlns:p14="http://schemas.microsoft.com/office/powerpoint/2010/main" val="78999401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C310E0B-7938-4C48-BDBD-57A04B814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A79A075-3658-4F3B-BD9F-6F50B7BE7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8211361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C310E0B-7938-4C48-BDBD-57A04B814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E7C5AB8D-BF56-480D-A51B-19D7D3CCC5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3725" y="1729581"/>
            <a:ext cx="592455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97595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5A5850-EC2D-436A-B0C2-CCF71C19F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8CEC87-E9EA-428E-87EC-557802235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>
                <a:solidFill>
                  <a:srgbClr val="0066FF"/>
                </a:solidFill>
              </a:rPr>
              <a:t>Ta </a:t>
            </a:r>
            <a:r>
              <a:rPr lang="en-US" sz="2800" dirty="0" err="1">
                <a:solidFill>
                  <a:srgbClr val="0066FF"/>
                </a:solidFill>
              </a:rPr>
              <a:t>vẽ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các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điểm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(level, salary)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lên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mặt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phẳng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tọa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độ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để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xem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xét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sự</a:t>
            </a:r>
            <a:r>
              <a:rPr lang="en-US" sz="2800" dirty="0">
                <a:solidFill>
                  <a:srgbClr val="0066FF"/>
                </a:solidFill>
              </a:rPr>
              <a:t> t</a:t>
            </a:r>
            <a:r>
              <a:rPr lang="vi-VN" sz="2800" dirty="0">
                <a:solidFill>
                  <a:srgbClr val="0066FF"/>
                </a:solidFill>
              </a:rPr>
              <a:t>ư</a:t>
            </a:r>
            <a:r>
              <a:rPr lang="en-US" sz="2800" dirty="0" err="1">
                <a:solidFill>
                  <a:srgbClr val="0066FF"/>
                </a:solidFill>
              </a:rPr>
              <a:t>ơng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quan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giữa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cấp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độ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công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việc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và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mức</a:t>
            </a:r>
            <a:r>
              <a:rPr lang="en-US" sz="2800" dirty="0">
                <a:solidFill>
                  <a:srgbClr val="0066FF"/>
                </a:solidFill>
              </a:rPr>
              <a:t> l</a:t>
            </a:r>
            <a:r>
              <a:rPr lang="vi-VN" sz="2800" dirty="0">
                <a:solidFill>
                  <a:srgbClr val="0066FF"/>
                </a:solidFill>
              </a:rPr>
              <a:t>ư</a:t>
            </a:r>
            <a:r>
              <a:rPr lang="en-US" sz="2800" dirty="0" err="1">
                <a:solidFill>
                  <a:srgbClr val="0066FF"/>
                </a:solidFill>
              </a:rPr>
              <a:t>ơng</a:t>
            </a:r>
            <a:r>
              <a:rPr lang="en-US" sz="2800" dirty="0">
                <a:solidFill>
                  <a:srgbClr val="0066FF"/>
                </a:solidFill>
              </a:rPr>
              <a:t>.</a:t>
            </a:r>
          </a:p>
          <a:p>
            <a:pPr algn="just"/>
            <a:endParaRPr lang="en-US" dirty="0"/>
          </a:p>
          <a:p>
            <a:pPr marL="457200" indent="-457200" algn="just">
              <a:buFont typeface="+mj-lt"/>
              <a:buAutoNum type="arabicPeriod" startAt="5"/>
            </a:pP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 startAt="5"/>
            </a:pPr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.scatter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(X, y,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color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"red"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 algn="just">
              <a:buFont typeface="+mj-lt"/>
              <a:buAutoNum type="arabicPeriod" startAt="5"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plt.title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"Position Level vs Salary"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 algn="just">
              <a:buFont typeface="+mj-lt"/>
              <a:buAutoNum type="arabicPeriod" startAt="5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plt.xlabel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vi-V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vi-VN" dirty="0" err="1">
                <a:solidFill>
                  <a:srgbClr val="A31515"/>
                </a:solidFill>
                <a:latin typeface="Consolas" panose="020B0609020204030204" pitchFamily="49" charset="0"/>
              </a:rPr>
              <a:t>Position</a:t>
            </a:r>
            <a:r>
              <a:rPr lang="vi-VN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A31515"/>
                </a:solidFill>
                <a:latin typeface="Consolas" panose="020B0609020204030204" pitchFamily="49" charset="0"/>
              </a:rPr>
              <a:t>Level</a:t>
            </a:r>
            <a:r>
              <a:rPr lang="vi-V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 algn="just">
              <a:buFont typeface="+mj-lt"/>
              <a:buAutoNum type="arabicPeriod" startAt="5"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plt.ylabel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"Salary (dollars/year)"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 algn="just">
              <a:buFont typeface="+mj-lt"/>
              <a:buAutoNum type="arabicPeriod" startAt="5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66833837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BE354-E15B-4710-81D7-005E1A37C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26937B-AFF2-4E54-8A2E-326C1C1BA2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n-US" dirty="0" err="1">
                <a:solidFill>
                  <a:srgbClr val="0066FF"/>
                </a:solidFill>
              </a:rPr>
              <a:t>Tập</a:t>
            </a:r>
            <a:r>
              <a:rPr lang="en-US" dirty="0">
                <a:solidFill>
                  <a:srgbClr val="0066FF"/>
                </a:solidFill>
              </a:rPr>
              <a:t> </a:t>
            </a:r>
            <a:r>
              <a:rPr lang="en-US" dirty="0" err="1">
                <a:solidFill>
                  <a:srgbClr val="0066FF"/>
                </a:solidFill>
              </a:rPr>
              <a:t>dữ</a:t>
            </a:r>
            <a:r>
              <a:rPr lang="en-US" dirty="0">
                <a:solidFill>
                  <a:srgbClr val="0066FF"/>
                </a:solidFill>
              </a:rPr>
              <a:t> </a:t>
            </a:r>
            <a:r>
              <a:rPr lang="en-US" dirty="0" err="1">
                <a:solidFill>
                  <a:srgbClr val="0066FF"/>
                </a:solidFill>
              </a:rPr>
              <a:t>liệu</a:t>
            </a:r>
            <a:r>
              <a:rPr lang="en-US" dirty="0">
                <a:solidFill>
                  <a:srgbClr val="0066FF"/>
                </a:solidFill>
              </a:rPr>
              <a:t> </a:t>
            </a:r>
            <a:r>
              <a:rPr lang="en-US" dirty="0" err="1">
                <a:solidFill>
                  <a:srgbClr val="0066FF"/>
                </a:solidFill>
              </a:rPr>
              <a:t>này</a:t>
            </a:r>
            <a:r>
              <a:rPr lang="en-US" dirty="0">
                <a:solidFill>
                  <a:srgbClr val="0066FF"/>
                </a:solidFill>
              </a:rPr>
              <a:t> </a:t>
            </a:r>
            <a:r>
              <a:rPr lang="en-US" dirty="0" err="1">
                <a:solidFill>
                  <a:srgbClr val="0066FF"/>
                </a:solidFill>
              </a:rPr>
              <a:t>không</a:t>
            </a:r>
            <a:r>
              <a:rPr lang="en-US" dirty="0">
                <a:solidFill>
                  <a:srgbClr val="0066FF"/>
                </a:solidFill>
              </a:rPr>
              <a:t> </a:t>
            </a:r>
            <a:r>
              <a:rPr lang="en-US" dirty="0" err="1">
                <a:solidFill>
                  <a:srgbClr val="0066FF"/>
                </a:solidFill>
              </a:rPr>
              <a:t>có</a:t>
            </a:r>
            <a:r>
              <a:rPr lang="en-US" dirty="0">
                <a:solidFill>
                  <a:srgbClr val="0066FF"/>
                </a:solidFill>
              </a:rPr>
              <a:t> </a:t>
            </a:r>
            <a:r>
              <a:rPr lang="en-US" dirty="0" err="1">
                <a:solidFill>
                  <a:srgbClr val="0066FF"/>
                </a:solidFill>
              </a:rPr>
              <a:t>dạng</a:t>
            </a:r>
            <a:r>
              <a:rPr lang="en-US" dirty="0">
                <a:solidFill>
                  <a:srgbClr val="0066FF"/>
                </a:solidFill>
              </a:rPr>
              <a:t> </a:t>
            </a:r>
            <a:r>
              <a:rPr lang="en-US" dirty="0" err="1">
                <a:solidFill>
                  <a:srgbClr val="0066FF"/>
                </a:solidFill>
              </a:rPr>
              <a:t>một</a:t>
            </a:r>
            <a:r>
              <a:rPr lang="en-US" dirty="0">
                <a:solidFill>
                  <a:srgbClr val="0066FF"/>
                </a:solidFill>
              </a:rPr>
              <a:t> đ</a:t>
            </a:r>
            <a:r>
              <a:rPr lang="vi-VN" dirty="0" err="1">
                <a:solidFill>
                  <a:srgbClr val="0066FF"/>
                </a:solidFill>
              </a:rPr>
              <a:t>ường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thẳng</a:t>
            </a:r>
            <a:r>
              <a:rPr lang="vi-VN" dirty="0">
                <a:solidFill>
                  <a:srgbClr val="0066FF"/>
                </a:solidFill>
              </a:rPr>
              <a:t>. </a:t>
            </a:r>
          </a:p>
          <a:p>
            <a:pPr algn="just"/>
            <a:r>
              <a:rPr lang="vi-VN">
                <a:solidFill>
                  <a:srgbClr val="FF0000"/>
                </a:solidFill>
              </a:rPr>
              <a:t>Do đó</a:t>
            </a:r>
            <a:r>
              <a:rPr lang="en-US">
                <a:solidFill>
                  <a:srgbClr val="FF0000"/>
                </a:solidFill>
              </a:rPr>
              <a:t>, thuật toán hồi qui tuyến tính (</a:t>
            </a:r>
            <a:r>
              <a:rPr lang="vi-VN">
                <a:solidFill>
                  <a:srgbClr val="FF0000"/>
                </a:solidFill>
              </a:rPr>
              <a:t>Linear Regression</a:t>
            </a:r>
            <a:r>
              <a:rPr lang="en-US">
                <a:solidFill>
                  <a:srgbClr val="FF0000"/>
                </a:solidFill>
              </a:rPr>
              <a:t>)</a:t>
            </a:r>
            <a:r>
              <a:rPr lang="vi-VN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sẽ</a:t>
            </a:r>
            <a:r>
              <a:rPr lang="vi-VN" dirty="0">
                <a:solidFill>
                  <a:srgbClr val="FF0000"/>
                </a:solidFill>
              </a:rPr>
              <a:t> không </a:t>
            </a:r>
            <a:r>
              <a:rPr lang="vi-VN" dirty="0" err="1">
                <a:solidFill>
                  <a:srgbClr val="FF0000"/>
                </a:solidFill>
              </a:rPr>
              <a:t>hoạt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động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tốt</a:t>
            </a:r>
            <a:r>
              <a:rPr lang="vi-VN" dirty="0">
                <a:solidFill>
                  <a:srgbClr val="FF0000"/>
                </a:solidFill>
              </a:rPr>
              <a:t> trên </a:t>
            </a:r>
            <a:r>
              <a:rPr lang="vi-VN" dirty="0" err="1">
                <a:solidFill>
                  <a:srgbClr val="FF0000"/>
                </a:solidFill>
              </a:rPr>
              <a:t>tập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dữ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liệu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này</a:t>
            </a:r>
            <a:r>
              <a:rPr lang="vi-VN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BE57378-1C58-46D1-9B70-0D6919028BA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9600" y="1923961"/>
            <a:ext cx="5384800" cy="387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05446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9A8F45-76C4-4790-9544-17DAEED42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2B72A9-3251-4D28-A848-C6D821F64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3572536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9A8F45-76C4-4790-9544-17DAEED42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D9EFBB-4F29-4C48-A027-B486508EC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 err="1">
                <a:solidFill>
                  <a:srgbClr val="0066FF"/>
                </a:solidFill>
              </a:rPr>
              <a:t>Với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thuật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toán</a:t>
            </a:r>
            <a:r>
              <a:rPr lang="en-US" sz="2800" dirty="0">
                <a:solidFill>
                  <a:srgbClr val="0066FF"/>
                </a:solidFill>
              </a:rPr>
              <a:t> Random Forest, </a:t>
            </a:r>
            <a:r>
              <a:rPr lang="en-US" sz="2800" dirty="0" err="1">
                <a:solidFill>
                  <a:srgbClr val="0066FF"/>
                </a:solidFill>
              </a:rPr>
              <a:t>trong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mỗi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tập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dữ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liệu</a:t>
            </a:r>
            <a:r>
              <a:rPr lang="en-US" sz="2800" dirty="0">
                <a:solidFill>
                  <a:srgbClr val="0066FF"/>
                </a:solidFill>
              </a:rPr>
              <a:t>, ta </a:t>
            </a:r>
            <a:r>
              <a:rPr lang="en-US" sz="2800" dirty="0" err="1">
                <a:solidFill>
                  <a:srgbClr val="0066FF"/>
                </a:solidFill>
              </a:rPr>
              <a:t>có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thể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xây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dựng</a:t>
            </a:r>
            <a:r>
              <a:rPr lang="en-US" sz="2800" dirty="0">
                <a:solidFill>
                  <a:srgbClr val="0066FF"/>
                </a:solidFill>
              </a:rPr>
              <a:t> đ</a:t>
            </a:r>
            <a:r>
              <a:rPr lang="vi-VN" sz="2800" dirty="0" err="1">
                <a:solidFill>
                  <a:srgbClr val="0066FF"/>
                </a:solidFill>
              </a:rPr>
              <a:t>ược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nhiều</a:t>
            </a:r>
            <a:r>
              <a:rPr lang="vi-VN" sz="2800" dirty="0">
                <a:solidFill>
                  <a:srgbClr val="0066FF"/>
                </a:solidFill>
              </a:rPr>
              <a:t> cây </a:t>
            </a:r>
            <a:r>
              <a:rPr lang="vi-VN" sz="2800" dirty="0" err="1">
                <a:solidFill>
                  <a:srgbClr val="0066FF"/>
                </a:solidFill>
              </a:rPr>
              <a:t>quyết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định</a:t>
            </a:r>
            <a:r>
              <a:rPr lang="vi-VN" sz="2800" dirty="0">
                <a:solidFill>
                  <a:srgbClr val="0066FF"/>
                </a:solidFill>
              </a:rPr>
              <a:t> (</a:t>
            </a:r>
            <a:r>
              <a:rPr lang="vi-VN" sz="2800" dirty="0" err="1">
                <a:solidFill>
                  <a:srgbClr val="0066FF"/>
                </a:solidFill>
              </a:rPr>
              <a:t>Decision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Tree</a:t>
            </a:r>
            <a:r>
              <a:rPr lang="vi-VN" sz="2800" dirty="0">
                <a:solidFill>
                  <a:srgbClr val="0066FF"/>
                </a:solidFill>
              </a:rPr>
              <a:t>) </a:t>
            </a:r>
            <a:r>
              <a:rPr lang="vi-VN" sz="2800" dirty="0" err="1">
                <a:solidFill>
                  <a:srgbClr val="0066FF"/>
                </a:solidFill>
              </a:rPr>
              <a:t>khác</a:t>
            </a:r>
            <a:r>
              <a:rPr lang="vi-VN" sz="2800" dirty="0">
                <a:solidFill>
                  <a:srgbClr val="0066FF"/>
                </a:solidFill>
              </a:rPr>
              <a:t> nhau.</a:t>
            </a:r>
          </a:p>
          <a:p>
            <a:pPr algn="just"/>
            <a:r>
              <a:rPr lang="vi-VN" sz="2800" i="1" dirty="0" err="1">
                <a:solidFill>
                  <a:srgbClr val="FF0000"/>
                </a:solidFill>
              </a:rPr>
              <a:t>Random</a:t>
            </a:r>
            <a:r>
              <a:rPr lang="vi-VN" sz="2800" i="1" dirty="0">
                <a:solidFill>
                  <a:srgbClr val="FF0000"/>
                </a:solidFill>
              </a:rPr>
              <a:t> </a:t>
            </a:r>
            <a:r>
              <a:rPr lang="vi-VN" sz="2800" i="1" dirty="0" err="1">
                <a:solidFill>
                  <a:srgbClr val="FF0000"/>
                </a:solidFill>
              </a:rPr>
              <a:t>Forest</a:t>
            </a:r>
            <a:r>
              <a:rPr lang="vi-VN" sz="2800" i="1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sẽ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kết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hợp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các</a:t>
            </a:r>
            <a:r>
              <a:rPr lang="vi-VN" sz="2800" dirty="0">
                <a:solidFill>
                  <a:srgbClr val="FF0000"/>
                </a:solidFill>
              </a:rPr>
              <a:t> cây </a:t>
            </a:r>
            <a:r>
              <a:rPr lang="vi-VN" sz="2800" dirty="0" err="1">
                <a:solidFill>
                  <a:srgbClr val="FF0000"/>
                </a:solidFill>
              </a:rPr>
              <a:t>quyết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định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khác</a:t>
            </a:r>
            <a:r>
              <a:rPr lang="vi-VN" sz="2800" dirty="0">
                <a:solidFill>
                  <a:srgbClr val="FF0000"/>
                </a:solidFill>
              </a:rPr>
              <a:t> nhau </a:t>
            </a:r>
            <a:r>
              <a:rPr lang="vi-VN" sz="2800" dirty="0" err="1">
                <a:solidFill>
                  <a:srgbClr val="FF0000"/>
                </a:solidFill>
              </a:rPr>
              <a:t>đó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để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tạo</a:t>
            </a:r>
            <a:r>
              <a:rPr lang="vi-VN" sz="2800" dirty="0">
                <a:solidFill>
                  <a:srgbClr val="FF0000"/>
                </a:solidFill>
              </a:rPr>
              <a:t> ra </a:t>
            </a:r>
            <a:r>
              <a:rPr lang="vi-VN" sz="2800" dirty="0" err="1">
                <a:solidFill>
                  <a:srgbClr val="FF0000"/>
                </a:solidFill>
              </a:rPr>
              <a:t>một</a:t>
            </a:r>
            <a:r>
              <a:rPr lang="vi-VN" sz="2800" dirty="0">
                <a:solidFill>
                  <a:srgbClr val="FF0000"/>
                </a:solidFill>
              </a:rPr>
              <a:t> mô </a:t>
            </a:r>
            <a:r>
              <a:rPr lang="vi-VN" sz="2800" dirty="0" err="1">
                <a:solidFill>
                  <a:srgbClr val="FF0000"/>
                </a:solidFill>
              </a:rPr>
              <a:t>hình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mới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  <a:p>
            <a:pPr algn="just"/>
            <a:r>
              <a:rPr lang="vi-VN" sz="2800" dirty="0" err="1">
                <a:solidFill>
                  <a:srgbClr val="0066FF"/>
                </a:solidFill>
              </a:rPr>
              <a:t>Kết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quả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đầu</a:t>
            </a:r>
            <a:r>
              <a:rPr lang="vi-VN" sz="2800" dirty="0">
                <a:solidFill>
                  <a:srgbClr val="0066FF"/>
                </a:solidFill>
              </a:rPr>
              <a:t> ra </a:t>
            </a:r>
            <a:r>
              <a:rPr lang="vi-VN" sz="2800" dirty="0" err="1">
                <a:solidFill>
                  <a:srgbClr val="0066FF"/>
                </a:solidFill>
              </a:rPr>
              <a:t>của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Random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Forest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được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tổng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hợp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từ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quả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của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</a:t>
            </a:r>
            <a:r>
              <a:rPr lang="vi-VN" sz="2800" dirty="0">
                <a:solidFill>
                  <a:srgbClr val="0066FF"/>
                </a:solidFill>
              </a:rPr>
              <a:t> cây </a:t>
            </a:r>
            <a:r>
              <a:rPr lang="vi-VN" sz="2800" dirty="0" err="1">
                <a:solidFill>
                  <a:srgbClr val="0066FF"/>
                </a:solidFill>
              </a:rPr>
              <a:t>quyết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định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err="1">
                <a:solidFill>
                  <a:srgbClr val="0066FF"/>
                </a:solidFill>
              </a:rPr>
              <a:t>mà</a:t>
            </a:r>
            <a:r>
              <a:rPr lang="vi-VN" sz="2800">
                <a:solidFill>
                  <a:srgbClr val="0066FF"/>
                </a:solidFill>
              </a:rPr>
              <a:t> </a:t>
            </a:r>
            <a:r>
              <a:rPr lang="en-US" sz="2800">
                <a:solidFill>
                  <a:srgbClr val="0066FF"/>
                </a:solidFill>
              </a:rPr>
              <a:t>thuật toán</a:t>
            </a:r>
            <a:r>
              <a:rPr lang="vi-VN" sz="280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tạo</a:t>
            </a:r>
            <a:r>
              <a:rPr lang="vi-VN" sz="2800" dirty="0">
                <a:solidFill>
                  <a:srgbClr val="0066FF"/>
                </a:solidFill>
              </a:rPr>
              <a:t> ra.</a:t>
            </a:r>
          </a:p>
        </p:txBody>
      </p:sp>
    </p:spTree>
    <p:extLst>
      <p:ext uri="{BB962C8B-B14F-4D97-AF65-F5344CB8AC3E}">
        <p14:creationId xmlns:p14="http://schemas.microsoft.com/office/powerpoint/2010/main" val="13485064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9A8F45-76C4-4790-9544-17DAEED42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5D9EFBB-4F29-4C48-A027-B486508EC9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Bước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1: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Chọn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cây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quyết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định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muốn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tạo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gọi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 err="1">
                    <a:solidFill>
                      <a:srgbClr val="FF0000"/>
                    </a:solidFill>
                  </a:rPr>
                  <a:t>Bước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2: Xây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dựng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cây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quyết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định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với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mỗi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cây:</a:t>
                </a:r>
              </a:p>
              <a:p>
                <a:pPr lvl="1" algn="just"/>
                <a:r>
                  <a:rPr lang="vi-VN" sz="2800" dirty="0" err="1">
                    <a:solidFill>
                      <a:srgbClr val="0066FF"/>
                    </a:solidFill>
                  </a:rPr>
                  <a:t>Bước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2.1: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Chọn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ngẫu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nhiên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</a:rPr>
                  <a:t>Bước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2.2: Xây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dựng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cây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quyết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định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dựa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trên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chọn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Bước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3: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Đối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với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mới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ta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thực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hiện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dự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đoán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trên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tất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cả</a:t>
                </a:r>
                <a:r>
                  <a:rPr lang="vi-VN" sz="2800" dirty="0">
                    <a:solidFill>
                      <a:srgbClr val="0066FF"/>
                    </a:solidFill>
                  </a:rPr>
                  <a:t> cây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quyết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định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xây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dựng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.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Kết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quả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đầu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ra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của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điểm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dữ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liệu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này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có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thể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được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lấy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là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trung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bình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cộng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dự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đoán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của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tất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cả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các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cây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quyết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định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5D9EFBB-4F29-4C48-A027-B486508EC9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2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869977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2A4F6A-E6EF-4331-9CB0-ACBE5446E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CF6352-3ECA-4C09-A6C3-E8310F44C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1762488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2A4F6A-E6EF-4331-9CB0-ACBE5446E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Huấn luyện mô hình: Khảo Sát Số Lượng Cây (n_estimators) (In [2])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7D3860A-DF0E-4680-B257-55624FD2D9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Ta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huấn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luyện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Random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Forest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Regression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với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lớp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RandomForestRegressor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module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sklearn.ensemble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cây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quyết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định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sử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dụng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bài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này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algn="just"/>
                <a:endParaRPr lang="vi-VN" sz="2800" dirty="0"/>
              </a:p>
              <a:p>
                <a:pPr marL="514350" indent="-514350" algn="just">
                  <a:buFont typeface="+mj-lt"/>
                  <a:buAutoNum type="arabicPeriod" startAt="11"/>
                </a:pPr>
                <a:r>
                  <a:rPr lang="vi-VN" dirty="0" err="1">
                    <a:solidFill>
                      <a:srgbClr val="AF00DB"/>
                    </a:solidFill>
                    <a:latin typeface="Consolas" panose="020B0609020204030204" pitchFamily="49" charset="0"/>
                  </a:rPr>
                  <a:t>from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vi-VN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sklearn.ensemble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vi-VN" dirty="0" err="1">
                    <a:solidFill>
                      <a:srgbClr val="AF00DB"/>
                    </a:solidFill>
                    <a:latin typeface="Consolas" panose="020B0609020204030204" pitchFamily="49" charset="0"/>
                  </a:rPr>
                  <a:t>import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vi-VN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RandomForestRegressor</a:t>
                </a:r>
                <a:endParaRPr lang="vi-VN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 marL="514350" indent="-514350" algn="just">
                  <a:buFont typeface="+mj-lt"/>
                  <a:buAutoNum type="arabicPeriod" startAt="11"/>
                </a:pPr>
                <a:r>
                  <a:rPr lang="vi-VN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regressor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= </a:t>
                </a:r>
                <a:r>
                  <a:rPr lang="vi-VN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RandomForestRegressor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vi-VN" dirty="0" err="1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n_estimators</a:t>
                </a:r>
                <a:r>
                  <a:rPr lang="vi-VN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 = 10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)</a:t>
                </a:r>
              </a:p>
              <a:p>
                <a:pPr marL="514350" indent="-514350" algn="just">
                  <a:buFont typeface="+mj-lt"/>
                  <a:buAutoNum type="arabicPeriod" startAt="11"/>
                </a:pPr>
                <a:r>
                  <a:rPr lang="vi-VN" dirty="0" err="1">
                    <a:solidFill>
                      <a:srgbClr val="000000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regressor.fit</a:t>
                </a:r>
                <a:r>
                  <a:rPr lang="vi-VN" dirty="0">
                    <a:solidFill>
                      <a:srgbClr val="000000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(X, Y)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7D3860A-DF0E-4680-B257-55624FD2D9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6" t="-148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12648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Huấn luyện Random Forest và đo lường sự thay đổi hiệu năng: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n_trees_list = [10, 50, 100, 300]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for n in n_trees_list: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    rf = RandomForestRegressor(n_estimators=n, criterion='squared_error', random_state=0, n_jobs=-1)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    rf.fit(X, y)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    pred_6_5 = rf.predict([[6.5]])[0]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    r2 = r2_score(y, rf.predict(X))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    print(f'Số cây: {n:3d} | Dự đoán Level 6.5: ${pred_6_5:,.2f} | R²: {r2:.4f}')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📌 Kết quả khảo sát thực nghiệm (Expected Output):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• Số cây:  10 | Dự đoán Level 6.5: $167,000.00 | R² Score: 0.9419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• Số cây:  50 | Dự đoán Level 6.5: $161,600.00 | R² Score: 0.9634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• Số cây: 100 | Dự đoán Level 6.5: $158,300.00 | R² Score: 0.9704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• Số cây: 300 | Dự đoán Level 6.5: $160,333.33 | R² Score: 0.9669</a:t>
            </a:r>
          </a:p>
        </p:txBody>
      </p:sp>
    </p:spTree>
    <p:extLst>
      <p:ext uri="{BB962C8B-B14F-4D97-AF65-F5344CB8AC3E}">
        <p14:creationId xmlns:p14="http://schemas.microsoft.com/office/powerpoint/2010/main" val="227986931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F12357-B86A-4C1E-AE4B-F8892E8EF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53CC7A-3E8E-4E0F-963C-DCC3F6350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0221291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C27514-A88B-4BAB-8756-D5785A865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6CAA3BFB-5B6E-4CD6-A44D-9A88930590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2300" y="1748631"/>
            <a:ext cx="58674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20985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C27514-A88B-4BAB-8756-D5785A865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Trực quan hóa kết quả: Hiệu Ứng Làm Mịn Bậc Thang Của Rừng (In [3])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4EC860-8D84-497C-B2F4-FDB069761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 algn="just"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Vẽ biểu đồ lưới mịn so sánh hiệu ứng qua các bậc cây (In [3]):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X_grid = np.arange(min(X)[0], max(X)[0], 0.01).reshape(-1, 1)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fig, axes = plt.subplots(2, 2, figsize=(14, 10))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# Lặp qua từng mô hình 10, 50, 100, 300 cây để vẽ đồ thị con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for idx, n in enumerate(n_trees_list):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    axes.flatten()[idx].scatter(X, y, color='red', s=60)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    axes.flatten()[idx].plot(X_grid, models[n].predict(X_grid), color='blue')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    axes.flatten()[idx].set_title(f'Random Forest ({n} Trees)', fontweight='bold')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plt.tight_layout(); plt.show()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📌 Quan sát hình học: Khi số cây tăng lên, các bậc thang trở nên dày đặc và chia nhỏ li ti, tạo cảm giác đường cong mượt dần.</a:t>
            </a:r>
          </a:p>
        </p:txBody>
      </p:sp>
    </p:spTree>
    <p:extLst>
      <p:ext uri="{BB962C8B-B14F-4D97-AF65-F5344CB8AC3E}">
        <p14:creationId xmlns:p14="http://schemas.microsoft.com/office/powerpoint/2010/main" val="236452565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C27514-A88B-4BAB-8756-D5785A865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6CAA3BFB-5B6E-4CD6-A44D-9A889305905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9600" y="1922556"/>
            <a:ext cx="5384800" cy="3881251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DE98BF-CE2D-4170-B048-3A58225073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n-US">
                <a:solidFill>
                  <a:srgbClr val="0066FF"/>
                </a:solidFill>
              </a:rPr>
              <a:t>Nhận xét kết quả:</a:t>
            </a:r>
          </a:p>
          <a:p>
            <a:pPr lvl="1" algn="just"/>
            <a:r>
              <a:rPr lang="vi-VN">
                <a:solidFill>
                  <a:srgbClr val="FF0000"/>
                </a:solidFill>
              </a:rPr>
              <a:t>Mô </a:t>
            </a:r>
            <a:r>
              <a:rPr lang="vi-VN" dirty="0" err="1">
                <a:solidFill>
                  <a:srgbClr val="FF0000"/>
                </a:solidFill>
              </a:rPr>
              <a:t>hình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dạng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bậc</a:t>
            </a:r>
            <a:r>
              <a:rPr lang="vi-VN" dirty="0">
                <a:solidFill>
                  <a:srgbClr val="FF0000"/>
                </a:solidFill>
              </a:rPr>
              <a:t> thang </a:t>
            </a:r>
            <a:r>
              <a:rPr lang="vi-VN" dirty="0" err="1">
                <a:solidFill>
                  <a:srgbClr val="FF0000"/>
                </a:solidFill>
              </a:rPr>
              <a:t>là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một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đặc</a:t>
            </a:r>
            <a:r>
              <a:rPr lang="vi-VN" dirty="0">
                <a:solidFill>
                  <a:srgbClr val="FF0000"/>
                </a:solidFill>
              </a:rPr>
              <a:t> trưng </a:t>
            </a:r>
            <a:r>
              <a:rPr lang="vi-VN">
                <a:solidFill>
                  <a:srgbClr val="FF0000"/>
                </a:solidFill>
              </a:rPr>
              <a:t>trong </a:t>
            </a:r>
            <a:r>
              <a:rPr lang="en-US">
                <a:solidFill>
                  <a:srgbClr val="FF0000"/>
                </a:solidFill>
              </a:rPr>
              <a:t>thuật toán </a:t>
            </a:r>
            <a:r>
              <a:rPr lang="vi-VN">
                <a:solidFill>
                  <a:srgbClr val="FF0000"/>
                </a:solidFill>
              </a:rPr>
              <a:t>cây </a:t>
            </a:r>
            <a:r>
              <a:rPr lang="vi-VN" err="1">
                <a:solidFill>
                  <a:srgbClr val="FF0000"/>
                </a:solidFill>
              </a:rPr>
              <a:t>quyết</a:t>
            </a:r>
            <a:r>
              <a:rPr lang="vi-VN">
                <a:solidFill>
                  <a:srgbClr val="FF0000"/>
                </a:solidFill>
              </a:rPr>
              <a:t> định</a:t>
            </a:r>
            <a:r>
              <a:rPr lang="en-US">
                <a:solidFill>
                  <a:srgbClr val="FF0000"/>
                </a:solidFill>
              </a:rPr>
              <a:t> và thuật toán rừng ngẫu nhiên</a:t>
            </a:r>
            <a:r>
              <a:rPr lang="vi-VN">
                <a:solidFill>
                  <a:srgbClr val="FF0000"/>
                </a:solidFill>
              </a:rPr>
              <a:t>.</a:t>
            </a:r>
            <a:endParaRPr lang="vi-V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2911021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C27514-A88B-4BAB-8756-D5785A865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Kiểm tra kết quả: Cơ Chế Bootstrap Aggregating (Bagging)</a:t>
            </a:r>
            <a:endParaRPr lang="vi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061AB7-B43B-4159-8544-18B1D8E4D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 algn="just"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Hai trụ cột sức mạnh của Random Forest: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1. Bootstrap Sampling (Lấy mẫu có hoàn lại):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   Mỗi cây con được huấn luyện trên một tập mẫu con ngẫu nhiên có cùng kích thước N.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2. Feature Randomness (Lấy mẫu đặc trưng ngẫu nhiên):</a:t>
            </a:r>
          </a:p>
          <a:p>
            <a:pPr>
              <a:spcAft>
                <a:spcPts val="300"/>
              </a:spcAft>
              <a:defRPr sz="1500" b="1">
                <a:solidFill>
                  <a:srgbClr val="282828"/>
                </a:solidFill>
                <a:latin typeface="Calibri"/>
              </a:defRPr>
            </a:pPr>
            <a:r>
              <a:t>   Tại mỗi phép phân nhánh, cây chỉ được chọn ngẫu nhiên một tập con đặc trưng (m = sqrt(d)).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3. Giảm phương sai (Variance Reduction):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   Việc lấy trung bình hàng trăm cây độc lập giúp triệt tiêu phương sai, kìm hãm Overfitting hiệu quả!</a:t>
            </a:r>
          </a:p>
        </p:txBody>
      </p:sp>
    </p:spTree>
    <p:extLst>
      <p:ext uri="{BB962C8B-B14F-4D97-AF65-F5344CB8AC3E}">
        <p14:creationId xmlns:p14="http://schemas.microsoft.com/office/powerpoint/2010/main" val="155938492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C27514-A88B-4BAB-8756-D5785A865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Kiểm tra kết quả: So Sánh Decision Tree vs Random Forest</a:t>
            </a:r>
            <a:endParaRPr lang="vi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061AB7-B43B-4159-8544-18B1D8E4D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 algn="just"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Bảng so sánh trực diện giữa 1 Cây và Rừng: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Decision Tree (1 cây): R² = 1.0 (nhớ vẹt 100%), dự đoán Level 6.5 bị cứng nhắc ở $150,000.</a:t>
            </a:r>
          </a:p>
          <a:p>
            <a:pPr>
              <a:spcAft>
                <a:spcPts val="300"/>
              </a:spcAft>
              <a:defRPr sz="1500" b="1">
                <a:solidFill>
                  <a:srgbClr val="282828"/>
                </a:solidFill>
                <a:latin typeface="Calibri"/>
              </a:defRPr>
            </a:pPr>
            <a:r>
              <a:t>• Random Forest (100 cây): R² = 0.9704, dự đoán Level 6.5 đạt $158,300.00 (khớp với Polynomial!).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Tham số n_jobs=-1: Kích hoạt toàn bộ số nhân CPU để huấn luyện song song các cây con đồng thời.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📌 Bài học thực tiễn: Khi cần độ chính xác cao và dữ liệu nhiều chiều, luôn ưu tiên Random Forest thay vì Decision Tree đơn lẻ.</a:t>
            </a:r>
          </a:p>
        </p:txBody>
      </p:sp>
    </p:spTree>
    <p:extLst>
      <p:ext uri="{BB962C8B-B14F-4D97-AF65-F5344CB8AC3E}">
        <p14:creationId xmlns:p14="http://schemas.microsoft.com/office/powerpoint/2010/main" val="215166578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27C25-55DF-41FD-9FF4-2DC27F23D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2F0BB552-E557-45BF-9952-96B127A4B7D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219200" y="1600200"/>
              <a:ext cx="10058400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32123">
                      <a:extLst>
                        <a:ext uri="{9D8B030D-6E8A-4147-A177-3AD203B41FA5}">
                          <a16:colId xmlns:a16="http://schemas.microsoft.com/office/drawing/2014/main" val="3920745078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94436033"/>
                        </a:ext>
                      </a:extLst>
                    </a:gridCol>
                    <a:gridCol w="1920877">
                      <a:extLst>
                        <a:ext uri="{9D8B030D-6E8A-4147-A177-3AD203B41FA5}">
                          <a16:colId xmlns:a16="http://schemas.microsoft.com/office/drawing/2014/main" val="4165097083"/>
                        </a:ext>
                      </a:extLst>
                    </a:gridCol>
                    <a:gridCol w="3200400">
                      <a:extLst>
                        <a:ext uri="{9D8B030D-6E8A-4147-A177-3AD203B41FA5}">
                          <a16:colId xmlns:a16="http://schemas.microsoft.com/office/drawing/2014/main" val="1649268837"/>
                        </a:ext>
                      </a:extLst>
                    </a:gridCol>
                  </a:tblGrid>
                  <a:tr h="723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Position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Salary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Predicted Salary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369637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Business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Analyst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46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9618532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Junior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Consultant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49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762752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Senior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Consultant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59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467125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74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2396851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Country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110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101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35612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2F0BB552-E557-45BF-9952-96B127A4B7D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219200" y="1600200"/>
              <a:ext cx="10058400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32123">
                      <a:extLst>
                        <a:ext uri="{9D8B030D-6E8A-4147-A177-3AD203B41FA5}">
                          <a16:colId xmlns:a16="http://schemas.microsoft.com/office/drawing/2014/main" val="3920745078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94436033"/>
                        </a:ext>
                      </a:extLst>
                    </a:gridCol>
                    <a:gridCol w="1920877">
                      <a:extLst>
                        <a:ext uri="{9D8B030D-6E8A-4147-A177-3AD203B41FA5}">
                          <a16:colId xmlns:a16="http://schemas.microsoft.com/office/drawing/2014/main" val="4165097083"/>
                        </a:ext>
                      </a:extLst>
                    </a:gridCol>
                    <a:gridCol w="3200400">
                      <a:extLst>
                        <a:ext uri="{9D8B030D-6E8A-4147-A177-3AD203B41FA5}">
                          <a16:colId xmlns:a16="http://schemas.microsoft.com/office/drawing/2014/main" val="1649268837"/>
                        </a:ext>
                      </a:extLst>
                    </a:gridCol>
                  </a:tblGrid>
                  <a:tr h="723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Position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Salary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Predicted Salary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369637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Business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Analyst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425" t="-100840" r="-269968" b="-408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7778" t="-100840" r="-168254" b="-408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667" t="-100840" r="-952" b="-4084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9618532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Junior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Consultant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425" t="-200840" r="-269968" b="-308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7778" t="-200840" r="-168254" b="-308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667" t="-200840" r="-952" b="-3084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762752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Senior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Consultant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425" t="-303390" r="-269968" b="-2110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7778" t="-303390" r="-168254" b="-2110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667" t="-303390" r="-952" b="-2110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467125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425" t="-400000" r="-269968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7778" t="-400000" r="-168254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667" t="-400000" r="-952" b="-1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2396851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Country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425" t="-500000" r="-269968" b="-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7778" t="-500000" r="-168254" b="-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667" t="-500000" r="-952" b="-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356127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4125719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27C25-55DF-41FD-9FF4-2DC27F23D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2F0BB552-E557-45BF-9952-96B127A4B7D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219200" y="1600200"/>
              <a:ext cx="10058400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32123">
                      <a:extLst>
                        <a:ext uri="{9D8B030D-6E8A-4147-A177-3AD203B41FA5}">
                          <a16:colId xmlns:a16="http://schemas.microsoft.com/office/drawing/2014/main" val="3920745078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94436033"/>
                        </a:ext>
                      </a:extLst>
                    </a:gridCol>
                    <a:gridCol w="1920877">
                      <a:extLst>
                        <a:ext uri="{9D8B030D-6E8A-4147-A177-3AD203B41FA5}">
                          <a16:colId xmlns:a16="http://schemas.microsoft.com/office/drawing/2014/main" val="4165097083"/>
                        </a:ext>
                      </a:extLst>
                    </a:gridCol>
                    <a:gridCol w="3200400">
                      <a:extLst>
                        <a:ext uri="{9D8B030D-6E8A-4147-A177-3AD203B41FA5}">
                          <a16:colId xmlns:a16="http://schemas.microsoft.com/office/drawing/2014/main" val="1649268837"/>
                        </a:ext>
                      </a:extLst>
                    </a:gridCol>
                  </a:tblGrid>
                  <a:tr h="723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Position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Salary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Predicted Salary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369637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Region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150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136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9618532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Partner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200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210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762752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Senior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Partner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300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305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467125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/>
                            <a:t>C-</a:t>
                          </a:r>
                          <a:r>
                            <a:rPr lang="vi-VN" sz="2800" dirty="0" err="1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500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470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2396851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/>
                            <a:t>CEO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850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35612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2F0BB552-E557-45BF-9952-96B127A4B7D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219200" y="1600200"/>
              <a:ext cx="10058400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32123">
                      <a:extLst>
                        <a:ext uri="{9D8B030D-6E8A-4147-A177-3AD203B41FA5}">
                          <a16:colId xmlns:a16="http://schemas.microsoft.com/office/drawing/2014/main" val="3920745078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94436033"/>
                        </a:ext>
                      </a:extLst>
                    </a:gridCol>
                    <a:gridCol w="1920877">
                      <a:extLst>
                        <a:ext uri="{9D8B030D-6E8A-4147-A177-3AD203B41FA5}">
                          <a16:colId xmlns:a16="http://schemas.microsoft.com/office/drawing/2014/main" val="4165097083"/>
                        </a:ext>
                      </a:extLst>
                    </a:gridCol>
                    <a:gridCol w="3200400">
                      <a:extLst>
                        <a:ext uri="{9D8B030D-6E8A-4147-A177-3AD203B41FA5}">
                          <a16:colId xmlns:a16="http://schemas.microsoft.com/office/drawing/2014/main" val="1649268837"/>
                        </a:ext>
                      </a:extLst>
                    </a:gridCol>
                  </a:tblGrid>
                  <a:tr h="723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Position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Salary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Predicted Salary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369637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Region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425" t="-100840" r="-269968" b="-408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7778" t="-100840" r="-168254" b="-408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667" t="-100840" r="-952" b="-4084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9618532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Partner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425" t="-200840" r="-269968" b="-308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7778" t="-200840" r="-168254" b="-308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667" t="-200840" r="-952" b="-3084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762752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Senior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Partner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425" t="-303390" r="-269968" b="-2110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7778" t="-303390" r="-168254" b="-2110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667" t="-303390" r="-952" b="-2110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467125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/>
                            <a:t>C-</a:t>
                          </a:r>
                          <a:r>
                            <a:rPr lang="vi-VN" sz="2800" dirty="0" err="1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425" t="-400000" r="-269968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7778" t="-400000" r="-168254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667" t="-400000" r="-952" b="-1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2396851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/>
                            <a:t>CEO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425" t="-500000" r="-269968" b="-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7778" t="-500000" r="-168254" b="-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667" t="-500000" r="-952" b="-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356127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4655708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1A1E3B-52AC-4848-9A3B-814D413CE4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/>
              <a:t>Cảm ơn quí vị đã lắng nghe</a:t>
            </a:r>
            <a:br>
              <a:rPr lang="en-US" sz="4000"/>
            </a:br>
            <a:br>
              <a:rPr lang="en-US" sz="4000"/>
            </a:br>
            <a:r>
              <a:rPr lang="en-US" sz="4000">
                <a:solidFill>
                  <a:srgbClr val="0066FF"/>
                </a:solidFill>
              </a:rPr>
              <a:t>Nhóm tác giả</a:t>
            </a:r>
            <a:br>
              <a:rPr lang="en-US" sz="4000"/>
            </a:br>
            <a:r>
              <a:rPr lang="en-US" sz="4000" b="0"/>
              <a:t>Hồ Thái Ngọc</a:t>
            </a:r>
            <a:br>
              <a:rPr lang="en-US" sz="4000" b="0"/>
            </a:br>
            <a:r>
              <a:rPr lang="en-US" sz="4000" b="0">
                <a:solidFill>
                  <a:srgbClr val="0066FF"/>
                </a:solidFill>
              </a:rPr>
              <a:t>ThS. Võ Duy Nguyên</a:t>
            </a:r>
            <a:br>
              <a:rPr lang="en-US" sz="4000" b="0">
                <a:solidFill>
                  <a:srgbClr val="0066FF"/>
                </a:solidFill>
              </a:rPr>
            </a:br>
            <a:r>
              <a:rPr lang="en-US" sz="4000" b="0"/>
              <a:t>TS. Nguyễn Tấn Trần Minh Khang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158468097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14720</TotalTime>
  <Words>1209</Words>
  <Application>Microsoft Office PowerPoint</Application>
  <PresentationFormat>Widescreen</PresentationFormat>
  <Paragraphs>197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Cambria Math</vt:lpstr>
      <vt:lpstr>Consolas</vt:lpstr>
      <vt:lpstr>Courier New</vt:lpstr>
      <vt:lpstr>Default Design</vt:lpstr>
      <vt:lpstr>RANDOM FOREST REGRESSION</vt:lpstr>
      <vt:lpstr>DATASET</vt:lpstr>
      <vt:lpstr>Dataset</vt:lpstr>
      <vt:lpstr>Dataset</vt:lpstr>
      <vt:lpstr>Dataset</vt:lpstr>
      <vt:lpstr>Tiền xử lý dữ liệu</vt:lpstr>
      <vt:lpstr>Tiền xử lý dữ liệu</vt:lpstr>
      <vt:lpstr>Trực quan hóa dữ liệu</vt:lpstr>
      <vt:lpstr>Trực quan hóa dữ liệu</vt:lpstr>
      <vt:lpstr>Trực quan hóa dữ liệu</vt:lpstr>
      <vt:lpstr>Trực quan hóa dữ liệu</vt:lpstr>
      <vt:lpstr>Random Forest</vt:lpstr>
      <vt:lpstr>Random Forest</vt:lpstr>
      <vt:lpstr>Random Forest</vt:lpstr>
      <vt:lpstr>Huấn luyện mô hình</vt:lpstr>
      <vt:lpstr>Huấn luyện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</vt:lpstr>
      <vt:lpstr>Trực quan hóa kết quả</vt:lpstr>
      <vt:lpstr>Cảm ơn quí vị đã lắng nghe  Nhóm tác giả Hồ Thái Ngọc ThS. Võ Duy Nguyên TS. Nguyễn Tấn Trần Minh Khang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 cc</dc:title>
  <dc:creator>Hong</dc:creator>
  <cp:lastModifiedBy>Nguyễn Tấn Trần Minh Khang</cp:lastModifiedBy>
  <cp:revision>1328</cp:revision>
  <cp:lastPrinted>2013-08-30T01:32:34Z</cp:lastPrinted>
  <dcterms:created xsi:type="dcterms:W3CDTF">2008-06-14T04:13:27Z</dcterms:created>
  <dcterms:modified xsi:type="dcterms:W3CDTF">2023-10-11T00:55:55Z</dcterms:modified>
</cp:coreProperties>
</file>